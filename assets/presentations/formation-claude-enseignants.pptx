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Ouverture. La barre de parcours reprend celle des modules : l'auditoire voit d'un coup les six temps et où il en est. Poser le cadre : ce n'est pas une formation sur « l'IA », mais sur un outil précis et sur ce qu'on lui demande dans notre métier.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la durée de chaque temps. Les deux premiers sont théoriques mais courts : on ne se sert pas bien d'un outil dont on ignore le fonctionnement.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 de mathématiques. Objectif : qu'à la fin de cette partie, personne ne croie que Claude « cherche sur Internet » ou « connaît » la réponse.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pourcentages sont illustratifs — le dire. Ce qui compte : plusieurs suites sont plausibles et le modèle en choisit une. D'où la variation d'une réponse à l'autre.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l'alignement : c'est ce qui distingue les modèles entre eux bien plus que la taille.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deuxième point est le plus important : l'assurance de l'outil n'est pas un indice de justesse. C'est le réflexe à installer avant tout le reste.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Sert à comprendre pourquoi on ne choisit pas au hasard, et pourquoi l'outil gratuit d'il y a deux ans ne donnait pas ces résultats.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critère qui change le plus la pratique. Avant, on résumait pour l'outil ; maintenant, on lui donne la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sensible : nommer d'emblée la crainte du remplacement, puis la déplacer.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nommer par le groupe, avant d'afficher, ce qui leur prend le plus de temps hors classe. Les réponses tombent presque toujours dans ces six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Cœur pratique de la formation. La plupart des gens ne connaissent que la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ouvrir un Projet en direct pendant l'atelier : c'est la fonction la plus rentable et la moins connue.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l'outil qui convertit le plus d'enseignants : le résultat est un fichier qu'on peut imprimer, pas un texte à recopier.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présenter comme un horizon, pas comme un prérequis. Un ou deux enseignants par centre y viendront — ce sont eux qui outilleront les autres.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central : ce n'est pas l'outil qui progresse d'une séance à l'autre, c'est l'utilisateur.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l'exercice en direct : demander au groupe une consigne spontanée, la faire tourner, puis la reconstruire avec les cinq segments et comparer les deux résultats.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la plus attendue. Montrer du vrai matériel produit, pas des captures de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qui change l'échelle, c'est la cohérence d'une collection : un gabarit décidé une fois, appliqué partout.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à revalider avant la présentation. Montrer un module en direct si le réseau le permet.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sur une question ouverte : qu'est-ce que chacun aimerait ne plus jamais avoir à faire à la main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12700">
            <a:solidFill>
              <a:srgbClr val="D8E8D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914400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PROPOSITION DE FORMATION · PERFECTIONNEMENT DU PERSONNEL ENSEIGNANT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984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Travailler avec Claude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8716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Comprendre les modèles de langage, choisir le bon outil,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produire du matériel pédagogique qui tient la route.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2160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francıs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03274" y="3855847"/>
            <a:ext cx="63500" cy="63500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762887" y="3849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Aide à l'apprentissage du français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1625727" y="3877056"/>
            <a:ext cx="0" cy="201168"/>
          </a:xfrm>
          <a:prstGeom prst="line">
            <a:avLst/>
          </a:prstGeom>
          <a:noFill/>
          <a:ln w="12700">
            <a:solidFill>
              <a:srgbClr val="D6D6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5349240"/>
            <a:ext cx="8778240" cy="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5111496"/>
            <a:ext cx="475488" cy="475488"/>
          </a:xfrm>
          <a:prstGeom prst="ellipse">
            <a:avLst/>
          </a:prstGeom>
          <a:solidFill>
            <a:srgbClr val="1D6B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5111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01752" y="57150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mécanisme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41448" y="5111496"/>
            <a:ext cx="475488" cy="475488"/>
          </a:xfrm>
          <a:prstGeom prst="ellipse">
            <a:avLst/>
          </a:prstGeom>
          <a:solidFill>
            <a:srgbClr val="3B49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441448" y="5111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57150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qualité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97096" y="5111496"/>
            <a:ext cx="475488" cy="47548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197096" y="5111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813048" y="57150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L'utilité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52744" y="5111496"/>
            <a:ext cx="475488" cy="475488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52744" y="5111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568696" y="57150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outils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08392" y="5111496"/>
            <a:ext cx="475488" cy="475488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08392" y="5111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324344" y="57150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aptitudes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464040" y="5111496"/>
            <a:ext cx="475488" cy="475488"/>
          </a:xfrm>
          <a:prstGeom prst="ellipse">
            <a:avLst/>
          </a:prstGeom>
          <a:solidFill>
            <a:srgbClr val="1718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64040" y="5111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079992" y="57150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matériel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Daniel Tousignant · Francisation ·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PARCOURS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temps, trois heures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4984" y="1828800"/>
            <a:ext cx="0" cy="397764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475488" cy="475488"/>
          </a:xfrm>
          <a:prstGeom prst="ellipse">
            <a:avLst/>
          </a:prstGeom>
          <a:solidFill>
            <a:srgbClr val="1D6B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09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mécanisme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172821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qu'est vraiment un modèle de langage — et ce qu'il n'est pas.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554480" y="2258568"/>
            <a:ext cx="964692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404872"/>
            <a:ext cx="475488" cy="475488"/>
          </a:xfrm>
          <a:prstGeom prst="ellipse">
            <a:avLst/>
          </a:prstGeom>
          <a:solidFill>
            <a:srgbClr val="3B49A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404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423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qualité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44144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qui distingue un bon modèle d'un modèle médiocre.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554480" y="2971800"/>
            <a:ext cx="964692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118104"/>
            <a:ext cx="475488" cy="47548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118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136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L'utilité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315468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Où il fait gagner du temps dans le travail d'enseignant.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554480" y="3685032"/>
            <a:ext cx="964692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831336"/>
            <a:ext cx="475488" cy="475488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849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outils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38679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en conversation, Claude Cowork, Claude Code.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554480" y="4398264"/>
            <a:ext cx="964692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544568"/>
            <a:ext cx="475488" cy="475488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544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5628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aptitudes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977640" y="45811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L'art de la consigne : ce qui fait la différence.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554480" y="5111496"/>
            <a:ext cx="964692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257800"/>
            <a:ext cx="475488" cy="475488"/>
          </a:xfrm>
          <a:prstGeom prst="ellipse">
            <a:avLst/>
          </a:prstGeom>
          <a:solidFill>
            <a:srgbClr val="17181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257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2760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matériel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977640" y="52943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Produire des exercices, des fiches, des présentations.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85800" y="5870448"/>
            <a:ext cx="10817352" cy="658368"/>
          </a:xfrm>
          <a:prstGeom prst="roundRect">
            <a:avLst>
              <a:gd name="adj" fmla="val 17361"/>
            </a:avLst>
          </a:prstGeom>
          <a:solidFill>
            <a:srgbClr val="E6F5EE"/>
          </a:solidFill>
          <a:ln w="9525">
            <a:solidFill>
              <a:srgbClr val="0A8F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1560" y="58704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Chaque temps se termine sur quelque chose d'utilisable : une consigne, un document, une décision.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1D6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2606040" y="22128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1D6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MÉCANISME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606040" y="2487168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qu'est un modèle de langage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606040" y="3611880"/>
            <a:ext cx="1371600" cy="0"/>
          </a:xfrm>
          <a:prstGeom prst="line">
            <a:avLst/>
          </a:prstGeom>
          <a:noFill/>
          <a:ln w="31750">
            <a:solidFill>
              <a:srgbClr val="1D6B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06040" y="382219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Avant de s'en servir, il faut savoir ce qu'il y a dans la boîte.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1D6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MÉCANISME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machine à prédire la suite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modèle de langage ne comprend pas une question et ne va pas chercher une réponse dans une base de données. Il fait une seule chose, des milliards de fois : deviner le mot suivant.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4320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force de l'entraîner sur d'énormes quantités de textes, cette simple prédiction finit par produire du raisonnement, de la traduction, de la synthèse — parce que bien prédire la suite d'un texte difficile exige de le comprendre.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4343400"/>
            <a:ext cx="5074920" cy="1600200"/>
          </a:xfrm>
          <a:prstGeom prst="roundRect">
            <a:avLst>
              <a:gd name="adj" fmla="val 7143"/>
            </a:avLst>
          </a:prstGeom>
          <a:solidFill>
            <a:srgbClr val="E6F5EE"/>
          </a:solidFill>
          <a:ln w="9525">
            <a:solidFill>
              <a:srgbClr val="0A8F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45720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RETENIR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4882896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ne récupère pas de l'information : il la reconstruit. C'est pour ça qu'il est brillant sur la forme et parfois faux sur le fait.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1572768"/>
            <a:ext cx="5102352" cy="4370832"/>
          </a:xfrm>
          <a:prstGeom prst="roundRect">
            <a:avLst>
              <a:gd name="adj" fmla="val 2615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84848" y="18470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 Je dois prendre rendez-vous chez le… »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84848" y="22494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SUITES QUE LE MODÈLE JUGE PLAUSIBLES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2633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médecin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66760" y="2660904"/>
            <a:ext cx="2148840" cy="219456"/>
          </a:xfrm>
          <a:prstGeom prst="roundRect">
            <a:avLst>
              <a:gd name="adj" fmla="val 50000"/>
            </a:avLst>
          </a:prstGeom>
          <a:solidFill>
            <a:srgbClr val="F0F0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2660904"/>
            <a:ext cx="1957832" cy="219456"/>
          </a:xfrm>
          <a:prstGeom prst="roundRect">
            <a:avLst>
              <a:gd name="adj" fmla="val 50000"/>
            </a:avLst>
          </a:prstGeom>
          <a:solidFill>
            <a:srgbClr val="1D6B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607040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41 %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784848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dentiste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66760" y="3264408"/>
            <a:ext cx="2148840" cy="219456"/>
          </a:xfrm>
          <a:prstGeom prst="roundRect">
            <a:avLst>
              <a:gd name="adj" fmla="val 50000"/>
            </a:avLst>
          </a:prstGeom>
          <a:solidFill>
            <a:srgbClr val="F0F0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366760" y="3264408"/>
            <a:ext cx="1289304" cy="219456"/>
          </a:xfrm>
          <a:prstGeom prst="roundRect">
            <a:avLst>
              <a:gd name="adj" fmla="val 50000"/>
            </a:avLst>
          </a:prstGeom>
          <a:solidFill>
            <a:srgbClr val="A9BFC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607040" y="32369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27 %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notaire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66760" y="3867912"/>
            <a:ext cx="2148840" cy="219456"/>
          </a:xfrm>
          <a:prstGeom prst="roundRect">
            <a:avLst>
              <a:gd name="adj" fmla="val 50000"/>
            </a:avLst>
          </a:prstGeom>
          <a:solidFill>
            <a:srgbClr val="F0F0EE"/>
          </a:solidFill>
          <a:ln/>
        </p:spPr>
      </p:sp>
      <p:sp>
        <p:nvSpPr>
          <p:cNvPr id="22" name="Shape 20"/>
          <p:cNvSpPr/>
          <p:nvPr/>
        </p:nvSpPr>
        <p:spPr>
          <a:xfrm>
            <a:off x="8366760" y="3867912"/>
            <a:ext cx="525272" cy="219456"/>
          </a:xfrm>
          <a:prstGeom prst="roundRect">
            <a:avLst>
              <a:gd name="adj" fmla="val 50000"/>
            </a:avLst>
          </a:prstGeom>
          <a:solidFill>
            <a:srgbClr val="A9BFC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607040" y="3840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11 %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784848" y="44439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coiffeur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66760" y="4471416"/>
            <a:ext cx="2148840" cy="219456"/>
          </a:xfrm>
          <a:prstGeom prst="roundRect">
            <a:avLst>
              <a:gd name="adj" fmla="val 50000"/>
            </a:avLst>
          </a:prstGeom>
          <a:solidFill>
            <a:srgbClr val="F0F0EE"/>
          </a:solidFill>
          <a:ln/>
        </p:spPr>
      </p:sp>
      <p:sp>
        <p:nvSpPr>
          <p:cNvPr id="26" name="Shape 24"/>
          <p:cNvSpPr/>
          <p:nvPr/>
        </p:nvSpPr>
        <p:spPr>
          <a:xfrm>
            <a:off x="8366760" y="4471416"/>
            <a:ext cx="382016" cy="219456"/>
          </a:xfrm>
          <a:prstGeom prst="roundRect">
            <a:avLst>
              <a:gd name="adj" fmla="val 50000"/>
            </a:avLst>
          </a:prstGeom>
          <a:solidFill>
            <a:srgbClr val="A9BFC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607040" y="44439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8 %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5047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autre suite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66760" y="5074920"/>
            <a:ext cx="2148840" cy="219456"/>
          </a:xfrm>
          <a:prstGeom prst="roundRect">
            <a:avLst>
              <a:gd name="adj" fmla="val 50000"/>
            </a:avLst>
          </a:prstGeom>
          <a:solidFill>
            <a:srgbClr val="F0F0EE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5074920"/>
            <a:ext cx="620776" cy="219456"/>
          </a:xfrm>
          <a:prstGeom prst="roundRect">
            <a:avLst>
              <a:gd name="adj" fmla="val 50000"/>
            </a:avLst>
          </a:prstGeom>
          <a:solidFill>
            <a:srgbClr val="A9BFC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607040" y="50474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13 %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784848" y="56144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modèle tire dans cette distribution, mot après mot. Illustration, non une mesure.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1D6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MÉCANISME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Trois étapes pour le fabriquer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310128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75104" y="1874520"/>
            <a:ext cx="548640" cy="548640"/>
          </a:xfrm>
          <a:prstGeom prst="ellipse">
            <a:avLst/>
          </a:prstGeom>
          <a:solidFill>
            <a:srgbClr val="1D6B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7510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786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Pré-entraînement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3035808"/>
            <a:ext cx="2688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lui fait lire une quantité de texte qu'aucun humain ne pourrait lire. Il en tire la structure de la langue, des faits, des raisonnements.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96696" y="4626864"/>
            <a:ext cx="2688336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96696" y="4791456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D6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sait parler.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87368" y="3749040"/>
            <a:ext cx="256032" cy="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8264" y="2148840"/>
            <a:ext cx="3310128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87568" y="1874520"/>
            <a:ext cx="548640" cy="548640"/>
          </a:xfrm>
          <a:prstGeom prst="ellipse">
            <a:avLst/>
          </a:prstGeom>
          <a:solidFill>
            <a:srgbClr val="1D6B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8756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72584" y="25786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Ajustement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035808"/>
            <a:ext cx="2688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lui montre des milliers d'exemples de bonnes réponses à des demandes réelles. Il apprend à être utile plutôt que simplement plausible.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4626864"/>
            <a:ext cx="2688336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4791456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D6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sait répondre.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99832" y="3749040"/>
            <a:ext cx="256032" cy="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0728" y="2148840"/>
            <a:ext cx="3310128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00032" y="1874520"/>
            <a:ext cx="548640" cy="548640"/>
          </a:xfrm>
          <a:prstGeom prst="ellipse">
            <a:avLst/>
          </a:prstGeom>
          <a:solidFill>
            <a:srgbClr val="1D6B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40003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85048" y="25786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Alignement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421624" y="3035808"/>
            <a:ext cx="2688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humains comparent ses réponses deux à deux. On renforce ce qui est honnête, prudent et clair.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21624" y="4626864"/>
            <a:ext cx="2688336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21624" y="4791456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D6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sait se tenir.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5577840"/>
            <a:ext cx="10817352" cy="713232"/>
          </a:xfrm>
          <a:prstGeom prst="roundRect">
            <a:avLst>
              <a:gd name="adj" fmla="val 16026"/>
            </a:avLst>
          </a:prstGeom>
          <a:solidFill>
            <a:srgbClr val="FBFBFA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51560" y="557784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troisième étape explique pourquoi deux modèles nourris de textes semblables se comportent très différemment. C'est là que se joue le caractère.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1D6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MÉCANISME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Cinq malentendus à écarter tout de suite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   Ce qu'on croit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053328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 Ce qui est vrai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4956048" cy="731520"/>
          </a:xfrm>
          <a:prstGeom prst="roundRect">
            <a:avLst>
              <a:gd name="adj" fmla="val 15625"/>
            </a:avLst>
          </a:prstGeom>
          <a:solidFill>
            <a:srgbClr val="FBFBFA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196596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 Il cherche sur Internet. »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89320" y="1965960"/>
            <a:ext cx="5120640" cy="731520"/>
          </a:xfrm>
          <a:prstGeom prst="roundRect">
            <a:avLst>
              <a:gd name="adj" fmla="val 15625"/>
            </a:avLst>
          </a:prstGeom>
          <a:solidFill>
            <a:srgbClr val="E6F5EE"/>
          </a:solidFill>
          <a:ln w="9525">
            <a:solidFill>
              <a:srgbClr val="0A8F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81928" y="1965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Non, sauf si on lui en donne l'outil. Autrement il répond de mémoire.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559552" y="2331720"/>
            <a:ext cx="310896" cy="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2807208"/>
            <a:ext cx="4956048" cy="731520"/>
          </a:xfrm>
          <a:prstGeom prst="roundRect">
            <a:avLst>
              <a:gd name="adj" fmla="val 15625"/>
            </a:avLst>
          </a:prstGeom>
          <a:solidFill>
            <a:srgbClr val="FBFBFA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8408" y="280720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 Il ne se trompe jamais. »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89320" y="2807208"/>
            <a:ext cx="5120640" cy="731520"/>
          </a:xfrm>
          <a:prstGeom prst="roundRect">
            <a:avLst>
              <a:gd name="adj" fmla="val 15625"/>
            </a:avLst>
          </a:prstGeom>
          <a:solidFill>
            <a:srgbClr val="E6F5EE"/>
          </a:solidFill>
          <a:ln w="9525">
            <a:solidFill>
              <a:srgbClr val="0A8F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28072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invente parfois avec aplomb. On vérifie tout ce qui est vérifiable.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559552" y="3172968"/>
            <a:ext cx="310896" cy="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5800" y="3648456"/>
            <a:ext cx="4956048" cy="731520"/>
          </a:xfrm>
          <a:prstGeom prst="roundRect">
            <a:avLst>
              <a:gd name="adj" fmla="val 15625"/>
            </a:avLst>
          </a:prstGeom>
          <a:solidFill>
            <a:srgbClr val="FBFBFA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8408" y="364845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 Il retient nos échanges. »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89320" y="3648456"/>
            <a:ext cx="5120640" cy="731520"/>
          </a:xfrm>
          <a:prstGeom prst="roundRect">
            <a:avLst>
              <a:gd name="adj" fmla="val 15625"/>
            </a:avLst>
          </a:prstGeom>
          <a:solidFill>
            <a:srgbClr val="E6F5EE"/>
          </a:solidFill>
          <a:ln w="9525">
            <a:solidFill>
              <a:srgbClr val="0A8F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64845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Chaque conversation repart à zéro, sauf mémoire activée.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559552" y="4014216"/>
            <a:ext cx="310896" cy="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5800" y="4489704"/>
            <a:ext cx="4956048" cy="731520"/>
          </a:xfrm>
          <a:prstGeom prst="roundRect">
            <a:avLst>
              <a:gd name="adj" fmla="val 15625"/>
            </a:avLst>
          </a:prstGeom>
          <a:solidFill>
            <a:srgbClr val="FBFBFA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8408" y="448970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 Il pense comme nous. »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89320" y="4489704"/>
            <a:ext cx="5120640" cy="731520"/>
          </a:xfrm>
          <a:prstGeom prst="roundRect">
            <a:avLst>
              <a:gd name="adj" fmla="val 15625"/>
            </a:avLst>
          </a:prstGeom>
          <a:solidFill>
            <a:srgbClr val="E6F5EE"/>
          </a:solidFill>
          <a:ln w="9525">
            <a:solidFill>
              <a:srgbClr val="0A8F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81928" y="448970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n'a ni intention ni compréhension du monde réel. Il modélise la langue.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559552" y="4855464"/>
            <a:ext cx="310896" cy="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5800" y="5330952"/>
            <a:ext cx="4956048" cy="731520"/>
          </a:xfrm>
          <a:prstGeom prst="roundRect">
            <a:avLst>
              <a:gd name="adj" fmla="val 15625"/>
            </a:avLst>
          </a:prstGeom>
          <a:solidFill>
            <a:srgbClr val="FBFBFA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8408" y="533095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 Il donne toujours la même réponse. »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989320" y="5330952"/>
            <a:ext cx="5120640" cy="731520"/>
          </a:xfrm>
          <a:prstGeom prst="roundRect">
            <a:avLst>
              <a:gd name="adj" fmla="val 15625"/>
            </a:avLst>
          </a:prstGeom>
          <a:solidFill>
            <a:srgbClr val="E6F5EE"/>
          </a:solidFill>
          <a:ln w="9525">
            <a:solidFill>
              <a:srgbClr val="0A8F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81928" y="533095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Non. Reposez la question : la formulation changera.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559552" y="5696712"/>
            <a:ext cx="310896" cy="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3B4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2606040" y="22128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3B4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QUALITÉ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606040" y="2487168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Qu'est-ce qui rend un modèle meilleur 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606040" y="3611880"/>
            <a:ext cx="1371600" cy="0"/>
          </a:xfrm>
          <a:prstGeom prst="line">
            <a:avLst/>
          </a:prstGeom>
          <a:noFill/>
          <a:ln w="31750">
            <a:solidFill>
              <a:srgbClr val="3B4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06040" y="382219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Tous savent écrire. Ils ne savent pas tous travailler.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3B4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QUALITÉ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critères qui séparent les modèles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310128" cy="178308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" y="1901952"/>
            <a:ext cx="457200" cy="457200"/>
          </a:xfrm>
          <a:prstGeom prst="ellipse">
            <a:avLst/>
          </a:prstGeom>
          <a:solidFill>
            <a:srgbClr val="3B49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96696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19385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raisonnement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2523744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Tenir une chaîne de dix étapes sans perdre le fil ni se contredire.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1627632"/>
            <a:ext cx="3310128" cy="178308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901952"/>
            <a:ext cx="457200" cy="457200"/>
          </a:xfrm>
          <a:prstGeom prst="ellipse">
            <a:avLst/>
          </a:prstGeom>
          <a:solidFill>
            <a:srgbClr val="3B49A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294376" y="19385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suivi de consigne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523744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Faire exactement ce qui est demandé — y compris les contraintes ennuyeuses.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0728" y="1627632"/>
            <a:ext cx="3310128" cy="178308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1624" y="1901952"/>
            <a:ext cx="457200" cy="457200"/>
          </a:xfrm>
          <a:prstGeom prst="ellipse">
            <a:avLst/>
          </a:prstGeom>
          <a:solidFill>
            <a:srgbClr val="3B49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21624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9385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mémoire de travail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2523744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quantité de texte qu'il peut garder sous les yeux en une seule fois.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621024"/>
            <a:ext cx="3310128" cy="178308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6696" y="3895344"/>
            <a:ext cx="457200" cy="457200"/>
          </a:xfrm>
          <a:prstGeom prst="ellipse">
            <a:avLst/>
          </a:prstGeom>
          <a:solidFill>
            <a:srgbClr val="3B49A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81912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L'honnêteté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96696" y="4517136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 « je ne sais pas » plutôt que d'inventer une référence crédible.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98264" y="3621024"/>
            <a:ext cx="3310128" cy="178308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895344"/>
            <a:ext cx="457200" cy="457200"/>
          </a:xfrm>
          <a:prstGeom prst="ellipse">
            <a:avLst/>
          </a:prstGeom>
          <a:solidFill>
            <a:srgbClr val="3B49A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294376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L'usage d'outils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4517136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Lire un fichier, faire un calcul, chercher, produire un document.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0728" y="3621024"/>
            <a:ext cx="3310128" cy="178308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1624" y="3895344"/>
            <a:ext cx="457200" cy="457200"/>
          </a:xfrm>
          <a:prstGeom prst="ellipse">
            <a:avLst/>
          </a:prstGeom>
          <a:solidFill>
            <a:srgbClr val="3B49A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21624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langue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21624" y="4517136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français d'ici, pas une traduction de l'anglais.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5669280"/>
            <a:ext cx="10817352" cy="731520"/>
          </a:xfrm>
          <a:prstGeom prst="roundRect">
            <a:avLst>
              <a:gd name="adj" fmla="val 15625"/>
            </a:avLst>
          </a:prstGeom>
          <a:solidFill>
            <a:srgbClr val="E8EAFA"/>
          </a:solidFill>
          <a:ln w="9525">
            <a:solidFill>
              <a:srgbClr val="3B49A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1560" y="5669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palmarès publics mesurent surtout A. Dans notre métier, B et D comptent davantage : un modèle qui suit la consigne et qui avoue ses limites fait gagner plus de temps qu'un modèle brillant et fantaisiste.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3B4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QUALITÉ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fenêtre de contexte, en clair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C'est tout ce que le modèle a « sous les yeux » au moment de répondre : votre demande, les documents fournis, et tout l'historique de la conversation.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24912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grande fenêtre change la nature du travail possible. On ne colle plus un paragraphe : on dépose un programme d'études complet, quatre cahiers d'élèves et une grille d'évaluation, puis on demande une analyse croisée.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4407408"/>
            <a:ext cx="4206240" cy="1572768"/>
          </a:xfrm>
          <a:prstGeom prst="roundRect">
            <a:avLst>
              <a:gd name="adj" fmla="val 7267"/>
            </a:avLst>
          </a:prstGeom>
          <a:solidFill>
            <a:srgbClr val="FEF6E7"/>
          </a:solidFill>
          <a:ln w="9525">
            <a:solidFill>
              <a:srgbClr val="D988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6696" y="4626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 LE COROLLAIRE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4937760"/>
            <a:ext cx="3584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conversation trop longue se dilue. Mieux vaut ouvrir une conversation neuve par tâche.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257800" y="1572768"/>
            <a:ext cx="6245352" cy="4443984"/>
          </a:xfrm>
          <a:prstGeom prst="roundRect">
            <a:avLst>
              <a:gd name="adj" fmla="val 2572"/>
            </a:avLst>
          </a:prstGeom>
          <a:solidFill>
            <a:srgbClr val="FBFBFA"/>
          </a:solidFill>
          <a:ln w="9525">
            <a:solidFill>
              <a:srgbClr val="D6D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23560" y="18105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3B4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FENÊTRE DE CONTEXTE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23560" y="2121408"/>
            <a:ext cx="5513832" cy="1810512"/>
          </a:xfrm>
          <a:prstGeom prst="roundRect">
            <a:avLst>
              <a:gd name="adj" fmla="val 6313"/>
            </a:avLst>
          </a:prstGeom>
          <a:solidFill>
            <a:srgbClr val="E8EAFA"/>
          </a:solidFill>
          <a:ln w="9525">
            <a:solidFill>
              <a:srgbClr val="3B49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79592" y="2304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documents que vous déposez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879592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Programme, manuel, copies d'élèves, gabarit.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16168" y="3017520"/>
            <a:ext cx="118872" cy="118872"/>
          </a:xfrm>
          <a:prstGeom prst="ellipse">
            <a:avLst/>
          </a:prstGeom>
          <a:solidFill>
            <a:srgbClr val="3B49A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90488" y="2926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programme d'études complet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16168" y="3328416"/>
            <a:ext cx="118872" cy="118872"/>
          </a:xfrm>
          <a:prstGeom prst="ellipse">
            <a:avLst/>
          </a:prstGeom>
          <a:solidFill>
            <a:srgbClr val="3B49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90488" y="32369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manuel entier et son corrigé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16168" y="3639312"/>
            <a:ext cx="118872" cy="118872"/>
          </a:xfrm>
          <a:prstGeom prst="ellipse">
            <a:avLst/>
          </a:prstGeom>
          <a:solidFill>
            <a:srgbClr val="3B49A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90488" y="3547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vingt fiches d'activité à harmoniser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23560" y="4078224"/>
            <a:ext cx="5513832" cy="713232"/>
          </a:xfrm>
          <a:prstGeom prst="roundRect">
            <a:avLst>
              <a:gd name="adj" fmla="val 16026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79592" y="42611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Votre demande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879592" y="45628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consigne du moment.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23560" y="4937760"/>
            <a:ext cx="5513832" cy="749808"/>
          </a:xfrm>
          <a:prstGeom prst="roundRect">
            <a:avLst>
              <a:gd name="adj" fmla="val 15244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79592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L'historique de la conversation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879592" y="5422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Tout ce qui a déjà été dit, des deux côtés.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i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Tout cela tient ensemble, en une seule fois, sans que vous ayez à résumer quoi que ce soit.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3B4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QUALITÉ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Répondre vite ou réfléchir d'abord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10817352" cy="19659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105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Réponse immédiate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2286000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2860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votre demande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78024" y="2487168"/>
            <a:ext cx="219456" cy="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52344" y="2286000"/>
            <a:ext cx="1188720" cy="402336"/>
          </a:xfrm>
          <a:prstGeom prst="roundRect">
            <a:avLst>
              <a:gd name="adj" fmla="val 22727"/>
            </a:avLst>
          </a:prstGeom>
          <a:solidFill>
            <a:srgbClr val="3B49A0"/>
          </a:solidFill>
          <a:ln w="12700">
            <a:solidFill>
              <a:srgbClr val="3B49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2344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réponse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712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8529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Reformuler, traduire, résumer, corriger une phrase, trouver dix synonymes.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43800" y="2834640"/>
            <a:ext cx="0" cy="566928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0" y="28712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VERDICT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1089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Rapide, et suffisant la plupart du temps.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767328"/>
            <a:ext cx="10817352" cy="19659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005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Réflexion préalable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4480560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44805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votre demande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78024" y="4681728"/>
            <a:ext cx="219456" cy="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752344" y="4480560"/>
            <a:ext cx="1188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52344" y="44805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raisonne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95928" y="4681728"/>
            <a:ext cx="219456" cy="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70248" y="4480560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70248" y="4480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se relit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22392" y="4681728"/>
            <a:ext cx="219456" cy="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696712" y="4480560"/>
            <a:ext cx="1188720" cy="402336"/>
          </a:xfrm>
          <a:prstGeom prst="roundRect">
            <a:avLst>
              <a:gd name="adj" fmla="val 22727"/>
            </a:avLst>
          </a:prstGeom>
          <a:solidFill>
            <a:srgbClr val="3B49A0"/>
          </a:solidFill>
          <a:ln w="12700">
            <a:solidFill>
              <a:srgbClr val="3B49A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96712" y="44805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réponse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50657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148840" y="50474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Bâtir une progression, croiser un programme et un manuel, corriger avec une grille, trouver l'erreur dans un raisonnement.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543800" y="5029200"/>
            <a:ext cx="0" cy="566928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0" y="50657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VERDICT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530352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Plus lent, nettement plus juste.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" y="5943600"/>
            <a:ext cx="10817352" cy="658368"/>
          </a:xfrm>
          <a:prstGeom prst="roundRect">
            <a:avLst>
              <a:gd name="adj" fmla="val 17361"/>
            </a:avLst>
          </a:prstGeom>
          <a:solidFill>
            <a:srgbClr val="E6F5EE"/>
          </a:solidFill>
          <a:ln w="9525">
            <a:solidFill>
              <a:srgbClr val="0A8F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1560" y="59436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réflexe : si la tâche a plus de trois contraintes, demandez explicitement de réfléchir avant de répondre.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EE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2606040" y="22128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L'UTILITÉ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606040" y="2487168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ça nous aide vraiment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606040" y="3611880"/>
            <a:ext cx="1371600" cy="0"/>
          </a:xfrm>
          <a:prstGeom prst="line">
            <a:avLst/>
          </a:prstGeom>
          <a:noFill/>
          <a:ln w="31750">
            <a:solidFill>
              <a:srgbClr val="B4530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06040" y="382219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 pour enseigner à notre place. Pour libérer le temps qui n'est pas de l'enseignement.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L'UTILITÉ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travail qui n'est pas devant la classe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544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bonne partie du métier se passe ailleurs qu'en classe. C'est précisément ce travail-là que l'outil sait accompagner.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226710" y="3108960"/>
            <a:ext cx="1737360" cy="1737360"/>
          </a:xfrm>
          <a:prstGeom prst="ellipse">
            <a:avLst/>
          </a:prstGeom>
          <a:solidFill>
            <a:srgbClr val="FBEEDC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72430" y="31546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</a:t>
            </a:r>
            <a:endParaRPr lang="en-US" sz="17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103120"/>
            <a:ext cx="3968496" cy="1133856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8408" y="2286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Préparer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6151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Bâtir une séquence, découper une notion, trouver dix exemples plutôt que trois.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54296" y="2670048"/>
            <a:ext cx="572414" cy="1307592"/>
          </a:xfrm>
          <a:prstGeom prst="line">
            <a:avLst/>
          </a:prstGeom>
          <a:noFill/>
          <a:ln w="12700">
            <a:solidFill>
              <a:srgbClr val="D6D6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383280"/>
            <a:ext cx="3968496" cy="1133856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8408" y="3566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Adapter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978408" y="389534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Reprendre le même contenu à trois niveaux, pour trois profils d'élèves.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54296" y="3950208"/>
            <a:ext cx="572414" cy="27432"/>
          </a:xfrm>
          <a:prstGeom prst="line">
            <a:avLst/>
          </a:prstGeom>
          <a:noFill/>
          <a:ln w="12700">
            <a:solidFill>
              <a:srgbClr val="D6D6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663440"/>
            <a:ext cx="3968496" cy="1133856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4846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Corriger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517550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Repérer les erreurs récurrentes d'un groupe, rédiger une rétroaction.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54296" y="5230368"/>
            <a:ext cx="572414" cy="-1252728"/>
          </a:xfrm>
          <a:prstGeom prst="line">
            <a:avLst/>
          </a:prstGeom>
          <a:noFill/>
          <a:ln w="12700">
            <a:solidFill>
              <a:srgbClr val="D6D6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34656" y="2103120"/>
            <a:ext cx="3968496" cy="1133856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27264" y="2286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Différencier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7827264" y="26151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renfort pour l'un, l'enrichissement pour l'autre.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64070" y="2670048"/>
            <a:ext cx="570586" cy="1307592"/>
          </a:xfrm>
          <a:prstGeom prst="line">
            <a:avLst/>
          </a:prstGeom>
          <a:noFill/>
          <a:ln w="12700">
            <a:solidFill>
              <a:srgbClr val="D6D6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34656" y="3383280"/>
            <a:ext cx="3968496" cy="1133856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27264" y="3566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Documenter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7827264" y="389534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plan, la grille, le compte rendu, la lettre aux parents.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64070" y="3950208"/>
            <a:ext cx="570586" cy="27432"/>
          </a:xfrm>
          <a:prstGeom prst="line">
            <a:avLst/>
          </a:prstGeom>
          <a:noFill/>
          <a:ln w="12700">
            <a:solidFill>
              <a:srgbClr val="D6D6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34656" y="4663440"/>
            <a:ext cx="3968496" cy="1133856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27264" y="4846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Explorer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7827264" y="517550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faire expliquer une notion, tester une idée avant de l'essayer.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964070" y="5230368"/>
            <a:ext cx="570586" cy="-1252728"/>
          </a:xfrm>
          <a:prstGeom prst="line">
            <a:avLst/>
          </a:prstGeom>
          <a:noFill/>
          <a:ln w="12700">
            <a:solidFill>
              <a:srgbClr val="D6D6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L'UTILITÉ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ligne de partage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544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L'outil produit. L'enseignant décide. Cette ligne ne bouge pas.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993392"/>
            <a:ext cx="4956048" cy="3840480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4984" y="22311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2231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lui confie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14984" y="2834640"/>
            <a:ext cx="429768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2926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premier jet, jamais le dernier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14984" y="3346704"/>
            <a:ext cx="429768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14984" y="34381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variante, la déclinaison, le doublon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14984" y="3858768"/>
            <a:ext cx="429768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4984" y="39502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mise en forme et la mise en page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14984" y="4370832"/>
            <a:ext cx="429768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4984" y="44622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relecture et la chasse aux oublis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14984" y="4882896"/>
            <a:ext cx="429768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4984" y="4974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brassage d'idées quand on sèche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" y="5413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i="1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Tout ce qui est long sans être délicat.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47104" y="1993392"/>
            <a:ext cx="4956048" cy="3840480"/>
          </a:xfrm>
          <a:prstGeom prst="roundRect">
            <a:avLst>
              <a:gd name="adj" fmla="val 2976"/>
            </a:avLst>
          </a:prstGeom>
          <a:solidFill>
            <a:srgbClr val="E6F5EE"/>
          </a:solidFill>
          <a:ln w="9525">
            <a:solidFill>
              <a:srgbClr val="0A8F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76288" y="22311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88352" y="2231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garde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876288" y="2834640"/>
            <a:ext cx="429768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76288" y="2926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choix de ce qu'on enseigne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876288" y="3346704"/>
            <a:ext cx="429768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76288" y="34381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jugement sur l'élève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876288" y="3858768"/>
            <a:ext cx="429768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76288" y="39502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relation et le climat de classe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876288" y="4370832"/>
            <a:ext cx="429768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76288" y="44622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décision d'évaluation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876288" y="4882896"/>
            <a:ext cx="429768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76288" y="4974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responsabilité de ce qu'on distribue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876288" y="5413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i="1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Tout ce qui engage notre jugement professionnel.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016752" y="1993392"/>
            <a:ext cx="0" cy="384048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5998464"/>
            <a:ext cx="10817352" cy="566928"/>
          </a:xfrm>
          <a:prstGeom prst="roundRect">
            <a:avLst>
              <a:gd name="adj" fmla="val 20161"/>
            </a:avLst>
          </a:prstGeom>
          <a:solidFill>
            <a:srgbClr val="FBFBFA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1560" y="599846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Rien ne sort de la classe sans avoir été relu par quelqu'un qui en répond.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C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2606040" y="22128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OUTILS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606040" y="2487168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Trois façons de travailler avec Claude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606040" y="3611880"/>
            <a:ext cx="1371600" cy="0"/>
          </a:xfrm>
          <a:prstGeom prst="line">
            <a:avLst/>
          </a:prstGeom>
          <a:noFill/>
          <a:ln w="31750">
            <a:solidFill>
              <a:srgbClr val="0D7A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06040" y="382219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même modèle, trois postes de travail très différents.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OUTILS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même moteur, trois postes de travail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3310128" cy="3657600"/>
          </a:xfrm>
          <a:prstGeom prst="roundRect">
            <a:avLst>
              <a:gd name="adj" fmla="val 3453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6696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96696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conversation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96696" y="2542032"/>
            <a:ext cx="2688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discussion. Vous écrivez, il répond. Vous copiez le résultat.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96696" y="3566160"/>
            <a:ext cx="2688336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6696" y="36758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6696" y="3931920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Réfléchir, rédiger, expliquer, corriger un texte.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96696" y="4590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 Rien à installer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96696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  Le résultat reste dans la fenêtre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98264" y="1572768"/>
            <a:ext cx="3310128" cy="3657600"/>
          </a:xfrm>
          <a:prstGeom prst="roundRect">
            <a:avLst>
              <a:gd name="adj" fmla="val 3453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Cowork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collègue de bureau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2542032"/>
            <a:ext cx="2688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travaille dans vos dossiers et vous rend des fichiers finis.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3566160"/>
            <a:ext cx="2688336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36758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3931920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Produire des documents, traiter un lot, monter un dossier.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4590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 Aucune compétence technique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  Il agit : on relit avant de diffuser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10728" y="1572768"/>
            <a:ext cx="3310128" cy="3657600"/>
          </a:xfrm>
          <a:prstGeom prst="roundRect">
            <a:avLst>
              <a:gd name="adj" fmla="val 3453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21624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421624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l'atelier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421624" y="2542032"/>
            <a:ext cx="2688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pilote votre ordinateur : fichiers, scripts, sites, conversions.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21624" y="3566160"/>
            <a:ext cx="2688336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21624" y="36758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421624" y="3931920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Fabriquer et maintenir du matériel à grande échelle.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421624" y="4590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 Puissance maximale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421624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  Demande de la méthode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057400" y="5532120"/>
            <a:ext cx="7863840" cy="0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258568" y="5449824"/>
            <a:ext cx="164592" cy="164592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152144" y="5705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texte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971032" y="5449824"/>
            <a:ext cx="164592" cy="164592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64608" y="5705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fichier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9683496" y="5449824"/>
            <a:ext cx="164592" cy="164592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77072" y="5705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collection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55321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DONT VOUS REPARTEZ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5800" y="6108192"/>
            <a:ext cx="10817352" cy="548640"/>
          </a:xfrm>
          <a:prstGeom prst="roundRect">
            <a:avLst>
              <a:gd name="adj" fmla="val 20833"/>
            </a:avLst>
          </a:prstGeom>
          <a:solidFill>
            <a:srgbClr val="FBFBFA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51560" y="61081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conversation est un collègue au téléphone ; Cowork, un collègue assis à votre bureau ; Code, un collègue à l'atelier, avec les machines.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OUTILS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en conversation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898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collègue au bout du fil : il vous répond, vous décidez.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C'est la porte d'entrée, dans le navigateur ou l'application. On dépose une question ou un document, on obtient une réponse, on discute, on affine.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peut y joindre des fichiers, y créer des Projets qui gardent le contexte d'un cours, et lui faire produire des pages interactives que les élèves peuvent utiliser telles quelles.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4434840"/>
            <a:ext cx="4846320" cy="1481328"/>
          </a:xfrm>
          <a:prstGeom prst="roundRect">
            <a:avLst>
              <a:gd name="adj" fmla="val 7716"/>
            </a:avLst>
          </a:prstGeom>
          <a:solidFill>
            <a:srgbClr val="FEF6E7"/>
          </a:solidFill>
          <a:ln w="9525">
            <a:solidFill>
              <a:srgbClr val="D988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6696" y="46451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 LE PIÈGE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4937760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résultat vit dans la fenêtre. Ce qui n'est pas copié ailleurs est perdu.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920240"/>
            <a:ext cx="5513832" cy="3995928"/>
          </a:xfrm>
          <a:prstGeom prst="roundRect">
            <a:avLst>
              <a:gd name="adj" fmla="val 2860"/>
            </a:avLst>
          </a:prstGeom>
          <a:solidFill>
            <a:srgbClr val="FBFBFA"/>
          </a:solidFill>
          <a:ln w="9525">
            <a:solidFill>
              <a:srgbClr val="D6D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21762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CLASSE, CONCRÈTEMENT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2542032"/>
            <a:ext cx="4782312" cy="658368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28816" y="2688336"/>
            <a:ext cx="365760" cy="365760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28816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254203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Faire expliquer une notion de grammaire de quatre façons différentes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3328416"/>
            <a:ext cx="4782312" cy="658368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8816" y="3474720"/>
            <a:ext cx="365760" cy="365760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28816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022592" y="332841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 un texte authentique en texte de niveau 4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114800"/>
            <a:ext cx="4782312" cy="658368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8816" y="4261104"/>
            <a:ext cx="365760" cy="365760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28816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411480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Rédiger une rétroaction bienveillante à partir de la copie d'un élève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4901184"/>
            <a:ext cx="4782312" cy="658368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28816" y="5047488"/>
            <a:ext cx="365760" cy="365760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28816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022592" y="490118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faire critiquer une consigne avant de la donner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OUTILS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898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collègue assis à votre bureau : il ouvre vos dossiers et rend des fichiers.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Ici, on ne copie plus rien. On lui donne accès à un dossier de travail et il produit directement les documents : Word, PowerPoint, Excel, PDF.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travaille en plusieurs étapes, sur un lot complet, et rend compte de ce qu'il a fait. On lui parle en français ordinaire — aucune compétence technique n'est requise.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4434840"/>
            <a:ext cx="4846320" cy="1481328"/>
          </a:xfrm>
          <a:prstGeom prst="roundRect">
            <a:avLst>
              <a:gd name="adj" fmla="val 7716"/>
            </a:avLst>
          </a:prstGeom>
          <a:solidFill>
            <a:srgbClr val="FEF6E7"/>
          </a:solidFill>
          <a:ln w="9525">
            <a:solidFill>
              <a:srgbClr val="D988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6696" y="46451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 LE PIÈGE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4937760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agit pour vrai sur vos fichiers. On travaille sur une copie, et on relit avant de diffuser.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920240"/>
            <a:ext cx="5513832" cy="3995928"/>
          </a:xfrm>
          <a:prstGeom prst="roundRect">
            <a:avLst>
              <a:gd name="adj" fmla="val 2860"/>
            </a:avLst>
          </a:prstGeom>
          <a:solidFill>
            <a:srgbClr val="FBFBFA"/>
          </a:solidFill>
          <a:ln w="9525">
            <a:solidFill>
              <a:srgbClr val="D6D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21762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CLASSE, CONCRÈTEMENT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2542032"/>
            <a:ext cx="4782312" cy="658368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28816" y="2688336"/>
            <a:ext cx="365760" cy="365760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28816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254203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Reprendre vingt fiches d'activité au même gabarit visuel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3328416"/>
            <a:ext cx="4782312" cy="658368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8816" y="3474720"/>
            <a:ext cx="365760" cy="365760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28816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022592" y="332841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Monter le PowerPoint d'une séquence à partir du plan de cours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114800"/>
            <a:ext cx="4782312" cy="658368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8816" y="4261104"/>
            <a:ext cx="365760" cy="365760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28816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411480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Compiler les résultats d'un groupe dans un tableau lisible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4901184"/>
            <a:ext cx="4782312" cy="658368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28816" y="5047488"/>
            <a:ext cx="365760" cy="365760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28816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022592" y="490118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Produire le cahier de l'élève et le corrigé de l'enseignant d'un seul coup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OUTILS ·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898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L'atelier : la fabrication en série et sur mesure.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Malgré son nom, il ne sert pas qu'à programmer. C'est un assistant qui a la main sur l'ordinateur : il lit et écrit des fichiers, lance des programmes, convertit des formats, publie des pages web.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C'est l'outil du matériel produit à grande échelle et maintenu dans le temps : une bibliothèque d'activités, un portail pour les élèves, une chaîne de production.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4434840"/>
            <a:ext cx="4846320" cy="1481328"/>
          </a:xfrm>
          <a:prstGeom prst="roundRect">
            <a:avLst>
              <a:gd name="adj" fmla="val 7716"/>
            </a:avLst>
          </a:prstGeom>
          <a:solidFill>
            <a:srgbClr val="FEF6E7"/>
          </a:solidFill>
          <a:ln w="9525">
            <a:solidFill>
              <a:srgbClr val="D988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6696" y="46451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 LE PIÈGE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4937760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faut de la méthode : travailler par étapes, vérifier, et savoir revenir en arrière.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920240"/>
            <a:ext cx="5513832" cy="3995928"/>
          </a:xfrm>
          <a:prstGeom prst="roundRect">
            <a:avLst>
              <a:gd name="adj" fmla="val 2860"/>
            </a:avLst>
          </a:prstGeom>
          <a:solidFill>
            <a:srgbClr val="FBFBFA"/>
          </a:solidFill>
          <a:ln w="9525">
            <a:solidFill>
              <a:srgbClr val="D6D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21762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CLASSE, CONCRÈTEMENT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2542032"/>
            <a:ext cx="4782312" cy="658368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28816" y="2688336"/>
            <a:ext cx="365760" cy="365760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28816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254203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Fabriquer onze modules interactifs bâtis sur le même gabarit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3328416"/>
            <a:ext cx="4782312" cy="658368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8816" y="3474720"/>
            <a:ext cx="365760" cy="365760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28816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022592" y="332841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Générer les enregistrements audio de tous les dialogues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114800"/>
            <a:ext cx="4782312" cy="658368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8816" y="4261104"/>
            <a:ext cx="365760" cy="365760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28816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411480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Corriger une coquille présente dans deux cents fichiers d'un coup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4901184"/>
            <a:ext cx="4782312" cy="658368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28816" y="5047488"/>
            <a:ext cx="365760" cy="365760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28816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022592" y="490118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Publier un portail où les élèves retrouvent tout le matériel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OUTILS ·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Lequel choisir ? Trois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852160" cy="1133856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11680"/>
            <a:ext cx="493776" cy="493776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116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618488" y="19110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je veux, est-ce un texte ?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618488" y="22768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lire, à comprendre, à reformuler.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37960" y="2258568"/>
            <a:ext cx="502920" cy="0"/>
          </a:xfrm>
          <a:prstGeom prst="line">
            <a:avLst/>
          </a:prstGeom>
          <a:noFill/>
          <a:ln w="15875">
            <a:solidFill>
              <a:srgbClr val="0D7A6F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556248" y="1947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0" y="2002536"/>
            <a:ext cx="3291840" cy="530352"/>
          </a:xfrm>
          <a:prstGeom prst="roundRect">
            <a:avLst>
              <a:gd name="adj" fmla="val 50000"/>
            </a:avLst>
          </a:prstGeom>
          <a:solidFill>
            <a:srgbClr val="DCF2E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0" y="200253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en conversation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07008" y="2825496"/>
            <a:ext cx="0" cy="237744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371600" y="28437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063240"/>
            <a:ext cx="5852160" cy="1133856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383280"/>
            <a:ext cx="493776" cy="493776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33832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618488" y="32826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résultat doit-il être un document livrable ?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618488" y="36484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Word, un PowerPoint, un tableau, un PDF prêt à imprimer.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3630168"/>
            <a:ext cx="502920" cy="0"/>
          </a:xfrm>
          <a:prstGeom prst="line">
            <a:avLst/>
          </a:prstGeom>
          <a:noFill/>
          <a:ln w="15875">
            <a:solidFill>
              <a:srgbClr val="0D7A6F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556248" y="3319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3374136"/>
            <a:ext cx="3291840" cy="530352"/>
          </a:xfrm>
          <a:prstGeom prst="roundRect">
            <a:avLst>
              <a:gd name="adj" fmla="val 50000"/>
            </a:avLst>
          </a:prstGeom>
          <a:solidFill>
            <a:srgbClr val="DCF2E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0" y="337413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Cowork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207008" y="4197096"/>
            <a:ext cx="0" cy="237744"/>
          </a:xfrm>
          <a:prstGeom prst="line">
            <a:avLst/>
          </a:prstGeom>
          <a:noFill/>
          <a:ln w="15875">
            <a:solidFill>
              <a:srgbClr val="D6D6D2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1371600" y="42153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4434840"/>
            <a:ext cx="5852160" cy="1133856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4754880"/>
            <a:ext cx="493776" cy="493776"/>
          </a:xfrm>
          <a:prstGeom prst="ellipse">
            <a:avLst/>
          </a:prstGeom>
          <a:solidFill>
            <a:srgbClr val="0D7A6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0120" y="4754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618488" y="46542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Est-ce que je fabrique la même chose vingt fois ?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1618488" y="50200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collection, un portail, une chaîne à maintenir dans le temps.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37960" y="5001768"/>
            <a:ext cx="502920" cy="0"/>
          </a:xfrm>
          <a:prstGeom prst="line">
            <a:avLst/>
          </a:prstGeom>
          <a:noFill/>
          <a:ln w="15875">
            <a:solidFill>
              <a:srgbClr val="0D7A6F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6556248" y="4690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32320" y="4745736"/>
            <a:ext cx="3291840" cy="530352"/>
          </a:xfrm>
          <a:prstGeom prst="roundRect">
            <a:avLst>
              <a:gd name="adj" fmla="val 50000"/>
            </a:avLst>
          </a:prstGeom>
          <a:solidFill>
            <a:srgbClr val="DCF2E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0" y="474573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85800" y="5852160"/>
            <a:ext cx="10817352" cy="713232"/>
          </a:xfrm>
          <a:prstGeom prst="roundRect">
            <a:avLst>
              <a:gd name="adj" fmla="val 16026"/>
            </a:avLst>
          </a:prstGeom>
          <a:solidFill>
            <a:srgbClr val="E6F5EE"/>
          </a:solidFill>
          <a:ln w="9525">
            <a:solidFill>
              <a:srgbClr val="0A8F5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5156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cas de doute : commencer dans la conversation. On y met la pensée au clair, puis on transporte la consigne au bon endroit.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2606040" y="22128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APTITUDES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606040" y="2487168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Développer ses aptitudes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606040" y="3611880"/>
            <a:ext cx="1371600" cy="0"/>
          </a:xfrm>
          <a:prstGeom prst="line">
            <a:avLst/>
          </a:prstGeom>
          <a:noFill/>
          <a:ln w="31750">
            <a:solidFill>
              <a:srgbClr val="1665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06040" y="382219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L'écart entre un résultat décevant et un résultat excellent tient presque toujours à la consigne.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APTITUDES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Anatomie d'une bonne consigne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2763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rôle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24912" y="1627632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E3F1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52928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724912" y="162763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contexte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46904" y="1627632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46904" y="162763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tâche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8896" y="1627632"/>
            <a:ext cx="2240280" cy="658368"/>
          </a:xfrm>
          <a:prstGeom prst="roundRect">
            <a:avLst>
              <a:gd name="adj" fmla="val 13889"/>
            </a:avLst>
          </a:prstGeom>
          <a:solidFill>
            <a:srgbClr val="E3F1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168896" y="162763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contraintes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82328" y="1627632"/>
            <a:ext cx="231343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10344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482328" y="1627632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L'exemple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23957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CONSIGNE COMPLÈTE, DE GAUCHE À DROITE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2889504"/>
            <a:ext cx="402336" cy="40233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289304" y="2926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rôle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 Tu es enseignant de francisation au niveau 4, auprès d'adultes. »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289304" y="3383280"/>
            <a:ext cx="992124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547872"/>
            <a:ext cx="402336" cy="40233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289304" y="3584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contexte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337560" y="35844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 sont les élèves, où on en est dans la séquence, ce qui a déjà été vu.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289304" y="4041648"/>
            <a:ext cx="992124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206240"/>
            <a:ext cx="402336" cy="40233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289304" y="42428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tâche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337560" y="424281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verbe précis et une quantité : rédige, compare, produis douze items.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289304" y="4700016"/>
            <a:ext cx="992124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4864608"/>
            <a:ext cx="402336" cy="40233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85800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289304" y="49011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contraintes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3337560" y="490118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niveau de langue, la longueur, ce qu'il faut éviter, le format attendu.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289304" y="5358384"/>
            <a:ext cx="992124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5522976"/>
            <a:ext cx="402336" cy="40233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5800" y="5522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289304" y="55595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L'exemple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3337560" y="55595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item modèle vaut mieux qu'un paragraphe d'explications.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685800" y="6144768"/>
            <a:ext cx="10817352" cy="548640"/>
          </a:xfrm>
          <a:prstGeom prst="roundRect">
            <a:avLst>
              <a:gd name="adj" fmla="val 20833"/>
            </a:avLst>
          </a:prstGeom>
          <a:solidFill>
            <a:srgbClr val="E6F5EE"/>
          </a:solidFill>
          <a:ln w="9525">
            <a:solidFill>
              <a:srgbClr val="0A8F5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51560" y="6144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surtout : une consigne se travaille en plusieurs tours. La première réponse sert à ajuster la deuxième demande.</a:t>
            </a:r>
            <a:endParaRPr lang="en-US" sz="1350" dirty="0"/>
          </a:p>
        </p:txBody>
      </p:sp>
      <p:sp>
        <p:nvSpPr>
          <p:cNvPr id="46" name="Text 44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APTITUDES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même demande, deux résultats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4956048" cy="4206240"/>
          </a:xfrm>
          <a:prstGeom prst="roundRect">
            <a:avLst>
              <a:gd name="adj" fmla="val 2717"/>
            </a:avLst>
          </a:prstGeom>
          <a:solidFill>
            <a:srgbClr val="FBFBFA"/>
          </a:solidFill>
          <a:ln w="9525">
            <a:solidFill>
              <a:srgbClr val="D6D6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3272" y="18653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   Avant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2286000"/>
            <a:ext cx="4261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 Fais-moi un exercice sur le passé composé. »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33272" y="3154680"/>
            <a:ext cx="4261104" cy="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33101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QU'ON OBTIENT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584448"/>
            <a:ext cx="4261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Dix phrases à trous, hors contexte, d'un niveau imprévisible, avec des verbes qui ne servent à personne. On recommence.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779008" y="3703320"/>
            <a:ext cx="402336" cy="0"/>
          </a:xfrm>
          <a:prstGeom prst="line">
            <a:avLst/>
          </a:prstGeom>
          <a:noFill/>
          <a:ln w="15875">
            <a:solidFill>
              <a:srgbClr val="16653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47104" y="1627632"/>
            <a:ext cx="4956048" cy="4206240"/>
          </a:xfrm>
          <a:prstGeom prst="roundRect">
            <a:avLst>
              <a:gd name="adj" fmla="val 2717"/>
            </a:avLst>
          </a:prstGeom>
          <a:solidFill>
            <a:srgbClr val="E3F1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94576" y="18653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 Après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94576" y="2286000"/>
            <a:ext cx="42611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 Mes élèves sont des adultes en francisation, niveau 4. Ils travaillent la prise de rendez-vous médical. Écris douze phrases au passé composé, au « je » et au « nous », avec des verbes de la vie courante. Une phrase par ligne, l'infinitif entre parenthèses. Pas de verbes pronominaux : on ne les a pas vus. »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94576" y="4754880"/>
            <a:ext cx="4261104" cy="0"/>
          </a:xfrm>
          <a:prstGeom prst="line">
            <a:avLst/>
          </a:prstGeom>
          <a:noFill/>
          <a:ln w="9525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94576" y="490118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QU'ON OBTIENT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894576" y="5175504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exercice utilisable tel quel, dans le thème de la séquence, au bon niveau.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5989320"/>
            <a:ext cx="10817352" cy="566928"/>
          </a:xfrm>
          <a:prstGeom prst="roundRect">
            <a:avLst>
              <a:gd name="adj" fmla="val 20161"/>
            </a:avLst>
          </a:prstGeom>
          <a:solidFill>
            <a:srgbClr val="FBFBFA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59893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deuxième consigne prend trente secondes de plus à écrire. Elle épargne trois allers-retours.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APTITUDES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Quatre réflexes, et ils tournent en boucle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4956048" cy="18745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2029968"/>
            <a:ext cx="457200" cy="45720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4984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4825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Donner la matière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26700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 pas décrire un document : le déposer. Le programme, le manuel, la copie de l'élève.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47104" y="1737360"/>
            <a:ext cx="4956048" cy="18745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76288" y="2029968"/>
            <a:ext cx="457200" cy="45720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7628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461504" y="204825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Demander la critique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76288" y="26700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 Qu'est-ce qui cloche dans cet exercice ? » — avant de le distribuer.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47104" y="3931920"/>
            <a:ext cx="4956048" cy="18745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76288" y="4224528"/>
            <a:ext cx="457200" cy="45720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76288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461504" y="42428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Corriger en cours de route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6876288" y="48646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 pas tout recommencer : dire ce qui ne va pas et faire reprendre.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931920"/>
            <a:ext cx="4956048" cy="18745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4984" y="4224528"/>
            <a:ext cx="457200" cy="45720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4984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2428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Vérifier ce qui compte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48646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faits, les dates, les références, les règles. Le reste, on le lit.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15000" y="2651760"/>
            <a:ext cx="758952" cy="0"/>
          </a:xfrm>
          <a:prstGeom prst="line">
            <a:avLst/>
          </a:prstGeom>
          <a:noFill/>
          <a:ln w="19050">
            <a:solidFill>
              <a:srgbClr val="16653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25128" y="3648456"/>
            <a:ext cx="0" cy="292608"/>
          </a:xfrm>
          <a:prstGeom prst="line">
            <a:avLst/>
          </a:prstGeom>
          <a:noFill/>
          <a:ln w="19050">
            <a:solidFill>
              <a:srgbClr val="16653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715000" y="4846320"/>
            <a:ext cx="758952" cy="0"/>
          </a:xfrm>
          <a:prstGeom prst="line">
            <a:avLst/>
          </a:prstGeom>
          <a:noFill/>
          <a:ln w="19050">
            <a:solidFill>
              <a:srgbClr val="166534"/>
            </a:solidFill>
            <a:prstDash val="solid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3163824" y="3648456"/>
            <a:ext cx="0" cy="292608"/>
          </a:xfrm>
          <a:prstGeom prst="line">
            <a:avLst/>
          </a:prstGeom>
          <a:noFill/>
          <a:ln w="19050">
            <a:solidFill>
              <a:srgbClr val="166534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685800" y="5961888"/>
            <a:ext cx="10817352" cy="603504"/>
          </a:xfrm>
          <a:prstGeom prst="roundRect">
            <a:avLst>
              <a:gd name="adj" fmla="val 18939"/>
            </a:avLst>
          </a:prstGeom>
          <a:solidFill>
            <a:srgbClr val="E3F1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596188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repasse par la boucle autant de fois qu'il le faut. C'est normal, et c'est là que la qualité se gagne.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2606040" y="22128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F0F0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MATÉRIEL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606040" y="2487168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Développer du matériel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606040" y="3611880"/>
            <a:ext cx="137160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06040" y="382219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0F0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l'exercice unique à la collection cohérente.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MATÉRIEL ·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Trois échelles de production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1790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même outil, trois ambitions. Chaque marche suppose la précédente — et rapporte davantage.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3474720"/>
            <a:ext cx="3310128" cy="1737360"/>
          </a:xfrm>
          <a:prstGeom prst="roundRect">
            <a:avLst>
              <a:gd name="adj" fmla="val 6579"/>
            </a:avLst>
          </a:prstGeom>
          <a:solidFill>
            <a:srgbClr val="E7F0F6"/>
          </a:solidFill>
          <a:ln w="9525">
            <a:solidFill>
              <a:srgbClr val="1D6B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6696" y="3712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1D6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quotidien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96696" y="4187952"/>
            <a:ext cx="2688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Exercices, textes adaptés, listes de vocabulaire, corrigés, grilles.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470916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D6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conversation, quinze minutes.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5285232"/>
            <a:ext cx="3310128" cy="0"/>
          </a:xfrm>
          <a:prstGeom prst="line">
            <a:avLst/>
          </a:prstGeom>
          <a:noFill/>
          <a:ln w="31750">
            <a:solidFill>
              <a:srgbClr val="1D6B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53583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Échelle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98264" y="2880360"/>
            <a:ext cx="3310128" cy="2331720"/>
          </a:xfrm>
          <a:prstGeom prst="roundRect">
            <a:avLst>
              <a:gd name="adj" fmla="val 4902"/>
            </a:avLst>
          </a:prstGeom>
          <a:solidFill>
            <a:srgbClr val="DCF2EF"/>
          </a:solidFill>
          <a:ln w="9525">
            <a:solidFill>
              <a:srgbClr val="0D7A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31181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document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593592"/>
            <a:ext cx="2688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Cahier de l'élève, présentation, fiche imprimable, plan de cours complet.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66344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D7A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Cowork, une avant-midi.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98264" y="5285232"/>
            <a:ext cx="3310128" cy="0"/>
          </a:xfrm>
          <a:prstGeom prst="line">
            <a:avLst/>
          </a:prstGeom>
          <a:noFill/>
          <a:ln w="31750">
            <a:solidFill>
              <a:srgbClr val="0D7A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98264" y="53583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Échelle 2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10728" y="2286000"/>
            <a:ext cx="3310128" cy="2926080"/>
          </a:xfrm>
          <a:prstGeom prst="roundRect">
            <a:avLst>
              <a:gd name="adj" fmla="val 3906"/>
            </a:avLst>
          </a:prstGeom>
          <a:solidFill>
            <a:srgbClr val="E3F1E7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21624" y="2523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dispositif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21624" y="2999232"/>
            <a:ext cx="2688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séquence entière : activités interactives, audio, suivi, portail élève.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21624" y="466344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Code, un chantier suivi.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10728" y="5285232"/>
            <a:ext cx="3310128" cy="0"/>
          </a:xfrm>
          <a:prstGeom prst="line">
            <a:avLst/>
          </a:prstGeom>
          <a:noFill/>
          <a:ln w="3175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0728" y="53583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Échelle 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5806440"/>
            <a:ext cx="10817352" cy="777240"/>
          </a:xfrm>
          <a:prstGeom prst="roundRect">
            <a:avLst>
              <a:gd name="adj" fmla="val 14706"/>
            </a:avLst>
          </a:prstGeom>
          <a:solidFill>
            <a:srgbClr val="E6F5EE"/>
          </a:solidFill>
          <a:ln w="9525">
            <a:solidFill>
              <a:srgbClr val="0A8F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43000" y="58064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vraie économie n'est pas le premier document — c'est le deuxième, et les dix-huit suivants.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MATÉRIEL ·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cas réel : cette bibliothèque-ci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2487168" cy="146304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420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modules complets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572768"/>
            <a:ext cx="2487168" cy="146304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73736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5420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séances par module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572768"/>
            <a:ext cx="2487168" cy="146304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73736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5420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niveaux couverts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572768"/>
            <a:ext cx="2487168" cy="146304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173736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5420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contenu original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291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ONZE MODULES, UN SEUL GABARIT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566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8F5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9848" y="3566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8F5B"/>
          </a:solidFill>
          <a:ln/>
        </p:spPr>
      </p:sp>
      <p:sp>
        <p:nvSpPr>
          <p:cNvPr id="19" name="Shape 17"/>
          <p:cNvSpPr/>
          <p:nvPr/>
        </p:nvSpPr>
        <p:spPr>
          <a:xfrm>
            <a:off x="1453896" y="3566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8F5B"/>
          </a:solidFill>
          <a:ln/>
        </p:spPr>
      </p:sp>
      <p:sp>
        <p:nvSpPr>
          <p:cNvPr id="20" name="Shape 18"/>
          <p:cNvSpPr/>
          <p:nvPr/>
        </p:nvSpPr>
        <p:spPr>
          <a:xfrm>
            <a:off x="1837944" y="3566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8F5B"/>
          </a:solidFill>
          <a:ln/>
        </p:spPr>
      </p:sp>
      <p:sp>
        <p:nvSpPr>
          <p:cNvPr id="21" name="Shape 19"/>
          <p:cNvSpPr/>
          <p:nvPr/>
        </p:nvSpPr>
        <p:spPr>
          <a:xfrm>
            <a:off x="2221992" y="3566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8F5B"/>
          </a:solidFill>
          <a:ln/>
        </p:spPr>
      </p:sp>
      <p:sp>
        <p:nvSpPr>
          <p:cNvPr id="22" name="Shape 20"/>
          <p:cNvSpPr/>
          <p:nvPr/>
        </p:nvSpPr>
        <p:spPr>
          <a:xfrm>
            <a:off x="2606040" y="3566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8F5B"/>
          </a:solidFill>
          <a:ln/>
        </p:spPr>
      </p:sp>
      <p:sp>
        <p:nvSpPr>
          <p:cNvPr id="23" name="Shape 21"/>
          <p:cNvSpPr/>
          <p:nvPr/>
        </p:nvSpPr>
        <p:spPr>
          <a:xfrm>
            <a:off x="2990088" y="3566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8F5B"/>
          </a:solidFill>
          <a:ln/>
        </p:spPr>
      </p:sp>
      <p:sp>
        <p:nvSpPr>
          <p:cNvPr id="24" name="Shape 22"/>
          <p:cNvSpPr/>
          <p:nvPr/>
        </p:nvSpPr>
        <p:spPr>
          <a:xfrm>
            <a:off x="3374136" y="3566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8F5B"/>
          </a:solidFill>
          <a:ln/>
        </p:spPr>
      </p:sp>
      <p:sp>
        <p:nvSpPr>
          <p:cNvPr id="25" name="Shape 23"/>
          <p:cNvSpPr/>
          <p:nvPr/>
        </p:nvSpPr>
        <p:spPr>
          <a:xfrm>
            <a:off x="3758184" y="3566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8F5B"/>
          </a:solidFill>
          <a:ln/>
        </p:spPr>
      </p:sp>
      <p:sp>
        <p:nvSpPr>
          <p:cNvPr id="26" name="Shape 24"/>
          <p:cNvSpPr/>
          <p:nvPr/>
        </p:nvSpPr>
        <p:spPr>
          <a:xfrm>
            <a:off x="4142232" y="3566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8F5B"/>
          </a:solidFill>
          <a:ln/>
        </p:spPr>
      </p:sp>
      <p:sp>
        <p:nvSpPr>
          <p:cNvPr id="27" name="Shape 25"/>
          <p:cNvSpPr/>
          <p:nvPr/>
        </p:nvSpPr>
        <p:spPr>
          <a:xfrm>
            <a:off x="4526280" y="3566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8F5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57800" y="3584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douzième coûte le même effort que le deuxième.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4160520"/>
            <a:ext cx="3310128" cy="1536192"/>
          </a:xfrm>
          <a:prstGeom prst="roundRect">
            <a:avLst>
              <a:gd name="adj" fmla="val 7440"/>
            </a:avLst>
          </a:prstGeom>
          <a:solidFill>
            <a:srgbClr val="FBFBFA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8408" y="43708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gabarit d'abord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78408" y="47365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seule structure décidée au départ, puis appliquée à tous les modules.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98264" y="4160520"/>
            <a:ext cx="3310128" cy="1536192"/>
          </a:xfrm>
          <a:prstGeom prst="roundRect">
            <a:avLst>
              <a:gd name="adj" fmla="val 7440"/>
            </a:avLst>
          </a:prstGeom>
          <a:solidFill>
            <a:srgbClr val="FBFBFA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90872" y="43708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contenu inventé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690872" y="47365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manuel du commerce sert de modèle de progression, jamais de source à recopier.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10728" y="4160520"/>
            <a:ext cx="3310128" cy="1536192"/>
          </a:xfrm>
          <a:prstGeom prst="roundRect">
            <a:avLst>
              <a:gd name="adj" fmla="val 7440"/>
            </a:avLst>
          </a:prstGeom>
          <a:solidFill>
            <a:srgbClr val="FBFBFA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03336" y="43708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L'enseignant décide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403336" y="47365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Chaque scénario, chaque personnage, chaque intention pédagogique vient de nous.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85800" y="5870448"/>
            <a:ext cx="10817352" cy="694944"/>
          </a:xfrm>
          <a:prstGeom prst="roundRect">
            <a:avLst>
              <a:gd name="adj" fmla="val 16447"/>
            </a:avLst>
          </a:prstGeom>
          <a:solidFill>
            <a:srgbClr val="FBFBFA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" y="5870448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Aucun de ces chiffres n'aurait été atteignable à la main. Aucun n'aurait tenu debout sans un enseignant derrière.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MATÉRIEL ·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à quoi on fait attention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30368" cy="1783080"/>
          </a:xfrm>
          <a:prstGeom prst="roundRect">
            <a:avLst>
              <a:gd name="adj" fmla="val 6410"/>
            </a:avLst>
          </a:prstGeom>
          <a:solidFill>
            <a:srgbClr val="FEF6E7"/>
          </a:solidFill>
          <a:ln w="9525">
            <a:solidFill>
              <a:srgbClr val="D988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1901952"/>
            <a:ext cx="438912" cy="438912"/>
          </a:xfrm>
          <a:prstGeom prst="ellipse">
            <a:avLst/>
          </a:prstGeom>
          <a:solidFill>
            <a:srgbClr val="D988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4984" y="1901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192024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renseignements personnels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248716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Jamais de nom d'élève, de dossier, de coordonnées. On travaille avec des pseudonymes ou des extraits anonymisés.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5230368" cy="1783080"/>
          </a:xfrm>
          <a:prstGeom prst="roundRect">
            <a:avLst>
              <a:gd name="adj" fmla="val 6410"/>
            </a:avLst>
          </a:prstGeom>
          <a:solidFill>
            <a:srgbClr val="FEF6E7"/>
          </a:solidFill>
          <a:ln w="9525">
            <a:solidFill>
              <a:srgbClr val="D988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1901952"/>
            <a:ext cx="438912" cy="438912"/>
          </a:xfrm>
          <a:prstGeom prst="ellipse">
            <a:avLst/>
          </a:prstGeom>
          <a:solidFill>
            <a:srgbClr val="D988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47104" y="1901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14032" y="192024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Loi 25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248716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données sortent de l'établissement. Vérifier ce que la direction autorise avant d'y déposer quoi que ce soit d'institutionnel.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639312"/>
            <a:ext cx="5230368" cy="1783080"/>
          </a:xfrm>
          <a:prstGeom prst="roundRect">
            <a:avLst>
              <a:gd name="adj" fmla="val 6410"/>
            </a:avLst>
          </a:prstGeom>
          <a:solidFill>
            <a:srgbClr val="FEF6E7"/>
          </a:solidFill>
          <a:ln w="9525">
            <a:solidFill>
              <a:srgbClr val="D988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4984" y="3913632"/>
            <a:ext cx="438912" cy="438912"/>
          </a:xfrm>
          <a:prstGeom prst="ellipse">
            <a:avLst/>
          </a:prstGeom>
          <a:solidFill>
            <a:srgbClr val="D988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14984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581912" y="39319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droit d'auteur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" y="44988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manuel sert de modèle de structure, pas de réservoir à recopier. Le contenu qu'on distribue doit être le nôtre.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639312"/>
            <a:ext cx="5230368" cy="1783080"/>
          </a:xfrm>
          <a:prstGeom prst="roundRect">
            <a:avLst>
              <a:gd name="adj" fmla="val 6410"/>
            </a:avLst>
          </a:prstGeom>
          <a:solidFill>
            <a:srgbClr val="FEF6E7"/>
          </a:solidFill>
          <a:ln w="9525">
            <a:solidFill>
              <a:srgbClr val="D988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7104" y="3913632"/>
            <a:ext cx="438912" cy="438912"/>
          </a:xfrm>
          <a:prstGeom prst="ellipse">
            <a:avLst/>
          </a:prstGeom>
          <a:solidFill>
            <a:srgbClr val="D9880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47104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9319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8A52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justesse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47104" y="44988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Tout ce qui est vérifiable se vérifie : les faits, les règles, les références, les niveaux de langue.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5779008"/>
            <a:ext cx="10817352" cy="786384"/>
          </a:xfrm>
          <a:prstGeom prst="roundRect">
            <a:avLst>
              <a:gd name="adj" fmla="val 14535"/>
            </a:avLst>
          </a:prstGeom>
          <a:solidFill>
            <a:srgbClr val="E6F5EE"/>
          </a:solidFill>
          <a:ln w="9525">
            <a:solidFill>
              <a:srgbClr val="0A8F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43000" y="5779008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règle simple et suffisante : rien qui permette d'identifier un élève ne sort de l'établissement.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PROPOSITION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Trois ateliers, trois heures chacun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0864" y="1965960"/>
            <a:ext cx="7424928" cy="0"/>
          </a:xfrm>
          <a:prstGeom prst="line">
            <a:avLst/>
          </a:prstGeom>
          <a:noFill/>
          <a:ln w="19050">
            <a:solidFill>
              <a:srgbClr val="D6D6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4832" y="1728216"/>
            <a:ext cx="512064" cy="512064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84832" y="1728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487168"/>
            <a:ext cx="3310128" cy="306324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6696" y="27249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ATELIER 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96696" y="298094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Comprendre et converser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96696" y="3749040"/>
            <a:ext cx="2688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mécanisme, les malentendus, l'art de la consigne. Chacun repart avec trois consignes qui fonctionnent pour son cours.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96696" y="5120640"/>
            <a:ext cx="2688336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6696" y="523036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Aucun prérequis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97296" y="1728216"/>
            <a:ext cx="512064" cy="512064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97296" y="1728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98264" y="2487168"/>
            <a:ext cx="3310128" cy="306324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27249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ATELIER 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298094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Produire du matériel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749040"/>
            <a:ext cx="2688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Cowork en main : cahier de l'élève, présentation, corrigé. Chacun repart avec un document fini.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5120640"/>
            <a:ext cx="2688336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523036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Avoir suivi l'atelier 1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09760" y="1728216"/>
            <a:ext cx="512064" cy="512064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09760" y="1728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10728" y="2487168"/>
            <a:ext cx="3310128" cy="306324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21624" y="27249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ATELIER 3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421624" y="298094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Bâtir une collection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421624" y="3749040"/>
            <a:ext cx="2688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Gabarit, cohérence, production en série, mise en ligne. Pour ceux qui veulent outiller leur équipe.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421624" y="5120640"/>
            <a:ext cx="2688336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21624" y="523036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Volontaires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5779008"/>
            <a:ext cx="10817352" cy="786384"/>
          </a:xfrm>
          <a:prstGeom prst="roundRect">
            <a:avLst>
              <a:gd name="adj" fmla="val 14535"/>
            </a:avLst>
          </a:prstGeom>
          <a:solidFill>
            <a:srgbClr val="E6F5EE"/>
          </a:solidFill>
          <a:ln w="9525">
            <a:solidFill>
              <a:srgbClr val="0A8F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43000" y="5779008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Chaque atelier se termine sur du matériel utilisable dès le lendemain. Rien de théorique qui ne serve pas.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292840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12700">
            <a:solidFill>
              <a:srgbClr val="D8E8D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220" kern="0" dirty="0">
                <a:solidFill>
                  <a:srgbClr val="077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 FINIR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L'outil ne remplace pas le jugement.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lui laisse de la place.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37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B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qu'un enseignant sait — de sa matière, de ses élèves, de ce qui bloque le mardi matin — reste ce qu'il y a de plus rare. Le reste peut être délégué.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18464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8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francıs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03274" y="5318887"/>
            <a:ext cx="63500" cy="63500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762887" y="5312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Aide à l'apprentissage du français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1625727" y="5340096"/>
            <a:ext cx="0" cy="201168"/>
          </a:xfrm>
          <a:prstGeom prst="line">
            <a:avLst/>
          </a:prstGeom>
          <a:noFill/>
          <a:ln w="12700">
            <a:solidFill>
              <a:srgbClr val="D6D6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6E7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Daniel Tousignant · tousignantd@gmail.com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Travailler avec Claude</dc:title>
  <dc:subject>PptxGenJS Presentation</dc:subject>
  <dc:creator>Daniel Tousignant</dc:creator>
  <cp:lastModifiedBy>Daniel Tousignant</cp:lastModifiedBy>
  <cp:revision>1</cp:revision>
  <dcterms:created xsi:type="dcterms:W3CDTF">2026-08-29T18:58:57Z</dcterms:created>
  <dcterms:modified xsi:type="dcterms:W3CDTF">2026-08-29T18:58:57Z</dcterms:modified>
</cp:coreProperties>
</file>