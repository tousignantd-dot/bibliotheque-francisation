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commencer par les chiffres. Demander d'abord combien d'heures de préparation une séance leur coûte aujourd'hui, et laisser répondre.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Annoncer les trois temps et leur durée. Une salle qui sait combien il reste écoute mieux.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Jalon. Laisser deux secondes de silence avant de passer : c'est la phrase que la salle doit emporter.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points, quatre minutes. Le reste de la séance est du détail sur demande.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diapositive à laisser à l'écran pendant les questions. Si une seule idée doit rester, c'est celle-là.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lire le tableau. Le laisser à l'écran et donner la dernière ligne : c'est la seule que quelqu'un retient.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capture qui répond à « qui va préparer tout ça ? » mieux que n'importe quel chiffre. Laisser deux secondes de silence.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les voix : c'est ce qui permet à l'élève d'écouter quinze fois sans user la patience de personne.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chiffre des notes est celui qui compte pour un remplaçant : la séance se donne sans avoir été écrite par soi.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 que ce que la salle regarde en ce moment sort du même système : c'est le produit qui se présente lui-même.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Objection réelle, entendue en salle. Ne pas la balayer : montrer le bouton « Remplacer l'officiel » dans le dépôt de matériel.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le silence. C'est la question qui fait passer la rencontre de « joli produit » à « combien on économise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PRÉSENTATION  ·  1 SUR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Ce qu'il y a dans la boîte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question qui vient toujours après la démonstration : « et qui va préparer tout ça ? ». La réponse est que c'est déjà préparé — 1 264 séances de cours, chacune avec sa fiche et son diaporama.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8 minutes  ·  francis · présentation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P1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PARCOURS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temps, vingt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331720"/>
            <a:ext cx="11057839" cy="868680"/>
          </a:xfrm>
          <a:prstGeom prst="roundRect">
            <a:avLst>
              <a:gd name="adj" fmla="val 1684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2331720"/>
            <a:ext cx="54864" cy="868680"/>
          </a:xfrm>
          <a:prstGeom prst="rect">
            <a:avLst/>
          </a:prstGeom>
          <a:solidFill>
            <a:srgbClr val="0A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6112" y="2587752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>
                <a:solidFill>
                  <a:srgbClr val="07734A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7" y="2551176"/>
            <a:ext cx="81317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i="0">
                <a:solidFill>
                  <a:srgbClr val="17181A"/>
                </a:solidFill>
                <a:latin typeface="Verdana"/>
              </a:rPr>
              <a:t>Ce qu'il y a dans la boîte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95967" y="2606039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8 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383279"/>
            <a:ext cx="11057839" cy="868680"/>
          </a:xfrm>
          <a:prstGeom prst="roundRect">
            <a:avLst>
              <a:gd name="adj" fmla="val 1684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383279"/>
            <a:ext cx="54864" cy="868680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96112" y="3639311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35607" y="3602735"/>
            <a:ext cx="81317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i="0">
                <a:solidFill>
                  <a:srgbClr val="4B4F52"/>
                </a:solidFill>
                <a:latin typeface="Verdana"/>
              </a:rPr>
              <a:t>Ce que la direction décide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95967" y="3657599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8 min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34840"/>
            <a:ext cx="11057839" cy="868680"/>
          </a:xfrm>
          <a:prstGeom prst="roundRect">
            <a:avLst>
              <a:gd name="adj" fmla="val 1684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66928" y="4434840"/>
            <a:ext cx="54864" cy="868680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96112" y="4690872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35607" y="4654296"/>
            <a:ext cx="81317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i="0">
                <a:solidFill>
                  <a:srgbClr val="4B4F52"/>
                </a:solidFill>
                <a:latin typeface="Verdana"/>
              </a:rPr>
              <a:t>Les questions de conformité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95967" y="4709159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874519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82">
                <a:solidFill>
                  <a:srgbClr val="0A8F5B"/>
                </a:solidFill>
                <a:latin typeface="Verdana"/>
              </a:rPr>
              <a:t>PREMIER TEMPS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331720"/>
            <a:ext cx="10509199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00" b="1" i="0">
                <a:solidFill>
                  <a:srgbClr val="FFFFFF"/>
                </a:solidFill>
                <a:latin typeface="Verdana"/>
              </a:rPr>
              <a:t>Ce qu'il y a dans la boîte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4343400"/>
            <a:ext cx="1005840" cy="45720"/>
          </a:xfrm>
          <a:prstGeom prst="rect">
            <a:avLst/>
          </a:prstGeom>
          <a:solidFill>
            <a:srgbClr val="0A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4617720"/>
            <a:ext cx="868039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D6D6D2"/>
                </a:solidFill>
                <a:latin typeface="Verdana"/>
              </a:rPr>
              <a:t>Une séance de cours, c'est une fiche pour l'élève et un diaporama pour vous. 1 264 fois.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P1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voir ce qu'un enseignant reçoit, sans rien préparer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pourquoi la fiche et le diaporama ne peuvent pas diverger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que le matériel couvre, niveau par niveau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repartir avec un ordre de grandeur, pas une impression.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P1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RÈGLE QUI TIENT TOUT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séance, c'est une fiche pour l'élève et un diaporama pour vous.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deux sortent du même fichier de contenu. Corriger une règle la corrige des deux côtés : il n'existe pas de version à jour et de version oubliée. C'est 1 264 fois la même promesse.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P1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COMPTE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existe aujourd'hui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NIVEAUX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MODULES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SÉANCES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1 et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112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18460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3 et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18460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18460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496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41192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5 et 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41192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41192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384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3963924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7 et 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3963924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17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3963924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272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4486656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Tous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4794" y="4486656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87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6900" y="4486656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1 264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Chaque séance a sa fiche : 1 264 fiches pour 1 264 séances.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P1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CE QUE L'ENSEIGNANT OUVRE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dépôt de matériel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Diaporamas et fiches au même endroit, filtrés par bloc. « 16 séances équipées sur 16 » : rien à préparer.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38932" y="2372868"/>
            <a:ext cx="2913830" cy="3799332"/>
          </a:xfrm>
          <a:prstGeom prst="roundRect">
            <a:avLst>
              <a:gd name="adj" fmla="val 3138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mat-05-materiel-catalog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7220" y="2391156"/>
            <a:ext cx="2877254" cy="376275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P1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DANS UN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Ce que l'élève trouve, et ce qu'il ne trouve pas ailleurs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2971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Des voix, pas une lecture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09444"/>
            <a:ext cx="4806543" cy="11795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Chaque dialogue est enregistré par des voix différentes, au débit qu'on choisit. 21 403 pistes audio produites.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2971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Sept familles d'exercices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09444"/>
            <a:ext cx="4806543" cy="11795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Vrai ou faux, association, cases à écrire, texte à trous, images, question ouverte, tableau. Pas une de plus : l'élève apprend une fois comment on répond.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2971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Des mini-leçons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26864"/>
            <a:ext cx="4806543" cy="11795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règle avec ses exemples, ouverte au moment où l'élève se trompe, pas au début du chapitre.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2971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Des images produites pour la scène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26864"/>
            <a:ext cx="4806543" cy="11795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1 502 images, cadrées pour la situation du module — jamais une banque d'images décorative.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P1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POUR VOUS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diaporama d'une séance, bloc par bloc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La règle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énoncé, gros, seul : la diapositive que les élèves photographient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L'exercice projeté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même que dans le module, suivi de son corrigé, à la même place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piège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qu'on entend souvent, à côté de ce qu'il faut dire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billet de sortie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dernière diapositive, celle qui ferme la séance — 12 524 notes de présentateur en tout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P1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POUR VOUS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séance, telle qu'elle est projetée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617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La première diapositive d'une séance de quatre heures. Il y en a seize par module, et elles se donnent sans avoir été écrites par soi.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35009" y="2372868"/>
            <a:ext cx="6721675" cy="3799332"/>
          </a:xfrm>
          <a:prstGeom prst="roundRect">
            <a:avLst>
              <a:gd name="adj" fmla="val 2406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mat-10-diapo-tit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3297" y="2391156"/>
            <a:ext cx="6685099" cy="376275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P1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CE QU'ON ENTEND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Du matériel tout fait, mes enseignants n'en voudront pas.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7181A"/>
                </a:solidFill>
                <a:latin typeface="Verdana"/>
              </a:rPr>
              <a:t>« Le matériel est ouvert : on prend une séance, on la change, on la dépose.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dépôt accepte la version d'un enseignant à côté de l'officielle, sans jamais l'écraser. Ce n'est pas un manuel fermé : c'est un point de départ qui existe le lundi matin.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P1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 i="0">
                <a:solidFill>
                  <a:srgbClr val="FFFFFF"/>
                </a:solidFill>
                <a:latin typeface="Verdana"/>
              </a:rPr>
              <a:t>Une question, avant de passer à la suite : combien d'heures par semaine vos enseignants passent-ils à fabriquer du matériel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1 518 heures de classe sont déjà préparées.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Elles ne remplacent personne : elles se donnent.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P1 · francis · présentation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