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d'entrée que rien ici n'est à négocier avec nous : ce sont des champs, déjà construits, que la direction pose elle-même.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Rappeler où l'on en est : le matériel est vu, on parle maintenant de ce que le centre décide.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Jalon. C'est le moment où la direction cesse d'être spectatrice : les quatre décisions sont les siennes.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une seule diapositive doit être projetée devant un comité, c'est celle-ci. Laisser le temps de la lire. Préciser que le réglage vit sur l'organisation, jamais sur un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Question qui vient toujours : « et si un centre veut l'inverse du CSS ? ». Réponse : il le pose sur lui-même, et c'est lui qui gagne.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vendre le mode sans assistance comme équivalent. Dire le coût : le travail de correction revient à l'enseignant.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ici qu'on ouvre le bac à sable si quelqu'un doute. Deux clics suffisent à montrer la même page dans les deux états.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Utile pour les groupes qui changent chaque semaine et pour les remplaçants : aucun compte à créer avant la première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Terminer en proposant un groupe pilote avec le réglage le plus prudent. C'est plus facile à accorder qu'un accord de principe.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PRÉSENTATION  ·  2 SUR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 que la direction décide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Quatre réglages appartiennent au centre, et un seul geste les pose. Ils ne changent pas le cours : ils changent ce que le cours a le droit de faire.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8 minutes  ·  francis · présentation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P2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PARCOURS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temps, vingt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331720"/>
            <a:ext cx="11057839" cy="868680"/>
          </a:xfrm>
          <a:prstGeom prst="roundRect">
            <a:avLst>
              <a:gd name="adj" fmla="val 1684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2331720"/>
            <a:ext cx="54864" cy="868680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587752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6E7175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7" y="2551176"/>
            <a:ext cx="81317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i="0">
                <a:solidFill>
                  <a:srgbClr val="4B4F52"/>
                </a:solidFill>
                <a:latin typeface="Verdana"/>
              </a:rPr>
              <a:t>Ce qu'il y a dans la boîte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95967" y="2606039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8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383279"/>
            <a:ext cx="11057839" cy="868680"/>
          </a:xfrm>
          <a:prstGeom prst="roundRect">
            <a:avLst>
              <a:gd name="adj" fmla="val 1684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383279"/>
            <a:ext cx="54864" cy="868680"/>
          </a:xfrm>
          <a:prstGeom prst="rect">
            <a:avLst/>
          </a:prstGeom>
          <a:solidFill>
            <a:srgbClr val="0A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96112" y="3639311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07734A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7" y="3602735"/>
            <a:ext cx="81317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i="0">
                <a:solidFill>
                  <a:srgbClr val="17181A"/>
                </a:solidFill>
                <a:latin typeface="Verdana"/>
              </a:rPr>
              <a:t>Ce que la direction décide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95967" y="3657599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8 min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34840"/>
            <a:ext cx="11057839" cy="868680"/>
          </a:xfrm>
          <a:prstGeom prst="roundRect">
            <a:avLst>
              <a:gd name="adj" fmla="val 1684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66928" y="4434840"/>
            <a:ext cx="54864" cy="868680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96112" y="4690872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35607" y="4654296"/>
            <a:ext cx="81317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i="0">
                <a:solidFill>
                  <a:srgbClr val="4B4F52"/>
                </a:solidFill>
                <a:latin typeface="Verdana"/>
              </a:rPr>
              <a:t>Les questions de conformité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95967" y="4709159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874519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82">
                <a:solidFill>
                  <a:srgbClr val="0A8F5B"/>
                </a:solidFill>
                <a:latin typeface="Verdana"/>
              </a:rPr>
              <a:t>DEUXIÈME TEMPS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331720"/>
            <a:ext cx="10509199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00" b="1" i="0">
                <a:solidFill>
                  <a:srgbClr val="FFFFFF"/>
                </a:solidFill>
                <a:latin typeface="Verdana"/>
              </a:rPr>
              <a:t>Ce que la direction décide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4343400"/>
            <a:ext cx="1005840" cy="45720"/>
          </a:xfrm>
          <a:prstGeom prst="rect">
            <a:avLst/>
          </a:prstGeom>
          <a:solidFill>
            <a:srgbClr val="0A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4617720"/>
            <a:ext cx="868039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D6D6D2"/>
                </a:solidFill>
                <a:latin typeface="Verdana"/>
              </a:rPr>
              <a:t>Quatre réglages, posés une fois, qui descendent sur tous les groupes du centre.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P2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21203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202688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quelles décisions appartiennent au centre, et lesquelles à l'enseignant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006343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1841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266439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32075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voir ce que chaque réglage change, concrètement, chez l'élève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5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070095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152391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3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comment un refus descend sur tous les groupes d'un coup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repartir en sachant quoi trancher, et quand.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P2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QUATRE INTERRUPTEURS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Chacun se pose une fois, sur l'arbre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RÉGLAGE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QUI LE POSE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FERME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L'assistant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direction du centre ou du CSS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dix routes, d'un coup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7569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884932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Le micro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884932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direction du centre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884932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voix qui sort de l'appareil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24612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374136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Le dépôt de la voix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374136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direction du centre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374136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ce qu'on garde d'un enregistrement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98678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114800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Les séances sans compte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114800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direction autorise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114800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l'ouverture d'une classe anonyme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14807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40410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Sans réglage, les quatre restent ouverts : une mise en service n'éteint rien au passage.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P2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L'HÉRITAGE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premier réglage explicite tranche, et il descend.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Interdit » posé sur un centre de services ferme ses douze centres. Celui qui a négocié une exception la porte écrite sur lui-même. Et un réglage absent ne ferme rien : une mise en service n'éteint jamais rien au passage.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P2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SANS 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tombe, et ce qui ne bouge pas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Ce qui tombe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barre d'outils de l'élève en entier — traduire, simplifier, demander. La correction avant l'envoi. « Pourquoi je me trompe ?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Ce qui reste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Les dialogues enregistrés, les sept familles d' exercices corrigés sur l'appareil, les mini-leçons, le vocabulaire, la production orale et écrite.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Pour l'élève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réponse attendue s'affiche après deux essais : il n'est jamais laissé devant un mur.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Pour l'enseignant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Les textes arrivent non corrigés. C'est lui qui corrige — c'est le vrai coût du refus, et il se voit.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P2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MALENTENDU LE PLUS FRÉQUENT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Fermer l'assistant, c'est perdre le cours.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7181A"/>
                </a:solidFill>
                <a:latin typeface="Verdana"/>
              </a:rPr>
              <a:t>« Fermer l'assistant, c'est perdre l'aide immédiate, pas le cours.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21 403 pistes audio sont enregistrées d'avance et les exercices à réponse connue se corrigent sur l'appareil : un centre sans assistant garde le matériel entier et ne paie plus rien à l'usage.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P2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TROISIÈME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classe sans compte d'élève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084832"/>
          </a:xfrm>
          <a:prstGeom prst="roundRect">
            <a:avLst>
              <a:gd name="adj" fmla="val 701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L'ÉLÈVE DONNE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L'ENSEIGNANT VOIT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EST GARDÉ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Rien : un code à six caractères, scanné sur une feuille photocopiée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Son tableau de classe, participant par participant, question par question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Aucun nom, aucun pseudonyme, aucune voix ; une séance qui expire le soir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133087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69264" y="4389120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direction autorise le mode ; l'enseignant décide de s'en servir un mardi matin. Les deux gestes sont distincts.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P2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La décision à prendre aujourd'hui n'est pas « oui ou non » : c'est « lesquels des quatre, et par qui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centre peut ouvrir avec l'assistant fermé et le rouvrir plus tard.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Aucun réglage ne demande de développement : ce sont des champs.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P2 · francis · présentation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