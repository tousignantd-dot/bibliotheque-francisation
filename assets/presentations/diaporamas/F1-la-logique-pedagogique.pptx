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Devant des conseillers pédagogiques ou des enseignants d'expérience, commencer par leur demander ce qu'ils reprochent d'habitude au matériel tout fait. Les réponses tombent presque toujours dans les quatre premières diapositives.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questions. Si la salle n'en a qu'une, c'est presque toujours la quatrième — garder du temps pour elle.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à ne pas survoler devant des enseignants : ils ont tous vu du matériel qui recopie un manuel existant en changeant les prénoms. Ici, rien n'est repris d'un manuel — la contrainte est écrite dans les règles du projet.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quatre répliques à voix haute. Faire remarquer ce qui s'y trouve sans avoir été planté : un imparfait, un présent, une négation, une subordonnée — et surtout du vocabulaire qu'on n'apprend nulle part ailleurs (calorifère, disjoncteur).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l'ordre qui compte, pas la liste. Beaucoup de matériel part du savoir et fabrique une situation autour : ça se voit tout de suite, et les élèves ne s'en servent jamais dehors.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mêmes quatre étapes dans les 87 modules, du niveau 1 au niveau 8 : l'élève n'apprend qu'une fois comment un cours fonctionne. La constance est un choix pédagogique, pas une facilité de production — un élève de francisation dépense beaucoup d'énergie à comprendre une interface, et celle-là il la comprend une seule fois.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décision la plus discutée du projet, et la plus facile à défendre en salle : demander qui, dans la salle, se souvient d'une règle apprise avant d'en avoir eu besoin.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que c'est une correction, pas une intention initiale. Un projet qui raconte n'avoir jamais eu tort n'est pas crédible devant des praticiens.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que les enseignants comprennent le plus vite : un élève adulte qui sait qu'on l'observe ne s'enregistre pas. Celui qui sait que personne n'écoute recommence jusqu'à être content.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phrase porteuse est le détail que les enseignants relèvent : c'est exactement ce qu'ils font en classe quand ils refusent de faire répéter un mot seul.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moteurs de mémorisation feraient deux progressions qui divergent. Et reconnaître n'est pas savoir : on écrit.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trois refus sont écrits dans les consignes envoyées au modèle, pas dans une politique d'usage. Si on demande à voir, on peut montrer le fichier.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fermement : ce n'est pas une fonctionnalité manquante. Diagnostiquer est le métier, et une machine qui range des élèves dans des cases se trompe sur ceux qui en ont le plus besoin.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diapositive répond d'avance à « vous remplacez le professeur ». Ne pas la sauter même si personne n'a posé la question — surtout si personne ne l'a posée.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là-dessus et se taire. C'est la seule diapositive du diaporama qui ne contient aucun chiffre, et c'est voulu.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FONDEMENTS</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logique pédagogique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qui décide du contenu, de l'ordre des choses, du moment où la règle arrive et de ce que la machine n'a pas le droit de faire. Rien ici n'est une intention : tout est déjà dans les 87 modules.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20 minutes  ·  francis · présentation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d'où vient le contenu, et ce qu'il ne copie jamais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pourquoi on part d'une situation et non d'un point de grammaire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quand la règle arrive, et pourquoi jamais avant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ce que l'assistant refuse de faire, et qui l'a décidé.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SOURCE</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programme dit ce qu'il faut savoir faire. Il ne dit jamais avec quels mots.</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Programme d'études Francisation du ministère donne, pour chaque niveau, des situations de communication, des intentions, des savoirs et des critères. C'est une spécification. Le scénario, les personnages et les dialogues s'inventent.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CE QUE ÇA DONNE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module 9 s'ouvre là-dessus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Situation « Problème dans le logement ». Aucune phrase n'y place une règle de grammaire.</a:t>
            </a:r>
          </a:p>
        </p:txBody>
      </p:sp>
      <p:sp>
        <p:nvSpPr>
          <p:cNvPr id="8" name="TextBox 7"/>
          <p:cNvSpPr txBox="1"/>
          <p:nvPr/>
        </p:nvSpPr>
        <p:spPr>
          <a:xfrm>
            <a:off x="932688" y="2322576"/>
            <a:ext cx="1708975" cy="730503"/>
          </a:xfrm>
          <a:prstGeom prst="rect">
            <a:avLst/>
          </a:prstGeom>
          <a:noFill/>
        </p:spPr>
        <p:txBody>
          <a:bodyPr wrap="square" lIns="0" rIns="0" tIns="0" bIns="0" anchor="t">
            <a:spAutoFit/>
          </a:bodyPr>
          <a:lstStyle/>
          <a:p>
            <a:pPr algn="l">
              <a:lnSpc>
                <a:spcPct val="135000"/>
              </a:lnSpc>
            </a:pPr>
            <a:r>
              <a:rPr sz="1900" b="1" i="0">
                <a:solidFill>
                  <a:srgbClr val="A5335F"/>
                </a:solidFill>
                <a:latin typeface="Verdana"/>
              </a:rPr>
              <a:t>OKSANA</a:t>
            </a:r>
          </a:p>
        </p:txBody>
      </p:sp>
      <p:sp>
        <p:nvSpPr>
          <p:cNvPr id="9" name="TextBox 8"/>
          <p:cNvSpPr txBox="1"/>
          <p:nvPr/>
        </p:nvSpPr>
        <p:spPr>
          <a:xfrm>
            <a:off x="2641663" y="2322576"/>
            <a:ext cx="84344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Bertrand, il fait quatorze degrés chez moi. Le calorifère du salon est resté froid toute la nuit.</a:t>
            </a:r>
          </a:p>
        </p:txBody>
      </p:sp>
      <p:sp>
        <p:nvSpPr>
          <p:cNvPr id="10" name="TextBox 9"/>
          <p:cNvSpPr txBox="1"/>
          <p:nvPr/>
        </p:nvSpPr>
        <p:spPr>
          <a:xfrm>
            <a:off x="932688" y="3409696"/>
            <a:ext cx="1708975" cy="730503"/>
          </a:xfrm>
          <a:prstGeom prst="rect">
            <a:avLst/>
          </a:prstGeom>
          <a:noFill/>
        </p:spPr>
        <p:txBody>
          <a:bodyPr wrap="square" lIns="0" rIns="0" tIns="0" bIns="0" anchor="t">
            <a:spAutoFit/>
          </a:bodyPr>
          <a:lstStyle/>
          <a:p>
            <a:pPr algn="l">
              <a:lnSpc>
                <a:spcPct val="135000"/>
              </a:lnSpc>
            </a:pPr>
            <a:r>
              <a:rPr sz="1900" b="1" i="0">
                <a:solidFill>
                  <a:srgbClr val="A5335F"/>
                </a:solidFill>
                <a:latin typeface="Verdana"/>
              </a:rPr>
              <a:t>BERTRAND</a:t>
            </a:r>
          </a:p>
        </p:txBody>
      </p:sp>
      <p:sp>
        <p:nvSpPr>
          <p:cNvPr id="11" name="TextBox 10"/>
          <p:cNvSpPr txBox="1"/>
          <p:nvPr/>
        </p:nvSpPr>
        <p:spPr>
          <a:xfrm>
            <a:off x="2641663" y="3409696"/>
            <a:ext cx="84344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Quatorze ? En novembre, c'est beaucoup trop bas. Est-ce que les autres pièces chauffent ?</a:t>
            </a:r>
          </a:p>
        </p:txBody>
      </p:sp>
      <p:sp>
        <p:nvSpPr>
          <p:cNvPr id="12" name="Rounded Rectangle 11"/>
          <p:cNvSpPr/>
          <p:nvPr/>
        </p:nvSpPr>
        <p:spPr>
          <a:xfrm>
            <a:off x="566928" y="4332224"/>
            <a:ext cx="11057839" cy="1004823"/>
          </a:xfrm>
          <a:prstGeom prst="roundRect">
            <a:avLst>
              <a:gd name="adj" fmla="val 14560"/>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496816"/>
            <a:ext cx="1708975" cy="730503"/>
          </a:xfrm>
          <a:prstGeom prst="rect">
            <a:avLst/>
          </a:prstGeom>
          <a:noFill/>
        </p:spPr>
        <p:txBody>
          <a:bodyPr wrap="square" lIns="0" rIns="0" tIns="0" bIns="0" anchor="t">
            <a:spAutoFit/>
          </a:bodyPr>
          <a:lstStyle/>
          <a:p>
            <a:pPr algn="l">
              <a:lnSpc>
                <a:spcPct val="135000"/>
              </a:lnSpc>
            </a:pPr>
            <a:r>
              <a:rPr sz="1900" b="1" i="0">
                <a:solidFill>
                  <a:srgbClr val="A5335F"/>
                </a:solidFill>
                <a:latin typeface="Verdana"/>
              </a:rPr>
              <a:t>OKSANA</a:t>
            </a:r>
          </a:p>
        </p:txBody>
      </p:sp>
      <p:sp>
        <p:nvSpPr>
          <p:cNvPr id="14" name="TextBox 13"/>
          <p:cNvSpPr txBox="1"/>
          <p:nvPr/>
        </p:nvSpPr>
        <p:spPr>
          <a:xfrm>
            <a:off x="2641663" y="4496816"/>
            <a:ext cx="84344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seulement celui du salon qui ne réagit plus, même quand je monte le thermostat à vingt-deux.</a:t>
            </a:r>
          </a:p>
        </p:txBody>
      </p:sp>
      <p:sp>
        <p:nvSpPr>
          <p:cNvPr id="15" name="TextBox 14"/>
          <p:cNvSpPr txBox="1"/>
          <p:nvPr/>
        </p:nvSpPr>
        <p:spPr>
          <a:xfrm>
            <a:off x="932688" y="5583936"/>
            <a:ext cx="1708975" cy="392683"/>
          </a:xfrm>
          <a:prstGeom prst="rect">
            <a:avLst/>
          </a:prstGeom>
          <a:noFill/>
        </p:spPr>
        <p:txBody>
          <a:bodyPr wrap="square" lIns="0" rIns="0" tIns="0" bIns="0" anchor="t">
            <a:spAutoFit/>
          </a:bodyPr>
          <a:lstStyle/>
          <a:p>
            <a:pPr algn="l">
              <a:lnSpc>
                <a:spcPct val="135000"/>
              </a:lnSpc>
            </a:pPr>
            <a:r>
              <a:rPr sz="1900" b="1" i="0">
                <a:solidFill>
                  <a:srgbClr val="A5335F"/>
                </a:solidFill>
                <a:latin typeface="Verdana"/>
              </a:rPr>
              <a:t>BERTRAND</a:t>
            </a:r>
          </a:p>
        </p:txBody>
      </p:sp>
      <p:sp>
        <p:nvSpPr>
          <p:cNvPr id="16" name="TextBox 15"/>
          <p:cNvSpPr txBox="1"/>
          <p:nvPr/>
        </p:nvSpPr>
        <p:spPr>
          <a:xfrm>
            <a:off x="2641663" y="5583936"/>
            <a:ext cx="84344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Avant d'appeler ta propriétaire, descends au panneau électrique.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COMMENT UN MODULE S'ÉCRIT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décisions, toujours dans cet ordre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La situation d'abord</a:t>
            </a:r>
          </a:p>
        </p:txBody>
      </p:sp>
      <p:sp>
        <p:nvSpPr>
          <p:cNvPr id="9" name="TextBox 8"/>
          <p:cNvSpPr txBox="1"/>
          <p:nvPr/>
        </p:nvSpPr>
        <p:spPr>
          <a:xfrm>
            <a:off x="886968" y="245440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prend une situation du programme — appeler un propriétaire, consulter un médecin, répondre à une offre d'emploi. Elle est déjà écrite, on ne la choisit pas.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Une personne, pas un exemple</a:t>
            </a:r>
          </a:p>
        </p:txBody>
      </p:sp>
      <p:sp>
        <p:nvSpPr>
          <p:cNvPr id="12" name="TextBox 11"/>
          <p:cNvSpPr txBox="1"/>
          <p:nvPr/>
        </p:nvSpPr>
        <p:spPr>
          <a:xfrm>
            <a:off x="6498183" y="245440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Oksana loue le 4B. Elle a un nom, un logement, un problème qui dure depuis trois jours. Un dialogue entre « A » et « B » ne s'écoute pas deux fois.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Les savoirs viennent après</a:t>
            </a:r>
          </a:p>
        </p:txBody>
      </p:sp>
      <p:sp>
        <p:nvSpPr>
          <p:cNvPr id="15" name="TextBox 14"/>
          <p:cNvSpPr txBox="1"/>
          <p:nvPr/>
        </p:nvSpPr>
        <p:spPr>
          <a:xfrm>
            <a:off x="886968" y="467182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regarde ce que le dialogue a naturellement produit, et on va y chercher ce que le programme demande à ce niveau. L'inverse fabrique des phrases que personne ne dit.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Ce qui manque se rajoute</a:t>
            </a:r>
          </a:p>
        </p:txBody>
      </p:sp>
      <p:sp>
        <p:nvSpPr>
          <p:cNvPr id="18" name="TextBox 17"/>
          <p:cNvSpPr txBox="1"/>
          <p:nvPr/>
        </p:nvSpPr>
        <p:spPr>
          <a:xfrm>
            <a:off x="6498183" y="467182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S'il manque un savoir obligatoire, on retouche la situation pour qu'il y tombe — jamais on ne colle un exercice hors sol à la fin.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CHEMIN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l'élève traverse, dans l'ordre</a:t>
            </a:r>
          </a:p>
        </p:txBody>
      </p:sp>
      <p:sp>
        <p:nvSpPr>
          <p:cNvPr id="7" name="Rounded Rectangle 6"/>
          <p:cNvSpPr/>
          <p:nvPr/>
        </p:nvSpPr>
        <p:spPr>
          <a:xfrm>
            <a:off x="566928" y="1810512"/>
            <a:ext cx="11057839" cy="4005072"/>
          </a:xfrm>
          <a:prstGeom prst="roundRect">
            <a:avLst>
              <a:gd name="adj" fmla="val 36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ÉTAPE</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Y FAIT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OBSERVE</a:t>
            </a:r>
          </a:p>
        </p:txBody>
      </p:sp>
      <p:sp>
        <p:nvSpPr>
          <p:cNvPr id="11" name="TextBox 10"/>
          <p:cNvSpPr txBox="1"/>
          <p:nvPr/>
        </p:nvSpPr>
        <p:spPr>
          <a:xfrm>
            <a:off x="932688" y="2395728"/>
            <a:ext cx="3222650"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Je découvre</a:t>
            </a:r>
          </a:p>
        </p:txBody>
      </p:sp>
      <p:sp>
        <p:nvSpPr>
          <p:cNvPr id="12" name="TextBox 11"/>
          <p:cNvSpPr txBox="1"/>
          <p:nvPr/>
        </p:nvSpPr>
        <p:spPr>
          <a:xfrm>
            <a:off x="4374794" y="2395728"/>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écoute le dialogue, autant de fois qu'il veut</a:t>
            </a:r>
          </a:p>
        </p:txBody>
      </p:sp>
      <p:sp>
        <p:nvSpPr>
          <p:cNvPr id="13" name="TextBox 12"/>
          <p:cNvSpPr txBox="1"/>
          <p:nvPr/>
        </p:nvSpPr>
        <p:spPr>
          <a:xfrm>
            <a:off x="7816900" y="2395728"/>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s'il comprend la situation</a:t>
            </a:r>
          </a:p>
        </p:txBody>
      </p:sp>
      <p:sp>
        <p:nvSpPr>
          <p:cNvPr id="14" name="Rectangle 13"/>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236976"/>
            <a:ext cx="3222650"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Défi 1 à 3</a:t>
            </a:r>
          </a:p>
        </p:txBody>
      </p:sp>
      <p:sp>
        <p:nvSpPr>
          <p:cNvPr id="16" name="TextBox 15"/>
          <p:cNvSpPr txBox="1"/>
          <p:nvPr/>
        </p:nvSpPr>
        <p:spPr>
          <a:xfrm>
            <a:off x="4374794" y="3236976"/>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travaille un savoir à la fois, en exercices</a:t>
            </a:r>
          </a:p>
        </p:txBody>
      </p:sp>
      <p:sp>
        <p:nvSpPr>
          <p:cNvPr id="17" name="TextBox 16"/>
          <p:cNvSpPr txBox="1"/>
          <p:nvPr/>
        </p:nvSpPr>
        <p:spPr>
          <a:xfrm>
            <a:off x="7816900" y="3236976"/>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où il se trompe</a:t>
            </a:r>
          </a:p>
        </p:txBody>
      </p:sp>
      <p:sp>
        <p:nvSpPr>
          <p:cNvPr id="18" name="Rectangle 17"/>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78224"/>
            <a:ext cx="3222650"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Je me lance</a:t>
            </a:r>
          </a:p>
        </p:txBody>
      </p:sp>
      <p:sp>
        <p:nvSpPr>
          <p:cNvPr id="20" name="TextBox 19"/>
          <p:cNvSpPr txBox="1"/>
          <p:nvPr/>
        </p:nvSpPr>
        <p:spPr>
          <a:xfrm>
            <a:off x="4374794" y="4078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produit — sa voix, puis un texte</a:t>
            </a:r>
          </a:p>
        </p:txBody>
      </p:sp>
      <p:sp>
        <p:nvSpPr>
          <p:cNvPr id="21" name="TextBox 20"/>
          <p:cNvSpPr txBox="1"/>
          <p:nvPr/>
        </p:nvSpPr>
        <p:spPr>
          <a:xfrm>
            <a:off x="7816900" y="4078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qu'il sait faire seul</a:t>
            </a:r>
          </a:p>
        </p:txBody>
      </p:sp>
      <p:sp>
        <p:nvSpPr>
          <p:cNvPr id="22" name="Rectangle 21"/>
          <p:cNvSpPr/>
          <p:nvPr/>
        </p:nvSpPr>
        <p:spPr>
          <a:xfrm>
            <a:off x="932688" y="4791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919472"/>
            <a:ext cx="3222650"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Je retiens des mots</a:t>
            </a:r>
          </a:p>
        </p:txBody>
      </p:sp>
      <p:sp>
        <p:nvSpPr>
          <p:cNvPr id="24" name="TextBox 23"/>
          <p:cNvSpPr txBox="1"/>
          <p:nvPr/>
        </p:nvSpPr>
        <p:spPr>
          <a:xfrm>
            <a:off x="4374794" y="4919472"/>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reprend le vocabulaire de la situation</a:t>
            </a:r>
          </a:p>
        </p:txBody>
      </p:sp>
      <p:sp>
        <p:nvSpPr>
          <p:cNvPr id="25" name="TextBox 24"/>
          <p:cNvSpPr txBox="1"/>
          <p:nvPr/>
        </p:nvSpPr>
        <p:spPr>
          <a:xfrm>
            <a:off x="7816900" y="4919472"/>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qui reste une semaine après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MOMENT DE LA RÈGLE</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règle arrive quand l'élève s'est trompé, jamais avant.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mini-leçons ne sont pas en tête de module : elles s'ouvrent depuis l'exercice, au moment de l'erreur. Une règle lue avant d'en avoir eu besoin ne se retient pas — elle se recopie.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CE QU'ON NOUS DIT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Si la machine corrige tout de suite, l'élève ne cherche plus.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Elle ne donne pas la réponse au premier essai.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réponse ouverte demande deux tentatives avant que la réponse attendue s'affiche. C'était une correction, pas un réglage d'origine : la première version donnait tout du premier coup, et on voyait des élèves valider n'importe quoi pour lire la solution.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CORRECTION ET L'ENVOI</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correction est privée. L'envoi est un geste.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un élève fait relire son texte ou son enregistrement, rien n'est gardé et rien ne part. L'enseignant reçoit ce que l'élève décide de lui envoyer, quand il le décide. C'est ce qui permet de recommencer douze fois.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ÉCOUTER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Ce qu'il a fallu pour que l'oral serve à quelque chose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voix par personnage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Oksana et Bertrand ne sonnent pas pareil. Sans ça, l'élève ne sait pas qui parle et n'entend qu'un texte lu.</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 débit ralenti à la source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voix enseignante est synthétisée plus lentement, pas étirée après coup — l'étirement dégrade le son et s'entend.</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Réécouter ne coûte rien</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21 403 pistes audio, dans le module. L'élève réécoute une réplique quinze fois sans user la patience de personne.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mot dans une phrase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mot isolé se prononce mal et s'oublie. Chaque mot du vocabulaire est enregistré dans une phrase porteuse.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VOCABULAIRE</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seule porte d'entrée dans la progression.</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section « Je retiens des mots » d'un module n'enregistre rien : elle fait travailler. C'est l'atelier de cartes mémoire, en répétition espacée, qui fait monter un mot d'une boîte à l'autre — et l'élève y **écrit** le mot, il ne le reconnaît pas dans une liste.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QUESTION QUI VIENT TOUJOURS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Votre assistant va faire les exercices à leur place.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Il a interdiction de donner une réponse.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Il cite la phrase du dialogue où se trouve l'information, puis repose une question plus facile. La traduction s'ajoute sous le français et ne le remplace jamais ; « simplifier » reformule en français, il ne traduit pas.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QUI DÉCIDE</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Aucun parcours n'est suggéré automatiquement à un élève.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portail dit ce qu'un élève a fait et où il s'est trompé. Il ne conclut rien et ne propose rien. C'est l'enseignant qui envoie une mini-leçon de dix minutes à qui en a besoin — un choix, pas une étape transitoire vers l'automatisation.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CE QU'ON N'A PAS RETIRÉ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choses qui restent, et c'est délibéré</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L'enseignant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Rien ne s'ouvre tout seul à un élève. C'est l'enseignant qui date un module, choisit la séance, lit les productions.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papier</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1 264 fiches imprimables, noir et blanc. Un élève sans appareil fait la séance quand même.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La classe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jeu de rôle a une moitié qui se joue à deux, en salle. Elle ne disparaît pas quand l'assistant est fermé.</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droit de refuser</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centre peut fermer l'assistant. Les 87 modules se replient : ce qui reste est un cours, pas une démo cassée.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100" b="1" i="0">
                <a:solidFill>
                  <a:srgbClr val="FFFFFF"/>
                </a:solidFill>
                <a:latin typeface="Verdana"/>
              </a:rPr>
              <a:t>La question à laquelle tout ceci essaie de répondre : qu'est-ce qu'un adulte fait, seul, un mardi soir, quand il veut apprendre le français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Il écoute. Il se trompe. Il recommence sans témoin.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lendemain, quelqu'un regarde ce qu'il a fait.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F1 · francis · présentation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