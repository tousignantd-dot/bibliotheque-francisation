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commencer par l'outil. Demander d'abord ce que font leurs élèves dans l'autobus, et laisser répondre. Tout le monde connaît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temps, treize minutes. Annoncer la durée : une salle qui sait combien il reste écoute mieux.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Jalon. Laisser deux secondes de silence : c'est la phrase que la salle doit emporter.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deuxième carte devant des enseignants : c'est celle qu'ils reconnaissent tout de suite. Devant une direction, c'est la première.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diapositive qu'on photographie. Ne rien ajouter à l'oral, laisser lire.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important est « refermer ». Aujourd'hui, rien ne se referme.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on ne retient qu'une chose de la présentation, c'est ce tableau. À dire à voix haute, parce que ça ne tient pas sur la diapositive : le diagnostic reste à l'enseignant, rien ne se déclenche tout seul, et ce n'est pas une étape en attendant mieux — c'est une décision de conception. C'est ce qui rassure les enseignants.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l'objection numéro un, et elle vient toujours d'un enseignant d'expérience. Répondre par l'exemple du passé composé : on fait ranger huit verbes avant d'avoir dit un mot de la règle.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questions différentes, trois gammes. Le point express ne remplace rien : il occupe une place vide.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on parle argent et temps. C'est le moment où une direction se réveille.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lire les chiffres un par un. Dire seulement : « refaire les modules coûterait quarante fois le prix, et leur ferait perdre ce qu'ils savent faire » — la projection, les fiches papier, le jeu de rôle à deux, la production orale relue par un humain.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Celui sur le passé composé n'a même pas de son : cette faute n'existe qu'à l'écrit, et c'est le sujet du point. Le dire, ça marque.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Finir sur ce qui reste, jamais sur ce qui est fait : c'est ce qui appelle une décision.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ligne « plus tard » est celle qu'on vous demandera. Répondre que le diagnostic reste à l'enseignant, et que c'est un choix, pas une limite technique.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Une démonstration de dix minutes vaut mieux qu'une promesse.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POINT EXPRESS</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point express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Dix minutes de temps mort transformées en une notion réglée. La gamme qui occupe la seule place que ni le cours du matin ni l'atelier de l'après-midi n'occupent : l'élève seul, entre deux cours.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13 minutes  ·  francis · présentation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PARCOURS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temps, vingt minutes</a:t>
            </a:r>
          </a:p>
        </p:txBody>
      </p:sp>
      <p:sp>
        <p:nvSpPr>
          <p:cNvPr id="7" name="Rounded Rectangle 6"/>
          <p:cNvSpPr/>
          <p:nvPr/>
        </p:nvSpPr>
        <p:spPr>
          <a:xfrm>
            <a:off x="566928" y="2331720"/>
            <a:ext cx="11057839" cy="868680"/>
          </a:xfrm>
          <a:prstGeom prst="roundRect">
            <a:avLst>
              <a:gd name="adj" fmla="val 1684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2331720"/>
            <a:ext cx="54864" cy="86868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2587752"/>
            <a:ext cx="457200" cy="365760"/>
          </a:xfrm>
          <a:prstGeom prst="rect">
            <a:avLst/>
          </a:prstGeom>
          <a:noFill/>
        </p:spPr>
        <p:txBody>
          <a:bodyPr wrap="square" lIns="0" rIns="0" tIns="0" bIns="0" anchor="t">
            <a:spAutoFit/>
          </a:bodyPr>
          <a:lstStyle/>
          <a:p>
            <a:pPr algn="l">
              <a:lnSpc>
                <a:spcPct val="135000"/>
              </a:lnSpc>
            </a:pPr>
            <a:r>
              <a:rPr sz="2000" b="1" i="0">
                <a:solidFill>
                  <a:srgbClr val="07734A"/>
                </a:solidFill>
                <a:latin typeface="Verdana"/>
              </a:rPr>
              <a:t>1</a:t>
            </a:r>
          </a:p>
        </p:txBody>
      </p:sp>
      <p:sp>
        <p:nvSpPr>
          <p:cNvPr id="10" name="TextBox 9"/>
          <p:cNvSpPr txBox="1"/>
          <p:nvPr/>
        </p:nvSpPr>
        <p:spPr>
          <a:xfrm>
            <a:off x="1435607" y="2551176"/>
            <a:ext cx="8131759" cy="457200"/>
          </a:xfrm>
          <a:prstGeom prst="rect">
            <a:avLst/>
          </a:prstGeom>
          <a:noFill/>
        </p:spPr>
        <p:txBody>
          <a:bodyPr wrap="square" lIns="0" rIns="0" tIns="0" bIns="0" anchor="t">
            <a:spAutoFit/>
          </a:bodyPr>
          <a:lstStyle/>
          <a:p>
            <a:pPr algn="l">
              <a:lnSpc>
                <a:spcPct val="135000"/>
              </a:lnSpc>
            </a:pPr>
            <a:r>
              <a:rPr sz="2200" b="1" i="0">
                <a:solidFill>
                  <a:srgbClr val="17181A"/>
                </a:solidFill>
                <a:latin typeface="Verdana"/>
              </a:rPr>
              <a:t>Le problème</a:t>
            </a:r>
          </a:p>
        </p:txBody>
      </p:sp>
      <p:sp>
        <p:nvSpPr>
          <p:cNvPr id="11" name="TextBox 10"/>
          <p:cNvSpPr txBox="1"/>
          <p:nvPr/>
        </p:nvSpPr>
        <p:spPr>
          <a:xfrm>
            <a:off x="9795967" y="2606039"/>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3 min</a:t>
            </a:r>
          </a:p>
        </p:txBody>
      </p:sp>
      <p:sp>
        <p:nvSpPr>
          <p:cNvPr id="12" name="Rounded Rectangle 11"/>
          <p:cNvSpPr/>
          <p:nvPr/>
        </p:nvSpPr>
        <p:spPr>
          <a:xfrm>
            <a:off x="566928" y="3383279"/>
            <a:ext cx="11057839" cy="868680"/>
          </a:xfrm>
          <a:prstGeom prst="roundRect">
            <a:avLst>
              <a:gd name="adj" fmla="val 1684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383279"/>
            <a:ext cx="54864" cy="868680"/>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3639311"/>
            <a:ext cx="457200" cy="365760"/>
          </a:xfrm>
          <a:prstGeom prst="rect">
            <a:avLst/>
          </a:prstGeom>
          <a:noFill/>
        </p:spPr>
        <p:txBody>
          <a:bodyPr wrap="square" lIns="0" rIns="0" tIns="0" bIns="0" anchor="t">
            <a:spAutoFit/>
          </a:bodyPr>
          <a:lstStyle/>
          <a:p>
            <a:pPr algn="l">
              <a:lnSpc>
                <a:spcPct val="135000"/>
              </a:lnSpc>
            </a:pPr>
            <a:r>
              <a:rPr sz="2000" b="1" i="0">
                <a:solidFill>
                  <a:srgbClr val="6E7175"/>
                </a:solidFill>
                <a:latin typeface="Verdana"/>
              </a:rPr>
              <a:t>2</a:t>
            </a:r>
          </a:p>
        </p:txBody>
      </p:sp>
      <p:sp>
        <p:nvSpPr>
          <p:cNvPr id="15" name="TextBox 14"/>
          <p:cNvSpPr txBox="1"/>
          <p:nvPr/>
        </p:nvSpPr>
        <p:spPr>
          <a:xfrm>
            <a:off x="1435607" y="3602735"/>
            <a:ext cx="8131759" cy="457200"/>
          </a:xfrm>
          <a:prstGeom prst="rect">
            <a:avLst/>
          </a:prstGeom>
          <a:noFill/>
        </p:spPr>
        <p:txBody>
          <a:bodyPr wrap="square" lIns="0" rIns="0" tIns="0" bIns="0" anchor="t">
            <a:spAutoFit/>
          </a:bodyPr>
          <a:lstStyle/>
          <a:p>
            <a:pPr algn="l">
              <a:lnSpc>
                <a:spcPct val="135000"/>
              </a:lnSpc>
            </a:pPr>
            <a:r>
              <a:rPr sz="2200" b="0" i="0">
                <a:solidFill>
                  <a:srgbClr val="4B4F52"/>
                </a:solidFill>
                <a:latin typeface="Verdana"/>
              </a:rPr>
              <a:t>Ce que c'est</a:t>
            </a:r>
          </a:p>
        </p:txBody>
      </p:sp>
      <p:sp>
        <p:nvSpPr>
          <p:cNvPr id="16" name="TextBox 15"/>
          <p:cNvSpPr txBox="1"/>
          <p:nvPr/>
        </p:nvSpPr>
        <p:spPr>
          <a:xfrm>
            <a:off x="9795967" y="3657599"/>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5 min</a:t>
            </a:r>
          </a:p>
        </p:txBody>
      </p:sp>
      <p:sp>
        <p:nvSpPr>
          <p:cNvPr id="17" name="Rounded Rectangle 16"/>
          <p:cNvSpPr/>
          <p:nvPr/>
        </p:nvSpPr>
        <p:spPr>
          <a:xfrm>
            <a:off x="566928" y="4434840"/>
            <a:ext cx="11057839" cy="868680"/>
          </a:xfrm>
          <a:prstGeom prst="roundRect">
            <a:avLst>
              <a:gd name="adj" fmla="val 1684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66928" y="4434840"/>
            <a:ext cx="54864" cy="868680"/>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96112" y="4690872"/>
            <a:ext cx="457200" cy="365760"/>
          </a:xfrm>
          <a:prstGeom prst="rect">
            <a:avLst/>
          </a:prstGeom>
          <a:noFill/>
        </p:spPr>
        <p:txBody>
          <a:bodyPr wrap="square" lIns="0" rIns="0" tIns="0" bIns="0" anchor="t">
            <a:spAutoFit/>
          </a:bodyPr>
          <a:lstStyle/>
          <a:p>
            <a:pPr algn="l">
              <a:lnSpc>
                <a:spcPct val="135000"/>
              </a:lnSpc>
            </a:pPr>
            <a:r>
              <a:rPr sz="2000" b="1" i="0">
                <a:solidFill>
                  <a:srgbClr val="6E7175"/>
                </a:solidFill>
                <a:latin typeface="Verdana"/>
              </a:rPr>
              <a:t>3</a:t>
            </a:r>
          </a:p>
        </p:txBody>
      </p:sp>
      <p:sp>
        <p:nvSpPr>
          <p:cNvPr id="20" name="TextBox 19"/>
          <p:cNvSpPr txBox="1"/>
          <p:nvPr/>
        </p:nvSpPr>
        <p:spPr>
          <a:xfrm>
            <a:off x="1435607" y="4654296"/>
            <a:ext cx="8131759" cy="457200"/>
          </a:xfrm>
          <a:prstGeom prst="rect">
            <a:avLst/>
          </a:prstGeom>
          <a:noFill/>
        </p:spPr>
        <p:txBody>
          <a:bodyPr wrap="square" lIns="0" rIns="0" tIns="0" bIns="0" anchor="t">
            <a:spAutoFit/>
          </a:bodyPr>
          <a:lstStyle/>
          <a:p>
            <a:pPr algn="l">
              <a:lnSpc>
                <a:spcPct val="135000"/>
              </a:lnSpc>
            </a:pPr>
            <a:r>
              <a:rPr sz="2200" b="0" i="0">
                <a:solidFill>
                  <a:srgbClr val="4B4F52"/>
                </a:solidFill>
                <a:latin typeface="Verdana"/>
              </a:rPr>
              <a:t>Ce que ça coûte</a:t>
            </a:r>
          </a:p>
        </p:txBody>
      </p:sp>
      <p:sp>
        <p:nvSpPr>
          <p:cNvPr id="21" name="TextBox 20"/>
          <p:cNvSpPr txBox="1"/>
          <p:nvPr/>
        </p:nvSpPr>
        <p:spPr>
          <a:xfrm>
            <a:off x="9795967" y="4709159"/>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3 min</a:t>
            </a:r>
          </a:p>
        </p:txBody>
      </p:sp>
      <p:sp>
        <p:nvSpPr>
          <p:cNvPr id="22" name="Rounded Rectangle 21"/>
          <p:cNvSpPr/>
          <p:nvPr/>
        </p:nvSpPr>
        <p:spPr>
          <a:xfrm>
            <a:off x="566928" y="5486400"/>
            <a:ext cx="11057839" cy="868680"/>
          </a:xfrm>
          <a:prstGeom prst="roundRect">
            <a:avLst>
              <a:gd name="adj" fmla="val 1684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66928" y="5486400"/>
            <a:ext cx="54864" cy="868680"/>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6112" y="5742432"/>
            <a:ext cx="457200" cy="365760"/>
          </a:xfrm>
          <a:prstGeom prst="rect">
            <a:avLst/>
          </a:prstGeom>
          <a:noFill/>
        </p:spPr>
        <p:txBody>
          <a:bodyPr wrap="square" lIns="0" rIns="0" tIns="0" bIns="0" anchor="t">
            <a:spAutoFit/>
          </a:bodyPr>
          <a:lstStyle/>
          <a:p>
            <a:pPr algn="l">
              <a:lnSpc>
                <a:spcPct val="135000"/>
              </a:lnSpc>
            </a:pPr>
            <a:r>
              <a:rPr sz="2000" b="1" i="0">
                <a:solidFill>
                  <a:srgbClr val="6E7175"/>
                </a:solidFill>
                <a:latin typeface="Verdana"/>
              </a:rPr>
              <a:t>4</a:t>
            </a:r>
          </a:p>
        </p:txBody>
      </p:sp>
      <p:sp>
        <p:nvSpPr>
          <p:cNvPr id="25" name="TextBox 24"/>
          <p:cNvSpPr txBox="1"/>
          <p:nvPr/>
        </p:nvSpPr>
        <p:spPr>
          <a:xfrm>
            <a:off x="1435607" y="5705856"/>
            <a:ext cx="8131759" cy="457200"/>
          </a:xfrm>
          <a:prstGeom prst="rect">
            <a:avLst/>
          </a:prstGeom>
          <a:noFill/>
        </p:spPr>
        <p:txBody>
          <a:bodyPr wrap="square" lIns="0" rIns="0" tIns="0" bIns="0" anchor="t">
            <a:spAutoFit/>
          </a:bodyPr>
          <a:lstStyle/>
          <a:p>
            <a:pPr algn="l">
              <a:lnSpc>
                <a:spcPct val="135000"/>
              </a:lnSpc>
            </a:pPr>
            <a:r>
              <a:rPr sz="2200" b="0" i="0">
                <a:solidFill>
                  <a:srgbClr val="4B4F52"/>
                </a:solidFill>
                <a:latin typeface="Verdana"/>
              </a:rPr>
              <a:t>Ce qui reste à faire</a:t>
            </a:r>
          </a:p>
        </p:txBody>
      </p:sp>
      <p:sp>
        <p:nvSpPr>
          <p:cNvPr id="26" name="TextBox 25"/>
          <p:cNvSpPr txBox="1"/>
          <p:nvPr/>
        </p:nvSpPr>
        <p:spPr>
          <a:xfrm>
            <a:off x="9795967" y="5760720"/>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2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PREMIER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Deux personnes, la même impasse</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L'élève a le temps mais pas l'occasion. L'enseignant a le diagnostic mais pas le remède.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PROBLÈME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chacun a, et ce qui lui manque</a:t>
            </a:r>
          </a:p>
        </p:txBody>
      </p:sp>
      <p:sp>
        <p:nvSpPr>
          <p:cNvPr id="7" name="Rounded Rectangle 6"/>
          <p:cNvSpPr/>
          <p:nvPr/>
        </p:nvSpPr>
        <p:spPr>
          <a:xfrm>
            <a:off x="566928"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L'élève, le mardi soir</a:t>
            </a:r>
          </a:p>
        </p:txBody>
      </p:sp>
      <p:sp>
        <p:nvSpPr>
          <p:cNvPr id="9" name="TextBox 8"/>
          <p:cNvSpPr txBox="1"/>
          <p:nvPr/>
        </p:nvSpPr>
        <p:spPr>
          <a:xfrm>
            <a:off x="886968" y="2499360"/>
            <a:ext cx="4806543"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Il sait qu'il se trompe, sans savoir sur quoi. Une longue page de module ne lui dit ni par où entrer ni quand il aura fini. Alors il fait défiler autre chose. Le temps est là — l'occasion, non.</a:t>
            </a:r>
          </a:p>
        </p:txBody>
      </p:sp>
      <p:sp>
        <p:nvSpPr>
          <p:cNvPr id="10" name="Rounded Rectangle 9"/>
          <p:cNvSpPr/>
          <p:nvPr/>
        </p:nvSpPr>
        <p:spPr>
          <a:xfrm>
            <a:off x="6178143"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L'enseignant, le lendemain</a:t>
            </a:r>
          </a:p>
        </p:txBody>
      </p:sp>
      <p:sp>
        <p:nvSpPr>
          <p:cNvPr id="12" name="TextBox 11"/>
          <p:cNvSpPr txBox="1"/>
          <p:nvPr/>
        </p:nvSpPr>
        <p:spPr>
          <a:xfrm>
            <a:off x="6498183" y="2499360"/>
            <a:ext cx="4806543"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Il voit la faute, il sait laquelle, il sait même qui l'a faite trois fois. Et il n'a rien à envoyer, sinon reprendre la notion devant vingt-quatre personnes dont vingt n'en ont pas besoin. Le diagnostic est là — le remède, non.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QUE C'EST</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point express, c'est une notion, dix minutes, envoyée à une personne.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Ni un cours ni un exercice de plus : une réponse. Et elle se referme quand la difficulté est réglée.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DEUXIÈME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Comment ça circule</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Constater, envoyer, faire, refermer. Un cycle qui a une fin — c'est ce qui le distingue de tout le reste du matériel.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CYCLE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moments, et qui les tient</a:t>
            </a:r>
          </a:p>
        </p:txBody>
      </p:sp>
      <p:sp>
        <p:nvSpPr>
          <p:cNvPr id="7" name="Rounded Rectangle 6"/>
          <p:cNvSpPr/>
          <p:nvPr/>
        </p:nvSpPr>
        <p:spPr>
          <a:xfrm>
            <a:off x="566928" y="1810512"/>
            <a:ext cx="11057839" cy="4005072"/>
          </a:xfrm>
          <a:prstGeom prst="roundRect">
            <a:avLst>
              <a:gd name="adj" fmla="val 36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SE PASSE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QUI</a:t>
            </a:r>
          </a:p>
        </p:txBody>
      </p:sp>
      <p:sp>
        <p:nvSpPr>
          <p:cNvPr id="11" name="TextBox 10"/>
          <p:cNvSpPr txBox="1"/>
          <p:nvPr/>
        </p:nvSpPr>
        <p:spPr>
          <a:xfrm>
            <a:off x="932688" y="2395728"/>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1 · Constater</a:t>
            </a:r>
          </a:p>
        </p:txBody>
      </p:sp>
      <p:sp>
        <p:nvSpPr>
          <p:cNvPr id="12" name="TextBox 11"/>
          <p:cNvSpPr txBox="1"/>
          <p:nvPr/>
        </p:nvSpPr>
        <p:spPr>
          <a:xfrm>
            <a:off x="4374794"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lacune se voit dans une production écrite.</a:t>
            </a:r>
          </a:p>
        </p:txBody>
      </p:sp>
      <p:sp>
        <p:nvSpPr>
          <p:cNvPr id="13" name="TextBox 12"/>
          <p:cNvSpPr txBox="1"/>
          <p:nvPr/>
        </p:nvSpPr>
        <p:spPr>
          <a:xfrm>
            <a:off x="7816900"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L'enseignant</a:t>
            </a:r>
          </a:p>
        </p:txBody>
      </p:sp>
      <p:sp>
        <p:nvSpPr>
          <p:cNvPr id="14" name="Rectangle 13"/>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36976"/>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2 · Envoyer</a:t>
            </a:r>
          </a:p>
        </p:txBody>
      </p:sp>
      <p:sp>
        <p:nvSpPr>
          <p:cNvPr id="16" name="TextBox 15"/>
          <p:cNvSpPr txBox="1"/>
          <p:nvPr/>
        </p:nvSpPr>
        <p:spPr>
          <a:xfrm>
            <a:off x="4374794"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bouton à côté du point faible.</a:t>
            </a:r>
          </a:p>
        </p:txBody>
      </p:sp>
      <p:sp>
        <p:nvSpPr>
          <p:cNvPr id="17" name="TextBox 16"/>
          <p:cNvSpPr txBox="1"/>
          <p:nvPr/>
        </p:nvSpPr>
        <p:spPr>
          <a:xfrm>
            <a:off x="7816900"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L'enseignant</a:t>
            </a:r>
          </a:p>
        </p:txBody>
      </p:sp>
      <p:sp>
        <p:nvSpPr>
          <p:cNvPr id="18" name="Rectangle 17"/>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78224"/>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3 · Faire</a:t>
            </a:r>
          </a:p>
        </p:txBody>
      </p:sp>
      <p:sp>
        <p:nvSpPr>
          <p:cNvPr id="20" name="TextBox 19"/>
          <p:cNvSpPr txBox="1"/>
          <p:nvPr/>
        </p:nvSpPr>
        <p:spPr>
          <a:xfrm>
            <a:off x="4374794"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Dix minutes, le soir, sur son téléphone.</a:t>
            </a:r>
          </a:p>
        </p:txBody>
      </p:sp>
      <p:sp>
        <p:nvSpPr>
          <p:cNvPr id="21" name="TextBox 20"/>
          <p:cNvSpPr txBox="1"/>
          <p:nvPr/>
        </p:nvSpPr>
        <p:spPr>
          <a:xfrm>
            <a:off x="7816900"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L'élève, seul</a:t>
            </a:r>
          </a:p>
        </p:txBody>
      </p:sp>
      <p:sp>
        <p:nvSpPr>
          <p:cNvPr id="22" name="Rectangle 21"/>
          <p:cNvSpPr/>
          <p:nvPr/>
        </p:nvSpPr>
        <p:spPr>
          <a:xfrm>
            <a:off x="932688" y="4791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919472"/>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4 · Refermer</a:t>
            </a:r>
          </a:p>
        </p:txBody>
      </p:sp>
      <p:sp>
        <p:nvSpPr>
          <p:cNvPr id="24" name="TextBox 23"/>
          <p:cNvSpPr txBox="1"/>
          <p:nvPr/>
        </p:nvSpPr>
        <p:spPr>
          <a:xfrm>
            <a:off x="4374794"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Réussi sans rattrapage : c'est réglé.</a:t>
            </a:r>
          </a:p>
        </p:txBody>
      </p:sp>
      <p:sp>
        <p:nvSpPr>
          <p:cNvPr id="25" name="TextBox 24"/>
          <p:cNvSpPr txBox="1"/>
          <p:nvPr/>
        </p:nvSpPr>
        <p:spPr>
          <a:xfrm>
            <a:off x="7816900"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point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QUE CE N'EST PAS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C'est une petite leçon de grammaire sur le téléphone.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L'élève tranche des cas AVANT qu'aucune règle ne lui soit dite.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Nos modules portent déjà 810 mini-leçons. Un élève envoyé sur un point express en a probablement lu deux sur le même sujet : redire la même chose autrement ne servirait à rien. La leçon donne la règle puis la fait appliquer ; le point express fait l'inverse, et n'énonce la règle qu'une fois les cas tranchés.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LES TROIS GAMMES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ça se range</a:t>
            </a:r>
          </a:p>
        </p:txBody>
      </p:sp>
      <p:sp>
        <p:nvSpPr>
          <p:cNvPr id="7" name="Rounded Rectangle 6"/>
          <p:cNvSpPr/>
          <p:nvPr/>
        </p:nvSpPr>
        <p:spPr>
          <a:xfrm>
            <a:off x="56692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2936138" cy="746760"/>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module · 4 h, le matin</a:t>
            </a:r>
          </a:p>
        </p:txBody>
      </p:sp>
      <p:sp>
        <p:nvSpPr>
          <p:cNvPr id="9" name="TextBox 8"/>
          <p:cNvSpPr txBox="1"/>
          <p:nvPr/>
        </p:nvSpPr>
        <p:spPr>
          <a:xfrm>
            <a:off x="886968" y="2859024"/>
            <a:ext cx="2936138" cy="294741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situation de la vie réelle en seize séances. « Que faut-il savoir faire pour prendre un rendez-vous ? » L'enseignant est là, et c'est sa force.</a:t>
            </a:r>
          </a:p>
        </p:txBody>
      </p:sp>
      <p:sp>
        <p:nvSpPr>
          <p:cNvPr id="10" name="Rounded Rectangle 9"/>
          <p:cNvSpPr/>
          <p:nvPr/>
        </p:nvSpPr>
        <p:spPr>
          <a:xfrm>
            <a:off x="430773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27778" y="2084831"/>
            <a:ext cx="2936138" cy="746760"/>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L'atelier · 2 h, l'après-midi</a:t>
            </a:r>
          </a:p>
        </p:txBody>
      </p:sp>
      <p:sp>
        <p:nvSpPr>
          <p:cNvPr id="12" name="TextBox 11"/>
          <p:cNvSpPr txBox="1"/>
          <p:nvPr/>
        </p:nvSpPr>
        <p:spPr>
          <a:xfrm>
            <a:off x="4627778" y="2859024"/>
            <a:ext cx="2936138" cy="294741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pratique libre, sans date. « Comment m'exercer à ce que je viens de voir ? »</a:t>
            </a:r>
          </a:p>
        </p:txBody>
      </p:sp>
      <p:sp>
        <p:nvSpPr>
          <p:cNvPr id="13" name="Rounded Rectangle 12"/>
          <p:cNvSpPr/>
          <p:nvPr/>
        </p:nvSpPr>
        <p:spPr>
          <a:xfrm>
            <a:off x="804854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68588" y="2084831"/>
            <a:ext cx="2936138" cy="746760"/>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 point express · 10 min, seul</a:t>
            </a:r>
          </a:p>
        </p:txBody>
      </p:sp>
      <p:sp>
        <p:nvSpPr>
          <p:cNvPr id="15" name="TextBox 14"/>
          <p:cNvSpPr txBox="1"/>
          <p:nvPr/>
        </p:nvSpPr>
        <p:spPr>
          <a:xfrm>
            <a:off x="8368588" y="2859024"/>
            <a:ext cx="2936138" cy="2947416"/>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notion précise, envoyée à une personne. « Pourquoi est-ce que je me trompe encore là-dessus ? » Personne n'est à côté : l'explication est dans l'écran.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TROISIÈME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Ce que ça coûte</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Dix écrans, pas soixante-dix-sept. La question s'est posée autrement au départ, et le calcul a tranché.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CALCUL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Pourquoi on ne refait pas les modules dans cette forme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ÉCRANS</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module entier</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six sections, trois défis</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~77</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catalogue</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87 modules</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~6 700</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point express</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savoir, dix minutes</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~10</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Quatorze points</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coince le plus</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COÛT MÉDIA</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point express ne fait produire aucun son, aucune image.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rejoue les extraits déjà en place — 21 403 fichiers sonores — et n'en copie aucun.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QUATRIÈME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Où en est le chantier</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Le moteur tourne et les premiers points se jouent. Ce qui manque est le chaînon du milieu, et il est court.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L'ÉTAT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Fait, à faire, plus tard</a:t>
            </a:r>
          </a:p>
        </p:txBody>
      </p:sp>
      <p:sp>
        <p:nvSpPr>
          <p:cNvPr id="7" name="Rounded Rectangle 6"/>
          <p:cNvSpPr/>
          <p:nvPr/>
        </p:nvSpPr>
        <p:spPr>
          <a:xfrm>
            <a:off x="566928" y="1810512"/>
            <a:ext cx="11057839" cy="3163824"/>
          </a:xfrm>
          <a:prstGeom prst="roundRect">
            <a:avLst>
              <a:gd name="adj" fmla="val 462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COUVRE</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Fait</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moteur et ses trois types d'écran. 14 points jouables, 140 écrans écrits.</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À faire</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L'envoi : le bouton chez l'enseignant, la bande chez l'élève, le retour du résultat.</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Plus tard</a:t>
            </a:r>
          </a:p>
        </p:txBody>
      </p:sp>
      <p:sp>
        <p:nvSpPr>
          <p:cNvPr id="17" name="TextBox 16"/>
          <p:cNvSpPr txBox="1"/>
          <p:nvPr/>
        </p:nvSpPr>
        <p:spPr>
          <a:xfrm>
            <a:off x="4443636" y="4078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Étiqueter les exercices par savoir, pour proposer — sans jamais décider.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100" b="1" i="0">
                <a:solidFill>
                  <a:srgbClr val="FFFFFF"/>
                </a:solidFill>
                <a:latin typeface="Verdana"/>
              </a:rPr>
              <a:t>Ce qu'on peut essayer dès demain : ouvrir un point express sur un téléphone, devant la classe, et le faire jusqu'au bout. Il dure dix minutes.</a:t>
            </a:r>
          </a:p>
        </p:txBody>
      </p:sp>
      <p:sp>
        <p:nvSpPr>
          <p:cNvPr id="8" name="TextBox 7"/>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