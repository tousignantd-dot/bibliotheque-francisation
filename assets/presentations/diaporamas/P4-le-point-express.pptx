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 pas commencer par l'outil. Demander d'abord ce que font leurs élèves dans l'autobus, et laisser répondre. Tout le monde connaît la réponse.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Quatre temps, treize minutes. Annoncer la durée : une salle qui sait combien il reste écoute mieux.</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Jalon. Laisser deux secondes de silence : c'est la phrase que la salle doit emporter.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Insister sur la deuxième carte devant des enseignants : c'est celle qu'ils reconnaissent tout de suite. Devant une direction, c'est la première.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diapositive qu'on photographie. Ne rien ajouter à l'oral, laisser lire.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mot important est « refermer ». Aujourd'hui, rien ne se referme.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on ne retient qu'une chose de la présentation, c'est ce tableau. À dire à voix haute, parce que ça ne tient pas sur la diapositive : le diagnostic reste à l'enseignant, rien ne se déclenche tout seul, et ce n'est pas une étape en attendant mieux — c'est une décision de conception. C'est ce qui rassure les enseignants.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C'est l'objection numéro un, et elle vient toujours d'un enseignant d'expérience. Répondre par l'exemple du passé composé : on fait ranger huit verbes avant d'avoir dit un mot de la règle.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Trois questions différentes, trois gammes. Le point express ne remplace rien : il occupe une place vide.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Ici on parle argent et temps. C'est le moment où une direction se réveille.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 pas lire les chiffres un par un. Dire seulement : « refaire les modules coûterait quarante fois le prix, et leur ferait perdre ce qu'ils savent faire » — la projection, les fiches papier, le jeu de rôle à deux, la production orale relue par un humain.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Celui sur le passé composé n'a même pas de son : cette faute n'existe qu'à l'écrit, et c'est le sujet du point. Le dire, ça marque.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Finir sur ce qui reste, jamais sur ce qui est fait : c'est ce qui appelle une décision.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ligne « plus tard » est celle qu'on vous demandera. Répondre que le diagnostic reste à l'enseignant, et que c'est un choix, pas une limite technique.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Terminer là-dessus. Une démonstration de dix minutes vaut mieux qu'une promesse.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DF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1234440"/>
            <a:ext cx="11057839" cy="274320"/>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LE POINT EXPRESS</a:t>
            </a:r>
          </a:p>
        </p:txBody>
      </p:sp>
      <p:sp>
        <p:nvSpPr>
          <p:cNvPr id="4" name="TextBox 3"/>
          <p:cNvSpPr txBox="1"/>
          <p:nvPr/>
        </p:nvSpPr>
        <p:spPr>
          <a:xfrm>
            <a:off x="566928" y="1691640"/>
            <a:ext cx="9960559" cy="1874519"/>
          </a:xfrm>
          <a:prstGeom prst="rect">
            <a:avLst/>
          </a:prstGeom>
          <a:noFill/>
        </p:spPr>
        <p:txBody>
          <a:bodyPr wrap="square" lIns="0" rIns="0" tIns="0" bIns="0" anchor="t">
            <a:spAutoFit/>
          </a:bodyPr>
          <a:lstStyle/>
          <a:p>
            <a:pPr algn="l">
              <a:lnSpc>
                <a:spcPct val="105000"/>
              </a:lnSpc>
            </a:pPr>
            <a:r>
              <a:rPr sz="4000" b="1" i="0">
                <a:solidFill>
                  <a:srgbClr val="17181A"/>
                </a:solidFill>
                <a:latin typeface="Verdana"/>
              </a:rPr>
              <a:t>Le point express</a:t>
            </a:r>
          </a:p>
        </p:txBody>
      </p:sp>
      <p:sp>
        <p:nvSpPr>
          <p:cNvPr id="5" name="Rounded Rectangle 4"/>
          <p:cNvSpPr/>
          <p:nvPr/>
        </p:nvSpPr>
        <p:spPr>
          <a:xfrm>
            <a:off x="566928" y="3794760"/>
            <a:ext cx="9960559" cy="1763268"/>
          </a:xfrm>
          <a:prstGeom prst="roundRect">
            <a:avLst>
              <a:gd name="adj" fmla="val 8297"/>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96112" y="4123944"/>
            <a:ext cx="9302191" cy="11506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Dix minutes de temps mort transformées en une notion réglée. La gamme qui occupe la seule place que ni le cours du matin ni l'atelier de l'après-midi n'occupent : l'élève seul, entre deux cours.</a:t>
            </a:r>
          </a:p>
        </p:txBody>
      </p:sp>
      <p:sp>
        <p:nvSpPr>
          <p:cNvPr id="7" name="TextBox 6"/>
          <p:cNvSpPr txBox="1"/>
          <p:nvPr/>
        </p:nvSpPr>
        <p:spPr>
          <a:xfrm>
            <a:off x="566928" y="6035040"/>
            <a:ext cx="11057839" cy="274320"/>
          </a:xfrm>
          <a:prstGeom prst="rect">
            <a:avLst/>
          </a:prstGeom>
          <a:noFill/>
        </p:spPr>
        <p:txBody>
          <a:bodyPr wrap="square" lIns="0" rIns="0" tIns="0" bIns="0" anchor="t">
            <a:spAutoFit/>
          </a:bodyPr>
          <a:lstStyle/>
          <a:p>
            <a:pPr algn="l">
              <a:lnSpc>
                <a:spcPct val="135000"/>
              </a:lnSpc>
            </a:pPr>
            <a:r>
              <a:rPr sz="1500" b="0" i="0">
                <a:solidFill>
                  <a:srgbClr val="6E7175"/>
                </a:solidFill>
                <a:latin typeface="Verdana"/>
              </a:rPr>
              <a:t>13 minutes  ·  francis · présentation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P4 · francis · présentation</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2</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LE PARCOURS</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Trois temps, vingt minutes</a:t>
            </a:r>
          </a:p>
        </p:txBody>
      </p:sp>
      <p:sp>
        <p:nvSpPr>
          <p:cNvPr id="7" name="Rounded Rectangle 6"/>
          <p:cNvSpPr/>
          <p:nvPr/>
        </p:nvSpPr>
        <p:spPr>
          <a:xfrm>
            <a:off x="566928" y="2331720"/>
            <a:ext cx="11057839" cy="868680"/>
          </a:xfrm>
          <a:prstGeom prst="roundRect">
            <a:avLst>
              <a:gd name="adj" fmla="val 16842"/>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566928" y="2331720"/>
            <a:ext cx="54864" cy="868680"/>
          </a:xfrm>
          <a:prstGeom prst="rect">
            <a:avLst/>
          </a:prstGeom>
          <a:solidFill>
            <a:srgbClr val="0A8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96112" y="2587752"/>
            <a:ext cx="457200" cy="365760"/>
          </a:xfrm>
          <a:prstGeom prst="rect">
            <a:avLst/>
          </a:prstGeom>
          <a:noFill/>
        </p:spPr>
        <p:txBody>
          <a:bodyPr wrap="square" lIns="0" rIns="0" tIns="0" bIns="0" anchor="t">
            <a:spAutoFit/>
          </a:bodyPr>
          <a:lstStyle/>
          <a:p>
            <a:pPr algn="l">
              <a:lnSpc>
                <a:spcPct val="135000"/>
              </a:lnSpc>
            </a:pPr>
            <a:r>
              <a:rPr sz="2000" b="1" i="0">
                <a:solidFill>
                  <a:srgbClr val="07734A"/>
                </a:solidFill>
                <a:latin typeface="Verdana"/>
              </a:rPr>
              <a:t>1</a:t>
            </a:r>
          </a:p>
        </p:txBody>
      </p:sp>
      <p:sp>
        <p:nvSpPr>
          <p:cNvPr id="10" name="TextBox 9"/>
          <p:cNvSpPr txBox="1"/>
          <p:nvPr/>
        </p:nvSpPr>
        <p:spPr>
          <a:xfrm>
            <a:off x="1435607" y="2551176"/>
            <a:ext cx="8131759" cy="457200"/>
          </a:xfrm>
          <a:prstGeom prst="rect">
            <a:avLst/>
          </a:prstGeom>
          <a:noFill/>
        </p:spPr>
        <p:txBody>
          <a:bodyPr wrap="square" lIns="0" rIns="0" tIns="0" bIns="0" anchor="t">
            <a:spAutoFit/>
          </a:bodyPr>
          <a:lstStyle/>
          <a:p>
            <a:pPr algn="l">
              <a:lnSpc>
                <a:spcPct val="135000"/>
              </a:lnSpc>
            </a:pPr>
            <a:r>
              <a:rPr sz="2200" b="1" i="0">
                <a:solidFill>
                  <a:srgbClr val="17181A"/>
                </a:solidFill>
                <a:latin typeface="Verdana"/>
              </a:rPr>
              <a:t>Le problème</a:t>
            </a:r>
          </a:p>
        </p:txBody>
      </p:sp>
      <p:sp>
        <p:nvSpPr>
          <p:cNvPr id="11" name="TextBox 10"/>
          <p:cNvSpPr txBox="1"/>
          <p:nvPr/>
        </p:nvSpPr>
        <p:spPr>
          <a:xfrm>
            <a:off x="9795967" y="2606039"/>
            <a:ext cx="1554480" cy="365760"/>
          </a:xfrm>
          <a:prstGeom prst="rect">
            <a:avLst/>
          </a:prstGeom>
          <a:noFill/>
        </p:spPr>
        <p:txBody>
          <a:bodyPr wrap="square" lIns="0" rIns="0" tIns="0" bIns="0" anchor="t">
            <a:spAutoFit/>
          </a:bodyPr>
          <a:lstStyle/>
          <a:p>
            <a:pPr algn="r">
              <a:lnSpc>
                <a:spcPct val="135000"/>
              </a:lnSpc>
            </a:pPr>
            <a:r>
              <a:rPr sz="1500" b="0" i="0">
                <a:solidFill>
                  <a:srgbClr val="6E7175"/>
                </a:solidFill>
                <a:latin typeface="Verdana"/>
              </a:rPr>
              <a:t>3 min</a:t>
            </a:r>
          </a:p>
        </p:txBody>
      </p:sp>
      <p:sp>
        <p:nvSpPr>
          <p:cNvPr id="12" name="Rounded Rectangle 11"/>
          <p:cNvSpPr/>
          <p:nvPr/>
        </p:nvSpPr>
        <p:spPr>
          <a:xfrm>
            <a:off x="566928" y="3383279"/>
            <a:ext cx="11057839" cy="868680"/>
          </a:xfrm>
          <a:prstGeom prst="roundRect">
            <a:avLst>
              <a:gd name="adj" fmla="val 1684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566928" y="3383279"/>
            <a:ext cx="54864" cy="868680"/>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96112" y="3639311"/>
            <a:ext cx="457200" cy="365760"/>
          </a:xfrm>
          <a:prstGeom prst="rect">
            <a:avLst/>
          </a:prstGeom>
          <a:noFill/>
        </p:spPr>
        <p:txBody>
          <a:bodyPr wrap="square" lIns="0" rIns="0" tIns="0" bIns="0" anchor="t">
            <a:spAutoFit/>
          </a:bodyPr>
          <a:lstStyle/>
          <a:p>
            <a:pPr algn="l">
              <a:lnSpc>
                <a:spcPct val="135000"/>
              </a:lnSpc>
            </a:pPr>
            <a:r>
              <a:rPr sz="2000" b="1" i="0">
                <a:solidFill>
                  <a:srgbClr val="6E7175"/>
                </a:solidFill>
                <a:latin typeface="Verdana"/>
              </a:rPr>
              <a:t>2</a:t>
            </a:r>
          </a:p>
        </p:txBody>
      </p:sp>
      <p:sp>
        <p:nvSpPr>
          <p:cNvPr id="15" name="TextBox 14"/>
          <p:cNvSpPr txBox="1"/>
          <p:nvPr/>
        </p:nvSpPr>
        <p:spPr>
          <a:xfrm>
            <a:off x="1435607" y="3602735"/>
            <a:ext cx="8131759" cy="457200"/>
          </a:xfrm>
          <a:prstGeom prst="rect">
            <a:avLst/>
          </a:prstGeom>
          <a:noFill/>
        </p:spPr>
        <p:txBody>
          <a:bodyPr wrap="square" lIns="0" rIns="0" tIns="0" bIns="0" anchor="t">
            <a:spAutoFit/>
          </a:bodyPr>
          <a:lstStyle/>
          <a:p>
            <a:pPr algn="l">
              <a:lnSpc>
                <a:spcPct val="135000"/>
              </a:lnSpc>
            </a:pPr>
            <a:r>
              <a:rPr sz="2200" b="0" i="0">
                <a:solidFill>
                  <a:srgbClr val="4B4F52"/>
                </a:solidFill>
                <a:latin typeface="Verdana"/>
              </a:rPr>
              <a:t>Ce que c'est</a:t>
            </a:r>
          </a:p>
        </p:txBody>
      </p:sp>
      <p:sp>
        <p:nvSpPr>
          <p:cNvPr id="16" name="TextBox 15"/>
          <p:cNvSpPr txBox="1"/>
          <p:nvPr/>
        </p:nvSpPr>
        <p:spPr>
          <a:xfrm>
            <a:off x="9795967" y="3657599"/>
            <a:ext cx="1554480" cy="365760"/>
          </a:xfrm>
          <a:prstGeom prst="rect">
            <a:avLst/>
          </a:prstGeom>
          <a:noFill/>
        </p:spPr>
        <p:txBody>
          <a:bodyPr wrap="square" lIns="0" rIns="0" tIns="0" bIns="0" anchor="t">
            <a:spAutoFit/>
          </a:bodyPr>
          <a:lstStyle/>
          <a:p>
            <a:pPr algn="r">
              <a:lnSpc>
                <a:spcPct val="135000"/>
              </a:lnSpc>
            </a:pPr>
            <a:r>
              <a:rPr sz="1500" b="0" i="0">
                <a:solidFill>
                  <a:srgbClr val="6E7175"/>
                </a:solidFill>
                <a:latin typeface="Verdana"/>
              </a:rPr>
              <a:t>5 min</a:t>
            </a:r>
          </a:p>
        </p:txBody>
      </p:sp>
      <p:sp>
        <p:nvSpPr>
          <p:cNvPr id="17" name="Rounded Rectangle 16"/>
          <p:cNvSpPr/>
          <p:nvPr/>
        </p:nvSpPr>
        <p:spPr>
          <a:xfrm>
            <a:off x="566928" y="4434840"/>
            <a:ext cx="11057839" cy="868680"/>
          </a:xfrm>
          <a:prstGeom prst="roundRect">
            <a:avLst>
              <a:gd name="adj" fmla="val 1684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566928" y="4434840"/>
            <a:ext cx="54864" cy="868680"/>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896112" y="4690872"/>
            <a:ext cx="457200" cy="365760"/>
          </a:xfrm>
          <a:prstGeom prst="rect">
            <a:avLst/>
          </a:prstGeom>
          <a:noFill/>
        </p:spPr>
        <p:txBody>
          <a:bodyPr wrap="square" lIns="0" rIns="0" tIns="0" bIns="0" anchor="t">
            <a:spAutoFit/>
          </a:bodyPr>
          <a:lstStyle/>
          <a:p>
            <a:pPr algn="l">
              <a:lnSpc>
                <a:spcPct val="135000"/>
              </a:lnSpc>
            </a:pPr>
            <a:r>
              <a:rPr sz="2000" b="1" i="0">
                <a:solidFill>
                  <a:srgbClr val="6E7175"/>
                </a:solidFill>
                <a:latin typeface="Verdana"/>
              </a:rPr>
              <a:t>3</a:t>
            </a:r>
          </a:p>
        </p:txBody>
      </p:sp>
      <p:sp>
        <p:nvSpPr>
          <p:cNvPr id="20" name="TextBox 19"/>
          <p:cNvSpPr txBox="1"/>
          <p:nvPr/>
        </p:nvSpPr>
        <p:spPr>
          <a:xfrm>
            <a:off x="1435607" y="4654296"/>
            <a:ext cx="8131759" cy="457200"/>
          </a:xfrm>
          <a:prstGeom prst="rect">
            <a:avLst/>
          </a:prstGeom>
          <a:noFill/>
        </p:spPr>
        <p:txBody>
          <a:bodyPr wrap="square" lIns="0" rIns="0" tIns="0" bIns="0" anchor="t">
            <a:spAutoFit/>
          </a:bodyPr>
          <a:lstStyle/>
          <a:p>
            <a:pPr algn="l">
              <a:lnSpc>
                <a:spcPct val="135000"/>
              </a:lnSpc>
            </a:pPr>
            <a:r>
              <a:rPr sz="2200" b="0" i="0">
                <a:solidFill>
                  <a:srgbClr val="4B4F52"/>
                </a:solidFill>
                <a:latin typeface="Verdana"/>
              </a:rPr>
              <a:t>Ce que ça coûte</a:t>
            </a:r>
          </a:p>
        </p:txBody>
      </p:sp>
      <p:sp>
        <p:nvSpPr>
          <p:cNvPr id="21" name="TextBox 20"/>
          <p:cNvSpPr txBox="1"/>
          <p:nvPr/>
        </p:nvSpPr>
        <p:spPr>
          <a:xfrm>
            <a:off x="9795967" y="4709159"/>
            <a:ext cx="1554480" cy="365760"/>
          </a:xfrm>
          <a:prstGeom prst="rect">
            <a:avLst/>
          </a:prstGeom>
          <a:noFill/>
        </p:spPr>
        <p:txBody>
          <a:bodyPr wrap="square" lIns="0" rIns="0" tIns="0" bIns="0" anchor="t">
            <a:spAutoFit/>
          </a:bodyPr>
          <a:lstStyle/>
          <a:p>
            <a:pPr algn="r">
              <a:lnSpc>
                <a:spcPct val="135000"/>
              </a:lnSpc>
            </a:pPr>
            <a:r>
              <a:rPr sz="1500" b="0" i="0">
                <a:solidFill>
                  <a:srgbClr val="6E7175"/>
                </a:solidFill>
                <a:latin typeface="Verdana"/>
              </a:rPr>
              <a:t>3 min</a:t>
            </a:r>
          </a:p>
        </p:txBody>
      </p:sp>
      <p:sp>
        <p:nvSpPr>
          <p:cNvPr id="22" name="Rounded Rectangle 21"/>
          <p:cNvSpPr/>
          <p:nvPr/>
        </p:nvSpPr>
        <p:spPr>
          <a:xfrm>
            <a:off x="566928" y="5486400"/>
            <a:ext cx="11057839" cy="868680"/>
          </a:xfrm>
          <a:prstGeom prst="roundRect">
            <a:avLst>
              <a:gd name="adj" fmla="val 1684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566928" y="5486400"/>
            <a:ext cx="54864" cy="868680"/>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896112" y="5742432"/>
            <a:ext cx="457200" cy="365760"/>
          </a:xfrm>
          <a:prstGeom prst="rect">
            <a:avLst/>
          </a:prstGeom>
          <a:noFill/>
        </p:spPr>
        <p:txBody>
          <a:bodyPr wrap="square" lIns="0" rIns="0" tIns="0" bIns="0" anchor="t">
            <a:spAutoFit/>
          </a:bodyPr>
          <a:lstStyle/>
          <a:p>
            <a:pPr algn="l">
              <a:lnSpc>
                <a:spcPct val="135000"/>
              </a:lnSpc>
            </a:pPr>
            <a:r>
              <a:rPr sz="2000" b="1" i="0">
                <a:solidFill>
                  <a:srgbClr val="6E7175"/>
                </a:solidFill>
                <a:latin typeface="Verdana"/>
              </a:rPr>
              <a:t>4</a:t>
            </a:r>
          </a:p>
        </p:txBody>
      </p:sp>
      <p:sp>
        <p:nvSpPr>
          <p:cNvPr id="25" name="TextBox 24"/>
          <p:cNvSpPr txBox="1"/>
          <p:nvPr/>
        </p:nvSpPr>
        <p:spPr>
          <a:xfrm>
            <a:off x="1435607" y="5705856"/>
            <a:ext cx="8131759" cy="457200"/>
          </a:xfrm>
          <a:prstGeom prst="rect">
            <a:avLst/>
          </a:prstGeom>
          <a:noFill/>
        </p:spPr>
        <p:txBody>
          <a:bodyPr wrap="square" lIns="0" rIns="0" tIns="0" bIns="0" anchor="t">
            <a:spAutoFit/>
          </a:bodyPr>
          <a:lstStyle/>
          <a:p>
            <a:pPr algn="l">
              <a:lnSpc>
                <a:spcPct val="135000"/>
              </a:lnSpc>
            </a:pPr>
            <a:r>
              <a:rPr sz="2200" b="0" i="0">
                <a:solidFill>
                  <a:srgbClr val="4B4F52"/>
                </a:solidFill>
                <a:latin typeface="Verdana"/>
              </a:rPr>
              <a:t>Ce qui reste à faire</a:t>
            </a:r>
          </a:p>
        </p:txBody>
      </p:sp>
      <p:sp>
        <p:nvSpPr>
          <p:cNvPr id="26" name="TextBox 25"/>
          <p:cNvSpPr txBox="1"/>
          <p:nvPr/>
        </p:nvSpPr>
        <p:spPr>
          <a:xfrm>
            <a:off x="9795967" y="5760720"/>
            <a:ext cx="1554480" cy="365760"/>
          </a:xfrm>
          <a:prstGeom prst="rect">
            <a:avLst/>
          </a:prstGeom>
          <a:noFill/>
        </p:spPr>
        <p:txBody>
          <a:bodyPr wrap="square" lIns="0" rIns="0" tIns="0" bIns="0" anchor="t">
            <a:spAutoFit/>
          </a:bodyPr>
          <a:lstStyle/>
          <a:p>
            <a:pPr algn="r">
              <a:lnSpc>
                <a:spcPct val="135000"/>
              </a:lnSpc>
            </a:pPr>
            <a:r>
              <a:rPr sz="1500" b="0" i="0">
                <a:solidFill>
                  <a:srgbClr val="6E7175"/>
                </a:solidFill>
                <a:latin typeface="Verdana"/>
              </a:rPr>
              <a:t>2 min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718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1874519"/>
            <a:ext cx="11057839" cy="292608"/>
          </a:xfrm>
          <a:prstGeom prst="rect">
            <a:avLst/>
          </a:prstGeom>
          <a:noFill/>
        </p:spPr>
        <p:txBody>
          <a:bodyPr wrap="square" lIns="0" rIns="0" tIns="0" bIns="0" anchor="t">
            <a:spAutoFit/>
          </a:bodyPr>
          <a:lstStyle/>
          <a:p>
            <a:pPr algn="l">
              <a:lnSpc>
                <a:spcPct val="135000"/>
              </a:lnSpc>
            </a:pPr>
            <a:r>
              <a:rPr sz="1300" b="1" i="0" spc="182">
                <a:solidFill>
                  <a:srgbClr val="0A8F5B"/>
                </a:solidFill>
                <a:latin typeface="Verdana"/>
              </a:rPr>
              <a:t>PREMIER TEMPS</a:t>
            </a:r>
          </a:p>
        </p:txBody>
      </p:sp>
      <p:sp>
        <p:nvSpPr>
          <p:cNvPr id="4" name="TextBox 3"/>
          <p:cNvSpPr txBox="1"/>
          <p:nvPr/>
        </p:nvSpPr>
        <p:spPr>
          <a:xfrm>
            <a:off x="566928" y="2331720"/>
            <a:ext cx="10509199" cy="1783080"/>
          </a:xfrm>
          <a:prstGeom prst="rect">
            <a:avLst/>
          </a:prstGeom>
          <a:noFill/>
        </p:spPr>
        <p:txBody>
          <a:bodyPr wrap="square" lIns="0" rIns="0" tIns="0" bIns="0" anchor="t">
            <a:spAutoFit/>
          </a:bodyPr>
          <a:lstStyle/>
          <a:p>
            <a:pPr algn="l">
              <a:lnSpc>
                <a:spcPct val="102000"/>
              </a:lnSpc>
            </a:pPr>
            <a:r>
              <a:rPr sz="5200" b="1" i="0">
                <a:solidFill>
                  <a:srgbClr val="FFFFFF"/>
                </a:solidFill>
                <a:latin typeface="Verdana"/>
              </a:rPr>
              <a:t>Deux personnes, la même impasse</a:t>
            </a:r>
          </a:p>
        </p:txBody>
      </p:sp>
      <p:sp>
        <p:nvSpPr>
          <p:cNvPr id="5" name="Rectangle 4"/>
          <p:cNvSpPr/>
          <p:nvPr/>
        </p:nvSpPr>
        <p:spPr>
          <a:xfrm>
            <a:off x="566928" y="4343400"/>
            <a:ext cx="1005840" cy="45720"/>
          </a:xfrm>
          <a:prstGeom prst="rect">
            <a:avLst/>
          </a:prstGeom>
          <a:solidFill>
            <a:srgbClr val="0A8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4617720"/>
            <a:ext cx="8680399" cy="1005840"/>
          </a:xfrm>
          <a:prstGeom prst="rect">
            <a:avLst/>
          </a:prstGeom>
          <a:noFill/>
        </p:spPr>
        <p:txBody>
          <a:bodyPr wrap="square" lIns="0" rIns="0" tIns="0" bIns="0" anchor="t">
            <a:spAutoFit/>
          </a:bodyPr>
          <a:lstStyle/>
          <a:p>
            <a:pPr algn="l">
              <a:lnSpc>
                <a:spcPct val="145000"/>
              </a:lnSpc>
            </a:pPr>
            <a:r>
              <a:rPr sz="2000" b="0" i="0">
                <a:solidFill>
                  <a:srgbClr val="D6D6D2"/>
                </a:solidFill>
                <a:latin typeface="Verdana"/>
              </a:rPr>
              <a:t>L'élève a le temps mais pas l'occasion. L'enseignant a le diagnostic mais pas le remède.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P4 · francis · présentation</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4</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LE PROBLÈME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Ce que chacun a, et ce qui lui manque</a:t>
            </a:r>
          </a:p>
        </p:txBody>
      </p:sp>
      <p:sp>
        <p:nvSpPr>
          <p:cNvPr id="7" name="Rounded Rectangle 6"/>
          <p:cNvSpPr/>
          <p:nvPr/>
        </p:nvSpPr>
        <p:spPr>
          <a:xfrm>
            <a:off x="566928" y="1810512"/>
            <a:ext cx="5446623" cy="4270248"/>
          </a:xfrm>
          <a:prstGeom prst="roundRect">
            <a:avLst>
              <a:gd name="adj" fmla="val 34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886968" y="2084831"/>
            <a:ext cx="4806543" cy="387096"/>
          </a:xfrm>
          <a:prstGeom prst="rect">
            <a:avLst/>
          </a:prstGeom>
          <a:noFill/>
        </p:spPr>
        <p:txBody>
          <a:bodyPr wrap="square" lIns="0" rIns="0" tIns="0" bIns="0" anchor="t">
            <a:spAutoFit/>
          </a:bodyPr>
          <a:lstStyle/>
          <a:p>
            <a:pPr algn="l">
              <a:lnSpc>
                <a:spcPct val="118000"/>
              </a:lnSpc>
            </a:pPr>
            <a:r>
              <a:rPr sz="2400" b="1" i="0">
                <a:solidFill>
                  <a:srgbClr val="0D7A6F"/>
                </a:solidFill>
                <a:latin typeface="Verdana"/>
              </a:rPr>
              <a:t>L'élève, le mardi soir</a:t>
            </a:r>
          </a:p>
        </p:txBody>
      </p:sp>
      <p:sp>
        <p:nvSpPr>
          <p:cNvPr id="9" name="TextBox 8"/>
          <p:cNvSpPr txBox="1"/>
          <p:nvPr/>
        </p:nvSpPr>
        <p:spPr>
          <a:xfrm>
            <a:off x="886968" y="2499360"/>
            <a:ext cx="4806543" cy="3307080"/>
          </a:xfrm>
          <a:prstGeom prst="rect">
            <a:avLst/>
          </a:prstGeom>
          <a:noFill/>
        </p:spPr>
        <p:txBody>
          <a:bodyPr wrap="square" lIns="0" rIns="0" tIns="0" bIns="0" anchor="t">
            <a:spAutoFit/>
          </a:bodyPr>
          <a:lstStyle/>
          <a:p>
            <a:pPr algn="l">
              <a:lnSpc>
                <a:spcPct val="142000"/>
              </a:lnSpc>
            </a:pPr>
            <a:r>
              <a:rPr sz="1800" b="0" i="0">
                <a:solidFill>
                  <a:srgbClr val="3A3D40"/>
                </a:solidFill>
                <a:latin typeface="Verdana"/>
              </a:rPr>
              <a:t>Il sait qu'il se trompe, sans savoir sur quoi. Une longue page de module ne lui dit ni par où entrer ni quand il aura fini. Alors il fait défiler autre chose. Le temps est là — l'occasion, non.</a:t>
            </a:r>
          </a:p>
        </p:txBody>
      </p:sp>
      <p:sp>
        <p:nvSpPr>
          <p:cNvPr id="10" name="Rounded Rectangle 9"/>
          <p:cNvSpPr/>
          <p:nvPr/>
        </p:nvSpPr>
        <p:spPr>
          <a:xfrm>
            <a:off x="6178143" y="1810512"/>
            <a:ext cx="5446623" cy="4270248"/>
          </a:xfrm>
          <a:prstGeom prst="roundRect">
            <a:avLst>
              <a:gd name="adj" fmla="val 34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498183" y="2084831"/>
            <a:ext cx="4806543" cy="387096"/>
          </a:xfrm>
          <a:prstGeom prst="rect">
            <a:avLst/>
          </a:prstGeom>
          <a:noFill/>
        </p:spPr>
        <p:txBody>
          <a:bodyPr wrap="square" lIns="0" rIns="0" tIns="0" bIns="0" anchor="t">
            <a:spAutoFit/>
          </a:bodyPr>
          <a:lstStyle/>
          <a:p>
            <a:pPr algn="l">
              <a:lnSpc>
                <a:spcPct val="118000"/>
              </a:lnSpc>
            </a:pPr>
            <a:r>
              <a:rPr sz="2400" b="1" i="0">
                <a:solidFill>
                  <a:srgbClr val="0D7A6F"/>
                </a:solidFill>
                <a:latin typeface="Verdana"/>
              </a:rPr>
              <a:t>L'enseignant, le lendemain</a:t>
            </a:r>
          </a:p>
        </p:txBody>
      </p:sp>
      <p:sp>
        <p:nvSpPr>
          <p:cNvPr id="12" name="TextBox 11"/>
          <p:cNvSpPr txBox="1"/>
          <p:nvPr/>
        </p:nvSpPr>
        <p:spPr>
          <a:xfrm>
            <a:off x="6498183" y="2499360"/>
            <a:ext cx="4806543" cy="3307080"/>
          </a:xfrm>
          <a:prstGeom prst="rect">
            <a:avLst/>
          </a:prstGeom>
          <a:noFill/>
        </p:spPr>
        <p:txBody>
          <a:bodyPr wrap="square" lIns="0" rIns="0" tIns="0" bIns="0" anchor="t">
            <a:spAutoFit/>
          </a:bodyPr>
          <a:lstStyle/>
          <a:p>
            <a:pPr algn="l">
              <a:lnSpc>
                <a:spcPct val="142000"/>
              </a:lnSpc>
            </a:pPr>
            <a:r>
              <a:rPr sz="1800" b="0" i="0">
                <a:solidFill>
                  <a:srgbClr val="3A3D40"/>
                </a:solidFill>
                <a:latin typeface="Verdana"/>
              </a:rPr>
              <a:t>Il voit la faute, il sait laquelle, il sait même qui l'a faite trois fois. Et il n'a rien à envoyer, sinon reprendre la notion devant vingt-quatre personnes dont vingt n'en ont pas besoin. Le diagnostic est là — le remède, non.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P4 · francis · présentation</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5</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CE QUE C'EST</a:t>
            </a:r>
          </a:p>
        </p:txBody>
      </p:sp>
      <p:sp>
        <p:nvSpPr>
          <p:cNvPr id="6" name="Rounded Rectangle 5"/>
          <p:cNvSpPr/>
          <p:nvPr/>
        </p:nvSpPr>
        <p:spPr>
          <a:xfrm>
            <a:off x="566928" y="1225296"/>
            <a:ext cx="11057839" cy="1967991"/>
          </a:xfrm>
          <a:prstGeom prst="roundRect">
            <a:avLst>
              <a:gd name="adj" fmla="val 7434"/>
            </a:avLst>
          </a:prstGeom>
          <a:solidFill>
            <a:srgbClr val="DCF2E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298448" y="1682496"/>
            <a:ext cx="9594799" cy="1145032"/>
          </a:xfrm>
          <a:prstGeom prst="rect">
            <a:avLst/>
          </a:prstGeom>
          <a:noFill/>
        </p:spPr>
        <p:txBody>
          <a:bodyPr wrap="square" lIns="0" rIns="0" tIns="0" bIns="0" anchor="t">
            <a:spAutoFit/>
          </a:bodyPr>
          <a:lstStyle/>
          <a:p>
            <a:pPr algn="l">
              <a:lnSpc>
                <a:spcPct val="122000"/>
              </a:lnSpc>
            </a:pPr>
            <a:r>
              <a:rPr sz="3400" b="1" i="0">
                <a:solidFill>
                  <a:srgbClr val="17181A"/>
                </a:solidFill>
                <a:latin typeface="Verdana"/>
              </a:rPr>
              <a:t>Un point express, c'est une notion, dix minutes, envoyée à une personne.</a:t>
            </a:r>
          </a:p>
        </p:txBody>
      </p:sp>
      <p:sp>
        <p:nvSpPr>
          <p:cNvPr id="8" name="Rounded Rectangle 7"/>
          <p:cNvSpPr/>
          <p:nvPr/>
        </p:nvSpPr>
        <p:spPr>
          <a:xfrm>
            <a:off x="566928" y="3467607"/>
            <a:ext cx="11057839" cy="1303528"/>
          </a:xfrm>
          <a:prstGeom prst="roundRect">
            <a:avLst>
              <a:gd name="adj" fmla="val 11223"/>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69264" y="3741927"/>
            <a:ext cx="10234879" cy="846327"/>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Ni un cours ni un exercice de plus : une réponse. Et elle se referme quand la difficulté est réglée.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718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1874519"/>
            <a:ext cx="11057839" cy="292608"/>
          </a:xfrm>
          <a:prstGeom prst="rect">
            <a:avLst/>
          </a:prstGeom>
          <a:noFill/>
        </p:spPr>
        <p:txBody>
          <a:bodyPr wrap="square" lIns="0" rIns="0" tIns="0" bIns="0" anchor="t">
            <a:spAutoFit/>
          </a:bodyPr>
          <a:lstStyle/>
          <a:p>
            <a:pPr algn="l">
              <a:lnSpc>
                <a:spcPct val="135000"/>
              </a:lnSpc>
            </a:pPr>
            <a:r>
              <a:rPr sz="1300" b="1" i="0" spc="182">
                <a:solidFill>
                  <a:srgbClr val="0A8F5B"/>
                </a:solidFill>
                <a:latin typeface="Verdana"/>
              </a:rPr>
              <a:t>DEUXIÈME TEMPS</a:t>
            </a:r>
          </a:p>
        </p:txBody>
      </p:sp>
      <p:sp>
        <p:nvSpPr>
          <p:cNvPr id="4" name="TextBox 3"/>
          <p:cNvSpPr txBox="1"/>
          <p:nvPr/>
        </p:nvSpPr>
        <p:spPr>
          <a:xfrm>
            <a:off x="566928" y="2331720"/>
            <a:ext cx="10509199" cy="1783080"/>
          </a:xfrm>
          <a:prstGeom prst="rect">
            <a:avLst/>
          </a:prstGeom>
          <a:noFill/>
        </p:spPr>
        <p:txBody>
          <a:bodyPr wrap="square" lIns="0" rIns="0" tIns="0" bIns="0" anchor="t">
            <a:spAutoFit/>
          </a:bodyPr>
          <a:lstStyle/>
          <a:p>
            <a:pPr algn="l">
              <a:lnSpc>
                <a:spcPct val="102000"/>
              </a:lnSpc>
            </a:pPr>
            <a:r>
              <a:rPr sz="5200" b="1" i="0">
                <a:solidFill>
                  <a:srgbClr val="FFFFFF"/>
                </a:solidFill>
                <a:latin typeface="Verdana"/>
              </a:rPr>
              <a:t>Comment ça circule</a:t>
            </a:r>
          </a:p>
        </p:txBody>
      </p:sp>
      <p:sp>
        <p:nvSpPr>
          <p:cNvPr id="5" name="Rectangle 4"/>
          <p:cNvSpPr/>
          <p:nvPr/>
        </p:nvSpPr>
        <p:spPr>
          <a:xfrm>
            <a:off x="566928" y="4343400"/>
            <a:ext cx="1005840" cy="45720"/>
          </a:xfrm>
          <a:prstGeom prst="rect">
            <a:avLst/>
          </a:prstGeom>
          <a:solidFill>
            <a:srgbClr val="0A8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4617720"/>
            <a:ext cx="8680399" cy="1005840"/>
          </a:xfrm>
          <a:prstGeom prst="rect">
            <a:avLst/>
          </a:prstGeom>
          <a:noFill/>
        </p:spPr>
        <p:txBody>
          <a:bodyPr wrap="square" lIns="0" rIns="0" tIns="0" bIns="0" anchor="t">
            <a:spAutoFit/>
          </a:bodyPr>
          <a:lstStyle/>
          <a:p>
            <a:pPr algn="l">
              <a:lnSpc>
                <a:spcPct val="145000"/>
              </a:lnSpc>
            </a:pPr>
            <a:r>
              <a:rPr sz="2000" b="0" i="0">
                <a:solidFill>
                  <a:srgbClr val="D6D6D2"/>
                </a:solidFill>
                <a:latin typeface="Verdana"/>
              </a:rPr>
              <a:t>Constater, envoyer, faire, refermer. Un cycle qui a une fin — c'est ce qui le distingue de tout le reste du matériel.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P4 · francis · présentation</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7</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LE CYCLE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Quatre moments, et qui les tient</a:t>
            </a:r>
          </a:p>
        </p:txBody>
      </p:sp>
      <p:sp>
        <p:nvSpPr>
          <p:cNvPr id="7" name="Rounded Rectangle 6"/>
          <p:cNvSpPr/>
          <p:nvPr/>
        </p:nvSpPr>
        <p:spPr>
          <a:xfrm>
            <a:off x="566928" y="1810512"/>
            <a:ext cx="11057839" cy="4005072"/>
          </a:xfrm>
          <a:prstGeom prst="roundRect">
            <a:avLst>
              <a:gd name="adj" fmla="val 365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75104"/>
            <a:ext cx="3222650"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
            </a:r>
          </a:p>
        </p:txBody>
      </p:sp>
      <p:sp>
        <p:nvSpPr>
          <p:cNvPr id="9" name="TextBox 8"/>
          <p:cNvSpPr txBox="1"/>
          <p:nvPr/>
        </p:nvSpPr>
        <p:spPr>
          <a:xfrm>
            <a:off x="4374794" y="1975104"/>
            <a:ext cx="3222650"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CE QUI SE PASSE</a:t>
            </a:r>
          </a:p>
        </p:txBody>
      </p:sp>
      <p:sp>
        <p:nvSpPr>
          <p:cNvPr id="10" name="TextBox 9"/>
          <p:cNvSpPr txBox="1"/>
          <p:nvPr/>
        </p:nvSpPr>
        <p:spPr>
          <a:xfrm>
            <a:off x="7816900" y="1975104"/>
            <a:ext cx="3222650"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QUI</a:t>
            </a:r>
          </a:p>
        </p:txBody>
      </p:sp>
      <p:sp>
        <p:nvSpPr>
          <p:cNvPr id="11" name="TextBox 10"/>
          <p:cNvSpPr txBox="1"/>
          <p:nvPr/>
        </p:nvSpPr>
        <p:spPr>
          <a:xfrm>
            <a:off x="932688" y="2395728"/>
            <a:ext cx="3222650" cy="640080"/>
          </a:xfrm>
          <a:prstGeom prst="rect">
            <a:avLst/>
          </a:prstGeom>
          <a:noFill/>
        </p:spPr>
        <p:txBody>
          <a:bodyPr wrap="square" lIns="0" rIns="0" tIns="0" bIns="0" anchor="t">
            <a:spAutoFit/>
          </a:bodyPr>
          <a:lstStyle/>
          <a:p>
            <a:pPr algn="l">
              <a:lnSpc>
                <a:spcPct val="132000"/>
              </a:lnSpc>
            </a:pPr>
            <a:r>
              <a:rPr sz="1800" b="1" i="0">
                <a:solidFill>
                  <a:srgbClr val="0D7A6F"/>
                </a:solidFill>
                <a:latin typeface="Verdana"/>
              </a:rPr>
              <a:t>1 · Constater</a:t>
            </a:r>
          </a:p>
        </p:txBody>
      </p:sp>
      <p:sp>
        <p:nvSpPr>
          <p:cNvPr id="12" name="TextBox 11"/>
          <p:cNvSpPr txBox="1"/>
          <p:nvPr/>
        </p:nvSpPr>
        <p:spPr>
          <a:xfrm>
            <a:off x="4374794" y="2395728"/>
            <a:ext cx="3222650" cy="640080"/>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Une lacune se voit dans une production écrite.</a:t>
            </a:r>
          </a:p>
        </p:txBody>
      </p:sp>
      <p:sp>
        <p:nvSpPr>
          <p:cNvPr id="13" name="TextBox 12"/>
          <p:cNvSpPr txBox="1"/>
          <p:nvPr/>
        </p:nvSpPr>
        <p:spPr>
          <a:xfrm>
            <a:off x="7816900" y="2395728"/>
            <a:ext cx="3222650" cy="640080"/>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L'enseignant</a:t>
            </a:r>
          </a:p>
        </p:txBody>
      </p:sp>
      <p:sp>
        <p:nvSpPr>
          <p:cNvPr id="14" name="Rectangle 13"/>
          <p:cNvSpPr/>
          <p:nvPr/>
        </p:nvSpPr>
        <p:spPr>
          <a:xfrm>
            <a:off x="932688" y="3108960"/>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932688" y="3236976"/>
            <a:ext cx="3222650" cy="640080"/>
          </a:xfrm>
          <a:prstGeom prst="rect">
            <a:avLst/>
          </a:prstGeom>
          <a:noFill/>
        </p:spPr>
        <p:txBody>
          <a:bodyPr wrap="square" lIns="0" rIns="0" tIns="0" bIns="0" anchor="t">
            <a:spAutoFit/>
          </a:bodyPr>
          <a:lstStyle/>
          <a:p>
            <a:pPr algn="l">
              <a:lnSpc>
                <a:spcPct val="132000"/>
              </a:lnSpc>
            </a:pPr>
            <a:r>
              <a:rPr sz="1800" b="1" i="0">
                <a:solidFill>
                  <a:srgbClr val="0D7A6F"/>
                </a:solidFill>
                <a:latin typeface="Verdana"/>
              </a:rPr>
              <a:t>2 · Envoyer</a:t>
            </a:r>
          </a:p>
        </p:txBody>
      </p:sp>
      <p:sp>
        <p:nvSpPr>
          <p:cNvPr id="16" name="TextBox 15"/>
          <p:cNvSpPr txBox="1"/>
          <p:nvPr/>
        </p:nvSpPr>
        <p:spPr>
          <a:xfrm>
            <a:off x="4374794" y="3236976"/>
            <a:ext cx="3222650" cy="640080"/>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Un bouton à côté du point faible.</a:t>
            </a:r>
          </a:p>
        </p:txBody>
      </p:sp>
      <p:sp>
        <p:nvSpPr>
          <p:cNvPr id="17" name="TextBox 16"/>
          <p:cNvSpPr txBox="1"/>
          <p:nvPr/>
        </p:nvSpPr>
        <p:spPr>
          <a:xfrm>
            <a:off x="7816900" y="3236976"/>
            <a:ext cx="3222650" cy="640080"/>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L'enseignant</a:t>
            </a:r>
          </a:p>
        </p:txBody>
      </p:sp>
      <p:sp>
        <p:nvSpPr>
          <p:cNvPr id="18" name="Rectangle 17"/>
          <p:cNvSpPr/>
          <p:nvPr/>
        </p:nvSpPr>
        <p:spPr>
          <a:xfrm>
            <a:off x="932688" y="3950208"/>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932688" y="4078224"/>
            <a:ext cx="3222650" cy="640080"/>
          </a:xfrm>
          <a:prstGeom prst="rect">
            <a:avLst/>
          </a:prstGeom>
          <a:noFill/>
        </p:spPr>
        <p:txBody>
          <a:bodyPr wrap="square" lIns="0" rIns="0" tIns="0" bIns="0" anchor="t">
            <a:spAutoFit/>
          </a:bodyPr>
          <a:lstStyle/>
          <a:p>
            <a:pPr algn="l">
              <a:lnSpc>
                <a:spcPct val="132000"/>
              </a:lnSpc>
            </a:pPr>
            <a:r>
              <a:rPr sz="1800" b="1" i="0">
                <a:solidFill>
                  <a:srgbClr val="0D7A6F"/>
                </a:solidFill>
                <a:latin typeface="Verdana"/>
              </a:rPr>
              <a:t>3 · Faire</a:t>
            </a:r>
          </a:p>
        </p:txBody>
      </p:sp>
      <p:sp>
        <p:nvSpPr>
          <p:cNvPr id="20" name="TextBox 19"/>
          <p:cNvSpPr txBox="1"/>
          <p:nvPr/>
        </p:nvSpPr>
        <p:spPr>
          <a:xfrm>
            <a:off x="4374794" y="4078224"/>
            <a:ext cx="3222650" cy="640080"/>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Dix minutes, le soir, sur son téléphone.</a:t>
            </a:r>
          </a:p>
        </p:txBody>
      </p:sp>
      <p:sp>
        <p:nvSpPr>
          <p:cNvPr id="21" name="TextBox 20"/>
          <p:cNvSpPr txBox="1"/>
          <p:nvPr/>
        </p:nvSpPr>
        <p:spPr>
          <a:xfrm>
            <a:off x="7816900" y="4078224"/>
            <a:ext cx="3222650" cy="640080"/>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L'élève, seul</a:t>
            </a:r>
          </a:p>
        </p:txBody>
      </p:sp>
      <p:sp>
        <p:nvSpPr>
          <p:cNvPr id="22" name="Rectangle 21"/>
          <p:cNvSpPr/>
          <p:nvPr/>
        </p:nvSpPr>
        <p:spPr>
          <a:xfrm>
            <a:off x="932688" y="4791456"/>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932688" y="4919472"/>
            <a:ext cx="3222650" cy="640080"/>
          </a:xfrm>
          <a:prstGeom prst="rect">
            <a:avLst/>
          </a:prstGeom>
          <a:noFill/>
        </p:spPr>
        <p:txBody>
          <a:bodyPr wrap="square" lIns="0" rIns="0" tIns="0" bIns="0" anchor="t">
            <a:spAutoFit/>
          </a:bodyPr>
          <a:lstStyle/>
          <a:p>
            <a:pPr algn="l">
              <a:lnSpc>
                <a:spcPct val="132000"/>
              </a:lnSpc>
            </a:pPr>
            <a:r>
              <a:rPr sz="1800" b="1" i="0">
                <a:solidFill>
                  <a:srgbClr val="0D7A6F"/>
                </a:solidFill>
                <a:latin typeface="Verdana"/>
              </a:rPr>
              <a:t>4 · Refermer</a:t>
            </a:r>
          </a:p>
        </p:txBody>
      </p:sp>
      <p:sp>
        <p:nvSpPr>
          <p:cNvPr id="24" name="TextBox 23"/>
          <p:cNvSpPr txBox="1"/>
          <p:nvPr/>
        </p:nvSpPr>
        <p:spPr>
          <a:xfrm>
            <a:off x="4374794" y="4919472"/>
            <a:ext cx="3222650" cy="640080"/>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Réussi sans rattrapage : c'est réglé.</a:t>
            </a:r>
          </a:p>
        </p:txBody>
      </p:sp>
      <p:sp>
        <p:nvSpPr>
          <p:cNvPr id="25" name="TextBox 24"/>
          <p:cNvSpPr txBox="1"/>
          <p:nvPr/>
        </p:nvSpPr>
        <p:spPr>
          <a:xfrm>
            <a:off x="7816900" y="4919472"/>
            <a:ext cx="3222650" cy="640080"/>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Le point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P4 · francis · présentation</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8</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CE QUE CE N'EST PAS</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 piège le plus fréquent</a:t>
            </a:r>
          </a:p>
        </p:txBody>
      </p:sp>
      <p:sp>
        <p:nvSpPr>
          <p:cNvPr id="7" name="Rounded Rectangle 6"/>
          <p:cNvSpPr/>
          <p:nvPr/>
        </p:nvSpPr>
        <p:spPr>
          <a:xfrm>
            <a:off x="566928" y="1856232"/>
            <a:ext cx="5428335" cy="2331720"/>
          </a:xfrm>
          <a:prstGeom prst="roundRect">
            <a:avLst>
              <a:gd name="adj" fmla="val 6274"/>
            </a:avLst>
          </a:prstGeom>
          <a:solidFill>
            <a:srgbClr val="FFF6F5"/>
          </a:solidFill>
          <a:ln w="1270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B91C1C"/>
                </a:solidFill>
                <a:latin typeface="Verdana"/>
              </a:rPr>
              <a:t>ON ENTEND SOUVENT</a:t>
            </a:r>
          </a:p>
        </p:txBody>
      </p:sp>
      <p:sp>
        <p:nvSpPr>
          <p:cNvPr id="9" name="TextBox 8"/>
          <p:cNvSpPr txBox="1"/>
          <p:nvPr/>
        </p:nvSpPr>
        <p:spPr>
          <a:xfrm>
            <a:off x="932688" y="2569464"/>
            <a:ext cx="4696815" cy="1417320"/>
          </a:xfrm>
          <a:prstGeom prst="rect">
            <a:avLst/>
          </a:prstGeom>
          <a:noFill/>
        </p:spPr>
        <p:txBody>
          <a:bodyPr wrap="square" lIns="0" rIns="0" tIns="0" bIns="0" anchor="t">
            <a:spAutoFit/>
          </a:bodyPr>
          <a:lstStyle/>
          <a:p>
            <a:pPr algn="l">
              <a:lnSpc>
                <a:spcPct val="130000"/>
              </a:lnSpc>
            </a:pPr>
            <a:r>
              <a:rPr sz="2500" b="1" i="0">
                <a:solidFill>
                  <a:srgbClr val="17181A"/>
                </a:solidFill>
                <a:latin typeface="Verdana"/>
              </a:rPr>
              <a:t>« C'est une petite leçon de grammaire sur le téléphone. »</a:t>
            </a:r>
          </a:p>
        </p:txBody>
      </p:sp>
      <p:sp>
        <p:nvSpPr>
          <p:cNvPr id="10" name="Rounded Rectangle 9"/>
          <p:cNvSpPr/>
          <p:nvPr/>
        </p:nvSpPr>
        <p:spPr>
          <a:xfrm>
            <a:off x="6196431" y="1856232"/>
            <a:ext cx="5428335" cy="2331720"/>
          </a:xfrm>
          <a:prstGeom prst="roundRect">
            <a:avLst>
              <a:gd name="adj" fmla="val 6274"/>
            </a:avLst>
          </a:prstGeom>
          <a:solidFill>
            <a:srgbClr val="E6F5EE"/>
          </a:solidFill>
          <a:ln w="12700">
            <a:solidFill>
              <a:srgbClr val="0A8F5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562191"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07734A"/>
                </a:solidFill>
                <a:latin typeface="Verdana"/>
              </a:rPr>
              <a:t>IL FAUT DIRE PLUTÔT</a:t>
            </a:r>
          </a:p>
        </p:txBody>
      </p:sp>
      <p:sp>
        <p:nvSpPr>
          <p:cNvPr id="12" name="TextBox 11"/>
          <p:cNvSpPr txBox="1"/>
          <p:nvPr/>
        </p:nvSpPr>
        <p:spPr>
          <a:xfrm>
            <a:off x="6562191" y="2569464"/>
            <a:ext cx="4696815" cy="1417320"/>
          </a:xfrm>
          <a:prstGeom prst="rect">
            <a:avLst/>
          </a:prstGeom>
          <a:noFill/>
        </p:spPr>
        <p:txBody>
          <a:bodyPr wrap="square" lIns="0" rIns="0" tIns="0" bIns="0" anchor="t">
            <a:spAutoFit/>
          </a:bodyPr>
          <a:lstStyle/>
          <a:p>
            <a:pPr algn="l">
              <a:lnSpc>
                <a:spcPct val="130000"/>
              </a:lnSpc>
            </a:pPr>
            <a:r>
              <a:rPr sz="2500" b="1" i="0">
                <a:solidFill>
                  <a:srgbClr val="17181A"/>
                </a:solidFill>
                <a:latin typeface="Verdana"/>
              </a:rPr>
              <a:t>L'élève tranche des cas AVANT qu'aucune règle ne lui soit dite.</a:t>
            </a:r>
          </a:p>
        </p:txBody>
      </p:sp>
      <p:sp>
        <p:nvSpPr>
          <p:cNvPr id="13" name="Rounded Rectangle 12"/>
          <p:cNvSpPr/>
          <p:nvPr/>
        </p:nvSpPr>
        <p:spPr>
          <a:xfrm>
            <a:off x="566928" y="4462272"/>
            <a:ext cx="11057839" cy="1618487"/>
          </a:xfrm>
          <a:prstGeom prst="roundRect">
            <a:avLst>
              <a:gd name="adj" fmla="val 9039"/>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69264" y="4736592"/>
            <a:ext cx="10234879" cy="15189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Nos modules portent déjà 810 mini-leçons. Un élève envoyé sur un point express en a probablement lu deux sur le même sujet : redire la même chose autrement ne servirait à rien. La leçon donne la règle puis la fait appliquer ; le point express fait l'inverse, et n'énonce la règle qu'une fois les cas tranchés.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P4 · francis · présentation</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9</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LES TROIS GAMMES</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Où ça se range</a:t>
            </a:r>
          </a:p>
        </p:txBody>
      </p:sp>
      <p:sp>
        <p:nvSpPr>
          <p:cNvPr id="7" name="Rounded Rectangle 6"/>
          <p:cNvSpPr/>
          <p:nvPr/>
        </p:nvSpPr>
        <p:spPr>
          <a:xfrm>
            <a:off x="566928" y="1810512"/>
            <a:ext cx="3576218" cy="4270248"/>
          </a:xfrm>
          <a:prstGeom prst="roundRect">
            <a:avLst>
              <a:gd name="adj" fmla="val 4091"/>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886968" y="2084831"/>
            <a:ext cx="2936138" cy="1061466"/>
          </a:xfrm>
          <a:prstGeom prst="rect">
            <a:avLst/>
          </a:prstGeom>
          <a:noFill/>
        </p:spPr>
        <p:txBody>
          <a:bodyPr wrap="square" lIns="0" rIns="0" tIns="0" bIns="0" anchor="t">
            <a:spAutoFit/>
          </a:bodyPr>
          <a:lstStyle/>
          <a:p>
            <a:pPr algn="l">
              <a:lnSpc>
                <a:spcPct val="118000"/>
              </a:lnSpc>
            </a:pPr>
            <a:r>
              <a:rPr sz="2300" b="1" i="0">
                <a:solidFill>
                  <a:srgbClr val="0D7A6F"/>
                </a:solidFill>
                <a:latin typeface="Verdana"/>
              </a:rPr>
              <a:t>Le module · 4 h, le matin, en groupe</a:t>
            </a:r>
          </a:p>
        </p:txBody>
      </p:sp>
      <p:sp>
        <p:nvSpPr>
          <p:cNvPr id="9" name="TextBox 8"/>
          <p:cNvSpPr txBox="1"/>
          <p:nvPr/>
        </p:nvSpPr>
        <p:spPr>
          <a:xfrm>
            <a:off x="886968" y="3173730"/>
            <a:ext cx="2936138" cy="2632710"/>
          </a:xfrm>
          <a:prstGeom prst="rect">
            <a:avLst/>
          </a:prstGeom>
          <a:noFill/>
        </p:spPr>
        <p:txBody>
          <a:bodyPr wrap="square" lIns="0" rIns="0" tIns="0" bIns="0" anchor="t">
            <a:spAutoFit/>
          </a:bodyPr>
          <a:lstStyle/>
          <a:p>
            <a:pPr algn="l">
              <a:lnSpc>
                <a:spcPct val="142000"/>
              </a:lnSpc>
            </a:pPr>
            <a:r>
              <a:rPr sz="1800" b="0" i="0">
                <a:solidFill>
                  <a:srgbClr val="3A3D40"/>
                </a:solidFill>
                <a:latin typeface="Verdana"/>
              </a:rPr>
              <a:t>Une situation de la vie réelle en seize séances. « Que faut-il savoir faire pour prendre un rendez-vous ? » L'enseignant est là, et c'est sa force.</a:t>
            </a:r>
          </a:p>
        </p:txBody>
      </p:sp>
      <p:sp>
        <p:nvSpPr>
          <p:cNvPr id="10" name="Rounded Rectangle 9"/>
          <p:cNvSpPr/>
          <p:nvPr/>
        </p:nvSpPr>
        <p:spPr>
          <a:xfrm>
            <a:off x="4307738" y="1810512"/>
            <a:ext cx="3576218" cy="4270248"/>
          </a:xfrm>
          <a:prstGeom prst="roundRect">
            <a:avLst>
              <a:gd name="adj" fmla="val 4091"/>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4627778" y="2084831"/>
            <a:ext cx="2936138" cy="1061466"/>
          </a:xfrm>
          <a:prstGeom prst="rect">
            <a:avLst/>
          </a:prstGeom>
          <a:noFill/>
        </p:spPr>
        <p:txBody>
          <a:bodyPr wrap="square" lIns="0" rIns="0" tIns="0" bIns="0" anchor="t">
            <a:spAutoFit/>
          </a:bodyPr>
          <a:lstStyle/>
          <a:p>
            <a:pPr algn="l">
              <a:lnSpc>
                <a:spcPct val="118000"/>
              </a:lnSpc>
            </a:pPr>
            <a:r>
              <a:rPr sz="2300" b="1" i="0">
                <a:solidFill>
                  <a:srgbClr val="0D7A6F"/>
                </a:solidFill>
                <a:latin typeface="Verdana"/>
              </a:rPr>
              <a:t>L'atelier · 2 h, l'après-midi</a:t>
            </a:r>
          </a:p>
        </p:txBody>
      </p:sp>
      <p:sp>
        <p:nvSpPr>
          <p:cNvPr id="12" name="TextBox 11"/>
          <p:cNvSpPr txBox="1"/>
          <p:nvPr/>
        </p:nvSpPr>
        <p:spPr>
          <a:xfrm>
            <a:off x="4627778" y="3173730"/>
            <a:ext cx="2936138" cy="2632710"/>
          </a:xfrm>
          <a:prstGeom prst="rect">
            <a:avLst/>
          </a:prstGeom>
          <a:noFill/>
        </p:spPr>
        <p:txBody>
          <a:bodyPr wrap="square" lIns="0" rIns="0" tIns="0" bIns="0" anchor="t">
            <a:spAutoFit/>
          </a:bodyPr>
          <a:lstStyle/>
          <a:p>
            <a:pPr algn="l">
              <a:lnSpc>
                <a:spcPct val="142000"/>
              </a:lnSpc>
            </a:pPr>
            <a:r>
              <a:rPr sz="1800" b="0" i="0">
                <a:solidFill>
                  <a:srgbClr val="3A3D40"/>
                </a:solidFill>
                <a:latin typeface="Verdana"/>
              </a:rPr>
              <a:t>Une pratique libre, sans date. « Comment m'exercer à ce que je viens de voir ? »</a:t>
            </a:r>
          </a:p>
        </p:txBody>
      </p:sp>
      <p:sp>
        <p:nvSpPr>
          <p:cNvPr id="13" name="Rounded Rectangle 12"/>
          <p:cNvSpPr/>
          <p:nvPr/>
        </p:nvSpPr>
        <p:spPr>
          <a:xfrm>
            <a:off x="8048548" y="1810512"/>
            <a:ext cx="3576218" cy="4270248"/>
          </a:xfrm>
          <a:prstGeom prst="roundRect">
            <a:avLst>
              <a:gd name="adj" fmla="val 4091"/>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368588" y="2084831"/>
            <a:ext cx="2936138" cy="1061466"/>
          </a:xfrm>
          <a:prstGeom prst="rect">
            <a:avLst/>
          </a:prstGeom>
          <a:noFill/>
        </p:spPr>
        <p:txBody>
          <a:bodyPr wrap="square" lIns="0" rIns="0" tIns="0" bIns="0" anchor="t">
            <a:spAutoFit/>
          </a:bodyPr>
          <a:lstStyle/>
          <a:p>
            <a:pPr algn="l">
              <a:lnSpc>
                <a:spcPct val="118000"/>
              </a:lnSpc>
            </a:pPr>
            <a:r>
              <a:rPr sz="2300" b="1" i="0">
                <a:solidFill>
                  <a:srgbClr val="0D7A6F"/>
                </a:solidFill>
                <a:latin typeface="Verdana"/>
              </a:rPr>
              <a:t>Le point express · 10 min, seul</a:t>
            </a:r>
          </a:p>
        </p:txBody>
      </p:sp>
      <p:sp>
        <p:nvSpPr>
          <p:cNvPr id="15" name="TextBox 14"/>
          <p:cNvSpPr txBox="1"/>
          <p:nvPr/>
        </p:nvSpPr>
        <p:spPr>
          <a:xfrm>
            <a:off x="8368588" y="3173730"/>
            <a:ext cx="2936138" cy="2632710"/>
          </a:xfrm>
          <a:prstGeom prst="rect">
            <a:avLst/>
          </a:prstGeom>
          <a:noFill/>
        </p:spPr>
        <p:txBody>
          <a:bodyPr wrap="square" lIns="0" rIns="0" tIns="0" bIns="0" anchor="t">
            <a:spAutoFit/>
          </a:bodyPr>
          <a:lstStyle/>
          <a:p>
            <a:pPr algn="l">
              <a:lnSpc>
                <a:spcPct val="142000"/>
              </a:lnSpc>
            </a:pPr>
            <a:r>
              <a:rPr sz="1800" b="0" i="0">
                <a:solidFill>
                  <a:srgbClr val="3A3D40"/>
                </a:solidFill>
                <a:latin typeface="Verdana"/>
              </a:rPr>
              <a:t>Une notion précise, envoyée à une personne. « Pourquoi est-ce que je me trompe encore là-dessus ? » Personne n'est à côté : l'explication est dans l'écran.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718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1874519"/>
            <a:ext cx="11057839" cy="292608"/>
          </a:xfrm>
          <a:prstGeom prst="rect">
            <a:avLst/>
          </a:prstGeom>
          <a:noFill/>
        </p:spPr>
        <p:txBody>
          <a:bodyPr wrap="square" lIns="0" rIns="0" tIns="0" bIns="0" anchor="t">
            <a:spAutoFit/>
          </a:bodyPr>
          <a:lstStyle/>
          <a:p>
            <a:pPr algn="l">
              <a:lnSpc>
                <a:spcPct val="135000"/>
              </a:lnSpc>
            </a:pPr>
            <a:r>
              <a:rPr sz="1300" b="1" i="0" spc="182">
                <a:solidFill>
                  <a:srgbClr val="0A8F5B"/>
                </a:solidFill>
                <a:latin typeface="Verdana"/>
              </a:rPr>
              <a:t>TROISIÈME TEMPS</a:t>
            </a:r>
          </a:p>
        </p:txBody>
      </p:sp>
      <p:sp>
        <p:nvSpPr>
          <p:cNvPr id="4" name="TextBox 3"/>
          <p:cNvSpPr txBox="1"/>
          <p:nvPr/>
        </p:nvSpPr>
        <p:spPr>
          <a:xfrm>
            <a:off x="566928" y="2331720"/>
            <a:ext cx="10509199" cy="1783080"/>
          </a:xfrm>
          <a:prstGeom prst="rect">
            <a:avLst/>
          </a:prstGeom>
          <a:noFill/>
        </p:spPr>
        <p:txBody>
          <a:bodyPr wrap="square" lIns="0" rIns="0" tIns="0" bIns="0" anchor="t">
            <a:spAutoFit/>
          </a:bodyPr>
          <a:lstStyle/>
          <a:p>
            <a:pPr algn="l">
              <a:lnSpc>
                <a:spcPct val="102000"/>
              </a:lnSpc>
            </a:pPr>
            <a:r>
              <a:rPr sz="5200" b="1" i="0">
                <a:solidFill>
                  <a:srgbClr val="FFFFFF"/>
                </a:solidFill>
                <a:latin typeface="Verdana"/>
              </a:rPr>
              <a:t>Ce que ça coûte</a:t>
            </a:r>
          </a:p>
        </p:txBody>
      </p:sp>
      <p:sp>
        <p:nvSpPr>
          <p:cNvPr id="5" name="Rectangle 4"/>
          <p:cNvSpPr/>
          <p:nvPr/>
        </p:nvSpPr>
        <p:spPr>
          <a:xfrm>
            <a:off x="566928" y="4343400"/>
            <a:ext cx="1005840" cy="45720"/>
          </a:xfrm>
          <a:prstGeom prst="rect">
            <a:avLst/>
          </a:prstGeom>
          <a:solidFill>
            <a:srgbClr val="0A8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4617720"/>
            <a:ext cx="8680399" cy="1005840"/>
          </a:xfrm>
          <a:prstGeom prst="rect">
            <a:avLst/>
          </a:prstGeom>
          <a:noFill/>
        </p:spPr>
        <p:txBody>
          <a:bodyPr wrap="square" lIns="0" rIns="0" tIns="0" bIns="0" anchor="t">
            <a:spAutoFit/>
          </a:bodyPr>
          <a:lstStyle/>
          <a:p>
            <a:pPr algn="l">
              <a:lnSpc>
                <a:spcPct val="145000"/>
              </a:lnSpc>
            </a:pPr>
            <a:r>
              <a:rPr sz="2000" b="0" i="0">
                <a:solidFill>
                  <a:srgbClr val="D6D6D2"/>
                </a:solidFill>
                <a:latin typeface="Verdana"/>
              </a:rPr>
              <a:t>Dix écrans, pas soixante-dix-sept. La question s'est posée autrement au départ, et le calcul a tranché.</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P4 · francis · présentation</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11</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LE CALCUL</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2800" b="1" i="0">
                <a:solidFill>
                  <a:srgbClr val="17181A"/>
                </a:solidFill>
                <a:latin typeface="Verdana"/>
              </a:rPr>
              <a:t>Pourquoi on ne refait pas les modules dans cette forme</a:t>
            </a:r>
          </a:p>
        </p:txBody>
      </p:sp>
      <p:sp>
        <p:nvSpPr>
          <p:cNvPr id="7" name="Rounded Rectangle 6"/>
          <p:cNvSpPr/>
          <p:nvPr/>
        </p:nvSpPr>
        <p:spPr>
          <a:xfrm>
            <a:off x="566928" y="1810512"/>
            <a:ext cx="11057839" cy="2798064"/>
          </a:xfrm>
          <a:prstGeom prst="roundRect">
            <a:avLst>
              <a:gd name="adj" fmla="val 522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75104"/>
            <a:ext cx="3222650"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
            </a:r>
          </a:p>
        </p:txBody>
      </p:sp>
      <p:sp>
        <p:nvSpPr>
          <p:cNvPr id="9" name="TextBox 8"/>
          <p:cNvSpPr txBox="1"/>
          <p:nvPr/>
        </p:nvSpPr>
        <p:spPr>
          <a:xfrm>
            <a:off x="4374794" y="1975104"/>
            <a:ext cx="3222650"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
            </a:r>
          </a:p>
        </p:txBody>
      </p:sp>
      <p:sp>
        <p:nvSpPr>
          <p:cNvPr id="10" name="TextBox 9"/>
          <p:cNvSpPr txBox="1"/>
          <p:nvPr/>
        </p:nvSpPr>
        <p:spPr>
          <a:xfrm>
            <a:off x="7816900" y="1975104"/>
            <a:ext cx="3222650"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ÉCRANS</a:t>
            </a:r>
          </a:p>
        </p:txBody>
      </p:sp>
      <p:sp>
        <p:nvSpPr>
          <p:cNvPr id="11" name="TextBox 10"/>
          <p:cNvSpPr txBox="1"/>
          <p:nvPr/>
        </p:nvSpPr>
        <p:spPr>
          <a:xfrm>
            <a:off x="932688" y="2395728"/>
            <a:ext cx="3222650"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Un module entier</a:t>
            </a:r>
          </a:p>
        </p:txBody>
      </p:sp>
      <p:sp>
        <p:nvSpPr>
          <p:cNvPr id="12" name="TextBox 11"/>
          <p:cNvSpPr txBox="1"/>
          <p:nvPr/>
        </p:nvSpPr>
        <p:spPr>
          <a:xfrm>
            <a:off x="4374794" y="2395728"/>
            <a:ext cx="3222650"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six sections, trois défis</a:t>
            </a:r>
          </a:p>
        </p:txBody>
      </p:sp>
      <p:sp>
        <p:nvSpPr>
          <p:cNvPr id="13" name="TextBox 12"/>
          <p:cNvSpPr txBox="1"/>
          <p:nvPr/>
        </p:nvSpPr>
        <p:spPr>
          <a:xfrm>
            <a:off x="7816900" y="2395728"/>
            <a:ext cx="3222650"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~77</a:t>
            </a:r>
          </a:p>
        </p:txBody>
      </p:sp>
      <p:sp>
        <p:nvSpPr>
          <p:cNvPr id="14" name="Rectangle 13"/>
          <p:cNvSpPr/>
          <p:nvPr/>
        </p:nvSpPr>
        <p:spPr>
          <a:xfrm>
            <a:off x="932688" y="2807208"/>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932688" y="2935224"/>
            <a:ext cx="3222650"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Le catalogue</a:t>
            </a:r>
          </a:p>
        </p:txBody>
      </p:sp>
      <p:sp>
        <p:nvSpPr>
          <p:cNvPr id="16" name="TextBox 15"/>
          <p:cNvSpPr txBox="1"/>
          <p:nvPr/>
        </p:nvSpPr>
        <p:spPr>
          <a:xfrm>
            <a:off x="4374794" y="2935224"/>
            <a:ext cx="3222650"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les 87 modules</a:t>
            </a:r>
          </a:p>
        </p:txBody>
      </p:sp>
      <p:sp>
        <p:nvSpPr>
          <p:cNvPr id="17" name="TextBox 16"/>
          <p:cNvSpPr txBox="1"/>
          <p:nvPr/>
        </p:nvSpPr>
        <p:spPr>
          <a:xfrm>
            <a:off x="7816900" y="2935224"/>
            <a:ext cx="3222650"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~6 700</a:t>
            </a:r>
          </a:p>
        </p:txBody>
      </p:sp>
      <p:sp>
        <p:nvSpPr>
          <p:cNvPr id="18" name="Rectangle 17"/>
          <p:cNvSpPr/>
          <p:nvPr/>
        </p:nvSpPr>
        <p:spPr>
          <a:xfrm>
            <a:off x="932688" y="3346704"/>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932688" y="3474720"/>
            <a:ext cx="3222650"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Un point express</a:t>
            </a:r>
          </a:p>
        </p:txBody>
      </p:sp>
      <p:sp>
        <p:nvSpPr>
          <p:cNvPr id="20" name="TextBox 19"/>
          <p:cNvSpPr txBox="1"/>
          <p:nvPr/>
        </p:nvSpPr>
        <p:spPr>
          <a:xfrm>
            <a:off x="4374794" y="3474720"/>
            <a:ext cx="3222650"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un savoir, dix minutes</a:t>
            </a:r>
          </a:p>
        </p:txBody>
      </p:sp>
      <p:sp>
        <p:nvSpPr>
          <p:cNvPr id="21" name="TextBox 20"/>
          <p:cNvSpPr txBox="1"/>
          <p:nvPr/>
        </p:nvSpPr>
        <p:spPr>
          <a:xfrm>
            <a:off x="7816900" y="3474720"/>
            <a:ext cx="3222650"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~10</a:t>
            </a:r>
          </a:p>
        </p:txBody>
      </p:sp>
      <p:sp>
        <p:nvSpPr>
          <p:cNvPr id="22" name="Rectangle 21"/>
          <p:cNvSpPr/>
          <p:nvPr/>
        </p:nvSpPr>
        <p:spPr>
          <a:xfrm>
            <a:off x="932688" y="3886200"/>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932688" y="4014215"/>
            <a:ext cx="3222650"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Quatorze points</a:t>
            </a:r>
          </a:p>
        </p:txBody>
      </p:sp>
      <p:sp>
        <p:nvSpPr>
          <p:cNvPr id="24" name="TextBox 23"/>
          <p:cNvSpPr txBox="1"/>
          <p:nvPr/>
        </p:nvSpPr>
        <p:spPr>
          <a:xfrm>
            <a:off x="4374794" y="4014215"/>
            <a:ext cx="3222650"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ce qui coince le plus</a:t>
            </a:r>
          </a:p>
        </p:txBody>
      </p:sp>
      <p:sp>
        <p:nvSpPr>
          <p:cNvPr id="25" name="TextBox 24"/>
          <p:cNvSpPr txBox="1"/>
          <p:nvPr/>
        </p:nvSpPr>
        <p:spPr>
          <a:xfrm>
            <a:off x="7816900" y="4014215"/>
            <a:ext cx="3222650"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~140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P4 · francis · présentation</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12</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COÛT MÉDIA</a:t>
            </a:r>
          </a:p>
        </p:txBody>
      </p:sp>
      <p:sp>
        <p:nvSpPr>
          <p:cNvPr id="6" name="Rounded Rectangle 5"/>
          <p:cNvSpPr/>
          <p:nvPr/>
        </p:nvSpPr>
        <p:spPr>
          <a:xfrm>
            <a:off x="566928" y="1225296"/>
            <a:ext cx="11057839" cy="1967991"/>
          </a:xfrm>
          <a:prstGeom prst="roundRect">
            <a:avLst>
              <a:gd name="adj" fmla="val 7434"/>
            </a:avLst>
          </a:prstGeom>
          <a:solidFill>
            <a:srgbClr val="DCF2E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298448" y="1682496"/>
            <a:ext cx="9594799" cy="1145032"/>
          </a:xfrm>
          <a:prstGeom prst="rect">
            <a:avLst/>
          </a:prstGeom>
          <a:noFill/>
        </p:spPr>
        <p:txBody>
          <a:bodyPr wrap="square" lIns="0" rIns="0" tIns="0" bIns="0" anchor="t">
            <a:spAutoFit/>
          </a:bodyPr>
          <a:lstStyle/>
          <a:p>
            <a:pPr algn="l">
              <a:lnSpc>
                <a:spcPct val="122000"/>
              </a:lnSpc>
            </a:pPr>
            <a:r>
              <a:rPr sz="3400" b="1" i="0">
                <a:solidFill>
                  <a:srgbClr val="17181A"/>
                </a:solidFill>
                <a:latin typeface="Verdana"/>
              </a:rPr>
              <a:t>Un point express ne fait produire aucun son, aucune image.</a:t>
            </a:r>
          </a:p>
        </p:txBody>
      </p:sp>
      <p:sp>
        <p:nvSpPr>
          <p:cNvPr id="8" name="Rounded Rectangle 7"/>
          <p:cNvSpPr/>
          <p:nvPr/>
        </p:nvSpPr>
        <p:spPr>
          <a:xfrm>
            <a:off x="566928" y="3467607"/>
            <a:ext cx="11057839" cy="1303528"/>
          </a:xfrm>
          <a:prstGeom prst="roundRect">
            <a:avLst>
              <a:gd name="adj" fmla="val 11223"/>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69264" y="3741927"/>
            <a:ext cx="10234879" cy="846327"/>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Il rejoue les extraits déjà en place — 21 403 fichiers sonores — et n'en copie aucun.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718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1874519"/>
            <a:ext cx="11057839" cy="292608"/>
          </a:xfrm>
          <a:prstGeom prst="rect">
            <a:avLst/>
          </a:prstGeom>
          <a:noFill/>
        </p:spPr>
        <p:txBody>
          <a:bodyPr wrap="square" lIns="0" rIns="0" tIns="0" bIns="0" anchor="t">
            <a:spAutoFit/>
          </a:bodyPr>
          <a:lstStyle/>
          <a:p>
            <a:pPr algn="l">
              <a:lnSpc>
                <a:spcPct val="135000"/>
              </a:lnSpc>
            </a:pPr>
            <a:r>
              <a:rPr sz="1300" b="1" i="0" spc="182">
                <a:solidFill>
                  <a:srgbClr val="0A8F5B"/>
                </a:solidFill>
                <a:latin typeface="Verdana"/>
              </a:rPr>
              <a:t>QUATRIÈME TEMPS</a:t>
            </a:r>
          </a:p>
        </p:txBody>
      </p:sp>
      <p:sp>
        <p:nvSpPr>
          <p:cNvPr id="4" name="TextBox 3"/>
          <p:cNvSpPr txBox="1"/>
          <p:nvPr/>
        </p:nvSpPr>
        <p:spPr>
          <a:xfrm>
            <a:off x="566928" y="2331720"/>
            <a:ext cx="10509199" cy="1783080"/>
          </a:xfrm>
          <a:prstGeom prst="rect">
            <a:avLst/>
          </a:prstGeom>
          <a:noFill/>
        </p:spPr>
        <p:txBody>
          <a:bodyPr wrap="square" lIns="0" rIns="0" tIns="0" bIns="0" anchor="t">
            <a:spAutoFit/>
          </a:bodyPr>
          <a:lstStyle/>
          <a:p>
            <a:pPr algn="l">
              <a:lnSpc>
                <a:spcPct val="102000"/>
              </a:lnSpc>
            </a:pPr>
            <a:r>
              <a:rPr sz="5200" b="1" i="0">
                <a:solidFill>
                  <a:srgbClr val="FFFFFF"/>
                </a:solidFill>
                <a:latin typeface="Verdana"/>
              </a:rPr>
              <a:t>Où en est le chantier</a:t>
            </a:r>
          </a:p>
        </p:txBody>
      </p:sp>
      <p:sp>
        <p:nvSpPr>
          <p:cNvPr id="5" name="Rectangle 4"/>
          <p:cNvSpPr/>
          <p:nvPr/>
        </p:nvSpPr>
        <p:spPr>
          <a:xfrm>
            <a:off x="566928" y="4343400"/>
            <a:ext cx="1005840" cy="45720"/>
          </a:xfrm>
          <a:prstGeom prst="rect">
            <a:avLst/>
          </a:prstGeom>
          <a:solidFill>
            <a:srgbClr val="0A8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4617720"/>
            <a:ext cx="8680399" cy="1005840"/>
          </a:xfrm>
          <a:prstGeom prst="rect">
            <a:avLst/>
          </a:prstGeom>
          <a:noFill/>
        </p:spPr>
        <p:txBody>
          <a:bodyPr wrap="square" lIns="0" rIns="0" tIns="0" bIns="0" anchor="t">
            <a:spAutoFit/>
          </a:bodyPr>
          <a:lstStyle/>
          <a:p>
            <a:pPr algn="l">
              <a:lnSpc>
                <a:spcPct val="145000"/>
              </a:lnSpc>
            </a:pPr>
            <a:r>
              <a:rPr sz="2000" b="0" i="0">
                <a:solidFill>
                  <a:srgbClr val="D6D6D2"/>
                </a:solidFill>
                <a:latin typeface="Verdana"/>
              </a:rPr>
              <a:t>Le moteur tourne et les premiers points se jouent. Ce qui manque est le chaînon du milieu, et il est court.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P4 · francis · présentation</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14</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L'ÉTAT</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Fait, à faire, plus tard</a:t>
            </a:r>
          </a:p>
        </p:txBody>
      </p:sp>
      <p:sp>
        <p:nvSpPr>
          <p:cNvPr id="7" name="Rounded Rectangle 6"/>
          <p:cNvSpPr/>
          <p:nvPr/>
        </p:nvSpPr>
        <p:spPr>
          <a:xfrm>
            <a:off x="566928" y="1810512"/>
            <a:ext cx="11057839" cy="3163824"/>
          </a:xfrm>
          <a:prstGeom prst="roundRect">
            <a:avLst>
              <a:gd name="adj" fmla="val 462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75104"/>
            <a:ext cx="3291492"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
            </a:r>
          </a:p>
        </p:txBody>
      </p:sp>
      <p:sp>
        <p:nvSpPr>
          <p:cNvPr id="9" name="TextBox 8"/>
          <p:cNvSpPr txBox="1"/>
          <p:nvPr/>
        </p:nvSpPr>
        <p:spPr>
          <a:xfrm>
            <a:off x="4443636" y="1975104"/>
            <a:ext cx="6595914"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CE QUE ÇA COUVRE</a:t>
            </a:r>
          </a:p>
        </p:txBody>
      </p:sp>
      <p:sp>
        <p:nvSpPr>
          <p:cNvPr id="10" name="TextBox 9"/>
          <p:cNvSpPr txBox="1"/>
          <p:nvPr/>
        </p:nvSpPr>
        <p:spPr>
          <a:xfrm>
            <a:off x="932688" y="2395728"/>
            <a:ext cx="3291492" cy="640080"/>
          </a:xfrm>
          <a:prstGeom prst="rect">
            <a:avLst/>
          </a:prstGeom>
          <a:noFill/>
        </p:spPr>
        <p:txBody>
          <a:bodyPr wrap="square" lIns="0" rIns="0" tIns="0" bIns="0" anchor="t">
            <a:spAutoFit/>
          </a:bodyPr>
          <a:lstStyle/>
          <a:p>
            <a:pPr algn="l">
              <a:lnSpc>
                <a:spcPct val="132000"/>
              </a:lnSpc>
            </a:pPr>
            <a:r>
              <a:rPr sz="1800" b="1" i="0">
                <a:solidFill>
                  <a:srgbClr val="0D7A6F"/>
                </a:solidFill>
                <a:latin typeface="Verdana"/>
              </a:rPr>
              <a:t>Fait</a:t>
            </a:r>
          </a:p>
        </p:txBody>
      </p:sp>
      <p:sp>
        <p:nvSpPr>
          <p:cNvPr id="11" name="TextBox 10"/>
          <p:cNvSpPr txBox="1"/>
          <p:nvPr/>
        </p:nvSpPr>
        <p:spPr>
          <a:xfrm>
            <a:off x="4443636" y="2395728"/>
            <a:ext cx="6595914" cy="640080"/>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Le moteur et ses trois types d'écran. 6 points jouables, 60 écrans écrits.</a:t>
            </a:r>
          </a:p>
        </p:txBody>
      </p:sp>
      <p:sp>
        <p:nvSpPr>
          <p:cNvPr id="12" name="Rectangle 11"/>
          <p:cNvSpPr/>
          <p:nvPr/>
        </p:nvSpPr>
        <p:spPr>
          <a:xfrm>
            <a:off x="932688" y="3108960"/>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932688" y="3236976"/>
            <a:ext cx="3291492" cy="640080"/>
          </a:xfrm>
          <a:prstGeom prst="rect">
            <a:avLst/>
          </a:prstGeom>
          <a:noFill/>
        </p:spPr>
        <p:txBody>
          <a:bodyPr wrap="square" lIns="0" rIns="0" tIns="0" bIns="0" anchor="t">
            <a:spAutoFit/>
          </a:bodyPr>
          <a:lstStyle/>
          <a:p>
            <a:pPr algn="l">
              <a:lnSpc>
                <a:spcPct val="132000"/>
              </a:lnSpc>
            </a:pPr>
            <a:r>
              <a:rPr sz="1800" b="1" i="0">
                <a:solidFill>
                  <a:srgbClr val="0D7A6F"/>
                </a:solidFill>
                <a:latin typeface="Verdana"/>
              </a:rPr>
              <a:t>À faire</a:t>
            </a:r>
          </a:p>
        </p:txBody>
      </p:sp>
      <p:sp>
        <p:nvSpPr>
          <p:cNvPr id="14" name="TextBox 13"/>
          <p:cNvSpPr txBox="1"/>
          <p:nvPr/>
        </p:nvSpPr>
        <p:spPr>
          <a:xfrm>
            <a:off x="4443636" y="3236976"/>
            <a:ext cx="6595914" cy="640080"/>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L'envoi : le bouton chez l'enseignant, la bande chez l'élève, le retour du résultat.</a:t>
            </a:r>
          </a:p>
        </p:txBody>
      </p:sp>
      <p:sp>
        <p:nvSpPr>
          <p:cNvPr id="15" name="Rectangle 14"/>
          <p:cNvSpPr/>
          <p:nvPr/>
        </p:nvSpPr>
        <p:spPr>
          <a:xfrm>
            <a:off x="932688" y="3950208"/>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32688" y="4078224"/>
            <a:ext cx="3291492" cy="640080"/>
          </a:xfrm>
          <a:prstGeom prst="rect">
            <a:avLst/>
          </a:prstGeom>
          <a:noFill/>
        </p:spPr>
        <p:txBody>
          <a:bodyPr wrap="square" lIns="0" rIns="0" tIns="0" bIns="0" anchor="t">
            <a:spAutoFit/>
          </a:bodyPr>
          <a:lstStyle/>
          <a:p>
            <a:pPr algn="l">
              <a:lnSpc>
                <a:spcPct val="132000"/>
              </a:lnSpc>
            </a:pPr>
            <a:r>
              <a:rPr sz="1800" b="1" i="0">
                <a:solidFill>
                  <a:srgbClr val="0D7A6F"/>
                </a:solidFill>
                <a:latin typeface="Verdana"/>
              </a:rPr>
              <a:t>Plus tard</a:t>
            </a:r>
          </a:p>
        </p:txBody>
      </p:sp>
      <p:sp>
        <p:nvSpPr>
          <p:cNvPr id="17" name="TextBox 16"/>
          <p:cNvSpPr txBox="1"/>
          <p:nvPr/>
        </p:nvSpPr>
        <p:spPr>
          <a:xfrm>
            <a:off x="4443636" y="4078224"/>
            <a:ext cx="6595914" cy="640080"/>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Étiqueter les exercices par savoir, pour proposer — sans jamais décider.</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P4 · francis · présentation</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15</a:t>
            </a:r>
          </a:p>
        </p:txBody>
      </p:sp>
      <p:sp>
        <p:nvSpPr>
          <p:cNvPr id="5" name="Rectangle 4"/>
          <p:cNvSpPr/>
          <p:nvPr/>
        </p:nvSpPr>
        <p:spPr>
          <a:xfrm>
            <a:off x="0" y="0"/>
            <a:ext cx="12191695" cy="6858000"/>
          </a:xfrm>
          <a:prstGeom prst="rect">
            <a:avLst/>
          </a:prstGeom>
          <a:solidFill>
            <a:srgbClr val="1718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1051560"/>
            <a:ext cx="11057839" cy="274320"/>
          </a:xfrm>
          <a:prstGeom prst="rect">
            <a:avLst/>
          </a:prstGeom>
          <a:noFill/>
        </p:spPr>
        <p:txBody>
          <a:bodyPr wrap="square" lIns="0" rIns="0" tIns="0" bIns="0" anchor="t">
            <a:spAutoFit/>
          </a:bodyPr>
          <a:lstStyle/>
          <a:p>
            <a:pPr algn="l">
              <a:lnSpc>
                <a:spcPct val="135000"/>
              </a:lnSpc>
            </a:pPr>
            <a:r>
              <a:rPr sz="1300" b="1" i="0" spc="156">
                <a:solidFill>
                  <a:srgbClr val="FFFFFF"/>
                </a:solidFill>
                <a:latin typeface="Verdana"/>
              </a:rPr>
              <a:t>BILLET DE SORTIE</a:t>
            </a:r>
          </a:p>
        </p:txBody>
      </p:sp>
      <p:sp>
        <p:nvSpPr>
          <p:cNvPr id="7" name="TextBox 6"/>
          <p:cNvSpPr txBox="1"/>
          <p:nvPr/>
        </p:nvSpPr>
        <p:spPr>
          <a:xfrm>
            <a:off x="566928" y="1572768"/>
            <a:ext cx="9777679" cy="2103120"/>
          </a:xfrm>
          <a:prstGeom prst="rect">
            <a:avLst/>
          </a:prstGeom>
          <a:noFill/>
        </p:spPr>
        <p:txBody>
          <a:bodyPr wrap="square" lIns="0" rIns="0" tIns="0" bIns="0" anchor="t">
            <a:spAutoFit/>
          </a:bodyPr>
          <a:lstStyle/>
          <a:p>
            <a:pPr algn="l">
              <a:lnSpc>
                <a:spcPct val="125000"/>
              </a:lnSpc>
            </a:pPr>
            <a:r>
              <a:rPr sz="3100" b="1" i="0">
                <a:solidFill>
                  <a:srgbClr val="FFFFFF"/>
                </a:solidFill>
                <a:latin typeface="Verdana"/>
              </a:rPr>
              <a:t>Ce qu'on peut essayer dès demain : ouvrir un point express sur un téléphone, devant la classe, et le faire jusqu'au bout. Il dure dix minutes.</a:t>
            </a:r>
          </a:p>
        </p:txBody>
      </p:sp>
      <p:sp>
        <p:nvSpPr>
          <p:cNvPr id="8" name="TextBox 7"/>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P4 · francis · présentation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