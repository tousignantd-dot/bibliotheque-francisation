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destinée aux collègues enseignants. L'objectif n'est pas de vendre un produit fini, mais de partager une méthode de travail et un outil réutilisable : la fiche d'alignement.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franchise du point 1 est ce qui rend le point 3 crédible. Ne pas prétendre avoir suivi ADDIE depuis le début.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charnière. C'est la ligne Kirkpatrick qui ouvre toute la troisième partie.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Fin. Ouvrir la discussion sur la fiche d'alignement : c'est le seul élément que les collègues peuvent adopter dès demain, sans rien changer d'autre à leur pratique.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Annexe distribuée en fin de rencontre. Une feuille par activité ; elle tient en dix minutes si le programme dépouillé est ouvert à côté.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F212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773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DE FRANCISATION · NIVEAU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Concevoir pour des adultes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francisation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nos modules doivent aux théories de la conception pédagogique — et la méthode que j'adopte à partir de maintenant.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Tousignant  ·  15 août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je viens vous dire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2103120"/>
            <a:ext cx="457200" cy="45720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1911096"/>
            <a:ext cx="9445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Nous avons travaillé à l'envers.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45920" y="2267712"/>
            <a:ext cx="9354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 modules ont été développés avant qu'une analyse formelle des besoins n'existe. C'est l'inverse de ce que prescrit n'importe quel manuel de conception pédagogique.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72968"/>
            <a:ext cx="1090879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3584448"/>
            <a:ext cx="457200" cy="45720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3392424"/>
            <a:ext cx="9445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 tient quand même.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45920" y="3749040"/>
            <a:ext cx="9354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 que le programme de francisation du Québec a été introduit en cours de route comme garde-fou, et parce que les décisions de design, prises à l'instinct, recoupent Mayer, Gagné et Merrill de très près.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654296"/>
            <a:ext cx="1090879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5065776"/>
            <a:ext cx="457200" cy="45720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4873752"/>
            <a:ext cx="9445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il manque le maillon final.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45920" y="5230368"/>
            <a:ext cx="9354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ne mesurons rien. Aucun de nos modules ne peut dire s'il a fonctionné. C'est ce que je propose de corriger, et ça change notre façon de commencer un module.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PARTIE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633472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apprend, ici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fait commande tout le reste : nos élèves sont des adultes pressés.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354312" y="21031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public réel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43584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les théories : à qui s'adresse chaque page que nous écrivons.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7151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402336" cy="402336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39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adultes, pas des élèves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45399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arrivent avec un métier exercé ailleurs, une famille, un logement à trouver. Leur expérience est une ressource, pas un vide à combler.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7356" y="1828800"/>
            <a:ext cx="527151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3116" y="2194560"/>
            <a:ext cx="402336" cy="402336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1" name="Text 9"/>
          <p:cNvSpPr/>
          <p:nvPr/>
        </p:nvSpPr>
        <p:spPr>
          <a:xfrm>
            <a:off x="6643116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43116" y="2697480"/>
            <a:ext cx="4539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besoin daté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43116" y="3017520"/>
            <a:ext cx="45399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français leur sert cette semaine — à la pharmacie, au CPE, devant un propriétaire. Pas dans deux ans.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7151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297680"/>
            <a:ext cx="402336" cy="402336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800600"/>
            <a:ext cx="4539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disponibilités inégales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5120640"/>
            <a:ext cx="45399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Travail, garde, transport, rendez-vous d'installation. L'absence n'est presque jamais du désengagement.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77356" y="3931920"/>
            <a:ext cx="527151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43116" y="4297680"/>
            <a:ext cx="402336" cy="402336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21" name="Text 19"/>
          <p:cNvSpPr/>
          <p:nvPr/>
        </p:nvSpPr>
        <p:spPr>
          <a:xfrm>
            <a:off x="6643116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43116" y="4800600"/>
            <a:ext cx="4539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rapport à l'écrit très variable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43116" y="5120640"/>
            <a:ext cx="45399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même groupe : trois ans de scolarité et un diplôme universitaire. La même page doit servir aux deux.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Knowles : l'andragogie, vérifiée dans le matériel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43584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supposition sur l'apprenant adulte, confrontée à une décision de conception déjà prise.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151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21992"/>
            <a:ext cx="146304" cy="146304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965960"/>
            <a:ext cx="4357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besoin de savoir pourquoi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286000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module s'ouvre sur une situation datée : Josée doit comprendre la météo avant son quart de nuit.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783080"/>
            <a:ext cx="527151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97396" y="2221992"/>
            <a:ext cx="146304" cy="146304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0" name="Text 8"/>
          <p:cNvSpPr/>
          <p:nvPr/>
        </p:nvSpPr>
        <p:spPr>
          <a:xfrm>
            <a:off x="6871716" y="1965960"/>
            <a:ext cx="4357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concept de soi autodirigé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71716" y="2286000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mode autonome : l'élève avance seul, à son rythme, et reprend là où il a quitté.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09544"/>
            <a:ext cx="527151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3648456"/>
            <a:ext cx="146304" cy="146304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392424"/>
            <a:ext cx="4357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L'expérience comme ressource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712464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situations de vie du programme — se loger, se soigner, travailler — pas des thèmes scolaires.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3209544"/>
            <a:ext cx="527151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7396" y="3648456"/>
            <a:ext cx="146304" cy="146304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8" name="Text 16"/>
          <p:cNvSpPr/>
          <p:nvPr/>
        </p:nvSpPr>
        <p:spPr>
          <a:xfrm>
            <a:off x="6871716" y="3392424"/>
            <a:ext cx="4357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disposition liée au rôle social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71716" y="3712464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séquence des modules suit l'ordre des tâches réelles de l'installation au Québec.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636008"/>
            <a:ext cx="527151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5074920"/>
            <a:ext cx="146304" cy="146304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4818888"/>
            <a:ext cx="4357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orientation vers la tâche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138928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n'apprend pas « le conditionnel » : on apprend à demander un service poliment.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77356" y="4636008"/>
            <a:ext cx="527151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97396" y="5074920"/>
            <a:ext cx="146304" cy="146304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26" name="Text 24"/>
          <p:cNvSpPr/>
          <p:nvPr/>
        </p:nvSpPr>
        <p:spPr>
          <a:xfrm>
            <a:off x="6871716" y="4818888"/>
            <a:ext cx="4357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motivation interne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71716" y="5138928"/>
            <a:ext cx="43571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réussite se mesure à une tâche accomplie dans la vraie vie, pas à une note sur cent.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choses que nous avons refusées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43584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conception se définit autant par ses renoncements que par ses ajouts.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2904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331720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599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L'exercice décontextualisé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3794760"/>
            <a:ext cx="2599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trou à remplir n'apprend pas à parler au comptoir d'une pharmacie. Toute pratique est logée dans une scène complète.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3024" y="1920240"/>
            <a:ext cx="3422904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94504" y="233172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4794504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94504" y="3108960"/>
            <a:ext cx="2599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contenu recopié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94504" y="3794760"/>
            <a:ext cx="2599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manuel sert de modèle de structure et de progression grammaticale. Les scènes, les personnages et les dialogues sont écrits à neuf.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5968" y="1920240"/>
            <a:ext cx="3422904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37448" y="2331720"/>
            <a:ext cx="566928" cy="566928"/>
          </a:xfrm>
          <a:prstGeom prst="ellipse">
            <a:avLst/>
          </a:prstGeom>
          <a:solidFill>
            <a:srgbClr val="1D6B8F"/>
          </a:solidFill>
          <a:ln/>
        </p:spPr>
      </p:sp>
      <p:sp>
        <p:nvSpPr>
          <p:cNvPr id="16" name="Text 14"/>
          <p:cNvSpPr/>
          <p:nvPr/>
        </p:nvSpPr>
        <p:spPr>
          <a:xfrm>
            <a:off x="853744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37448" y="3108960"/>
            <a:ext cx="2599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gamification décorative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37448" y="3794760"/>
            <a:ext cx="2599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points et des badges greffés sur un exercice ne le rendent pas signifiant. Notre moteur d'engagement, c'est la rétroaction immédiate.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0749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troisième refus est le plus discuté : la gamification revient souvent dans la littérature. Nous l'avons écartée faute de preuve qu'elle survive à la nouveauté.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garde-fou : le programme, en entier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43584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d'études Francisation, MEQ 2015 — dépouillé et interrogeable.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E6F5EE"/>
          </a:solidFill>
          <a:ln w="9525">
            <a:solidFill>
              <a:srgbClr val="D8E8DF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2874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035808"/>
            <a:ext cx="2874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niveaux, de LAN-1019-2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LAN-5089-10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3024" y="192024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E6F5EE"/>
          </a:solidFill>
          <a:ln w="9525">
            <a:solidFill>
              <a:srgbClr val="D8E8DF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57344" y="2148840"/>
            <a:ext cx="2874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273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657344" y="3035808"/>
            <a:ext cx="2874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intentions de communication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rattachées à leurs compétences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25968" y="192024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E6F5EE"/>
          </a:solidFill>
          <a:ln w="9525">
            <a:solidFill>
              <a:srgbClr val="D8E8DF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00288" y="2148840"/>
            <a:ext cx="2874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1 337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400288" y="3035808"/>
            <a:ext cx="2874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savoir : grammaire,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phonétique, lexique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109087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ça change concrètement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4663440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savoir ne va dans un module que s'il est prescrit à ce niveau — vérifié, pas supposé.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intentions de communication d'une thématique se retrouvent en une requête, pas de mémoire.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activité peut être justifiée devant un conseiller pédagogique, référence à l'appui.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DEUXIÈME PARTIE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633472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le matériel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 déjà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Relire nos choix de design à travers Gagné, Mayer et Merrill — y compris là où ça accroche.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354312" y="21031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Gagné : nos quatre sections sont ses neuf événements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43584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nomenclature n'a pas été tirée de Gagné — elle s'y superpose pourtant presque exactement.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41858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075688"/>
            <a:ext cx="1906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découvre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2532888"/>
            <a:ext cx="19613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Attirer l'attention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Informer de l'objectif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Rappeler les acquis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76956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0148" y="1874520"/>
            <a:ext cx="241858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26180" y="2075688"/>
            <a:ext cx="1906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 1 à 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26180" y="2532888"/>
            <a:ext cx="19613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Présenter le contenu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Guider l'apprentissage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Susciter la performance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07024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0216" y="1874520"/>
            <a:ext cx="241858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56248" y="2075688"/>
            <a:ext cx="1906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56248" y="2532888"/>
            <a:ext cx="19613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Fournir la rétroaction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Évaluer la performance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37092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30284" y="1874520"/>
            <a:ext cx="2418588" cy="2240280"/>
          </a:xfrm>
          <a:prstGeom prst="roundRect">
            <a:avLst>
              <a:gd name="adj" fmla="val 3265"/>
            </a:avLst>
          </a:prstGeom>
          <a:solidFill>
            <a:srgbClr val="FBEEDC"/>
          </a:solidFill>
          <a:ln w="9525">
            <a:solidFill>
              <a:srgbClr val="E8C89A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86316" y="2075688"/>
            <a:ext cx="1906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me lance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86316" y="2532888"/>
            <a:ext cx="19613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Favoriser la rétention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et le transfert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FEF6E7"/>
          </a:solidFill>
          <a:ln w="9525">
            <a:solidFill>
              <a:srgbClr val="E8C89A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5156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2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neuvième événement est notre maillon faible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4956048"/>
            <a:ext cx="10085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4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Rien, aujourd'hui, ne ramène l'élève au contenu une semaine plus tard. La rétention est laissée au hasard des séances suivantes, et le transfert repose entièrement sur la bonne volonté de « Je me lance ».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Mayer : six principes, six règles de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43584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ne sont pas des goûts esthétiques — chaque règle réduit une charge cognitive identifiée dans notre système de design.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290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03120"/>
            <a:ext cx="365760" cy="36576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08176" y="2103120"/>
            <a:ext cx="2417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Modalité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578608"/>
            <a:ext cx="2837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dialogue s'entend, l'image se voit. Jamais le même texte à l'écran et dans l'oreille.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3024" y="1828800"/>
            <a:ext cx="342290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5632" y="2103120"/>
            <a:ext cx="365760" cy="36576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1" name="Text 9"/>
          <p:cNvSpPr/>
          <p:nvPr/>
        </p:nvSpPr>
        <p:spPr>
          <a:xfrm>
            <a:off x="4675632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51120" y="2103120"/>
            <a:ext cx="2417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Redondance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75632" y="2578608"/>
            <a:ext cx="2837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transcription affichée pendant l'écoute — elle s'ouvre après, sur demande.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5968" y="1828800"/>
            <a:ext cx="342290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8576" y="2103120"/>
            <a:ext cx="365760" cy="36576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6" name="Text 14"/>
          <p:cNvSpPr/>
          <p:nvPr/>
        </p:nvSpPr>
        <p:spPr>
          <a:xfrm>
            <a:off x="8418576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94064" y="2103120"/>
            <a:ext cx="2417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Signalisation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8576" y="2578608"/>
            <a:ext cx="2837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bandeaux noirs marquent le savoir essentiel. L'œil sait quoi retenir.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342290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" y="3931920"/>
            <a:ext cx="365760" cy="36576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08176" y="3931920"/>
            <a:ext cx="2417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2688" y="4407408"/>
            <a:ext cx="2837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défis courts, terminables en une fois, avec un point d'arrêt propre.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3024" y="3657600"/>
            <a:ext cx="342290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5632" y="3931920"/>
            <a:ext cx="365760" cy="36576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26" name="Text 24"/>
          <p:cNvSpPr/>
          <p:nvPr/>
        </p:nvSpPr>
        <p:spPr>
          <a:xfrm>
            <a:off x="4675632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51120" y="3931920"/>
            <a:ext cx="2417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Cohérence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75632" y="4407408"/>
            <a:ext cx="2837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élèves en noir et blanc : pas un pixel de décoration qui ne porte du sens.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25968" y="3657600"/>
            <a:ext cx="342290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8576" y="3931920"/>
            <a:ext cx="365760" cy="36576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31" name="Text 29"/>
          <p:cNvSpPr/>
          <p:nvPr/>
        </p:nvSpPr>
        <p:spPr>
          <a:xfrm>
            <a:off x="8418576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94064" y="3931920"/>
            <a:ext cx="2417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Contiguïté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418576" y="4407408"/>
            <a:ext cx="2837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mot, son image et son audio au même endroit — jamais à deux écrans d'écart.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5166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ces règles sont écrites dans un seul fichier de jetons, partagé par les onze modules. Un principe s'applique une fois, partout.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Merrill : un problème réel au centre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43584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phases autour de lui. C'est ce principe qui justifie le scénario unique — un module, une personne, un problème.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74520" y="2560320"/>
            <a:ext cx="2377440" cy="2377440"/>
          </a:xfrm>
          <a:prstGeom prst="ellipse">
            <a:avLst/>
          </a:prstGeom>
          <a:solidFill>
            <a:srgbClr val="17181A"/>
          </a:solidFill>
          <a:ln/>
        </p:spPr>
      </p:sp>
      <p:sp>
        <p:nvSpPr>
          <p:cNvPr id="5" name="Text 3"/>
          <p:cNvSpPr/>
          <p:nvPr/>
        </p:nvSpPr>
        <p:spPr>
          <a:xfrm>
            <a:off x="205740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problème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réel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43600" y="1783080"/>
            <a:ext cx="56052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0" y="2039112"/>
            <a:ext cx="402336" cy="402336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19110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2221992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mise en situation réveille ce que l'élève sait déjà de la scène.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2816352"/>
            <a:ext cx="56052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3072384"/>
            <a:ext cx="402336" cy="402336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29443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3255264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dialogue montre la tâche accomplie avant qu'on la demande.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3849624"/>
            <a:ext cx="56052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4105656"/>
            <a:ext cx="402336" cy="402336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3977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4288536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défis font faire, avec de l'aide qui se retire.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0" y="4882896"/>
            <a:ext cx="5605272" cy="914400"/>
          </a:xfrm>
          <a:prstGeom prst="roundRect">
            <a:avLst>
              <a:gd name="adj" fmla="val 8000"/>
            </a:avLst>
          </a:prstGeom>
          <a:solidFill>
            <a:srgbClr val="FBEEDC"/>
          </a:solidFill>
          <a:ln w="9525">
            <a:solidFill>
              <a:srgbClr val="E8C89A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5138928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5010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2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66560" y="5321808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4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L'élève transpose dans sa propre vie — c'est notre point faible.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532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me lance » porte seul toute la phase d'intégration. C'est beaucoup pour une section de fin de module que plusieurs élèves n'atteignent jamais.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vraie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rétroaction immédiate, sur de la production réelle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F2124"/>
          </a:solidFill>
          <a:ln w="9525">
            <a:solidFill>
              <a:srgbClr val="34373B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377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A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tout ce qu'un enseignant peut donner à chaque élève en une heure, dans un groupe de vingt. L'outil ne remplace pas ces trois minutes : il ajoute tout ce qui vient autour.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92040" y="2295144"/>
            <a:ext cx="329184" cy="329184"/>
          </a:xfrm>
          <a:prstGeom prst="ellipse">
            <a:avLst/>
          </a:prstGeom>
          <a:solidFill>
            <a:srgbClr val="07734A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2295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40680" y="224028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du français écrit, à la seconde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40680" y="2578608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production écrite est analysée et renvoyée avec des pistes, pas seulement une note.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92040" y="3319272"/>
            <a:ext cx="329184" cy="329184"/>
          </a:xfrm>
          <a:prstGeom prst="ellipse">
            <a:avLst/>
          </a:prstGeom>
          <a:solidFill>
            <a:srgbClr val="0773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326440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banc de réponses qui colle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3602736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L'élève voit ses propres réponses le suivre d'un défi à l'autre : l'erreur devient matière à travail.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92040" y="4343400"/>
            <a:ext cx="329184" cy="329184"/>
          </a:xfrm>
          <a:prstGeom prst="ellipse">
            <a:avLst/>
          </a:prstGeom>
          <a:solidFill>
            <a:srgbClr val="07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4343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428853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l'aide qui arrive après l'erreur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4626864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mini-leçons « En apprendre plus » ne s'ouvrent pas d'avance — elles répondent à un blocage constaté.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92040" y="5367528"/>
            <a:ext cx="329184" cy="329184"/>
          </a:xfrm>
          <a:prstGeom prst="ellipse">
            <a:avLst/>
          </a:prstGeom>
          <a:solidFill>
            <a:srgbClr val="07734A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5367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531266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trace qui remonte à l'enseignant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5650992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productions orales déposées sont conservées : on sait qui a parlé, et ce qu'il a produit.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bilan honnête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43584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Huit modèles, trois états. La colonne de droite est notre feuille de route.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62453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qui manque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18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Knowles — andragogie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7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Appliqué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Rien de structurel. La posture est tenue partout.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18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Mayer — principes multimédias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7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Appliqué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Rien : les règles sont dans le système de design, donc automatiques.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18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Merrill — instruction première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phase d'intégration repose sur une seule section de fin.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18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Gagné — neuf événements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9e : aucune reprise espacée, aucun rappel après la séance.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18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ADDIE — processus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L'analyse a été faite après coup, module par module.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18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— itération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facto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cycle existe mais n'est pas nommé ni outillé.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18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Kirkpatrick — évaluation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Tout. Nous ne mesurons ni réaction, ni apprentissage, ni comportement.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18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71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Assumé : rien ne prouve qu'elle survive à l'effet de nouveauté.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TROISIÈME PARTIE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633472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je procède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partir de maintenant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règles, un outil que vous pouvez reprendre tel quel dès votre prochaine activité.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354312" y="21031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2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processus : SAM plutôt qu'ADDIE en cascade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43584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ADDIE reste notre vocabulaire commun. SAM décrit le rythme réel de notre travail.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25796" cy="3108960"/>
          </a:xfrm>
          <a:prstGeom prst="roundRect">
            <a:avLst>
              <a:gd name="adj" fmla="val 2353"/>
            </a:avLst>
          </a:prstGeom>
          <a:solidFill>
            <a:srgbClr val="F0F0EE"/>
          </a:solidFill>
          <a:ln w="9525">
            <a:solidFill>
              <a:srgbClr val="D6D6D2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057400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4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ADDIE en cascade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450592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→ Design → Développement → Implantation → Évaluation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017520"/>
            <a:ext cx="44028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une analyse complète avant toute production.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 arrive en dernier, quand tout est écrit.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d'analyse coûte le module entier.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correspond à aucune de nos conditions de travail.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3076" y="1828800"/>
            <a:ext cx="5225796" cy="3108960"/>
          </a:xfrm>
          <a:prstGeom prst="roundRect">
            <a:avLst>
              <a:gd name="adj" fmla="val 2353"/>
            </a:avLst>
          </a:prstGeom>
          <a:solidFill>
            <a:srgbClr val="E6F5EE"/>
          </a:solidFill>
          <a:ln w="9525">
            <a:solidFill>
              <a:srgbClr val="9CCBB4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34556" y="2057400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SAM, par cycles courts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34556" y="2450592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7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→ prototype → essai en classe → révision → prototype…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34556" y="3017520"/>
            <a:ext cx="44028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petite analyse suffit pour démarrer, à condition d'être écrite.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module passe en classe avant d'être considéré comme fini.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se corrige au cycle suivant, pas à la refonte.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déjà ce que nous faisons — sauf que rien ne le discipline.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166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manque à notre pratique actuelle n'est donc pas un modèle : c'est une porte d'entrée et une porte de sortie obligatoires.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 d'entrée : la fiche d'alignement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43584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 minutes avant d'écrire la première ligne. C'est l'outil que je vous propose de reprendre.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0116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7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D'ALIGNEMENT — activité ou module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2395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visé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51560" y="26334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LAN-3049-6 — francisation, niveau 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2907792"/>
            <a:ext cx="594360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9626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de vie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32004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loger : visiter un logement et poser ses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3474720"/>
            <a:ext cx="594360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Intentions de communication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37673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de l'information · Exprimer une réserve  (identifiants du programme)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51560" y="4041648"/>
            <a:ext cx="594360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096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Savoirs prescrits mobilisés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51560" y="433425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L'interrogation partielle · Le lexique du logement · L'intonation de la question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4608576"/>
            <a:ext cx="594360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Attentes de fin de cours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51560" y="490118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Interagir dans une transaction courante avec un interlocuteur coopératif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51560" y="5175504"/>
            <a:ext cx="5943600" cy="0"/>
          </a:xfrm>
          <a:prstGeom prst="line">
            <a:avLst/>
          </a:prstGeom>
          <a:noFill/>
          <a:ln w="9525">
            <a:solidFill>
              <a:srgbClr val="EAEA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230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d'évaluation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54681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Clarté du message · Adéquation à la situation · Correction de la langue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18120" y="1783080"/>
            <a:ext cx="3730752" cy="1874520"/>
          </a:xfrm>
          <a:prstGeom prst="roundRect">
            <a:avLst>
              <a:gd name="adj" fmla="val 3902"/>
            </a:avLst>
          </a:prstGeom>
          <a:solidFill>
            <a:srgbClr val="E6F5EE"/>
          </a:solidFill>
          <a:ln w="9525">
            <a:solidFill>
              <a:srgbClr val="9CCBB4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196596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Elle se remplit depuis le programme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138160" y="2514600"/>
            <a:ext cx="3090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champ est copié du programme dépouillé, jamais rédigé de mémoire. C'est ce qui rend l'activité défendable devant qui que ce soit.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818120" y="3886200"/>
            <a:ext cx="373075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38160" y="40690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règle, en une phrase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138160" y="4434840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contenu n'est écrit avant que sa fiche ne soit remplie. Si un champ reste vide, l'activité n'est pas prête — elle est seulement une bonne idée.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 de sortie : dire d'avance ce qu'on mesurera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43584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Kirkpatrick, ramené à ce qui est réellement mesurable en francisation.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93392"/>
            <a:ext cx="457200" cy="45720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8653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194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questions à la fin du module : c'était utile ? c'était clair ? je le referais 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71432" y="20391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Faisable tout de suite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79776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3035808"/>
            <a:ext cx="457200" cy="45720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29077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Apprentissage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00200" y="323697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aux défis et qualité de la production corrigée, comparés avant et après.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71432" y="30815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existent déjà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22192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078224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502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Comportement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00200" y="42793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seule mesure qui compte : l'élève a-t-il fait la tâche dans la vraie vie ? Une case déclarative à la séance suivante.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71432" y="41239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5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construire — priorité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864608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0F0EE"/>
          </a:solidFill>
          <a:ln w="9525">
            <a:solidFill>
              <a:srgbClr val="D6D6D2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0120" y="5120640"/>
            <a:ext cx="457200" cy="457200"/>
          </a:xfrm>
          <a:prstGeom prst="ellipse">
            <a:avLst/>
          </a:prstGeom>
          <a:solidFill>
            <a:srgbClr val="6E7175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00200" y="49926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71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600200" y="53218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sur l'insertion, l'emploi, la francisation durable. Hors de notre portée, et il faut le dire.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71432" y="5166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de portée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0350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trois questions se décident au moment de la fiche d'alignement, pas à la fin. Un objectif sans indicateur défini d'avance ne se mesure jamais.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boucle d'amélioration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43584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Réviser sur des données, pas sur une impression : les traces existent déjà, il manque seulement de les regarder.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5287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58568"/>
            <a:ext cx="457200" cy="45720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18127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L'élève travaille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18127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Défis, productions écrites et orales déposées dans le portail.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11246" y="29260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58718" y="1965960"/>
            <a:ext cx="245287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78758" y="2258568"/>
            <a:ext cx="457200" cy="45720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2" name="Text 10"/>
          <p:cNvSpPr/>
          <p:nvPr/>
        </p:nvSpPr>
        <p:spPr>
          <a:xfrm>
            <a:off x="377875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78758" y="2834640"/>
            <a:ext cx="18127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trace se dépose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78758" y="3429000"/>
            <a:ext cx="18127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par défi, productions conservées, section où l'élève s'est arrêté.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29884" y="29260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77356" y="1965960"/>
            <a:ext cx="245287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7396" y="2258568"/>
            <a:ext cx="457200" cy="45720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8" name="Text 16"/>
          <p:cNvSpPr/>
          <p:nvPr/>
        </p:nvSpPr>
        <p:spPr>
          <a:xfrm>
            <a:off x="6597396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97396" y="2834640"/>
            <a:ext cx="18127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L'enseignant lit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97396" y="3429000"/>
            <a:ext cx="18127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par module : abandons, défis où l'erreur se concentre, écart de production.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48522" y="29260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095994" y="1965960"/>
            <a:ext cx="245287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16034" y="2258568"/>
            <a:ext cx="457200" cy="457200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24" name="Text 22"/>
          <p:cNvSpPr/>
          <p:nvPr/>
        </p:nvSpPr>
        <p:spPr>
          <a:xfrm>
            <a:off x="9416034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6034" y="2834640"/>
            <a:ext cx="18127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module est révisé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16034" y="3429000"/>
            <a:ext cx="18127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corrige ce que la donnée désigne — pas le module qui « semble » vieux.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572000"/>
            <a:ext cx="10908792" cy="1097280"/>
          </a:xfrm>
          <a:prstGeom prst="roundRect">
            <a:avLst>
              <a:gd name="adj" fmla="val 6667"/>
            </a:avLst>
          </a:prstGeom>
          <a:solidFill>
            <a:srgbClr val="E6F5EE"/>
          </a:solidFill>
          <a:ln w="9525">
            <a:solidFill>
              <a:srgbClr val="9CCBB4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51560" y="4800600"/>
            <a:ext cx="10085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7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qui transforme une bibliothèque d'activités en un dispositif qui s'améliore. Sans la boucle, nous accumulons du matériel ; avec elle, nous apprenons de nos élèves.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chantier en cours, relu à travers tout ça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43584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volets déjà décidés — chacun répond maintenant à un principe nommé.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12848"/>
            <a:ext cx="164592" cy="164592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9568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Socles techniques communs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28600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principe de Mayer s'applique une fois et vaut pour les onze modules.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400032" y="21031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6F5EE"/>
          </a:solidFill>
          <a:ln w="9525">
            <a:solidFill>
              <a:srgbClr val="9CCB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00032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862072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3246120"/>
            <a:ext cx="164592" cy="164592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9900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d'apprentissage autonome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331927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L'autodirection de l'adulte, prise au sérieux : avancer seul, reprendre où l'on a quitté.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400032" y="3136392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6F5EE"/>
          </a:solidFill>
          <a:ln w="9525">
            <a:solidFill>
              <a:srgbClr val="9CCB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00032" y="3136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95344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4279392"/>
            <a:ext cx="164592" cy="164592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40233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Seize séances par module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435254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segmentation, portée jusque dans le matériel de l'enseignant.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400032" y="4169664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6F5EE"/>
          </a:solidFill>
          <a:ln w="9525">
            <a:solidFill>
              <a:srgbClr val="9CCB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4169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Mayer · Gagné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928616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5840" y="5312664"/>
            <a:ext cx="164592" cy="164592"/>
          </a:xfrm>
          <a:prstGeom prst="ellipse">
            <a:avLst/>
          </a:prstGeom>
          <a:solidFill>
            <a:srgbClr val="0A8F5B"/>
          </a:solidFill>
          <a:ln/>
        </p:spPr>
      </p:sp>
      <p:sp>
        <p:nvSpPr>
          <p:cNvPr id="24" name="Text 22"/>
          <p:cNvSpPr/>
          <p:nvPr/>
        </p:nvSpPr>
        <p:spPr>
          <a:xfrm>
            <a:off x="1325880" y="50566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Nouvelle formule de vocabulaire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25880" y="53858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première réponse au neuvième événement : faire revenir les mots.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400032" y="5202936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6F5EE"/>
          </a:solidFill>
          <a:ln w="9525">
            <a:solidFill>
              <a:srgbClr val="9CCB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00032" y="52029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Gagné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9436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 : dès le module pilote, la fiche d'alignement et les trois indicateurs deviennent obligatoires. Puis par vagues de trois modules.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00023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023360" cy="4023360"/>
          </a:xfrm>
          <a:prstGeom prst="ellipse">
            <a:avLst/>
          </a:prstGeom>
          <a:solidFill>
            <a:srgbClr val="1F212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L'ENGAGEMENT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9326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 nouveau contenu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fiche d'alignement,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 sans indicateur de réussite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 d'avance.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fiche vierge est en annexe, à la page suivante. Le référentiel du programme est à votre disposition — demandez-le-moi.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7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À IMPRIMER OU À COPIER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 d'alignement — vierge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EAEA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627632"/>
            <a:ext cx="48143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visé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847088"/>
            <a:ext cx="48143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et niveau du programme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97280" y="2414016"/>
            <a:ext cx="4814316" cy="0"/>
          </a:xfrm>
          <a:prstGeom prst="line">
            <a:avLst/>
          </a:prstGeom>
          <a:noFill/>
          <a:ln w="9525">
            <a:solidFill>
              <a:srgbClr val="C4C6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77356" y="1627632"/>
            <a:ext cx="48143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de vie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77356" y="1847088"/>
            <a:ext cx="48143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et situation, tels que nommés au programme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77356" y="2414016"/>
            <a:ext cx="4814316" cy="0"/>
          </a:xfrm>
          <a:prstGeom prst="line">
            <a:avLst/>
          </a:prstGeom>
          <a:noFill/>
          <a:ln w="9525">
            <a:solidFill>
              <a:srgbClr val="C4C6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660904"/>
            <a:ext cx="48143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Intentions de communication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880360"/>
            <a:ext cx="48143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leur compétence : CO · PO · CE · PE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97280" y="3447288"/>
            <a:ext cx="4814316" cy="0"/>
          </a:xfrm>
          <a:prstGeom prst="line">
            <a:avLst/>
          </a:prstGeom>
          <a:noFill/>
          <a:ln w="9525">
            <a:solidFill>
              <a:srgbClr val="C4C6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7356" y="2660904"/>
            <a:ext cx="48143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Savoirs prescrits mobilisés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77356" y="2880360"/>
            <a:ext cx="48143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Grammaire, phonétique, lexique — vérifiés au niveau visé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77356" y="3447288"/>
            <a:ext cx="4814316" cy="0"/>
          </a:xfrm>
          <a:prstGeom prst="line">
            <a:avLst/>
          </a:prstGeom>
          <a:noFill/>
          <a:ln w="9525">
            <a:solidFill>
              <a:srgbClr val="C4C6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694176"/>
            <a:ext cx="48143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Attentes de fin de cours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913632"/>
            <a:ext cx="48143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l'élève doit pouvoir faire à la fin du cours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97280" y="4480560"/>
            <a:ext cx="4814316" cy="0"/>
          </a:xfrm>
          <a:prstGeom prst="line">
            <a:avLst/>
          </a:prstGeom>
          <a:noFill/>
          <a:ln w="9525">
            <a:solidFill>
              <a:srgbClr val="C4C6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7356" y="3694176"/>
            <a:ext cx="48143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d'évaluation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7356" y="3913632"/>
            <a:ext cx="48143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Ceux du programme, pas les nôtres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77356" y="4480560"/>
            <a:ext cx="4814316" cy="0"/>
          </a:xfrm>
          <a:prstGeom prst="line">
            <a:avLst/>
          </a:prstGeom>
          <a:noFill/>
          <a:ln w="9525">
            <a:solidFill>
              <a:srgbClr val="C4C6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89204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E6F5EE"/>
          </a:solidFill>
          <a:ln w="9525">
            <a:solidFill>
              <a:srgbClr val="9CCBB4"/>
            </a:solidFill>
            <a:prstDash val="solid"/>
          </a:ln>
          <a:effectLst>
            <a:outerShdw sx="100000" sy="100000" kx="0" ky="0" algn="bl" rotWithShape="0" blurRad="127000" dist="25400" dir="5400000">
              <a:srgbClr val="17181A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je mesurerai — décidé maintenant, pas à la fin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97280" y="5440680"/>
            <a:ext cx="3087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Réaction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5660136"/>
            <a:ext cx="3087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7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demanderai à l'élève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97280" y="6053328"/>
            <a:ext cx="3087624" cy="0"/>
          </a:xfrm>
          <a:prstGeom prst="line">
            <a:avLst/>
          </a:prstGeom>
          <a:noFill/>
          <a:ln w="9525">
            <a:solidFill>
              <a:srgbClr val="9CCB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0664" y="5440680"/>
            <a:ext cx="3087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Apprentissage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50664" y="5660136"/>
            <a:ext cx="3087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7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trace qui montrera un progrès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50664" y="6053328"/>
            <a:ext cx="3087624" cy="0"/>
          </a:xfrm>
          <a:prstGeom prst="line">
            <a:avLst/>
          </a:prstGeom>
          <a:noFill/>
          <a:ln w="9525">
            <a:solidFill>
              <a:srgbClr val="9CCB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4048" y="5440680"/>
            <a:ext cx="3087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Comportement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04048" y="5660136"/>
            <a:ext cx="3087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7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tâche faite hors de la classe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04048" y="6053328"/>
            <a:ext cx="3087624" cy="0"/>
          </a:xfrm>
          <a:prstGeom prst="line">
            <a:avLst/>
          </a:prstGeom>
          <a:noFill/>
          <a:ln w="9525">
            <a:solidFill>
              <a:srgbClr val="9CCB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champ se copie du programme dépouillé — jamais de mémoire.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Concevoir pour des adultes en francisation</dc:title>
  <dc:subject>PptxGenJS Presentation</dc:subject>
  <dc:creator>Daniel Tousignant</dc:creator>
  <cp:lastModifiedBy>Daniel Tousignant</cp:lastModifiedBy>
  <cp:revision>1</cp:revision>
  <dcterms:created xsi:type="dcterms:W3CDTF">2026-08-15T15:30:49Z</dcterms:created>
  <dcterms:modified xsi:type="dcterms:W3CDTF">2026-08-15T15:30:49Z</dcterms:modified>
</cp:coreProperties>
</file>