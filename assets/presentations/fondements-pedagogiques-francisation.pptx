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Diapositive charnière. C'est la ligne Kirkpatrick qui ouvre toute la troisième partie.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Fin. Ouvrir la discussion sur la fiche d'alignement : c'est le seul élément que les collègues peuvent adopter dès demain, sans rien changer d'autre à leur pratique.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Annexe distribuée en fin de rencontre. Une feuille par activité ; elle tient en dix minutes si le programme dépouillé est ouvert à côté.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90879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71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 bilan honnête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1243584"/>
            <a:ext cx="9811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i="1" dirty="0">
                <a:solidFill>
                  <a:srgbClr val="4B4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Huit modèles, trois états. La colonne de droite est notre feuille de route.</a:t>
            </a:r>
            <a:endParaRPr lang="en-US" sz="15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83080"/>
          <a:ext cx="10908792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1371600"/>
                <a:gridCol w="6245352"/>
              </a:tblGrid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Modèle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AE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E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E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E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8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État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AE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E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E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E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8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 qui manque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AE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E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E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E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81A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718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Knowles — andragogie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AE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E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E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E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0773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Appliqué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AE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E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E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E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5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D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Rien de structurel. La posture est tenue partout.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AE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E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E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E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718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Mayer — principes multimédias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AE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E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E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E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0773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Appliqué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AE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E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E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E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5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D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Rien : les règles sont dans le système de design, donc automatiques.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AE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E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E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E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718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Merrill — instruction première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AE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E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E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E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B4530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Partiel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AE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E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E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E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ED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D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phase d'intégration repose sur une seule section de fin.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AE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E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E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E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718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Gagné — neuf événements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AE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E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E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E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B4530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Partiel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AE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E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E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E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ED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D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9e : aucune reprise espacée, aucun rappel après la séance.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AE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E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E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E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718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ADDIE — processus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AE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E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E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E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B4530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Partiel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AE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E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E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E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ED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D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L'analyse a été faite après coup, module par module.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AE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E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E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E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718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SAM — itération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AE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E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E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E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B4530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 facto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AE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E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E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E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ED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D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cycle existe mais n'est pas nommé ni outillé.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AE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E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E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E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718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Kirkpatrick — évaluation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AE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E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E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E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B9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Absent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AE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E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E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E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D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Tout. Nous ne mesurons ni réaction, ni apprentissage, ni comportement.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AE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E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E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E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718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Gamification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AE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E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E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E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6E717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Écarté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AE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E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E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E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0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D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Assumé : rien ne prouve qu'elle survive à l'effet de nouveauté.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AE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E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E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E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1100023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71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718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2860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A8F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TROISIÈME PARTIE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2633472"/>
            <a:ext cx="84124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Comment je procède</a:t>
            </a:r>
            <a:endParaRPr lang="en-US" sz="4000" dirty="0"/>
          </a:p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à partir de maintenant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640080" y="3977640"/>
            <a:ext cx="7498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9CBC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Deux règles, un outil que vous pouvez reprendre tel quel dès votre prochaine activité.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9354312" y="2103120"/>
            <a:ext cx="21945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600" b="1" dirty="0">
                <a:solidFill>
                  <a:srgbClr val="2628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9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90879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71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 processus : SAM plutôt qu'ADDIE en cascade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1243584"/>
            <a:ext cx="9811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i="1" dirty="0">
                <a:solidFill>
                  <a:srgbClr val="4B4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ADDIE reste notre vocabulaire commun. SAM décrit le rythme réel de notre travail.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5225796" cy="3108960"/>
          </a:xfrm>
          <a:prstGeom prst="roundRect">
            <a:avLst>
              <a:gd name="adj" fmla="val 2353"/>
            </a:avLst>
          </a:prstGeom>
          <a:solidFill>
            <a:srgbClr val="F0F0EE"/>
          </a:solidFill>
          <a:ln w="9525">
            <a:solidFill>
              <a:srgbClr val="D6D6D2"/>
            </a:solidFill>
            <a:prstDash val="solid"/>
          </a:ln>
          <a:effectLst>
            <a:outerShdw sx="100000" sy="100000" kx="0" ky="0" algn="bl" rotWithShape="0" blurRad="127000" dist="25400" dir="5400000">
              <a:srgbClr val="17181A">
                <a:alpha val="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1051560" y="2057400"/>
            <a:ext cx="44028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4B4F5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ADDIE en cascade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051560" y="2450592"/>
            <a:ext cx="44028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E71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Analyse → Design → Développement → Implantation → Évaluation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051560" y="3017520"/>
            <a:ext cx="4402836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A3D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Suppose une analyse complète avant toute production.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A3D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L'évaluation arrive en dernier, quand tout est écrit.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A3D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erreur d'analyse coûte le module entier.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A3D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 correspond à aucune de nos conditions de travail.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6323076" y="1828800"/>
            <a:ext cx="5225796" cy="3108960"/>
          </a:xfrm>
          <a:prstGeom prst="roundRect">
            <a:avLst>
              <a:gd name="adj" fmla="val 2353"/>
            </a:avLst>
          </a:prstGeom>
          <a:solidFill>
            <a:srgbClr val="E6F5EE"/>
          </a:solidFill>
          <a:ln w="9525">
            <a:solidFill>
              <a:srgbClr val="9CCBB4"/>
            </a:solidFill>
            <a:prstDash val="solid"/>
          </a:ln>
          <a:effectLst>
            <a:outerShdw sx="100000" sy="100000" kx="0" ky="0" algn="bl" rotWithShape="0" blurRad="127000" dist="25400" dir="5400000">
              <a:srgbClr val="17181A">
                <a:alpha val="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734556" y="2057400"/>
            <a:ext cx="44028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773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SAM, par cycles courts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6734556" y="2450592"/>
            <a:ext cx="44028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077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Préparation → prototype → essai en classe → révision → prototype…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734556" y="3017520"/>
            <a:ext cx="4402836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A3D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petite analyse suffit pour démarrer, à condition d'être écrite.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A3D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Chaque module passe en classe avant d'être considéré comme fini.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A3D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erreur se corrige au cycle suivant, pas à la refonte.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A3D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C'est déjà ce que nous faisons — sauf que rien ne le discipline.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640080" y="5166360"/>
            <a:ext cx="109087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1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qui manque à notre pratique actuelle n'est donc pas un modèle : c'est une porte d'entrée et une porte de sortie obligatoires.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100023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71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90879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71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Règle d'entrée : la fiche d'alignement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1243584"/>
            <a:ext cx="9811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i="1" dirty="0">
                <a:solidFill>
                  <a:srgbClr val="4B4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Dix minutes avant d'écrire la première ligne. C'est l'outil que je vous propose de reprendre.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6766560" cy="3977640"/>
          </a:xfrm>
          <a:prstGeom prst="roundRect">
            <a:avLst>
              <a:gd name="adj" fmla="val 1839"/>
            </a:avLst>
          </a:prstGeom>
          <a:solidFill>
            <a:srgbClr val="FFFFFF"/>
          </a:solidFill>
          <a:ln w="9525">
            <a:solidFill>
              <a:srgbClr val="EAEAE8"/>
            </a:solidFill>
            <a:prstDash val="solid"/>
          </a:ln>
          <a:effectLst>
            <a:outerShdw sx="100000" sy="100000" kx="0" ky="0" algn="bl" rotWithShape="0" blurRad="127000" dist="25400" dir="5400000">
              <a:srgbClr val="17181A">
                <a:alpha val="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1051560" y="2011680"/>
            <a:ext cx="5943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77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FICHE D'ALIGNEMENT — activité ou module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051560" y="2395728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6E71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Niveau visé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1051560" y="2633472"/>
            <a:ext cx="5943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71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LAN-3049-6 — francisation, niveau 4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1051560" y="2907792"/>
            <a:ext cx="5943600" cy="0"/>
          </a:xfrm>
          <a:prstGeom prst="line">
            <a:avLst/>
          </a:prstGeom>
          <a:noFill/>
          <a:ln w="9525">
            <a:solidFill>
              <a:srgbClr val="EAEAE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51560" y="2962656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6E71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Situation de vie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1051560" y="3200400"/>
            <a:ext cx="5943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71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loger : visiter un logement et poser ses questions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1051560" y="3474720"/>
            <a:ext cx="5943600" cy="0"/>
          </a:xfrm>
          <a:prstGeom prst="line">
            <a:avLst/>
          </a:prstGeom>
          <a:noFill/>
          <a:ln w="9525">
            <a:solidFill>
              <a:srgbClr val="EAEAE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51560" y="3529584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6E71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Intentions de communication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1051560" y="3767328"/>
            <a:ext cx="5943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71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Demander de l'information · Exprimer une réserve  (identifiants du programme)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1051560" y="4041648"/>
            <a:ext cx="5943600" cy="0"/>
          </a:xfrm>
          <a:prstGeom prst="line">
            <a:avLst/>
          </a:prstGeom>
          <a:noFill/>
          <a:ln w="9525">
            <a:solidFill>
              <a:srgbClr val="EAEAE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51560" y="409651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6E71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Savoirs prescrits mobilisés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1051560" y="4334256"/>
            <a:ext cx="5943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71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L'interrogation partielle · Le lexique du logement · L'intonation de la question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1051560" y="4608576"/>
            <a:ext cx="5943600" cy="0"/>
          </a:xfrm>
          <a:prstGeom prst="line">
            <a:avLst/>
          </a:prstGeom>
          <a:noFill/>
          <a:ln w="9525">
            <a:solidFill>
              <a:srgbClr val="EAEAE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51560" y="4663440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6E71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Attentes de fin de cours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1051560" y="4901184"/>
            <a:ext cx="5943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71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Interagir dans une transaction courante avec un interlocuteur coopératif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1051560" y="5175504"/>
            <a:ext cx="5943600" cy="0"/>
          </a:xfrm>
          <a:prstGeom prst="line">
            <a:avLst/>
          </a:prstGeom>
          <a:noFill/>
          <a:ln w="9525">
            <a:solidFill>
              <a:srgbClr val="EAEAE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051560" y="5230368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6E71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Critères d'évaluation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1051560" y="5468112"/>
            <a:ext cx="5943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71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Clarté du message · Adéquation à la situation · Correction de la langue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7818120" y="1783080"/>
            <a:ext cx="3730752" cy="1874520"/>
          </a:xfrm>
          <a:prstGeom prst="roundRect">
            <a:avLst>
              <a:gd name="adj" fmla="val 3902"/>
            </a:avLst>
          </a:prstGeom>
          <a:solidFill>
            <a:srgbClr val="E6F5EE"/>
          </a:solidFill>
          <a:ln w="9525">
            <a:solidFill>
              <a:srgbClr val="9CCBB4"/>
            </a:solidFill>
            <a:prstDash val="solid"/>
          </a:ln>
          <a:effectLst>
            <a:outerShdw sx="100000" sy="100000" kx="0" ky="0" algn="bl" rotWithShape="0" blurRad="127000" dist="25400" dir="5400000">
              <a:srgbClr val="17181A">
                <a:alpha val="8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8138160" y="1965960"/>
            <a:ext cx="3090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773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Elle se remplit depuis le programme</a:t>
            </a:r>
            <a:endParaRPr lang="en-US" sz="1700" dirty="0"/>
          </a:p>
        </p:txBody>
      </p:sp>
      <p:sp>
        <p:nvSpPr>
          <p:cNvPr id="25" name="Text 23"/>
          <p:cNvSpPr/>
          <p:nvPr/>
        </p:nvSpPr>
        <p:spPr>
          <a:xfrm>
            <a:off x="8138160" y="2514600"/>
            <a:ext cx="3090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A3D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Chaque champ est copié du programme dépouillé, jamais rédigé de mémoire. C'est ce qui rend l'activité défendable devant qui que ce soit.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7818120" y="3886200"/>
            <a:ext cx="3730752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EAEAE8"/>
            </a:solidFill>
            <a:prstDash val="solid"/>
          </a:ln>
          <a:effectLst>
            <a:outerShdw sx="100000" sy="100000" kx="0" ky="0" algn="bl" rotWithShape="0" blurRad="127000" dist="25400" dir="5400000">
              <a:srgbClr val="17181A">
                <a:alpha val="8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8138160" y="4069080"/>
            <a:ext cx="3090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71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règle, en une phrase</a:t>
            </a:r>
            <a:endParaRPr lang="en-US" sz="1700" dirty="0"/>
          </a:p>
        </p:txBody>
      </p:sp>
      <p:sp>
        <p:nvSpPr>
          <p:cNvPr id="28" name="Text 26"/>
          <p:cNvSpPr/>
          <p:nvPr/>
        </p:nvSpPr>
        <p:spPr>
          <a:xfrm>
            <a:off x="8138160" y="4434840"/>
            <a:ext cx="30906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A3D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Aucun contenu n'est écrit avant que sa fiche ne soit remplie. Si un champ reste vide, l'activité n'est pas prête — elle est seulement une bonne idée.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1100023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71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7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90879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71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Règle de sortie : dire d'avance ce qu'on mesurera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1243584"/>
            <a:ext cx="9811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i="1" dirty="0">
                <a:solidFill>
                  <a:srgbClr val="4B4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Kirkpatrick, ramené à ce qui est réellement mesurable en francisation.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10908792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9525">
            <a:solidFill>
              <a:srgbClr val="EAEAE8"/>
            </a:solidFill>
            <a:prstDash val="solid"/>
          </a:ln>
          <a:effectLst>
            <a:outerShdw sx="100000" sy="100000" kx="0" ky="0" algn="bl" rotWithShape="0" blurRad="127000" dist="25400" dir="5400000">
              <a:srgbClr val="17181A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60120" y="1993392"/>
            <a:ext cx="457200" cy="457200"/>
          </a:xfrm>
          <a:prstGeom prst="ellipse">
            <a:avLst/>
          </a:prstGeom>
          <a:solidFill>
            <a:srgbClr val="0A8F5B"/>
          </a:solidFill>
          <a:ln/>
        </p:spPr>
      </p:sp>
      <p:sp>
        <p:nvSpPr>
          <p:cNvPr id="6" name="Text 4"/>
          <p:cNvSpPr/>
          <p:nvPr/>
        </p:nvSpPr>
        <p:spPr>
          <a:xfrm>
            <a:off x="960120" y="19933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600200" y="1865376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71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Réaction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600200" y="219456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A3D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Trois questions à la fin du module : c'était utile ? c'était clair ? je le referais ?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9171432" y="2039112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77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Faisable tout de suite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40080" y="2779776"/>
            <a:ext cx="10908792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9525">
            <a:solidFill>
              <a:srgbClr val="EAEAE8"/>
            </a:solidFill>
            <a:prstDash val="solid"/>
          </a:ln>
          <a:effectLst>
            <a:outerShdw sx="100000" sy="100000" kx="0" ky="0" algn="bl" rotWithShape="0" blurRad="127000" dist="25400" dir="5400000">
              <a:srgbClr val="17181A">
                <a:alpha val="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960120" y="3035808"/>
            <a:ext cx="457200" cy="457200"/>
          </a:xfrm>
          <a:prstGeom prst="ellipse">
            <a:avLst/>
          </a:prstGeom>
          <a:solidFill>
            <a:srgbClr val="0A8F5B"/>
          </a:solidFill>
          <a:ln/>
        </p:spPr>
      </p:sp>
      <p:sp>
        <p:nvSpPr>
          <p:cNvPr id="12" name="Text 10"/>
          <p:cNvSpPr/>
          <p:nvPr/>
        </p:nvSpPr>
        <p:spPr>
          <a:xfrm>
            <a:off x="960120" y="30358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600200" y="2907792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71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Apprentissage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1600200" y="3236976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A3D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aux défis et qualité de la production corrigée, comparés avant et après.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9171432" y="3081528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77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données existent déjà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40080" y="3822192"/>
            <a:ext cx="10908792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9525">
            <a:solidFill>
              <a:srgbClr val="EAEAE8"/>
            </a:solidFill>
            <a:prstDash val="solid"/>
          </a:ln>
          <a:effectLst>
            <a:outerShdw sx="100000" sy="100000" kx="0" ky="0" algn="bl" rotWithShape="0" blurRad="127000" dist="25400" dir="5400000">
              <a:srgbClr val="17181A">
                <a:alpha val="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960120" y="4078224"/>
            <a:ext cx="457200" cy="457200"/>
          </a:xfrm>
          <a:prstGeom prst="ellipse">
            <a:avLst/>
          </a:prstGeom>
          <a:solidFill>
            <a:srgbClr val="B45309"/>
          </a:solidFill>
          <a:ln/>
        </p:spPr>
      </p:sp>
      <p:sp>
        <p:nvSpPr>
          <p:cNvPr id="18" name="Text 16"/>
          <p:cNvSpPr/>
          <p:nvPr/>
        </p:nvSpPr>
        <p:spPr>
          <a:xfrm>
            <a:off x="960120" y="407822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600200" y="3950208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71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Comportement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1600200" y="4279392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A3D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seule mesure qui compte : l'élève a-t-il fait la tâche dans la vraie vie ? Une case déclarative à la séance suivante.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9171432" y="4123944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8A52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À construire — priorité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40080" y="4864608"/>
            <a:ext cx="10908792" cy="960120"/>
          </a:xfrm>
          <a:prstGeom prst="roundRect">
            <a:avLst>
              <a:gd name="adj" fmla="val 7619"/>
            </a:avLst>
          </a:prstGeom>
          <a:solidFill>
            <a:srgbClr val="F0F0EE"/>
          </a:solidFill>
          <a:ln w="9525">
            <a:solidFill>
              <a:srgbClr val="D6D6D2"/>
            </a:solidFill>
            <a:prstDash val="solid"/>
          </a:ln>
          <a:effectLst>
            <a:outerShdw sx="100000" sy="100000" kx="0" ky="0" algn="bl" rotWithShape="0" blurRad="127000" dist="25400" dir="5400000">
              <a:srgbClr val="17181A">
                <a:alpha val="8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960120" y="5120640"/>
            <a:ext cx="457200" cy="457200"/>
          </a:xfrm>
          <a:prstGeom prst="ellipse">
            <a:avLst/>
          </a:prstGeom>
          <a:solidFill>
            <a:srgbClr val="6E7175"/>
          </a:solidFill>
          <a:ln/>
        </p:spPr>
      </p:sp>
      <p:sp>
        <p:nvSpPr>
          <p:cNvPr id="24" name="Text 22"/>
          <p:cNvSpPr/>
          <p:nvPr/>
        </p:nvSpPr>
        <p:spPr>
          <a:xfrm>
            <a:off x="960120" y="5120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1600200" y="4992624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6E717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Résultats</a:t>
            </a:r>
            <a:endParaRPr lang="en-US" sz="1700" dirty="0"/>
          </a:p>
        </p:txBody>
      </p:sp>
      <p:sp>
        <p:nvSpPr>
          <p:cNvPr id="26" name="Text 24"/>
          <p:cNvSpPr/>
          <p:nvPr/>
        </p:nvSpPr>
        <p:spPr>
          <a:xfrm>
            <a:off x="1600200" y="5321808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E71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Effet sur l'insertion, l'emploi, la francisation durable. Hors de notre portée, et il faut le dire.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9171432" y="51663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6E71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Hors de portée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640080" y="6035040"/>
            <a:ext cx="109087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4B4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Ces trois questions se décident au moment de la fiche d'alignement, pas à la fin. Un objectif sans indicateur défini d'avance ne se mesure jamais.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1100023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71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7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90879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71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boucle d'amélioration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1243584"/>
            <a:ext cx="9811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i="1" dirty="0">
                <a:solidFill>
                  <a:srgbClr val="4B4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Réviser sur des données, pas sur une impression : les traces existent déjà, il manque seulement de les regarder.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2452878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9525">
            <a:solidFill>
              <a:srgbClr val="EAEAE8"/>
            </a:solidFill>
            <a:prstDash val="solid"/>
          </a:ln>
          <a:effectLst>
            <a:outerShdw sx="100000" sy="100000" kx="0" ky="0" algn="bl" rotWithShape="0" blurRad="127000" dist="25400" dir="5400000">
              <a:srgbClr val="17181A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60120" y="2258568"/>
            <a:ext cx="457200" cy="457200"/>
          </a:xfrm>
          <a:prstGeom prst="ellipse">
            <a:avLst/>
          </a:prstGeom>
          <a:solidFill>
            <a:srgbClr val="0A8F5B"/>
          </a:solidFill>
          <a:ln/>
        </p:spPr>
      </p:sp>
      <p:sp>
        <p:nvSpPr>
          <p:cNvPr id="6" name="Text 4"/>
          <p:cNvSpPr/>
          <p:nvPr/>
        </p:nvSpPr>
        <p:spPr>
          <a:xfrm>
            <a:off x="960120" y="22585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960120" y="2834640"/>
            <a:ext cx="181279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71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L'élève travaille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960120" y="3429000"/>
            <a:ext cx="181279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A3D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Défis, productions écrites et orales déposées dans le portail.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3111246" y="2926080"/>
            <a:ext cx="3291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C4C6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3458718" y="1965960"/>
            <a:ext cx="2452878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9525">
            <a:solidFill>
              <a:srgbClr val="EAEAE8"/>
            </a:solidFill>
            <a:prstDash val="solid"/>
          </a:ln>
          <a:effectLst>
            <a:outerShdw sx="100000" sy="100000" kx="0" ky="0" algn="bl" rotWithShape="0" blurRad="127000" dist="25400" dir="5400000">
              <a:srgbClr val="17181A">
                <a:alpha val="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778758" y="2258568"/>
            <a:ext cx="457200" cy="457200"/>
          </a:xfrm>
          <a:prstGeom prst="ellipse">
            <a:avLst/>
          </a:prstGeom>
          <a:solidFill>
            <a:srgbClr val="0A8F5B"/>
          </a:solidFill>
          <a:ln/>
        </p:spPr>
      </p:sp>
      <p:sp>
        <p:nvSpPr>
          <p:cNvPr id="12" name="Text 10"/>
          <p:cNvSpPr/>
          <p:nvPr/>
        </p:nvSpPr>
        <p:spPr>
          <a:xfrm>
            <a:off x="3778758" y="22585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778758" y="2834640"/>
            <a:ext cx="181279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71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trace se dépose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3778758" y="3429000"/>
            <a:ext cx="181279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A3D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Résultats par défi, productions conservées, section où l'élève s'est arrêté.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5929884" y="2926080"/>
            <a:ext cx="3291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C4C6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400" dirty="0"/>
          </a:p>
        </p:txBody>
      </p:sp>
      <p:sp>
        <p:nvSpPr>
          <p:cNvPr id="16" name="Shape 14"/>
          <p:cNvSpPr/>
          <p:nvPr/>
        </p:nvSpPr>
        <p:spPr>
          <a:xfrm>
            <a:off x="6277356" y="1965960"/>
            <a:ext cx="2452878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9525">
            <a:solidFill>
              <a:srgbClr val="EAEAE8"/>
            </a:solidFill>
            <a:prstDash val="solid"/>
          </a:ln>
          <a:effectLst>
            <a:outerShdw sx="100000" sy="100000" kx="0" ky="0" algn="bl" rotWithShape="0" blurRad="127000" dist="25400" dir="5400000">
              <a:srgbClr val="17181A">
                <a:alpha val="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597396" y="2258568"/>
            <a:ext cx="457200" cy="457200"/>
          </a:xfrm>
          <a:prstGeom prst="ellipse">
            <a:avLst/>
          </a:prstGeom>
          <a:solidFill>
            <a:srgbClr val="0A8F5B"/>
          </a:solidFill>
          <a:ln/>
        </p:spPr>
      </p:sp>
      <p:sp>
        <p:nvSpPr>
          <p:cNvPr id="18" name="Text 16"/>
          <p:cNvSpPr/>
          <p:nvPr/>
        </p:nvSpPr>
        <p:spPr>
          <a:xfrm>
            <a:off x="6597396" y="22585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597396" y="2834640"/>
            <a:ext cx="181279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71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L'enseignant lit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6597396" y="3429000"/>
            <a:ext cx="181279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A3D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tableau par module : abandons, défis où l'erreur se concentre, écart de production.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8748522" y="2926080"/>
            <a:ext cx="3291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C4C6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400" dirty="0"/>
          </a:p>
        </p:txBody>
      </p:sp>
      <p:sp>
        <p:nvSpPr>
          <p:cNvPr id="22" name="Shape 20"/>
          <p:cNvSpPr/>
          <p:nvPr/>
        </p:nvSpPr>
        <p:spPr>
          <a:xfrm>
            <a:off x="9095994" y="1965960"/>
            <a:ext cx="2452878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9525">
            <a:solidFill>
              <a:srgbClr val="EAEAE8"/>
            </a:solidFill>
            <a:prstDash val="solid"/>
          </a:ln>
          <a:effectLst>
            <a:outerShdw sx="100000" sy="100000" kx="0" ky="0" algn="bl" rotWithShape="0" blurRad="127000" dist="25400" dir="5400000">
              <a:srgbClr val="17181A">
                <a:alpha val="8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9416034" y="2258568"/>
            <a:ext cx="457200" cy="457200"/>
          </a:xfrm>
          <a:prstGeom prst="ellipse">
            <a:avLst/>
          </a:prstGeom>
          <a:solidFill>
            <a:srgbClr val="0A8F5B"/>
          </a:solidFill>
          <a:ln/>
        </p:spPr>
      </p:sp>
      <p:sp>
        <p:nvSpPr>
          <p:cNvPr id="24" name="Text 22"/>
          <p:cNvSpPr/>
          <p:nvPr/>
        </p:nvSpPr>
        <p:spPr>
          <a:xfrm>
            <a:off x="9416034" y="22585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9416034" y="2834640"/>
            <a:ext cx="181279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71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 module est révisé</a:t>
            </a:r>
            <a:endParaRPr lang="en-US" sz="1700" dirty="0"/>
          </a:p>
        </p:txBody>
      </p:sp>
      <p:sp>
        <p:nvSpPr>
          <p:cNvPr id="26" name="Text 24"/>
          <p:cNvSpPr/>
          <p:nvPr/>
        </p:nvSpPr>
        <p:spPr>
          <a:xfrm>
            <a:off x="9416034" y="3429000"/>
            <a:ext cx="181279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A3D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corrige ce que la donnée désigne — pas le module qui « semble » vieux.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640080" y="4572000"/>
            <a:ext cx="10908792" cy="1097280"/>
          </a:xfrm>
          <a:prstGeom prst="roundRect">
            <a:avLst>
              <a:gd name="adj" fmla="val 6667"/>
            </a:avLst>
          </a:prstGeom>
          <a:solidFill>
            <a:srgbClr val="E6F5EE"/>
          </a:solidFill>
          <a:ln w="9525">
            <a:solidFill>
              <a:srgbClr val="9CCBB4"/>
            </a:solidFill>
            <a:prstDash val="solid"/>
          </a:ln>
          <a:effectLst>
            <a:outerShdw sx="100000" sy="100000" kx="0" ky="0" algn="bl" rotWithShape="0" blurRad="127000" dist="25400" dir="5400000">
              <a:srgbClr val="17181A">
                <a:alpha val="8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1051560" y="4800600"/>
            <a:ext cx="100858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077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C'est ce qui transforme une bibliothèque d'activités en un dispositif qui s'améliore. Sans la boucle, nous accumulons du matériel ; avec elle, nous apprenons de nos élèves.</a:t>
            </a:r>
            <a:endParaRPr lang="en-US" sz="1450" dirty="0"/>
          </a:p>
        </p:txBody>
      </p:sp>
      <p:sp>
        <p:nvSpPr>
          <p:cNvPr id="29" name="Text 27"/>
          <p:cNvSpPr/>
          <p:nvPr/>
        </p:nvSpPr>
        <p:spPr>
          <a:xfrm>
            <a:off x="1100023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71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7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90879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71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 chantier en cours, relu à travers tout ça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1243584"/>
            <a:ext cx="9811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i="1" dirty="0">
                <a:solidFill>
                  <a:srgbClr val="4B4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Quatre volets déjà décidés — chacun répond maintenant à un principe nommé.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10908792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AEAE8"/>
            </a:solidFill>
            <a:prstDash val="solid"/>
          </a:ln>
          <a:effectLst>
            <a:outerShdw sx="100000" sy="100000" kx="0" ky="0" algn="bl" rotWithShape="0" blurRad="127000" dist="25400" dir="5400000">
              <a:srgbClr val="17181A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005840" y="2212848"/>
            <a:ext cx="164592" cy="164592"/>
          </a:xfrm>
          <a:prstGeom prst="ellipse">
            <a:avLst/>
          </a:prstGeom>
          <a:solidFill>
            <a:srgbClr val="0A8F5B"/>
          </a:solidFill>
          <a:ln/>
        </p:spPr>
      </p:sp>
      <p:sp>
        <p:nvSpPr>
          <p:cNvPr id="6" name="Text 4"/>
          <p:cNvSpPr/>
          <p:nvPr/>
        </p:nvSpPr>
        <p:spPr>
          <a:xfrm>
            <a:off x="1325880" y="1956816"/>
            <a:ext cx="4754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71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Socles techniques communs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325880" y="2286000"/>
            <a:ext cx="6949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A3D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principe de Mayer s'applique une fois et vaut pour les onze modules.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9400032" y="2103120"/>
            <a:ext cx="1828800" cy="365760"/>
          </a:xfrm>
          <a:prstGeom prst="roundRect">
            <a:avLst>
              <a:gd name="adj" fmla="val 15000"/>
            </a:avLst>
          </a:prstGeom>
          <a:solidFill>
            <a:srgbClr val="E6F5EE"/>
          </a:solidFill>
          <a:ln w="9525">
            <a:solidFill>
              <a:srgbClr val="9CCBB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400032" y="21031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77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Mayer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40080" y="2862072"/>
            <a:ext cx="10908792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AEAE8"/>
            </a:solidFill>
            <a:prstDash val="solid"/>
          </a:ln>
          <a:effectLst>
            <a:outerShdw sx="100000" sy="100000" kx="0" ky="0" algn="bl" rotWithShape="0" blurRad="127000" dist="25400" dir="5400000">
              <a:srgbClr val="17181A">
                <a:alpha val="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005840" y="3246120"/>
            <a:ext cx="164592" cy="164592"/>
          </a:xfrm>
          <a:prstGeom prst="ellipse">
            <a:avLst/>
          </a:prstGeom>
          <a:solidFill>
            <a:srgbClr val="0A8F5B"/>
          </a:solidFill>
          <a:ln/>
        </p:spPr>
      </p:sp>
      <p:sp>
        <p:nvSpPr>
          <p:cNvPr id="12" name="Text 10"/>
          <p:cNvSpPr/>
          <p:nvPr/>
        </p:nvSpPr>
        <p:spPr>
          <a:xfrm>
            <a:off x="1325880" y="2990088"/>
            <a:ext cx="4754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71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 d'apprentissage autonome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325880" y="3319272"/>
            <a:ext cx="6949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A3D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L'autodirection de l'adulte, prise au sérieux : avancer seul, reprendre où l'on a quitté.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9400032" y="3136392"/>
            <a:ext cx="1828800" cy="365760"/>
          </a:xfrm>
          <a:prstGeom prst="roundRect">
            <a:avLst>
              <a:gd name="adj" fmla="val 15000"/>
            </a:avLst>
          </a:prstGeom>
          <a:solidFill>
            <a:srgbClr val="E6F5EE"/>
          </a:solidFill>
          <a:ln w="9525">
            <a:solidFill>
              <a:srgbClr val="9CCBB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400032" y="3136392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77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Knowles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40080" y="3895344"/>
            <a:ext cx="10908792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AEAE8"/>
            </a:solidFill>
            <a:prstDash val="solid"/>
          </a:ln>
          <a:effectLst>
            <a:outerShdw sx="100000" sy="100000" kx="0" ky="0" algn="bl" rotWithShape="0" blurRad="127000" dist="25400" dir="5400000">
              <a:srgbClr val="17181A">
                <a:alpha val="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1005840" y="4279392"/>
            <a:ext cx="164592" cy="164592"/>
          </a:xfrm>
          <a:prstGeom prst="ellipse">
            <a:avLst/>
          </a:prstGeom>
          <a:solidFill>
            <a:srgbClr val="0A8F5B"/>
          </a:solidFill>
          <a:ln/>
        </p:spPr>
      </p:sp>
      <p:sp>
        <p:nvSpPr>
          <p:cNvPr id="18" name="Text 16"/>
          <p:cNvSpPr/>
          <p:nvPr/>
        </p:nvSpPr>
        <p:spPr>
          <a:xfrm>
            <a:off x="1325880" y="4023360"/>
            <a:ext cx="4754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71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Seize séances par module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1325880" y="4352544"/>
            <a:ext cx="6949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A3D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segmentation, portée jusque dans le matériel de l'enseignant.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9400032" y="4169664"/>
            <a:ext cx="1828800" cy="365760"/>
          </a:xfrm>
          <a:prstGeom prst="roundRect">
            <a:avLst>
              <a:gd name="adj" fmla="val 15000"/>
            </a:avLst>
          </a:prstGeom>
          <a:solidFill>
            <a:srgbClr val="E6F5EE"/>
          </a:solidFill>
          <a:ln w="9525">
            <a:solidFill>
              <a:srgbClr val="9CCBB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400032" y="4169664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77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Mayer · Gagné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640080" y="4928616"/>
            <a:ext cx="10908792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AEAE8"/>
            </a:solidFill>
            <a:prstDash val="solid"/>
          </a:ln>
          <a:effectLst>
            <a:outerShdw sx="100000" sy="100000" kx="0" ky="0" algn="bl" rotWithShape="0" blurRad="127000" dist="25400" dir="5400000">
              <a:srgbClr val="17181A">
                <a:alpha val="8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1005840" y="5312664"/>
            <a:ext cx="164592" cy="164592"/>
          </a:xfrm>
          <a:prstGeom prst="ellipse">
            <a:avLst/>
          </a:prstGeom>
          <a:solidFill>
            <a:srgbClr val="0A8F5B"/>
          </a:solidFill>
          <a:ln/>
        </p:spPr>
      </p:sp>
      <p:sp>
        <p:nvSpPr>
          <p:cNvPr id="24" name="Text 22"/>
          <p:cNvSpPr/>
          <p:nvPr/>
        </p:nvSpPr>
        <p:spPr>
          <a:xfrm>
            <a:off x="1325880" y="5056632"/>
            <a:ext cx="4754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71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Nouvelle formule de vocabulaire</a:t>
            </a:r>
            <a:endParaRPr lang="en-US" sz="1700" dirty="0"/>
          </a:p>
        </p:txBody>
      </p:sp>
      <p:sp>
        <p:nvSpPr>
          <p:cNvPr id="25" name="Text 23"/>
          <p:cNvSpPr/>
          <p:nvPr/>
        </p:nvSpPr>
        <p:spPr>
          <a:xfrm>
            <a:off x="1325880" y="5385816"/>
            <a:ext cx="6949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A3D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première réponse au neuvième événement : faire revenir les mots.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9400032" y="5202936"/>
            <a:ext cx="1828800" cy="365760"/>
          </a:xfrm>
          <a:prstGeom prst="roundRect">
            <a:avLst>
              <a:gd name="adj" fmla="val 15000"/>
            </a:avLst>
          </a:prstGeom>
          <a:solidFill>
            <a:srgbClr val="E6F5EE"/>
          </a:solidFill>
          <a:ln w="9525">
            <a:solidFill>
              <a:srgbClr val="9CCBB4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400032" y="5202936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77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Gagné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640080" y="5943600"/>
            <a:ext cx="109087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1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qui change : dès le module pilote, la fiche d'alignement et les trois indicateurs deviennent obligatoires. Puis par vagues de trois modules.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1100023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71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718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463040" y="4480560"/>
            <a:ext cx="4023360" cy="4023360"/>
          </a:xfrm>
          <a:prstGeom prst="ellipse">
            <a:avLst/>
          </a:prstGeom>
          <a:solidFill>
            <a:srgbClr val="1F2124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17373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A8F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L'ENGAGEMENT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2148840"/>
            <a:ext cx="93268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6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Aucun nouveau contenu</a:t>
            </a:r>
            <a:endParaRPr lang="en-US" sz="3600" dirty="0"/>
          </a:p>
          <a:p>
            <a:pPr indent="0" marL="0">
              <a:lnSpc>
                <a:spcPts val="46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sans fiche d'alignement,</a:t>
            </a:r>
            <a:endParaRPr lang="en-US" sz="3600" dirty="0"/>
          </a:p>
          <a:p>
            <a:pPr indent="0" marL="0">
              <a:lnSpc>
                <a:spcPts val="46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ni sans indicateur de réussite</a:t>
            </a:r>
            <a:endParaRPr lang="en-US" sz="3600" dirty="0"/>
          </a:p>
          <a:p>
            <a:pPr indent="0" marL="0">
              <a:lnSpc>
                <a:spcPts val="46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défini d'avance.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640080" y="5120640"/>
            <a:ext cx="8686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8AB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fiche vierge est en annexe, à la page suivante. Le référentiel du programme est à votre disposition — demandez-le-moi.</a:t>
            </a:r>
            <a:endParaRPr lang="en-US" sz="15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7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80" kern="0" dirty="0">
                <a:solidFill>
                  <a:srgbClr val="077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ANNEXE · À IMPRIMER OU À COPIER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694944"/>
            <a:ext cx="109087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71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Fiche d'alignement — vierge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371600"/>
            <a:ext cx="10908792" cy="3337560"/>
          </a:xfrm>
          <a:prstGeom prst="roundRect">
            <a:avLst>
              <a:gd name="adj" fmla="val 2192"/>
            </a:avLst>
          </a:prstGeom>
          <a:solidFill>
            <a:srgbClr val="FFFFFF"/>
          </a:solidFill>
          <a:ln w="9525">
            <a:solidFill>
              <a:srgbClr val="EAEAE8"/>
            </a:solidFill>
            <a:prstDash val="solid"/>
          </a:ln>
          <a:effectLst>
            <a:outerShdw sx="100000" sy="100000" kx="0" ky="0" algn="bl" rotWithShape="0" blurRad="127000" dist="25400" dir="5400000">
              <a:srgbClr val="17181A">
                <a:alpha val="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1097280" y="1627632"/>
            <a:ext cx="48143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1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Niveau visé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097280" y="1847088"/>
            <a:ext cx="48143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E71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 et niveau du programme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1097280" y="2414016"/>
            <a:ext cx="4814316" cy="0"/>
          </a:xfrm>
          <a:prstGeom prst="line">
            <a:avLst/>
          </a:prstGeom>
          <a:noFill/>
          <a:ln w="9525">
            <a:solidFill>
              <a:srgbClr val="C4C6C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277356" y="1627632"/>
            <a:ext cx="48143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1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Situation de vie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277356" y="1847088"/>
            <a:ext cx="48143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E71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Domaine et situation, tels que nommés au programme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6277356" y="2414016"/>
            <a:ext cx="4814316" cy="0"/>
          </a:xfrm>
          <a:prstGeom prst="line">
            <a:avLst/>
          </a:prstGeom>
          <a:noFill/>
          <a:ln w="9525">
            <a:solidFill>
              <a:srgbClr val="C4C6C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97280" y="2660904"/>
            <a:ext cx="48143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1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Intentions de communication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097280" y="2880360"/>
            <a:ext cx="48143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E71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Avec leur compétence : CO · PO · CE · PE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1097280" y="3447288"/>
            <a:ext cx="4814316" cy="0"/>
          </a:xfrm>
          <a:prstGeom prst="line">
            <a:avLst/>
          </a:prstGeom>
          <a:noFill/>
          <a:ln w="9525">
            <a:solidFill>
              <a:srgbClr val="C4C6C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277356" y="2660904"/>
            <a:ext cx="48143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1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Savoirs prescrits mobilisés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277356" y="2880360"/>
            <a:ext cx="48143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E71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Grammaire, phonétique, lexique — vérifiés au niveau visé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277356" y="3447288"/>
            <a:ext cx="4814316" cy="0"/>
          </a:xfrm>
          <a:prstGeom prst="line">
            <a:avLst/>
          </a:prstGeom>
          <a:noFill/>
          <a:ln w="9525">
            <a:solidFill>
              <a:srgbClr val="C4C6C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97280" y="3694176"/>
            <a:ext cx="48143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1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Attentes de fin de cours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1097280" y="3913632"/>
            <a:ext cx="48143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E71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que l'élève doit pouvoir faire à la fin du cours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1097280" y="4480560"/>
            <a:ext cx="4814316" cy="0"/>
          </a:xfrm>
          <a:prstGeom prst="line">
            <a:avLst/>
          </a:prstGeom>
          <a:noFill/>
          <a:ln w="9525">
            <a:solidFill>
              <a:srgbClr val="C4C6C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277356" y="3694176"/>
            <a:ext cx="48143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1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Critères d'évaluation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277356" y="3913632"/>
            <a:ext cx="48143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E71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Ceux du programme, pas les nôtres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6277356" y="4480560"/>
            <a:ext cx="4814316" cy="0"/>
          </a:xfrm>
          <a:prstGeom prst="line">
            <a:avLst/>
          </a:prstGeom>
          <a:noFill/>
          <a:ln w="9525">
            <a:solidFill>
              <a:srgbClr val="C4C6C2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40080" y="4892040"/>
            <a:ext cx="10908792" cy="1371600"/>
          </a:xfrm>
          <a:prstGeom prst="roundRect">
            <a:avLst>
              <a:gd name="adj" fmla="val 5333"/>
            </a:avLst>
          </a:prstGeom>
          <a:solidFill>
            <a:srgbClr val="E6F5EE"/>
          </a:solidFill>
          <a:ln w="9525">
            <a:solidFill>
              <a:srgbClr val="9CCBB4"/>
            </a:solidFill>
            <a:prstDash val="solid"/>
          </a:ln>
          <a:effectLst>
            <a:outerShdw sx="100000" sy="100000" kx="0" ky="0" algn="bl" rotWithShape="0" blurRad="127000" dist="25400" dir="5400000">
              <a:srgbClr val="17181A">
                <a:alpha val="8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1097280" y="5074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773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 que je mesurerai — décidé maintenant, pas à la fin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1097280" y="5440680"/>
            <a:ext cx="30876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1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Réaction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1097280" y="5660136"/>
            <a:ext cx="30876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077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que je demanderai à l'élève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1097280" y="6053328"/>
            <a:ext cx="3087624" cy="0"/>
          </a:xfrm>
          <a:prstGeom prst="line">
            <a:avLst/>
          </a:prstGeom>
          <a:noFill/>
          <a:ln w="9525">
            <a:solidFill>
              <a:srgbClr val="9CCBB4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550664" y="5440680"/>
            <a:ext cx="30876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1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Apprentissage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4550664" y="5660136"/>
            <a:ext cx="30876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077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trace qui montrera un progrès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4550664" y="6053328"/>
            <a:ext cx="3087624" cy="0"/>
          </a:xfrm>
          <a:prstGeom prst="line">
            <a:avLst/>
          </a:prstGeom>
          <a:noFill/>
          <a:ln w="9525">
            <a:solidFill>
              <a:srgbClr val="9CCBB4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004048" y="5440680"/>
            <a:ext cx="30876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1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Comportement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8004048" y="5660136"/>
            <a:ext cx="30876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077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tâche faite hors de la classe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8004048" y="6053328"/>
            <a:ext cx="3087624" cy="0"/>
          </a:xfrm>
          <a:prstGeom prst="line">
            <a:avLst/>
          </a:prstGeom>
          <a:noFill/>
          <a:ln w="9525">
            <a:solidFill>
              <a:srgbClr val="9CCBB4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6E71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Chaque champ se copie du programme dépouillé — jamais de mémoire.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11000232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71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1000" dirty="0"/>
          </a:p>
        </p:txBody>
      </p:sp>
    </p:spTree>
  </p:cSld>
  <p:clrMapOvr>
    <a:masterClrMapping/>
  </p:clrMapOvr>
</p:sld>
</file>