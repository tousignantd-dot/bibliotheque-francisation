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Séance délicate : le familier n'est pas fautif, et il ne faut pas que le groupe reparte en croyant que sa façon de parler est mauvaise. Le dire dès l'ouverture.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programme du niveau 7 demande de « reconnaître les variétés de langue et d'en tenir compte ». Reconnaître d'abord : le choix vient tout seul ensuite.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lire les trois phrases par trois élèves. Personne ne se trompe sur la première ni sur la troisième ; c'est la deuxième qui se travaille.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Trois rangées seulement, donc la note tient. Insister sur le « ne » : à l'oral courant tout le monde le laisse tomber, en entrevue il coûte un dixième de seconde et il s'entend.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C'est la règle pratique de toute la séance, et elle évite d'avoir à juger chaque phrase une par une.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dire, pour chaque item familier, la version standard équivalente. C'est l'exercice de production caché de la séance.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jouer les paires : l'un dit la version familière, l'autre répond par la version standard. Deux minutes par paire suffisent.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Faute très répandue et jamais corrigée en milieu de travail. La reprendre ici épargne une gêne en entrevue.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Ramasser les billets et en lire trois à voix haute à la séance suivante, sans nommer personne.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SÉANCE A3  ·  MODULE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Familier, standard, soutenu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394968"/>
          </a:xfrm>
          <a:prstGeom prst="roundRect">
            <a:avLst>
              <a:gd name="adj" fmla="val 1048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782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Les trois niveaux sont polis. Ce qui change, c'est la distance qu'ils supposent — et un comité de sélection n'a offert aucune intimité.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Entrer dans le programme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Entrer dans le programme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reconnaître le niveau de langue d'une phrase entendue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repérer ce qui trahit le familier et ce qui trahit le soutenu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choisir le standard pour l'entrevue et le téléphone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garder le soutenu pour la lettre.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Entrer dans le programme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OBSERVATION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qui parlez-vous comme ça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66928" y="1965960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50976" y="2039112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Ça commence quand, la job ? »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642108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66928" y="2751836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50976" y="2824988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À quel moment la formation commence-t-elle ? »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427984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566928" y="3537712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50976" y="3610864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Je vous saurais gré de m'indiquer la date. »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213860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566928" y="4323588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50976" y="4396740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Laquelle diriez-vous à votre voisine ? à un comité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Entrer dans le programme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Ce qui trahit chaque niveau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5603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LE NIVEAU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QUI LE TRAHIT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familier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la question sans marque, les mots coupés, le « ne » absent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310896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3236976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standard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3236976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la phrase entière, le « ne » prononcé, le vouvoiement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64845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776472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soutenu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776472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les formules figées et les phrases à subordonnées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4608576"/>
            <a:ext cx="11057839" cy="1175004"/>
          </a:xfrm>
          <a:prstGeom prst="roundRect">
            <a:avLst>
              <a:gd name="adj" fmla="val 12451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69264" y="4864608"/>
            <a:ext cx="10234879" cy="7178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Le standard est le niveau de l'établissement : c'est celui qu'il emploie avec vous, et celui qu'il attend en retour.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Entrer dans le programme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UN CRAN AU-DESSUS, JAMAIS UN CRAN EN DESSOUS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Écoutez le niveau de l'autre et tenez-vous juste au-dessus.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Un comité qui vous dit « on va commencer » ne vous invite pas à répondre « ouais, correct ». Il parle standard parce qu'il vous reçoit ; le standard est donc la réponse.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Entrer dans le programme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COMPRÉHENSION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Familier, standard ou soutenu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Dites à quel niveau appartient chaque phrase.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Veuillez agréer, Madame, l'expression de mes sentiments distingués.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Je vous remercie de m'avoir reçue ce matin.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Merci ben, là, c'était le fun.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À quel moment la formation commence-t-elle ?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J'ai pas eu de nouvelles pantoute depuis l'entrevue.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Je vous saurais gré de bien vouloir accuser réception.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Entrer dans le programme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Familier, standard ou soutenu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Veuillez agréer, Madame, l'expression de mes sentiments distingués.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soutenu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Je vous remercie de m'avoir reçue ce matin.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standard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Merci ben, là, c'était le fun.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familier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À quel moment la formation commence-t-elle ?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standard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J'ai pas eu de nouvelles pantoute depuis l'entrevue.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familier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Je vous saurais gré de bien vouloir accuser réception.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soutenu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Entrer dans le programme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REFORMULATION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La même chose, trois fois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3571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200" b="1" i="0">
                <a:solidFill>
                  <a:srgbClr val="B45309"/>
                </a:solidFill>
                <a:latin typeface="Verdana"/>
              </a:rPr>
              <a:t>Remercier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469388"/>
            <a:ext cx="4806543" cy="1119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familier : merci ben · standard : je vous remercie · soutenu : je vous remercie de l'attention portée à ma candidature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3571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200" b="1" i="0">
                <a:solidFill>
                  <a:srgbClr val="B45309"/>
                </a:solidFill>
                <a:latin typeface="Verdana"/>
              </a:rPr>
              <a:t>Demander une 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469388"/>
            <a:ext cx="4806543" cy="1119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familier : ça commence quand ? · standard : à quel moment commence-t-elle ? · soutenu : pourriez-vous me préciser la date 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3571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200" b="1" i="0">
                <a:solidFill>
                  <a:srgbClr val="B45309"/>
                </a:solidFill>
                <a:latin typeface="Verdana"/>
              </a:rPr>
              <a:t>Dire qu'on est sans nouvelles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686808"/>
            <a:ext cx="4806543" cy="1119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familier : j'ai pas eu de nouvelles · standard : je n'ai reçu aucune nouvelle depuis le 12 mars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8143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98183" y="4302252"/>
            <a:ext cx="4806543" cy="3571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200" b="1" i="0">
                <a:solidFill>
                  <a:srgbClr val="B45309"/>
                </a:solidFill>
                <a:latin typeface="Verdana"/>
              </a:rPr>
              <a:t>Se présenter au téléphone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8183" y="4686808"/>
            <a:ext cx="4806543" cy="1119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familier : c'est Rania · standard : bonjour, Rania Nassar, dossier 41-2887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Entrer dans le programme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PIÈGE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J'ai appliqué sur le programme.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J'ai posé ma candidature au programme.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285240"/>
          </a:xfrm>
          <a:prstGeom prst="roundRect">
            <a:avLst>
              <a:gd name="adj" fmla="val 1138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782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« Appliquer » vient de l'anglais et se remarque immédiatement dans un centre de formation. On pose sa candidature, on soumet un dossier.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Entrer dans le programme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Écris une phrase familière que tu dis souvent, puis la même phrase en français standard.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Familier : ça finit à quelle heure 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Standard : à quelle heure la rencontre se termine-t-elle 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Entrer dans le programme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