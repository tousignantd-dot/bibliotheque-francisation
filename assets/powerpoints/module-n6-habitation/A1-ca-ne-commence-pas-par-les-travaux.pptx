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Première séance du module. Ouvrir par une question au groupe : qui a déjà fait faire des travaux chez lui, ici ou dans son pays d'origine ? Les réponses sont toujours partagées, et c'est exactement le sujet du module.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deuxième objectif est celui du module entier : savoir d'avance ce qu'un papier ou une démarche va donner, c'est déjà la moitié du travail.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Question sans mauvaise réponse. Beaucoup d'élèves viennent de pays où tout passe par la relation personnelle et la parole donnée. Ne rien dévaloriser : s'en servir pour comparer, et pour faire sentir ce qu'un document écrit change dans le rapport de force.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dernière réplique porte tout le bloc. La faire répéter par deux élèves, puis demander ce que « payer deux fois » veut dire ici : réparer un résultat sans traiter la cause.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Écrire « entrepreneur général » et « corps de métier » au tableau et les y laisser toute la séance. La confusion entre les deux revient chaque année.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Ces deux faits sont vérifiés, et ce sont les seuls que le module avance comme des règles : la licence obligatoire, vérifiable au registre public ; et le permis, qui se demande à sa propre municipalité parce que les exigences varient de l'une à l'autre. Tout le reste du module est inventé.</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Diapositive à photographier. C'est le tableau de référence du module ; il revient en A4 sous forme d'exercice, puis à chaque ouverture de défi. La sixième étape, la réunion de chantier, s'ajoute au tableau en D1.</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Diapositive à photographier. Insister : il ne s'agit pas de tout comprendre, il s'agit de savoir quoi demander à qui.</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Faire répéter chaque mot avec son article. « Un corps de métier » désigne une spécialité, pas une personne : c'est la confusion la plus fréquente, et elle se corrige ici, pas plus tard.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Faire justifier chaque « faux » par la réplique exacte. Le dernier surprend souvent : plusieurs élèves ont un voisin ou un cousin qui leur a dit le contraire pour une autre ville.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Corriger en groupe. Donner la bonne réponse, sans revenir sur qui s'est trompé.</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Deux minutes. Garder les billets : ils reviennent en D2, quand le module travaille la question précise. La plupart écriront « combien ça coûte », et c'est justement la question qui ne suffit pas.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DF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1234440"/>
            <a:ext cx="11057839" cy="274320"/>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SÉANCE A1  ·  MODULE 9</a:t>
            </a:r>
          </a:p>
        </p:txBody>
      </p:sp>
      <p:sp>
        <p:nvSpPr>
          <p:cNvPr id="4" name="TextBox 3"/>
          <p:cNvSpPr txBox="1"/>
          <p:nvPr/>
        </p:nvSpPr>
        <p:spPr>
          <a:xfrm>
            <a:off x="566928" y="1691640"/>
            <a:ext cx="9960559" cy="1874519"/>
          </a:xfrm>
          <a:prstGeom prst="rect">
            <a:avLst/>
          </a:prstGeom>
          <a:noFill/>
        </p:spPr>
        <p:txBody>
          <a:bodyPr wrap="square" lIns="0" rIns="0" tIns="0" bIns="0" anchor="t">
            <a:spAutoFit/>
          </a:bodyPr>
          <a:lstStyle/>
          <a:p>
            <a:pPr algn="l">
              <a:lnSpc>
                <a:spcPct val="105000"/>
              </a:lnSpc>
            </a:pPr>
            <a:r>
              <a:rPr sz="4000" b="1" i="0">
                <a:solidFill>
                  <a:srgbClr val="17181A"/>
                </a:solidFill>
                <a:latin typeface="Verdana"/>
              </a:rPr>
              <a:t>Ça ne commence pas par les travaux</a:t>
            </a:r>
          </a:p>
        </p:txBody>
      </p:sp>
      <p:sp>
        <p:nvSpPr>
          <p:cNvPr id="5" name="Rounded Rectangle 4"/>
          <p:cNvSpPr/>
          <p:nvPr/>
        </p:nvSpPr>
        <p:spPr>
          <a:xfrm>
            <a:off x="566928" y="3794760"/>
            <a:ext cx="9960559" cy="1763268"/>
          </a:xfrm>
          <a:prstGeom prst="roundRect">
            <a:avLst>
              <a:gd name="adj" fmla="val 8297"/>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896112" y="4123944"/>
            <a:ext cx="9302191" cy="1150620"/>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Doïna veut aménager son sous-sol pour sa mère. Son voisin lui apprend que tout ce qui décide du prix final se joue avant qu'un seul outil sorte du camion.</a:t>
            </a:r>
          </a:p>
        </p:txBody>
      </p:sp>
      <p:sp>
        <p:nvSpPr>
          <p:cNvPr id="7" name="TextBox 6"/>
          <p:cNvSpPr txBox="1"/>
          <p:nvPr/>
        </p:nvSpPr>
        <p:spPr>
          <a:xfrm>
            <a:off x="566928" y="6035040"/>
            <a:ext cx="11057839" cy="274320"/>
          </a:xfrm>
          <a:prstGeom prst="rect">
            <a:avLst/>
          </a:prstGeom>
          <a:noFill/>
        </p:spPr>
        <p:txBody>
          <a:bodyPr wrap="square" lIns="0" rIns="0" tIns="0" bIns="0" anchor="t">
            <a:spAutoFit/>
          </a:bodyPr>
          <a:lstStyle/>
          <a:p>
            <a:pPr algn="l">
              <a:lnSpc>
                <a:spcPct val="135000"/>
              </a:lnSpc>
            </a:pPr>
            <a:r>
              <a:rPr sz="1500" b="0" i="0">
                <a:solidFill>
                  <a:srgbClr val="6E7175"/>
                </a:solidFill>
                <a:latin typeface="Verdana"/>
              </a:rPr>
              <a:t>75 minutes  ·  Faire faire des travaux</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A1 · Faire faire des travaux</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2</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OBJECTIFS DE LA SÉANCE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À la fin, je serai capable de…</a:t>
            </a:r>
          </a:p>
        </p:txBody>
      </p:sp>
      <p:sp>
        <p:nvSpPr>
          <p:cNvPr id="7" name="Rounded Rectangle 6"/>
          <p:cNvSpPr/>
          <p:nvPr/>
        </p:nvSpPr>
        <p:spPr>
          <a:xfrm>
            <a:off x="566928" y="1764792"/>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ounded Rectangle 7"/>
          <p:cNvSpPr/>
          <p:nvPr/>
        </p:nvSpPr>
        <p:spPr>
          <a:xfrm>
            <a:off x="804672" y="1942592"/>
            <a:ext cx="402336" cy="402336"/>
          </a:xfrm>
          <a:prstGeom prst="roundRect">
            <a:avLst>
              <a:gd name="adj" fmla="val 31818"/>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04672" y="2024887"/>
            <a:ext cx="402336" cy="274320"/>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1</a:t>
            </a:r>
          </a:p>
        </p:txBody>
      </p:sp>
      <p:sp>
        <p:nvSpPr>
          <p:cNvPr id="10" name="TextBox 9"/>
          <p:cNvSpPr txBox="1"/>
          <p:nvPr/>
        </p:nvSpPr>
        <p:spPr>
          <a:xfrm>
            <a:off x="1408176" y="1965960"/>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nommer les six étapes qui précèdent un chantier ;</a:t>
            </a:r>
          </a:p>
        </p:txBody>
      </p:sp>
      <p:sp>
        <p:nvSpPr>
          <p:cNvPr id="11" name="Rounded Rectangle 10"/>
          <p:cNvSpPr/>
          <p:nvPr/>
        </p:nvSpPr>
        <p:spPr>
          <a:xfrm>
            <a:off x="566928" y="2650744"/>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ounded Rectangle 11"/>
          <p:cNvSpPr/>
          <p:nvPr/>
        </p:nvSpPr>
        <p:spPr>
          <a:xfrm>
            <a:off x="804672" y="2828544"/>
            <a:ext cx="402336" cy="402336"/>
          </a:xfrm>
          <a:prstGeom prst="roundRect">
            <a:avLst>
              <a:gd name="adj" fmla="val 31818"/>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04672" y="2910840"/>
            <a:ext cx="402336" cy="274320"/>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2</a:t>
            </a:r>
          </a:p>
        </p:txBody>
      </p:sp>
      <p:sp>
        <p:nvSpPr>
          <p:cNvPr id="14" name="TextBox 13"/>
          <p:cNvSpPr txBox="1"/>
          <p:nvPr/>
        </p:nvSpPr>
        <p:spPr>
          <a:xfrm>
            <a:off x="1408176" y="2851912"/>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dire ce que chaque étape met dans les mains du propriétaire ;</a:t>
            </a:r>
          </a:p>
        </p:txBody>
      </p:sp>
      <p:sp>
        <p:nvSpPr>
          <p:cNvPr id="15" name="Rounded Rectangle 14"/>
          <p:cNvSpPr/>
          <p:nvPr/>
        </p:nvSpPr>
        <p:spPr>
          <a:xfrm>
            <a:off x="566928" y="3536696"/>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804672" y="3714496"/>
            <a:ext cx="402336" cy="402336"/>
          </a:xfrm>
          <a:prstGeom prst="roundRect">
            <a:avLst>
              <a:gd name="adj" fmla="val 31818"/>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04672" y="3796792"/>
            <a:ext cx="402336" cy="274320"/>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3</a:t>
            </a:r>
          </a:p>
        </p:txBody>
      </p:sp>
      <p:sp>
        <p:nvSpPr>
          <p:cNvPr id="18" name="TextBox 17"/>
          <p:cNvSpPr txBox="1"/>
          <p:nvPr/>
        </p:nvSpPr>
        <p:spPr>
          <a:xfrm>
            <a:off x="1408176" y="3737864"/>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distinguer un entrepreneur général d'un corps de métier ;</a:t>
            </a:r>
          </a:p>
        </p:txBody>
      </p:sp>
      <p:sp>
        <p:nvSpPr>
          <p:cNvPr id="19" name="Rounded Rectangle 18"/>
          <p:cNvSpPr/>
          <p:nvPr/>
        </p:nvSpPr>
        <p:spPr>
          <a:xfrm>
            <a:off x="566928" y="4422648"/>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ounded Rectangle 19"/>
          <p:cNvSpPr/>
          <p:nvPr/>
        </p:nvSpPr>
        <p:spPr>
          <a:xfrm>
            <a:off x="804672" y="4600448"/>
            <a:ext cx="402336" cy="402336"/>
          </a:xfrm>
          <a:prstGeom prst="roundRect">
            <a:avLst>
              <a:gd name="adj" fmla="val 31818"/>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804672" y="4682744"/>
            <a:ext cx="402336" cy="274320"/>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4</a:t>
            </a:r>
          </a:p>
        </p:txBody>
      </p:sp>
      <p:sp>
        <p:nvSpPr>
          <p:cNvPr id="22" name="TextBox 21"/>
          <p:cNvSpPr txBox="1"/>
          <p:nvPr/>
        </p:nvSpPr>
        <p:spPr>
          <a:xfrm>
            <a:off x="1408176" y="4623816"/>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employer les quatre premiers mots du dossier avec leur article.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A1 · Faire faire des travaux</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3</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OBSERVATION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2800" b="1" i="0">
                <a:solidFill>
                  <a:srgbClr val="17181A"/>
                </a:solidFill>
                <a:latin typeface="Verdana"/>
              </a:rPr>
              <a:t>Faire faire des travaux chez soi : par quoi commence-t-on ?</a:t>
            </a:r>
          </a:p>
        </p:txBody>
      </p:sp>
      <p:sp>
        <p:nvSpPr>
          <p:cNvPr id="7" name="Rounded Rectangle 6"/>
          <p:cNvSpPr/>
          <p:nvPr/>
        </p:nvSpPr>
        <p:spPr>
          <a:xfrm>
            <a:off x="566928" y="1856232"/>
            <a:ext cx="11057839"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566928" y="1965960"/>
            <a:ext cx="50292" cy="484123"/>
          </a:xfrm>
          <a:prstGeom prst="rect">
            <a:avLst/>
          </a:prstGeom>
          <a:solidFill>
            <a:srgbClr val="1D6B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50976" y="2039112"/>
            <a:ext cx="10372039"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As-tu déjà fait faire des travaux, ici ou ailleurs ?</a:t>
            </a:r>
          </a:p>
        </p:txBody>
      </p:sp>
      <p:sp>
        <p:nvSpPr>
          <p:cNvPr id="10" name="Rounded Rectangle 9"/>
          <p:cNvSpPr/>
          <p:nvPr/>
        </p:nvSpPr>
        <p:spPr>
          <a:xfrm>
            <a:off x="566928" y="2642108"/>
            <a:ext cx="11057839"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566928" y="2751836"/>
            <a:ext cx="50292" cy="484123"/>
          </a:xfrm>
          <a:prstGeom prst="rect">
            <a:avLst/>
          </a:prstGeom>
          <a:solidFill>
            <a:srgbClr val="1D6B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950976" y="2824988"/>
            <a:ext cx="10372039"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Comment as-tu trouvé la personne qui les a faits ?</a:t>
            </a:r>
          </a:p>
        </p:txBody>
      </p:sp>
      <p:sp>
        <p:nvSpPr>
          <p:cNvPr id="13" name="Rounded Rectangle 12"/>
          <p:cNvSpPr/>
          <p:nvPr/>
        </p:nvSpPr>
        <p:spPr>
          <a:xfrm>
            <a:off x="566928" y="3427984"/>
            <a:ext cx="11057839"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566928" y="3537712"/>
            <a:ext cx="50292" cy="484123"/>
          </a:xfrm>
          <a:prstGeom prst="rect">
            <a:avLst/>
          </a:prstGeom>
          <a:solidFill>
            <a:srgbClr val="1D6B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950976" y="3610864"/>
            <a:ext cx="10372039"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Le prix a-t-il été écrit quelque part, ou dit de vive voix ?</a:t>
            </a:r>
          </a:p>
        </p:txBody>
      </p:sp>
      <p:sp>
        <p:nvSpPr>
          <p:cNvPr id="16" name="Rounded Rectangle 15"/>
          <p:cNvSpPr/>
          <p:nvPr/>
        </p:nvSpPr>
        <p:spPr>
          <a:xfrm>
            <a:off x="566928" y="4213860"/>
            <a:ext cx="11057839"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566928" y="4323588"/>
            <a:ext cx="50292" cy="484123"/>
          </a:xfrm>
          <a:prstGeom prst="rect">
            <a:avLst/>
          </a:prstGeom>
          <a:solidFill>
            <a:srgbClr val="1D6B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950976" y="4396740"/>
            <a:ext cx="10372039"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Y a-t-il eu une surprise à la fin ?</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A1 · Faire faire des travaux</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4</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DIALOGUE · 1 DE 3</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Ce qui vient avant les travaux</a:t>
            </a:r>
          </a:p>
        </p:txBody>
      </p:sp>
      <p:sp>
        <p:nvSpPr>
          <p:cNvPr id="7" name="TextBox 6"/>
          <p:cNvSpPr txBox="1"/>
          <p:nvPr/>
        </p:nvSpPr>
        <p:spPr>
          <a:xfrm>
            <a:off x="566928" y="173736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Écouter d'abord, diapositive masquée.</a:t>
            </a:r>
          </a:p>
        </p:txBody>
      </p:sp>
      <p:sp>
        <p:nvSpPr>
          <p:cNvPr id="8" name="Rounded Rectangle 7"/>
          <p:cNvSpPr/>
          <p:nvPr/>
        </p:nvSpPr>
        <p:spPr>
          <a:xfrm>
            <a:off x="566928" y="2157984"/>
            <a:ext cx="11057839" cy="898144"/>
          </a:xfrm>
          <a:prstGeom prst="roundRect">
            <a:avLst>
              <a:gd name="adj" fmla="val 16289"/>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32688" y="2322576"/>
            <a:ext cx="1496853" cy="623824"/>
          </a:xfrm>
          <a:prstGeom prst="rect">
            <a:avLst/>
          </a:prstGeom>
          <a:noFill/>
        </p:spPr>
        <p:txBody>
          <a:bodyPr wrap="square" lIns="0" rIns="0" tIns="0" bIns="0" anchor="t">
            <a:spAutoFit/>
          </a:bodyPr>
          <a:lstStyle/>
          <a:p>
            <a:pPr algn="l">
              <a:lnSpc>
                <a:spcPct val="135000"/>
              </a:lnSpc>
            </a:pPr>
            <a:r>
              <a:rPr sz="1600" b="1" i="0">
                <a:solidFill>
                  <a:srgbClr val="1D6B8F"/>
                </a:solidFill>
                <a:latin typeface="Verdana"/>
              </a:rPr>
              <a:t>DOÏNA</a:t>
            </a:r>
          </a:p>
        </p:txBody>
      </p:sp>
      <p:sp>
        <p:nvSpPr>
          <p:cNvPr id="10" name="TextBox 9"/>
          <p:cNvSpPr txBox="1"/>
          <p:nvPr/>
        </p:nvSpPr>
        <p:spPr>
          <a:xfrm>
            <a:off x="2429541" y="2322576"/>
            <a:ext cx="8646585" cy="623824"/>
          </a:xfrm>
          <a:prstGeom prst="rect">
            <a:avLst/>
          </a:prstGeom>
          <a:noFill/>
        </p:spPr>
        <p:txBody>
          <a:bodyPr wrap="square" lIns="0" rIns="0" tIns="0" bIns="0" anchor="t">
            <a:spAutoFit/>
          </a:bodyPr>
          <a:lstStyle/>
          <a:p>
            <a:pPr algn="l">
              <a:lnSpc>
                <a:spcPct val="140000"/>
              </a:lnSpc>
            </a:pPr>
            <a:r>
              <a:rPr sz="1600" b="0" i="0">
                <a:solidFill>
                  <a:srgbClr val="3A3D40"/>
                </a:solidFill>
                <a:latin typeface="Verdana"/>
              </a:rPr>
              <a:t>Léandre ! Tu as deux minutes ? Ma mère arrive de Roumanie au mois de mai et on voudrait lui aménager le sous-sol.</a:t>
            </a:r>
          </a:p>
        </p:txBody>
      </p:sp>
      <p:sp>
        <p:nvSpPr>
          <p:cNvPr id="11" name="Rounded Rectangle 10"/>
          <p:cNvSpPr/>
          <p:nvPr/>
        </p:nvSpPr>
        <p:spPr>
          <a:xfrm>
            <a:off x="566928" y="3138424"/>
            <a:ext cx="11057839" cy="898144"/>
          </a:xfrm>
          <a:prstGeom prst="roundRect">
            <a:avLst>
              <a:gd name="adj" fmla="val 16289"/>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932688" y="3303016"/>
            <a:ext cx="1496853" cy="623824"/>
          </a:xfrm>
          <a:prstGeom prst="rect">
            <a:avLst/>
          </a:prstGeom>
          <a:noFill/>
        </p:spPr>
        <p:txBody>
          <a:bodyPr wrap="square" lIns="0" rIns="0" tIns="0" bIns="0" anchor="t">
            <a:spAutoFit/>
          </a:bodyPr>
          <a:lstStyle/>
          <a:p>
            <a:pPr algn="l">
              <a:lnSpc>
                <a:spcPct val="135000"/>
              </a:lnSpc>
            </a:pPr>
            <a:r>
              <a:rPr sz="1600" b="1" i="0">
                <a:solidFill>
                  <a:srgbClr val="1D6B8F"/>
                </a:solidFill>
                <a:latin typeface="Verdana"/>
              </a:rPr>
              <a:t>LÉANDRE</a:t>
            </a:r>
          </a:p>
        </p:txBody>
      </p:sp>
      <p:sp>
        <p:nvSpPr>
          <p:cNvPr id="13" name="TextBox 12"/>
          <p:cNvSpPr txBox="1"/>
          <p:nvPr/>
        </p:nvSpPr>
        <p:spPr>
          <a:xfrm>
            <a:off x="2429541" y="3303016"/>
            <a:ext cx="8646585" cy="623824"/>
          </a:xfrm>
          <a:prstGeom prst="rect">
            <a:avLst/>
          </a:prstGeom>
          <a:noFill/>
        </p:spPr>
        <p:txBody>
          <a:bodyPr wrap="square" lIns="0" rIns="0" tIns="0" bIns="0" anchor="t">
            <a:spAutoFit/>
          </a:bodyPr>
          <a:lstStyle/>
          <a:p>
            <a:pPr algn="l">
              <a:lnSpc>
                <a:spcPct val="140000"/>
              </a:lnSpc>
            </a:pPr>
            <a:r>
              <a:rPr sz="1600" b="0" i="0">
                <a:solidFill>
                  <a:srgbClr val="3A3D40"/>
                </a:solidFill>
                <a:latin typeface="Verdana"/>
              </a:rPr>
              <a:t>C'est exactement ce qu'on a fait l'an passé. Je peux te dire une chose : ce n'est pas les travaux qui sont difficiles, c'est ce qui vient avant.</a:t>
            </a:r>
          </a:p>
        </p:txBody>
      </p:sp>
      <p:sp>
        <p:nvSpPr>
          <p:cNvPr id="14" name="Rounded Rectangle 13"/>
          <p:cNvSpPr/>
          <p:nvPr/>
        </p:nvSpPr>
        <p:spPr>
          <a:xfrm>
            <a:off x="566928" y="4118864"/>
            <a:ext cx="11057839" cy="898144"/>
          </a:xfrm>
          <a:prstGeom prst="roundRect">
            <a:avLst>
              <a:gd name="adj" fmla="val 16289"/>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932688" y="4283456"/>
            <a:ext cx="1496853" cy="623824"/>
          </a:xfrm>
          <a:prstGeom prst="rect">
            <a:avLst/>
          </a:prstGeom>
          <a:noFill/>
        </p:spPr>
        <p:txBody>
          <a:bodyPr wrap="square" lIns="0" rIns="0" tIns="0" bIns="0" anchor="t">
            <a:spAutoFit/>
          </a:bodyPr>
          <a:lstStyle/>
          <a:p>
            <a:pPr algn="l">
              <a:lnSpc>
                <a:spcPct val="135000"/>
              </a:lnSpc>
            </a:pPr>
            <a:r>
              <a:rPr sz="1600" b="1" i="0">
                <a:solidFill>
                  <a:srgbClr val="1D6B8F"/>
                </a:solidFill>
                <a:latin typeface="Verdana"/>
              </a:rPr>
              <a:t>DOÏNA</a:t>
            </a:r>
          </a:p>
        </p:txBody>
      </p:sp>
      <p:sp>
        <p:nvSpPr>
          <p:cNvPr id="16" name="TextBox 15"/>
          <p:cNvSpPr txBox="1"/>
          <p:nvPr/>
        </p:nvSpPr>
        <p:spPr>
          <a:xfrm>
            <a:off x="2429541" y="4283456"/>
            <a:ext cx="8646585" cy="623824"/>
          </a:xfrm>
          <a:prstGeom prst="rect">
            <a:avLst/>
          </a:prstGeom>
          <a:noFill/>
        </p:spPr>
        <p:txBody>
          <a:bodyPr wrap="square" lIns="0" rIns="0" tIns="0" bIns="0" anchor="t">
            <a:spAutoFit/>
          </a:bodyPr>
          <a:lstStyle/>
          <a:p>
            <a:pPr algn="l">
              <a:lnSpc>
                <a:spcPct val="140000"/>
              </a:lnSpc>
            </a:pPr>
            <a:r>
              <a:rPr sz="1600" b="0" i="0">
                <a:solidFill>
                  <a:srgbClr val="3A3D40"/>
                </a:solidFill>
                <a:latin typeface="Verdana"/>
              </a:rPr>
              <a:t>Comment ça, ce qui vient avant ? On appelle quelqu'un, il vient, il donne un prix, non ?</a:t>
            </a:r>
          </a:p>
        </p:txBody>
      </p:sp>
      <p:sp>
        <p:nvSpPr>
          <p:cNvPr id="17" name="Rounded Rectangle 16"/>
          <p:cNvSpPr/>
          <p:nvPr/>
        </p:nvSpPr>
        <p:spPr>
          <a:xfrm>
            <a:off x="566928" y="5099304"/>
            <a:ext cx="11057839" cy="898144"/>
          </a:xfrm>
          <a:prstGeom prst="roundRect">
            <a:avLst>
              <a:gd name="adj" fmla="val 16289"/>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932688" y="5263895"/>
            <a:ext cx="1496853" cy="623824"/>
          </a:xfrm>
          <a:prstGeom prst="rect">
            <a:avLst/>
          </a:prstGeom>
          <a:noFill/>
        </p:spPr>
        <p:txBody>
          <a:bodyPr wrap="square" lIns="0" rIns="0" tIns="0" bIns="0" anchor="t">
            <a:spAutoFit/>
          </a:bodyPr>
          <a:lstStyle/>
          <a:p>
            <a:pPr algn="l">
              <a:lnSpc>
                <a:spcPct val="135000"/>
              </a:lnSpc>
            </a:pPr>
            <a:r>
              <a:rPr sz="1600" b="1" i="0">
                <a:solidFill>
                  <a:srgbClr val="1D6B8F"/>
                </a:solidFill>
                <a:latin typeface="Verdana"/>
              </a:rPr>
              <a:t>LÉANDRE</a:t>
            </a:r>
          </a:p>
        </p:txBody>
      </p:sp>
      <p:sp>
        <p:nvSpPr>
          <p:cNvPr id="19" name="TextBox 18"/>
          <p:cNvSpPr txBox="1"/>
          <p:nvPr/>
        </p:nvSpPr>
        <p:spPr>
          <a:xfrm>
            <a:off x="2429541" y="5263895"/>
            <a:ext cx="8646585" cy="623824"/>
          </a:xfrm>
          <a:prstGeom prst="rect">
            <a:avLst/>
          </a:prstGeom>
          <a:noFill/>
        </p:spPr>
        <p:txBody>
          <a:bodyPr wrap="square" lIns="0" rIns="0" tIns="0" bIns="0" anchor="t">
            <a:spAutoFit/>
          </a:bodyPr>
          <a:lstStyle/>
          <a:p>
            <a:pPr algn="l">
              <a:lnSpc>
                <a:spcPct val="140000"/>
              </a:lnSpc>
            </a:pPr>
            <a:r>
              <a:rPr sz="1600" b="0" i="0">
                <a:solidFill>
                  <a:srgbClr val="3A3D40"/>
                </a:solidFill>
                <a:latin typeface="Verdana"/>
              </a:rPr>
              <a:t>Si tu fais ça, tu vas payer deux fois. Nous autres, on a commencé par une inspection.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A1 · Faire faire des travaux</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5</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DIALOGUE · 2 DE 3</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Une inspectrice, un entrepreneur</a:t>
            </a:r>
          </a:p>
        </p:txBody>
      </p:sp>
      <p:sp>
        <p:nvSpPr>
          <p:cNvPr id="7" name="Rounded Rectangle 6"/>
          <p:cNvSpPr/>
          <p:nvPr/>
        </p:nvSpPr>
        <p:spPr>
          <a:xfrm>
            <a:off x="566928" y="1737360"/>
            <a:ext cx="11057839" cy="667003"/>
          </a:xfrm>
          <a:prstGeom prst="roundRect">
            <a:avLst>
              <a:gd name="adj" fmla="val 21934"/>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1901952"/>
            <a:ext cx="1496853" cy="39268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DOÏNA</a:t>
            </a:r>
          </a:p>
        </p:txBody>
      </p:sp>
      <p:sp>
        <p:nvSpPr>
          <p:cNvPr id="9" name="TextBox 8"/>
          <p:cNvSpPr txBox="1"/>
          <p:nvPr/>
        </p:nvSpPr>
        <p:spPr>
          <a:xfrm>
            <a:off x="2429541" y="1901952"/>
            <a:ext cx="8646585" cy="39268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Un rapport pour quoi faire ? On voit bien qu'il n'y a rien de cassé.</a:t>
            </a:r>
          </a:p>
        </p:txBody>
      </p:sp>
      <p:sp>
        <p:nvSpPr>
          <p:cNvPr id="10" name="Rounded Rectangle 9"/>
          <p:cNvSpPr/>
          <p:nvPr/>
        </p:nvSpPr>
        <p:spPr>
          <a:xfrm>
            <a:off x="566928" y="2486659"/>
            <a:ext cx="11057839" cy="1004823"/>
          </a:xfrm>
          <a:prstGeom prst="roundRect">
            <a:avLst>
              <a:gd name="adj" fmla="val 14560"/>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32688" y="2651252"/>
            <a:ext cx="1496853" cy="73050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LÉANDRE</a:t>
            </a:r>
          </a:p>
        </p:txBody>
      </p:sp>
      <p:sp>
        <p:nvSpPr>
          <p:cNvPr id="12" name="TextBox 11"/>
          <p:cNvSpPr txBox="1"/>
          <p:nvPr/>
        </p:nvSpPr>
        <p:spPr>
          <a:xfrm>
            <a:off x="2429541" y="2651252"/>
            <a:ext cx="8646585" cy="73050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On voit ce qui est visible. Elle, elle regarde la fondation, l'humidité, la pente du terrain, le drain.</a:t>
            </a:r>
          </a:p>
        </p:txBody>
      </p:sp>
      <p:sp>
        <p:nvSpPr>
          <p:cNvPr id="13" name="Rounded Rectangle 12"/>
          <p:cNvSpPr/>
          <p:nvPr/>
        </p:nvSpPr>
        <p:spPr>
          <a:xfrm>
            <a:off x="566928" y="3573780"/>
            <a:ext cx="11057839" cy="667003"/>
          </a:xfrm>
          <a:prstGeom prst="roundRect">
            <a:avLst>
              <a:gd name="adj" fmla="val 21934"/>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32688" y="3738371"/>
            <a:ext cx="1496853" cy="39268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DOÏNA</a:t>
            </a:r>
          </a:p>
        </p:txBody>
      </p:sp>
      <p:sp>
        <p:nvSpPr>
          <p:cNvPr id="15" name="TextBox 14"/>
          <p:cNvSpPr txBox="1"/>
          <p:nvPr/>
        </p:nvSpPr>
        <p:spPr>
          <a:xfrm>
            <a:off x="2429541" y="3738371"/>
            <a:ext cx="8646585" cy="39268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Et ensuite ?</a:t>
            </a:r>
          </a:p>
        </p:txBody>
      </p:sp>
      <p:sp>
        <p:nvSpPr>
          <p:cNvPr id="16" name="Rounded Rectangle 15"/>
          <p:cNvSpPr/>
          <p:nvPr/>
        </p:nvSpPr>
        <p:spPr>
          <a:xfrm>
            <a:off x="566928" y="4323080"/>
            <a:ext cx="11057839" cy="1004823"/>
          </a:xfrm>
          <a:prstGeom prst="roundRect">
            <a:avLst>
              <a:gd name="adj" fmla="val 14560"/>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932688" y="4487672"/>
            <a:ext cx="1496853" cy="73050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LÉANDRE</a:t>
            </a:r>
          </a:p>
        </p:txBody>
      </p:sp>
      <p:sp>
        <p:nvSpPr>
          <p:cNvPr id="18" name="TextBox 17"/>
          <p:cNvSpPr txBox="1"/>
          <p:nvPr/>
        </p:nvSpPr>
        <p:spPr>
          <a:xfrm>
            <a:off x="2429541" y="4487672"/>
            <a:ext cx="8646585" cy="73050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Ensuite, tu appelles un entrepreneur général. Lui, il coordonne les corps de métier. Tu n'as pas à les appeler un par un.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A1 · Faire faire des travaux</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6</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DIALOGUE · 3 DE 3</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La licence et le permis</a:t>
            </a:r>
          </a:p>
        </p:txBody>
      </p:sp>
      <p:sp>
        <p:nvSpPr>
          <p:cNvPr id="7" name="Rounded Rectangle 6"/>
          <p:cNvSpPr/>
          <p:nvPr/>
        </p:nvSpPr>
        <p:spPr>
          <a:xfrm>
            <a:off x="566928" y="1737360"/>
            <a:ext cx="11057839" cy="1342644"/>
          </a:xfrm>
          <a:prstGeom prst="roundRect">
            <a:avLst>
              <a:gd name="adj" fmla="val 10896"/>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1901952"/>
            <a:ext cx="1496853" cy="1068324"/>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LÉANDRE</a:t>
            </a:r>
          </a:p>
        </p:txBody>
      </p:sp>
      <p:sp>
        <p:nvSpPr>
          <p:cNvPr id="9" name="TextBox 8"/>
          <p:cNvSpPr txBox="1"/>
          <p:nvPr/>
        </p:nvSpPr>
        <p:spPr>
          <a:xfrm>
            <a:off x="2429541" y="1901952"/>
            <a:ext cx="8646585" cy="1068324"/>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Vérifie la licence de ton entrepreneur : au Québec, celui qui exécute des travaux de construction pour quelqu'un d'autre doit en avoir une, de la Régie du bâtiment.</a:t>
            </a:r>
          </a:p>
        </p:txBody>
      </p:sp>
      <p:sp>
        <p:nvSpPr>
          <p:cNvPr id="10" name="Rounded Rectangle 9"/>
          <p:cNvSpPr/>
          <p:nvPr/>
        </p:nvSpPr>
        <p:spPr>
          <a:xfrm>
            <a:off x="566928" y="3162299"/>
            <a:ext cx="11057839" cy="667003"/>
          </a:xfrm>
          <a:prstGeom prst="roundRect">
            <a:avLst>
              <a:gd name="adj" fmla="val 21934"/>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32688" y="3326892"/>
            <a:ext cx="1496853" cy="39268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DOÏNA</a:t>
            </a:r>
          </a:p>
        </p:txBody>
      </p:sp>
      <p:sp>
        <p:nvSpPr>
          <p:cNvPr id="12" name="TextBox 11"/>
          <p:cNvSpPr txBox="1"/>
          <p:nvPr/>
        </p:nvSpPr>
        <p:spPr>
          <a:xfrm>
            <a:off x="2429541" y="3326892"/>
            <a:ext cx="8646585" cy="39268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Ça se vérifie où, une licence ?</a:t>
            </a:r>
          </a:p>
        </p:txBody>
      </p:sp>
      <p:sp>
        <p:nvSpPr>
          <p:cNvPr id="13" name="Rounded Rectangle 12"/>
          <p:cNvSpPr/>
          <p:nvPr/>
        </p:nvSpPr>
        <p:spPr>
          <a:xfrm>
            <a:off x="566928" y="3911600"/>
            <a:ext cx="11057839" cy="1004823"/>
          </a:xfrm>
          <a:prstGeom prst="roundRect">
            <a:avLst>
              <a:gd name="adj" fmla="val 14560"/>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32688" y="4076191"/>
            <a:ext cx="1496853" cy="73050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LÉANDRE</a:t>
            </a:r>
          </a:p>
        </p:txBody>
      </p:sp>
      <p:sp>
        <p:nvSpPr>
          <p:cNvPr id="15" name="TextBox 14"/>
          <p:cNvSpPr txBox="1"/>
          <p:nvPr/>
        </p:nvSpPr>
        <p:spPr>
          <a:xfrm>
            <a:off x="2429541" y="4076191"/>
            <a:ext cx="8646585" cy="73050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Dans le registre de la Régie. C'est public, ça prend deux minutes. Deux minutes, avant de signer pour trente mille piastres.</a:t>
            </a:r>
          </a:p>
        </p:txBody>
      </p:sp>
      <p:sp>
        <p:nvSpPr>
          <p:cNvPr id="16" name="Rounded Rectangle 15"/>
          <p:cNvSpPr/>
          <p:nvPr/>
        </p:nvSpPr>
        <p:spPr>
          <a:xfrm>
            <a:off x="566928" y="4998720"/>
            <a:ext cx="11057839" cy="1004823"/>
          </a:xfrm>
          <a:prstGeom prst="roundRect">
            <a:avLst>
              <a:gd name="adj" fmla="val 14560"/>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932688" y="5163312"/>
            <a:ext cx="1496853" cy="73050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DOÏNA</a:t>
            </a:r>
          </a:p>
        </p:txBody>
      </p:sp>
      <p:sp>
        <p:nvSpPr>
          <p:cNvPr id="18" name="TextBox 17"/>
          <p:cNvSpPr txBox="1"/>
          <p:nvPr/>
        </p:nvSpPr>
        <p:spPr>
          <a:xfrm>
            <a:off x="2429541" y="5163312"/>
            <a:ext cx="8646585" cy="73050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Donc : une inspection, une soumission écrite, une licence à vérifier, un permis à demander.</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A1 · Faire faire des travaux</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7</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ANALYSE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Chaque étape, et ce qu'elle te donne</a:t>
            </a:r>
          </a:p>
        </p:txBody>
      </p:sp>
      <p:sp>
        <p:nvSpPr>
          <p:cNvPr id="7" name="Rounded Rectangle 6"/>
          <p:cNvSpPr/>
          <p:nvPr/>
        </p:nvSpPr>
        <p:spPr>
          <a:xfrm>
            <a:off x="566928" y="1810512"/>
            <a:ext cx="11057839" cy="3253740"/>
          </a:xfrm>
          <a:prstGeom prst="roundRect">
            <a:avLst>
              <a:gd name="adj" fmla="val 449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1975104"/>
            <a:ext cx="3291492"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L'ÉTAPE</a:t>
            </a:r>
          </a:p>
        </p:txBody>
      </p:sp>
      <p:sp>
        <p:nvSpPr>
          <p:cNvPr id="9" name="TextBox 8"/>
          <p:cNvSpPr txBox="1"/>
          <p:nvPr/>
        </p:nvSpPr>
        <p:spPr>
          <a:xfrm>
            <a:off x="4443636" y="1975104"/>
            <a:ext cx="6595914"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CE QUI TE RESTE EN MAIN</a:t>
            </a:r>
          </a:p>
        </p:txBody>
      </p:sp>
      <p:sp>
        <p:nvSpPr>
          <p:cNvPr id="10" name="TextBox 9"/>
          <p:cNvSpPr txBox="1"/>
          <p:nvPr/>
        </p:nvSpPr>
        <p:spPr>
          <a:xfrm>
            <a:off x="932688" y="2395728"/>
            <a:ext cx="3291492" cy="321564"/>
          </a:xfrm>
          <a:prstGeom prst="rect">
            <a:avLst/>
          </a:prstGeom>
          <a:noFill/>
        </p:spPr>
        <p:txBody>
          <a:bodyPr wrap="square" lIns="0" rIns="0" tIns="0" bIns="0" anchor="t">
            <a:spAutoFit/>
          </a:bodyPr>
          <a:lstStyle/>
          <a:p>
            <a:pPr algn="l">
              <a:lnSpc>
                <a:spcPct val="132000"/>
              </a:lnSpc>
            </a:pPr>
            <a:r>
              <a:rPr sz="1700" b="1" i="0">
                <a:solidFill>
                  <a:srgbClr val="1D6B8F"/>
                </a:solidFill>
                <a:latin typeface="Verdana"/>
              </a:rPr>
              <a:t>L'inspection</a:t>
            </a:r>
          </a:p>
        </p:txBody>
      </p:sp>
      <p:sp>
        <p:nvSpPr>
          <p:cNvPr id="11" name="TextBox 10"/>
          <p:cNvSpPr txBox="1"/>
          <p:nvPr/>
        </p:nvSpPr>
        <p:spPr>
          <a:xfrm>
            <a:off x="4443636" y="2395728"/>
            <a:ext cx="6595914" cy="321564"/>
          </a:xfrm>
          <a:prstGeom prst="rect">
            <a:avLst/>
          </a:prstGeom>
          <a:noFill/>
        </p:spPr>
        <p:txBody>
          <a:bodyPr wrap="square" lIns="0" rIns="0" tIns="0" bIns="0" anchor="t">
            <a:spAutoFit/>
          </a:bodyPr>
          <a:lstStyle/>
          <a:p>
            <a:pPr algn="l">
              <a:lnSpc>
                <a:spcPct val="132000"/>
              </a:lnSpc>
            </a:pPr>
            <a:r>
              <a:rPr sz="1700" b="0" i="0">
                <a:solidFill>
                  <a:srgbClr val="3A3D40"/>
                </a:solidFill>
                <a:latin typeface="Verdana"/>
              </a:rPr>
              <a:t>un rapport écrit qui décrit l'état réel</a:t>
            </a:r>
          </a:p>
        </p:txBody>
      </p:sp>
      <p:sp>
        <p:nvSpPr>
          <p:cNvPr id="12" name="Rectangle 11"/>
          <p:cNvSpPr/>
          <p:nvPr/>
        </p:nvSpPr>
        <p:spPr>
          <a:xfrm>
            <a:off x="932688" y="2790444"/>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932688" y="2918460"/>
            <a:ext cx="3291492" cy="321564"/>
          </a:xfrm>
          <a:prstGeom prst="rect">
            <a:avLst/>
          </a:prstGeom>
          <a:noFill/>
        </p:spPr>
        <p:txBody>
          <a:bodyPr wrap="square" lIns="0" rIns="0" tIns="0" bIns="0" anchor="t">
            <a:spAutoFit/>
          </a:bodyPr>
          <a:lstStyle/>
          <a:p>
            <a:pPr algn="l">
              <a:lnSpc>
                <a:spcPct val="132000"/>
              </a:lnSpc>
            </a:pPr>
            <a:r>
              <a:rPr sz="1700" b="1" i="0">
                <a:solidFill>
                  <a:srgbClr val="1D6B8F"/>
                </a:solidFill>
                <a:latin typeface="Verdana"/>
              </a:rPr>
              <a:t>La licence</a:t>
            </a:r>
          </a:p>
        </p:txBody>
      </p:sp>
      <p:sp>
        <p:nvSpPr>
          <p:cNvPr id="14" name="TextBox 13"/>
          <p:cNvSpPr txBox="1"/>
          <p:nvPr/>
        </p:nvSpPr>
        <p:spPr>
          <a:xfrm>
            <a:off x="4443636" y="2918460"/>
            <a:ext cx="6595914" cy="321564"/>
          </a:xfrm>
          <a:prstGeom prst="rect">
            <a:avLst/>
          </a:prstGeom>
          <a:noFill/>
        </p:spPr>
        <p:txBody>
          <a:bodyPr wrap="square" lIns="0" rIns="0" tIns="0" bIns="0" anchor="t">
            <a:spAutoFit/>
          </a:bodyPr>
          <a:lstStyle/>
          <a:p>
            <a:pPr algn="l">
              <a:lnSpc>
                <a:spcPct val="132000"/>
              </a:lnSpc>
            </a:pPr>
            <a:r>
              <a:rPr sz="1700" b="0" i="0">
                <a:solidFill>
                  <a:srgbClr val="3A3D40"/>
                </a:solidFill>
                <a:latin typeface="Verdana"/>
              </a:rPr>
              <a:t>la certitude qu'on a le droit de faire les travaux</a:t>
            </a:r>
          </a:p>
        </p:txBody>
      </p:sp>
      <p:sp>
        <p:nvSpPr>
          <p:cNvPr id="15" name="Rectangle 14"/>
          <p:cNvSpPr/>
          <p:nvPr/>
        </p:nvSpPr>
        <p:spPr>
          <a:xfrm>
            <a:off x="932688" y="3313176"/>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932688" y="3441192"/>
            <a:ext cx="3291492" cy="321564"/>
          </a:xfrm>
          <a:prstGeom prst="rect">
            <a:avLst/>
          </a:prstGeom>
          <a:noFill/>
        </p:spPr>
        <p:txBody>
          <a:bodyPr wrap="square" lIns="0" rIns="0" tIns="0" bIns="0" anchor="t">
            <a:spAutoFit/>
          </a:bodyPr>
          <a:lstStyle/>
          <a:p>
            <a:pPr algn="l">
              <a:lnSpc>
                <a:spcPct val="132000"/>
              </a:lnSpc>
            </a:pPr>
            <a:r>
              <a:rPr sz="1700" b="1" i="0">
                <a:solidFill>
                  <a:srgbClr val="1D6B8F"/>
                </a:solidFill>
                <a:latin typeface="Verdana"/>
              </a:rPr>
              <a:t>La soumission</a:t>
            </a:r>
          </a:p>
        </p:txBody>
      </p:sp>
      <p:sp>
        <p:nvSpPr>
          <p:cNvPr id="17" name="TextBox 16"/>
          <p:cNvSpPr txBox="1"/>
          <p:nvPr/>
        </p:nvSpPr>
        <p:spPr>
          <a:xfrm>
            <a:off x="4443636" y="3441192"/>
            <a:ext cx="6595914" cy="321564"/>
          </a:xfrm>
          <a:prstGeom prst="rect">
            <a:avLst/>
          </a:prstGeom>
          <a:noFill/>
        </p:spPr>
        <p:txBody>
          <a:bodyPr wrap="square" lIns="0" rIns="0" tIns="0" bIns="0" anchor="t">
            <a:spAutoFit/>
          </a:bodyPr>
          <a:lstStyle/>
          <a:p>
            <a:pPr algn="l">
              <a:lnSpc>
                <a:spcPct val="132000"/>
              </a:lnSpc>
            </a:pPr>
            <a:r>
              <a:rPr sz="1700" b="0" i="0">
                <a:solidFill>
                  <a:srgbClr val="3A3D40"/>
                </a:solidFill>
                <a:latin typeface="Verdana"/>
              </a:rPr>
              <a:t>un prix par ligne, et des exclusions</a:t>
            </a:r>
          </a:p>
        </p:txBody>
      </p:sp>
      <p:sp>
        <p:nvSpPr>
          <p:cNvPr id="18" name="Rectangle 17"/>
          <p:cNvSpPr/>
          <p:nvPr/>
        </p:nvSpPr>
        <p:spPr>
          <a:xfrm>
            <a:off x="932688" y="3835908"/>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932688" y="3963924"/>
            <a:ext cx="3291492" cy="321564"/>
          </a:xfrm>
          <a:prstGeom prst="rect">
            <a:avLst/>
          </a:prstGeom>
          <a:noFill/>
        </p:spPr>
        <p:txBody>
          <a:bodyPr wrap="square" lIns="0" rIns="0" tIns="0" bIns="0" anchor="t">
            <a:spAutoFit/>
          </a:bodyPr>
          <a:lstStyle/>
          <a:p>
            <a:pPr algn="l">
              <a:lnSpc>
                <a:spcPct val="132000"/>
              </a:lnSpc>
            </a:pPr>
            <a:r>
              <a:rPr sz="1700" b="1" i="0">
                <a:solidFill>
                  <a:srgbClr val="1D6B8F"/>
                </a:solidFill>
                <a:latin typeface="Verdana"/>
              </a:rPr>
              <a:t>Le permis</a:t>
            </a:r>
          </a:p>
        </p:txBody>
      </p:sp>
      <p:sp>
        <p:nvSpPr>
          <p:cNvPr id="20" name="TextBox 19"/>
          <p:cNvSpPr txBox="1"/>
          <p:nvPr/>
        </p:nvSpPr>
        <p:spPr>
          <a:xfrm>
            <a:off x="4443636" y="3963924"/>
            <a:ext cx="6595914" cy="321564"/>
          </a:xfrm>
          <a:prstGeom prst="rect">
            <a:avLst/>
          </a:prstGeom>
          <a:noFill/>
        </p:spPr>
        <p:txBody>
          <a:bodyPr wrap="square" lIns="0" rIns="0" tIns="0" bIns="0" anchor="t">
            <a:spAutoFit/>
          </a:bodyPr>
          <a:lstStyle/>
          <a:p>
            <a:pPr algn="l">
              <a:lnSpc>
                <a:spcPct val="132000"/>
              </a:lnSpc>
            </a:pPr>
            <a:r>
              <a:rPr sz="1700" b="0" i="0">
                <a:solidFill>
                  <a:srgbClr val="3A3D40"/>
                </a:solidFill>
                <a:latin typeface="Verdana"/>
              </a:rPr>
              <a:t>l'accord de la ville, et un délai</a:t>
            </a:r>
          </a:p>
        </p:txBody>
      </p:sp>
      <p:sp>
        <p:nvSpPr>
          <p:cNvPr id="21" name="Rectangle 20"/>
          <p:cNvSpPr/>
          <p:nvPr/>
        </p:nvSpPr>
        <p:spPr>
          <a:xfrm>
            <a:off x="932688" y="4358640"/>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932688" y="4486656"/>
            <a:ext cx="3291492" cy="321564"/>
          </a:xfrm>
          <a:prstGeom prst="rect">
            <a:avLst/>
          </a:prstGeom>
          <a:noFill/>
        </p:spPr>
        <p:txBody>
          <a:bodyPr wrap="square" lIns="0" rIns="0" tIns="0" bIns="0" anchor="t">
            <a:spAutoFit/>
          </a:bodyPr>
          <a:lstStyle/>
          <a:p>
            <a:pPr algn="l">
              <a:lnSpc>
                <a:spcPct val="132000"/>
              </a:lnSpc>
            </a:pPr>
            <a:r>
              <a:rPr sz="1700" b="1" i="0">
                <a:solidFill>
                  <a:srgbClr val="1D6B8F"/>
                </a:solidFill>
                <a:latin typeface="Verdana"/>
              </a:rPr>
              <a:t>L'échéancier</a:t>
            </a:r>
          </a:p>
        </p:txBody>
      </p:sp>
      <p:sp>
        <p:nvSpPr>
          <p:cNvPr id="23" name="TextBox 22"/>
          <p:cNvSpPr txBox="1"/>
          <p:nvPr/>
        </p:nvSpPr>
        <p:spPr>
          <a:xfrm>
            <a:off x="4443636" y="4486656"/>
            <a:ext cx="6595914" cy="321564"/>
          </a:xfrm>
          <a:prstGeom prst="rect">
            <a:avLst/>
          </a:prstGeom>
          <a:noFill/>
        </p:spPr>
        <p:txBody>
          <a:bodyPr wrap="square" lIns="0" rIns="0" tIns="0" bIns="0" anchor="t">
            <a:spAutoFit/>
          </a:bodyPr>
          <a:lstStyle/>
          <a:p>
            <a:pPr algn="l">
              <a:lnSpc>
                <a:spcPct val="132000"/>
              </a:lnSpc>
            </a:pPr>
            <a:r>
              <a:rPr sz="1700" b="0" i="0">
                <a:solidFill>
                  <a:srgbClr val="3A3D40"/>
                </a:solidFill>
                <a:latin typeface="Verdana"/>
              </a:rPr>
              <a:t>la date de chaque étape, séchage compris</a:t>
            </a:r>
          </a:p>
        </p:txBody>
      </p:sp>
      <p:sp>
        <p:nvSpPr>
          <p:cNvPr id="24" name="Rounded Rectangle 23"/>
          <p:cNvSpPr/>
          <p:nvPr/>
        </p:nvSpPr>
        <p:spPr>
          <a:xfrm>
            <a:off x="566928" y="5301996"/>
            <a:ext cx="11057839" cy="769874"/>
          </a:xfrm>
          <a:prstGeom prst="roundRect">
            <a:avLst>
              <a:gd name="adj" fmla="val 19003"/>
            </a:avLst>
          </a:prstGeom>
          <a:solidFill>
            <a:srgbClr val="FBFBFA"/>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969264" y="5558028"/>
            <a:ext cx="10234879" cy="312674"/>
          </a:xfrm>
          <a:prstGeom prst="rect">
            <a:avLst/>
          </a:prstGeom>
          <a:noFill/>
        </p:spPr>
        <p:txBody>
          <a:bodyPr wrap="square" lIns="0" rIns="0" tIns="0" bIns="0" anchor="t">
            <a:spAutoFit/>
          </a:bodyPr>
          <a:lstStyle/>
          <a:p>
            <a:pPr algn="l">
              <a:lnSpc>
                <a:spcPct val="145000"/>
              </a:lnSpc>
            </a:pPr>
            <a:r>
              <a:rPr sz="1400" b="0" i="0">
                <a:solidFill>
                  <a:srgbClr val="4B4F52"/>
                </a:solidFill>
                <a:latin typeface="Verdana"/>
              </a:rPr>
              <a:t>Une étape dont il ne reste rien d'écrit n'a pas eu lieu.</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A1 · Faire faire des travaux</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8</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SAVOIR D'AVANCE CE QU'ON VA OBTENIR</a:t>
            </a:r>
          </a:p>
        </p:txBody>
      </p:sp>
      <p:sp>
        <p:nvSpPr>
          <p:cNvPr id="6" name="Rounded Rectangle 5"/>
          <p:cNvSpPr/>
          <p:nvPr/>
        </p:nvSpPr>
        <p:spPr>
          <a:xfrm>
            <a:off x="566928" y="1225296"/>
            <a:ext cx="11057839" cy="1967991"/>
          </a:xfrm>
          <a:prstGeom prst="roundRect">
            <a:avLst>
              <a:gd name="adj" fmla="val 7434"/>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298448" y="1682496"/>
            <a:ext cx="9594799" cy="1145032"/>
          </a:xfrm>
          <a:prstGeom prst="rect">
            <a:avLst/>
          </a:prstGeom>
          <a:noFill/>
        </p:spPr>
        <p:txBody>
          <a:bodyPr wrap="square" lIns="0" rIns="0" tIns="0" bIns="0" anchor="t">
            <a:spAutoFit/>
          </a:bodyPr>
          <a:lstStyle/>
          <a:p>
            <a:pPr algn="l">
              <a:lnSpc>
                <a:spcPct val="122000"/>
              </a:lnSpc>
            </a:pPr>
            <a:r>
              <a:rPr sz="3400" b="1" i="0">
                <a:solidFill>
                  <a:srgbClr val="17181A"/>
                </a:solidFill>
                <a:latin typeface="Verdana"/>
              </a:rPr>
              <a:t>Chaque étape produit un objet précis : un papier, une confirmation, une date.</a:t>
            </a:r>
          </a:p>
        </p:txBody>
      </p:sp>
      <p:sp>
        <p:nvSpPr>
          <p:cNvPr id="8" name="Rounded Rectangle 7"/>
          <p:cNvSpPr/>
          <p:nvPr/>
        </p:nvSpPr>
        <p:spPr>
          <a:xfrm>
            <a:off x="566928" y="3467607"/>
            <a:ext cx="11057839" cy="2040128"/>
          </a:xfrm>
          <a:prstGeom prst="roundRect">
            <a:avLst>
              <a:gd name="adj" fmla="val 7171"/>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69264" y="3741927"/>
            <a:ext cx="10234879" cy="1582928"/>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Devant une inspectrice, vous attendez une description, pas un prix. Devant un entrepreneur, vous attendez un prix, pas une vérité sur l'état du bâtiment. Devant la ville, vous attendez un délai. Demander la mauvaise chose à la bonne personne fait perdre une semaine chaque fois.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A1 · Faire faire des travaux</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9</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VOCABULAIRE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Les quatre premiers mots, avec leur article</a:t>
            </a:r>
          </a:p>
        </p:txBody>
      </p:sp>
      <p:sp>
        <p:nvSpPr>
          <p:cNvPr id="7" name="Rounded Rectangle 6"/>
          <p:cNvSpPr/>
          <p:nvPr/>
        </p:nvSpPr>
        <p:spPr>
          <a:xfrm>
            <a:off x="566928" y="1810512"/>
            <a:ext cx="11057839" cy="4270248"/>
          </a:xfrm>
          <a:prstGeom prst="roundRect">
            <a:avLst>
              <a:gd name="adj" fmla="val 34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2121408"/>
            <a:ext cx="3532727" cy="765809"/>
          </a:xfrm>
          <a:prstGeom prst="rect">
            <a:avLst/>
          </a:prstGeom>
          <a:noFill/>
        </p:spPr>
        <p:txBody>
          <a:bodyPr wrap="square" lIns="0" rIns="0" tIns="0" bIns="0" anchor="t">
            <a:spAutoFit/>
          </a:bodyPr>
          <a:lstStyle/>
          <a:p>
            <a:pPr algn="l">
              <a:lnSpc>
                <a:spcPct val="128000"/>
              </a:lnSpc>
            </a:pPr>
            <a:r>
              <a:rPr sz="1900" b="1" i="0">
                <a:solidFill>
                  <a:srgbClr val="17181A"/>
                </a:solidFill>
                <a:latin typeface="Verdana"/>
              </a:rPr>
              <a:t>un entrepreneur général</a:t>
            </a:r>
          </a:p>
        </p:txBody>
      </p:sp>
      <p:sp>
        <p:nvSpPr>
          <p:cNvPr id="9" name="TextBox 8"/>
          <p:cNvSpPr txBox="1"/>
          <p:nvPr/>
        </p:nvSpPr>
        <p:spPr>
          <a:xfrm>
            <a:off x="4739735" y="2121408"/>
            <a:ext cx="6519271" cy="765809"/>
          </a:xfrm>
          <a:prstGeom prst="rect">
            <a:avLst/>
          </a:prstGeom>
          <a:noFill/>
        </p:spPr>
        <p:txBody>
          <a:bodyPr wrap="square" lIns="0" rIns="0" tIns="0" bIns="0" anchor="t">
            <a:spAutoFit/>
          </a:bodyPr>
          <a:lstStyle/>
          <a:p>
            <a:pPr algn="l">
              <a:lnSpc>
                <a:spcPct val="135000"/>
              </a:lnSpc>
            </a:pPr>
            <a:r>
              <a:rPr sz="1800" b="0" i="0">
                <a:solidFill>
                  <a:srgbClr val="4B4F52"/>
                </a:solidFill>
                <a:latin typeface="Verdana"/>
              </a:rPr>
              <a:t>La personne qui prend le chantier en charge au complet et qui fait venir chaque métier.</a:t>
            </a:r>
          </a:p>
        </p:txBody>
      </p:sp>
      <p:sp>
        <p:nvSpPr>
          <p:cNvPr id="10" name="Rectangle 9"/>
          <p:cNvSpPr/>
          <p:nvPr/>
        </p:nvSpPr>
        <p:spPr>
          <a:xfrm>
            <a:off x="932688" y="2960370"/>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32688" y="3106674"/>
            <a:ext cx="3532727" cy="765809"/>
          </a:xfrm>
          <a:prstGeom prst="rect">
            <a:avLst/>
          </a:prstGeom>
          <a:noFill/>
        </p:spPr>
        <p:txBody>
          <a:bodyPr wrap="square" lIns="0" rIns="0" tIns="0" bIns="0" anchor="t">
            <a:spAutoFit/>
          </a:bodyPr>
          <a:lstStyle/>
          <a:p>
            <a:pPr algn="l">
              <a:lnSpc>
                <a:spcPct val="128000"/>
              </a:lnSpc>
            </a:pPr>
            <a:r>
              <a:rPr sz="1900" b="1" i="0">
                <a:solidFill>
                  <a:srgbClr val="17181A"/>
                </a:solidFill>
                <a:latin typeface="Verdana"/>
              </a:rPr>
              <a:t>une soumission</a:t>
            </a:r>
          </a:p>
        </p:txBody>
      </p:sp>
      <p:sp>
        <p:nvSpPr>
          <p:cNvPr id="12" name="TextBox 11"/>
          <p:cNvSpPr txBox="1"/>
          <p:nvPr/>
        </p:nvSpPr>
        <p:spPr>
          <a:xfrm>
            <a:off x="4739735" y="3106674"/>
            <a:ext cx="6519271" cy="765809"/>
          </a:xfrm>
          <a:prstGeom prst="rect">
            <a:avLst/>
          </a:prstGeom>
          <a:noFill/>
        </p:spPr>
        <p:txBody>
          <a:bodyPr wrap="square" lIns="0" rIns="0" tIns="0" bIns="0" anchor="t">
            <a:spAutoFit/>
          </a:bodyPr>
          <a:lstStyle/>
          <a:p>
            <a:pPr algn="l">
              <a:lnSpc>
                <a:spcPct val="135000"/>
              </a:lnSpc>
            </a:pPr>
            <a:r>
              <a:rPr sz="1800" b="0" i="0">
                <a:solidFill>
                  <a:srgbClr val="4B4F52"/>
                </a:solidFill>
                <a:latin typeface="Verdana"/>
              </a:rPr>
              <a:t>Le prix écrit qu'une entreprise propose, avec le détail de ce qu'elle fera.</a:t>
            </a:r>
          </a:p>
        </p:txBody>
      </p:sp>
      <p:sp>
        <p:nvSpPr>
          <p:cNvPr id="13" name="Rectangle 12"/>
          <p:cNvSpPr/>
          <p:nvPr/>
        </p:nvSpPr>
        <p:spPr>
          <a:xfrm>
            <a:off x="932688" y="3945635"/>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32688" y="4091939"/>
            <a:ext cx="3532727" cy="765809"/>
          </a:xfrm>
          <a:prstGeom prst="rect">
            <a:avLst/>
          </a:prstGeom>
          <a:noFill/>
        </p:spPr>
        <p:txBody>
          <a:bodyPr wrap="square" lIns="0" rIns="0" tIns="0" bIns="0" anchor="t">
            <a:spAutoFit/>
          </a:bodyPr>
          <a:lstStyle/>
          <a:p>
            <a:pPr algn="l">
              <a:lnSpc>
                <a:spcPct val="128000"/>
              </a:lnSpc>
            </a:pPr>
            <a:r>
              <a:rPr sz="1900" b="1" i="0">
                <a:solidFill>
                  <a:srgbClr val="17181A"/>
                </a:solidFill>
                <a:latin typeface="Verdana"/>
              </a:rPr>
              <a:t>un corps de métier</a:t>
            </a:r>
          </a:p>
        </p:txBody>
      </p:sp>
      <p:sp>
        <p:nvSpPr>
          <p:cNvPr id="15" name="TextBox 14"/>
          <p:cNvSpPr txBox="1"/>
          <p:nvPr/>
        </p:nvSpPr>
        <p:spPr>
          <a:xfrm>
            <a:off x="4739735" y="4091939"/>
            <a:ext cx="6519271" cy="765809"/>
          </a:xfrm>
          <a:prstGeom prst="rect">
            <a:avLst/>
          </a:prstGeom>
          <a:noFill/>
        </p:spPr>
        <p:txBody>
          <a:bodyPr wrap="square" lIns="0" rIns="0" tIns="0" bIns="0" anchor="t">
            <a:spAutoFit/>
          </a:bodyPr>
          <a:lstStyle/>
          <a:p>
            <a:pPr algn="l">
              <a:lnSpc>
                <a:spcPct val="135000"/>
              </a:lnSpc>
            </a:pPr>
            <a:r>
              <a:rPr sz="1800" b="0" i="0">
                <a:solidFill>
                  <a:srgbClr val="4B4F52"/>
                </a:solidFill>
                <a:latin typeface="Verdana"/>
              </a:rPr>
              <a:t>Chacun des métiers appelés sur un chantier : le maçon, le plombier, l'électricien.</a:t>
            </a:r>
          </a:p>
        </p:txBody>
      </p:sp>
      <p:sp>
        <p:nvSpPr>
          <p:cNvPr id="16" name="Rectangle 15"/>
          <p:cNvSpPr/>
          <p:nvPr/>
        </p:nvSpPr>
        <p:spPr>
          <a:xfrm>
            <a:off x="932688" y="4930901"/>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932688" y="5077205"/>
            <a:ext cx="3532727" cy="765809"/>
          </a:xfrm>
          <a:prstGeom prst="rect">
            <a:avLst/>
          </a:prstGeom>
          <a:noFill/>
        </p:spPr>
        <p:txBody>
          <a:bodyPr wrap="square" lIns="0" rIns="0" tIns="0" bIns="0" anchor="t">
            <a:spAutoFit/>
          </a:bodyPr>
          <a:lstStyle/>
          <a:p>
            <a:pPr algn="l">
              <a:lnSpc>
                <a:spcPct val="128000"/>
              </a:lnSpc>
            </a:pPr>
            <a:r>
              <a:rPr sz="1900" b="1" i="0">
                <a:solidFill>
                  <a:srgbClr val="17181A"/>
                </a:solidFill>
                <a:latin typeface="Verdana"/>
              </a:rPr>
              <a:t>un permis de rénovation</a:t>
            </a:r>
          </a:p>
        </p:txBody>
      </p:sp>
      <p:sp>
        <p:nvSpPr>
          <p:cNvPr id="18" name="TextBox 17"/>
          <p:cNvSpPr txBox="1"/>
          <p:nvPr/>
        </p:nvSpPr>
        <p:spPr>
          <a:xfrm>
            <a:off x="4739735" y="5077205"/>
            <a:ext cx="6519271" cy="765809"/>
          </a:xfrm>
          <a:prstGeom prst="rect">
            <a:avLst/>
          </a:prstGeom>
          <a:noFill/>
        </p:spPr>
        <p:txBody>
          <a:bodyPr wrap="square" lIns="0" rIns="0" tIns="0" bIns="0" anchor="t">
            <a:spAutoFit/>
          </a:bodyPr>
          <a:lstStyle/>
          <a:p>
            <a:pPr algn="l">
              <a:lnSpc>
                <a:spcPct val="135000"/>
              </a:lnSpc>
            </a:pPr>
            <a:r>
              <a:rPr sz="1800" b="0" i="0">
                <a:solidFill>
                  <a:srgbClr val="4B4F52"/>
                </a:solidFill>
                <a:latin typeface="Verdana"/>
              </a:rPr>
              <a:t>L'autorisation que la municipalité donne avant certains travaux.</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A1 · Faire faire des travaux</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10</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COMPRÉHENSION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Vrai ou faux ?</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Répondez d'après la conversation de Doïna et de Léandre.</a:t>
            </a:r>
          </a:p>
        </p:txBody>
      </p:sp>
      <p:sp>
        <p:nvSpPr>
          <p:cNvPr id="8" name="Rounded Rectangle 7"/>
          <p:cNvSpPr/>
          <p:nvPr/>
        </p:nvSpPr>
        <p:spPr>
          <a:xfrm>
            <a:off x="566928" y="2139696"/>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36724"/>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00732"/>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1</a:t>
            </a:r>
          </a:p>
        </p:txBody>
      </p:sp>
      <p:sp>
        <p:nvSpPr>
          <p:cNvPr id="11" name="TextBox 10"/>
          <p:cNvSpPr txBox="1"/>
          <p:nvPr/>
        </p:nvSpPr>
        <p:spPr>
          <a:xfrm>
            <a:off x="1344168" y="229514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Le plus difficile dans un chantier, ce sont les travaux eux-mêmes.</a:t>
            </a:r>
          </a:p>
        </p:txBody>
      </p:sp>
      <p:sp>
        <p:nvSpPr>
          <p:cNvPr id="12" name="Rounded Rectangle 11"/>
          <p:cNvSpPr/>
          <p:nvPr/>
        </p:nvSpPr>
        <p:spPr>
          <a:xfrm>
            <a:off x="566928" y="2827528"/>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2924556"/>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2988564"/>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2</a:t>
            </a:r>
          </a:p>
        </p:txBody>
      </p:sp>
      <p:sp>
        <p:nvSpPr>
          <p:cNvPr id="15" name="TextBox 14"/>
          <p:cNvSpPr txBox="1"/>
          <p:nvPr/>
        </p:nvSpPr>
        <p:spPr>
          <a:xfrm>
            <a:off x="1344168" y="2982975"/>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L'inspectrice de Léandre a trouvé une fissure derrière une étagère.</a:t>
            </a:r>
          </a:p>
        </p:txBody>
      </p:sp>
      <p:sp>
        <p:nvSpPr>
          <p:cNvPr id="16" name="Rounded Rectangle 15"/>
          <p:cNvSpPr/>
          <p:nvPr/>
        </p:nvSpPr>
        <p:spPr>
          <a:xfrm>
            <a:off x="566928" y="3515359"/>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612388"/>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676395"/>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3</a:t>
            </a:r>
          </a:p>
        </p:txBody>
      </p:sp>
      <p:sp>
        <p:nvSpPr>
          <p:cNvPr id="19" name="TextBox 18"/>
          <p:cNvSpPr txBox="1"/>
          <p:nvPr/>
        </p:nvSpPr>
        <p:spPr>
          <a:xfrm>
            <a:off x="1344168" y="3670807"/>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L'entrepreneur général coordonne les corps de métier.</a:t>
            </a:r>
          </a:p>
        </p:txBody>
      </p:sp>
      <p:sp>
        <p:nvSpPr>
          <p:cNvPr id="20" name="Rounded Rectangle 19"/>
          <p:cNvSpPr/>
          <p:nvPr/>
        </p:nvSpPr>
        <p:spPr>
          <a:xfrm>
            <a:off x="566928" y="4203192"/>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300220"/>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364228"/>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4</a:t>
            </a:r>
          </a:p>
        </p:txBody>
      </p:sp>
      <p:sp>
        <p:nvSpPr>
          <p:cNvPr id="23" name="TextBox 22"/>
          <p:cNvSpPr txBox="1"/>
          <p:nvPr/>
        </p:nvSpPr>
        <p:spPr>
          <a:xfrm>
            <a:off x="1344168" y="4358640"/>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Une soumission écrite au dos d'une facture vaut autant qu'une soumission détaillée.</a:t>
            </a:r>
          </a:p>
        </p:txBody>
      </p:sp>
      <p:sp>
        <p:nvSpPr>
          <p:cNvPr id="24" name="Rounded Rectangle 23"/>
          <p:cNvSpPr/>
          <p:nvPr/>
        </p:nvSpPr>
        <p:spPr>
          <a:xfrm>
            <a:off x="566928" y="4891023"/>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4988051"/>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052059"/>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5</a:t>
            </a:r>
          </a:p>
        </p:txBody>
      </p:sp>
      <p:sp>
        <p:nvSpPr>
          <p:cNvPr id="27" name="TextBox 26"/>
          <p:cNvSpPr txBox="1"/>
          <p:nvPr/>
        </p:nvSpPr>
        <p:spPr>
          <a:xfrm>
            <a:off x="1344168" y="5046471"/>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Un entrepreneur doit détenir une licence de la Régie du bâtiment.</a:t>
            </a:r>
          </a:p>
        </p:txBody>
      </p:sp>
      <p:sp>
        <p:nvSpPr>
          <p:cNvPr id="28" name="Rounded Rectangle 27"/>
          <p:cNvSpPr/>
          <p:nvPr/>
        </p:nvSpPr>
        <p:spPr>
          <a:xfrm>
            <a:off x="566928" y="5578856"/>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841247" y="5675884"/>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41247" y="5739892"/>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6</a:t>
            </a:r>
          </a:p>
        </p:txBody>
      </p:sp>
      <p:sp>
        <p:nvSpPr>
          <p:cNvPr id="31" name="TextBox 30"/>
          <p:cNvSpPr txBox="1"/>
          <p:nvPr/>
        </p:nvSpPr>
        <p:spPr>
          <a:xfrm>
            <a:off x="1344168" y="573430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Le permis est le même partout au Québec.</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A1 · Faire faire des travaux</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11</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CORRECTION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Vrai ou faux ?</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Correction — on lit la réponse, on ne commente pas l'erreur.</a:t>
            </a:r>
          </a:p>
        </p:txBody>
      </p:sp>
      <p:sp>
        <p:nvSpPr>
          <p:cNvPr id="8" name="Rounded Rectangle 7"/>
          <p:cNvSpPr/>
          <p:nvPr/>
        </p:nvSpPr>
        <p:spPr>
          <a:xfrm>
            <a:off x="566928" y="2139696"/>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36724"/>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00732"/>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1</a:t>
            </a:r>
          </a:p>
        </p:txBody>
      </p:sp>
      <p:sp>
        <p:nvSpPr>
          <p:cNvPr id="11" name="TextBox 10"/>
          <p:cNvSpPr txBox="1"/>
          <p:nvPr/>
        </p:nvSpPr>
        <p:spPr>
          <a:xfrm>
            <a:off x="1344168" y="229514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Le plus difficile dans un chantier, ce sont les travaux eux-mêmes.   </a:t>
            </a:r>
            <a:r>
              <a:rPr sz="1400" b="1" i="0">
                <a:solidFill>
                  <a:srgbClr val="07734A"/>
                </a:solidFill>
                <a:latin typeface="Verdana"/>
              </a:rPr>
              <a:t>» faux - c'est ce qui vient avant</a:t>
            </a:r>
          </a:p>
        </p:txBody>
      </p:sp>
      <p:sp>
        <p:nvSpPr>
          <p:cNvPr id="12" name="Rounded Rectangle 11"/>
          <p:cNvSpPr/>
          <p:nvPr/>
        </p:nvSpPr>
        <p:spPr>
          <a:xfrm>
            <a:off x="566928" y="2827528"/>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2924556"/>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2988564"/>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2</a:t>
            </a:r>
          </a:p>
        </p:txBody>
      </p:sp>
      <p:sp>
        <p:nvSpPr>
          <p:cNvPr id="15" name="TextBox 14"/>
          <p:cNvSpPr txBox="1"/>
          <p:nvPr/>
        </p:nvSpPr>
        <p:spPr>
          <a:xfrm>
            <a:off x="1344168" y="2982975"/>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L'inspectrice de Léandre a trouvé une fissure derrière une étagère.   </a:t>
            </a:r>
            <a:r>
              <a:rPr sz="1400" b="1" i="0">
                <a:solidFill>
                  <a:srgbClr val="07734A"/>
                </a:solidFill>
                <a:latin typeface="Verdana"/>
              </a:rPr>
              <a:t>» vrai</a:t>
            </a:r>
          </a:p>
        </p:txBody>
      </p:sp>
      <p:sp>
        <p:nvSpPr>
          <p:cNvPr id="16" name="Rounded Rectangle 15"/>
          <p:cNvSpPr/>
          <p:nvPr/>
        </p:nvSpPr>
        <p:spPr>
          <a:xfrm>
            <a:off x="566928" y="3515359"/>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612388"/>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676395"/>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3</a:t>
            </a:r>
          </a:p>
        </p:txBody>
      </p:sp>
      <p:sp>
        <p:nvSpPr>
          <p:cNvPr id="19" name="TextBox 18"/>
          <p:cNvSpPr txBox="1"/>
          <p:nvPr/>
        </p:nvSpPr>
        <p:spPr>
          <a:xfrm>
            <a:off x="1344168" y="3670807"/>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L'entrepreneur général coordonne les corps de métier.   </a:t>
            </a:r>
            <a:r>
              <a:rPr sz="1400" b="1" i="0">
                <a:solidFill>
                  <a:srgbClr val="07734A"/>
                </a:solidFill>
                <a:latin typeface="Verdana"/>
              </a:rPr>
              <a:t>» vrai</a:t>
            </a:r>
          </a:p>
        </p:txBody>
      </p:sp>
      <p:sp>
        <p:nvSpPr>
          <p:cNvPr id="20" name="Rounded Rectangle 19"/>
          <p:cNvSpPr/>
          <p:nvPr/>
        </p:nvSpPr>
        <p:spPr>
          <a:xfrm>
            <a:off x="566928" y="4203192"/>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300220"/>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364228"/>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4</a:t>
            </a:r>
          </a:p>
        </p:txBody>
      </p:sp>
      <p:sp>
        <p:nvSpPr>
          <p:cNvPr id="23" name="TextBox 22"/>
          <p:cNvSpPr txBox="1"/>
          <p:nvPr/>
        </p:nvSpPr>
        <p:spPr>
          <a:xfrm>
            <a:off x="1344168" y="4358640"/>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Une soumission écrite au dos d'une facture vaut autant qu'une soumission détaillée.   </a:t>
            </a:r>
            <a:r>
              <a:rPr sz="1400" b="1" i="0">
                <a:solidFill>
                  <a:srgbClr val="07734A"/>
                </a:solidFill>
                <a:latin typeface="Verdana"/>
              </a:rPr>
              <a:t>» faux</a:t>
            </a:r>
          </a:p>
        </p:txBody>
      </p:sp>
      <p:sp>
        <p:nvSpPr>
          <p:cNvPr id="24" name="Rounded Rectangle 23"/>
          <p:cNvSpPr/>
          <p:nvPr/>
        </p:nvSpPr>
        <p:spPr>
          <a:xfrm>
            <a:off x="566928" y="4891023"/>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4988051"/>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052059"/>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5</a:t>
            </a:r>
          </a:p>
        </p:txBody>
      </p:sp>
      <p:sp>
        <p:nvSpPr>
          <p:cNvPr id="27" name="TextBox 26"/>
          <p:cNvSpPr txBox="1"/>
          <p:nvPr/>
        </p:nvSpPr>
        <p:spPr>
          <a:xfrm>
            <a:off x="1344168" y="5046471"/>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Un entrepreneur doit détenir une licence de la Régie du bâtiment.   </a:t>
            </a:r>
            <a:r>
              <a:rPr sz="1400" b="1" i="0">
                <a:solidFill>
                  <a:srgbClr val="07734A"/>
                </a:solidFill>
                <a:latin typeface="Verdana"/>
              </a:rPr>
              <a:t>» vrai</a:t>
            </a:r>
          </a:p>
        </p:txBody>
      </p:sp>
      <p:sp>
        <p:nvSpPr>
          <p:cNvPr id="28" name="Rounded Rectangle 27"/>
          <p:cNvSpPr/>
          <p:nvPr/>
        </p:nvSpPr>
        <p:spPr>
          <a:xfrm>
            <a:off x="566928" y="5578856"/>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841247" y="5675884"/>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41247" y="5739892"/>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6</a:t>
            </a:r>
          </a:p>
        </p:txBody>
      </p:sp>
      <p:sp>
        <p:nvSpPr>
          <p:cNvPr id="31" name="TextBox 30"/>
          <p:cNvSpPr txBox="1"/>
          <p:nvPr/>
        </p:nvSpPr>
        <p:spPr>
          <a:xfrm>
            <a:off x="1344168" y="573430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Le permis est le même partout au Québec.   </a:t>
            </a:r>
            <a:r>
              <a:rPr sz="1400" b="1" i="0">
                <a:solidFill>
                  <a:srgbClr val="07734A"/>
                </a:solidFill>
                <a:latin typeface="Verdana"/>
              </a:rPr>
              <a:t>» faux - il se demande à sa municipalité</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A1 · Faire faire des travaux</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12</a:t>
            </a:r>
          </a:p>
        </p:txBody>
      </p:sp>
      <p:sp>
        <p:nvSpPr>
          <p:cNvPr id="5" name="Rectangle 4"/>
          <p:cNvSpPr/>
          <p:nvPr/>
        </p:nvSpPr>
        <p:spPr>
          <a:xfrm>
            <a:off x="0" y="0"/>
            <a:ext cx="12191695" cy="6858000"/>
          </a:xfrm>
          <a:prstGeom prst="rect">
            <a:avLst/>
          </a:prstGeom>
          <a:solidFill>
            <a:srgbClr val="1718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1051560"/>
            <a:ext cx="11057839" cy="274320"/>
          </a:xfrm>
          <a:prstGeom prst="rect">
            <a:avLst/>
          </a:prstGeom>
          <a:noFill/>
        </p:spPr>
        <p:txBody>
          <a:bodyPr wrap="square" lIns="0" rIns="0" tIns="0" bIns="0" anchor="t">
            <a:spAutoFit/>
          </a:bodyPr>
          <a:lstStyle/>
          <a:p>
            <a:pPr algn="l">
              <a:lnSpc>
                <a:spcPct val="135000"/>
              </a:lnSpc>
            </a:pPr>
            <a:r>
              <a:rPr sz="1300" b="1" i="0" spc="156">
                <a:solidFill>
                  <a:srgbClr val="FFFFFF"/>
                </a:solidFill>
                <a:latin typeface="Verdana"/>
              </a:rPr>
              <a:t>BILLET DE SORTIE</a:t>
            </a:r>
          </a:p>
        </p:txBody>
      </p:sp>
      <p:sp>
        <p:nvSpPr>
          <p:cNvPr id="7" name="TextBox 6"/>
          <p:cNvSpPr txBox="1"/>
          <p:nvPr/>
        </p:nvSpPr>
        <p:spPr>
          <a:xfrm>
            <a:off x="566928" y="1572768"/>
            <a:ext cx="9777679" cy="2103120"/>
          </a:xfrm>
          <a:prstGeom prst="rect">
            <a:avLst/>
          </a:prstGeom>
          <a:noFill/>
        </p:spPr>
        <p:txBody>
          <a:bodyPr wrap="square" lIns="0" rIns="0" tIns="0" bIns="0" anchor="t">
            <a:spAutoFit/>
          </a:bodyPr>
          <a:lstStyle/>
          <a:p>
            <a:pPr algn="l">
              <a:lnSpc>
                <a:spcPct val="125000"/>
              </a:lnSpc>
            </a:pPr>
            <a:r>
              <a:rPr sz="3400" b="1" i="0">
                <a:solidFill>
                  <a:srgbClr val="FFFFFF"/>
                </a:solidFill>
                <a:latin typeface="Verdana"/>
              </a:rPr>
              <a:t>Quelle est la première question que tu poserais à un entrepreneur ?</a:t>
            </a:r>
          </a:p>
        </p:txBody>
      </p:sp>
      <p:sp>
        <p:nvSpPr>
          <p:cNvPr id="8" name="Rounded Rectangle 7"/>
          <p:cNvSpPr/>
          <p:nvPr/>
        </p:nvSpPr>
        <p:spPr>
          <a:xfrm>
            <a:off x="566928" y="3931920"/>
            <a:ext cx="11057839" cy="666496"/>
          </a:xfrm>
          <a:prstGeom prst="roundRect">
            <a:avLst>
              <a:gd name="adj" fmla="val 13719"/>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32688" y="4087368"/>
            <a:ext cx="10051999" cy="3921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Une phrase suffit.</a:t>
            </a:r>
          </a:p>
        </p:txBody>
      </p:sp>
      <p:sp>
        <p:nvSpPr>
          <p:cNvPr id="10" name="Rounded Rectangle 9"/>
          <p:cNvSpPr/>
          <p:nvPr/>
        </p:nvSpPr>
        <p:spPr>
          <a:xfrm>
            <a:off x="566928" y="4680712"/>
            <a:ext cx="11057839" cy="666496"/>
          </a:xfrm>
          <a:prstGeom prst="roundRect">
            <a:avLst>
              <a:gd name="adj" fmla="val 13719"/>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32688" y="4836160"/>
            <a:ext cx="10051999" cy="3921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Pense à ce que tu voudrais savoir avant de le laisser commencer.</a:t>
            </a:r>
          </a:p>
        </p:txBody>
      </p:sp>
      <p:sp>
        <p:nvSpPr>
          <p:cNvPr id="12" name="TextBox 11"/>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A1 · Faire faire des travaux</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