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par une question au groupe : qui a déjà fait faire des travaux chez lui, ici ou dans son pays d'origine ? Les réponses sont toujours partagées, et c'est exactement le sujet du module.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celui du module entier : savoir d'avance ce qu'un papier ou une démarche va donner, c'est déjà la moitié du travail.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sans mauvaise réponse. Beaucoup d'élèves viennent de pays où tout passe par la relation personnelle et la parole donnée. Ne rien dévaloriser : s'en servir pour comparer, et pour faire sentir ce qu'un document écrit change dans le rapport de force.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porte tout le bloc. La faire répéter par deux élèves, puis demander ce que « payer deux fois » veut dire ici : réparer un résultat sans traiter la cause.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 entrepreneur général » et « corps de métier » au tableau et les y laisser toute la séance. La confusion entre les deux revient chaque année.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deux faits sont vérifiés, et ce sont les seuls que le module avance comme des règles : la licence obligatoire, vérifiable au registre public ; et le permis, qui se demande à sa propre municipalité parce que les exigences varient de l'une à l'autre. Tout le reste du module est inventé.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tableau de référence du module ; il revient en A4 sous forme d'exercice, puis à chaque ouverture de défi. La sixième étape, la réunion de chantier, s'ajoute au tableau en D1.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 il ne s'agit pas de tout comprendre, il s'agit de savoir quoi demander à qui.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chaque mot avec son article. « Un corps de métier » désigne une spécialité, pas une personne : c'est la confusion la plus fréquente, et elle se corrige ici, pas plus tard.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Le dernier surprend souvent : plusieurs élèves ont un voisin ou un cousin qui leur a dit le contraire pour une autre ville.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Garder les billets : ils reviennent en D2, quand le module travaille la question précise. La plupart écriront « combien ça coûte », et c'est justement la question qui ne suffit pas.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Ça ne commence pas par les travaux</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Doïna veut aménager son sous-sol pour sa mère. Son voisin lui apprend que tout ce qui décide du prix final se joue avant qu'un seul outil sorte du camion.</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Faire faire des travaux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six étapes qui précèdent un chantier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ce que chaque étape met dans les mains du propriétaire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 entrepreneur général d'un corps de métier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quatre premiers mots du dossier avec leur article.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Faire faire des travaux chez soi : par quoi commence-t-on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As-tu déjà fait faire des travaux, ici ou ailleurs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as-tu trouvé la personne qui les a faits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prix a-t-il été écrit quelque part, ou dit de vive voix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Y a-t-il eu une surprise à la fin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vient avant les travaux</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Écouter d'abord, diapositive masquée.</a:t>
            </a:r>
          </a:p>
        </p:txBody>
      </p:sp>
      <p:sp>
        <p:nvSpPr>
          <p:cNvPr id="8" name="Rounded Rectangle 7"/>
          <p:cNvSpPr/>
          <p:nvPr/>
        </p:nvSpPr>
        <p:spPr>
          <a:xfrm>
            <a:off x="566928" y="215798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96853"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DOÏNA</a:t>
            </a:r>
          </a:p>
        </p:txBody>
      </p:sp>
      <p:sp>
        <p:nvSpPr>
          <p:cNvPr id="10" name="TextBox 9"/>
          <p:cNvSpPr txBox="1"/>
          <p:nvPr/>
        </p:nvSpPr>
        <p:spPr>
          <a:xfrm>
            <a:off x="2429541" y="2322576"/>
            <a:ext cx="8646585"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Léandre ! Tu as deux minutes ? Ma mère arrive de Roumanie au mois de mai et on voudrait lui aménager le sous-sol.</a:t>
            </a:r>
          </a:p>
        </p:txBody>
      </p:sp>
      <p:sp>
        <p:nvSpPr>
          <p:cNvPr id="11" name="Rounded Rectangle 10"/>
          <p:cNvSpPr/>
          <p:nvPr/>
        </p:nvSpPr>
        <p:spPr>
          <a:xfrm>
            <a:off x="566928" y="313842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303016"/>
            <a:ext cx="1496853"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LÉANDRE</a:t>
            </a:r>
          </a:p>
        </p:txBody>
      </p:sp>
      <p:sp>
        <p:nvSpPr>
          <p:cNvPr id="13" name="TextBox 12"/>
          <p:cNvSpPr txBox="1"/>
          <p:nvPr/>
        </p:nvSpPr>
        <p:spPr>
          <a:xfrm>
            <a:off x="2429541" y="3303016"/>
            <a:ext cx="8646585"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C'est exactement ce qu'on a fait l'an passé. Je peux te dire une chose : ce n'est pas les travaux qui sont difficiles, c'est ce qui vient avant.</a:t>
            </a:r>
          </a:p>
        </p:txBody>
      </p:sp>
      <p:sp>
        <p:nvSpPr>
          <p:cNvPr id="14" name="Rounded Rectangle 13"/>
          <p:cNvSpPr/>
          <p:nvPr/>
        </p:nvSpPr>
        <p:spPr>
          <a:xfrm>
            <a:off x="566928" y="411886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283456"/>
            <a:ext cx="1496853"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DOÏNA</a:t>
            </a:r>
          </a:p>
        </p:txBody>
      </p:sp>
      <p:sp>
        <p:nvSpPr>
          <p:cNvPr id="16" name="TextBox 15"/>
          <p:cNvSpPr txBox="1"/>
          <p:nvPr/>
        </p:nvSpPr>
        <p:spPr>
          <a:xfrm>
            <a:off x="2429541" y="4283456"/>
            <a:ext cx="8646585"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Comment ça, ce qui vient avant ? On appelle quelqu'un, il vient, il donne un prix, non ?</a:t>
            </a:r>
          </a:p>
        </p:txBody>
      </p:sp>
      <p:sp>
        <p:nvSpPr>
          <p:cNvPr id="17" name="Rounded Rectangle 16"/>
          <p:cNvSpPr/>
          <p:nvPr/>
        </p:nvSpPr>
        <p:spPr>
          <a:xfrm>
            <a:off x="566928" y="509930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5263895"/>
            <a:ext cx="1496853"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LÉANDRE</a:t>
            </a:r>
          </a:p>
        </p:txBody>
      </p:sp>
      <p:sp>
        <p:nvSpPr>
          <p:cNvPr id="19" name="TextBox 18"/>
          <p:cNvSpPr txBox="1"/>
          <p:nvPr/>
        </p:nvSpPr>
        <p:spPr>
          <a:xfrm>
            <a:off x="2429541" y="5263895"/>
            <a:ext cx="8646585"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Si tu fais ça, tu vas payer deux fois. Nous autres, on a commencé par une inspection.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inspectrice, un entrepreneur</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685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DOÏNA</a:t>
            </a:r>
          </a:p>
        </p:txBody>
      </p:sp>
      <p:sp>
        <p:nvSpPr>
          <p:cNvPr id="9" name="TextBox 8"/>
          <p:cNvSpPr txBox="1"/>
          <p:nvPr/>
        </p:nvSpPr>
        <p:spPr>
          <a:xfrm>
            <a:off x="2429541" y="1901952"/>
            <a:ext cx="864658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rapport pour quoi faire ? On voit bien qu'il n'y a rien de cassé.</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9685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LÉANDRE</a:t>
            </a:r>
          </a:p>
        </p:txBody>
      </p:sp>
      <p:sp>
        <p:nvSpPr>
          <p:cNvPr id="12" name="TextBox 11"/>
          <p:cNvSpPr txBox="1"/>
          <p:nvPr/>
        </p:nvSpPr>
        <p:spPr>
          <a:xfrm>
            <a:off x="2429541" y="2651252"/>
            <a:ext cx="864658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voit ce qui est visible. Elle, elle regarde la fondation, l'humidité, la pente du terrain, le drain.</a:t>
            </a:r>
          </a:p>
        </p:txBody>
      </p:sp>
      <p:sp>
        <p:nvSpPr>
          <p:cNvPr id="13" name="Rounded Rectangle 12"/>
          <p:cNvSpPr/>
          <p:nvPr/>
        </p:nvSpPr>
        <p:spPr>
          <a:xfrm>
            <a:off x="566928" y="35737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49685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DOÏNA</a:t>
            </a:r>
          </a:p>
        </p:txBody>
      </p:sp>
      <p:sp>
        <p:nvSpPr>
          <p:cNvPr id="15" name="TextBox 14"/>
          <p:cNvSpPr txBox="1"/>
          <p:nvPr/>
        </p:nvSpPr>
        <p:spPr>
          <a:xfrm>
            <a:off x="2429541" y="3738371"/>
            <a:ext cx="864658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ensuite ?</a:t>
            </a:r>
          </a:p>
        </p:txBody>
      </p:sp>
      <p:sp>
        <p:nvSpPr>
          <p:cNvPr id="16" name="Rounded Rectangle 15"/>
          <p:cNvSpPr/>
          <p:nvPr/>
        </p:nvSpPr>
        <p:spPr>
          <a:xfrm>
            <a:off x="566928" y="43230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2"/>
            <a:ext cx="149685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LÉANDRE</a:t>
            </a:r>
          </a:p>
        </p:txBody>
      </p:sp>
      <p:sp>
        <p:nvSpPr>
          <p:cNvPr id="18" name="TextBox 17"/>
          <p:cNvSpPr txBox="1"/>
          <p:nvPr/>
        </p:nvSpPr>
        <p:spPr>
          <a:xfrm>
            <a:off x="2429541" y="4487672"/>
            <a:ext cx="864658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Ensuite, tu appelles un entrepreneur général. Lui, il coordonne les corps de métier. Tu n'as pas à les appeler un par 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licence et le permis</a:t>
            </a:r>
          </a:p>
        </p:txBody>
      </p:sp>
      <p:sp>
        <p:nvSpPr>
          <p:cNvPr id="7" name="Rounded Rectangle 6"/>
          <p:cNvSpPr/>
          <p:nvPr/>
        </p:nvSpPr>
        <p:spPr>
          <a:xfrm>
            <a:off x="566928" y="1737360"/>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6853"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LÉANDRE</a:t>
            </a:r>
          </a:p>
        </p:txBody>
      </p:sp>
      <p:sp>
        <p:nvSpPr>
          <p:cNvPr id="9" name="TextBox 8"/>
          <p:cNvSpPr txBox="1"/>
          <p:nvPr/>
        </p:nvSpPr>
        <p:spPr>
          <a:xfrm>
            <a:off x="2429541" y="1901952"/>
            <a:ext cx="8646585"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Vérifie la licence de ton entrepreneur : au Québec, celui qui exécute des travaux de construction pour quelqu'un d'autre doit en avoir une, de la Régie du bâtiment.</a:t>
            </a:r>
          </a:p>
        </p:txBody>
      </p:sp>
      <p:sp>
        <p:nvSpPr>
          <p:cNvPr id="10" name="Rounded Rectangle 9"/>
          <p:cNvSpPr/>
          <p:nvPr/>
        </p:nvSpPr>
        <p:spPr>
          <a:xfrm>
            <a:off x="566928" y="316229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326892"/>
            <a:ext cx="149685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DOÏNA</a:t>
            </a:r>
          </a:p>
        </p:txBody>
      </p:sp>
      <p:sp>
        <p:nvSpPr>
          <p:cNvPr id="12" name="TextBox 11"/>
          <p:cNvSpPr txBox="1"/>
          <p:nvPr/>
        </p:nvSpPr>
        <p:spPr>
          <a:xfrm>
            <a:off x="2429541" y="3326892"/>
            <a:ext cx="864658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se vérifie où, une licence ?</a:t>
            </a:r>
          </a:p>
        </p:txBody>
      </p:sp>
      <p:sp>
        <p:nvSpPr>
          <p:cNvPr id="13" name="Rounded Rectangle 12"/>
          <p:cNvSpPr/>
          <p:nvPr/>
        </p:nvSpPr>
        <p:spPr>
          <a:xfrm>
            <a:off x="566928" y="39116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76191"/>
            <a:ext cx="149685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LÉANDRE</a:t>
            </a:r>
          </a:p>
        </p:txBody>
      </p:sp>
      <p:sp>
        <p:nvSpPr>
          <p:cNvPr id="15" name="TextBox 14"/>
          <p:cNvSpPr txBox="1"/>
          <p:nvPr/>
        </p:nvSpPr>
        <p:spPr>
          <a:xfrm>
            <a:off x="2429541" y="4076191"/>
            <a:ext cx="864658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le registre de la Régie. C'est public, ça prend deux minutes. Deux minutes, avant de signer pour trente mille piastres.</a:t>
            </a:r>
          </a:p>
        </p:txBody>
      </p:sp>
      <p:sp>
        <p:nvSpPr>
          <p:cNvPr id="16" name="Rounded Rectangle 15"/>
          <p:cNvSpPr/>
          <p:nvPr/>
        </p:nvSpPr>
        <p:spPr>
          <a:xfrm>
            <a:off x="566928" y="499872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163312"/>
            <a:ext cx="149685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DOÏNA</a:t>
            </a:r>
          </a:p>
        </p:txBody>
      </p:sp>
      <p:sp>
        <p:nvSpPr>
          <p:cNvPr id="18" name="TextBox 17"/>
          <p:cNvSpPr txBox="1"/>
          <p:nvPr/>
        </p:nvSpPr>
        <p:spPr>
          <a:xfrm>
            <a:off x="2429541" y="5163312"/>
            <a:ext cx="864658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Donc : une inspection, une soumission écrite, une licence à vérifier, un permis à demander.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Chaque étape, et ce qu'elle te donne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L'ÉTAPE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TE RESTE EN MAIN</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L'inspection</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rapport écrit qui décrit l'état réel</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licence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certitude qu'on a le droit de faire les travaux</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soumission</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prix par ligne, et des exclusions</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permis</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l'accord de la ville, et un délai</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L'échéancier</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date de chaque étape, séchage compris</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Une étape dont il ne reste rien d'écrit n'a pas eu lieu.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SAVOIR D'AVANCE CE QU'ON VA OBTENIR</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Chaque étape produit un objet précis : un papier, une confirmation, une date.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Devant une inspectrice, vous attendez une description, pas un prix. Devant un entrepreneur, vous attendez un prix, pas une vérité sur l'état du bâtiment. Devant la ville, vous attendez un délai. Demander la mauvaise chose à la bonne personne fait perdre une semaine chaque fois.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premiers mots, avec leur article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532727"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entrepreneur général</a:t>
            </a:r>
          </a:p>
        </p:txBody>
      </p:sp>
      <p:sp>
        <p:nvSpPr>
          <p:cNvPr id="9" name="TextBox 8"/>
          <p:cNvSpPr txBox="1"/>
          <p:nvPr/>
        </p:nvSpPr>
        <p:spPr>
          <a:xfrm>
            <a:off x="4739735" y="2121408"/>
            <a:ext cx="6519271"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personne qui prend le chantier en charge au complet et qui fait venir chaque métier.</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3532727"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soumission</a:t>
            </a:r>
          </a:p>
        </p:txBody>
      </p:sp>
      <p:sp>
        <p:nvSpPr>
          <p:cNvPr id="12" name="TextBox 11"/>
          <p:cNvSpPr txBox="1"/>
          <p:nvPr/>
        </p:nvSpPr>
        <p:spPr>
          <a:xfrm>
            <a:off x="4739735" y="3106674"/>
            <a:ext cx="6519271"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prix écrit qu'une entreprise propose, avec le détail de ce qu'elle fera.</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3532727"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corps de métier</a:t>
            </a:r>
          </a:p>
        </p:txBody>
      </p:sp>
      <p:sp>
        <p:nvSpPr>
          <p:cNvPr id="15" name="TextBox 14"/>
          <p:cNvSpPr txBox="1"/>
          <p:nvPr/>
        </p:nvSpPr>
        <p:spPr>
          <a:xfrm>
            <a:off x="4739735" y="4091939"/>
            <a:ext cx="6519271"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Chacun des métiers appelés sur un chantier : le maçon, le plombier, l'électricien.</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3532727"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permis de rénovation</a:t>
            </a:r>
          </a:p>
        </p:txBody>
      </p:sp>
      <p:sp>
        <p:nvSpPr>
          <p:cNvPr id="18" name="TextBox 17"/>
          <p:cNvSpPr txBox="1"/>
          <p:nvPr/>
        </p:nvSpPr>
        <p:spPr>
          <a:xfrm>
            <a:off x="4739735" y="5077205"/>
            <a:ext cx="6519271"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L'autorisation que la municipalité donne avant certains travaux.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la conversation de Doïna et de Léandre.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plus difficile dans un chantier, ce sont les travaux eux-mêmes.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L'inspectrice de Léandre a trouvé une fissure derrière une étagère.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L'entrepreneur général coordonne les corps de métier.</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soumission écrite au dos d'une facture vaut autant qu'une soumission détaillée.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entrepreneur doit détenir une licence de la Régie du bâtiment.</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permis est le même partout au Québec.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plus difficile dans un chantier, ce sont les travaux eux-mêmes.   </a:t>
            </a:r>
            <a:r>
              <a:rPr sz="1400" b="1" i="0">
                <a:solidFill>
                  <a:srgbClr val="07734A"/>
                </a:solidFill>
                <a:latin typeface="Verdana"/>
              </a:rPr>
              <a:t>» faux - c'est ce qui vient avant</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L'inspectrice de Léandre a trouvé une fissure derrière une étagère.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L'entrepreneur général coordonne les corps de métier.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soumission écrite au dos d'une facture vaut autant qu'une soumission détaillée.   </a:t>
            </a:r>
            <a:r>
              <a:rPr sz="1400" b="1" i="0">
                <a:solidFill>
                  <a:srgbClr val="07734A"/>
                </a:solidFill>
                <a:latin typeface="Verdana"/>
              </a:rPr>
              <a:t>» faux</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entrepreneur doit détenir une licence de la Régie du bâtiment.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permis est le même partout au Québec.   </a:t>
            </a:r>
            <a:r>
              <a:rPr sz="1400" b="1" i="0">
                <a:solidFill>
                  <a:srgbClr val="07734A"/>
                </a:solidFill>
                <a:latin typeface="Verdana"/>
              </a:rPr>
              <a:t>» faux - il se demande à sa municipalité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Quelle est la première question que tu poserais à un entrepreneur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suffit.</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Pense à ce que tu voudrais savoir avant de le laisser commencer.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Faire faire des travaux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