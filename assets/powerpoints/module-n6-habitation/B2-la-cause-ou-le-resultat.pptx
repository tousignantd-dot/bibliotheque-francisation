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raisonnement autant que de langue. C'est la séance la plus rentable du bloc : elle change la façon dont les élèves écoutent un homme de métier pour le reste de leur vie.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est une phrase à faire apprendre par cœur : « si vous réparez seulement ça, est-ce que ça revient ?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Presque tout le monde répond « on repeint » en premier. C'est le meilleur départ possible : personne n'a tort, et l'erreur est celle qu'on veut nommer.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L'écart entre « à cause de » et « grâce à » n'existe pas dans toutes les langues : le signaler.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 D'où » est le seul des quatre qui demande une construction particulière ; c'est aussi le plus fréquent dans les documents techniques.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répéter la phrase par tout le groupe, à voix haute. C'est un des rares moments du module où la répétition chorale a du sens.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réponse par le test de la règle. Le quatrième fait discuter : l'humidité est un résultat ici, mais elle devient une cause à l'étape suivante. Accepter la discussion, elle est juste.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aussi ce qui explique l'écart entre deux soumissions. Le signaler : la moins chère est parfois celle qui traite le moins de causes.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central de la séance. Faire dire la raison à voix haute avant de corriger. La cinquième est celle qui reste : à partir du gypse, on ne revient plus en arrière sans tout casser.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minutes. Les histoires rapportées sont excellentes et servent en B3 : la moitié d'entre elles contiennent un « il », un « en » ou un « y » dont le référent se perd.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B2  ·  MODULE 9</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La cause, ou le résultat ?</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Réparer un résultat coûte une fois, puis une deuxième, puis une troisième. Réparer la cause coûte une fois.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Faire faire des travaux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une cause d'un résultat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les connecteurs de cause et de conséquence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pourquoi chaque étape d'un chantier vient à sa place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poser la question qui vérifie qu'on regarde bien la cause.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Une tache d'eau revient chaque printemps au même endroit. Que répare-t-on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tache, ou ce qui la produit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se passe si on repeint seulement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fois peut-on repeindre avant de se poser la question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mots qui annoncent une cause</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MOT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UN EXEMPLE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parce que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mur fend parce que le sol pousse.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à cause de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fondation est humide à cause de la gouttière.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grâce à</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sol reste sec grâce à la nouvelle pente.</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car</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L'injection attendra, car le mur reçoit de l'eau.</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 À cause de » annonce un mauvais résultat, « grâce à » un bon.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mots qui annoncent une conséquence</a:t>
            </a:r>
          </a:p>
        </p:txBody>
      </p:sp>
      <p:sp>
        <p:nvSpPr>
          <p:cNvPr id="7" name="Rounded Rectangle 6"/>
          <p:cNvSpPr/>
          <p:nvPr/>
        </p:nvSpPr>
        <p:spPr>
          <a:xfrm>
            <a:off x="566928" y="1810512"/>
            <a:ext cx="11057839" cy="3099816"/>
          </a:xfrm>
          <a:prstGeom prst="roundRect">
            <a:avLst>
              <a:gd name="adj" fmla="val 471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MOT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UN EXEMPLE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donc</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sol pousse, donc le mur fend.</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de sorte que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L'eau reste au mur, de sorte qu'il ne sèche pas.</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640080"/>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par conséquent</a:t>
            </a:r>
          </a:p>
        </p:txBody>
      </p:sp>
      <p:sp>
        <p:nvSpPr>
          <p:cNvPr id="17" name="TextBox 16"/>
          <p:cNvSpPr txBox="1"/>
          <p:nvPr/>
        </p:nvSpPr>
        <p:spPr>
          <a:xfrm>
            <a:off x="4443636" y="3474720"/>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cause n'a pas été traitée ; par conséquent, la fissure est revenue.</a:t>
            </a:r>
          </a:p>
        </p:txBody>
      </p:sp>
      <p:sp>
        <p:nvSpPr>
          <p:cNvPr id="18" name="Rectangle 17"/>
          <p:cNvSpPr/>
          <p:nvPr/>
        </p:nvSpPr>
        <p:spPr>
          <a:xfrm>
            <a:off x="932688" y="418795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315968"/>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d'où</a:t>
            </a:r>
          </a:p>
        </p:txBody>
      </p:sp>
      <p:sp>
        <p:nvSpPr>
          <p:cNvPr id="20" name="TextBox 19"/>
          <p:cNvSpPr txBox="1"/>
          <p:nvPr/>
        </p:nvSpPr>
        <p:spPr>
          <a:xfrm>
            <a:off x="4443636" y="431596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sol se gorge d'eau, d'où la pression sur le mur.</a:t>
            </a:r>
          </a:p>
        </p:txBody>
      </p:sp>
      <p:sp>
        <p:nvSpPr>
          <p:cNvPr id="21" name="Rounded Rectangle 20"/>
          <p:cNvSpPr/>
          <p:nvPr/>
        </p:nvSpPr>
        <p:spPr>
          <a:xfrm>
            <a:off x="566928" y="5148072"/>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404104"/>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 D'où » est suivi d'un nom, jamais d'une phrase complète.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 TEST QUI NE TROMPE PAS</a:t>
            </a:r>
          </a:p>
        </p:txBody>
      </p:sp>
      <p:sp>
        <p:nvSpPr>
          <p:cNvPr id="6" name="Rounded Rectangle 5"/>
          <p:cNvSpPr/>
          <p:nvPr/>
        </p:nvSpPr>
        <p:spPr>
          <a:xfrm>
            <a:off x="566928" y="1225296"/>
            <a:ext cx="11057839" cy="1967991"/>
          </a:xfrm>
          <a:prstGeom prst="roundRect">
            <a:avLst>
              <a:gd name="adj" fmla="val 74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 Si je répare seulement ça, est-ce que ça revient ? »</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Posez la question à voix haute, devant l'entrepreneur. S'il répond oui, vous regardez un résultat, et le devis que vous avez en main ne réglera rien. Cette phrase-là vaut plusieurs milliers de dollars, et elle ne coûte rien à dire.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Cause ou résultat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Pour chaque élément, dites s'il est la cause ou le résultat.</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descente de gouttière se vide au pied du mur.</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mur de fondation a fendu en biais.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terre s'est tassée et la pente ramène l'eau.</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taux d'humidité du mur est de dix-neuf pour cent.</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a refermé le mur avant qu'il soit sec.</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 la moisissure pousse derrière le gypse neuf.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Cause ou résultat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descente de gouttière se vide au pied du mur.   </a:t>
            </a:r>
            <a:r>
              <a:rPr sz="1400" b="1" i="0">
                <a:solidFill>
                  <a:srgbClr val="07734A"/>
                </a:solidFill>
                <a:latin typeface="Verdana"/>
              </a:rPr>
              <a:t>» la cause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mur de fondation a fendu en biais.   </a:t>
            </a:r>
            <a:r>
              <a:rPr sz="1400" b="1" i="0">
                <a:solidFill>
                  <a:srgbClr val="07734A"/>
                </a:solidFill>
                <a:latin typeface="Verdana"/>
              </a:rPr>
              <a:t>» le résultat</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terre s'est tassée et la pente ramène l'eau.   </a:t>
            </a:r>
            <a:r>
              <a:rPr sz="1400" b="1" i="0">
                <a:solidFill>
                  <a:srgbClr val="07734A"/>
                </a:solidFill>
                <a:latin typeface="Verdana"/>
              </a:rPr>
              <a:t>» la cause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taux d'humidité du mur est de dix-neuf pour cent.   </a:t>
            </a:r>
            <a:r>
              <a:rPr sz="1400" b="1" i="0">
                <a:solidFill>
                  <a:srgbClr val="07734A"/>
                </a:solidFill>
                <a:latin typeface="Verdana"/>
              </a:rPr>
              <a:t>» le résultat</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a refermé le mur avant qu'il soit sec.   </a:t>
            </a:r>
            <a:r>
              <a:rPr sz="1400" b="1" i="0">
                <a:solidFill>
                  <a:srgbClr val="07734A"/>
                </a:solidFill>
                <a:latin typeface="Verdana"/>
              </a:rPr>
              <a:t>» la cause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 la moisissure pousse derrière le gypse neuf.   </a:t>
            </a:r>
            <a:r>
              <a:rPr sz="1400" b="1" i="0">
                <a:solidFill>
                  <a:srgbClr val="07734A"/>
                </a:solidFill>
                <a:latin typeface="Verdana"/>
              </a:rPr>
              <a:t>» le résultat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PIÈGE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croire qu'une seule cause explique tout</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accepter qu'il y en ait deux ou trois</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gouttière, et la pente, et le drain d'origine. Les causes s'additionnent souvent, et traiter une seule des trois ne règle qu'un tiers du problème. C'est pour ça qu'un entrepreneur sérieux propose trois postes là où le voisin en propose un.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Pourquoi cette étape vient là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Associez chaque étape à ce qui l'oblige à venir à cette place.</a:t>
            </a:r>
          </a:p>
        </p:txBody>
      </p:sp>
      <p:sp>
        <p:nvSpPr>
          <p:cNvPr id="8" name="Rounded Rectangle 7"/>
          <p:cNvSpPr/>
          <p:nvPr/>
        </p:nvSpPr>
        <p:spPr>
          <a:xfrm>
            <a:off x="566928" y="2139696"/>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722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36291"/>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1. rallonger les gouttières</a:t>
            </a:r>
          </a:p>
        </p:txBody>
      </p:sp>
      <p:sp>
        <p:nvSpPr>
          <p:cNvPr id="12" name="Rounded Rectangle 11"/>
          <p:cNvSpPr/>
          <p:nvPr/>
        </p:nvSpPr>
        <p:spPr>
          <a:xfrm>
            <a:off x="566928" y="2898648"/>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3123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9524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54096"/>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2. refaire la pente</a:t>
            </a:r>
          </a:p>
        </p:txBody>
      </p:sp>
      <p:sp>
        <p:nvSpPr>
          <p:cNvPr id="16" name="Rounded Rectangle 15"/>
          <p:cNvSpPr/>
          <p:nvPr/>
        </p:nvSpPr>
        <p:spPr>
          <a:xfrm>
            <a:off x="566928" y="3657600"/>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790187"/>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5419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13048"/>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3. injecter la fissure</a:t>
            </a:r>
          </a:p>
        </p:txBody>
      </p:sp>
      <p:sp>
        <p:nvSpPr>
          <p:cNvPr id="20" name="Rounded Rectangle 19"/>
          <p:cNvSpPr/>
          <p:nvPr/>
        </p:nvSpPr>
        <p:spPr>
          <a:xfrm>
            <a:off x="566928" y="4416552"/>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54914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1314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572000"/>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4. laisser sécher</a:t>
            </a:r>
          </a:p>
        </p:txBody>
      </p:sp>
      <p:sp>
        <p:nvSpPr>
          <p:cNvPr id="24" name="Rounded Rectangle 23"/>
          <p:cNvSpPr/>
          <p:nvPr/>
        </p:nvSpPr>
        <p:spPr>
          <a:xfrm>
            <a:off x="566928" y="5175504"/>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08092"/>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72100"/>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330952"/>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5. isoler et poser le gypse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Pourquoi cette étape vient là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722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36291"/>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1. rallonger les gouttières   </a:t>
            </a:r>
            <a:r>
              <a:rPr sz="1800" b="1" i="0">
                <a:solidFill>
                  <a:srgbClr val="07734A"/>
                </a:solidFill>
                <a:latin typeface="Verdana"/>
              </a:rPr>
              <a:t>» tant que l'eau arrive au mur, tout sera refait</a:t>
            </a:r>
          </a:p>
        </p:txBody>
      </p:sp>
      <p:sp>
        <p:nvSpPr>
          <p:cNvPr id="12" name="Rounded Rectangle 11"/>
          <p:cNvSpPr/>
          <p:nvPr/>
        </p:nvSpPr>
        <p:spPr>
          <a:xfrm>
            <a:off x="566928" y="2898648"/>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3123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9524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54096"/>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2. refaire la pente   </a:t>
            </a:r>
            <a:r>
              <a:rPr sz="1800" b="1" i="0">
                <a:solidFill>
                  <a:srgbClr val="07734A"/>
                </a:solidFill>
                <a:latin typeface="Verdana"/>
              </a:rPr>
              <a:t>» on creuse dehors, et on ne creuse pas deux fois</a:t>
            </a:r>
          </a:p>
        </p:txBody>
      </p:sp>
      <p:sp>
        <p:nvSpPr>
          <p:cNvPr id="16" name="Rounded Rectangle 15"/>
          <p:cNvSpPr/>
          <p:nvPr/>
        </p:nvSpPr>
        <p:spPr>
          <a:xfrm>
            <a:off x="566928" y="3657600"/>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790187"/>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5419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13048"/>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3. injecter la fissure   </a:t>
            </a:r>
            <a:r>
              <a:rPr sz="1800" b="1" i="0">
                <a:solidFill>
                  <a:srgbClr val="07734A"/>
                </a:solidFill>
                <a:latin typeface="Verdana"/>
              </a:rPr>
              <a:t>» le produit ne tient que dans un mur qui ne reçoit plus d'eau</a:t>
            </a:r>
          </a:p>
        </p:txBody>
      </p:sp>
      <p:sp>
        <p:nvSpPr>
          <p:cNvPr id="20" name="Rounded Rectangle 19"/>
          <p:cNvSpPr/>
          <p:nvPr/>
        </p:nvSpPr>
        <p:spPr>
          <a:xfrm>
            <a:off x="566928" y="4416552"/>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54914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1314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572000"/>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4. laisser sécher   </a:t>
            </a:r>
            <a:r>
              <a:rPr sz="1800" b="1" i="0">
                <a:solidFill>
                  <a:srgbClr val="07734A"/>
                </a:solidFill>
                <a:latin typeface="Verdana"/>
              </a:rPr>
              <a:t>» un mur refermé sur son humidité fait pousser de la moisissure</a:t>
            </a:r>
          </a:p>
        </p:txBody>
      </p:sp>
      <p:sp>
        <p:nvSpPr>
          <p:cNvPr id="24" name="Rounded Rectangle 23"/>
          <p:cNvSpPr/>
          <p:nvPr/>
        </p:nvSpPr>
        <p:spPr>
          <a:xfrm>
            <a:off x="566928" y="5175504"/>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08092"/>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72100"/>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330952"/>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5. isoler et poser le gypse   </a:t>
            </a:r>
            <a:r>
              <a:rPr sz="1800" b="1" i="0">
                <a:solidFill>
                  <a:srgbClr val="07734A"/>
                </a:solidFill>
                <a:latin typeface="Verdana"/>
              </a:rPr>
              <a:t>» c'est la première étape qu'on ne peut plus défaire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Raconte un problème que quelqu'un a réparé sans traiter la cause.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Chez toi, au travail, ou ailleurs.</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Dis ce qui est arrivé ensuite.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Faire faire des travaux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