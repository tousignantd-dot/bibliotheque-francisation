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Apporter de vraies cartes de vœux, plusieurs, achetées à la pharmacie. Les faire circuler pendant toute la séance : c'est l'objet même de l'intention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circuler les vraies cartes apportées pendant que le groupe répond. Beaucoup n'en ont jamais tenu une et ne savent pas qu'on en donne pour un départ, une naissance, un examen réussi.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remerciements dans la même réplique : « merci beaucoup » tout court, puis « merci pour la soupe ». Faire entendre la différence.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À l'avance » se comprend sans être expliqué. Le donner comme bloc, sans l'analyser : c'est un énoncé à mémoriser, pas une 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ajouter deux souhaits par le groupe et les classer dans la bonne colonne.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dire à chaque élève un « merci pour… » vrai, adressé à quelqu'un de la classe.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Poser les vraies cartes apportées sur une table et faire associer chacune à l'une des quatre lignes.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d'abord à l'oral. Les lignes 2 et 3 sont le cœur : les corriger en reprenant l'astuce du « une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Fournir du carton plié : une carte écrite sur une feuille lignée ne produit pas le même soin. Beaucoup voudront la donner pour vrai — les encourager.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C'est le brouillon de la production écrite de E1 : le rappeler.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Merci et bonne fête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remercie pour ce qui est arrivé, on souhaite ce qui vient. Et une carte tient en trois lignes.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Bonjour, ça va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remercier avec « merci pour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entre « bon » et « bonne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à quelle occasion va une carte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trois lignes sur une carte.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qui donne-t-on ceci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rte-tabl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c'est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est-ce qu'on en donne une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qu'on écrit dedans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 avez-vous déjà reçu une ici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Merci pour la soupe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avant de lire.</a:t>
            </a:r>
          </a:p>
        </p:txBody>
      </p:sp>
      <p:sp>
        <p:nvSpPr>
          <p:cNvPr id="8" name="Rounded Rectangle 7"/>
          <p:cNvSpPr/>
          <p:nvPr/>
        </p:nvSpPr>
        <p:spPr>
          <a:xfrm>
            <a:off x="566928" y="2157984"/>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GILBERTE</a:t>
            </a:r>
          </a:p>
        </p:txBody>
      </p:sp>
      <p:sp>
        <p:nvSpPr>
          <p:cNvPr id="10" name="TextBox 9"/>
          <p:cNvSpPr txBox="1"/>
          <p:nvPr/>
        </p:nvSpPr>
        <p:spPr>
          <a:xfrm>
            <a:off x="2510504" y="2322576"/>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Nadia, j'ai de la soupe pour toi.</a:t>
            </a:r>
          </a:p>
        </p:txBody>
      </p:sp>
      <p:sp>
        <p:nvSpPr>
          <p:cNvPr id="11" name="Rounded Rectangle 10"/>
          <p:cNvSpPr/>
          <p:nvPr/>
        </p:nvSpPr>
        <p:spPr>
          <a:xfrm>
            <a:off x="566928" y="29072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NADIA</a:t>
            </a:r>
          </a:p>
        </p:txBody>
      </p:sp>
      <p:sp>
        <p:nvSpPr>
          <p:cNvPr id="13" name="TextBox 12"/>
          <p:cNvSpPr txBox="1"/>
          <p:nvPr/>
        </p:nvSpPr>
        <p:spPr>
          <a:xfrm>
            <a:off x="2510504" y="3071876"/>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Oh ! Merci beaucoup, madame Roy. Merci pour la soupe.</a:t>
            </a:r>
          </a:p>
        </p:txBody>
      </p:sp>
      <p:sp>
        <p:nvSpPr>
          <p:cNvPr id="14" name="Rounded Rectangle 13"/>
          <p:cNvSpPr/>
          <p:nvPr/>
        </p:nvSpPr>
        <p:spPr>
          <a:xfrm>
            <a:off x="566928" y="36565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GILBERTE</a:t>
            </a:r>
          </a:p>
        </p:txBody>
      </p:sp>
      <p:sp>
        <p:nvSpPr>
          <p:cNvPr id="16" name="TextBox 15"/>
          <p:cNvSpPr txBox="1"/>
          <p:nvPr/>
        </p:nvSpPr>
        <p:spPr>
          <a:xfrm>
            <a:off x="2510504" y="3821175"/>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me fait plaisir.</a:t>
            </a:r>
          </a:p>
        </p:txBody>
      </p:sp>
      <p:sp>
        <p:nvSpPr>
          <p:cNvPr id="17" name="Rounded Rectangle 16"/>
          <p:cNvSpPr/>
          <p:nvPr/>
        </p:nvSpPr>
        <p:spPr>
          <a:xfrm>
            <a:off x="566928" y="4405883"/>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NADIA</a:t>
            </a:r>
          </a:p>
        </p:txBody>
      </p:sp>
      <p:sp>
        <p:nvSpPr>
          <p:cNvPr id="19" name="TextBox 18"/>
          <p:cNvSpPr txBox="1"/>
          <p:nvPr/>
        </p:nvSpPr>
        <p:spPr>
          <a:xfrm>
            <a:off x="2510504" y="4570475"/>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êtes gentille. Samedi, c'est votre fête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Soixante-dix ans samedi</a:t>
            </a:r>
          </a:p>
        </p:txBody>
      </p:sp>
      <p:sp>
        <p:nvSpPr>
          <p:cNvPr id="7" name="Rounded Rectangle 6"/>
          <p:cNvSpPr/>
          <p:nvPr/>
        </p:nvSpPr>
        <p:spPr>
          <a:xfrm>
            <a:off x="566928" y="1737360"/>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GILBERTE</a:t>
            </a:r>
          </a:p>
        </p:txBody>
      </p:sp>
      <p:sp>
        <p:nvSpPr>
          <p:cNvPr id="9" name="TextBox 8"/>
          <p:cNvSpPr txBox="1"/>
          <p:nvPr/>
        </p:nvSpPr>
        <p:spPr>
          <a:xfrm>
            <a:off x="2510504" y="1901952"/>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Oui. Samedi, j'ai soixante-dix ans.</a:t>
            </a:r>
          </a:p>
        </p:txBody>
      </p:sp>
      <p:sp>
        <p:nvSpPr>
          <p:cNvPr id="10" name="Rounded Rectangle 9"/>
          <p:cNvSpPr/>
          <p:nvPr/>
        </p:nvSpPr>
        <p:spPr>
          <a:xfrm>
            <a:off x="566928" y="2486659"/>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NADIA</a:t>
            </a:r>
          </a:p>
        </p:txBody>
      </p:sp>
      <p:sp>
        <p:nvSpPr>
          <p:cNvPr id="12" name="TextBox 11"/>
          <p:cNvSpPr txBox="1"/>
          <p:nvPr/>
        </p:nvSpPr>
        <p:spPr>
          <a:xfrm>
            <a:off x="2510504" y="2651252"/>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Bonne fête à l'avance !</a:t>
            </a:r>
          </a:p>
        </p:txBody>
      </p:sp>
      <p:sp>
        <p:nvSpPr>
          <p:cNvPr id="13" name="Rounded Rectangle 12"/>
          <p:cNvSpPr/>
          <p:nvPr/>
        </p:nvSpPr>
        <p:spPr>
          <a:xfrm>
            <a:off x="566928" y="3235959"/>
            <a:ext cx="11057839" cy="667003"/>
          </a:xfrm>
          <a:prstGeom prst="roundRect">
            <a:avLst>
              <a:gd name="adj" fmla="val 219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577816" cy="392683"/>
          </a:xfrm>
          <a:prstGeom prst="rect">
            <a:avLst/>
          </a:prstGeom>
          <a:noFill/>
        </p:spPr>
        <p:txBody>
          <a:bodyPr wrap="square" lIns="0" rIns="0" tIns="0" bIns="0" anchor="t">
            <a:spAutoFit/>
          </a:bodyPr>
          <a:lstStyle/>
          <a:p>
            <a:pPr algn="l">
              <a:lnSpc>
                <a:spcPct val="135000"/>
              </a:lnSpc>
            </a:pPr>
            <a:r>
              <a:rPr sz="1900" b="1" i="0">
                <a:solidFill>
                  <a:srgbClr val="B45309"/>
                </a:solidFill>
                <a:latin typeface="Verdana"/>
              </a:rPr>
              <a:t>GILBERTE</a:t>
            </a:r>
          </a:p>
        </p:txBody>
      </p:sp>
      <p:sp>
        <p:nvSpPr>
          <p:cNvPr id="15" name="TextBox 14"/>
          <p:cNvSpPr txBox="1"/>
          <p:nvPr/>
        </p:nvSpPr>
        <p:spPr>
          <a:xfrm>
            <a:off x="2510504" y="3400551"/>
            <a:ext cx="8565622"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Merci, Nadia.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Bon ou bonne ?</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DIT « BONNE »</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ON DIT « BON »</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bonne journée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 anniversaire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bonne soirée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 voyage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bonne fête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 cours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bonne santé</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bon appétit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Si on peut dire « une », c'est « bonne ». C'est le seul truc.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MERCI POUR…</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Après « merci », on met &lt;b&gt;pour&lt;/b&gt; devant la chose.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Merci &lt;b&gt;pour&lt;/b&gt; la soupe. Merci &lt;b&gt;pour&lt;/b&gt; votre aide. Merci &lt;b&gt;pour&lt;/b&gt; la carte. Sans « pour », la phrase n'est pas française — et c'est le petit mot qu'on oublie le plus souvent.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QUATRE CARTES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Pour quelle occasion ?</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Bonne fête !</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jour de l'anniversaire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Merci pour tout</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quand quelqu'un nous a beaucoup aidés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Félicitations !</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quand une personne réussit un examen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Bienvenue !</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à une personne qui arrive dans l'immeuble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petit mot qui manque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chaque phrase.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pour la soupe, madame Roy.</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sa fête : « ___ fête !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part en avion : « ___ voyage !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partez le matin : « ___ journée ! »</a:t>
            </a:r>
          </a:p>
        </p:txBody>
      </p:sp>
      <p:sp>
        <p:nvSpPr>
          <p:cNvPr id="24" name="Rounded Rectangle 23"/>
          <p:cNvSpPr/>
          <p:nvPr/>
        </p:nvSpPr>
        <p:spPr>
          <a:xfrm>
            <a:off x="566928" y="5246624"/>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vous dit merci : « Ce n'est ___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petit mot qui manque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___ pour la soupe, madame Roy.   </a:t>
            </a:r>
            <a:r>
              <a:rPr sz="1900" b="1" i="0">
                <a:solidFill>
                  <a:srgbClr val="07734A"/>
                </a:solidFill>
                <a:latin typeface="Verdana"/>
              </a:rPr>
              <a:t>» Merci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sa fête : « ___ fête ! »   </a:t>
            </a:r>
            <a:r>
              <a:rPr sz="1900" b="1" i="0">
                <a:solidFill>
                  <a:srgbClr val="07734A"/>
                </a:solidFill>
                <a:latin typeface="Verdana"/>
              </a:rPr>
              <a:t>» Bonne</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Il part en avion : « ___ voyage ! »   </a:t>
            </a:r>
            <a:r>
              <a:rPr sz="1900" b="1" i="0">
                <a:solidFill>
                  <a:srgbClr val="07734A"/>
                </a:solidFill>
                <a:latin typeface="Verdana"/>
              </a:rPr>
              <a:t>» Bon</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partez le matin : « ___ journée ! »   </a:t>
            </a:r>
            <a:r>
              <a:rPr sz="1900" b="1" i="0">
                <a:solidFill>
                  <a:srgbClr val="07734A"/>
                </a:solidFill>
                <a:latin typeface="Verdana"/>
              </a:rPr>
              <a:t>» Bonne</a:t>
            </a:r>
          </a:p>
        </p:txBody>
      </p:sp>
      <p:sp>
        <p:nvSpPr>
          <p:cNvPr id="24" name="Rounded Rectangle 23"/>
          <p:cNvSpPr/>
          <p:nvPr/>
        </p:nvSpPr>
        <p:spPr>
          <a:xfrm>
            <a:off x="566928" y="5246624"/>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8810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5211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402072"/>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vous dit merci : « Ce n'est ___ . »   </a:t>
            </a:r>
            <a:r>
              <a:rPr sz="1900" b="1" i="0">
                <a:solidFill>
                  <a:srgbClr val="07734A"/>
                </a:solidFill>
                <a:latin typeface="Verdana"/>
              </a:rPr>
              <a:t>» rien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SEUL, PUIS À DEUX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lignes sur une carte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Écrivez une vraie carte, à donner vraiment.</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1</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2</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3</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Étape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Recopiez votre carte au propre, et donnez-la à quelqu'un.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Bonne fête, madame Roy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Merci pour votre aide.</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Nadia, votre voisine du 3</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C2 · Bonjour, ça va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