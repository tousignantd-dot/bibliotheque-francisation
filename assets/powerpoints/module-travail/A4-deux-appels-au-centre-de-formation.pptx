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Séance de compréhension orale. Prévenir le groupe : on écoutera chaque dialogue deux fois, pas plus. Prendre des notes est autorisé et même attendu.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les objectifs à voix haute. Y revenir au billet de sortie.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Écrire les cinq au tableau avant la première écoute. Les élèves prendront des notes sur cette grille.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formule d'Omar : « j'aimerais savoir s'il est possible de… ». C'est la formule polie du module 2, réemployée ici.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deuxième question est celle qui compte : deux documents, pas un. Beaucoup n'en retiendront qu'un.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remarquer la réponse d'Aziz : « je serai là » confirme. Un simple « oui » aurait laissé un doute.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écrire « 15 h » et « quinze heures » au tableau. Les deux se lisent, et l'oral n'en donne qu'une des deux.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quatre réflexes valent pour tous les appels du module. Les faire copier et les rappeler à chaque jeu de 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lire la colonne de droite à voix haute : c'est la conversion qu'on doit faire en écoutant un message.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deux derniers items emploient « moins ». C'est la construction la plus difficile : la travailler lentement.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pratiquer trois confirmations à voix haute. C'est un réflexe qui s'installe vite.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Lire le message à voix haute deux fois avant d'afficher les questions. Programme visé : soutien informatique.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Ces cinq lignes forment une grille de prise de notes. Suggérer de la recopier près du téléphone à la maison.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SÉANCE A4  ·  MODULE 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Deux appels au centre de formation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changement d'horaire, une entrevue confirmée. Deux appels courts, et dans les deux cas la même question à se poser : qu'est-ce que je dois retenir avant de raccrocher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60 minutes  ·  Absent ou en retard : que faire ?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repérer le but d'un appel dès les premières phrases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28285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29108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noter les documents à apporter et les dates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5366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37144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37967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37378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comprendre une heure de rendez-vous et la confirmer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4226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6004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46827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623816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savoir quoi noter pendant un appel.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CE QU'IL FAUT NOTER PENDANT UN APPEL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Qui appelle · pourquoi · quelle date · quels documents · quel numéro.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Cinq informations. Un appel professionnel en contient rarement plus, et presque jamais moins. Avoir un papier et un crayon près du téléphone change tout.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1 · UN CHANGEMENT D'HORAIRE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Est-il possible de changer mon horaire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fois, diapo masquée. Notez les cinq informations.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32688" y="2322576"/>
            <a:ext cx="2327529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LA SECRÉTAIRE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60217" y="2322576"/>
            <a:ext cx="7815910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Bonjour, centre de formation, je vous écoute.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85394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3018536"/>
            <a:ext cx="2327529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OMAR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260217" y="3018536"/>
            <a:ext cx="7815910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Bonjour, j'aimerais savoir s'il est possible de changer mon horaire de cours.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834384"/>
            <a:ext cx="11057839" cy="898144"/>
          </a:xfrm>
          <a:prstGeom prst="roundRect">
            <a:avLst>
              <a:gd name="adj" fmla="val 16289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3998975"/>
            <a:ext cx="2327529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LA SECRÉTAIRE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260217" y="3998975"/>
            <a:ext cx="7815910" cy="623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Oui, c'est possible. Vous devez seulement apporter une preuve d'emploi et remplir un formulaire signé.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814824"/>
            <a:ext cx="11057839" cy="613664"/>
          </a:xfrm>
          <a:prstGeom prst="roundRect">
            <a:avLst>
              <a:gd name="adj" fmla="val 2384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979415"/>
            <a:ext cx="2327529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OMAR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60217" y="4979415"/>
            <a:ext cx="7815910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D'accord, et la nouvelle grille horaire s'applique à partir de quand ?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10784"/>
            <a:ext cx="11057839" cy="613664"/>
          </a:xfrm>
          <a:prstGeom prst="roundRect">
            <a:avLst>
              <a:gd name="adj" fmla="val 23841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932688" y="5675375"/>
            <a:ext cx="2327529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600" b="1" i="0">
                <a:solidFill>
                  <a:srgbClr val="1D6B8F"/>
                </a:solidFill>
                <a:latin typeface="Verdana"/>
              </a:rPr>
              <a:t>LA SECRÉTAIRE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60217" y="5675375"/>
            <a:ext cx="7815910" cy="3393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Dès le mois prochain.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1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Dialogue 1 — trois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ce que vous avez noté.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but de l'appel concerne un changement de quoi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Quels documents faut-il apporter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la nouvelle grille entre-t-elle en vigueur 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Dialogue 1 — trois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Le but de l'appel concerne un changement de quoi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d'horaire de cours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Quels documents faut-il apporter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preuve d'emploi et un formulaire signé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la nouvelle grille entre-t-elle en vigueur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le mois prochain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DIALOGUE 2 · UNE CONFIRMATION DE POSTE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Est-ce que quinze heures vous convient 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73736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Écoutez deux fois, diapo masquée. Notez les cinq informations.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57984"/>
            <a:ext cx="11057839" cy="969264"/>
          </a:xfrm>
          <a:prstGeom prst="roundRect">
            <a:avLst>
              <a:gd name="adj" fmla="val 15094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2322576"/>
            <a:ext cx="2241708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L'EMPLOYEUSE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74396" y="2322576"/>
            <a:ext cx="7901730" cy="6949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Bonjour, je vous appelle pour confirmer votre entrevue pour le poste d'aide-cuisinier.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32688" y="3374136"/>
            <a:ext cx="2241708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AZIZ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174396" y="3374136"/>
            <a:ext cx="7901730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Ah oui, parfait, merci de me rappeler.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941063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32688" y="4105655"/>
            <a:ext cx="2241708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L'EMPLOYEUSE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74396" y="4105655"/>
            <a:ext cx="7901730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Est-ce que quinze heures cet après-midi vous convient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672583"/>
            <a:ext cx="11057839" cy="649224"/>
          </a:xfrm>
          <a:prstGeom prst="roundRect">
            <a:avLst>
              <a:gd name="adj" fmla="val 22535"/>
            </a:avLst>
          </a:prstGeom>
          <a:solidFill>
            <a:srgbClr val="E7F0F6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932688" y="4837175"/>
            <a:ext cx="2241708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AZIZ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74396" y="4837175"/>
            <a:ext cx="7901730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Oui, tout à fait, je serai là.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" y="5568695"/>
            <a:ext cx="2241708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1" i="0">
                <a:solidFill>
                  <a:srgbClr val="1D6B8F"/>
                </a:solidFill>
                <a:latin typeface="Verdana"/>
              </a:rPr>
              <a:t>L'EMPLOYEUSE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174396" y="5568695"/>
            <a:ext cx="7901730" cy="3749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Très bien, à tout à l'heure.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2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Dialogue 2 — trois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Répondez d'après ce que vous avez noté.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est le but de l'appel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quel poste Aziz a-t-il postulé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quelle heure doit-il se présenter ?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Dialogue 2 — trois questions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est le but de l'appel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confirmer une entrevue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 quel poste Aziz a-t-il postulé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aide-cuisinier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À quelle heure doit-il se présenter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à quinze heures, cet après-midi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Quatre réflexes au téléphone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Répétez l'heure et la date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Quinze heures cet après-midi, c'est noté. » L'autre personne corrigera tout de suite si vous avez mal entendu.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Épelez votre nom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5440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Haddad, H-A-D-D-A-D. » Un nom mal noté, c'est un dossier introuvable et un rappel qui n'arrive jamais.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Demandez à qui vous parlez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À qui est-ce que je parle, s'il vous plaît ? » Notez le nom : il faudra peut-être rappeler.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4213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100" b="1" i="0">
                <a:solidFill>
                  <a:srgbClr val="1D6B8F"/>
                </a:solidFill>
                <a:latin typeface="Verdana"/>
              </a:rPr>
              <a:t>Confirmez avant de raccrocher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671822"/>
            <a:ext cx="4806543" cy="113461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500" b="0" i="0">
                <a:solidFill>
                  <a:srgbClr val="3A3D40"/>
                </a:solidFill>
                <a:latin typeface="Verdana"/>
              </a:rPr>
              <a:t>« Donc j'apporte une preuve d'emploi et le formulaire signé, c'est bien ça ? » Trente secondes qui évitent un deuxième déplacement.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ANALYSE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L'heure, à l'oral et à l'écrit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3253740"/>
          </a:xfrm>
          <a:prstGeom prst="roundRect">
            <a:avLst>
              <a:gd name="adj" fmla="val 449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DIT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ON ÉCRIT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neuf heures et demie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9 h 30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790444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18460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quinze heures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18460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15 h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31317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441192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dix heures et quart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441192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10 h 15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38359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3963924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midi et demi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3963924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12 h 30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435864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4486656"/>
            <a:ext cx="3291492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0" i="0">
                <a:solidFill>
                  <a:srgbClr val="3A3D40"/>
                </a:solidFill>
                <a:latin typeface="Verdana"/>
              </a:rPr>
              <a:t>seize heures quarante-cinq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4486656"/>
            <a:ext cx="6595914" cy="3215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700" b="1" i="0">
                <a:solidFill>
                  <a:srgbClr val="1D6B8F"/>
                </a:solidFill>
                <a:latin typeface="Verdana"/>
              </a:rPr>
              <a:t>16 h 45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301996"/>
            <a:ext cx="11057839" cy="769874"/>
          </a:xfrm>
          <a:prstGeom prst="roundRect">
            <a:avLst>
              <a:gd name="adj" fmla="val 19003"/>
            </a:avLst>
          </a:prstGeom>
          <a:solidFill>
            <a:srgbClr val="FBFBFA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969264" y="5558028"/>
            <a:ext cx="10234879" cy="31267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400" b="0" i="0">
                <a:solidFill>
                  <a:srgbClr val="4B4F52"/>
                </a:solidFill>
                <a:latin typeface="Verdana"/>
              </a:rPr>
              <a:t>Au Québec, l'écrit officiel emploie l'heure de zéro à vingt-quatre. L'oral emploie souvent les deux.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3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l'heure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Passez de l'oral à l'écrit.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neuf heures et demie du matin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trois heures de l'après-midi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dix heures et quart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heure moins le quart de l'après-midi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huit heures moins dix du matin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Écrivez l'heure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8117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4518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neuf heures et demie du matin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9 h 30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91642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05790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12191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07187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trois heures de l'après-midi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15 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69316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83463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89864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84860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dix heures et quart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10 h 15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69892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61137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67537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625340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une heure moins le quart de l'après-midi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12 h 45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46624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5388102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452110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402072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huit heures moins dix du matin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7 h 50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LE PIÈGE DU « OUI » QUI NE CONFIRME RIEN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— Est-ce que quinze heures vous convient ? — Oui.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— Oui, quinze heures, je serai là.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Un « oui » seul peut vouloir dire « j'ai entendu ». En répétant l'heure et en ajoutant « je serai là », vous confirmez vraiment — et vous vérifiez en même temps que vous avez bien entendu.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PRATIQUE · 4 DE 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message de la secrétaire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Un message est laissé à monsieur Diallo au sujet d'une inscription.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est le but de l'appel ?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les inscriptions commencent-elles ?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doit-il se rendre au centre ?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Quels documents faut-il apporter ?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1D6B8F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message de la secrétaire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450083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51409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 est le but de l'appel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l'informer des dates et des documents pour l'inscription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254248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395725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5973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409696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Quand les inscriptions commencent-elles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la semaine prochaine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30980"/>
            <a:ext cx="11057839" cy="648716"/>
          </a:xfrm>
          <a:prstGeom prst="roundRect">
            <a:avLst>
              <a:gd name="adj" fmla="val 22552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17245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23646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186428"/>
            <a:ext cx="10097719" cy="3743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Pourquoi doit-il se rendre au centre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pour confirmer son inscription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807711"/>
            <a:ext cx="11057839" cy="986535"/>
          </a:xfrm>
          <a:prstGeom prst="roundRect">
            <a:avLst>
              <a:gd name="adj" fmla="val 14830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118099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E7F0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18210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1D6B8F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963159"/>
            <a:ext cx="10097719" cy="712215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900" b="0" i="0">
                <a:solidFill>
                  <a:srgbClr val="3A3D40"/>
                </a:solidFill>
                <a:latin typeface="Verdana"/>
              </a:rPr>
              <a:t>Quels documents faut-il apporter ?   </a:t>
            </a:r>
            <a:r>
              <a:rPr sz="1900" b="1" i="0">
                <a:solidFill>
                  <a:srgbClr val="07734A"/>
                </a:solidFill>
                <a:latin typeface="Verdana"/>
              </a:rPr>
              <a:t>» une pièce d'identité et une preuve de résidence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Absent ou en retard : que faire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17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Écrivez les cinq informations à noter pendant un appel.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Qui · pourquoi · quelle date · quels documents · quel numéro.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Ajoutez une sixième ligne : ce que vous répétez avant de raccrocher.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A4 · Absent ou en retard : que faire 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