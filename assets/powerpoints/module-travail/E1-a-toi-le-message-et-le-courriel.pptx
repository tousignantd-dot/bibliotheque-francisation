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d'application. Aucun contenu nouveau. Un tiers d'écoute, un tiers d'oral, un tiers d'écrit — et tenir l'horaire.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 message deux fois à voix haute avant d'afficher les questions. Programme visé : soutien informatique. Faire prendre des notes sur la grille des cinq informations vue en A4.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tracer la grille dans le cahier avant la deuxième écoute. La différence de performance est immédiate.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deuxième carte : reformuler ce qu'on a compris est à la fois une vérification et une politesse.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Chacun écrit puis enregistre. Circuler et écouter deux ou trois enregistrements.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clairement : partir sans prévenir empêche d'obtenir une attestation et ferme la porte pour un retour plus tard.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phrase est celle que personne n'écrit et qui compte le plus : l'attestation peut valoir pour une inscription future.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quatrième carte. C'est un droit que peu de gens connaissent, et il se perd si on ne le demande pas.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Vingt-cinq minutes d'écriture. Ramasser : c'est l'évaluation écrite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la relecture par le voisin. Une relecture croisée trouve deux fois plus d'oublis qu'une relecture par l'auteur.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quelques billets à voix haute, sans nommer les auteurs. C'est la meilleure préparation à la séance de bilan.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À toi : le message et le courriel</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Tout le module en une séance. Écouter un message de la secrétaire, y répondre au téléphone, puis écrire le courriel le plus difficile du module : celui d'un abandon.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Absent ou en retard : que faire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message d'information laissé par une secrétaire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laisser un message de réponse complet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pour justifier un abandon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relire son courriel avant de l'envoyer.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la secrétaire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message est laissé à monsieur Diallo au sujet d'une inscription.</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but de l'appel ?</a:t>
            </a:r>
          </a:p>
        </p:txBody>
      </p:sp>
      <p:sp>
        <p:nvSpPr>
          <p:cNvPr id="12" name="Rounded Rectangle 11"/>
          <p:cNvSpPr/>
          <p:nvPr/>
        </p:nvSpPr>
        <p:spPr>
          <a:xfrm>
            <a:off x="566928" y="325424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les inscriptions commencent-elles ?</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doit-il se rendre au centre ?</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documents faut-il apporter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la secrétaire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but de l'appel ?   </a:t>
            </a:r>
            <a:r>
              <a:rPr sz="1900" b="1" i="0">
                <a:solidFill>
                  <a:srgbClr val="07734A"/>
                </a:solidFill>
                <a:latin typeface="Verdana"/>
              </a:rPr>
              <a:t>» l'informer des dates et des documents pour l'inscription</a:t>
            </a:r>
          </a:p>
        </p:txBody>
      </p:sp>
      <p:sp>
        <p:nvSpPr>
          <p:cNvPr id="12" name="Rounded Rectangle 11"/>
          <p:cNvSpPr/>
          <p:nvPr/>
        </p:nvSpPr>
        <p:spPr>
          <a:xfrm>
            <a:off x="566928" y="325424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les inscriptions commencent-elles ?   </a:t>
            </a:r>
            <a:r>
              <a:rPr sz="1900" b="1" i="0">
                <a:solidFill>
                  <a:srgbClr val="07734A"/>
                </a:solidFill>
                <a:latin typeface="Verdana"/>
              </a:rPr>
              <a:t>» la semaine prochaine</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doit-il se rendre au centre ?   </a:t>
            </a:r>
            <a:r>
              <a:rPr sz="1900" b="1" i="0">
                <a:solidFill>
                  <a:srgbClr val="07734A"/>
                </a:solidFill>
                <a:latin typeface="Verdana"/>
              </a:rPr>
              <a:t>» pour confirmer son inscription</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documents faut-il apporter ?   </a:t>
            </a:r>
            <a:r>
              <a:rPr sz="1900" b="1" i="0">
                <a:solidFill>
                  <a:srgbClr val="07734A"/>
                </a:solidFill>
                <a:latin typeface="Verdana"/>
              </a:rPr>
              <a:t>» une pièce d'identité et une preuve de résidence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GRILLE DE PRISE DE NOTES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Qui appelle · pourquoi · quelle date · quels documents · quel numéro.</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Cinq lignes tracées à l'avance sur un papier. On les remplit pendant l'écoute, dans le désordre s'il le faut. C'est ce qui évite de tout retenir de tête.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À L'ORAL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réponse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Se nommer et rappeler pourquoi</a:t>
            </a:r>
          </a:p>
        </p:txBody>
      </p:sp>
      <p:sp>
        <p:nvSpPr>
          <p:cNvPr id="9" name="TextBox 8"/>
          <p:cNvSpPr txBox="1"/>
          <p:nvPr/>
        </p:nvSpPr>
        <p:spPr>
          <a:xfrm>
            <a:off x="886968"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Bonjour, ici Amadou Diallo. Je vous rappelle au sujet de mon inscription au programme en soutien informatique.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Confirmer ce qu'on a compris</a:t>
            </a:r>
          </a:p>
        </p:txBody>
      </p:sp>
      <p:sp>
        <p:nvSpPr>
          <p:cNvPr id="12" name="TextBox 11"/>
          <p:cNvSpPr txBox="1"/>
          <p:nvPr/>
        </p:nvSpPr>
        <p:spPr>
          <a:xfrm>
            <a:off x="6498183"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Vous m'avez dit que les inscriptions commencent la semaine prochaine, et qu'il faut apporter une pièce d'identité et une preuve de résidence.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Poser sa question</a:t>
            </a:r>
          </a:p>
        </p:txBody>
      </p:sp>
      <p:sp>
        <p:nvSpPr>
          <p:cNvPr id="15" name="TextBox 14"/>
          <p:cNvSpPr txBox="1"/>
          <p:nvPr/>
        </p:nvSpPr>
        <p:spPr>
          <a:xfrm>
            <a:off x="886968"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Est-ce qu'un bail peut servir de preuve de résidence ? » Une question précise, pas « j'ai des questions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Donner son numéro, deux fois</a:t>
            </a:r>
          </a:p>
        </p:txBody>
      </p:sp>
      <p:sp>
        <p:nvSpPr>
          <p:cNvPr id="18" name="TextBox 17"/>
          <p:cNvSpPr txBox="1"/>
          <p:nvPr/>
        </p:nvSpPr>
        <p:spPr>
          <a:xfrm>
            <a:off x="6498183"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Vous pouvez me rappeler au 514 555-0198. Je répète : 514 555-0198. » Lentement, à la fin.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Enregistrez votre message de réponse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Quatre parties, quarante secondes. Puis réécoutez-vous.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vous nommez</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confirmez</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posez une question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donnez votre numéro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COURRIEL D'ABANDON</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dit qu'on part, pourquoi, depuis quand on le sait, et ce qu'on demande.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courriel le plus difficile du module, parce qu'on annonce une mauvaise nouvelle. Il se règle en quatre phrases, et il vaut mieux l'écrire que de disparaître sans rien dire.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courriel d'abandon, en quatre phrases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3824057" y="1975104"/>
            <a:ext cx="721549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2671913"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but</a:t>
            </a:r>
          </a:p>
        </p:txBody>
      </p:sp>
      <p:sp>
        <p:nvSpPr>
          <p:cNvPr id="11" name="TextBox 10"/>
          <p:cNvSpPr txBox="1"/>
          <p:nvPr/>
        </p:nvSpPr>
        <p:spPr>
          <a:xfrm>
            <a:off x="3824057" y="2395728"/>
            <a:ext cx="721549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vous écris pour vous informer que je dois abandonner le cours.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raison</a:t>
            </a:r>
          </a:p>
        </p:txBody>
      </p:sp>
      <p:sp>
        <p:nvSpPr>
          <p:cNvPr id="14" name="TextBox 13"/>
          <p:cNvSpPr txBox="1"/>
          <p:nvPr/>
        </p:nvSpPr>
        <p:spPr>
          <a:xfrm>
            <a:off x="3824057" y="3236976"/>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Ma famille déménage à Trois-Rivières le mois prochain.</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date</a:t>
            </a:r>
          </a:p>
        </p:txBody>
      </p:sp>
      <p:sp>
        <p:nvSpPr>
          <p:cNvPr id="17" name="TextBox 16"/>
          <p:cNvSpPr txBox="1"/>
          <p:nvPr/>
        </p:nvSpPr>
        <p:spPr>
          <a:xfrm>
            <a:off x="3824057" y="3776472"/>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Mon dernier jour de cours sera le 28 mars.</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demande</a:t>
            </a:r>
          </a:p>
        </p:txBody>
      </p:sp>
      <p:sp>
        <p:nvSpPr>
          <p:cNvPr id="20" name="TextBox 19"/>
          <p:cNvSpPr txBox="1"/>
          <p:nvPr/>
        </p:nvSpPr>
        <p:spPr>
          <a:xfrm>
            <a:off x="3824057" y="4315968"/>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Pourriez-vous me remettre une attestation des cours suivis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à ne pas oublier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L'objet nomme l'abandon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 Abandon du cours — Karim Haddad ». Le mot « abandon » doit y être : c'est une démarche administrative, pas une absence.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registre reste officiel</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Même si vous connaissez bien l'enseignante. Un abandon passe par la direction : le courriel sera transmis.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Une seule phrase de regret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 Je regrette de devoir interrompre le cours. » Une fois, pas trois.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Demander l'attestation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Elle prouve les heures suivies. Elle peut être exigée pour une inscription ailleurs, ou pour un employeur.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courriel d'abandon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Cinq parties, quatre phrases dans le corps.</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situation</a:t>
            </a:r>
          </a:p>
        </p:txBody>
      </p:sp>
      <p:sp>
        <p:nvSpPr>
          <p:cNvPr id="12" name="Rounded Rectangle 11"/>
          <p:cNvSpPr/>
          <p:nvPr/>
        </p:nvSpPr>
        <p:spPr>
          <a:xfrm>
            <a:off x="566928" y="325424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annoncez</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demandez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avant d'envoyer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vérifications, dans l'ordre.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 dit-il de quoi il s'agit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but est-il dans la première phrase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et la salutation sont-ils du même registre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écrit mon nom complet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donné une date précise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demandé quelque chose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avant d'envoyer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 dit-il de quoi il s'agit ?   </a:t>
            </a:r>
            <a:r>
              <a:rPr sz="1400" b="1" i="0">
                <a:solidFill>
                  <a:srgbClr val="07734A"/>
                </a:solidFill>
                <a:latin typeface="Verdana"/>
              </a:rPr>
              <a:t>» en trois ou quatre mots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but est-il dans la première phrase ?   </a:t>
            </a:r>
            <a:r>
              <a:rPr sz="1400" b="1" i="0">
                <a:solidFill>
                  <a:srgbClr val="07734A"/>
                </a:solidFill>
                <a:latin typeface="Verdana"/>
              </a:rPr>
              <a:t>» pas à la fin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et la salutation sont-ils du même registre ?   </a:t>
            </a:r>
            <a:r>
              <a:rPr sz="1400" b="1" i="0">
                <a:solidFill>
                  <a:srgbClr val="07734A"/>
                </a:solidFill>
                <a:latin typeface="Verdana"/>
              </a:rPr>
              <a:t>» officiel avec officiel</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écrit mon nom complet ?   </a:t>
            </a:r>
            <a:r>
              <a:rPr sz="1400" b="1" i="0">
                <a:solidFill>
                  <a:srgbClr val="07734A"/>
                </a:solidFill>
                <a:latin typeface="Verdana"/>
              </a:rPr>
              <a:t>» prénom et nom de famille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donné une date précise ?   </a:t>
            </a:r>
            <a:r>
              <a:rPr sz="1400" b="1" i="0">
                <a:solidFill>
                  <a:srgbClr val="07734A"/>
                </a:solidFill>
                <a:latin typeface="Verdana"/>
              </a:rPr>
              <a:t>» le dernier jour de cours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demandé quelque chose ?   </a:t>
            </a:r>
            <a:r>
              <a:rPr sz="1400" b="1" i="0">
                <a:solidFill>
                  <a:srgbClr val="07734A"/>
                </a:solidFill>
                <a:latin typeface="Verdana"/>
              </a:rPr>
              <a:t>» une attestation, un rappel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qu'est-ce que vous ferez différemment la prochaine fois que vous serez en retard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Pensez à la première séance : prévenir avant de partir, pas après.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honnête. Elle n'est pas notée.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