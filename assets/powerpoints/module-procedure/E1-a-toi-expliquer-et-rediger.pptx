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Séance d'application. Aucun contenu nouveau. Un tiers d'oral, un tiers d'écrit, un tiers de relecture croisée.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Lire les objectifs à voix haute. Y revenir au billet de sortie.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Écrire les mots d'ordre et la question finale au tableau. C'est le modèle de l'exercice oral.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Vingt minutes. Circuler et vérifier deux choses : les mots d'ordre, et la question finale. Ne pas corriger la langue pendant l'échange.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Comparer avec l'oral : à l'oral on peut dire « tu prends une photo » et préciser après. À l'écrit, la précision doit être là du premier coup.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remarquer que les mots d'ordre disparaissent à l'écrit. Les numéros font le même travail, plus efficacement.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Ces quatre ajouts transforment une liste d'étapes en vraie directive. Les faire cocher un par un pendant la rédaction.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Vingt-cinq minutes d'écriture individuelle. Circuler et aider sur la forme de l'impératif, pas sur le contenu.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C'est l'exercice le plus formateur de la séance : on découvre ce qui manque en lisant la procédure de quelqu'un d'autre.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relever, dans les procédures échangées, toutes les précisions manquantes. Il y en aura beaucoup.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Dix minutes. Ramasser les versions corrigées : ce sont elles qu'on évalue, pas les premières.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Relever les réponses et en faire une liste au tableau. C'est le meilleur bilan possible de la compétence du module.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SÉANCE E1  ·  MODULE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À toi : expliquer et rédiger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763268"/>
          </a:xfrm>
          <a:prstGeom prst="roundRect">
            <a:avLst>
              <a:gd name="adj" fmla="val 829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Tout le module en une séance. Expliquer une procédure à un collègue à voix haute, puis la rédiger pour quelqu'un qui ne sera pas là pour poser des questions.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90 minutes  ·  Quelle est la procédure ?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Quelle est la procédure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expliquer une procédure en cinq étapes, à voix haute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répondre aux questions d'un collègue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rédiger une procédure à l'impératif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relire une procédure écrite par quelqu'un d'autre et la tester.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Quelle est la procédure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À L'ORAL · LA RÈGLE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967991"/>
          </a:xfrm>
          <a:prstGeom prst="roundRect">
            <a:avLst>
              <a:gd name="adj" fmla="val 7434"/>
            </a:avLst>
          </a:prstGeom>
          <a:solidFill>
            <a:srgbClr val="DCF2E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145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Une étape par phrase, un mot d'ordre au début, et on vérifie à la fin.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467607"/>
            <a:ext cx="11057839" cy="1671827"/>
          </a:xfrm>
          <a:prstGeom prst="roundRect">
            <a:avLst>
              <a:gd name="adj" fmla="val 875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741927"/>
            <a:ext cx="10234879" cy="12146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D'abord, ensuite, puis, après ça, enfin. Et à la fin : « Est-ce que c'est clair, ou tu veux que je reprenne une étape ? » Cette dernière question fait toute la différence.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Quelle est la procédure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PRATIQUE · 1 DE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Jeu de rôle · expliquer à un collègue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À deux. L'un explique, l'autre pose des questions. Puis on échange.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 collègue demande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Vous expliquez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 collègue demande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 collègue demande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246624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5388102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452110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402072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Vous vérifiez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Quelle est la procédure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À L'ÉCRIT · LA RÈGLE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967991"/>
          </a:xfrm>
          <a:prstGeom prst="roundRect">
            <a:avLst>
              <a:gd name="adj" fmla="val 7434"/>
            </a:avLst>
          </a:prstGeom>
          <a:solidFill>
            <a:srgbClr val="DCF2E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145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L'impératif, une étape par ligne, numérotées.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467607"/>
            <a:ext cx="11057839" cy="1671827"/>
          </a:xfrm>
          <a:prstGeom prst="roundRect">
            <a:avLst>
              <a:gd name="adj" fmla="val 875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741927"/>
            <a:ext cx="10234879" cy="12146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À l'écrit, personne ne peut poser de question. Chaque étape doit donc être complète et sans ambiguïté : « Prenez une photo claire du reçu, directement avec l'application. »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Quelle est la procédure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Une procédure écrite, en cinq lignes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3253740"/>
          </a:xfrm>
          <a:prstGeom prst="roundRect">
            <a:avLst>
              <a:gd name="adj" fmla="val 449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81317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RANG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65319" y="1975104"/>
            <a:ext cx="9074231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LA LIGNE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813175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65319" y="2395728"/>
            <a:ext cx="9074231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Ouvrez l'application Ressources+.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79044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18460"/>
            <a:ext cx="813175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65319" y="2918460"/>
            <a:ext cx="9074231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Appuyez sur Nouvelle demande.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13176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41192"/>
            <a:ext cx="813175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65319" y="3441192"/>
            <a:ext cx="9074231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Prenez une photo claire du reçu, avec l'application.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8359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3963924"/>
            <a:ext cx="813175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965319" y="3963924"/>
            <a:ext cx="9074231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Inscrivez le montant exact et choisissez la catégorie.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32688" y="435864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32688" y="4486656"/>
            <a:ext cx="813175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0D7A6F"/>
                </a:solidFill>
                <a:latin typeface="Verdana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965319" y="4486656"/>
            <a:ext cx="9074231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Appuyez sur Envoyer et attendez l'approbation.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301996"/>
            <a:ext cx="11057839" cy="769874"/>
          </a:xfrm>
          <a:prstGeom prst="roundRect">
            <a:avLst>
              <a:gd name="adj" fmla="val 19003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969264" y="5558028"/>
            <a:ext cx="10234879" cy="3126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4B4F52"/>
                </a:solidFill>
                <a:latin typeface="Verdana"/>
              </a:rPr>
              <a:t>Cinq lignes numérotées, cinq verbes à l'impératif. Aucun mot d'ordre : la numérotation les remplace.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Quelle est la procédure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ÉCRIRE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 i="0">
                <a:solidFill>
                  <a:srgbClr val="17181A"/>
                </a:solidFill>
                <a:latin typeface="Verdana"/>
              </a:rPr>
              <a:t>Quatre choses à ajouter à une procédure écrite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6968" y="2084831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0D7A6F"/>
                </a:solidFill>
                <a:latin typeface="Verdana"/>
              </a:rPr>
              <a:t>Ce qui est obligatoire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49936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« La photo est obligatoire, sinon la demande est refusée. » Une ligne séparée, en fin de procédure.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8143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98183" y="2084831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0D7A6F"/>
                </a:solidFill>
                <a:latin typeface="Verdana"/>
              </a:rPr>
              <a:t>Le délai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8183" y="249936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« Comptez environ dix jours ouvrables après l'approbation. » Le lecteur n'aura personne à qui le demander.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86968" y="4302252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0D7A6F"/>
                </a:solidFill>
                <a:latin typeface="Verdana"/>
              </a:rPr>
              <a:t>Quoi faire si ça bloque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471678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« En cas de problème, communiquez avec les finances, au poste 6. » C'est le troisième bloc de toute directive, vu en D1.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8143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498183" y="4302252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0D7A6F"/>
                </a:solidFill>
                <a:latin typeface="Verdana"/>
              </a:rPr>
              <a:t>Ce qu'il faut garder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8183" y="471678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« Conservez votre reçu original jusqu'au versement. » Le conseil qui évite le plus de refus.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Quelle est la procédure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PRATIQUE · 2 DE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Rédigez la procédure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Cinq étapes numérotées à l'impératif, plus les quatre ajouts.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La procédure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Pour qui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À ne pas oublier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Quelle est la procédure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PRATIQUE · 3 DE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Testez la procédure d'un autre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Échangez les feuilles. Suivez la procédure ligne par ligne.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Est-ce que chaque ligne dit une seule action 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Est-ce que chaque verbe est à l'impératif 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Est-ce qu'il manque une précision ?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Est-ce que le délai est écrit ?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246624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5388102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452110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402072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Est-ce qu'on sait quoi faire si ça bloque 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Quelle est la procédure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Testez la procédure d'un autre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Est-ce que chaque ligne dit une seule action ?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sinon, la couper en deux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Est-ce que chaque verbe est à l'impératif ?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Ouvrez, prenez, inscrivez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Est-ce qu'il manque une précision ?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claire, exact, bonne catégorie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Est-ce que le délai est écrit ?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et à partir de quand il court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246624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5388102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452110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402072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Est-ce qu'on sait quoi faire si ça bloque ?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un nom, un poste, un courriel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Quelle est la procédure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LE PIÈGE DE L'ÉTAPE ÉVIDENTE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Prenez une photo du reçu.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Prenez une photo claire du reçu, directement avec l'application.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618487"/>
          </a:xfrm>
          <a:prstGeom prst="roundRect">
            <a:avLst>
              <a:gd name="adj" fmla="val 903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1518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Ce qui est évident pour celui qui écrit ne l'est pas pour celui qui lit. « Claire » et « directement avec l'application » paraissent superflus — ce sont pourtant les deux précisions qui font la différence entre une demande acceptée et une demande refusée.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Quelle est la procédure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PRATIQUE · 4 DE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Corrigez votre procédure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D'après les remarques de votre voisin.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Ce qui manquait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Ce que vous ajoutez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Ce que vous coupez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La relecture finale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Quelle est la procédure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13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En une phrase : qu'est-ce qui manquait le plus souvent dans les procédures de la classe 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Une seule chose, précise.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Exemple : « le délai n'était presque jamais écrit ».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Quelle est la procédure 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