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lecture de consigne de sécurité. Le ton compte : ce n'est plus une question de remboursement, mais d'intégrité physique.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les quatre verbes à l'impératif au tableau. C'est exactement la forme travaillée en C4.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chaque geste a une raison différente. Ce n'est pas une liste arbitraire.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raisons répondent à l'objection la plus fréquente : « mais je sais réparer ça ». Les donner toutes les quatre.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question porte sur l'ordre, pas sur le contenu. C'est la plus difficile, et la plus utile.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un mot sans l'employer est un exercice de reformulation. C'est aussi ce qu'on fait quand on cherche un mot qui manque.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exactement l'exercice de C4, appliqué à une vraie directive. Le signaler : le savoir de grammaire devient un document de travail.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L'ordre d'une directive n'est presque jamais arbitraire. Faire chercher, pour chacun des quatre gestes, ce qui se passerait s'il était fait plus tard.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signaler n'est pas dénoncer. Beaucoup d'élèves hésitent par crainte d'être tenus responsables du bris.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Vingt minutes. Ramasser : ces signalements montrent si la directive est vraiment comprise, ordre compris.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billet peut être affiché en classe. C'est une vraie fiche de sécurité, écrite par les élèves.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D2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Signaler un bris d'équipement</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 gestes et une interdiction. C'est la directive la plus courte du module, et la seule dont le non-respect peut blesser quelqu'un.</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Quelle est la procédure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connaître les quatre gestes du signalement, dans l'ordre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pourquoi on ne répare pas soi-même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expliquer le mot « signaler » dans ses propres mots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un synonyme de « bris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LA DIRECTIVE, EN UNE PHRASE</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Arrêtez · photographiez · avertissez · remplissez. Et ne réparez jamais.</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 gestes dans cet ordre, puis une interdiction absolue. L'ordre compte : photographier avant d'arrêter la machine serait dangereux, et avertir avant de photographier fait perdre la preuve.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gestes et leur raison</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394755"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GESTE</a:t>
            </a:r>
          </a:p>
        </p:txBody>
      </p:sp>
      <p:sp>
        <p:nvSpPr>
          <p:cNvPr id="9" name="TextBox 8"/>
          <p:cNvSpPr txBox="1"/>
          <p:nvPr/>
        </p:nvSpPr>
        <p:spPr>
          <a:xfrm>
            <a:off x="4546899" y="1975104"/>
            <a:ext cx="6492651"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POURQUOI</a:t>
            </a:r>
          </a:p>
        </p:txBody>
      </p:sp>
      <p:sp>
        <p:nvSpPr>
          <p:cNvPr id="10" name="TextBox 9"/>
          <p:cNvSpPr txBox="1"/>
          <p:nvPr/>
        </p:nvSpPr>
        <p:spPr>
          <a:xfrm>
            <a:off x="932688" y="2395728"/>
            <a:ext cx="3394755"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arrêter la machine</a:t>
            </a:r>
          </a:p>
        </p:txBody>
      </p:sp>
      <p:sp>
        <p:nvSpPr>
          <p:cNvPr id="11" name="TextBox 10"/>
          <p:cNvSpPr txBox="1"/>
          <p:nvPr/>
        </p:nvSpPr>
        <p:spPr>
          <a:xfrm>
            <a:off x="4546899" y="2395728"/>
            <a:ext cx="649265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éviter que le bris s'aggrave ou blesse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394755"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prendre une photo</a:t>
            </a:r>
          </a:p>
        </p:txBody>
      </p:sp>
      <p:sp>
        <p:nvSpPr>
          <p:cNvPr id="14" name="TextBox 13"/>
          <p:cNvSpPr txBox="1"/>
          <p:nvPr/>
        </p:nvSpPr>
        <p:spPr>
          <a:xfrm>
            <a:off x="4546899" y="2935224"/>
            <a:ext cx="649265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garder la preuve de l'état au moment du bris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394755"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avertir le superviseur</a:t>
            </a:r>
          </a:p>
        </p:txBody>
      </p:sp>
      <p:sp>
        <p:nvSpPr>
          <p:cNvPr id="17" name="TextBox 16"/>
          <p:cNvSpPr txBox="1"/>
          <p:nvPr/>
        </p:nvSpPr>
        <p:spPr>
          <a:xfrm>
            <a:off x="4546899" y="3474720"/>
            <a:ext cx="649265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décide de la suite et prévient la maintenance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394755"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remplir le formulaire</a:t>
            </a:r>
          </a:p>
        </p:txBody>
      </p:sp>
      <p:sp>
        <p:nvSpPr>
          <p:cNvPr id="20" name="TextBox 19"/>
          <p:cNvSpPr txBox="1"/>
          <p:nvPr/>
        </p:nvSpPr>
        <p:spPr>
          <a:xfrm>
            <a:off x="4546899" y="4014215"/>
            <a:ext cx="649265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signalement devient officiel et daté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Pourquoi ne jamais réparer soi-même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sécurité</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Un équipement mal remis en marche peut blesser la personne suivante. Vous ne serez peut-être pas là quand cela arrivera.</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garantie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Une réparation faite par un employé annule souvent la garantie du fabricant. L'entreprise paie alors le remplacement complet.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responsabilité</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Si un accident survient après une réparation non autorisée, la responsabilité peut retomber sur la personne qui a réparé.</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Ce qu'on peut faire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Signaler vite et précisément. Une bonne photo et une description exacte accélèrent la vraie réparation.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directive, cinq questions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texte.</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Que faut-il faire en premier si une machine se brise ?</a:t>
            </a:r>
          </a:p>
        </p:txBody>
      </p:sp>
      <p:sp>
        <p:nvSpPr>
          <p:cNvPr id="12" name="Rounded Rectangle 11"/>
          <p:cNvSpPr/>
          <p:nvPr/>
        </p:nvSpPr>
        <p:spPr>
          <a:xfrm>
            <a:off x="566928" y="289864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Qu'est-ce qu'il faut faire avant d'avertir le superviseur ?</a:t>
            </a:r>
          </a:p>
        </p:txBody>
      </p:sp>
      <p:sp>
        <p:nvSpPr>
          <p:cNvPr id="16" name="Rounded Rectangle 15"/>
          <p:cNvSpPr/>
          <p:nvPr/>
        </p:nvSpPr>
        <p:spPr>
          <a:xfrm>
            <a:off x="566928" y="365760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Est-ce qu'on peut réparer l'équipement soi-même ?</a:t>
            </a:r>
          </a:p>
        </p:txBody>
      </p:sp>
      <p:sp>
        <p:nvSpPr>
          <p:cNvPr id="20" name="Rounded Rectangle 19"/>
          <p:cNvSpPr/>
          <p:nvPr/>
        </p:nvSpPr>
        <p:spPr>
          <a:xfrm>
            <a:off x="566928" y="4416552"/>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Où doit-on remplir le formulaire de signalement ?</a:t>
            </a:r>
          </a:p>
        </p:txBody>
      </p:sp>
      <p:sp>
        <p:nvSpPr>
          <p:cNvPr id="24" name="Rounded Rectangle 23"/>
          <p:cNvSpPr/>
          <p:nvPr/>
        </p:nvSpPr>
        <p:spPr>
          <a:xfrm>
            <a:off x="566928" y="5175504"/>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Qui décide de la suite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directive, cinq questions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Que faut-il faire en premier si une machine se brise ?   </a:t>
            </a:r>
            <a:r>
              <a:rPr sz="1800" b="1" i="0">
                <a:solidFill>
                  <a:srgbClr val="07734A"/>
                </a:solidFill>
                <a:latin typeface="Verdana"/>
              </a:rPr>
              <a:t>» l'arrêter immédiatement</a:t>
            </a:r>
          </a:p>
        </p:txBody>
      </p:sp>
      <p:sp>
        <p:nvSpPr>
          <p:cNvPr id="12" name="Rounded Rectangle 11"/>
          <p:cNvSpPr/>
          <p:nvPr/>
        </p:nvSpPr>
        <p:spPr>
          <a:xfrm>
            <a:off x="566928" y="289864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Qu'est-ce qu'il faut faire avant d'avertir le superviseur ?   </a:t>
            </a:r>
            <a:r>
              <a:rPr sz="1800" b="1" i="0">
                <a:solidFill>
                  <a:srgbClr val="07734A"/>
                </a:solidFill>
                <a:latin typeface="Verdana"/>
              </a:rPr>
              <a:t>» prendre une photo du bris</a:t>
            </a:r>
          </a:p>
        </p:txBody>
      </p:sp>
      <p:sp>
        <p:nvSpPr>
          <p:cNvPr id="16" name="Rounded Rectangle 15"/>
          <p:cNvSpPr/>
          <p:nvPr/>
        </p:nvSpPr>
        <p:spPr>
          <a:xfrm>
            <a:off x="566928" y="365760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Est-ce qu'on peut réparer l'équipement soi-même ?   </a:t>
            </a:r>
            <a:r>
              <a:rPr sz="1800" b="1" i="0">
                <a:solidFill>
                  <a:srgbClr val="07734A"/>
                </a:solidFill>
                <a:latin typeface="Verdana"/>
              </a:rPr>
              <a:t>» non, jamais</a:t>
            </a:r>
          </a:p>
        </p:txBody>
      </p:sp>
      <p:sp>
        <p:nvSpPr>
          <p:cNvPr id="20" name="Rounded Rectangle 19"/>
          <p:cNvSpPr/>
          <p:nvPr/>
        </p:nvSpPr>
        <p:spPr>
          <a:xfrm>
            <a:off x="566928" y="4416552"/>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Où doit-on remplir le formulaire de signalement ?   </a:t>
            </a:r>
            <a:r>
              <a:rPr sz="1800" b="1" i="0">
                <a:solidFill>
                  <a:srgbClr val="07734A"/>
                </a:solidFill>
                <a:latin typeface="Verdana"/>
              </a:rPr>
              <a:t>» dans l'application</a:t>
            </a:r>
          </a:p>
        </p:txBody>
      </p:sp>
      <p:sp>
        <p:nvSpPr>
          <p:cNvPr id="24" name="Rounded Rectangle 23"/>
          <p:cNvSpPr/>
          <p:nvPr/>
        </p:nvSpPr>
        <p:spPr>
          <a:xfrm>
            <a:off x="566928" y="5175504"/>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Qui décide de la suite ?   </a:t>
            </a:r>
            <a:r>
              <a:rPr sz="1800" b="1" i="0">
                <a:solidFill>
                  <a:srgbClr val="07734A"/>
                </a:solidFill>
                <a:latin typeface="Verdana"/>
              </a:rPr>
              <a:t>» le superviseur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Expliquez le mot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Dans vos propres mots, sans employer le mot lui-même.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signaler</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bris</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synonyme de « bris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formulaire de signalement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Expliquez le mot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signaler   </a:t>
            </a:r>
            <a:r>
              <a:rPr sz="1900" b="1" i="0">
                <a:solidFill>
                  <a:srgbClr val="07734A"/>
                </a:solidFill>
                <a:latin typeface="Verdana"/>
              </a:rPr>
              <a:t>» faire savoir, informer quelqu'un d'un problème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bris   </a:t>
            </a:r>
            <a:r>
              <a:rPr sz="1900" b="1" i="0">
                <a:solidFill>
                  <a:srgbClr val="07734A"/>
                </a:solidFill>
                <a:latin typeface="Verdana"/>
              </a:rPr>
              <a:t>» un équipement qui casse ou cesse de fonctionner</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synonyme de « bris »   </a:t>
            </a:r>
            <a:r>
              <a:rPr sz="1900" b="1" i="0">
                <a:solidFill>
                  <a:srgbClr val="07734A"/>
                </a:solidFill>
                <a:latin typeface="Verdana"/>
              </a:rPr>
              <a:t>» une panne, un dommage, un bris de service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formulaire de signalement   </a:t>
            </a:r>
            <a:r>
              <a:rPr sz="1900" b="1" i="0">
                <a:solidFill>
                  <a:srgbClr val="07734A"/>
                </a:solidFill>
                <a:latin typeface="Verdana"/>
              </a:rPr>
              <a:t>» le document où on déclare officiellement un bris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la directive à l'impératif</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Deuxième personne du pluriel. Une consigne par ligne.</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arrêter la machine</a:t>
            </a:r>
          </a:p>
        </p:txBody>
      </p:sp>
      <p:sp>
        <p:nvSpPr>
          <p:cNvPr id="12" name="Rounded Rectangle 11"/>
          <p:cNvSpPr/>
          <p:nvPr/>
        </p:nvSpPr>
        <p:spPr>
          <a:xfrm>
            <a:off x="566928" y="289864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prendre une photo</a:t>
            </a:r>
          </a:p>
        </p:txBody>
      </p:sp>
      <p:sp>
        <p:nvSpPr>
          <p:cNvPr id="16" name="Rounded Rectangle 15"/>
          <p:cNvSpPr/>
          <p:nvPr/>
        </p:nvSpPr>
        <p:spPr>
          <a:xfrm>
            <a:off x="566928" y="365760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avertir le superviseur</a:t>
            </a:r>
          </a:p>
        </p:txBody>
      </p:sp>
      <p:sp>
        <p:nvSpPr>
          <p:cNvPr id="20" name="Rounded Rectangle 19"/>
          <p:cNvSpPr/>
          <p:nvPr/>
        </p:nvSpPr>
        <p:spPr>
          <a:xfrm>
            <a:off x="566928" y="4416552"/>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remplir le formulaire</a:t>
            </a:r>
          </a:p>
        </p:txBody>
      </p:sp>
      <p:sp>
        <p:nvSpPr>
          <p:cNvPr id="24" name="Rounded Rectangle 23"/>
          <p:cNvSpPr/>
          <p:nvPr/>
        </p:nvSpPr>
        <p:spPr>
          <a:xfrm>
            <a:off x="566928" y="5175504"/>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ne pas réparer soi-même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la directive à l'impératif</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arrêter la machine   </a:t>
            </a:r>
            <a:r>
              <a:rPr sz="1800" b="1" i="0">
                <a:solidFill>
                  <a:srgbClr val="07734A"/>
                </a:solidFill>
                <a:latin typeface="Verdana"/>
              </a:rPr>
              <a:t>» Arrêtez immédiatement la machine.</a:t>
            </a:r>
          </a:p>
        </p:txBody>
      </p:sp>
      <p:sp>
        <p:nvSpPr>
          <p:cNvPr id="12" name="Rounded Rectangle 11"/>
          <p:cNvSpPr/>
          <p:nvPr/>
        </p:nvSpPr>
        <p:spPr>
          <a:xfrm>
            <a:off x="566928" y="289864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prendre une photo   </a:t>
            </a:r>
            <a:r>
              <a:rPr sz="1800" b="1" i="0">
                <a:solidFill>
                  <a:srgbClr val="07734A"/>
                </a:solidFill>
                <a:latin typeface="Verdana"/>
              </a:rPr>
              <a:t>» Prenez une photo du bris.</a:t>
            </a:r>
          </a:p>
        </p:txBody>
      </p:sp>
      <p:sp>
        <p:nvSpPr>
          <p:cNvPr id="16" name="Rounded Rectangle 15"/>
          <p:cNvSpPr/>
          <p:nvPr/>
        </p:nvSpPr>
        <p:spPr>
          <a:xfrm>
            <a:off x="566928" y="365760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avertir le superviseur   </a:t>
            </a:r>
            <a:r>
              <a:rPr sz="1800" b="1" i="0">
                <a:solidFill>
                  <a:srgbClr val="07734A"/>
                </a:solidFill>
                <a:latin typeface="Verdana"/>
              </a:rPr>
              <a:t>» Avertissez votre superviseur.</a:t>
            </a:r>
          </a:p>
        </p:txBody>
      </p:sp>
      <p:sp>
        <p:nvSpPr>
          <p:cNvPr id="20" name="Rounded Rectangle 19"/>
          <p:cNvSpPr/>
          <p:nvPr/>
        </p:nvSpPr>
        <p:spPr>
          <a:xfrm>
            <a:off x="566928" y="4416552"/>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remplir le formulaire   </a:t>
            </a:r>
            <a:r>
              <a:rPr sz="1800" b="1" i="0">
                <a:solidFill>
                  <a:srgbClr val="07734A"/>
                </a:solidFill>
                <a:latin typeface="Verdana"/>
              </a:rPr>
              <a:t>» Remplissez le formulaire de signalement.</a:t>
            </a:r>
          </a:p>
        </p:txBody>
      </p:sp>
      <p:sp>
        <p:nvSpPr>
          <p:cNvPr id="24" name="Rounded Rectangle 23"/>
          <p:cNvSpPr/>
          <p:nvPr/>
        </p:nvSpPr>
        <p:spPr>
          <a:xfrm>
            <a:off x="566928" y="5175504"/>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ne pas réparer soi-même   </a:t>
            </a:r>
            <a:r>
              <a:rPr sz="1800" b="1" i="0">
                <a:solidFill>
                  <a:srgbClr val="07734A"/>
                </a:solidFill>
                <a:latin typeface="Verdana"/>
              </a:rPr>
              <a:t>» Ne tentez jamais de réparer l'équipement vous-même.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PIÈGE DE LA PHOTO PRISE TROP TARD</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J'arrête la machine, j'avertis, puis je prends une photo.</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J'arrête la machine, je prends la photo, puis j'avertis.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Entre le moment où on avertit et celui où on revient, quelqu'un peut avoir déplacé la pièce, nettoyé, ou tenté quelque chose. La photo prise tout de suite montre l'état réel au moment du bris — et c'est elle qui compte.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PIÈGE DU BRIS « PAS GRAVE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 n'est qu'un petit bruit, je le signalerai demain.</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signale tout de suite, même un petit bruit.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bris mineur signalé le jour même se répare en une heure. Le même bris ignoré trois jours immobilise la machine une semaine. Signaler ne coûte que deux minutes et ne met personne en cause.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le signalement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Quatre phrases, une par élément.</a:t>
            </a:r>
          </a:p>
        </p:txBody>
      </p:sp>
      <p:sp>
        <p:nvSpPr>
          <p:cNvPr id="8" name="Rounded Rectangle 7"/>
          <p:cNvSpPr/>
          <p:nvPr/>
        </p:nvSpPr>
        <p:spPr>
          <a:xfrm>
            <a:off x="566928" y="2139696"/>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situation</a:t>
            </a:r>
          </a:p>
        </p:txBody>
      </p:sp>
      <p:sp>
        <p:nvSpPr>
          <p:cNvPr id="12" name="Rounded Rectangle 11"/>
          <p:cNvSpPr/>
          <p:nvPr/>
        </p:nvSpPr>
        <p:spPr>
          <a:xfrm>
            <a:off x="566928" y="325424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9572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5973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40969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 vous avez fait</a:t>
            </a:r>
          </a:p>
        </p:txBody>
      </p:sp>
      <p:sp>
        <p:nvSpPr>
          <p:cNvPr id="16" name="Rounded Rectangle 15"/>
          <p:cNvSpPr/>
          <p:nvPr/>
        </p:nvSpPr>
        <p:spPr>
          <a:xfrm>
            <a:off x="566928" y="403098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 vous joignez</a:t>
            </a:r>
          </a:p>
        </p:txBody>
      </p:sp>
      <p:sp>
        <p:nvSpPr>
          <p:cNvPr id="20" name="Rounded Rectangle 19"/>
          <p:cNvSpPr/>
          <p:nvPr/>
        </p:nvSpPr>
        <p:spPr>
          <a:xfrm>
            <a:off x="566928" y="4807711"/>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94919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1319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963159"/>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 vous demandez</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quatre gestes du signalement, à l'impératif, plus l'interdiction.</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ligne par geste, dans l'ordre.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pour chacun, la raison en trois mots.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Quelle est la procédure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