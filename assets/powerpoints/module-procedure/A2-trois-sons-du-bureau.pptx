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Écrire la phrase du chapeau au tableau et la faire lire par trois élèves. Les trois sons difficiles apparaîtront tout de suite.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Écrire les trois mots repères au tableau et les y laisser toute la séance.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dire « nu… i » lentement, puis de plus en plus vite, jusqu'à ce que les deux se collent. C'est l'exercice qui marche.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Écrire au tableau : g + e, i, y = le son de « jour ». g + a, o, u = le son de « gare ». C'est la règle la plus rentable de la séance.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quatrième carte relie la phonétique au vocabulaire du module. Faire prononcer les huit mots à voix haute, en chœur.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« Aujourd'hui » et « juillet » contiennent deux des trois sons chacun. Le signaler à la correction : c'est ce qui rend ces mots difficiles.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classer dix mots au tableau selon la lettre qui suit le g. Le motif apparaît immédiatement.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répéter « signature » et « signaler » cinq fois chacun. Ce sont les deux mots du module qui contiennent ce 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 deuxième item contient deux des trois sons. Le garder pour la fin de la correction.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lire debout et lentement. La première phrase contient les trois sons : c'est le test de la séance.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circulant. Un élève qui écrit « aujourd'hui » pour le son de « jour » a raison aussi : le mot contient les deux.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B4FBB"/>
                </a:solidFill>
                <a:latin typeface="Verdana"/>
              </a:rPr>
              <a:t>SÉANCE A2  ·  MODULE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Trois sons du bureau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763268"/>
          </a:xfrm>
          <a:prstGeom prst="roundRect">
            <a:avLst>
              <a:gd name="adj" fmla="val 829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« Aujourd'hui, je joins ma signature en ligne. » Trois sons difficiles dans une seule phrase de travail — et trois orthographes qui ne se devinent pas.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60 minutes  ·  Quelle est la procédure ?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Quelle est la procédure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B4FBB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F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6B4FBB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prononcer le son de « nuit » : deux voyelles collées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F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6B4FBB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prononcer le son de « jour », écrit j ou g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F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6B4FBB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prononcer le son de « ligne », écrit gn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F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6B4FBB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écrire correctement les mots du module qui les contiennent.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Quelle est la procédure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B4FBB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Trois sons, leurs lettres, un mot repère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2258568"/>
          </a:xfrm>
          <a:prstGeom prst="roundRect">
            <a:avLst>
              <a:gd name="adj" fmla="val 647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2265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LE SON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74794" y="1975104"/>
            <a:ext cx="322265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IL S'ÉCRIT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16900" y="1975104"/>
            <a:ext cx="322265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MOT REPÈRE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" y="2395728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6B4FBB"/>
                </a:solidFill>
                <a:latin typeface="Verdana"/>
              </a:rPr>
              <a:t>le son de « nuit »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74794" y="2395728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ui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16900" y="2395728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nuit, aujourd'hui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32688" y="2935224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6B4FBB"/>
                </a:solidFill>
                <a:latin typeface="Verdana"/>
              </a:rPr>
              <a:t>le son de « jour »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74794" y="2935224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j · g devant e, i, 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16900" y="2935224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jour, joindre, orangé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3474720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6B4FBB"/>
                </a:solidFill>
                <a:latin typeface="Verdana"/>
              </a:rPr>
              <a:t>le son de « ligne »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74794" y="3474720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gn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816900" y="3474720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ligne, signature, gagner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66928" y="4306824"/>
            <a:ext cx="11057839" cy="1175004"/>
          </a:xfrm>
          <a:prstGeom prst="roundRect">
            <a:avLst>
              <a:gd name="adj" fmla="val 12451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969264" y="4562856"/>
            <a:ext cx="10234879" cy="7178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Le deuxième est le seul qui s'écrit de deux façons. C'est celui qui cause le plus d'erreurs d'orthographe.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Quelle est la procédure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B4FBB"/>
                </a:solidFill>
                <a:latin typeface="Verdana"/>
              </a:rPr>
              <a:t>LE SON DE « NUIT »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EFEA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On dit « u » puis « i » très vite, sans arrêt entre les deux.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1303528"/>
          </a:xfrm>
          <a:prstGeom prst="roundRect">
            <a:avLst>
              <a:gd name="adj" fmla="val 1122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8463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Nuit, aujourd'hui, juillet, huit, depuis. Ce n'est pas « nou-i » ni « nu-i » en deux temps : les deux voyelles se collent et forment un seul son glissé.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Quelle est la procédure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B4FBB"/>
                </a:solidFill>
                <a:latin typeface="Verdana"/>
              </a:rPr>
              <a:t>LE SON DE « JOUR »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EFEA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Il s'écrit j partout, et g seulement devant e, i ou y.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Jour, joindre, juillet : la lettre j. Orangé, gestion, agir : la lettre g, mais seulement devant e, i ou y. Devant a, o ou u, la lettre g fait un autre son : gare, gomme, légume.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Quelle est la procédure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B4FBB"/>
                </a:solidFill>
                <a:latin typeface="Verdana"/>
              </a:rPr>
              <a:t>EN APPRENDRE PLUS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Quatre choses à savoir en plus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4806543" cy="6568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100" b="1" i="0">
                <a:solidFill>
                  <a:srgbClr val="6B4FBB"/>
                </a:solidFill>
                <a:latin typeface="Verdana"/>
              </a:rPr>
              <a:t>Le « e » qui sert de pont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769108"/>
            <a:ext cx="4806543" cy="819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Dans « orangé », le g garde son son parce qu'il est devant e. Dans « mangeons », on ajoute un e exprès pour garder le son devant o.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8183" y="2084831"/>
            <a:ext cx="4806543" cy="6568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100" b="1" i="0">
                <a:solidFill>
                  <a:srgbClr val="6B4FBB"/>
                </a:solidFill>
                <a:latin typeface="Verdana"/>
              </a:rPr>
              <a:t>Le son de « ligne » est un seul son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8183" y="2769108"/>
            <a:ext cx="4806543" cy="819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Les lettres g et n s'unissent : ligne, signature, gagner, montagne. Ce n'est ni « lig-ne » ni « li-ne ».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6968" y="4302252"/>
            <a:ext cx="4806543" cy="6568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100" b="1" i="0">
                <a:solidFill>
                  <a:srgbClr val="6B4FBB"/>
                </a:solidFill>
                <a:latin typeface="Verdana"/>
              </a:rPr>
              <a:t>Ne pas confondre gn et g + 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4986528"/>
            <a:ext cx="4806543" cy="819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Dans « diagnostic », le g et le n se prononcent séparément. C'est rare, mais cela existe.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8143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498183" y="4302252"/>
            <a:ext cx="4806543" cy="6568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100" b="1" i="0">
                <a:solidFill>
                  <a:srgbClr val="6B4FBB"/>
                </a:solidFill>
                <a:latin typeface="Verdana"/>
              </a:rPr>
              <a:t>Les mots du travail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8183" y="4986528"/>
            <a:ext cx="4806543" cy="819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Signature, signaler, ligne, gagner, joindre, jour ouvrable, aujourd'hui, juillet. Tous sont dans ce module.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Quelle est la procédure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B4FBB"/>
                </a:solidFill>
                <a:latin typeface="Verdana"/>
              </a:rPr>
              <a:t>PRATIQUE · 1 DE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Quel son entendez-vous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Écoutez le mot, écrivez « nuit », « jour » ou « ligne ».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5464911" cy="595376"/>
          </a:xfrm>
          <a:prstGeom prst="roundRect">
            <a:avLst>
              <a:gd name="adj" fmla="val 2457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5450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F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1851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6B4FBB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4504791" cy="3210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aujourd'hui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59855" y="2139696"/>
            <a:ext cx="5464911" cy="595376"/>
          </a:xfrm>
          <a:prstGeom prst="roundRect">
            <a:avLst>
              <a:gd name="adj" fmla="val 2457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6434175" y="225450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F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434175" y="231851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6B4FBB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37095" y="2295144"/>
            <a:ext cx="4504791" cy="3210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nuit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2863088"/>
            <a:ext cx="5464911" cy="595376"/>
          </a:xfrm>
          <a:prstGeom prst="roundRect">
            <a:avLst>
              <a:gd name="adj" fmla="val 2457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297789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F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04190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6B4FBB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018536"/>
            <a:ext cx="4504791" cy="3210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juillet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59855" y="2863088"/>
            <a:ext cx="5464911" cy="595376"/>
          </a:xfrm>
          <a:prstGeom prst="roundRect">
            <a:avLst>
              <a:gd name="adj" fmla="val 2457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6434175" y="297789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F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6434175" y="304190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6B4FBB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37095" y="3018536"/>
            <a:ext cx="4504791" cy="3210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orangé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3586480"/>
            <a:ext cx="5464911" cy="595376"/>
          </a:xfrm>
          <a:prstGeom prst="roundRect">
            <a:avLst>
              <a:gd name="adj" fmla="val 2457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37012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F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376529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6B4FBB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3741928"/>
            <a:ext cx="4504791" cy="3210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joindre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59855" y="3586480"/>
            <a:ext cx="5464911" cy="595376"/>
          </a:xfrm>
          <a:prstGeom prst="roundRect">
            <a:avLst>
              <a:gd name="adj" fmla="val 2457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6434175" y="37012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F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6434175" y="376529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6B4FBB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937095" y="3741928"/>
            <a:ext cx="4504791" cy="3210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gagner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66928" y="4309872"/>
            <a:ext cx="5464911" cy="595376"/>
          </a:xfrm>
          <a:prstGeom prst="roundRect">
            <a:avLst>
              <a:gd name="adj" fmla="val 2457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Rounded Rectangle 32"/>
          <p:cNvSpPr/>
          <p:nvPr/>
        </p:nvSpPr>
        <p:spPr>
          <a:xfrm>
            <a:off x="841247" y="442468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F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841247" y="448868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6B4FBB"/>
                </a:solidFill>
                <a:latin typeface="Verdana"/>
              </a:rPr>
              <a:t>7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344168" y="4465320"/>
            <a:ext cx="4504791" cy="3210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ligne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159855" y="4309872"/>
            <a:ext cx="5464911" cy="595376"/>
          </a:xfrm>
          <a:prstGeom prst="roundRect">
            <a:avLst>
              <a:gd name="adj" fmla="val 2457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Rounded Rectangle 36"/>
          <p:cNvSpPr/>
          <p:nvPr/>
        </p:nvSpPr>
        <p:spPr>
          <a:xfrm>
            <a:off x="6434175" y="442468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F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6434175" y="448868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6B4FBB"/>
                </a:solidFill>
                <a:latin typeface="Verdana"/>
              </a:rPr>
              <a:t>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937095" y="4465320"/>
            <a:ext cx="4504791" cy="3210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signature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Quelle est la procédure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B4FBB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Quel son entendez-vous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5464911" cy="595376"/>
          </a:xfrm>
          <a:prstGeom prst="roundRect">
            <a:avLst>
              <a:gd name="adj" fmla="val 24573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5450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F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1851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6B4FBB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4504791" cy="3210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aujourd'hui   </a:t>
            </a:r>
            <a:r>
              <a:rPr sz="1600" b="1" i="0">
                <a:solidFill>
                  <a:srgbClr val="07734A"/>
                </a:solidFill>
                <a:latin typeface="Verdana"/>
              </a:rPr>
              <a:t>» le son de « nuit » — ui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59855" y="2139696"/>
            <a:ext cx="5464911" cy="595376"/>
          </a:xfrm>
          <a:prstGeom prst="roundRect">
            <a:avLst>
              <a:gd name="adj" fmla="val 24573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6434175" y="225450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F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434175" y="231851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6B4FBB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37095" y="2295144"/>
            <a:ext cx="4504791" cy="3210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nuit   </a:t>
            </a:r>
            <a:r>
              <a:rPr sz="1600" b="1" i="0">
                <a:solidFill>
                  <a:srgbClr val="07734A"/>
                </a:solidFill>
                <a:latin typeface="Verdana"/>
              </a:rPr>
              <a:t>» le son de « nuit » — ui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2863088"/>
            <a:ext cx="5464911" cy="595376"/>
          </a:xfrm>
          <a:prstGeom prst="roundRect">
            <a:avLst>
              <a:gd name="adj" fmla="val 24573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297789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F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04190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6B4FBB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018536"/>
            <a:ext cx="4504791" cy="3210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juillet   </a:t>
            </a:r>
            <a:r>
              <a:rPr sz="1600" b="1" i="0">
                <a:solidFill>
                  <a:srgbClr val="07734A"/>
                </a:solidFill>
                <a:latin typeface="Verdana"/>
              </a:rPr>
              <a:t>» le son de « jour » — j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59855" y="2863088"/>
            <a:ext cx="5464911" cy="595376"/>
          </a:xfrm>
          <a:prstGeom prst="roundRect">
            <a:avLst>
              <a:gd name="adj" fmla="val 24573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6434175" y="297789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F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6434175" y="304190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6B4FBB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37095" y="3018536"/>
            <a:ext cx="4504791" cy="3210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orangé   </a:t>
            </a:r>
            <a:r>
              <a:rPr sz="1600" b="1" i="0">
                <a:solidFill>
                  <a:srgbClr val="07734A"/>
                </a:solidFill>
                <a:latin typeface="Verdana"/>
              </a:rPr>
              <a:t>» le son de « jour » — g devant 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3586480"/>
            <a:ext cx="5464911" cy="595376"/>
          </a:xfrm>
          <a:prstGeom prst="roundRect">
            <a:avLst>
              <a:gd name="adj" fmla="val 24573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37012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F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376529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6B4FBB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3741928"/>
            <a:ext cx="4504791" cy="3210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joindre   </a:t>
            </a:r>
            <a:r>
              <a:rPr sz="1600" b="1" i="0">
                <a:solidFill>
                  <a:srgbClr val="07734A"/>
                </a:solidFill>
                <a:latin typeface="Verdana"/>
              </a:rPr>
              <a:t>» le son de « jour » — j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59855" y="3586480"/>
            <a:ext cx="5464911" cy="595376"/>
          </a:xfrm>
          <a:prstGeom prst="roundRect">
            <a:avLst>
              <a:gd name="adj" fmla="val 24573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6434175" y="37012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F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6434175" y="376529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6B4FBB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937095" y="3741928"/>
            <a:ext cx="4504791" cy="3210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gagner   </a:t>
            </a:r>
            <a:r>
              <a:rPr sz="1600" b="1" i="0">
                <a:solidFill>
                  <a:srgbClr val="07734A"/>
                </a:solidFill>
                <a:latin typeface="Verdana"/>
              </a:rPr>
              <a:t>» le son de « ligne » — gn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66928" y="4309872"/>
            <a:ext cx="5464911" cy="595376"/>
          </a:xfrm>
          <a:prstGeom prst="roundRect">
            <a:avLst>
              <a:gd name="adj" fmla="val 24573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Rounded Rectangle 32"/>
          <p:cNvSpPr/>
          <p:nvPr/>
        </p:nvSpPr>
        <p:spPr>
          <a:xfrm>
            <a:off x="841247" y="442468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F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841247" y="448868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6B4FBB"/>
                </a:solidFill>
                <a:latin typeface="Verdana"/>
              </a:rPr>
              <a:t>7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344168" y="4465320"/>
            <a:ext cx="4504791" cy="3210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ligne   </a:t>
            </a:r>
            <a:r>
              <a:rPr sz="1600" b="1" i="0">
                <a:solidFill>
                  <a:srgbClr val="07734A"/>
                </a:solidFill>
                <a:latin typeface="Verdana"/>
              </a:rPr>
              <a:t>» le son de « ligne » — gn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159855" y="4309872"/>
            <a:ext cx="5464911" cy="595376"/>
          </a:xfrm>
          <a:prstGeom prst="roundRect">
            <a:avLst>
              <a:gd name="adj" fmla="val 24573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Rounded Rectangle 36"/>
          <p:cNvSpPr/>
          <p:nvPr/>
        </p:nvSpPr>
        <p:spPr>
          <a:xfrm>
            <a:off x="6434175" y="442468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F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6434175" y="448868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6B4FBB"/>
                </a:solidFill>
                <a:latin typeface="Verdana"/>
              </a:rPr>
              <a:t>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937095" y="4465320"/>
            <a:ext cx="4504791" cy="3210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signature   </a:t>
            </a:r>
            <a:r>
              <a:rPr sz="1600" b="1" i="0">
                <a:solidFill>
                  <a:srgbClr val="07734A"/>
                </a:solidFill>
                <a:latin typeface="Verdana"/>
              </a:rPr>
              <a:t>» le son de « ligne » — gn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Quelle est la procédure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B4FBB"/>
                </a:solidFill>
                <a:latin typeface="Verdana"/>
              </a:rPr>
              <a:t>LE PIÈGE DE « G » DEVANT A, O, 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orangé lu comme « oran-gué »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orangé — g devant e fait le son de « jour »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La lettre g change de son selon ce qui suit. Devant e, i ou y, elle fait le son de « jour ». Devant a, o ou u, elle fait le son de « gare ». Ce n'est pas une exception : c'est une règle, et elle vaut pour tous les mots.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Quelle est la procédure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B4FBB"/>
                </a:solidFill>
                <a:latin typeface="Verdana"/>
              </a:rPr>
              <a:t>LE PIÈGE DE « SIGNATURE »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sig-na-ture, en séparant le g et le 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si-gna-ture, gn en un seul son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Les lettres g et n forment un seul son, comme dans « ligne » ou « montagne ». Les séparer donne un mot que personne ne reconnaît. C'est un son qui n'existe pas dans beaucoup de langues : il demande de la pratique.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Quelle est la procédure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B4FBB"/>
                </a:solidFill>
                <a:latin typeface="Verdana"/>
              </a:rPr>
              <a:t>PRATIQUE · 2 DE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Complétez avec ui, j, g ou gn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Un seul groupe de lettres par trou.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F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6B4FBB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la si___ature (ce qu'on écrit au bas d'un formulaire)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F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6B4FBB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a___ourd'hui (le jour où on est)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F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6B4FBB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___oindre un reçu (l'ajouter à un envoi)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F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6B4FBB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la li___e (une rangée, ou en ligne)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F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6B4FBB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la n___t (quand il fait noir)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F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6B4FBB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oran___é (la couleur)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Quelle est la procédure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B4FBB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Complétez avec ui, j, g ou gn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F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6B4FBB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la si___ature (ce qu'on écrit au bas d'un formulaire)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signature — gn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F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6B4FBB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a___ourd'hui (le jour où on est)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aujourd'hui — j puis ui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F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6B4FBB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___oindre un reçu (l'ajouter à un envoi)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joindre — j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F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6B4FBB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la li___e (une rangée, ou en ligne)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ligne — gn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F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6B4FBB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la n___t (quand il fait noir)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nuit — ui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F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6B4FBB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oran___é (la couleur)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orangé — g devant e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Quelle est la procédure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B4FBB"/>
                </a:solidFill>
                <a:latin typeface="Verdana"/>
              </a:rPr>
              <a:t>PRATIQUE · 3 DE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Trois phrases à lire à voix haute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Le groupe corrige uniquement les trois sons.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F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6B4FBB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Aujourd'hui, je joins ma signature en ligne.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F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6B4FBB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Depuis juillet, il travaille de nuit.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F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6B4FBB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Il faut signaler le bris avant de gagner du temps.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Quelle est la procédure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B4FBB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Trois phrases à lire à voix haute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F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6B4FBB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Aujourd'hui, je joins ma signature en ligne.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les trois sons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F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6B4FBB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Depuis juillet, il travaille de nuit.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ui · j · ui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F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6B4FBB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Il faut signaler le bris avant de gagner du temps.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gn · gn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Quelle est la procédure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15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Écrivez trois mots du module, un pour chacun des trois sons.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Soulignez les lettres qui font le son.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Exemple : « signature » — le son de « ligne », lettres gn.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Quelle est la procédure 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