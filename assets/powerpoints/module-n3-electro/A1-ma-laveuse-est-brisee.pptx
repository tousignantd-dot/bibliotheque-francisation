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module. Demander au groupe quel appareil a lâché chez eux depuis leur arrivée, et comment ils l'ont remplacé. Les réponses donnent des exemples réels pour toute la semaine.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Laisser venir les mots dans n'importe quelle langue, puis les traduire ensemble au tableau. C'est la liste de vocabulaire du module qui se construit toute seule. Noter que dans beaucoup de logements d'ici, la cuisinière et le réfrigérateur sont fournis, mais pas la laveuse.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Elle est brisée » est la phrase de départ du module. La faire répéter avec trois autres appareils : le réfrigérateur, la cuisinière, l'aspirateur.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mot « circulaire » apparaît ici pour la première fois. Ne pas le définir tout de suite : Marisol le fait elle-même à la réplique suivante, et c'est le modèle de la stratégie qu'on veut enseigner.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Ça, c'est quoi ? » avec le doigt : c'est la question la plus rentable du niveau. La faire dire à voix haute par tout le groupe.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nommer chaque ligne par un élève différent, avec l'article.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répéter la phrase à voix haute par tout le groupe, deux fois, avec trois appareils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quatre familles sont exactement celles du programme. Demander au groupe dans quelle famille se range chaque appareil de leur logement.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 faux » par la réplique exacte.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Il prépare la séance A4 sur le genre des appareils et donne des exemples personnels pour le défi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A1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Ma laveuse est brisée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appareil qui lâche, c'est une dépense de plusieurs centaines de dollars et une semaine de démarches. Avant de comparer quoi que ce soit, il faut savoir comment ça s'appelle.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Acheter un appareil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appareils de la maison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ceux qui coûtent cher et durent longtemps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conversation entre voisines sur un achat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qu'un appareil est brisé.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Qu'est-ce qui coûte le plus cher dans un logement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efrigerateurs-alignes.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appareils sont déjà là quand on loue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Lesquels faut-il acheter soi-même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dure une laveuse, à votre avis ?</a:t>
            </a:r>
          </a:p>
        </p:txBody>
      </p:sp>
      <p:sp>
        <p:nvSpPr>
          <p:cNvPr id="18" name="Rounded Rectangle 17"/>
          <p:cNvSpPr/>
          <p:nvPr/>
        </p:nvSpPr>
        <p:spPr>
          <a:xfrm>
            <a:off x="566928" y="4551680"/>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821944"/>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fait quand un appareil brise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Elle a quel âge, ta laveuse ?</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a:t>
            </a:r>
          </a:p>
        </p:txBody>
      </p:sp>
      <p:sp>
        <p:nvSpPr>
          <p:cNvPr id="8" name="Rounded Rectangle 7"/>
          <p:cNvSpPr/>
          <p:nvPr/>
        </p:nvSpPr>
        <p:spPr>
          <a:xfrm>
            <a:off x="566928" y="2157984"/>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0" name="TextBox 9"/>
          <p:cNvSpPr txBox="1"/>
          <p:nvPr/>
        </p:nvSpPr>
        <p:spPr>
          <a:xfrm>
            <a:off x="2431161" y="23225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Louise ! Ma laveuse est brisée. Elle s'est arrêtée au milieu du lavage.</a:t>
            </a:r>
          </a:p>
        </p:txBody>
      </p:sp>
      <p:sp>
        <p:nvSpPr>
          <p:cNvPr id="11" name="Rounded Rectangle 10"/>
          <p:cNvSpPr/>
          <p:nvPr/>
        </p:nvSpPr>
        <p:spPr>
          <a:xfrm>
            <a:off x="566928" y="29072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3071876"/>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3" name="TextBox 12"/>
          <p:cNvSpPr txBox="1"/>
          <p:nvPr/>
        </p:nvSpPr>
        <p:spPr>
          <a:xfrm>
            <a:off x="2431161" y="3071876"/>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non. Elle a quel âge, ta laveuse ?</a:t>
            </a:r>
          </a:p>
        </p:txBody>
      </p:sp>
      <p:sp>
        <p:nvSpPr>
          <p:cNvPr id="14" name="Rounded Rectangle 13"/>
          <p:cNvSpPr/>
          <p:nvPr/>
        </p:nvSpPr>
        <p:spPr>
          <a:xfrm>
            <a:off x="566928" y="3656583"/>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821175"/>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6" name="TextBox 15"/>
          <p:cNvSpPr txBox="1"/>
          <p:nvPr/>
        </p:nvSpPr>
        <p:spPr>
          <a:xfrm>
            <a:off x="2431161" y="3821175"/>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Elle était là quand je suis arrivée. Peut-être quinze ans.</a:t>
            </a:r>
          </a:p>
        </p:txBody>
      </p:sp>
      <p:sp>
        <p:nvSpPr>
          <p:cNvPr id="17" name="Rounded Rectangle 16"/>
          <p:cNvSpPr/>
          <p:nvPr/>
        </p:nvSpPr>
        <p:spPr>
          <a:xfrm>
            <a:off x="566928" y="4405883"/>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570475"/>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9" name="TextBox 18"/>
          <p:cNvSpPr txBox="1"/>
          <p:nvPr/>
        </p:nvSpPr>
        <p:spPr>
          <a:xfrm>
            <a:off x="2431161" y="4570475"/>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Quinze ans, c'est vieux. Le réparateur va coûter presque le prix d'une neuve.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J'ai la circulaire sur la table</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laveuse neuve, c'est très cher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dépend. Attends, j'ai la circulaire du magasin sur la table.</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400551"/>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circulaire ? C'est le papier qui arrive dans la boîte aux lettres ?</a:t>
            </a:r>
          </a:p>
        </p:txBody>
      </p:sp>
      <p:sp>
        <p:nvSpPr>
          <p:cNvPr id="16" name="Rounded Rectangle 15"/>
          <p:cNvSpPr/>
          <p:nvPr/>
        </p:nvSpPr>
        <p:spPr>
          <a:xfrm>
            <a:off x="566928" y="39852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8" name="TextBox 17"/>
          <p:cNvSpPr txBox="1"/>
          <p:nvPr/>
        </p:nvSpPr>
        <p:spPr>
          <a:xfrm>
            <a:off x="2431161" y="414985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Oui, celui-là. Regarde : il y a des laveuses, des sécheuses, des réfrigérateurs.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Ça, c'est quoi ?</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9" name="TextBox 8"/>
          <p:cNvSpPr txBox="1"/>
          <p:nvPr/>
        </p:nvSpPr>
        <p:spPr>
          <a:xfrm>
            <a:off x="2431161" y="19019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ça, la petite machine noire, c'est quoi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498473"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2" name="TextBox 11"/>
          <p:cNvSpPr txBox="1"/>
          <p:nvPr/>
        </p:nvSpPr>
        <p:spPr>
          <a:xfrm>
            <a:off x="2431161" y="2651252"/>
            <a:ext cx="8644966"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c'est un four à micro-ondes. Et à côté, c'est un aspirateur.</a:t>
            </a:r>
          </a:p>
        </p:txBody>
      </p:sp>
      <p:sp>
        <p:nvSpPr>
          <p:cNvPr id="13" name="Rounded Rectangle 12"/>
          <p:cNvSpPr/>
          <p:nvPr/>
        </p:nvSpPr>
        <p:spPr>
          <a:xfrm>
            <a:off x="566928" y="323595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MARISOL</a:t>
            </a:r>
          </a:p>
        </p:txBody>
      </p:sp>
      <p:sp>
        <p:nvSpPr>
          <p:cNvPr id="15" name="TextBox 14"/>
          <p:cNvSpPr txBox="1"/>
          <p:nvPr/>
        </p:nvSpPr>
        <p:spPr>
          <a:xfrm>
            <a:off x="2431161" y="340055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D'accord. Une laveuse, une sécheuse, un réfrigérateur, un micro-ondes.</a:t>
            </a:r>
          </a:p>
        </p:txBody>
      </p:sp>
      <p:sp>
        <p:nvSpPr>
          <p:cNvPr id="16" name="Rounded Rectangle 15"/>
          <p:cNvSpPr/>
          <p:nvPr/>
        </p:nvSpPr>
        <p:spPr>
          <a:xfrm>
            <a:off x="566928" y="4323079"/>
            <a:ext cx="11057839" cy="1004823"/>
          </a:xfrm>
          <a:prstGeom prst="roundRect">
            <a:avLst>
              <a:gd name="adj" fmla="val 14560"/>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7671"/>
            <a:ext cx="1498473" cy="73050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LOUISE</a:t>
            </a:r>
          </a:p>
        </p:txBody>
      </p:sp>
      <p:sp>
        <p:nvSpPr>
          <p:cNvPr id="18" name="TextBox 17"/>
          <p:cNvSpPr txBox="1"/>
          <p:nvPr/>
        </p:nvSpPr>
        <p:spPr>
          <a:xfrm>
            <a:off x="2431161" y="4487671"/>
            <a:ext cx="8644966"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Tu apprends vite. Regarde le gros chiffre : celle-là est en spécial cette semaine.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appareils, par ce qu'ils font</a:t>
            </a:r>
          </a:p>
        </p:txBody>
      </p:sp>
      <p:sp>
        <p:nvSpPr>
          <p:cNvPr id="7" name="Rounded Rectangle 6"/>
          <p:cNvSpPr/>
          <p:nvPr/>
        </p:nvSpPr>
        <p:spPr>
          <a:xfrm>
            <a:off x="566928" y="1810512"/>
            <a:ext cx="11057839" cy="3099816"/>
          </a:xfrm>
          <a:prstGeom prst="roundRect">
            <a:avLst>
              <a:gd name="adj" fmla="val 471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VEUT FAIRE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L'APPAREIL</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laver et sécher le linge</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une laveuse, une sécheuse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garder la nourriture au froid</a:t>
            </a:r>
          </a:p>
        </p:txBody>
      </p:sp>
      <p:sp>
        <p:nvSpPr>
          <p:cNvPr id="14" name="TextBox 13"/>
          <p:cNvSpPr txBox="1"/>
          <p:nvPr/>
        </p:nvSpPr>
        <p:spPr>
          <a:xfrm>
            <a:off x="4443636" y="2935224"/>
            <a:ext cx="6595914" cy="640080"/>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 réfrigérateur</a:t>
            </a:r>
          </a:p>
        </p:txBody>
      </p:sp>
      <p:sp>
        <p:nvSpPr>
          <p:cNvPr id="15" name="Rectangle 14"/>
          <p:cNvSpPr/>
          <p:nvPr/>
        </p:nvSpPr>
        <p:spPr>
          <a:xfrm>
            <a:off x="932688" y="36484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776472"/>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cuire et réchauffer</a:t>
            </a:r>
          </a:p>
        </p:txBody>
      </p:sp>
      <p:sp>
        <p:nvSpPr>
          <p:cNvPr id="17" name="TextBox 16"/>
          <p:cNvSpPr txBox="1"/>
          <p:nvPr/>
        </p:nvSpPr>
        <p:spPr>
          <a:xfrm>
            <a:off x="4443636" y="3776472"/>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une cuisinière, un micro-ondes</a:t>
            </a:r>
          </a:p>
        </p:txBody>
      </p:sp>
      <p:sp>
        <p:nvSpPr>
          <p:cNvPr id="18" name="Rectangle 17"/>
          <p:cNvSpPr/>
          <p:nvPr/>
        </p:nvSpPr>
        <p:spPr>
          <a:xfrm>
            <a:off x="932688" y="418795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31596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nettoyer le plancher</a:t>
            </a:r>
          </a:p>
        </p:txBody>
      </p:sp>
      <p:sp>
        <p:nvSpPr>
          <p:cNvPr id="20" name="TextBox 19"/>
          <p:cNvSpPr txBox="1"/>
          <p:nvPr/>
        </p:nvSpPr>
        <p:spPr>
          <a:xfrm>
            <a:off x="4443636" y="4315968"/>
            <a:ext cx="6595914" cy="338328"/>
          </a:xfrm>
          <a:prstGeom prst="rect">
            <a:avLst/>
          </a:prstGeom>
          <a:noFill/>
        </p:spPr>
        <p:txBody>
          <a:bodyPr wrap="square" lIns="0" rIns="0" tIns="0" bIns="0" anchor="t">
            <a:spAutoFit/>
          </a:bodyPr>
          <a:lstStyle/>
          <a:p>
            <a:pPr algn="l">
              <a:lnSpc>
                <a:spcPct val="132000"/>
              </a:lnSpc>
            </a:pPr>
            <a:r>
              <a:rPr sz="1800" b="1" i="0">
                <a:solidFill>
                  <a:srgbClr val="1D6B8F"/>
                </a:solidFill>
                <a:latin typeface="Verdana"/>
              </a:rPr>
              <a:t>un aspirateur</a:t>
            </a:r>
          </a:p>
        </p:txBody>
      </p:sp>
      <p:sp>
        <p:nvSpPr>
          <p:cNvPr id="21" name="Rounded Rectangle 20"/>
          <p:cNvSpPr/>
          <p:nvPr/>
        </p:nvSpPr>
        <p:spPr>
          <a:xfrm>
            <a:off x="566928" y="5148072"/>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404104"/>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Chaque appareil se retient avec son article : un ou une.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DIRE QU'UN APPAREIL NE MARCHE PLUS</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Ma laveuse est brisée.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mot d'ici : au Québec, un appareil est « brisé », pas « cassé ». On peut aussi dire « elle ne marche plus » ou « elle ne fonctionne plus ». Les trois se comprennent partout.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QU'ON ACHÈTE UNE FOIS PAR DIX ANS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familles</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gros appareils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une laveuse, une sécheuse, un réfrigérateur, une cuisinière. Ils coûtent des centaines de dollars et se livrent en camion.</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Les petits appareils</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 micro-ondes, un grille-pain, un aspirateur. Ils se transportent à la main et coûtent entre cinquante et deux cents dollars.</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L'électronique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un ordinateur portable, un téléphone, un téléviseur. On les achète aussi en ligne, sur le site du magasin.</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1D6B8F"/>
                </a:solidFill>
                <a:latin typeface="Verdana"/>
              </a:rPr>
              <a:t>Le reste de la maison</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600" b="0" i="0">
                <a:solidFill>
                  <a:srgbClr val="3A3D40"/>
                </a:solidFill>
                <a:latin typeface="Verdana"/>
              </a:rPr>
              <a:t>la literie, les outils, la vaisselle, l'équipement de jardinage. Ce sont aussi des biens durables : on les garde des années.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dialogue.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laveuse de Marisol s'est arrêtée pendant le lavage.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laveuse est neuve : elle a deux ans.</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Louise pense que la réparation va coûter cher.</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petite machine noire est un aspirateur.</a:t>
            </a:r>
          </a:p>
        </p:txBody>
      </p:sp>
      <p:sp>
        <p:nvSpPr>
          <p:cNvPr id="24" name="Rounded Rectangle 23"/>
          <p:cNvSpPr/>
          <p:nvPr/>
        </p:nvSpPr>
        <p:spPr>
          <a:xfrm>
            <a:off x="566928" y="5246624"/>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laveuse de la circulaire est en spécial cette semaine.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laveuse de Marisol s'est arrêtée pendant le lavage.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laveuse est neuve : elle a deux ans.   </a:t>
            </a:r>
            <a:r>
              <a:rPr sz="1900" b="1" i="0">
                <a:solidFill>
                  <a:srgbClr val="07734A"/>
                </a:solidFill>
                <a:latin typeface="Verdana"/>
              </a:rPr>
              <a:t>» faux — peut-être quinze ans</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Louise pense que la réparation va coûter cher.   </a:t>
            </a:r>
            <a:r>
              <a:rPr sz="1900" b="1" i="0">
                <a:solidFill>
                  <a:srgbClr val="07734A"/>
                </a:solidFill>
                <a:latin typeface="Verdana"/>
              </a:rPr>
              <a:t>» vrai</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petite machine noire est un aspirateur.   </a:t>
            </a:r>
            <a:r>
              <a:rPr sz="1900" b="1" i="0">
                <a:solidFill>
                  <a:srgbClr val="07734A"/>
                </a:solidFill>
                <a:latin typeface="Verdana"/>
              </a:rPr>
              <a:t>» faux — un micro-ondes</a:t>
            </a:r>
          </a:p>
        </p:txBody>
      </p:sp>
      <p:sp>
        <p:nvSpPr>
          <p:cNvPr id="24" name="Rounded Rectangle 23"/>
          <p:cNvSpPr/>
          <p:nvPr/>
        </p:nvSpPr>
        <p:spPr>
          <a:xfrm>
            <a:off x="566928" y="5246624"/>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388102"/>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452110"/>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5402072"/>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laveuse de la circulaire est en spécial cette semaine.   </a:t>
            </a:r>
            <a:r>
              <a:rPr sz="1900" b="1" i="0">
                <a:solidFill>
                  <a:srgbClr val="07734A"/>
                </a:solidFill>
                <a:latin typeface="Verdana"/>
              </a:rPr>
              <a:t>» vrai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cinq appareils qu'il y a chez vous.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Avec leur article : une laveuse, un micro-ondes…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Et dites lequel est le plus vieux.</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Acheter un appareil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