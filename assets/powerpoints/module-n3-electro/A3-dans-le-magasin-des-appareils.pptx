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vocabulaire. Prévoir de projeter les huit images de l'exercice 3 du module interactif : elles servent de support à toute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tout est écrit : l'affiche du rayon, l'affichette de l'appareil, la circulaire. C'est exactement l'intention du programme pour cette situation — lire avant de parler.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C'est la carte de route du module : quatre papiers, quatre moments de l'achat.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chaque mot avec son article. Demander à qui on parle à chaque endroit : au vendeur dans le rayon, à la caissière à la caisse.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Projeter les images une à une et faire répondre à voix haute. Les phrases sont celles de l'exercice 3 du module interactif : les élèves les retrouveront telles quelles.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dire la phrase par chaque élève, avec l'appareil de son choix.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la gêne de demander coûte du temps et une occasion de pratiquer. La question exacte s'apprend en C1.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concret. Beaucoup d'élèves n'ont jamais mesuré en pouces : montrer un ruban à mesurer en classe et faire lire trois mesures.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A3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Dans le magasin des appareils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magasin d'électroménagers est grand comme un aréna. Reconnaître les objets et les endroits avant d'y entrer, c'est la moitié du travail.</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Acheter un appareil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endroits d'un magasin d'appareils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objets qui portent l'information : circulaire, affichette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associer une image et une phrase qui la décrit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qu'on cherche en une phrase courte.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est-ce qu'on regarde en premier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ffiche-rayon.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est écrit en gros dans un magasin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trouve-t-on un rayon sans demander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est écrit sur le petit carton devant l'appareil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qui demande-t-on quand on ne trouve pas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papiers, trois usages</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PAPIER</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OÙ IL EST</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DONNE</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la circulaire</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dans la boîte aux lettres</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spéciaux de la semaine</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l'affiche du rayon</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suspendue au plafond</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où sont les appareils</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l'affichette</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devant l'appareil</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prix et le format</a:t>
            </a:r>
          </a:p>
        </p:txBody>
      </p:sp>
      <p:sp>
        <p:nvSpPr>
          <p:cNvPr id="22" name="Rectangle 21"/>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014215"/>
            <a:ext cx="3222650"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le bon de livraison</a:t>
            </a:r>
          </a:p>
        </p:txBody>
      </p:sp>
      <p:sp>
        <p:nvSpPr>
          <p:cNvPr id="24" name="TextBox 23"/>
          <p:cNvSpPr txBox="1"/>
          <p:nvPr/>
        </p:nvSpPr>
        <p:spPr>
          <a:xfrm>
            <a:off x="4374794" y="4014215"/>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au comptoir, après la caisse</a:t>
            </a:r>
          </a:p>
        </p:txBody>
      </p:sp>
      <p:sp>
        <p:nvSpPr>
          <p:cNvPr id="25" name="TextBox 24"/>
          <p:cNvSpPr txBox="1"/>
          <p:nvPr/>
        </p:nvSpPr>
        <p:spPr>
          <a:xfrm>
            <a:off x="7816900" y="4014215"/>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jour du camion</a:t>
            </a:r>
          </a:p>
        </p:txBody>
      </p:sp>
      <p:sp>
        <p:nvSpPr>
          <p:cNvPr id="26" name="Rounded Rectangle 25"/>
          <p:cNvSpPr/>
          <p:nvPr/>
        </p:nvSpPr>
        <p:spPr>
          <a:xfrm>
            <a:off x="566928" y="5148072"/>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404104"/>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Aucun de ces papiers ne se lit en entier : on y cherche une chose.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LES MOTS DES LIEUX</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mots à retenir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rayon</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L'endroit du magasin où on met ensemble les mêmes sortes d'articles. On dit aussi « l'allée » pour un couloir entre deux tablettes.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l'affichette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Le petit carton posé devant l'appareil, avec le prix, le modèle et le format. Il reste au magasin ; il ne part pas avec l'appareil.</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caisse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Le comptoir où on paie. Le terminal de paiement est posé dessus.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comptoir de la livraison</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L'endroit, près de la sortie, où on donne son adresse pour le camion. Ce n'est pas la caisse : on y va après avoir payé.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image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de quelle image il s'agit.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rangée de laveuses blanches, côte à côte.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papier du magasin ouvert sur une table de cuisine.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petit carton posé devant l'appareil.</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grande affiche suspendue au plafond.</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ruban déroulé entre un mur et une porte.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camion arrêté devant un immeuble.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image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rangée de laveuses blanches, côte à côte.   </a:t>
            </a:r>
            <a:r>
              <a:rPr sz="1400" b="1" i="0">
                <a:solidFill>
                  <a:srgbClr val="07734A"/>
                </a:solidFill>
                <a:latin typeface="Verdana"/>
              </a:rPr>
              <a:t>» le rayon des laveuses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papier du magasin ouvert sur une table de cuisine.   </a:t>
            </a:r>
            <a:r>
              <a:rPr sz="1400" b="1" i="0">
                <a:solidFill>
                  <a:srgbClr val="07734A"/>
                </a:solidFill>
                <a:latin typeface="Verdana"/>
              </a:rPr>
              <a:t>» la circulaire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petit carton posé devant l'appareil.   </a:t>
            </a:r>
            <a:r>
              <a:rPr sz="1400" b="1" i="0">
                <a:solidFill>
                  <a:srgbClr val="07734A"/>
                </a:solidFill>
                <a:latin typeface="Verdana"/>
              </a:rPr>
              <a:t>» l'affichette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grande affiche suspendue au plafond.   </a:t>
            </a:r>
            <a:r>
              <a:rPr sz="1400" b="1" i="0">
                <a:solidFill>
                  <a:srgbClr val="07734A"/>
                </a:solidFill>
                <a:latin typeface="Verdana"/>
              </a:rPr>
              <a:t>» l'affiche du rayon</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ruban déroulé entre un mur et une porte.   </a:t>
            </a:r>
            <a:r>
              <a:rPr sz="1400" b="1" i="0">
                <a:solidFill>
                  <a:srgbClr val="07734A"/>
                </a:solidFill>
                <a:latin typeface="Verdana"/>
              </a:rPr>
              <a:t>» le ruban à mesurer</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camion arrêté devant un immeuble.   </a:t>
            </a:r>
            <a:r>
              <a:rPr sz="1400" b="1" i="0">
                <a:solidFill>
                  <a:srgbClr val="07734A"/>
                </a:solidFill>
                <a:latin typeface="Verdana"/>
              </a:rPr>
              <a:t>» la livraison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DIRE CE QU'ON CHERCHE, EN UNE PHRASE</a:t>
            </a:r>
          </a:p>
        </p:txBody>
      </p:sp>
      <p:sp>
        <p:nvSpPr>
          <p:cNvPr id="6" name="Rounded Rectangle 5"/>
          <p:cNvSpPr/>
          <p:nvPr/>
        </p:nvSpPr>
        <p:spPr>
          <a:xfrm>
            <a:off x="566928" y="1225296"/>
            <a:ext cx="11057839" cy="1441196"/>
          </a:xfrm>
          <a:prstGeom prst="roundRect">
            <a:avLst>
              <a:gd name="adj" fmla="val 10151"/>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Bonjour. Je cherche une laveuse. »</a:t>
            </a:r>
          </a:p>
        </p:txBody>
      </p:sp>
      <p:sp>
        <p:nvSpPr>
          <p:cNvPr id="8" name="Rounded Rectangle 7"/>
          <p:cNvSpPr/>
          <p:nvPr/>
        </p:nvSpPr>
        <p:spPr>
          <a:xfrm>
            <a:off x="566928" y="2940812"/>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mots après « bonjour », et le vendeur sait où vous emmener. Ajouter la marque ou le modèle ne sert à rien tant qu'on n'est pas devant l'appareil.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CHERCHER TOUT SEUL PENDANT VINGT MINUTES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tourner dans les allées sans demander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Bonjour, où est le rayon des laveuses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un magasin de cette taille, personne ne trouve seul, pas même les gens d'ici. Demander est la façon normale de faire, et c'est aussi la seule occasion de parler français de la journée.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Mesurez la place que vous avez chez vous pour un appareil.</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Entre deux murs, ou entre le mur et la porte.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Écrivez le chiffre en pouces : on s'en servira au défi 2.</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Acheter un appareil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