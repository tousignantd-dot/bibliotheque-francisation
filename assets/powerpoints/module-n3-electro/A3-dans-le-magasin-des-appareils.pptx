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Séance de vocabulaire. Prévoir de projeter les huit images de l'exercice 3 du module interactif : elles servent de support à toute la séance.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les objectifs à voix haute. Y revenir au billet de sortie.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remarquer que tout est écrit : l'affiche du rayon, l'affichette de l'appareil, la circulaire. C'est exactement l'intention du programme pour cette situation — lire avant de parler.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 à photographier. C'est la carte de route du module : quatre papiers, quatre moments de l'achat.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répéter chaque mot avec son article. Demander à qui on parle à chaque endroit : au vendeur dans le rayon, à la caissière à la caisse.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Projeter les images une à une et faire répondre à voix haute. Les phrases sont celles de l'exercice 3 du module interactif : les élèves les retrouveront telles quelles.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 à photographier. Faire dire la phrase par chaque élève, avec l'appareil de son choix.</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Insister : la gêne de demander coûte du temps et une occasion de pratiquer. La question exacte s'apprend en C1.</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Devoir concret. Beaucoup d'élèves n'ont jamais mesuré en pouces : montrer un ruban à mesurer en classe et faire lire trois mesures.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SÉANCE A3  ·  MODULE 3</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Dans le magasin des appareils</a:t>
            </a:r>
          </a:p>
        </p:txBody>
      </p:sp>
      <p:sp>
        <p:nvSpPr>
          <p:cNvPr id="5" name="Rounded Rectangle 4"/>
          <p:cNvSpPr/>
          <p:nvPr/>
        </p:nvSpPr>
        <p:spPr>
          <a:xfrm>
            <a:off x="566928" y="3794760"/>
            <a:ext cx="9960559" cy="1763268"/>
          </a:xfrm>
          <a:prstGeom prst="roundRect">
            <a:avLst>
              <a:gd name="adj" fmla="val 829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Un magasin d'électroménagers est grand comme un aréna. Reconnaître les objets et les endroits avant d'y entrer, c'est la moitié du travail.</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60 minutes  ·  Acheter un appareil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Acheter un appareil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reconnaître les endroits d'un magasin d'appareils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nommer les objets qui portent l'information : circulaire, affichette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associer une image et une phrase qui la décrit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dire ce qu'on cherche en une phrase courte.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Acheter un appareil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OBSERVATION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Où est-ce qu'on regarde en premier ?</a:t>
            </a:r>
          </a:p>
        </p:txBody>
      </p:sp>
      <p:sp>
        <p:nvSpPr>
          <p:cNvPr id="7" name="Rounded Rectangle 6"/>
          <p:cNvSpPr/>
          <p:nvPr/>
        </p:nvSpPr>
        <p:spPr>
          <a:xfrm>
            <a:off x="7424927" y="1719072"/>
            <a:ext cx="4199839" cy="4361688"/>
          </a:xfrm>
          <a:prstGeom prst="roundRect">
            <a:avLst>
              <a:gd name="adj" fmla="val 348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affiche-rayon.jpg"/>
          <p:cNvPicPr>
            <a:picLocks noChangeAspect="1"/>
          </p:cNvPicPr>
          <p:nvPr/>
        </p:nvPicPr>
        <p:blipFill>
          <a:blip r:embed="rId2"/>
          <a:stretch>
            <a:fillRect/>
          </a:stretch>
        </p:blipFill>
        <p:spPr>
          <a:xfrm>
            <a:off x="7644383" y="2638339"/>
            <a:ext cx="3760927" cy="2523153"/>
          </a:xfrm>
          <a:prstGeom prst="rect">
            <a:avLst/>
          </a:prstGeom>
        </p:spPr>
      </p:pic>
      <p:sp>
        <p:nvSpPr>
          <p:cNvPr id="9" name="Rounded Rectangle 8"/>
          <p:cNvSpPr/>
          <p:nvPr/>
        </p:nvSpPr>
        <p:spPr>
          <a:xfrm>
            <a:off x="566928" y="1856232"/>
            <a:ext cx="6492240" cy="1041400"/>
          </a:xfrm>
          <a:prstGeom prst="roundRect">
            <a:avLst>
              <a:gd name="adj" fmla="val 1404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66928" y="1965960"/>
            <a:ext cx="50292" cy="821944"/>
          </a:xfrm>
          <a:prstGeom prst="rect">
            <a:avLst/>
          </a:prstGeom>
          <a:solidFill>
            <a:srgbClr val="0D7A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50976" y="2039112"/>
            <a:ext cx="5806440" cy="71221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Qu'est-ce qui est écrit en gros dans un magasin ?</a:t>
            </a:r>
          </a:p>
        </p:txBody>
      </p:sp>
      <p:sp>
        <p:nvSpPr>
          <p:cNvPr id="12" name="Rounded Rectangle 11"/>
          <p:cNvSpPr/>
          <p:nvPr/>
        </p:nvSpPr>
        <p:spPr>
          <a:xfrm>
            <a:off x="566928" y="2979928"/>
            <a:ext cx="6492240" cy="1041400"/>
          </a:xfrm>
          <a:prstGeom prst="roundRect">
            <a:avLst>
              <a:gd name="adj" fmla="val 1404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66928" y="3089656"/>
            <a:ext cx="50292" cy="821944"/>
          </a:xfrm>
          <a:prstGeom prst="rect">
            <a:avLst/>
          </a:prstGeom>
          <a:solidFill>
            <a:srgbClr val="0D7A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50976" y="3162808"/>
            <a:ext cx="5806440" cy="71221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Comment trouve-t-on un rayon sans demander ?</a:t>
            </a:r>
          </a:p>
        </p:txBody>
      </p:sp>
      <p:sp>
        <p:nvSpPr>
          <p:cNvPr id="15" name="Rounded Rectangle 14"/>
          <p:cNvSpPr/>
          <p:nvPr/>
        </p:nvSpPr>
        <p:spPr>
          <a:xfrm>
            <a:off x="566928" y="4103624"/>
            <a:ext cx="6492240" cy="1041400"/>
          </a:xfrm>
          <a:prstGeom prst="roundRect">
            <a:avLst>
              <a:gd name="adj" fmla="val 1404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566928" y="4213352"/>
            <a:ext cx="50292" cy="821944"/>
          </a:xfrm>
          <a:prstGeom prst="rect">
            <a:avLst/>
          </a:prstGeom>
          <a:solidFill>
            <a:srgbClr val="0D7A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50976" y="4286504"/>
            <a:ext cx="5806440" cy="71221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Qu'est-ce qui est écrit sur le petit carton devant l'appareil ?</a:t>
            </a:r>
          </a:p>
        </p:txBody>
      </p:sp>
      <p:sp>
        <p:nvSpPr>
          <p:cNvPr id="18" name="Rounded Rectangle 17"/>
          <p:cNvSpPr/>
          <p:nvPr/>
        </p:nvSpPr>
        <p:spPr>
          <a:xfrm>
            <a:off x="566928" y="5227320"/>
            <a:ext cx="6492240" cy="1041400"/>
          </a:xfrm>
          <a:prstGeom prst="roundRect">
            <a:avLst>
              <a:gd name="adj" fmla="val 1404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66928" y="5337048"/>
            <a:ext cx="50292" cy="821944"/>
          </a:xfrm>
          <a:prstGeom prst="rect">
            <a:avLst/>
          </a:prstGeom>
          <a:solidFill>
            <a:srgbClr val="0D7A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50976" y="5410200"/>
            <a:ext cx="5806440" cy="71221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À qui demande-t-on quand on ne trouve pas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Acheter un appareil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Trois papiers, trois usages</a:t>
            </a:r>
          </a:p>
        </p:txBody>
      </p:sp>
      <p:sp>
        <p:nvSpPr>
          <p:cNvPr id="7" name="Rounded Rectangle 6"/>
          <p:cNvSpPr/>
          <p:nvPr/>
        </p:nvSpPr>
        <p:spPr>
          <a:xfrm>
            <a:off x="566928" y="1810512"/>
            <a:ext cx="11057839" cy="3099816"/>
          </a:xfrm>
          <a:prstGeom prst="roundRect">
            <a:avLst>
              <a:gd name="adj" fmla="val 471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LE PAPIER</a:t>
            </a:r>
          </a:p>
        </p:txBody>
      </p:sp>
      <p:sp>
        <p:nvSpPr>
          <p:cNvPr id="9" name="TextBox 8"/>
          <p:cNvSpPr txBox="1"/>
          <p:nvPr/>
        </p:nvSpPr>
        <p:spPr>
          <a:xfrm>
            <a:off x="4374794"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OÙ IL EST</a:t>
            </a:r>
          </a:p>
        </p:txBody>
      </p:sp>
      <p:sp>
        <p:nvSpPr>
          <p:cNvPr id="10" name="TextBox 9"/>
          <p:cNvSpPr txBox="1"/>
          <p:nvPr/>
        </p:nvSpPr>
        <p:spPr>
          <a:xfrm>
            <a:off x="7816900"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QU'IL DONNE</a:t>
            </a:r>
          </a:p>
        </p:txBody>
      </p:sp>
      <p:sp>
        <p:nvSpPr>
          <p:cNvPr id="11" name="TextBox 10"/>
          <p:cNvSpPr txBox="1"/>
          <p:nvPr/>
        </p:nvSpPr>
        <p:spPr>
          <a:xfrm>
            <a:off x="932688" y="2395728"/>
            <a:ext cx="3222650" cy="338328"/>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la circulaire</a:t>
            </a:r>
          </a:p>
        </p:txBody>
      </p:sp>
      <p:sp>
        <p:nvSpPr>
          <p:cNvPr id="12" name="TextBox 11"/>
          <p:cNvSpPr txBox="1"/>
          <p:nvPr/>
        </p:nvSpPr>
        <p:spPr>
          <a:xfrm>
            <a:off x="4374794" y="2395728"/>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dans la boîte aux lettres</a:t>
            </a:r>
          </a:p>
        </p:txBody>
      </p:sp>
      <p:sp>
        <p:nvSpPr>
          <p:cNvPr id="13" name="TextBox 12"/>
          <p:cNvSpPr txBox="1"/>
          <p:nvPr/>
        </p:nvSpPr>
        <p:spPr>
          <a:xfrm>
            <a:off x="7816900" y="2395728"/>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les spéciaux de la semaine</a:t>
            </a:r>
          </a:p>
        </p:txBody>
      </p:sp>
      <p:sp>
        <p:nvSpPr>
          <p:cNvPr id="14" name="Rectangle 13"/>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32688" y="2935224"/>
            <a:ext cx="3222650" cy="338328"/>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l'affiche du rayon</a:t>
            </a:r>
          </a:p>
        </p:txBody>
      </p:sp>
      <p:sp>
        <p:nvSpPr>
          <p:cNvPr id="16" name="TextBox 15"/>
          <p:cNvSpPr txBox="1"/>
          <p:nvPr/>
        </p:nvSpPr>
        <p:spPr>
          <a:xfrm>
            <a:off x="4374794" y="2935224"/>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suspendue au plafond</a:t>
            </a:r>
          </a:p>
        </p:txBody>
      </p:sp>
      <p:sp>
        <p:nvSpPr>
          <p:cNvPr id="17" name="TextBox 16"/>
          <p:cNvSpPr txBox="1"/>
          <p:nvPr/>
        </p:nvSpPr>
        <p:spPr>
          <a:xfrm>
            <a:off x="7816900" y="2935224"/>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où sont les appareils</a:t>
            </a:r>
          </a:p>
        </p:txBody>
      </p:sp>
      <p:sp>
        <p:nvSpPr>
          <p:cNvPr id="18" name="Rectangle 17"/>
          <p:cNvSpPr/>
          <p:nvPr/>
        </p:nvSpPr>
        <p:spPr>
          <a:xfrm>
            <a:off x="932688" y="33467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3474720"/>
            <a:ext cx="3222650" cy="338328"/>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l'affichette</a:t>
            </a:r>
          </a:p>
        </p:txBody>
      </p:sp>
      <p:sp>
        <p:nvSpPr>
          <p:cNvPr id="20" name="TextBox 19"/>
          <p:cNvSpPr txBox="1"/>
          <p:nvPr/>
        </p:nvSpPr>
        <p:spPr>
          <a:xfrm>
            <a:off x="4374794" y="3474720"/>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devant l'appareil</a:t>
            </a:r>
          </a:p>
        </p:txBody>
      </p:sp>
      <p:sp>
        <p:nvSpPr>
          <p:cNvPr id="21" name="TextBox 20"/>
          <p:cNvSpPr txBox="1"/>
          <p:nvPr/>
        </p:nvSpPr>
        <p:spPr>
          <a:xfrm>
            <a:off x="7816900" y="3474720"/>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le prix et le format</a:t>
            </a:r>
          </a:p>
        </p:txBody>
      </p:sp>
      <p:sp>
        <p:nvSpPr>
          <p:cNvPr id="22" name="Rectangle 21"/>
          <p:cNvSpPr/>
          <p:nvPr/>
        </p:nvSpPr>
        <p:spPr>
          <a:xfrm>
            <a:off x="932688" y="388620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932688" y="4014215"/>
            <a:ext cx="3222650" cy="640080"/>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le bon de livraison</a:t>
            </a:r>
          </a:p>
        </p:txBody>
      </p:sp>
      <p:sp>
        <p:nvSpPr>
          <p:cNvPr id="24" name="TextBox 23"/>
          <p:cNvSpPr txBox="1"/>
          <p:nvPr/>
        </p:nvSpPr>
        <p:spPr>
          <a:xfrm>
            <a:off x="4374794" y="4014215"/>
            <a:ext cx="3222650"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au comptoir, après la caisse</a:t>
            </a:r>
          </a:p>
        </p:txBody>
      </p:sp>
      <p:sp>
        <p:nvSpPr>
          <p:cNvPr id="25" name="TextBox 24"/>
          <p:cNvSpPr txBox="1"/>
          <p:nvPr/>
        </p:nvSpPr>
        <p:spPr>
          <a:xfrm>
            <a:off x="7816900" y="4014215"/>
            <a:ext cx="3222650"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le jour du camion</a:t>
            </a:r>
          </a:p>
        </p:txBody>
      </p:sp>
      <p:sp>
        <p:nvSpPr>
          <p:cNvPr id="26" name="Rounded Rectangle 25"/>
          <p:cNvSpPr/>
          <p:nvPr/>
        </p:nvSpPr>
        <p:spPr>
          <a:xfrm>
            <a:off x="566928" y="5148072"/>
            <a:ext cx="11057839" cy="843534"/>
          </a:xfrm>
          <a:prstGeom prst="roundRect">
            <a:avLst>
              <a:gd name="adj" fmla="val 17344"/>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969264" y="5404104"/>
            <a:ext cx="10234879" cy="386334"/>
          </a:xfrm>
          <a:prstGeom prst="rect">
            <a:avLst/>
          </a:prstGeom>
          <a:noFill/>
        </p:spPr>
        <p:txBody>
          <a:bodyPr wrap="square" lIns="0" rIns="0" tIns="0" bIns="0" anchor="t">
            <a:spAutoFit/>
          </a:bodyPr>
          <a:lstStyle/>
          <a:p>
            <a:pPr algn="l">
              <a:lnSpc>
                <a:spcPct val="145000"/>
              </a:lnSpc>
            </a:pPr>
            <a:r>
              <a:rPr sz="1800" b="0" i="0">
                <a:solidFill>
                  <a:srgbClr val="4B4F52"/>
                </a:solidFill>
                <a:latin typeface="Verdana"/>
              </a:rPr>
              <a:t>Aucun de ces papiers ne se lit en entier : on y cherche une chose.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Acheter un appareil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LES MOTS DES LIEUX</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Quatre mots à retenir</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387096"/>
          </a:xfrm>
          <a:prstGeom prst="rect">
            <a:avLst/>
          </a:prstGeom>
          <a:noFill/>
        </p:spPr>
        <p:txBody>
          <a:bodyPr wrap="square" lIns="0" rIns="0" tIns="0" bIns="0" anchor="t">
            <a:spAutoFit/>
          </a:bodyPr>
          <a:lstStyle/>
          <a:p>
            <a:pPr algn="l">
              <a:lnSpc>
                <a:spcPct val="118000"/>
              </a:lnSpc>
            </a:pPr>
            <a:r>
              <a:rPr sz="2400" b="1" i="0">
                <a:solidFill>
                  <a:srgbClr val="0D7A6F"/>
                </a:solidFill>
                <a:latin typeface="Verdana"/>
              </a:rPr>
              <a:t>le rayon</a:t>
            </a:r>
          </a:p>
        </p:txBody>
      </p:sp>
      <p:sp>
        <p:nvSpPr>
          <p:cNvPr id="9" name="TextBox 8"/>
          <p:cNvSpPr txBox="1"/>
          <p:nvPr/>
        </p:nvSpPr>
        <p:spPr>
          <a:xfrm>
            <a:off x="886968" y="2499360"/>
            <a:ext cx="4806543" cy="1089660"/>
          </a:xfrm>
          <a:prstGeom prst="rect">
            <a:avLst/>
          </a:prstGeom>
          <a:noFill/>
        </p:spPr>
        <p:txBody>
          <a:bodyPr wrap="square" lIns="0" rIns="0" tIns="0" bIns="0" anchor="t">
            <a:spAutoFit/>
          </a:bodyPr>
          <a:lstStyle/>
          <a:p>
            <a:pPr algn="l">
              <a:lnSpc>
                <a:spcPct val="142000"/>
              </a:lnSpc>
            </a:pPr>
            <a:r>
              <a:rPr sz="1600" b="0" i="0">
                <a:solidFill>
                  <a:srgbClr val="3A3D40"/>
                </a:solidFill>
                <a:latin typeface="Verdana"/>
              </a:rPr>
              <a:t>L'endroit du magasin où on met ensemble les mêmes sortes d'articles. On dit aussi « l'allée » pour un couloir entre deux tablettes.</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387096"/>
          </a:xfrm>
          <a:prstGeom prst="rect">
            <a:avLst/>
          </a:prstGeom>
          <a:noFill/>
        </p:spPr>
        <p:txBody>
          <a:bodyPr wrap="square" lIns="0" rIns="0" tIns="0" bIns="0" anchor="t">
            <a:spAutoFit/>
          </a:bodyPr>
          <a:lstStyle/>
          <a:p>
            <a:pPr algn="l">
              <a:lnSpc>
                <a:spcPct val="118000"/>
              </a:lnSpc>
            </a:pPr>
            <a:r>
              <a:rPr sz="2400" b="1" i="0">
                <a:solidFill>
                  <a:srgbClr val="0D7A6F"/>
                </a:solidFill>
                <a:latin typeface="Verdana"/>
              </a:rPr>
              <a:t>l'affichette</a:t>
            </a:r>
          </a:p>
        </p:txBody>
      </p:sp>
      <p:sp>
        <p:nvSpPr>
          <p:cNvPr id="12" name="TextBox 11"/>
          <p:cNvSpPr txBox="1"/>
          <p:nvPr/>
        </p:nvSpPr>
        <p:spPr>
          <a:xfrm>
            <a:off x="6498183" y="2499360"/>
            <a:ext cx="4806543" cy="1089660"/>
          </a:xfrm>
          <a:prstGeom prst="rect">
            <a:avLst/>
          </a:prstGeom>
          <a:noFill/>
        </p:spPr>
        <p:txBody>
          <a:bodyPr wrap="square" lIns="0" rIns="0" tIns="0" bIns="0" anchor="t">
            <a:spAutoFit/>
          </a:bodyPr>
          <a:lstStyle/>
          <a:p>
            <a:pPr algn="l">
              <a:lnSpc>
                <a:spcPct val="142000"/>
              </a:lnSpc>
            </a:pPr>
            <a:r>
              <a:rPr sz="1600" b="0" i="0">
                <a:solidFill>
                  <a:srgbClr val="3A3D40"/>
                </a:solidFill>
                <a:latin typeface="Verdana"/>
              </a:rPr>
              <a:t>Le petit carton posé devant l'appareil, avec le prix, le modèle et le format. Il reste au magasin ; il ne part pas avec l'appareil.</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387096"/>
          </a:xfrm>
          <a:prstGeom prst="rect">
            <a:avLst/>
          </a:prstGeom>
          <a:noFill/>
        </p:spPr>
        <p:txBody>
          <a:bodyPr wrap="square" lIns="0" rIns="0" tIns="0" bIns="0" anchor="t">
            <a:spAutoFit/>
          </a:bodyPr>
          <a:lstStyle/>
          <a:p>
            <a:pPr algn="l">
              <a:lnSpc>
                <a:spcPct val="118000"/>
              </a:lnSpc>
            </a:pPr>
            <a:r>
              <a:rPr sz="2400" b="1" i="0">
                <a:solidFill>
                  <a:srgbClr val="0D7A6F"/>
                </a:solidFill>
                <a:latin typeface="Verdana"/>
              </a:rPr>
              <a:t>la caisse</a:t>
            </a:r>
          </a:p>
        </p:txBody>
      </p:sp>
      <p:sp>
        <p:nvSpPr>
          <p:cNvPr id="15" name="TextBox 14"/>
          <p:cNvSpPr txBox="1"/>
          <p:nvPr/>
        </p:nvSpPr>
        <p:spPr>
          <a:xfrm>
            <a:off x="886968" y="4716780"/>
            <a:ext cx="4806543" cy="1089660"/>
          </a:xfrm>
          <a:prstGeom prst="rect">
            <a:avLst/>
          </a:prstGeom>
          <a:noFill/>
        </p:spPr>
        <p:txBody>
          <a:bodyPr wrap="square" lIns="0" rIns="0" tIns="0" bIns="0" anchor="t">
            <a:spAutoFit/>
          </a:bodyPr>
          <a:lstStyle/>
          <a:p>
            <a:pPr algn="l">
              <a:lnSpc>
                <a:spcPct val="142000"/>
              </a:lnSpc>
            </a:pPr>
            <a:r>
              <a:rPr sz="1600" b="0" i="0">
                <a:solidFill>
                  <a:srgbClr val="3A3D40"/>
                </a:solidFill>
                <a:latin typeface="Verdana"/>
              </a:rPr>
              <a:t>Le comptoir où on paie. Le terminal de paiement est posé dessus.</a:t>
            </a:r>
          </a:p>
        </p:txBody>
      </p:sp>
      <p:sp>
        <p:nvSpPr>
          <p:cNvPr id="16" name="Rounded Rectangle 15"/>
          <p:cNvSpPr/>
          <p:nvPr/>
        </p:nvSpPr>
        <p:spPr>
          <a:xfrm>
            <a:off x="6178143"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98183" y="4302252"/>
            <a:ext cx="4806543" cy="387096"/>
          </a:xfrm>
          <a:prstGeom prst="rect">
            <a:avLst/>
          </a:prstGeom>
          <a:noFill/>
        </p:spPr>
        <p:txBody>
          <a:bodyPr wrap="square" lIns="0" rIns="0" tIns="0" bIns="0" anchor="t">
            <a:spAutoFit/>
          </a:bodyPr>
          <a:lstStyle/>
          <a:p>
            <a:pPr algn="l">
              <a:lnSpc>
                <a:spcPct val="118000"/>
              </a:lnSpc>
            </a:pPr>
            <a:r>
              <a:rPr sz="2400" b="1" i="0">
                <a:solidFill>
                  <a:srgbClr val="0D7A6F"/>
                </a:solidFill>
                <a:latin typeface="Verdana"/>
              </a:rPr>
              <a:t>le comptoir de la livraison</a:t>
            </a:r>
          </a:p>
        </p:txBody>
      </p:sp>
      <p:sp>
        <p:nvSpPr>
          <p:cNvPr id="18" name="TextBox 17"/>
          <p:cNvSpPr txBox="1"/>
          <p:nvPr/>
        </p:nvSpPr>
        <p:spPr>
          <a:xfrm>
            <a:off x="6498183" y="4716780"/>
            <a:ext cx="4806543" cy="1089660"/>
          </a:xfrm>
          <a:prstGeom prst="rect">
            <a:avLst/>
          </a:prstGeom>
          <a:noFill/>
        </p:spPr>
        <p:txBody>
          <a:bodyPr wrap="square" lIns="0" rIns="0" tIns="0" bIns="0" anchor="t">
            <a:spAutoFit/>
          </a:bodyPr>
          <a:lstStyle/>
          <a:p>
            <a:pPr algn="l">
              <a:lnSpc>
                <a:spcPct val="142000"/>
              </a:lnSpc>
            </a:pPr>
            <a:r>
              <a:rPr sz="1600" b="0" i="0">
                <a:solidFill>
                  <a:srgbClr val="3A3D40"/>
                </a:solidFill>
                <a:latin typeface="Verdana"/>
              </a:rPr>
              <a:t>L'endroit, près de la sortie, où on donne son adresse pour le camion. Ce n'est pas la caisse : on y va après avoir payé.</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Acheter un appareil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VOCABULAIRE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Quelle image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Dites de quelle image il s'agit.</a:t>
            </a:r>
          </a:p>
        </p:txBody>
      </p:sp>
      <p:sp>
        <p:nvSpPr>
          <p:cNvPr id="8" name="Rounded Rectangle 7"/>
          <p:cNvSpPr/>
          <p:nvPr/>
        </p:nvSpPr>
        <p:spPr>
          <a:xfrm>
            <a:off x="566928" y="213969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Une rangée de laveuses blanches, côte à côte.</a:t>
            </a:r>
          </a:p>
        </p:txBody>
      </p:sp>
      <p:sp>
        <p:nvSpPr>
          <p:cNvPr id="12" name="Rounded Rectangle 11"/>
          <p:cNvSpPr/>
          <p:nvPr/>
        </p:nvSpPr>
        <p:spPr>
          <a:xfrm>
            <a:off x="566928" y="282752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papier du magasin ouvert sur une table de cuisine.</a:t>
            </a:r>
          </a:p>
        </p:txBody>
      </p:sp>
      <p:sp>
        <p:nvSpPr>
          <p:cNvPr id="16" name="Rounded Rectangle 15"/>
          <p:cNvSpPr/>
          <p:nvPr/>
        </p:nvSpPr>
        <p:spPr>
          <a:xfrm>
            <a:off x="566928" y="3515359"/>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petit carton posé devant l'appareil.</a:t>
            </a:r>
          </a:p>
        </p:txBody>
      </p:sp>
      <p:sp>
        <p:nvSpPr>
          <p:cNvPr id="20" name="Rounded Rectangle 19"/>
          <p:cNvSpPr/>
          <p:nvPr/>
        </p:nvSpPr>
        <p:spPr>
          <a:xfrm>
            <a:off x="566928" y="4203192"/>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grande affiche suspendue au plafond.</a:t>
            </a:r>
          </a:p>
        </p:txBody>
      </p:sp>
      <p:sp>
        <p:nvSpPr>
          <p:cNvPr id="24" name="Rounded Rectangle 23"/>
          <p:cNvSpPr/>
          <p:nvPr/>
        </p:nvSpPr>
        <p:spPr>
          <a:xfrm>
            <a:off x="566928" y="4891023"/>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ruban déroulé entre un mur et une porte.</a:t>
            </a:r>
          </a:p>
        </p:txBody>
      </p:sp>
      <p:sp>
        <p:nvSpPr>
          <p:cNvPr id="28" name="Rounded Rectangle 27"/>
          <p:cNvSpPr/>
          <p:nvPr/>
        </p:nvSpPr>
        <p:spPr>
          <a:xfrm>
            <a:off x="566928" y="557885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camion arrêté devant un immeuble.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Acheter un appareil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Quelle image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Une rangée de laveuses blanches, côte à côte.   </a:t>
            </a:r>
            <a:r>
              <a:rPr sz="1400" b="1" i="0">
                <a:solidFill>
                  <a:srgbClr val="07734A"/>
                </a:solidFill>
                <a:latin typeface="Verdana"/>
              </a:rPr>
              <a:t>» le rayon des laveuses</a:t>
            </a:r>
          </a:p>
        </p:txBody>
      </p:sp>
      <p:sp>
        <p:nvSpPr>
          <p:cNvPr id="12" name="Rounded Rectangle 11"/>
          <p:cNvSpPr/>
          <p:nvPr/>
        </p:nvSpPr>
        <p:spPr>
          <a:xfrm>
            <a:off x="566928" y="282752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papier du magasin ouvert sur une table de cuisine.   </a:t>
            </a:r>
            <a:r>
              <a:rPr sz="1400" b="1" i="0">
                <a:solidFill>
                  <a:srgbClr val="07734A"/>
                </a:solidFill>
                <a:latin typeface="Verdana"/>
              </a:rPr>
              <a:t>» la circulaire</a:t>
            </a:r>
          </a:p>
        </p:txBody>
      </p:sp>
      <p:sp>
        <p:nvSpPr>
          <p:cNvPr id="16" name="Rounded Rectangle 15"/>
          <p:cNvSpPr/>
          <p:nvPr/>
        </p:nvSpPr>
        <p:spPr>
          <a:xfrm>
            <a:off x="566928" y="3515359"/>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petit carton posé devant l'appareil.   </a:t>
            </a:r>
            <a:r>
              <a:rPr sz="1400" b="1" i="0">
                <a:solidFill>
                  <a:srgbClr val="07734A"/>
                </a:solidFill>
                <a:latin typeface="Verdana"/>
              </a:rPr>
              <a:t>» l'affichette</a:t>
            </a:r>
          </a:p>
        </p:txBody>
      </p:sp>
      <p:sp>
        <p:nvSpPr>
          <p:cNvPr id="20" name="Rounded Rectangle 19"/>
          <p:cNvSpPr/>
          <p:nvPr/>
        </p:nvSpPr>
        <p:spPr>
          <a:xfrm>
            <a:off x="566928" y="4203192"/>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grande affiche suspendue au plafond.   </a:t>
            </a:r>
            <a:r>
              <a:rPr sz="1400" b="1" i="0">
                <a:solidFill>
                  <a:srgbClr val="07734A"/>
                </a:solidFill>
                <a:latin typeface="Verdana"/>
              </a:rPr>
              <a:t>» l'affiche du rayon</a:t>
            </a:r>
          </a:p>
        </p:txBody>
      </p:sp>
      <p:sp>
        <p:nvSpPr>
          <p:cNvPr id="24" name="Rounded Rectangle 23"/>
          <p:cNvSpPr/>
          <p:nvPr/>
        </p:nvSpPr>
        <p:spPr>
          <a:xfrm>
            <a:off x="566928" y="4891023"/>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ruban déroulé entre un mur et une porte.   </a:t>
            </a:r>
            <a:r>
              <a:rPr sz="1400" b="1" i="0">
                <a:solidFill>
                  <a:srgbClr val="07734A"/>
                </a:solidFill>
                <a:latin typeface="Verdana"/>
              </a:rPr>
              <a:t>» le ruban à mesurer</a:t>
            </a:r>
          </a:p>
        </p:txBody>
      </p:sp>
      <p:sp>
        <p:nvSpPr>
          <p:cNvPr id="28" name="Rounded Rectangle 27"/>
          <p:cNvSpPr/>
          <p:nvPr/>
        </p:nvSpPr>
        <p:spPr>
          <a:xfrm>
            <a:off x="566928" y="557885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camion arrêté devant un immeuble.   </a:t>
            </a:r>
            <a:r>
              <a:rPr sz="1400" b="1" i="0">
                <a:solidFill>
                  <a:srgbClr val="07734A"/>
                </a:solidFill>
                <a:latin typeface="Verdana"/>
              </a:rPr>
              <a:t>» la livraison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Acheter un appareil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DIRE CE QU'ON CHERCHE, EN UNE PHRASE</a:t>
            </a:r>
          </a:p>
        </p:txBody>
      </p:sp>
      <p:sp>
        <p:nvSpPr>
          <p:cNvPr id="6" name="Rounded Rectangle 5"/>
          <p:cNvSpPr/>
          <p:nvPr/>
        </p:nvSpPr>
        <p:spPr>
          <a:xfrm>
            <a:off x="566928" y="1225296"/>
            <a:ext cx="11057839" cy="1441196"/>
          </a:xfrm>
          <a:prstGeom prst="roundRect">
            <a:avLst>
              <a:gd name="adj" fmla="val 10151"/>
            </a:avLst>
          </a:prstGeom>
          <a:solidFill>
            <a:srgbClr val="DCF2E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618235"/>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 Bonjour. Je cherche une laveuse. »</a:t>
            </a:r>
          </a:p>
        </p:txBody>
      </p:sp>
      <p:sp>
        <p:nvSpPr>
          <p:cNvPr id="8" name="Rounded Rectangle 7"/>
          <p:cNvSpPr/>
          <p:nvPr/>
        </p:nvSpPr>
        <p:spPr>
          <a:xfrm>
            <a:off x="566928" y="2940812"/>
            <a:ext cx="11057839" cy="1303528"/>
          </a:xfrm>
          <a:prstGeom prst="roundRect">
            <a:avLst>
              <a:gd name="adj" fmla="val 1122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215132"/>
            <a:ext cx="10234879" cy="8463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Trois mots après « bonjour », et le vendeur sait où vous emmener. Ajouter la marque ou le modèle ne sert à rien tant qu'on n'est pas devant l'appareil.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Acheter un appareil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CHERCHER TOUT SEUL PENDANT VINGT MINUTES</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tourner dans les allées sans demander</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Bonjour, où est le rayon des laveuses ?</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Dans un magasin de cette taille, personne ne trouve seul, pas même les gens d'ici. Demander est la façon normale de faire, et c'est aussi la seule occasion de parler français de la journée.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Acheter un appareil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Mesurez la place que vous avez chez vous pour un appareil.</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Entre deux murs, ou entre le mur et la porte.</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Écrivez le chiffre en pouces : on s'en servira au défi 2.</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Acheter un appareil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