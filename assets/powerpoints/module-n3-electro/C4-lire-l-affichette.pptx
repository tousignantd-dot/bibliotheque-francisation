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et d'écoute. Prévoir un ruban à mesurer : les pouces se comprennent en les montrant, pas en les expliquant.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deviner avant d'expliquer. Le mot « po » pour pouce est une abréviation que personne ne devine seul : la donner après.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remarquer que l'affichette répète la circulaire : c'est voulu, et ça permet de vérifier sur place.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un pouce sur le ruban à mesurer, puis 27 pouces contre le mur de la classe. La mesure devient concrète en dix secondes.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énoncé deux fois, sans le montrer. C'est le mot de la fin — dollars, pouces, pieds cubes — qui donne la réponse : le faire remarquer après le premier tour.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ressortir le chiffre relevé au devoir de A3 : chacun devrait l'avoir dans son cahier.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Raconter, si le groupe est réceptif, un cas réel : la plupart des classes en ont 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les questions à l'oral, sans projeter l'affichette. Les élèves répondent de mémoire : c'est la situation réelle du magasin.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de préparation. Cette fiche sert de point de départ à la production écrite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C4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l'affichette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petit carton devant l'appareil répète la circulaire et ajoute une chose qu'elle ne dit pas toujours : le format, en pouces. C'est lui qui décide si l'appareil entre chez vous.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Acheter un appareil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les cinq lignes d'une affichette de rayon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mesure en pouces et en pieds cubes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à l'oreille un prix d'une mesure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vérifier qu'un appareil entre chez soi.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qui est écrit sur le petit carton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ffichette-appareil.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lignes voyez-vous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est le prix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veut dire « 27 po »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n'est pas écrit dessus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lignes d'une affichette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DONNE</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Norlac</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la marque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LT 4200</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 modèle exact</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27 po de large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la place que l'appareil prend</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849 $</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 prix de cette semaine</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Rég. 1 049 $</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 prix des autres semaines</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Livraison en sus » est écrit plus bas, en plus petit.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MESURES D'ICI</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unités à reconnaître</a:t>
            </a:r>
          </a:p>
        </p:txBody>
      </p:sp>
      <p:sp>
        <p:nvSpPr>
          <p:cNvPr id="7" name="Rounded Rectangle 6"/>
          <p:cNvSpPr/>
          <p:nvPr/>
        </p:nvSpPr>
        <p:spPr>
          <a:xfrm>
            <a:off x="566928" y="1810512"/>
            <a:ext cx="3576218" cy="4270248"/>
          </a:xfrm>
          <a:prstGeom prst="roundRect">
            <a:avLst>
              <a:gd name="adj" fmla="val 40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2936138"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pouce</a:t>
            </a:r>
          </a:p>
        </p:txBody>
      </p:sp>
      <p:sp>
        <p:nvSpPr>
          <p:cNvPr id="9" name="TextBox 8"/>
          <p:cNvSpPr txBox="1"/>
          <p:nvPr/>
        </p:nvSpPr>
        <p:spPr>
          <a:xfrm>
            <a:off x="886968" y="2499360"/>
            <a:ext cx="2936138"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largeur et la hauteur d'un appareil : 27 pouces de large, 66 pouces de haut. On écrit « po ». Un pouce fait un peu plus de deux centimètres et demi.</a:t>
            </a:r>
          </a:p>
        </p:txBody>
      </p:sp>
      <p:sp>
        <p:nvSpPr>
          <p:cNvPr id="10" name="Rounded Rectangle 9"/>
          <p:cNvSpPr/>
          <p:nvPr/>
        </p:nvSpPr>
        <p:spPr>
          <a:xfrm>
            <a:off x="4307738" y="1810512"/>
            <a:ext cx="3576218" cy="4270248"/>
          </a:xfrm>
          <a:prstGeom prst="roundRect">
            <a:avLst>
              <a:gd name="adj" fmla="val 40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7778" y="2084831"/>
            <a:ext cx="2936138"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pied cube</a:t>
            </a:r>
          </a:p>
        </p:txBody>
      </p:sp>
      <p:sp>
        <p:nvSpPr>
          <p:cNvPr id="12" name="TextBox 11"/>
          <p:cNvSpPr txBox="1"/>
          <p:nvPr/>
        </p:nvSpPr>
        <p:spPr>
          <a:xfrm>
            <a:off x="4627778" y="2499360"/>
            <a:ext cx="2936138"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volume d'un réfrigérateur ou d'une laveuse : 18 pieds cubes. On écrit « pi³ ». Plus le chiffre est gros, plus l'appareil contient.</a:t>
            </a:r>
          </a:p>
        </p:txBody>
      </p:sp>
      <p:sp>
        <p:nvSpPr>
          <p:cNvPr id="13" name="Rounded Rectangle 12"/>
          <p:cNvSpPr/>
          <p:nvPr/>
        </p:nvSpPr>
        <p:spPr>
          <a:xfrm>
            <a:off x="8048548" y="1810512"/>
            <a:ext cx="3576218" cy="4270248"/>
          </a:xfrm>
          <a:prstGeom prst="roundRect">
            <a:avLst>
              <a:gd name="adj" fmla="val 40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68588" y="2084831"/>
            <a:ext cx="2936138"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watt</a:t>
            </a:r>
          </a:p>
        </p:txBody>
      </p:sp>
      <p:sp>
        <p:nvSpPr>
          <p:cNvPr id="15" name="TextBox 14"/>
          <p:cNvSpPr txBox="1"/>
          <p:nvPr/>
        </p:nvSpPr>
        <p:spPr>
          <a:xfrm>
            <a:off x="8368588" y="2499360"/>
            <a:ext cx="2936138"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puissance d'un micro-ondes : 1 000 watts. Plus il y a de watts, plus ça chauffe vite.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prix ou une mesure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et dites ce que vous entendez.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huit cent quarante-neuf dollars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vingt-sept pouces de large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cent vingt-neuf dollars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soixante-six pouces de haut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mille quarante-neuf dollars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dix-huit pieds cubes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prix ou une mesure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huit cent quarante-neuf dollars   </a:t>
            </a:r>
            <a:r>
              <a:rPr sz="1400" b="1" i="0">
                <a:solidFill>
                  <a:srgbClr val="07734A"/>
                </a:solidFill>
                <a:latin typeface="Verdana"/>
              </a:rPr>
              <a:t>» un prix</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vingt-sept pouces de large   </a:t>
            </a:r>
            <a:r>
              <a:rPr sz="1400" b="1" i="0">
                <a:solidFill>
                  <a:srgbClr val="07734A"/>
                </a:solidFill>
                <a:latin typeface="Verdana"/>
              </a:rPr>
              <a:t>» une mesure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cent vingt-neuf dollars   </a:t>
            </a:r>
            <a:r>
              <a:rPr sz="1400" b="1" i="0">
                <a:solidFill>
                  <a:srgbClr val="07734A"/>
                </a:solidFill>
                <a:latin typeface="Verdana"/>
              </a:rPr>
              <a:t>» un prix</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soixante-six pouces de haut   </a:t>
            </a:r>
            <a:r>
              <a:rPr sz="1400" b="1" i="0">
                <a:solidFill>
                  <a:srgbClr val="07734A"/>
                </a:solidFill>
                <a:latin typeface="Verdana"/>
              </a:rPr>
              <a:t>» une mesure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mille quarante-neuf dollars   </a:t>
            </a:r>
            <a:r>
              <a:rPr sz="1400" b="1" i="0">
                <a:solidFill>
                  <a:srgbClr val="07734A"/>
                </a:solidFill>
                <a:latin typeface="Verdana"/>
              </a:rPr>
              <a:t>» un prix</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dix-huit pieds cubes   </a:t>
            </a:r>
            <a:r>
              <a:rPr sz="1400" b="1" i="0">
                <a:solidFill>
                  <a:srgbClr val="07734A"/>
                </a:solidFill>
                <a:latin typeface="Verdana"/>
              </a:rPr>
              <a:t>» une mesure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MESURER AVANT DE PARTIR</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J'ai vingt-huit pouces entre le mur et la porte.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appareil trop large revient au magasin, et le transport se paie deux fois. Le chiffre se prend chez soi, il s'écrit sur un papier, et il se garde dans la poche.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SE FIER À L'APPARENCE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Elle a l'air de la même grandeur.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fait combien de large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laveuses côte à côte peuvent avoir trois pouces de différence, et trois pouces suffisent à empêcher la porte de fermer. La question coûte cinq secondes ; l'erreur coûte une livraison.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Répondez d'après l'affichette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Marque Norlac, modèle LT 4200, 27 po de large, 849 $, rég. 1 049 $.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est la marque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est le modèle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large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ça coûte cette semaine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Répondez d'après l'affichette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est la marque ?   </a:t>
            </a:r>
            <a:r>
              <a:rPr sz="1900" b="1" i="0">
                <a:solidFill>
                  <a:srgbClr val="07734A"/>
                </a:solidFill>
                <a:latin typeface="Verdana"/>
              </a:rPr>
              <a:t>» Norlac</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est le modèle ?   </a:t>
            </a:r>
            <a:r>
              <a:rPr sz="1900" b="1" i="0">
                <a:solidFill>
                  <a:srgbClr val="07734A"/>
                </a:solidFill>
                <a:latin typeface="Verdana"/>
              </a:rPr>
              <a:t>» LT 4200</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large ?   </a:t>
            </a:r>
            <a:r>
              <a:rPr sz="1900" b="1" i="0">
                <a:solidFill>
                  <a:srgbClr val="07734A"/>
                </a:solidFill>
                <a:latin typeface="Verdana"/>
              </a:rPr>
              <a:t>» 27 pouces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ça coûte cette semaine ?   </a:t>
            </a:r>
            <a:r>
              <a:rPr sz="1900" b="1" i="0">
                <a:solidFill>
                  <a:srgbClr val="07734A"/>
                </a:solidFill>
                <a:latin typeface="Verdana"/>
              </a:rPr>
              <a:t>» 849 $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cinq lignes de l'affichette de l'appareil que vous voulez.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marque, le modèle, le format, les deux prix.</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la mesure que vous avez prise chez vous.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Acheter un appareil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