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Séance d'écoute courte. Prévoir le son. Elle clôt le bloc C et libère beaucoup d'élèves d'une confusion qu'ils traînent depuis des mois.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les objectifs à voix haute. Y revenir au billet de sortie.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écouter les deux extraits du module (exercice 4 du Défi 2) deux fois avant toute explication. Demander de lever la main quand on entend le [t].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lire la colonne de droite à voix haute par le groupe. L'exagération aide ici.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le lien explicite avec l'accord vu en C2. C'est la raison pédagogique de cette séance.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dire clairement. Certains élèves voudront l'imiter pour « parler comme ici » : ce n'est ni nécessaire ni déconseillé.</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Rassurer : cette faute est le signe d'une bonne oreille, pas d'une mauvaise mémoire.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Utiliser l'exercice 4 du module. Deux écoutes avant de donner la réponse.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 dialogue réutilise tout le bloc C : imparfait du décor, passé composé des évènements, et la fin du dialogue contient « à cause du bruit », qui annonce D2. Ne pas l'expliquer.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Excellent point de départ pour D1 : lire deux ou trois relevés à voix haute.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SÉANCE C4  ·  MODULE 11</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Le [t] qu'on entend et qu'on n'écrit pas</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 Je suis-t-arrivée ». Vous l'avez entendu, et vous avez cherché un mot qui n'existe pas. Ce [t] est réel, très fréquent — et il ne s'écrit jamais.</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55 minutes  ·  Des nouvelles à donner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Des nouvelles à donner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reconnaître la liaison en [t] entre être et un participe passé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savoir qu'elle ne s'écrit pas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s'en servir comme indice : ce [t] annonce l'auxiliaire être, donc l'accord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comprendre un récit au passé malgré cette liaison.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Des nouvelles à donner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ÉCOUTE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Qu'entendez-vous entre les deux mots ?</a:t>
            </a:r>
          </a:p>
        </p:txBody>
      </p:sp>
      <p:sp>
        <p:nvSpPr>
          <p:cNvPr id="7" name="Rounded Rectangle 6"/>
          <p:cNvSpPr/>
          <p:nvPr/>
        </p:nvSpPr>
        <p:spPr>
          <a:xfrm>
            <a:off x="566928" y="1856232"/>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66928" y="1965960"/>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50976" y="2039112"/>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 Je suis arrivée le douze janvier. »</a:t>
            </a:r>
          </a:p>
        </p:txBody>
      </p:sp>
      <p:sp>
        <p:nvSpPr>
          <p:cNvPr id="10" name="Rounded Rectangle 9"/>
          <p:cNvSpPr/>
          <p:nvPr/>
        </p:nvSpPr>
        <p:spPr>
          <a:xfrm>
            <a:off x="566928" y="2642108"/>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66928" y="2751836"/>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50976" y="2824988"/>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 J'ai eu mal aux oreilles. »</a:t>
            </a:r>
          </a:p>
        </p:txBody>
      </p:sp>
      <p:sp>
        <p:nvSpPr>
          <p:cNvPr id="13" name="Rounded Rectangle 12"/>
          <p:cNvSpPr/>
          <p:nvPr/>
        </p:nvSpPr>
        <p:spPr>
          <a:xfrm>
            <a:off x="566928" y="3427984"/>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3537712"/>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50976" y="3610864"/>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Dans laquelle des deux entendez-vous un petit [t] ?</a:t>
            </a:r>
          </a:p>
        </p:txBody>
      </p:sp>
      <p:sp>
        <p:nvSpPr>
          <p:cNvPr id="16" name="Rounded Rectangle 15"/>
          <p:cNvSpPr/>
          <p:nvPr/>
        </p:nvSpPr>
        <p:spPr>
          <a:xfrm>
            <a:off x="566928" y="4213860"/>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66928" y="4323588"/>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50976" y="4396740"/>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Ce [t], est-il écrit quelque part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Des nouvelles à donner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Où le [t] apparaît</a:t>
            </a:r>
          </a:p>
        </p:txBody>
      </p:sp>
      <p:sp>
        <p:nvSpPr>
          <p:cNvPr id="7" name="Rounded Rectangle 6"/>
          <p:cNvSpPr/>
          <p:nvPr/>
        </p:nvSpPr>
        <p:spPr>
          <a:xfrm>
            <a:off x="566928" y="1810512"/>
            <a:ext cx="11057839" cy="2798064"/>
          </a:xfrm>
          <a:prstGeom prst="roundRect">
            <a:avLst>
              <a:gd name="adj" fmla="val 522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QU'ON ÉCRIT</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QU'ON ENTEND SOUVENT</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je suis arrivée</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je suis-t-arrivée</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tu es allée</a:t>
            </a:r>
          </a:p>
        </p:txBody>
      </p:sp>
      <p:sp>
        <p:nvSpPr>
          <p:cNvPr id="14" name="TextBox 13"/>
          <p:cNvSpPr txBox="1"/>
          <p:nvPr/>
        </p:nvSpPr>
        <p:spPr>
          <a:xfrm>
            <a:off x="4443636" y="2935224"/>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tu es-t-allée</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je suis entrée</a:t>
            </a:r>
          </a:p>
        </p:txBody>
      </p:sp>
      <p:sp>
        <p:nvSpPr>
          <p:cNvPr id="17" name="TextBox 16"/>
          <p:cNvSpPr txBox="1"/>
          <p:nvPr/>
        </p:nvSpPr>
        <p:spPr>
          <a:xfrm>
            <a:off x="4443636" y="3474720"/>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je suis-t-entrée</a:t>
            </a:r>
          </a:p>
        </p:txBody>
      </p:sp>
      <p:sp>
        <p:nvSpPr>
          <p:cNvPr id="18" name="Rectangle 17"/>
          <p:cNvSpPr/>
          <p:nvPr/>
        </p:nvSpPr>
        <p:spPr>
          <a:xfrm>
            <a:off x="932688" y="388620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014215"/>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j'ai eu mal</a:t>
            </a:r>
          </a:p>
        </p:txBody>
      </p:sp>
      <p:sp>
        <p:nvSpPr>
          <p:cNvPr id="20" name="TextBox 19"/>
          <p:cNvSpPr txBox="1"/>
          <p:nvPr/>
        </p:nvSpPr>
        <p:spPr>
          <a:xfrm>
            <a:off x="4443636" y="4014215"/>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j'ai eu mal — pas de [t]</a:t>
            </a:r>
          </a:p>
        </p:txBody>
      </p:sp>
      <p:sp>
        <p:nvSpPr>
          <p:cNvPr id="21" name="Rounded Rectangle 20"/>
          <p:cNvSpPr/>
          <p:nvPr/>
        </p:nvSpPr>
        <p:spPr>
          <a:xfrm>
            <a:off x="566928" y="4846320"/>
            <a:ext cx="11057839" cy="843534"/>
          </a:xfrm>
          <a:prstGeom prst="roundRect">
            <a:avLst>
              <a:gd name="adj" fmla="val 17344"/>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9264" y="5102352"/>
            <a:ext cx="10234879" cy="38633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La dernière ligne est la clé : avec avoir, ce [t] n'apparaît jamais.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Des nouvelles à donner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CE QUE CE [T] VOUS APPREND</a:t>
            </a:r>
          </a:p>
        </p:txBody>
      </p:sp>
      <p:sp>
        <p:nvSpPr>
          <p:cNvPr id="6" name="Rounded Rectangle 5"/>
          <p:cNvSpPr/>
          <p:nvPr/>
        </p:nvSpPr>
        <p:spPr>
          <a:xfrm>
            <a:off x="566928" y="1225296"/>
            <a:ext cx="11057839" cy="1967991"/>
          </a:xfrm>
          <a:prstGeom prst="roundRect">
            <a:avLst>
              <a:gd name="adj" fmla="val 74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Si vous l'entendez, l'auxiliaire est être — donc le participe s'accorde.</a:t>
            </a:r>
          </a:p>
        </p:txBody>
      </p:sp>
      <p:sp>
        <p:nvSpPr>
          <p:cNvPr id="8" name="Rounded Rectangle 7"/>
          <p:cNvSpPr/>
          <p:nvPr/>
        </p:nvSpPr>
        <p:spPr>
          <a:xfrm>
            <a:off x="566928" y="3467607"/>
            <a:ext cx="11057839" cy="1303528"/>
          </a:xfrm>
          <a:prstGeom prst="roundRect">
            <a:avLst>
              <a:gd name="adj" fmla="val 1122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8463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C'est un indice gratuit. « Je suis-t-arrivée » vous dit à l'oreille qu'il faudra écrire un -e. « J'ai eu » ne le dit pas, et il n'y a rien à accorder.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Des nouvelles à donner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FAUT-IL LE DIRE SOI-MÊME ?</a:t>
            </a:r>
          </a:p>
        </p:txBody>
      </p:sp>
      <p:sp>
        <p:nvSpPr>
          <p:cNvPr id="6" name="Rounded Rectangle 5"/>
          <p:cNvSpPr/>
          <p:nvPr/>
        </p:nvSpPr>
        <p:spPr>
          <a:xfrm>
            <a:off x="566928" y="1225296"/>
            <a:ext cx="11057839" cy="1441196"/>
          </a:xfrm>
          <a:prstGeom prst="roundRect">
            <a:avLst>
              <a:gd name="adj" fmla="val 10151"/>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618235"/>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Non. Le reconnaître suffit.</a:t>
            </a:r>
          </a:p>
        </p:txBody>
      </p:sp>
      <p:sp>
        <p:nvSpPr>
          <p:cNvPr id="8" name="Rounded Rectangle 7"/>
          <p:cNvSpPr/>
          <p:nvPr/>
        </p:nvSpPr>
        <p:spPr>
          <a:xfrm>
            <a:off x="566928" y="2940812"/>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215132"/>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Cette liaison n'appartient pas au français soigné et n'est pas obligatoire. Le programme du cours demande de la reconnaître, pour comprendre ses interlocuteurs. Vous pouvez très bien ne jamais la produire.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Des nouvelles à donner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ÉCRIRE LE [T] QU'ON ENTEND</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Je suis t'arrivée le douze janvier.</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Je suis arrivée le douze janvier.</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Ce son n'existe qu'à l'oral. Entre l'auxiliaire et le participe, il n'y a rien à écrire. L'erreur vient presque toujours d'élèves qui apprennent beaucoup à l'oreille — c'est bon signe, mais il faut faire la correction.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Des nouvelles à donner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PRATIQUE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Avec ou sans [t]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Écoutez et dites si vous entendez la liaison.</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Je suis arrivée le douze janvier.</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J'ai eu mal aux oreilles.</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Tu es allée au tournoi ?</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J'ai compris ce jour-là.</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Je suis entrée dans le gymnase.</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Elle a choisi son nom hier soir.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Des nouvelles à donner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Avec ou sans [t]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Je suis arrivée le douze janvier.   </a:t>
            </a:r>
            <a:r>
              <a:rPr sz="1400" b="1" i="0">
                <a:solidFill>
                  <a:srgbClr val="07734A"/>
                </a:solidFill>
                <a:latin typeface="Verdana"/>
              </a:rPr>
              <a:t>» [t] — auxiliaire être</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J'ai eu mal aux oreilles.   </a:t>
            </a:r>
            <a:r>
              <a:rPr sz="1400" b="1" i="0">
                <a:solidFill>
                  <a:srgbClr val="07734A"/>
                </a:solidFill>
                <a:latin typeface="Verdana"/>
              </a:rPr>
              <a:t>» pas de [t] — auxiliaire avoir</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Tu es allée au tournoi ?   </a:t>
            </a:r>
            <a:r>
              <a:rPr sz="1400" b="1" i="0">
                <a:solidFill>
                  <a:srgbClr val="07734A"/>
                </a:solidFill>
                <a:latin typeface="Verdana"/>
              </a:rPr>
              <a:t>» [t] — auxiliaire être</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J'ai compris ce jour-là.   </a:t>
            </a:r>
            <a:r>
              <a:rPr sz="1400" b="1" i="0">
                <a:solidFill>
                  <a:srgbClr val="07734A"/>
                </a:solidFill>
                <a:latin typeface="Verdana"/>
              </a:rPr>
              <a:t>» pas de [t] — auxiliaire avoir</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Je suis entrée dans le gymnase.   </a:t>
            </a:r>
            <a:r>
              <a:rPr sz="1400" b="1" i="0">
                <a:solidFill>
                  <a:srgbClr val="07734A"/>
                </a:solidFill>
                <a:latin typeface="Verdana"/>
              </a:rPr>
              <a:t>» [t] — auxiliaire être</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Elle a choisi son nom hier soir.   </a:t>
            </a:r>
            <a:r>
              <a:rPr sz="1400" b="1" i="0">
                <a:solidFill>
                  <a:srgbClr val="07734A"/>
                </a:solidFill>
                <a:latin typeface="Verdana"/>
              </a:rPr>
              <a:t>» pas de [t] — auxiliaire avoir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Des nouvelles à donner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déménagement de Chantal</a:t>
            </a:r>
          </a:p>
        </p:txBody>
      </p:sp>
      <p:sp>
        <p:nvSpPr>
          <p:cNvPr id="7" name="TextBox 6"/>
          <p:cNvSpPr txBox="1"/>
          <p:nvPr/>
        </p:nvSpPr>
        <p:spPr>
          <a:xfrm>
            <a:off x="566928" y="173736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Repérez le décor et les évènements, comme en C2.</a:t>
            </a:r>
          </a:p>
        </p:txBody>
      </p:sp>
      <p:sp>
        <p:nvSpPr>
          <p:cNvPr id="8" name="TextBox 7"/>
          <p:cNvSpPr txBox="1"/>
          <p:nvPr/>
        </p:nvSpPr>
        <p:spPr>
          <a:xfrm>
            <a:off x="932688" y="2322576"/>
            <a:ext cx="1569720"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CHANTAL</a:t>
            </a:r>
          </a:p>
        </p:txBody>
      </p:sp>
      <p:sp>
        <p:nvSpPr>
          <p:cNvPr id="9" name="TextBox 8"/>
          <p:cNvSpPr txBox="1"/>
          <p:nvPr/>
        </p:nvSpPr>
        <p:spPr>
          <a:xfrm>
            <a:off x="2502408" y="2322576"/>
            <a:ext cx="8573719"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J'ai déménagé neuf fois avant d'avoir trente ans.</a:t>
            </a:r>
          </a:p>
        </p:txBody>
      </p:sp>
      <p:sp>
        <p:nvSpPr>
          <p:cNvPr id="10" name="Rounded Rectangle 9"/>
          <p:cNvSpPr/>
          <p:nvPr/>
        </p:nvSpPr>
        <p:spPr>
          <a:xfrm>
            <a:off x="566928" y="2907283"/>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3071876"/>
            <a:ext cx="1569720"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CHANTAL</a:t>
            </a:r>
          </a:p>
        </p:txBody>
      </p:sp>
      <p:sp>
        <p:nvSpPr>
          <p:cNvPr id="12" name="TextBox 11"/>
          <p:cNvSpPr txBox="1"/>
          <p:nvPr/>
        </p:nvSpPr>
        <p:spPr>
          <a:xfrm>
            <a:off x="2502408" y="3071876"/>
            <a:ext cx="8573719"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pire, c'était le premier juillet il y a dix ans. Il pleuvait, on n'avait pas de camion.</a:t>
            </a:r>
          </a:p>
        </p:txBody>
      </p:sp>
      <p:sp>
        <p:nvSpPr>
          <p:cNvPr id="13" name="Rounded Rectangle 12"/>
          <p:cNvSpPr/>
          <p:nvPr/>
        </p:nvSpPr>
        <p:spPr>
          <a:xfrm>
            <a:off x="566928" y="3994404"/>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4158995"/>
            <a:ext cx="1569720"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CHANTAL</a:t>
            </a:r>
          </a:p>
        </p:txBody>
      </p:sp>
      <p:sp>
        <p:nvSpPr>
          <p:cNvPr id="15" name="TextBox 14"/>
          <p:cNvSpPr txBox="1"/>
          <p:nvPr/>
        </p:nvSpPr>
        <p:spPr>
          <a:xfrm>
            <a:off x="2502408" y="4158995"/>
            <a:ext cx="8573719"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Mon frère avait une petite voiture. On a fait onze voyages.</a:t>
            </a:r>
          </a:p>
        </p:txBody>
      </p:sp>
      <p:sp>
        <p:nvSpPr>
          <p:cNvPr id="16" name="TextBox 15"/>
          <p:cNvSpPr txBox="1"/>
          <p:nvPr/>
        </p:nvSpPr>
        <p:spPr>
          <a:xfrm>
            <a:off x="932688" y="4908296"/>
            <a:ext cx="1569720"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MARIAMA</a:t>
            </a:r>
          </a:p>
        </p:txBody>
      </p:sp>
      <p:sp>
        <p:nvSpPr>
          <p:cNvPr id="17" name="TextBox 16"/>
          <p:cNvSpPr txBox="1"/>
          <p:nvPr/>
        </p:nvSpPr>
        <p:spPr>
          <a:xfrm>
            <a:off x="2502408" y="4908296"/>
            <a:ext cx="8573719"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Et le nouvel appartement, il était comment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Des nouvelles à donner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Écoutez une conversation cette semaine et notez une phrase où vous entendez ce [t].</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À la radio, au travail, dans l'autobus.</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Écrivez la phrase correctement, sans le [t].</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Des nouvelles à donner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