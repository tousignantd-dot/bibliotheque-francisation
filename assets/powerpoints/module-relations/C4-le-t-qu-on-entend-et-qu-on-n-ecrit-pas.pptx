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d'écoute courte. Prévoir le son. Elle clôt le bloc C et libère beaucoup d'élèves d'une confusion qu'ils traînent depuis des mois.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écouter les deux extraits du module (exercice 4 du Défi 2) deux fois avant toute explication. Demander de lever la main quand on entend le [t].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lire la colonne de droite à voix haute par le groupe. L'exagération aide ici.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le lien explicite avec l'accord vu en C2. C'est la raison pédagogique de cette séance.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dire clairement. Certains élèves voudront l'imiter pour « parler comme ici » : ce n'est ni nécessaire ni déconseillé.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Rassurer : cette faute est le signe d'une bonne oreille, pas d'une mauvaise mémoire.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Utiliser l'exercice 4 du module. Deux écoutes avant de donner la réponse.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dialogue réutilise tout le bloc C : imparfait du décor, passé composé des évènements, et la fin du dialogue contient « à cause du bruit », qui annonce D2. Ne pas l'expliquer.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Excellent point de départ pour D1 : lire deux ou trois relevés à voix haute.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C4  ·  MODULE 11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[t] qu'on entend et qu'on n'écrit pas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Je suis-t-arrivée ». Vous l'avez entendu, et vous avez cherché un mot qui n'existe pas. Ce [t] est réel, très fréquent — et il ne s'écrit jamais.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55 minutes  ·  Des nouvelles à donner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la liaison en [t] entre être et un participe passé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qu'elle ne s'écrit pas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s'en servir comme indice : ce [t] annonce l'auxiliaire être, donc l'accord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 récit au passé malgré cette liaison.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Qu'entendez-vous entre les deux mots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Je suis arrivée le douze janvier.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J'ai eu mal aux oreilles.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laquelle des deux entendez-vous un petit [t]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[t], est-il écrit quelque part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le [t] apparaît</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ÉCRIT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ENTEND SOUVENT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 suis arrivée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 suis-t-arrivée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tu es allée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tu es-t-allée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 suis entrée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 suis-t-entrée</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j'ai eu mal</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j'ai eu mal — pas de [t]</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La dernière ligne est la clé : avec avoir, ce [t] n'apparaît jamais.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CE QUE CE [T] VOUS APPREND</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Si vous l'entendez, l'auxiliaire est être — donc le participe s'accorde.</a:t>
            </a:r>
          </a:p>
        </p:txBody>
      </p:sp>
      <p:sp>
        <p:nvSpPr>
          <p:cNvPr id="8" name="Rounded Rectangle 7"/>
          <p:cNvSpPr/>
          <p:nvPr/>
        </p:nvSpPr>
        <p:spPr>
          <a:xfrm>
            <a:off x="566928" y="3467607"/>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un indice gratuit. « Je suis-t-arrivée » vous dit à l'oreille qu'il faudra écrire un -e. « J'ai eu » ne le dit pas, et il n'y a rien à accorder.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FAUT-IL LE DIRE SOI-MÊME ?</a:t>
            </a:r>
          </a:p>
        </p:txBody>
      </p:sp>
      <p:sp>
        <p:nvSpPr>
          <p:cNvPr id="6" name="Rounded Rectangle 5"/>
          <p:cNvSpPr/>
          <p:nvPr/>
        </p:nvSpPr>
        <p:spPr>
          <a:xfrm>
            <a:off x="566928" y="1225296"/>
            <a:ext cx="11057839" cy="1441196"/>
          </a:xfrm>
          <a:prstGeom prst="roundRect">
            <a:avLst>
              <a:gd name="adj" fmla="val 10151"/>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Non. Le reconnaître suffit.</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Cette liaison n'appartient pas au français soigné et n'est pas obligatoire. Le programme du cours demande de la reconnaître, pour comprendre ses interlocuteurs. Vous pouvez très bien ne jamais la produire.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ÉCRIRE LE [T] QU'ON ENTEND</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suis t'arrivée le douze janvier.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suis arrivée le douze janvier.</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 son n'existe qu'à l'oral. Entre l'auxiliaire et le participe, il n'y a rien à écrire. L'erreur vient presque toujours d'élèves qui apprennent beaucoup à l'oreille — c'est bon signe, mais il faut faire la correction.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Avec ou sans [t]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et dites si vous entendez la liaison.</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suis arrivée le douze janvier.</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J'ai eu mal aux oreilles.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Tu es allée au tournoi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J'ai compris ce jour-là.</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suis entrée dans le gymnase.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a choisi son nom hier soir.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Avec ou sans [t]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suis arrivée le douze janvier.   </a:t>
            </a:r>
            <a:r>
              <a:rPr sz="1400" b="1" i="0">
                <a:solidFill>
                  <a:srgbClr val="07734A"/>
                </a:solidFill>
                <a:latin typeface="Verdana"/>
              </a:rPr>
              <a:t>» [t] — auxiliaire être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J'ai eu mal aux oreilles.   </a:t>
            </a:r>
            <a:r>
              <a:rPr sz="1400" b="1" i="0">
                <a:solidFill>
                  <a:srgbClr val="07734A"/>
                </a:solidFill>
                <a:latin typeface="Verdana"/>
              </a:rPr>
              <a:t>» pas de [t] — auxiliaire avoir</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Tu es allée au tournoi ?   </a:t>
            </a:r>
            <a:r>
              <a:rPr sz="1400" b="1" i="0">
                <a:solidFill>
                  <a:srgbClr val="07734A"/>
                </a:solidFill>
                <a:latin typeface="Verdana"/>
              </a:rPr>
              <a:t>» [t] — auxiliaire être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J'ai compris ce jour-là.   </a:t>
            </a:r>
            <a:r>
              <a:rPr sz="1400" b="1" i="0">
                <a:solidFill>
                  <a:srgbClr val="07734A"/>
                </a:solidFill>
                <a:latin typeface="Verdana"/>
              </a:rPr>
              <a:t>» pas de [t] — auxiliaire avoir</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suis entrée dans le gymnase.   </a:t>
            </a:r>
            <a:r>
              <a:rPr sz="1400" b="1" i="0">
                <a:solidFill>
                  <a:srgbClr val="07734A"/>
                </a:solidFill>
                <a:latin typeface="Verdana"/>
              </a:rPr>
              <a:t>» [t] — auxiliaire être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Elle a choisi son nom hier soir.   </a:t>
            </a:r>
            <a:r>
              <a:rPr sz="1400" b="1" i="0">
                <a:solidFill>
                  <a:srgbClr val="07734A"/>
                </a:solidFill>
                <a:latin typeface="Verdana"/>
              </a:rPr>
              <a:t>» pas de [t] — auxiliaire avoir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déménagement de Chantal</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Repérez le décor et les évènements, comme en C2.</a:t>
            </a:r>
          </a:p>
        </p:txBody>
      </p:sp>
      <p:sp>
        <p:nvSpPr>
          <p:cNvPr id="8" name="TextBox 7"/>
          <p:cNvSpPr txBox="1"/>
          <p:nvPr/>
        </p:nvSpPr>
        <p:spPr>
          <a:xfrm>
            <a:off x="932688" y="2322576"/>
            <a:ext cx="15697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CHANTAL</a:t>
            </a:r>
          </a:p>
        </p:txBody>
      </p:sp>
      <p:sp>
        <p:nvSpPr>
          <p:cNvPr id="9" name="TextBox 8"/>
          <p:cNvSpPr txBox="1"/>
          <p:nvPr/>
        </p:nvSpPr>
        <p:spPr>
          <a:xfrm>
            <a:off x="2502408" y="2322576"/>
            <a:ext cx="85737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J'ai déménagé neuf fois avant d'avoir trente ans.</a:t>
            </a:r>
          </a:p>
        </p:txBody>
      </p:sp>
      <p:sp>
        <p:nvSpPr>
          <p:cNvPr id="10" name="Rounded Rectangle 9"/>
          <p:cNvSpPr/>
          <p:nvPr/>
        </p:nvSpPr>
        <p:spPr>
          <a:xfrm>
            <a:off x="566928" y="290728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071876"/>
            <a:ext cx="1569720"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CHANTAL</a:t>
            </a:r>
          </a:p>
        </p:txBody>
      </p:sp>
      <p:sp>
        <p:nvSpPr>
          <p:cNvPr id="12" name="TextBox 11"/>
          <p:cNvSpPr txBox="1"/>
          <p:nvPr/>
        </p:nvSpPr>
        <p:spPr>
          <a:xfrm>
            <a:off x="2502408" y="3071876"/>
            <a:ext cx="8573719"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pire, c'était le premier juillet il y a dix ans. Il pleuvait, on n'avait pas de camion.</a:t>
            </a:r>
          </a:p>
        </p:txBody>
      </p:sp>
      <p:sp>
        <p:nvSpPr>
          <p:cNvPr id="13" name="Rounded Rectangle 12"/>
          <p:cNvSpPr/>
          <p:nvPr/>
        </p:nvSpPr>
        <p:spPr>
          <a:xfrm>
            <a:off x="566928" y="399440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158995"/>
            <a:ext cx="15697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CHANTAL</a:t>
            </a:r>
          </a:p>
        </p:txBody>
      </p:sp>
      <p:sp>
        <p:nvSpPr>
          <p:cNvPr id="15" name="TextBox 14"/>
          <p:cNvSpPr txBox="1"/>
          <p:nvPr/>
        </p:nvSpPr>
        <p:spPr>
          <a:xfrm>
            <a:off x="2502408" y="4158995"/>
            <a:ext cx="85737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Mon frère avait une petite voiture. On a fait onze voyages.</a:t>
            </a:r>
          </a:p>
        </p:txBody>
      </p:sp>
      <p:sp>
        <p:nvSpPr>
          <p:cNvPr id="16" name="TextBox 15"/>
          <p:cNvSpPr txBox="1"/>
          <p:nvPr/>
        </p:nvSpPr>
        <p:spPr>
          <a:xfrm>
            <a:off x="932688" y="4908296"/>
            <a:ext cx="1569720"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MARIAMA</a:t>
            </a:r>
          </a:p>
        </p:txBody>
      </p:sp>
      <p:sp>
        <p:nvSpPr>
          <p:cNvPr id="17" name="TextBox 16"/>
          <p:cNvSpPr txBox="1"/>
          <p:nvPr/>
        </p:nvSpPr>
        <p:spPr>
          <a:xfrm>
            <a:off x="2502408" y="4908296"/>
            <a:ext cx="8573719"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le nouvel appartement, il était comment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Des nouvelles à donner</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Écoutez une conversation cette semaine et notez une phrase où vous entendez ce [t].</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À la radio, au travail, dans l'autobus.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Écrivez la phrase correctement, sans le [t].</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Des nouvelles à donner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