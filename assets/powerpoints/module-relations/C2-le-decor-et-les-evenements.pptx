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séance la plus longue du module, et la plus rentable. Reprendre les billets de C1 : les mots de temps relevés décident du temps de verbe.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le groupe chercher cinq minutes. Plusieurs sentent la différence sans savoir la nommer : c'est le bon point de départ.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centrale de la séance. La faire recopier avant de continuer.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appliquer le test à voix haute sur cinq phrases du dialogue de C1.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deux premières cartes à voix haute, l'une après l'autre. La différence de rythme s'entend.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faute la plus visible à l'écrit. Écrire les quatre formes au tableau et les y laisser jusqu'à la fin du bloc.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présenter la gauche comme une faute de langue. Le mot juste est « maladroit », pas « incorrect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dire le test à voix haute avant chaque réponse : « est-ce que je peux compter ? ». Le raisonnement compte plus que la forme.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 exercice vérifie la compréhension du rôle, pas la conjugaison. Un élève qui classe bien mais conjugue mal a compris l'essentiel.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individuellement. Ces billets sont le brouillon de la production orale de E1 — les rendre avant cette séance.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C2  ·  MODULE 11</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décor et les évènements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Je portais des sandales » et « je suis arrivée le douze janvier » sont tous les deux au passé. Ils ne font pas le même travail : l'un peint le décor, l'autre fait avancer l'histoire.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90 minutes  ·  Des nouvelles à donner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Des nouvelles à donner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l'imparfait pour décrire une situation qui durait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 passé composé pour raconter ce qui est arrivé ;</a:t>
            </a:r>
          </a:p>
        </p:txBody>
      </p:sp>
      <p:sp>
        <p:nvSpPr>
          <p:cNvPr id="15" name="Rounded Rectangle 14"/>
          <p:cNvSpPr/>
          <p:nvPr/>
        </p:nvSpPr>
        <p:spPr>
          <a:xfrm>
            <a:off x="566928" y="3536696"/>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8922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9745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trancher avec la question « est-ce que je peux compter combien de fois ? »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accorder le participe passé avec l'auxiliaire être.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Des nouvelles à donner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PROBLÈME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Pourquoi ces deux phrases ne sont-elles pas au même temps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À l'aéroport, je portais une veste et des sandales.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Je suis arrivée le douze janvier.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Laquelle décrit ? Laquelle raconte un moment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Laquelle pourriez-vous dater précisément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Des nouvelles à donner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temps, deux rôles</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IMPARFAIT</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PASSÉ COMPOSÉ</a:t>
            </a:r>
          </a:p>
        </p:txBody>
      </p:sp>
      <p:sp>
        <p:nvSpPr>
          <p:cNvPr id="11" name="TextBox 10"/>
          <p:cNvSpPr txBox="1"/>
          <p:nvPr/>
        </p:nvSpPr>
        <p:spPr>
          <a:xfrm>
            <a:off x="932688"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 que ça dit</a:t>
            </a:r>
          </a:p>
        </p:txBody>
      </p:sp>
      <p:sp>
        <p:nvSpPr>
          <p:cNvPr id="12" name="TextBox 11"/>
          <p:cNvSpPr txBox="1"/>
          <p:nvPr/>
        </p:nvSpPr>
        <p:spPr>
          <a:xfrm>
            <a:off x="4374794"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comment c'était</a:t>
            </a:r>
          </a:p>
        </p:txBody>
      </p:sp>
      <p:sp>
        <p:nvSpPr>
          <p:cNvPr id="13" name="TextBox 12"/>
          <p:cNvSpPr txBox="1"/>
          <p:nvPr/>
        </p:nvSpPr>
        <p:spPr>
          <a:xfrm>
            <a:off x="7816900" y="2395728"/>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ce qui est arrivé</a:t>
            </a:r>
          </a:p>
        </p:txBody>
      </p:sp>
      <p:sp>
        <p:nvSpPr>
          <p:cNvPr id="14" name="Rectangle 13"/>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Ça dure ?</a:t>
            </a:r>
          </a:p>
        </p:txBody>
      </p:sp>
      <p:sp>
        <p:nvSpPr>
          <p:cNvPr id="16" name="TextBox 15"/>
          <p:cNvSpPr txBox="1"/>
          <p:nvPr/>
        </p:nvSpPr>
        <p:spPr>
          <a:xfrm>
            <a:off x="4374794"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oui, longtemps ou souvent</a:t>
            </a:r>
          </a:p>
        </p:txBody>
      </p:sp>
      <p:sp>
        <p:nvSpPr>
          <p:cNvPr id="17" name="TextBox 16"/>
          <p:cNvSpPr txBox="1"/>
          <p:nvPr/>
        </p:nvSpPr>
        <p:spPr>
          <a:xfrm>
            <a:off x="7816900" y="2935224"/>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non, c'est un moment</a:t>
            </a:r>
          </a:p>
        </p:txBody>
      </p:sp>
      <p:sp>
        <p:nvSpPr>
          <p:cNvPr id="18" name="Rectangle 17"/>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On peut compter ?</a:t>
            </a:r>
          </a:p>
        </p:txBody>
      </p:sp>
      <p:sp>
        <p:nvSpPr>
          <p:cNvPr id="20" name="TextBox 19"/>
          <p:cNvSpPr txBox="1"/>
          <p:nvPr/>
        </p:nvSpPr>
        <p:spPr>
          <a:xfrm>
            <a:off x="4374794"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non</a:t>
            </a:r>
          </a:p>
        </p:txBody>
      </p:sp>
      <p:sp>
        <p:nvSpPr>
          <p:cNvPr id="21" name="TextBox 20"/>
          <p:cNvSpPr txBox="1"/>
          <p:nvPr/>
        </p:nvSpPr>
        <p:spPr>
          <a:xfrm>
            <a:off x="7816900" y="3474720"/>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oui, une fois, ce jour-là</a:t>
            </a:r>
          </a:p>
        </p:txBody>
      </p:sp>
      <p:sp>
        <p:nvSpPr>
          <p:cNvPr id="22" name="Rectangle 21"/>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014215"/>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Dans le récit</a:t>
            </a:r>
          </a:p>
        </p:txBody>
      </p:sp>
      <p:sp>
        <p:nvSpPr>
          <p:cNvPr id="24" name="TextBox 23"/>
          <p:cNvSpPr txBox="1"/>
          <p:nvPr/>
        </p:nvSpPr>
        <p:spPr>
          <a:xfrm>
            <a:off x="4374794" y="4014215"/>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décor</a:t>
            </a:r>
          </a:p>
        </p:txBody>
      </p:sp>
      <p:sp>
        <p:nvSpPr>
          <p:cNvPr id="25" name="TextBox 24"/>
          <p:cNvSpPr txBox="1"/>
          <p:nvPr/>
        </p:nvSpPr>
        <p:spPr>
          <a:xfrm>
            <a:off x="7816900" y="4014215"/>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l'histoire avance</a:t>
            </a:r>
          </a:p>
        </p:txBody>
      </p:sp>
      <p:sp>
        <p:nvSpPr>
          <p:cNvPr id="26" name="Rounded Rectangle 25"/>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La ligne du milieu est le test à retenir : peut-on répondre à « combien de fois ?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Des nouvelles à donner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TEST QUI TRANCHE</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Demandez-vous : est-ce que je peux compter combien de fois ?</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Une fois, le douze janvier » — on peut compter, donc passé composé. « Tous les jours pendant trois mois » — on ne peut pas compter, donc imparfait. Le test marche dans presque tous les cas du niveau.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Des nouvelles à donner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RÉCIT DE MARIAMA, DÉCORTIQUÉ</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alterne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72110"/>
          </a:xfrm>
          <a:prstGeom prst="rect">
            <a:avLst/>
          </a:prstGeom>
          <a:noFill/>
        </p:spPr>
        <p:txBody>
          <a:bodyPr wrap="square" lIns="0" rIns="0" tIns="0" bIns="0" anchor="t">
            <a:spAutoFit/>
          </a:bodyPr>
          <a:lstStyle/>
          <a:p>
            <a:pPr algn="l">
              <a:lnSpc>
                <a:spcPct val="118000"/>
              </a:lnSpc>
            </a:pPr>
            <a:r>
              <a:rPr sz="2300" b="1" i="0">
                <a:solidFill>
                  <a:srgbClr val="B45309"/>
                </a:solidFill>
                <a:latin typeface="Verdana"/>
              </a:rPr>
              <a:t>Décor · imparfait</a:t>
            </a:r>
          </a:p>
        </p:txBody>
      </p:sp>
      <p:sp>
        <p:nvSpPr>
          <p:cNvPr id="9" name="TextBox 8"/>
          <p:cNvSpPr txBox="1"/>
          <p:nvPr/>
        </p:nvSpPr>
        <p:spPr>
          <a:xfrm>
            <a:off x="886968" y="2484373"/>
            <a:ext cx="4806543" cy="110464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Je portais une veste et des sandales. » · « Il faisait trente degrés. » · « Mon cousin m'attendait. » · « Je regardais la neige. »</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72110"/>
          </a:xfrm>
          <a:prstGeom prst="rect">
            <a:avLst/>
          </a:prstGeom>
          <a:noFill/>
        </p:spPr>
        <p:txBody>
          <a:bodyPr wrap="square" lIns="0" rIns="0" tIns="0" bIns="0" anchor="t">
            <a:spAutoFit/>
          </a:bodyPr>
          <a:lstStyle/>
          <a:p>
            <a:pPr algn="l">
              <a:lnSpc>
                <a:spcPct val="118000"/>
              </a:lnSpc>
            </a:pPr>
            <a:r>
              <a:rPr sz="2300" b="1" i="0">
                <a:solidFill>
                  <a:srgbClr val="B45309"/>
                </a:solidFill>
                <a:latin typeface="Verdana"/>
              </a:rPr>
              <a:t>Évènement · passé composé</a:t>
            </a:r>
          </a:p>
        </p:txBody>
      </p:sp>
      <p:sp>
        <p:nvSpPr>
          <p:cNvPr id="12" name="TextBox 11"/>
          <p:cNvSpPr txBox="1"/>
          <p:nvPr/>
        </p:nvSpPr>
        <p:spPr>
          <a:xfrm>
            <a:off x="6498183" y="2484373"/>
            <a:ext cx="4806543" cy="110464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Je suis arrivée le douze janvier. » · « J'ai eu mal aux oreilles. » · « Une voisine m'a emmenée glisser. » · « J'ai compris ce jour-là. »</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72110"/>
          </a:xfrm>
          <a:prstGeom prst="rect">
            <a:avLst/>
          </a:prstGeom>
          <a:noFill/>
        </p:spPr>
        <p:txBody>
          <a:bodyPr wrap="square" lIns="0" rIns="0" tIns="0" bIns="0" anchor="t">
            <a:spAutoFit/>
          </a:bodyPr>
          <a:lstStyle/>
          <a:p>
            <a:pPr algn="l">
              <a:lnSpc>
                <a:spcPct val="118000"/>
              </a:lnSpc>
            </a:pPr>
            <a:r>
              <a:rPr sz="2300" b="1" i="0">
                <a:solidFill>
                  <a:srgbClr val="B45309"/>
                </a:solidFill>
                <a:latin typeface="Verdana"/>
              </a:rPr>
              <a:t>Ce que ça donne à l'oreille</a:t>
            </a:r>
          </a:p>
        </p:txBody>
      </p:sp>
      <p:sp>
        <p:nvSpPr>
          <p:cNvPr id="15" name="TextBox 14"/>
          <p:cNvSpPr txBox="1"/>
          <p:nvPr/>
        </p:nvSpPr>
        <p:spPr>
          <a:xfrm>
            <a:off x="886968" y="4701794"/>
            <a:ext cx="4806543" cy="110464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 récit tout au passé composé se comprend, mais sonne comme une liste. L'imparfait donne au récit de quoi respirer.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Des nouvelles à donner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L'ACCORD AVEC ÊTRE</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Avec l'auxiliaire être, le participe s'accorde avec le sujet.</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femme écrit « je suis arrivée ». Plusieurs personnes écrivent « on est partis ». Avec avoir, rien ne bouge : « j'ai eu », « on a fait », « elle a compris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Des nouvelles à donner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TOUT RACONTER AU PASSÉ COMPOSÉ</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Il a fait froid et je n'ai pas eu de manteau.</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Il faisait froid et je n'avais pas de manteau.</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colonne de gauche n'est pas fausse grammaticalement, mais elle transforme un décor en série d'évènements. Le lecteur attend qu'il se passe quelque chose, et rien ne vient. C'est la maladresse la plus fréquente des récits d'élèves à ce niveau.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Des nouvelles à donner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Imparfait ou passé composé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Mettez le verbe au temps qui convient.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(arriver) ___ le douze janvier.</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l'aéroport, je (porter) ___ une veste.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Chez moi, il (faire) ___ trente degrés.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J'(avoir) ___ mal aux oreilles.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trois premiers mois, je ne (sortir) ___ pas.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jour, une voisine m'(emmener) ___ glisser.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Des nouvelles à donner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Imparfait ou passé composé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(arriver) ___ le douze janvier.   </a:t>
            </a:r>
            <a:r>
              <a:rPr sz="1400" b="1" i="0">
                <a:solidFill>
                  <a:srgbClr val="07734A"/>
                </a:solidFill>
                <a:latin typeface="Verdana"/>
              </a:rPr>
              <a:t>» suis arrivée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l'aéroport, je (porter) ___ une veste.   </a:t>
            </a:r>
            <a:r>
              <a:rPr sz="1400" b="1" i="0">
                <a:solidFill>
                  <a:srgbClr val="07734A"/>
                </a:solidFill>
                <a:latin typeface="Verdana"/>
              </a:rPr>
              <a:t>» portais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Chez moi, il (faire) ___ trente degrés.   </a:t>
            </a:r>
            <a:r>
              <a:rPr sz="1400" b="1" i="0">
                <a:solidFill>
                  <a:srgbClr val="07734A"/>
                </a:solidFill>
                <a:latin typeface="Verdana"/>
              </a:rPr>
              <a:t>» faisait</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J'(avoir) ___ mal aux oreilles.   </a:t>
            </a:r>
            <a:r>
              <a:rPr sz="1400" b="1" i="0">
                <a:solidFill>
                  <a:srgbClr val="07734A"/>
                </a:solidFill>
                <a:latin typeface="Verdana"/>
              </a:rPr>
              <a:t>» ai eu</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trois premiers mois, je ne (sortir) ___ pas.   </a:t>
            </a:r>
            <a:r>
              <a:rPr sz="1400" b="1" i="0">
                <a:solidFill>
                  <a:srgbClr val="07734A"/>
                </a:solidFill>
                <a:latin typeface="Verdana"/>
              </a:rPr>
              <a:t>» sortais</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jour, une voisine m'(emmener) ___ glisser.   </a:t>
            </a:r>
            <a:r>
              <a:rPr sz="1400" b="1" i="0">
                <a:solidFill>
                  <a:srgbClr val="07734A"/>
                </a:solidFill>
                <a:latin typeface="Verdana"/>
              </a:rPr>
              <a:t>» a emmenée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Des nouvelles à donner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Décor ou évènement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Dites si la phrase plante le décor ou raconte un évènement.</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Mon cousin m'attendait avec un manteau.</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J'ai compris ce jour-là.</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pleuvait et on n'avait pas de camion.</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On a fait onze voyages en voiture.</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comptais les jours devant la fenêtre.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Des nouvelles à donner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Décor ou évènement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Mon cousin m'attendait avec un manteau.   </a:t>
            </a:r>
            <a:r>
              <a:rPr sz="1900" b="1" i="0">
                <a:solidFill>
                  <a:srgbClr val="07734A"/>
                </a:solidFill>
                <a:latin typeface="Verdana"/>
              </a:rPr>
              <a:t>» décor</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J'ai compris ce jour-là.   </a:t>
            </a:r>
            <a:r>
              <a:rPr sz="1900" b="1" i="0">
                <a:solidFill>
                  <a:srgbClr val="07734A"/>
                </a:solidFill>
                <a:latin typeface="Verdana"/>
              </a:rPr>
              <a:t>» évènement</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pleuvait et on n'avait pas de camion.   </a:t>
            </a:r>
            <a:r>
              <a:rPr sz="1900" b="1" i="0">
                <a:solidFill>
                  <a:srgbClr val="07734A"/>
                </a:solidFill>
                <a:latin typeface="Verdana"/>
              </a:rPr>
              <a:t>» décor</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On a fait onze voyages en voiture.   </a:t>
            </a:r>
            <a:r>
              <a:rPr sz="1900" b="1" i="0">
                <a:solidFill>
                  <a:srgbClr val="07734A"/>
                </a:solidFill>
                <a:latin typeface="Verdana"/>
              </a:rPr>
              <a:t>» évènement</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comptais les jours devant la fenêtre.   </a:t>
            </a:r>
            <a:r>
              <a:rPr sz="1900" b="1" i="0">
                <a:solidFill>
                  <a:srgbClr val="07734A"/>
                </a:solidFill>
                <a:latin typeface="Verdana"/>
              </a:rPr>
              <a:t>» décor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Des nouvelles à donner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Racontez en cinq phrases un souvenir : deux phrases de décor, trois d'évènement.</a:t>
            </a:r>
          </a:p>
        </p:txBody>
      </p:sp>
      <p:sp>
        <p:nvSpPr>
          <p:cNvPr id="8" name="Rounded Rectangle 7"/>
          <p:cNvSpPr/>
          <p:nvPr/>
        </p:nvSpPr>
        <p:spPr>
          <a:xfrm>
            <a:off x="566928" y="3931920"/>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Soulignez les verbes à l'imparfait d'un trait, ceux au passé composé de deux.</a:t>
            </a:r>
          </a:p>
        </p:txBody>
      </p:sp>
      <p:sp>
        <p:nvSpPr>
          <p:cNvPr id="10" name="Rounded Rectangle 9"/>
          <p:cNvSpPr/>
          <p:nvPr/>
        </p:nvSpPr>
        <p:spPr>
          <a:xfrm>
            <a:off x="566928" y="5036311"/>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5191759"/>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Vérifiez l'accord du participe si vous employez être.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Des nouvelles à donner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