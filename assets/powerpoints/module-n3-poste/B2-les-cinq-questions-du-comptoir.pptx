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Séance de grammaire et d'écriture. Elle donne les outils que la séance B1 a fait entendre. Écrire les cinq mots au tableau avant de commencer et les laisser toute la séance.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Lire les objectifs à voix haute. Y revenir au billet de sortie.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 à photographier. Faire poser les deux questions à la suite par un élève différent, à voix haute.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 à photographier. Faire chercher au groupe une autre question du bureau de poste pour chacun des trois mots.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 à photographier. Faire répéter les deux questions à la suite, comme une seule phrase : c'est ainsi qu'elles se disent au comptoir.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Les trois premières sont équivalentes. La quatrième est celle qui manque le plus souvent aux élèves : sans elle, on choisit sans comparer.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C'est l'exercice `t1quest` du module interactif. Le faire d'abord sur la fiche, puis à l'écran. La dernière ligne reprend la formule de la séance A4 : la faire remarquer.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Ne pas condamner la forme orale : la nommer, dire qu'elle existe, et expliquer pourquoi on apprend l'autre d'abord.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C'est l'exercice `t1qui` du module, où les phrases s'écoutent. Le faire ici à la voix : lire chaque phrase et laisser le groupe répondre à main levée, puis justifier.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Deux minutes. Corriger seulement l'ordre des mots : c'est le seul point de la séance qui doit être acquis avant B3.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SÉANCE B2  ·  MODULE 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Les cinq questions du comptoir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394968"/>
          </a:xfrm>
          <a:prstGeom prst="roundRect">
            <a:avLst>
              <a:gd name="adj" fmla="val 1048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782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Combien, combien de temps, est-ce que, où, qu'est-ce que. Cinq mots de question, et toute une démarche tient debout.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75 minutes  ·  Le colis de Yassine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Le colis de Yassine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choisir le bon mot de question selon la réponse attendue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écrire cinq questions correctes avec « est-ce que »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poser ces questions à voix haute sans hésiter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reconnaître qui parle : la préposée ou le client.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Le colis de Yassine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ANALYSE · 1 DE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Les deux questions qui décident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2322576"/>
          </a:xfrm>
          <a:prstGeom prst="roundRect">
            <a:avLst>
              <a:gd name="adj" fmla="val 629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2265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LE MOT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74794" y="1975104"/>
            <a:ext cx="322265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CE QU'ON DEMANDE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16900" y="1975104"/>
            <a:ext cx="322265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LA QUESTION COMPLÈTE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2688" y="2395728"/>
            <a:ext cx="322265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Combien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74794" y="2395728"/>
            <a:ext cx="322265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un prix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16900" y="2395728"/>
            <a:ext cx="322265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Combien est-ce que ça coûte ?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32688" y="310896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32688" y="3236976"/>
            <a:ext cx="322265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Combien de temps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74794" y="3236976"/>
            <a:ext cx="322265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un délai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16900" y="3236976"/>
            <a:ext cx="322265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Combien de temps est-ce que ça prend ?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" y="4370831"/>
            <a:ext cx="11057839" cy="843534"/>
          </a:xfrm>
          <a:prstGeom prst="roundRect">
            <a:avLst>
              <a:gd name="adj" fmla="val 17344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69264" y="4626864"/>
            <a:ext cx="10234879" cy="38633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Elles vont toujours ensemble : un prix seul ne dit rien.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Le colis de Yassine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ANALYSE · 2 DE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Les trois autres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3163824"/>
          </a:xfrm>
          <a:prstGeom prst="roundRect">
            <a:avLst>
              <a:gd name="adj" fmla="val 462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2265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LE MOT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74794" y="1975104"/>
            <a:ext cx="322265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CE QU'ON DEMANDE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16900" y="1975104"/>
            <a:ext cx="322265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LA QUESTION COMPLÈTE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2688" y="2395728"/>
            <a:ext cx="322265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Est-ce que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74794" y="2395728"/>
            <a:ext cx="322265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un oui ou un non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16900" y="2395728"/>
            <a:ext cx="322265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Est-ce que je peux payer par carte ?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32688" y="310896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32688" y="3236976"/>
            <a:ext cx="322265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Où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74794" y="3236976"/>
            <a:ext cx="322265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un endroit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16900" y="3236976"/>
            <a:ext cx="322265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Où est-ce que je mets mon adresse ?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39502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4078224"/>
            <a:ext cx="322265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Qu'est-ce que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74794" y="4078224"/>
            <a:ext cx="322265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une chose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816900" y="4078224"/>
            <a:ext cx="322265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Qu'est-ce que je dois écrire ?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66928" y="5212080"/>
            <a:ext cx="11057839" cy="843534"/>
          </a:xfrm>
          <a:prstGeom prst="roundRect">
            <a:avLst>
              <a:gd name="adj" fmla="val 17344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969264" y="5468112"/>
            <a:ext cx="10234879" cy="38633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La réponse attendue décide du mot : un oui, un endroit, une chose.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Le colis de Yassine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LES DEUX QUESTIONS À NE JAMAIS OUBLIER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2494788"/>
          </a:xfrm>
          <a:prstGeom prst="roundRect">
            <a:avLst>
              <a:gd name="adj" fmla="val 5864"/>
            </a:avLst>
          </a:prstGeom>
          <a:solidFill>
            <a:srgbClr val="FBEEDC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6718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Combien est-ce que ça coûte ? Combien de temps est-ce que ça prend 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94404"/>
            <a:ext cx="11057839" cy="1671827"/>
          </a:xfrm>
          <a:prstGeom prst="roundRect">
            <a:avLst>
              <a:gd name="adj" fmla="val 875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4268724"/>
            <a:ext cx="10234879" cy="12146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Elles vont toujours ensemble, parce qu'un prix seul ne veut rien dire : vingt-deux dollars est cher pour un envoi qui prend deux semaines, et bon marché pour un envoi qui prend deux jours.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Le colis de Yassine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TROIS FAÇONS DE POSER LA MÊME QUESTION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prix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86968" y="2084831"/>
            <a:ext cx="4806543" cy="3421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100" b="1" i="0">
                <a:solidFill>
                  <a:srgbClr val="B45309"/>
                </a:solidFill>
                <a:latin typeface="Verdana"/>
              </a:rPr>
              <a:t>Combien est-ce que ça coûte 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454402"/>
            <a:ext cx="4806543" cy="113461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La forme complète, la plus claire. C'est celle qu'on apprend, et personne ne trouve jamais qu'elle fait trop scolaire.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8143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498183" y="2084831"/>
            <a:ext cx="4806543" cy="3421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100" b="1" i="0">
                <a:solidFill>
                  <a:srgbClr val="B45309"/>
                </a:solidFill>
                <a:latin typeface="Verdana"/>
              </a:rPr>
              <a:t>Ça coûte combien 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8183" y="2454402"/>
            <a:ext cx="4806543" cy="113461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La forme courante à l'oral, au Québec comme ailleurs. Le mot de question passe à la fin, et la voix monte.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86968" y="4302252"/>
            <a:ext cx="4806543" cy="3421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100" b="1" i="0">
                <a:solidFill>
                  <a:srgbClr val="B45309"/>
                </a:solidFill>
                <a:latin typeface="Verdana"/>
              </a:rPr>
              <a:t>C'est combien 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" y="4671822"/>
            <a:ext cx="4806543" cy="113461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La plus courte. Elle marche partout, mais elle ne dit pas de quoi on parle : à employer quand on montre l'objet du doigt.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8143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6498183" y="4302252"/>
            <a:ext cx="4806543" cy="3421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100" b="1" i="0">
                <a:solidFill>
                  <a:srgbClr val="B45309"/>
                </a:solidFill>
                <a:latin typeface="Verdana"/>
              </a:rPr>
              <a:t>Et pour l'autre service ?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8183" y="4671822"/>
            <a:ext cx="4806543" cy="113461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La question de relance, quand la préposée a nommé un seul prix. Trois mots, et vous obtenez la comparaison.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Le colis de Yassine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ÉCRITURE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Quel mot de question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Écrivez « combien », « combien de temps », « est-ce que », « où » ou « qu'est-ce que ».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___ est-ce que ça coûte, pour Calgary 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___ est-ce que ça prend pour se rendre 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___ je peux payer par carte de débit ?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___ est-ce que j'écris mon adresse sur la boîte ?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___ il faut apporter pour ramasser un colis ?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___ vous pouvez répéter, s'il vous plaît ?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Le colis de Yassine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Quel mot de question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___ est-ce que ça coûte, pour Calgary ?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combien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___ est-ce que ça prend pour se rendre ?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combien de temps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___ je peux payer par carte de débit ?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est-ce que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___ est-ce que j'écris mon adresse sur la boîte ?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où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___ il faut apporter pour ramasser un colis ?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qu'est-ce que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___ vous pouvez répéter, s'il vous plaît ?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est-ce que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Le colis de Yassine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ORDRE DES MOTS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Ça prend combien de temps ça 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Combien de temps est-ce que ça prend 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618487"/>
          </a:xfrm>
          <a:prstGeom prst="roundRect">
            <a:avLst>
              <a:gd name="adj" fmla="val 903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Le mot de question se met au début, et « est-ce que » vient tout de suite après. À l'oral rapide, on entend souvent la première forme, mais elle n'aide personne à se faire comprendre quand on débute.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Le colis de Yassine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À L'ORAL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Qui dit cette phrase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La préposée derrière le comptoir, ou le client 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5464911" cy="986535"/>
          </a:xfrm>
          <a:prstGeom prst="roundRect">
            <a:avLst>
              <a:gd name="adj" fmla="val 1483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450083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51409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4504791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Il va où, votre colis 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59855" y="2139696"/>
            <a:ext cx="5464911" cy="986535"/>
          </a:xfrm>
          <a:prstGeom prst="roundRect">
            <a:avLst>
              <a:gd name="adj" fmla="val 1483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6434175" y="2450083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6434175" y="251409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37095" y="2295144"/>
            <a:ext cx="4504791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Je voudrais envoyer ce colis, s'il vous plaît.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254248"/>
            <a:ext cx="5464911" cy="986535"/>
          </a:xfrm>
          <a:prstGeom prst="roundRect">
            <a:avLst>
              <a:gd name="adj" fmla="val 1483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56463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2864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409696"/>
            <a:ext cx="4504791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Qu'est-ce qu'il y a dans la boîte ?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59855" y="3254248"/>
            <a:ext cx="5464911" cy="986535"/>
          </a:xfrm>
          <a:prstGeom prst="roundRect">
            <a:avLst>
              <a:gd name="adj" fmla="val 1483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6434175" y="356463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6434175" y="362864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37095" y="3409696"/>
            <a:ext cx="4504791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Combien de temps est-ce que ça prend ?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368800"/>
            <a:ext cx="5464911" cy="986535"/>
          </a:xfrm>
          <a:prstGeom prst="roundRect">
            <a:avLst>
              <a:gd name="adj" fmla="val 1483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6791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474319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4524248"/>
            <a:ext cx="4504791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 repérage est compris dans les deux services.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159855" y="4368800"/>
            <a:ext cx="5464911" cy="986535"/>
          </a:xfrm>
          <a:prstGeom prst="roundRect">
            <a:avLst>
              <a:gd name="adj" fmla="val 1483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6434175" y="46791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6434175" y="474319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937095" y="4524248"/>
            <a:ext cx="4504791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Est-ce que vous pouvez répéter le prix ?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Le colis de Yassine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Qui dit cette phrase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5464911" cy="986535"/>
          </a:xfrm>
          <a:prstGeom prst="roundRect">
            <a:avLst>
              <a:gd name="adj" fmla="val 1483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450083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51409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4504791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Il va où, votre colis ?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la préposée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59855" y="2139696"/>
            <a:ext cx="5464911" cy="986535"/>
          </a:xfrm>
          <a:prstGeom prst="roundRect">
            <a:avLst>
              <a:gd name="adj" fmla="val 1483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6434175" y="2450083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6434175" y="251409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37095" y="2295144"/>
            <a:ext cx="4504791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Je voudrais envoyer ce colis, s'il vous plaît.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le client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254248"/>
            <a:ext cx="5464911" cy="986535"/>
          </a:xfrm>
          <a:prstGeom prst="roundRect">
            <a:avLst>
              <a:gd name="adj" fmla="val 1483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56463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2864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409696"/>
            <a:ext cx="4504791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Qu'est-ce qu'il y a dans la boîte ?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la préposée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59855" y="3254248"/>
            <a:ext cx="5464911" cy="986535"/>
          </a:xfrm>
          <a:prstGeom prst="roundRect">
            <a:avLst>
              <a:gd name="adj" fmla="val 1483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6434175" y="356463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6434175" y="362864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37095" y="3409696"/>
            <a:ext cx="4504791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Combien de temps est-ce que ça prend ?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le client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368800"/>
            <a:ext cx="5464911" cy="986535"/>
          </a:xfrm>
          <a:prstGeom prst="roundRect">
            <a:avLst>
              <a:gd name="adj" fmla="val 1483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6791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474319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4524248"/>
            <a:ext cx="4504791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 repérage est compris dans les deux services.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la préposée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159855" y="4368800"/>
            <a:ext cx="5464911" cy="986535"/>
          </a:xfrm>
          <a:prstGeom prst="roundRect">
            <a:avLst>
              <a:gd name="adj" fmla="val 1483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6434175" y="46791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6434175" y="474319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937095" y="4524248"/>
            <a:ext cx="4504791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Est-ce que vous pouvez répéter le prix ?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le client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Le colis de Yassine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12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Écrivez les deux questions que vous poserez la prochaine fois, avant de choisir.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Une pour le prix, une pour le délai.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Écrivez-les en entier, avec « est-ce que ».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Le colis de Yassine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