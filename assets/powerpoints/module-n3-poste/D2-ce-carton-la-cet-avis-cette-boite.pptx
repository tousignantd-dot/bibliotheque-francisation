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et d'écriture, doublée d'une séance de services. La première heure : les démonstratifs. La seconde : le déménagement et les phrases pour demander un service.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chercher au groupe cinq autres mots du module pour chaque ligne. Les mots du bureau de poste sont presque tous dans la liste.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dire la phrase avec le geste : « ce carton-là » en tendant un papier. Le mot et le geste vont ensemble.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`t3dem` du module. La deuxième ligne est la seule difficile : « cet avis », jamais « ce avis ». La faire répéter à voix haute, l'oreille tranche mieux que la règle.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 ce avis » à voix haute au groupe : personne n'y arrive proprement. C'est la meilleure explication de la règle.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Cette information sauve des colis chaque année. Ajouter la consigne pratique : prévenir soi-même les boutiques en ligne de son nouveau domicile.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`t3suivre` du module. La règle tient en une phrase : ce qui entre dans une boîte aux lettres suit, le reste non.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`t3services` du module. Il réunit les quatre formules de la séance A4 et les services de la séance B3 : c'est la dernière répétition générale avant le jeu de rôle de E1.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Vérifier la formule polie et l'ordre des mots. C'est la dernière trace écrite avant l'évaluation formative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carton-là, cet avis, cette boîte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montre une chose qu'on a dans la main, on a besoin d'un petit mot devant. Quatre formes, et un « -là » qui s'ajoute partout au Québec.</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colis de Yassine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ce », « cet », « cette » et « ces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ajouter « -là » pour montrer un objet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 suit et ce qui ne suit pas lors d'un déménagement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cinq services différents au comptoir.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formes, une seule idée : je montre</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DEVANT QUOI</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EXEMPLES</a:t>
            </a:r>
          </a:p>
        </p:txBody>
      </p:sp>
      <p:sp>
        <p:nvSpPr>
          <p:cNvPr id="11" name="TextBox 10"/>
          <p:cNvSpPr txBox="1"/>
          <p:nvPr/>
        </p:nvSpPr>
        <p:spPr>
          <a:xfrm>
            <a:off x="932688" y="2395728"/>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ce</a:t>
            </a:r>
          </a:p>
        </p:txBody>
      </p:sp>
      <p:sp>
        <p:nvSpPr>
          <p:cNvPr id="12" name="TextBox 11"/>
          <p:cNvSpPr txBox="1"/>
          <p:nvPr/>
        </p:nvSpPr>
        <p:spPr>
          <a:xfrm>
            <a:off x="4374794"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mot masculin</a:t>
            </a:r>
          </a:p>
        </p:txBody>
      </p:sp>
      <p:sp>
        <p:nvSpPr>
          <p:cNvPr id="13" name="TextBox 12"/>
          <p:cNvSpPr txBox="1"/>
          <p:nvPr/>
        </p:nvSpPr>
        <p:spPr>
          <a:xfrm>
            <a:off x="7816900"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ce carton, ce colis, ce reçu</a:t>
            </a:r>
          </a:p>
        </p:txBody>
      </p:sp>
      <p:sp>
        <p:nvSpPr>
          <p:cNvPr id="14" name="Rectangle 13"/>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884932"/>
            <a:ext cx="3222650"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cet</a:t>
            </a:r>
          </a:p>
        </p:txBody>
      </p:sp>
      <p:sp>
        <p:nvSpPr>
          <p:cNvPr id="16" name="TextBox 15"/>
          <p:cNvSpPr txBox="1"/>
          <p:nvPr/>
        </p:nvSpPr>
        <p:spPr>
          <a:xfrm>
            <a:off x="4374794" y="2884932"/>
            <a:ext cx="3222650"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mot masculin qui commence par une voyelle</a:t>
            </a:r>
          </a:p>
        </p:txBody>
      </p:sp>
      <p:sp>
        <p:nvSpPr>
          <p:cNvPr id="17" name="TextBox 16"/>
          <p:cNvSpPr txBox="1"/>
          <p:nvPr/>
        </p:nvSpPr>
        <p:spPr>
          <a:xfrm>
            <a:off x="7816900" y="2884932"/>
            <a:ext cx="3222650"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cet avis, cet envoi</a:t>
            </a:r>
          </a:p>
        </p:txBody>
      </p:sp>
      <p:sp>
        <p:nvSpPr>
          <p:cNvPr id="18" name="Rectangle 17"/>
          <p:cNvSpPr/>
          <p:nvPr/>
        </p:nvSpPr>
        <p:spPr>
          <a:xfrm>
            <a:off x="932688" y="34975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625596"/>
            <a:ext cx="3222650" cy="53949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cette</a:t>
            </a:r>
          </a:p>
        </p:txBody>
      </p:sp>
      <p:sp>
        <p:nvSpPr>
          <p:cNvPr id="20" name="TextBox 19"/>
          <p:cNvSpPr txBox="1"/>
          <p:nvPr/>
        </p:nvSpPr>
        <p:spPr>
          <a:xfrm>
            <a:off x="4374794" y="3625596"/>
            <a:ext cx="3222650"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mot féminin</a:t>
            </a:r>
          </a:p>
        </p:txBody>
      </p:sp>
      <p:sp>
        <p:nvSpPr>
          <p:cNvPr id="21" name="TextBox 20"/>
          <p:cNvSpPr txBox="1"/>
          <p:nvPr/>
        </p:nvSpPr>
        <p:spPr>
          <a:xfrm>
            <a:off x="7816900" y="3625596"/>
            <a:ext cx="3222650"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cette boîte, cette enveloppe, cette lettre</a:t>
            </a:r>
          </a:p>
        </p:txBody>
      </p:sp>
      <p:sp>
        <p:nvSpPr>
          <p:cNvPr id="22" name="Rectangle 21"/>
          <p:cNvSpPr/>
          <p:nvPr/>
        </p:nvSpPr>
        <p:spPr>
          <a:xfrm>
            <a:off x="932688" y="42382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366259"/>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ces</a:t>
            </a:r>
          </a:p>
        </p:txBody>
      </p:sp>
      <p:sp>
        <p:nvSpPr>
          <p:cNvPr id="24" name="TextBox 23"/>
          <p:cNvSpPr txBox="1"/>
          <p:nvPr/>
        </p:nvSpPr>
        <p:spPr>
          <a:xfrm>
            <a:off x="4374794" y="436625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pluriel, masculin ou féminin</a:t>
            </a:r>
          </a:p>
        </p:txBody>
      </p:sp>
      <p:sp>
        <p:nvSpPr>
          <p:cNvPr id="25" name="TextBox 24"/>
          <p:cNvSpPr txBox="1"/>
          <p:nvPr/>
        </p:nvSpPr>
        <p:spPr>
          <a:xfrm>
            <a:off x="7816900" y="436625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ces timbres, ces enveloppes</a:t>
            </a:r>
          </a:p>
        </p:txBody>
      </p:sp>
      <p:sp>
        <p:nvSpPr>
          <p:cNvPr id="26" name="Rounded Rectangle 25"/>
          <p:cNvSpPr/>
          <p:nvPr/>
        </p:nvSpPr>
        <p:spPr>
          <a:xfrm>
            <a:off x="566928" y="514807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40410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Cet » existe parce que « ce avis » est trop dur à prononcer : deux voyelles collées.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 -LÀ » DU QUÉBEC</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 carton-là  ·  cette boîte-là</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comptoir, on ajoute très souvent « -là » pour bien montrer l'objet qu'on tient. Avec un trait d'union. Ce n'est pas obligatoire, mais c'est ce que vous entendrez, et ça rend la phrase plus claire quand on montre du doigt.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Complétez avec « ce », « cet », « cette » ou « ces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Regardez le mot qui suit.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trouvé ___ carton-là dans ma boîte aux lettres.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avis dit que mon colis est arrivé.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boîte-là est trop grosse pour la boîte rouge.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___ timbres sont encore bons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voudrais envoyer ___ colis-là par Xpresspost.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coûtent ___ enveloppes-là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Complétez avec « ce », « cet », « cette » ou « ces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trouvé ___ carton-là dans ma boîte aux lettres.   </a:t>
            </a:r>
            <a:r>
              <a:rPr sz="1400" b="1" i="0">
                <a:solidFill>
                  <a:srgbClr val="07734A"/>
                </a:solidFill>
                <a:latin typeface="Verdana"/>
              </a:rPr>
              <a:t>» ce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avis dit que mon colis est arrivé.   </a:t>
            </a:r>
            <a:r>
              <a:rPr sz="1400" b="1" i="0">
                <a:solidFill>
                  <a:srgbClr val="07734A"/>
                </a:solidFill>
                <a:latin typeface="Verdana"/>
              </a:rPr>
              <a:t>» Cet — avis commence par une voyelle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boîte-là est trop grosse pour la boîte rouge.   </a:t>
            </a:r>
            <a:r>
              <a:rPr sz="1400" b="1" i="0">
                <a:solidFill>
                  <a:srgbClr val="07734A"/>
                </a:solidFill>
                <a:latin typeface="Verdana"/>
              </a:rPr>
              <a:t>» Cette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___ timbres sont encore bons ?   </a:t>
            </a:r>
            <a:r>
              <a:rPr sz="1400" b="1" i="0">
                <a:solidFill>
                  <a:srgbClr val="07734A"/>
                </a:solidFill>
                <a:latin typeface="Verdana"/>
              </a:rPr>
              <a:t>» ces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voudrais envoyer ___ colis-là par Xpresspost.   </a:t>
            </a:r>
            <a:r>
              <a:rPr sz="1400" b="1" i="0">
                <a:solidFill>
                  <a:srgbClr val="07734A"/>
                </a:solidFill>
                <a:latin typeface="Verdana"/>
              </a:rPr>
              <a:t>» ce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coûtent ___ enveloppes-là ?   </a:t>
            </a:r>
            <a:r>
              <a:rPr sz="1400" b="1" i="0">
                <a:solidFill>
                  <a:srgbClr val="07734A"/>
                </a:solidFill>
                <a:latin typeface="Verdana"/>
              </a:rPr>
              <a:t>» 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DEVANT UNE VOYELLE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 avis, ce envoi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cet avis, cet envoi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voyelles collées ne se prononcent pas : le français ajoute un t pour les séparer. C'est le même réflexe que « mon amie » plutôt que « ma amie ». Il n'y a rien à comprendre, seulement à entendre.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QUAND ON DÉMÉNAGE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lettres suivent, les colis ne suivent pas</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service de réacheminement fait suivre votre courrier à la nouvelle adresse, jusqu'à douze mois. Il porte sur les lettres, le courrier recommandé et les magazines. Les colis et les grosses enveloppes prépayées, eux, restent à l'ancienne adresse.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que ça suit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Vous déménagez. Qu'est-ce qui arrive à la nouvelle adresse ?</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lettre de votre banque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colis commandé sur Internet</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envoi en courrier recommandé</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magazine auquel vous êtes abonné</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grosse enveloppe prépayée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carte d'anniversaire de votre famille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que ça suit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lettre de votre banque   </a:t>
            </a:r>
            <a:r>
              <a:rPr sz="1900" b="1" i="0">
                <a:solidFill>
                  <a:srgbClr val="07734A"/>
                </a:solidFill>
                <a:latin typeface="Verdana"/>
              </a:rPr>
              <a:t>» ça suit</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colis commandé sur Internet   </a:t>
            </a:r>
            <a:r>
              <a:rPr sz="1900" b="1" i="0">
                <a:solidFill>
                  <a:srgbClr val="07734A"/>
                </a:solidFill>
                <a:latin typeface="Verdana"/>
              </a:rPr>
              <a:t>» ça ne suit pas</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envoi en courrier recommandé   </a:t>
            </a:r>
            <a:r>
              <a:rPr sz="1900" b="1" i="0">
                <a:solidFill>
                  <a:srgbClr val="07734A"/>
                </a:solidFill>
                <a:latin typeface="Verdana"/>
              </a:rPr>
              <a:t>» ça suit</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magazine auquel vous êtes abonné   </a:t>
            </a:r>
            <a:r>
              <a:rPr sz="1900" b="1" i="0">
                <a:solidFill>
                  <a:srgbClr val="07734A"/>
                </a:solidFill>
                <a:latin typeface="Verdana"/>
              </a:rPr>
              <a:t>» ça suit</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grosse enveloppe prépayée   </a:t>
            </a:r>
            <a:r>
              <a:rPr sz="1900" b="1" i="0">
                <a:solidFill>
                  <a:srgbClr val="07734A"/>
                </a:solidFill>
                <a:latin typeface="Verdana"/>
              </a:rPr>
              <a:t>» ça ne suit pas</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carte d'anniversaire de votre famille   </a:t>
            </a:r>
            <a:r>
              <a:rPr sz="1900" b="1" i="0">
                <a:solidFill>
                  <a:srgbClr val="07734A"/>
                </a:solidFill>
                <a:latin typeface="Verdana"/>
              </a:rPr>
              <a:t>» ça suit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À L'ORAL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service,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Quelle phrase dit-on au comptoir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trouvé un carton dans votre boîte aux lettres.</a:t>
            </a:r>
          </a:p>
        </p:txBody>
      </p:sp>
      <p:sp>
        <p:nvSpPr>
          <p:cNvPr id="12" name="Rounded Rectangle 11"/>
          <p:cNvSpPr/>
          <p:nvPr/>
        </p:nvSpPr>
        <p:spPr>
          <a:xfrm>
            <a:off x="566928" y="2827528"/>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envoyez un papier important et vous voulez une preuve.</a:t>
            </a:r>
          </a:p>
        </p:txBody>
      </p:sp>
      <p:sp>
        <p:nvSpPr>
          <p:cNvPr id="16" name="Rounded Rectangle 15"/>
          <p:cNvSpPr/>
          <p:nvPr/>
        </p:nvSpPr>
        <p:spPr>
          <a:xfrm>
            <a:off x="566928" y="376427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devez envoyer deux cents dollars à quelqu'un.</a:t>
            </a:r>
          </a:p>
        </p:txBody>
      </p:sp>
      <p:sp>
        <p:nvSpPr>
          <p:cNvPr id="20" name="Rounded Rectangle 19"/>
          <p:cNvSpPr/>
          <p:nvPr/>
        </p:nvSpPr>
        <p:spPr>
          <a:xfrm>
            <a:off x="566928" y="445211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déménagez le mois prochain.</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ne comprenez pas ce qu'on vient de vous dire.</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garder la preuve de ce que vous avez payé.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service,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trouvé un carton dans votre boîte aux lettres.   </a:t>
            </a:r>
            <a:r>
              <a:rPr sz="1400" b="1" i="0">
                <a:solidFill>
                  <a:srgbClr val="07734A"/>
                </a:solidFill>
                <a:latin typeface="Verdana"/>
              </a:rPr>
              <a:t>» Je viens chercher un colis. Voici mon avis.</a:t>
            </a:r>
          </a:p>
        </p:txBody>
      </p:sp>
      <p:sp>
        <p:nvSpPr>
          <p:cNvPr id="12" name="Rounded Rectangle 11"/>
          <p:cNvSpPr/>
          <p:nvPr/>
        </p:nvSpPr>
        <p:spPr>
          <a:xfrm>
            <a:off x="566928" y="2827528"/>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envoyez un papier important et vous voulez une preuve.   </a:t>
            </a:r>
            <a:r>
              <a:rPr sz="1400" b="1" i="0">
                <a:solidFill>
                  <a:srgbClr val="07734A"/>
                </a:solidFill>
                <a:latin typeface="Verdana"/>
              </a:rPr>
              <a:t>» Je voudrais l'envoyer par courrier recommandé.</a:t>
            </a:r>
          </a:p>
        </p:txBody>
      </p:sp>
      <p:sp>
        <p:nvSpPr>
          <p:cNvPr id="16" name="Rounded Rectangle 15"/>
          <p:cNvSpPr/>
          <p:nvPr/>
        </p:nvSpPr>
        <p:spPr>
          <a:xfrm>
            <a:off x="566928" y="376427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devez envoyer deux cents dollars à quelqu'un.   </a:t>
            </a:r>
            <a:r>
              <a:rPr sz="1400" b="1" i="0">
                <a:solidFill>
                  <a:srgbClr val="07734A"/>
                </a:solidFill>
                <a:latin typeface="Verdana"/>
              </a:rPr>
              <a:t>» J'aimerais acheter un mandat-poste, s'il vous plaît.</a:t>
            </a:r>
          </a:p>
        </p:txBody>
      </p:sp>
      <p:sp>
        <p:nvSpPr>
          <p:cNvPr id="20" name="Rounded Rectangle 19"/>
          <p:cNvSpPr/>
          <p:nvPr/>
        </p:nvSpPr>
        <p:spPr>
          <a:xfrm>
            <a:off x="566928" y="445211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déménagez le mois prochain.   </a:t>
            </a:r>
            <a:r>
              <a:rPr sz="1400" b="1" i="0">
                <a:solidFill>
                  <a:srgbClr val="07734A"/>
                </a:solidFill>
                <a:latin typeface="Verdana"/>
              </a:rPr>
              <a:t>» Est-ce que je pourrais faire suivre mon courrier ?</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ne comprenez pas ce qu'on vient de vous dire.   </a:t>
            </a:r>
            <a:r>
              <a:rPr sz="1400" b="1" i="0">
                <a:solidFill>
                  <a:srgbClr val="07734A"/>
                </a:solidFill>
                <a:latin typeface="Verdana"/>
              </a:rPr>
              <a:t>» Est-ce que vous pouvez répéter, s'il vous plaît ?</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garder la preuve de ce que vous avez payé.   </a:t>
            </a:r>
            <a:r>
              <a:rPr sz="1400" b="1" i="0">
                <a:solidFill>
                  <a:srgbClr val="07734A"/>
                </a:solidFill>
                <a:latin typeface="Verdana"/>
              </a:rPr>
              <a:t>» Donnez-moi le reçu, s'il vous plaît.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phrase que vous direz pour faire suivre votre courrier.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 est-ce que je pourrais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la date de votre déménagement.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Le colis de Yassine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