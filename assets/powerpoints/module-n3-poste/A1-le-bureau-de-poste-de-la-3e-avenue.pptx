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Demander au groupe qui est déjà entré dans un bureau de poste au Québec, et pour quoi faire. Les réponses donnent des exemples réels pour toute la semaine.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venir les mots dans n'importe quelle langue, puis les traduire ensemble au tableau. Beaucoup d'élèves connaissent une poste très différente dans leur pays : c'est la comparaison qui fait entrer le vocabulaire.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Présenter les deux personnages : Yassine Berrada, arrivé du Maroc il y a quatorze mois, et Denise Pelletier, sa voisine retraitée. Faire répéter la question de la première réplique : elle sert dans n'importe quel quartier.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découverte centrale de la séance : un seul comptoir pour tout. Ne pas expliquer « recommandé » ni « mandat-poste » maintenant : la séance A3 leur est consacrée.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est la plus importante du module : faire répéter est permis, et personne ne s'en formalise. Le dire explicitement au groupe.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nommer chaque ligne par un élève différent. C'est le plan du module entier.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Beaucoup d'élèves ont déjà mis une enveloppe non affranchie dans une boîte rouge. Dédramatiser, puis expliquer ce qui arrive ensuite.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chaque mot avec son article. Les quatre reviennent dans toutes les séances du module.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du dialogue. Cet exercice est le `pr1` du module interactif : les élèves le retrouveront à l'écran en A3.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Il donne des exemples personnels pour le défi 1 et il révèle qui a déjà une démarche réelle à faire.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bureau de poste de la 3e Avenue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bureau de poste n'est pas seulement un endroit où on achète des timbres. On y envoie une boîte, on y ramasse un colis, on y achète un papier qui vaut de l'argent.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colis de Yassine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ce qu'on trouve dans un bureau de poste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quatre choses qu'on peut y faire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une conversation entre voisins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qu'on peut demander à la préposée de répéter.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qu'on peut faire à cet endroit-là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mptoir-poste.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qu'il y a derrière le comptoir ?</a:t>
            </a:r>
          </a:p>
        </p:txBody>
      </p:sp>
      <p:sp>
        <p:nvSpPr>
          <p:cNvPr id="12" name="Rounded Rectangle 11"/>
          <p:cNvSpPr/>
          <p:nvPr/>
        </p:nvSpPr>
        <p:spPr>
          <a:xfrm>
            <a:off x="566928" y="264210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quoi servent les petites cases dans le mur ?</a:t>
            </a:r>
          </a:p>
        </p:txBody>
      </p:sp>
      <p:sp>
        <p:nvSpPr>
          <p:cNvPr id="15" name="Rounded Rectangle 14"/>
          <p:cNvSpPr/>
          <p:nvPr/>
        </p:nvSpPr>
        <p:spPr>
          <a:xfrm>
            <a:off x="566928" y="376580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qu'on peut y faire autre chose qu'envoyer une lettre ?</a:t>
            </a:r>
          </a:p>
        </p:txBody>
      </p:sp>
      <p:sp>
        <p:nvSpPr>
          <p:cNvPr id="18" name="Rounded Rectangle 17"/>
          <p:cNvSpPr/>
          <p:nvPr/>
        </p:nvSpPr>
        <p:spPr>
          <a:xfrm>
            <a:off x="566928" y="488950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99922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07238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vous diriez en arrivant devant la personne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Il y a un bureau de poste près d'ici ?</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4179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YASSINE</a:t>
            </a:r>
          </a:p>
        </p:txBody>
      </p:sp>
      <p:sp>
        <p:nvSpPr>
          <p:cNvPr id="10" name="TextBox 9"/>
          <p:cNvSpPr txBox="1"/>
          <p:nvPr/>
        </p:nvSpPr>
        <p:spPr>
          <a:xfrm>
            <a:off x="2374487" y="2322576"/>
            <a:ext cx="870163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Denise, il y a un bureau de poste près d'ici ?</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44179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DENISE</a:t>
            </a:r>
          </a:p>
        </p:txBody>
      </p:sp>
      <p:sp>
        <p:nvSpPr>
          <p:cNvPr id="13" name="TextBox 12"/>
          <p:cNvSpPr txBox="1"/>
          <p:nvPr/>
        </p:nvSpPr>
        <p:spPr>
          <a:xfrm>
            <a:off x="2374487" y="3071876"/>
            <a:ext cx="870163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Oui, sur la 3e Avenue, à dix minutes à pied. Pourquoi ?</a:t>
            </a:r>
          </a:p>
        </p:txBody>
      </p:sp>
      <p:sp>
        <p:nvSpPr>
          <p:cNvPr id="14" name="Rounded Rectangle 13"/>
          <p:cNvSpPr/>
          <p:nvPr/>
        </p:nvSpPr>
        <p:spPr>
          <a:xfrm>
            <a:off x="566928" y="36565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44179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YASSINE</a:t>
            </a:r>
          </a:p>
        </p:txBody>
      </p:sp>
      <p:sp>
        <p:nvSpPr>
          <p:cNvPr id="16" name="TextBox 15"/>
          <p:cNvSpPr txBox="1"/>
          <p:nvPr/>
        </p:nvSpPr>
        <p:spPr>
          <a:xfrm>
            <a:off x="2374487" y="3821175"/>
            <a:ext cx="870163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veux envoyer une boîte à mon frère, à Calgary.</a:t>
            </a:r>
          </a:p>
        </p:txBody>
      </p:sp>
      <p:sp>
        <p:nvSpPr>
          <p:cNvPr id="17" name="Rounded Rectangle 16"/>
          <p:cNvSpPr/>
          <p:nvPr/>
        </p:nvSpPr>
        <p:spPr>
          <a:xfrm>
            <a:off x="566928" y="44058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44179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DENISE</a:t>
            </a:r>
          </a:p>
        </p:txBody>
      </p:sp>
      <p:sp>
        <p:nvSpPr>
          <p:cNvPr id="19" name="TextBox 18"/>
          <p:cNvSpPr txBox="1"/>
          <p:nvPr/>
        </p:nvSpPr>
        <p:spPr>
          <a:xfrm>
            <a:off x="2374487" y="4570475"/>
            <a:ext cx="870163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Alors c'est là. On y envoie des lettres et des colis.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Beaucoup de choses</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4179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YASSINE</a:t>
            </a:r>
          </a:p>
        </p:txBody>
      </p:sp>
      <p:sp>
        <p:nvSpPr>
          <p:cNvPr id="9" name="TextBox 8"/>
          <p:cNvSpPr txBox="1"/>
          <p:nvPr/>
        </p:nvSpPr>
        <p:spPr>
          <a:xfrm>
            <a:off x="2374487" y="1901952"/>
            <a:ext cx="870163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les timbres, on les achète où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44179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DENISE</a:t>
            </a:r>
          </a:p>
        </p:txBody>
      </p:sp>
      <p:sp>
        <p:nvSpPr>
          <p:cNvPr id="12" name="TextBox 11"/>
          <p:cNvSpPr txBox="1"/>
          <p:nvPr/>
        </p:nvSpPr>
        <p:spPr>
          <a:xfrm>
            <a:off x="2374487" y="2651252"/>
            <a:ext cx="870163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Au même comptoir. En carnet, ça coûte moins cher qu'à l'unité.</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44179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YASSINE</a:t>
            </a:r>
          </a:p>
        </p:txBody>
      </p:sp>
      <p:sp>
        <p:nvSpPr>
          <p:cNvPr id="15" name="TextBox 14"/>
          <p:cNvSpPr txBox="1"/>
          <p:nvPr/>
        </p:nvSpPr>
        <p:spPr>
          <a:xfrm>
            <a:off x="2374487" y="3400551"/>
            <a:ext cx="870163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qu'on peut faire autre chose là-bas ?</a:t>
            </a:r>
          </a:p>
        </p:txBody>
      </p:sp>
      <p:sp>
        <p:nvSpPr>
          <p:cNvPr id="16" name="Rounded Rectangle 15"/>
          <p:cNvSpPr/>
          <p:nvPr/>
        </p:nvSpPr>
        <p:spPr>
          <a:xfrm>
            <a:off x="566928" y="39852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144179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DENISE</a:t>
            </a:r>
          </a:p>
        </p:txBody>
      </p:sp>
      <p:sp>
        <p:nvSpPr>
          <p:cNvPr id="18" name="TextBox 17"/>
          <p:cNvSpPr txBox="1"/>
          <p:nvPr/>
        </p:nvSpPr>
        <p:spPr>
          <a:xfrm>
            <a:off x="2374487" y="4149851"/>
            <a:ext cx="870163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Beaucoup de choses. Un envoi recommandé, un mandat-poste, un changement d'adresse.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Demande-lui de répéter</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4179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YASSINE</a:t>
            </a:r>
          </a:p>
        </p:txBody>
      </p:sp>
      <p:sp>
        <p:nvSpPr>
          <p:cNvPr id="9" name="TextBox 8"/>
          <p:cNvSpPr txBox="1"/>
          <p:nvPr/>
        </p:nvSpPr>
        <p:spPr>
          <a:xfrm>
            <a:off x="2374487" y="1901952"/>
            <a:ext cx="870163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la boîte rouge, dans la rue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44179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DENISE</a:t>
            </a:r>
          </a:p>
        </p:txBody>
      </p:sp>
      <p:sp>
        <p:nvSpPr>
          <p:cNvPr id="12" name="TextBox 11"/>
          <p:cNvSpPr txBox="1"/>
          <p:nvPr/>
        </p:nvSpPr>
        <p:spPr>
          <a:xfrm>
            <a:off x="2374487" y="2651252"/>
            <a:ext cx="870163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pour les lettres déjà timbrées. Jamais pour un colis.</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44179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YASSINE</a:t>
            </a:r>
          </a:p>
        </p:txBody>
      </p:sp>
      <p:sp>
        <p:nvSpPr>
          <p:cNvPr id="15" name="TextBox 14"/>
          <p:cNvSpPr txBox="1"/>
          <p:nvPr/>
        </p:nvSpPr>
        <p:spPr>
          <a:xfrm>
            <a:off x="2374487" y="3400551"/>
            <a:ext cx="870163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la préposée parle vite ?</a:t>
            </a:r>
          </a:p>
        </p:txBody>
      </p:sp>
      <p:sp>
        <p:nvSpPr>
          <p:cNvPr id="16" name="Rounded Rectangle 15"/>
          <p:cNvSpPr/>
          <p:nvPr/>
        </p:nvSpPr>
        <p:spPr>
          <a:xfrm>
            <a:off x="566928" y="39852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144179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DENISE</a:t>
            </a:r>
          </a:p>
        </p:txBody>
      </p:sp>
      <p:sp>
        <p:nvSpPr>
          <p:cNvPr id="18" name="TextBox 17"/>
          <p:cNvSpPr txBox="1"/>
          <p:nvPr/>
        </p:nvSpPr>
        <p:spPr>
          <a:xfrm>
            <a:off x="2374487" y="4149851"/>
            <a:ext cx="870163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peu. Demande-lui de répéter, elle va le faire. C'est normal.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choses qu'on fait au bureau de poste</a:t>
            </a:r>
          </a:p>
        </p:txBody>
      </p:sp>
      <p:sp>
        <p:nvSpPr>
          <p:cNvPr id="7" name="Rounded Rectangle 6"/>
          <p:cNvSpPr/>
          <p:nvPr/>
        </p:nvSpPr>
        <p:spPr>
          <a:xfrm>
            <a:off x="566928" y="1810512"/>
            <a:ext cx="11057839" cy="3200400"/>
          </a:xfrm>
          <a:prstGeom prst="roundRect">
            <a:avLst>
              <a:gd name="adj" fmla="val 45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VIENT FAIRE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VEUT DIRE</a:t>
            </a:r>
          </a:p>
        </p:txBody>
      </p:sp>
      <p:sp>
        <p:nvSpPr>
          <p:cNvPr id="10" name="TextBox 9"/>
          <p:cNvSpPr txBox="1"/>
          <p:nvPr/>
        </p:nvSpPr>
        <p:spPr>
          <a:xfrm>
            <a:off x="932688" y="2395728"/>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Envoyer une lettre ou un colis</a:t>
            </a:r>
          </a:p>
        </p:txBody>
      </p:sp>
      <p:sp>
        <p:nvSpPr>
          <p:cNvPr id="11" name="TextBox 10"/>
          <p:cNvSpPr txBox="1"/>
          <p:nvPr/>
        </p:nvSpPr>
        <p:spPr>
          <a:xfrm>
            <a:off x="4443636" y="2395728"/>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on paie le voyage au comptoir</a:t>
            </a:r>
          </a:p>
        </p:txBody>
      </p:sp>
      <p:sp>
        <p:nvSpPr>
          <p:cNvPr id="12" name="Rectangle 11"/>
          <p:cNvSpPr/>
          <p:nvPr/>
        </p:nvSpPr>
        <p:spPr>
          <a:xfrm>
            <a:off x="932688" y="30419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69920"/>
            <a:ext cx="3291492"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Acheter des timbres</a:t>
            </a:r>
          </a:p>
        </p:txBody>
      </p:sp>
      <p:sp>
        <p:nvSpPr>
          <p:cNvPr id="14" name="TextBox 13"/>
          <p:cNvSpPr txBox="1"/>
          <p:nvPr/>
        </p:nvSpPr>
        <p:spPr>
          <a:xfrm>
            <a:off x="4443636" y="316992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en carnet, c'est moins cher qu'à l'unité</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Ramasser un colis qui attend</a:t>
            </a:r>
          </a:p>
        </p:txBody>
      </p:sp>
      <p:sp>
        <p:nvSpPr>
          <p:cNvPr id="17" name="TextBox 16"/>
          <p:cNvSpPr txBox="1"/>
          <p:nvPr/>
        </p:nvSpPr>
        <p:spPr>
          <a:xfrm>
            <a:off x="4443636" y="3675887"/>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on apporte le carton et une pièce d'identité</a:t>
            </a:r>
          </a:p>
        </p:txBody>
      </p:sp>
      <p:sp>
        <p:nvSpPr>
          <p:cNvPr id="18" name="Rectangle 17"/>
          <p:cNvSpPr/>
          <p:nvPr/>
        </p:nvSpPr>
        <p:spPr>
          <a:xfrm>
            <a:off x="932688" y="43220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450080"/>
            <a:ext cx="3291492"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Demander un service</a:t>
            </a:r>
          </a:p>
        </p:txBody>
      </p:sp>
      <p:sp>
        <p:nvSpPr>
          <p:cNvPr id="20" name="TextBox 19"/>
          <p:cNvSpPr txBox="1"/>
          <p:nvPr/>
        </p:nvSpPr>
        <p:spPr>
          <a:xfrm>
            <a:off x="4443636" y="445008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mandat-poste, recommandé, changement d'adresse</a:t>
            </a:r>
          </a:p>
        </p:txBody>
      </p:sp>
      <p:sp>
        <p:nvSpPr>
          <p:cNvPr id="21" name="Rounded Rectangle 20"/>
          <p:cNvSpPr/>
          <p:nvPr/>
        </p:nvSpPr>
        <p:spPr>
          <a:xfrm>
            <a:off x="566928" y="524865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50468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Un seul comptoir sert à tout : on n'a pas à chercher la bonne file.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L'ENDROIT ET SA RÈGLE LA PLUS SIMPLE</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 boîte rouge, c'est pour les lettres déjà timbrées</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Jamais pour un colis, jamais pour une lettre sans timbre. Une lettre sans timbre n'est pas affranchie : elle revient à la personne qui l'a envoyée, parfois trois semaines plus tard.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LES MOTS DE L'ENDROIT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mots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 bureau de poste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Le magasin du gouvernement où on envoie et où on ramasse le courrier. Ouvert le jour, avec un comptoir et une file d'attente.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 préposé, une préposée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La personne qui travaille derrière le comptoir. C'est elle qui pèse, qui dit le prix et qui répond aux questions.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 envoi</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Tout ce qu'on confie à la poste : une lettre, une boîte, un papier qui vaut de l'argent. Le mot réunit tout.</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affranchir</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Payer le voyage de l'envoi, avec un timbre collé ou au comptoir quand la préposée pèse la boîte.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bureau de poste est à dix minutes à pied de chez Yassine.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achète les timbres à un autre comptoir que les colis.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carnet de timbres coûte moins cher qu'un timbre à l'unité.</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peut mettre un colis dans la boîte rouge de la rue.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Demander à la préposée de répéter, c'est normal.</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bureau de poste ouvre à neuf heures le jeudi.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bureau de poste est à dix minutes à pied de chez Yassine.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achète les timbres à un autre comptoir que les colis.   </a:t>
            </a:r>
            <a:r>
              <a:rPr sz="1400" b="1" i="0">
                <a:solidFill>
                  <a:srgbClr val="07734A"/>
                </a:solidFill>
                <a:latin typeface="Verdana"/>
              </a:rPr>
              <a:t>» faux — au même comptoir</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carnet de timbres coûte moins cher qu'un timbre à l'unité.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peut mettre un colis dans la boîte rouge de la rue.   </a:t>
            </a:r>
            <a:r>
              <a:rPr sz="1400" b="1" i="0">
                <a:solidFill>
                  <a:srgbClr val="07734A"/>
                </a:solidFill>
                <a:latin typeface="Verdana"/>
              </a:rPr>
              <a:t>» faux — seulement les lettres timbrées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Demander à la préposée de répéter, c'est normal.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bureau de poste ouvre à neuf heures le jeudi.   </a:t>
            </a:r>
            <a:r>
              <a:rPr sz="1400" b="1" i="0">
                <a:solidFill>
                  <a:srgbClr val="07734A"/>
                </a:solidFill>
                <a:latin typeface="Verdana"/>
              </a:rPr>
              <a:t>» vrai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une chose que vous devez envoyer ou ramasser cette année.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lettre, une boîte, des papiers pour le gouvernement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Est-ce que vous savez déjà où est le bureau de poste le plus proche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colis de Yassine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