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d'écriture et de nombres. Prévoir de dire chaque prix deux fois : une fois vite, comme au comptoir, une fois lentement.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pratiquer l'intonation montante : c'est elle qui transforme le chiffre répété en question.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La dernière ligne surprend souvent : dire au groupe qu'un préposé écrit un chiffre sans hésiter si on le demande.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prix à voix haute, une fois vite, une fois lentement. Faire écrire les chiffres sur la fiche pendant la lecture rapide : c'est l'exercice réel du comptoir.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à photographier. Faire calculer ensemble : un colis Xpresspost déposé le vendredi arrive le mardi. C'est la source de malentendu la plus fréquente avec les délais.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phrase deux fois, à vitesse normale. Ne pas ralentir : c'est précisément l'entraînement. Les élèves qui n'y arrivent pas emploient la phrase de la diapositive précédente.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`t1prix` du module interactif, qui se fait par glisser-déposer. Le faire ici à l'oral, puis à l'écran.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Demander qui l'a déjà fait. Presque tout le monde. C'est le moment de la semaine où le groupe se détend le plus : le dire, et en profiter.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Corriger l'orthographe des nombres au passage : « quarante-quatre », « treize », « huit ». Le trait d'union se perd souvent.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B4  ·  MODULE 7</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Les prix, les délais, et faire répéter</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prix dit en français va vite : « un dollar quarante-quatre », « treize dollars quinze ». La parade tient en une phrase, et elle se dit avant de payer, pas après.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 colis de Yassine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un prix dit à voix haute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répéter un prix pour le vérifier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écrire un prix en chiffres à partir d'une phrase entendue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ce qu'est un jour ouvrable.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LA PHRASE QUI ÉVITE TOUTES LES ERREURS DE PRIX</a:t>
            </a:r>
          </a:p>
        </p:txBody>
      </p:sp>
      <p:sp>
        <p:nvSpPr>
          <p:cNvPr id="6" name="Rounded Rectangle 5"/>
          <p:cNvSpPr/>
          <p:nvPr/>
        </p:nvSpPr>
        <p:spPr>
          <a:xfrm>
            <a:off x="566928" y="1225296"/>
            <a:ext cx="11057839" cy="1441196"/>
          </a:xfrm>
          <a:prstGeom prst="roundRect">
            <a:avLst>
              <a:gd name="adj" fmla="val 10151"/>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Vingt-deux dollars ? Vingt-deux ?</a:t>
            </a:r>
          </a:p>
        </p:txBody>
      </p:sp>
      <p:sp>
        <p:nvSpPr>
          <p:cNvPr id="8" name="Rounded Rectangle 7"/>
          <p:cNvSpPr/>
          <p:nvPr/>
        </p:nvSpPr>
        <p:spPr>
          <a:xfrm>
            <a:off x="566928" y="2940812"/>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On répète le chiffre, seul, avec la voix qui monte. La préposée confirme ou corrige en un mot. C'est court, c'est poli, et ça se fait des dizaines de fois par jour au comptoir sans que personne ne s'en étonne.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Deux façons de faire répéter</a:t>
            </a:r>
          </a:p>
        </p:txBody>
      </p:sp>
      <p:sp>
        <p:nvSpPr>
          <p:cNvPr id="7" name="Rounded Rectangle 6"/>
          <p:cNvSpPr/>
          <p:nvPr/>
        </p:nvSpPr>
        <p:spPr>
          <a:xfrm>
            <a:off x="566928" y="1810512"/>
            <a:ext cx="11057839" cy="3015996"/>
          </a:xfrm>
          <a:prstGeom prst="roundRect">
            <a:avLst>
              <a:gd name="adj" fmla="val 485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SITUATION</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DIT</a:t>
            </a:r>
          </a:p>
        </p:txBody>
      </p:sp>
      <p:sp>
        <p:nvSpPr>
          <p:cNvPr id="10" name="TextBox 9"/>
          <p:cNvSpPr txBox="1"/>
          <p:nvPr/>
        </p:nvSpPr>
        <p:spPr>
          <a:xfrm>
            <a:off x="932688" y="2395728"/>
            <a:ext cx="3291492" cy="606552"/>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Vous avez cru entendre le prix</a:t>
            </a:r>
          </a:p>
        </p:txBody>
      </p:sp>
      <p:sp>
        <p:nvSpPr>
          <p:cNvPr id="11" name="TextBox 10"/>
          <p:cNvSpPr txBox="1"/>
          <p:nvPr/>
        </p:nvSpPr>
        <p:spPr>
          <a:xfrm>
            <a:off x="4443636" y="2395728"/>
            <a:ext cx="6595914" cy="606552"/>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 Vingt-deux dollars ? Vingt-deux ? »</a:t>
            </a:r>
          </a:p>
        </p:txBody>
      </p:sp>
      <p:sp>
        <p:nvSpPr>
          <p:cNvPr id="12" name="Rectangle 11"/>
          <p:cNvSpPr/>
          <p:nvPr/>
        </p:nvSpPr>
        <p:spPr>
          <a:xfrm>
            <a:off x="932688" y="307543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03448"/>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Vous n'avez rien saisi du tout</a:t>
            </a:r>
          </a:p>
        </p:txBody>
      </p:sp>
      <p:sp>
        <p:nvSpPr>
          <p:cNvPr id="14" name="TextBox 13"/>
          <p:cNvSpPr txBox="1"/>
          <p:nvPr/>
        </p:nvSpPr>
        <p:spPr>
          <a:xfrm>
            <a:off x="4443636" y="3203448"/>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 Est-ce que vous pouvez répéter, s'il vous plaît ? »</a:t>
            </a:r>
          </a:p>
        </p:txBody>
      </p:sp>
      <p:sp>
        <p:nvSpPr>
          <p:cNvPr id="15" name="Rectangle 14"/>
          <p:cNvSpPr/>
          <p:nvPr/>
        </p:nvSpPr>
        <p:spPr>
          <a:xfrm>
            <a:off x="932688" y="359816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726180"/>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C'est allé trop vite</a:t>
            </a:r>
          </a:p>
        </p:txBody>
      </p:sp>
      <p:sp>
        <p:nvSpPr>
          <p:cNvPr id="17" name="TextBox 16"/>
          <p:cNvSpPr txBox="1"/>
          <p:nvPr/>
        </p:nvSpPr>
        <p:spPr>
          <a:xfrm>
            <a:off x="4443636" y="3726180"/>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 Un peu moins vite, s'il vous plaît. »</a:t>
            </a:r>
          </a:p>
        </p:txBody>
      </p:sp>
      <p:sp>
        <p:nvSpPr>
          <p:cNvPr id="18" name="Rectangle 17"/>
          <p:cNvSpPr/>
          <p:nvPr/>
        </p:nvSpPr>
        <p:spPr>
          <a:xfrm>
            <a:off x="932688" y="41208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248912"/>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Vous voulez le voir écrit</a:t>
            </a:r>
          </a:p>
        </p:txBody>
      </p:sp>
      <p:sp>
        <p:nvSpPr>
          <p:cNvPr id="20" name="TextBox 19"/>
          <p:cNvSpPr txBox="1"/>
          <p:nvPr/>
        </p:nvSpPr>
        <p:spPr>
          <a:xfrm>
            <a:off x="4443636" y="4248912"/>
            <a:ext cx="6595914"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 Est-ce que vous pouvez me l'écrire ? »</a:t>
            </a:r>
          </a:p>
        </p:txBody>
      </p:sp>
      <p:sp>
        <p:nvSpPr>
          <p:cNvPr id="21" name="Rounded Rectangle 20"/>
          <p:cNvSpPr/>
          <p:nvPr/>
        </p:nvSpPr>
        <p:spPr>
          <a:xfrm>
            <a:off x="566928" y="5064252"/>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320284"/>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Les quatre sont normales. Aucune ne gêne la personne devant vous.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LES PRIX DU COMPTOIR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En toutes lettres</a:t>
            </a:r>
          </a:p>
        </p:txBody>
      </p:sp>
      <p:sp>
        <p:nvSpPr>
          <p:cNvPr id="7" name="Rounded Rectangle 6"/>
          <p:cNvSpPr/>
          <p:nvPr/>
        </p:nvSpPr>
        <p:spPr>
          <a:xfrm>
            <a:off x="566928" y="1810512"/>
            <a:ext cx="11057839"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21408"/>
            <a:ext cx="3730275"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dollar quarante-quatre</a:t>
            </a:r>
          </a:p>
        </p:txBody>
      </p:sp>
      <p:sp>
        <p:nvSpPr>
          <p:cNvPr id="9" name="TextBox 8"/>
          <p:cNvSpPr txBox="1"/>
          <p:nvPr/>
        </p:nvSpPr>
        <p:spPr>
          <a:xfrm>
            <a:off x="4937283" y="2121408"/>
            <a:ext cx="6321723"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timbre à l'unité — 1,44 $</a:t>
            </a:r>
          </a:p>
        </p:txBody>
      </p:sp>
      <p:sp>
        <p:nvSpPr>
          <p:cNvPr id="10" name="Rectangle 9"/>
          <p:cNvSpPr/>
          <p:nvPr/>
        </p:nvSpPr>
        <p:spPr>
          <a:xfrm>
            <a:off x="932688" y="26319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778252"/>
            <a:ext cx="3730275"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un dollar vingt-quatre</a:t>
            </a:r>
          </a:p>
        </p:txBody>
      </p:sp>
      <p:sp>
        <p:nvSpPr>
          <p:cNvPr id="12" name="TextBox 11"/>
          <p:cNvSpPr txBox="1"/>
          <p:nvPr/>
        </p:nvSpPr>
        <p:spPr>
          <a:xfrm>
            <a:off x="4937283" y="2778252"/>
            <a:ext cx="6321723"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timbre acheté en carnet — 1,24 $</a:t>
            </a:r>
          </a:p>
        </p:txBody>
      </p:sp>
      <p:sp>
        <p:nvSpPr>
          <p:cNvPr id="13" name="Rectangle 12"/>
          <p:cNvSpPr/>
          <p:nvPr/>
        </p:nvSpPr>
        <p:spPr>
          <a:xfrm>
            <a:off x="932688" y="328879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35096"/>
            <a:ext cx="3730275"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vingt-deux dollars</a:t>
            </a:r>
          </a:p>
        </p:txBody>
      </p:sp>
      <p:sp>
        <p:nvSpPr>
          <p:cNvPr id="15" name="TextBox 14"/>
          <p:cNvSpPr txBox="1"/>
          <p:nvPr/>
        </p:nvSpPr>
        <p:spPr>
          <a:xfrm>
            <a:off x="4937283" y="3435096"/>
            <a:ext cx="6321723"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colis standard de Québec à Calgary — 22 $</a:t>
            </a:r>
          </a:p>
        </p:txBody>
      </p:sp>
      <p:sp>
        <p:nvSpPr>
          <p:cNvPr id="16" name="Rectangle 15"/>
          <p:cNvSpPr/>
          <p:nvPr/>
        </p:nvSpPr>
        <p:spPr>
          <a:xfrm>
            <a:off x="932688" y="394563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091939"/>
            <a:ext cx="3730275"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trente-huit dollars</a:t>
            </a:r>
          </a:p>
        </p:txBody>
      </p:sp>
      <p:sp>
        <p:nvSpPr>
          <p:cNvPr id="18" name="TextBox 17"/>
          <p:cNvSpPr txBox="1"/>
          <p:nvPr/>
        </p:nvSpPr>
        <p:spPr>
          <a:xfrm>
            <a:off x="4937283" y="4091939"/>
            <a:ext cx="6321723"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même colis en Xpresspost — 38 $</a:t>
            </a:r>
          </a:p>
        </p:txBody>
      </p:sp>
      <p:sp>
        <p:nvSpPr>
          <p:cNvPr id="19" name="Rectangle 18"/>
          <p:cNvSpPr/>
          <p:nvPr/>
        </p:nvSpPr>
        <p:spPr>
          <a:xfrm>
            <a:off x="932688" y="46024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2688" y="4748784"/>
            <a:ext cx="3730275"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treize dollars quinze</a:t>
            </a:r>
          </a:p>
        </p:txBody>
      </p:sp>
      <p:sp>
        <p:nvSpPr>
          <p:cNvPr id="21" name="TextBox 20"/>
          <p:cNvSpPr txBox="1"/>
          <p:nvPr/>
        </p:nvSpPr>
        <p:spPr>
          <a:xfrm>
            <a:off x="4937283" y="4748784"/>
            <a:ext cx="6321723"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le supplément du courrier recommandé — 13,15 $</a:t>
            </a:r>
          </a:p>
        </p:txBody>
      </p:sp>
      <p:sp>
        <p:nvSpPr>
          <p:cNvPr id="22" name="Rectangle 21"/>
          <p:cNvSpPr/>
          <p:nvPr/>
        </p:nvSpPr>
        <p:spPr>
          <a:xfrm>
            <a:off x="932688" y="525932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5405628"/>
            <a:ext cx="3730275" cy="437387"/>
          </a:xfrm>
          <a:prstGeom prst="rect">
            <a:avLst/>
          </a:prstGeom>
          <a:noFill/>
        </p:spPr>
        <p:txBody>
          <a:bodyPr wrap="square" lIns="0" rIns="0" tIns="0" bIns="0" anchor="t">
            <a:spAutoFit/>
          </a:bodyPr>
          <a:lstStyle/>
          <a:p>
            <a:pPr algn="l">
              <a:lnSpc>
                <a:spcPct val="128000"/>
              </a:lnSpc>
            </a:pPr>
            <a:r>
              <a:rPr sz="1900" b="1" i="0">
                <a:solidFill>
                  <a:srgbClr val="17181A"/>
                </a:solidFill>
                <a:latin typeface="Verdana"/>
              </a:rPr>
              <a:t>huit dollars cinquante</a:t>
            </a:r>
          </a:p>
        </p:txBody>
      </p:sp>
      <p:sp>
        <p:nvSpPr>
          <p:cNvPr id="24" name="TextBox 23"/>
          <p:cNvSpPr txBox="1"/>
          <p:nvPr/>
        </p:nvSpPr>
        <p:spPr>
          <a:xfrm>
            <a:off x="4937283" y="5405628"/>
            <a:ext cx="6321723" cy="437387"/>
          </a:xfrm>
          <a:prstGeom prst="rect">
            <a:avLst/>
          </a:prstGeom>
          <a:noFill/>
        </p:spPr>
        <p:txBody>
          <a:bodyPr wrap="square" lIns="0" rIns="0" tIns="0" bIns="0" anchor="t">
            <a:spAutoFit/>
          </a:bodyPr>
          <a:lstStyle/>
          <a:p>
            <a:pPr algn="l">
              <a:lnSpc>
                <a:spcPct val="135000"/>
              </a:lnSpc>
            </a:pPr>
            <a:r>
              <a:rPr sz="1800" b="0" i="0">
                <a:solidFill>
                  <a:srgbClr val="4B4F52"/>
                </a:solidFill>
                <a:latin typeface="Verdana"/>
              </a:rPr>
              <a:t>un mandat-poste, jusqu'à mille dollars — 8,50 $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UN MOT À CONNAÎTRE POUR LES DÉLAIS</a:t>
            </a:r>
          </a:p>
        </p:txBody>
      </p:sp>
      <p:sp>
        <p:nvSpPr>
          <p:cNvPr id="6" name="Rounded Rectangle 5"/>
          <p:cNvSpPr/>
          <p:nvPr/>
        </p:nvSpPr>
        <p:spPr>
          <a:xfrm>
            <a:off x="566928" y="1225296"/>
            <a:ext cx="11057839" cy="1441196"/>
          </a:xfrm>
          <a:prstGeom prst="roundRect">
            <a:avLst>
              <a:gd name="adj" fmla="val 10151"/>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618235"/>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 jour ouvrable</a:t>
            </a:r>
          </a:p>
        </p:txBody>
      </p:sp>
      <p:sp>
        <p:nvSpPr>
          <p:cNvPr id="8" name="Rounded Rectangle 7"/>
          <p:cNvSpPr/>
          <p:nvPr/>
        </p:nvSpPr>
        <p:spPr>
          <a:xfrm>
            <a:off x="566928" y="2940812"/>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215132"/>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jour où les bureaux sont ouverts : du lundi au vendredi, sans les jours fériés. « Deux jours ouvrables » un vendredi veut dire mardi, pas dimanche.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ÉCOUTE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Écrivez le prix en chiffres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la phrase, puis écrivez le prix.</a:t>
            </a:r>
          </a:p>
        </p:txBody>
      </p:sp>
      <p:sp>
        <p:nvSpPr>
          <p:cNvPr id="8" name="Rounded Rectangle 7"/>
          <p:cNvSpPr/>
          <p:nvPr/>
        </p:nvSpPr>
        <p:spPr>
          <a:xfrm>
            <a:off x="566928"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Un timbre à l'unité, ça coûte un dollar quarante-quatre. »</a:t>
            </a:r>
          </a:p>
        </p:txBody>
      </p:sp>
      <p:sp>
        <p:nvSpPr>
          <p:cNvPr id="12" name="Rounded Rectangle 11"/>
          <p:cNvSpPr/>
          <p:nvPr/>
        </p:nvSpPr>
        <p:spPr>
          <a:xfrm>
            <a:off x="6159855" y="2139696"/>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En carnet, un dollar vingt-quatre par timbre. »</a:t>
            </a:r>
          </a:p>
        </p:txBody>
      </p:sp>
      <p:sp>
        <p:nvSpPr>
          <p:cNvPr id="16" name="Rounded Rectangle 15"/>
          <p:cNvSpPr/>
          <p:nvPr/>
        </p:nvSpPr>
        <p:spPr>
          <a:xfrm>
            <a:off x="566928"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Le colis standard, vingt-deux dollars. »</a:t>
            </a:r>
          </a:p>
        </p:txBody>
      </p:sp>
      <p:sp>
        <p:nvSpPr>
          <p:cNvPr id="20" name="Rounded Rectangle 19"/>
          <p:cNvSpPr/>
          <p:nvPr/>
        </p:nvSpPr>
        <p:spPr>
          <a:xfrm>
            <a:off x="6159855" y="3254248"/>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L'Xpresspost, trente-huit dollars. »</a:t>
            </a:r>
          </a:p>
        </p:txBody>
      </p:sp>
      <p:sp>
        <p:nvSpPr>
          <p:cNvPr id="24" name="Rounded Rectangle 23"/>
          <p:cNvSpPr/>
          <p:nvPr/>
        </p:nvSpPr>
        <p:spPr>
          <a:xfrm>
            <a:off x="566928"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Le recommandé, treize dollars quinze en plus. »</a:t>
            </a:r>
          </a:p>
        </p:txBody>
      </p:sp>
      <p:sp>
        <p:nvSpPr>
          <p:cNvPr id="28" name="Rounded Rectangle 27"/>
          <p:cNvSpPr/>
          <p:nvPr/>
        </p:nvSpPr>
        <p:spPr>
          <a:xfrm>
            <a:off x="6159855" y="4368800"/>
            <a:ext cx="5464911" cy="986535"/>
          </a:xfrm>
          <a:prstGeom prst="roundRect">
            <a:avLst>
              <a:gd name="adj" fmla="val 1483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Un mandat-poste, huit dollars cinquante.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Écrivez le prix en chiffres</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Un timbre à l'unité, ça coûte un dollar quarante-quatre. »   </a:t>
            </a:r>
            <a:r>
              <a:rPr sz="1900" b="1" i="0">
                <a:solidFill>
                  <a:srgbClr val="07734A"/>
                </a:solidFill>
                <a:latin typeface="Verdana"/>
              </a:rPr>
              <a:t>» 1,44 $</a:t>
            </a:r>
          </a:p>
        </p:txBody>
      </p:sp>
      <p:sp>
        <p:nvSpPr>
          <p:cNvPr id="12" name="Rounded Rectangle 11"/>
          <p:cNvSpPr/>
          <p:nvPr/>
        </p:nvSpPr>
        <p:spPr>
          <a:xfrm>
            <a:off x="6159855" y="2139696"/>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5008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5140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En carnet, un dollar vingt-quatre par timbre. »   </a:t>
            </a:r>
            <a:r>
              <a:rPr sz="1900" b="1" i="0">
                <a:solidFill>
                  <a:srgbClr val="07734A"/>
                </a:solidFill>
                <a:latin typeface="Verdana"/>
              </a:rPr>
              <a:t>» 1,24 $</a:t>
            </a:r>
          </a:p>
        </p:txBody>
      </p:sp>
      <p:sp>
        <p:nvSpPr>
          <p:cNvPr id="16" name="Rounded Rectangle 15"/>
          <p:cNvSpPr/>
          <p:nvPr/>
        </p:nvSpPr>
        <p:spPr>
          <a:xfrm>
            <a:off x="566928"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Le colis standard, vingt-deux dollars. »   </a:t>
            </a:r>
            <a:r>
              <a:rPr sz="1900" b="1" i="0">
                <a:solidFill>
                  <a:srgbClr val="07734A"/>
                </a:solidFill>
                <a:latin typeface="Verdana"/>
              </a:rPr>
              <a:t>» 22 $</a:t>
            </a:r>
          </a:p>
        </p:txBody>
      </p:sp>
      <p:sp>
        <p:nvSpPr>
          <p:cNvPr id="20" name="Rounded Rectangle 19"/>
          <p:cNvSpPr/>
          <p:nvPr/>
        </p:nvSpPr>
        <p:spPr>
          <a:xfrm>
            <a:off x="6159855" y="3254248"/>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56463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62864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409696"/>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L'Xpresspost, trente-huit dollars. »   </a:t>
            </a:r>
            <a:r>
              <a:rPr sz="1900" b="1" i="0">
                <a:solidFill>
                  <a:srgbClr val="07734A"/>
                </a:solidFill>
                <a:latin typeface="Verdana"/>
              </a:rPr>
              <a:t>» 38 $</a:t>
            </a:r>
          </a:p>
        </p:txBody>
      </p:sp>
      <p:sp>
        <p:nvSpPr>
          <p:cNvPr id="24" name="Rounded Rectangle 23"/>
          <p:cNvSpPr/>
          <p:nvPr/>
        </p:nvSpPr>
        <p:spPr>
          <a:xfrm>
            <a:off x="566928"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Le recommandé, treize dollars quinze en plus. »   </a:t>
            </a:r>
            <a:r>
              <a:rPr sz="1900" b="1" i="0">
                <a:solidFill>
                  <a:srgbClr val="07734A"/>
                </a:solidFill>
                <a:latin typeface="Verdana"/>
              </a:rPr>
              <a:t>» 13,15 $</a:t>
            </a:r>
          </a:p>
        </p:txBody>
      </p:sp>
      <p:sp>
        <p:nvSpPr>
          <p:cNvPr id="28" name="Rounded Rectangle 27"/>
          <p:cNvSpPr/>
          <p:nvPr/>
        </p:nvSpPr>
        <p:spPr>
          <a:xfrm>
            <a:off x="6159855" y="4368800"/>
            <a:ext cx="5464911" cy="986535"/>
          </a:xfrm>
          <a:prstGeom prst="roundRect">
            <a:avLst>
              <a:gd name="adj" fmla="val 1483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6791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743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524248"/>
            <a:ext cx="4504791" cy="71221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 Un mandat-poste, huit dollars cinquante. »   </a:t>
            </a:r>
            <a:r>
              <a:rPr sz="1900" b="1" i="0">
                <a:solidFill>
                  <a:srgbClr val="07734A"/>
                </a:solidFill>
                <a:latin typeface="Verdana"/>
              </a:rPr>
              <a:t>» 8,50 $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Quelle réponse donne la préposée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Associez la question à la réponse.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Un timbre à l'unité, ça coûte combien ?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Et si je prends un carnet ? »</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Combien de temps, le colis standard ?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Et l'Xpresspost ?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Le recommandé, c'est en plus ? »</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Un mandat-poste, ça coûte quelque chose ?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Quelle réponse donne la préposée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Un timbre à l'unité, ça coûte combien ? »   </a:t>
            </a:r>
            <a:r>
              <a:rPr sz="1400" b="1" i="0">
                <a:solidFill>
                  <a:srgbClr val="07734A"/>
                </a:solidFill>
                <a:latin typeface="Verdana"/>
              </a:rPr>
              <a:t>» un dollar quarante-quatre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Et si je prends un carnet ? »   </a:t>
            </a:r>
            <a:r>
              <a:rPr sz="1400" b="1" i="0">
                <a:solidFill>
                  <a:srgbClr val="07734A"/>
                </a:solidFill>
                <a:latin typeface="Verdana"/>
              </a:rPr>
              <a:t>» un dollar vingt-quatre par timbre : c'est moins cher</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Combien de temps, le colis standard ? »   </a:t>
            </a:r>
            <a:r>
              <a:rPr sz="1400" b="1" i="0">
                <a:solidFill>
                  <a:srgbClr val="07734A"/>
                </a:solidFill>
                <a:latin typeface="Verdana"/>
              </a:rPr>
              <a:t>» à peu près une semaine, d'un bout à l'autre du pays</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Et l'Xpresspost ? »   </a:t>
            </a:r>
            <a:r>
              <a:rPr sz="1400" b="1" i="0">
                <a:solidFill>
                  <a:srgbClr val="07734A"/>
                </a:solidFill>
                <a:latin typeface="Verdana"/>
              </a:rPr>
              <a:t>» un ou deux jours ouvrables, avec une garantie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Le recommandé, c'est en plus ? »   </a:t>
            </a:r>
            <a:r>
              <a:rPr sz="1400" b="1" i="0">
                <a:solidFill>
                  <a:srgbClr val="07734A"/>
                </a:solidFill>
                <a:latin typeface="Verdana"/>
              </a:rPr>
              <a:t>» treize dollars quinze, en plus de l'affranchissement</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Un mandat-poste, ça coûte quelque chose ? »   </a:t>
            </a:r>
            <a:r>
              <a:rPr sz="1400" b="1" i="0">
                <a:solidFill>
                  <a:srgbClr val="07734A"/>
                </a:solidFill>
                <a:latin typeface="Verdana"/>
              </a:rPr>
              <a:t>» huit dollars cinquante, jusqu'à mille dollars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APRÈS LA RÉPONSE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D'accord, merci. (sans avoir compris)</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Vingt-deux dollars ? Vingt-deux ?</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Dire « d'accord » quand on n'a pas compris est le réflexe le plus coûteux du module : on paie un prix qu'on n'a pas choisi, et on ne s'en aperçoit qu'en regardant le reçu dehors. Répéter le chiffre prend deux secondes.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 colis de Yassine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un prix que vous avez entendu cette semaine, en toutes lettres.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À l'épicerie, à l'autobus, à la pharmacie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Est-ce que vous l'avez fait répéter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Le colis de Yassine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