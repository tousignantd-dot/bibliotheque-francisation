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Séance d'écriture et de nombres. Prévoir de dire chaque prix deux fois : une fois vite, comme au comptoir, une fois lentement.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Lire les objectifs à voix haute. Y revenir au billet de sortie.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 à photographier. Faire pratiquer l'intonation montante : c'est elle qui transforme le chiffre répété en question.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 à photographier. La dernière ligne surprend souvent : dire au groupe qu'un préposé écrit un chiffre sans hésiter si on le demande.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Lire chaque prix à voix haute, une fois vite, une fois lentement. Faire écrire les chiffres sur la fiche pendant la lecture rapide : c'est l'exercice réel du comptoir.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 à photographier. Faire calculer ensemble : un colis Xpresspost déposé le vendredi arrive le mardi. C'est la source de malentendu la plus fréquente avec les délais.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Lire chaque phrase deux fois, à vitesse normale. Ne pas ralentir : c'est précisément l'entraînement. Les élèves qui n'y arrivent pas emploient la phrase de la diapositive précédente.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C'est l'exercice `t1prix` du module interactif, qui se fait par glisser-déposer. Le faire ici à l'oral, puis à l'écran.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Demander qui l'a déjà fait. Presque tout le monde. C'est le moment de la semaine où le groupe se détend le plus : le dire, et en profiter.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Deux minutes. Corriger l'orthographe des nombres au passage : « quarante-quatre », « treize », « huit ». Le trait d'union se perd souvent.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1234440"/>
            <a:ext cx="11057839" cy="274320"/>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SÉANCE B4  ·  MODULE 7</a:t>
            </a:r>
          </a:p>
        </p:txBody>
      </p:sp>
      <p:sp>
        <p:nvSpPr>
          <p:cNvPr id="4" name="TextBox 3"/>
          <p:cNvSpPr txBox="1"/>
          <p:nvPr/>
        </p:nvSpPr>
        <p:spPr>
          <a:xfrm>
            <a:off x="566928" y="1691640"/>
            <a:ext cx="9960559" cy="1874519"/>
          </a:xfrm>
          <a:prstGeom prst="rect">
            <a:avLst/>
          </a:prstGeom>
          <a:noFill/>
        </p:spPr>
        <p:txBody>
          <a:bodyPr wrap="square" lIns="0" rIns="0" tIns="0" bIns="0" anchor="t">
            <a:spAutoFit/>
          </a:bodyPr>
          <a:lstStyle/>
          <a:p>
            <a:pPr algn="l">
              <a:lnSpc>
                <a:spcPct val="105000"/>
              </a:lnSpc>
            </a:pPr>
            <a:r>
              <a:rPr sz="4000" b="1" i="0">
                <a:solidFill>
                  <a:srgbClr val="17181A"/>
                </a:solidFill>
                <a:latin typeface="Verdana"/>
              </a:rPr>
              <a:t>Les prix, les délais, et faire répéter</a:t>
            </a:r>
          </a:p>
        </p:txBody>
      </p:sp>
      <p:sp>
        <p:nvSpPr>
          <p:cNvPr id="5" name="Rounded Rectangle 4"/>
          <p:cNvSpPr/>
          <p:nvPr/>
        </p:nvSpPr>
        <p:spPr>
          <a:xfrm>
            <a:off x="566928" y="3794760"/>
            <a:ext cx="9960559" cy="1763268"/>
          </a:xfrm>
          <a:prstGeom prst="roundRect">
            <a:avLst>
              <a:gd name="adj" fmla="val 8297"/>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96112" y="4123944"/>
            <a:ext cx="9302191" cy="11506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Un prix dit en français va vite : « un dollar quarante-quatre », « treize dollars quinze ». La parade tient en une phrase, et elle se dit avant de payer, pas après.</a:t>
            </a:r>
          </a:p>
        </p:txBody>
      </p:sp>
      <p:sp>
        <p:nvSpPr>
          <p:cNvPr id="7" name="TextBox 6"/>
          <p:cNvSpPr txBox="1"/>
          <p:nvPr/>
        </p:nvSpPr>
        <p:spPr>
          <a:xfrm>
            <a:off x="566928" y="6035040"/>
            <a:ext cx="11057839" cy="274320"/>
          </a:xfrm>
          <a:prstGeom prst="rect">
            <a:avLst/>
          </a:prstGeom>
          <a:noFill/>
        </p:spPr>
        <p:txBody>
          <a:bodyPr wrap="square" lIns="0" rIns="0" tIns="0" bIns="0" anchor="t">
            <a:spAutoFit/>
          </a:bodyPr>
          <a:lstStyle/>
          <a:p>
            <a:pPr algn="l">
              <a:lnSpc>
                <a:spcPct val="135000"/>
              </a:lnSpc>
            </a:pPr>
            <a:r>
              <a:rPr sz="1500" b="0" i="0">
                <a:solidFill>
                  <a:srgbClr val="6E7175"/>
                </a:solidFill>
                <a:latin typeface="Verdana"/>
              </a:rPr>
              <a:t>75 minutes  ·  Le colis de Yassine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B4 · Le colis de Yassine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OBJECTIFS DE LA SÉANCE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À la fin, je serai capable de…</a:t>
            </a:r>
          </a:p>
        </p:txBody>
      </p:sp>
      <p:sp>
        <p:nvSpPr>
          <p:cNvPr id="7" name="Rounded Rectangle 6"/>
          <p:cNvSpPr/>
          <p:nvPr/>
        </p:nvSpPr>
        <p:spPr>
          <a:xfrm>
            <a:off x="566928" y="1764792"/>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804672" y="1942592"/>
            <a:ext cx="402336" cy="402336"/>
          </a:xfrm>
          <a:prstGeom prst="roundRect">
            <a:avLst>
              <a:gd name="adj" fmla="val 31818"/>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04672" y="2024887"/>
            <a:ext cx="402336" cy="274320"/>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1</a:t>
            </a:r>
          </a:p>
        </p:txBody>
      </p:sp>
      <p:sp>
        <p:nvSpPr>
          <p:cNvPr id="10" name="TextBox 9"/>
          <p:cNvSpPr txBox="1"/>
          <p:nvPr/>
        </p:nvSpPr>
        <p:spPr>
          <a:xfrm>
            <a:off x="1408176" y="1965960"/>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comprendre un prix dit à voix haute ;</a:t>
            </a:r>
          </a:p>
        </p:txBody>
      </p:sp>
      <p:sp>
        <p:nvSpPr>
          <p:cNvPr id="11" name="Rounded Rectangle 10"/>
          <p:cNvSpPr/>
          <p:nvPr/>
        </p:nvSpPr>
        <p:spPr>
          <a:xfrm>
            <a:off x="566928" y="2650744"/>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804672" y="2828544"/>
            <a:ext cx="402336" cy="402336"/>
          </a:xfrm>
          <a:prstGeom prst="roundRect">
            <a:avLst>
              <a:gd name="adj" fmla="val 31818"/>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04672" y="2910840"/>
            <a:ext cx="402336" cy="274320"/>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2</a:t>
            </a:r>
          </a:p>
        </p:txBody>
      </p:sp>
      <p:sp>
        <p:nvSpPr>
          <p:cNvPr id="14" name="TextBox 13"/>
          <p:cNvSpPr txBox="1"/>
          <p:nvPr/>
        </p:nvSpPr>
        <p:spPr>
          <a:xfrm>
            <a:off x="1408176" y="2851912"/>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répéter un prix pour le vérifier ;</a:t>
            </a:r>
          </a:p>
        </p:txBody>
      </p:sp>
      <p:sp>
        <p:nvSpPr>
          <p:cNvPr id="15" name="Rounded Rectangle 14"/>
          <p:cNvSpPr/>
          <p:nvPr/>
        </p:nvSpPr>
        <p:spPr>
          <a:xfrm>
            <a:off x="566928" y="3536696"/>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804672" y="3714496"/>
            <a:ext cx="402336" cy="402336"/>
          </a:xfrm>
          <a:prstGeom prst="roundRect">
            <a:avLst>
              <a:gd name="adj" fmla="val 31818"/>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04672" y="3796792"/>
            <a:ext cx="402336" cy="274320"/>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3</a:t>
            </a:r>
          </a:p>
        </p:txBody>
      </p:sp>
      <p:sp>
        <p:nvSpPr>
          <p:cNvPr id="18" name="TextBox 17"/>
          <p:cNvSpPr txBox="1"/>
          <p:nvPr/>
        </p:nvSpPr>
        <p:spPr>
          <a:xfrm>
            <a:off x="1408176" y="3737864"/>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écrire un prix en chiffres à partir d'une phrase entendue ;</a:t>
            </a:r>
          </a:p>
        </p:txBody>
      </p:sp>
      <p:sp>
        <p:nvSpPr>
          <p:cNvPr id="19" name="Rounded Rectangle 18"/>
          <p:cNvSpPr/>
          <p:nvPr/>
        </p:nvSpPr>
        <p:spPr>
          <a:xfrm>
            <a:off x="566928" y="4422648"/>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804672" y="4600448"/>
            <a:ext cx="402336" cy="402336"/>
          </a:xfrm>
          <a:prstGeom prst="roundRect">
            <a:avLst>
              <a:gd name="adj" fmla="val 31818"/>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04672" y="4682744"/>
            <a:ext cx="402336" cy="274320"/>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4</a:t>
            </a:r>
          </a:p>
        </p:txBody>
      </p:sp>
      <p:sp>
        <p:nvSpPr>
          <p:cNvPr id="22" name="TextBox 21"/>
          <p:cNvSpPr txBox="1"/>
          <p:nvPr/>
        </p:nvSpPr>
        <p:spPr>
          <a:xfrm>
            <a:off x="1408176" y="4623816"/>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comprendre ce qu'est un jour ouvrable.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B4 · Le colis de Yassine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3</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LA PHRASE QUI ÉVITE TOUTES LES ERREURS DE PRIX</a:t>
            </a:r>
          </a:p>
        </p:txBody>
      </p:sp>
      <p:sp>
        <p:nvSpPr>
          <p:cNvPr id="6" name="Rounded Rectangle 5"/>
          <p:cNvSpPr/>
          <p:nvPr/>
        </p:nvSpPr>
        <p:spPr>
          <a:xfrm>
            <a:off x="566928" y="1225296"/>
            <a:ext cx="11057839" cy="1441196"/>
          </a:xfrm>
          <a:prstGeom prst="roundRect">
            <a:avLst>
              <a:gd name="adj" fmla="val 10151"/>
            </a:avLst>
          </a:prstGeom>
          <a:solidFill>
            <a:srgbClr val="FBEEDC"/>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8448" y="1682496"/>
            <a:ext cx="9594799" cy="618235"/>
          </a:xfrm>
          <a:prstGeom prst="rect">
            <a:avLst/>
          </a:prstGeom>
          <a:noFill/>
        </p:spPr>
        <p:txBody>
          <a:bodyPr wrap="square" lIns="0" rIns="0" tIns="0" bIns="0" anchor="t">
            <a:spAutoFit/>
          </a:bodyPr>
          <a:lstStyle/>
          <a:p>
            <a:pPr algn="l">
              <a:lnSpc>
                <a:spcPct val="122000"/>
              </a:lnSpc>
            </a:pPr>
            <a:r>
              <a:rPr sz="3400" b="1" i="0">
                <a:solidFill>
                  <a:srgbClr val="17181A"/>
                </a:solidFill>
                <a:latin typeface="Verdana"/>
              </a:rPr>
              <a:t>Vingt-deux dollars ? Vingt-deux ?</a:t>
            </a:r>
          </a:p>
        </p:txBody>
      </p:sp>
      <p:sp>
        <p:nvSpPr>
          <p:cNvPr id="8" name="Rounded Rectangle 7"/>
          <p:cNvSpPr/>
          <p:nvPr/>
        </p:nvSpPr>
        <p:spPr>
          <a:xfrm>
            <a:off x="566928" y="2940812"/>
            <a:ext cx="11057839" cy="1671827"/>
          </a:xfrm>
          <a:prstGeom prst="roundRect">
            <a:avLst>
              <a:gd name="adj" fmla="val 8751"/>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9264" y="3215132"/>
            <a:ext cx="10234879" cy="1214627"/>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On répète le chiffre, seul, avec la voix qui monte. La préposée confirme ou corrige en un mot. C'est court, c'est poli, et ça se fait des dizaines de fois par jour au comptoir sans que personne ne s'en étonne.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B4 · Le colis de Yassine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4</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ANALYSE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Deux façons de faire répéter</a:t>
            </a:r>
          </a:p>
        </p:txBody>
      </p:sp>
      <p:sp>
        <p:nvSpPr>
          <p:cNvPr id="7" name="Rounded Rectangle 6"/>
          <p:cNvSpPr/>
          <p:nvPr/>
        </p:nvSpPr>
        <p:spPr>
          <a:xfrm>
            <a:off x="566928" y="1810512"/>
            <a:ext cx="11057839" cy="3015996"/>
          </a:xfrm>
          <a:prstGeom prst="roundRect">
            <a:avLst>
              <a:gd name="adj" fmla="val 4850"/>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91492"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LA SITUATION</a:t>
            </a:r>
          </a:p>
        </p:txBody>
      </p:sp>
      <p:sp>
        <p:nvSpPr>
          <p:cNvPr id="9" name="TextBox 8"/>
          <p:cNvSpPr txBox="1"/>
          <p:nvPr/>
        </p:nvSpPr>
        <p:spPr>
          <a:xfrm>
            <a:off x="4443636" y="1975104"/>
            <a:ext cx="6595914"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CE QU'ON DIT</a:t>
            </a:r>
          </a:p>
        </p:txBody>
      </p:sp>
      <p:sp>
        <p:nvSpPr>
          <p:cNvPr id="10" name="TextBox 9"/>
          <p:cNvSpPr txBox="1"/>
          <p:nvPr/>
        </p:nvSpPr>
        <p:spPr>
          <a:xfrm>
            <a:off x="932688" y="2395728"/>
            <a:ext cx="3291492" cy="606552"/>
          </a:xfrm>
          <a:prstGeom prst="rect">
            <a:avLst/>
          </a:prstGeom>
          <a:noFill/>
        </p:spPr>
        <p:txBody>
          <a:bodyPr wrap="square" lIns="0" rIns="0" tIns="0" bIns="0" anchor="t">
            <a:spAutoFit/>
          </a:bodyPr>
          <a:lstStyle/>
          <a:p>
            <a:pPr algn="l">
              <a:lnSpc>
                <a:spcPct val="132000"/>
              </a:lnSpc>
            </a:pPr>
            <a:r>
              <a:rPr sz="1700" b="0" i="0">
                <a:solidFill>
                  <a:srgbClr val="3A3D40"/>
                </a:solidFill>
                <a:latin typeface="Verdana"/>
              </a:rPr>
              <a:t>Vous avez cru entendre le prix</a:t>
            </a:r>
          </a:p>
        </p:txBody>
      </p:sp>
      <p:sp>
        <p:nvSpPr>
          <p:cNvPr id="11" name="TextBox 10"/>
          <p:cNvSpPr txBox="1"/>
          <p:nvPr/>
        </p:nvSpPr>
        <p:spPr>
          <a:xfrm>
            <a:off x="4443636" y="2395728"/>
            <a:ext cx="6595914" cy="606552"/>
          </a:xfrm>
          <a:prstGeom prst="rect">
            <a:avLst/>
          </a:prstGeom>
          <a:noFill/>
        </p:spPr>
        <p:txBody>
          <a:bodyPr wrap="square" lIns="0" rIns="0" tIns="0" bIns="0" anchor="t">
            <a:spAutoFit/>
          </a:bodyPr>
          <a:lstStyle/>
          <a:p>
            <a:pPr algn="l">
              <a:lnSpc>
                <a:spcPct val="132000"/>
              </a:lnSpc>
            </a:pPr>
            <a:r>
              <a:rPr sz="1700" b="1" i="0">
                <a:solidFill>
                  <a:srgbClr val="B45309"/>
                </a:solidFill>
                <a:latin typeface="Verdana"/>
              </a:rPr>
              <a:t>« Vingt-deux dollars ? Vingt-deux ? »</a:t>
            </a:r>
          </a:p>
        </p:txBody>
      </p:sp>
      <p:sp>
        <p:nvSpPr>
          <p:cNvPr id="12" name="Rectangle 11"/>
          <p:cNvSpPr/>
          <p:nvPr/>
        </p:nvSpPr>
        <p:spPr>
          <a:xfrm>
            <a:off x="932688" y="3075432"/>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3203448"/>
            <a:ext cx="3291492" cy="321564"/>
          </a:xfrm>
          <a:prstGeom prst="rect">
            <a:avLst/>
          </a:prstGeom>
          <a:noFill/>
        </p:spPr>
        <p:txBody>
          <a:bodyPr wrap="square" lIns="0" rIns="0" tIns="0" bIns="0" anchor="t">
            <a:spAutoFit/>
          </a:bodyPr>
          <a:lstStyle/>
          <a:p>
            <a:pPr algn="l">
              <a:lnSpc>
                <a:spcPct val="132000"/>
              </a:lnSpc>
            </a:pPr>
            <a:r>
              <a:rPr sz="1700" b="0" i="0">
                <a:solidFill>
                  <a:srgbClr val="3A3D40"/>
                </a:solidFill>
                <a:latin typeface="Verdana"/>
              </a:rPr>
              <a:t>Vous n'avez rien saisi du tout</a:t>
            </a:r>
          </a:p>
        </p:txBody>
      </p:sp>
      <p:sp>
        <p:nvSpPr>
          <p:cNvPr id="14" name="TextBox 13"/>
          <p:cNvSpPr txBox="1"/>
          <p:nvPr/>
        </p:nvSpPr>
        <p:spPr>
          <a:xfrm>
            <a:off x="4443636" y="3203448"/>
            <a:ext cx="6595914" cy="321564"/>
          </a:xfrm>
          <a:prstGeom prst="rect">
            <a:avLst/>
          </a:prstGeom>
          <a:noFill/>
        </p:spPr>
        <p:txBody>
          <a:bodyPr wrap="square" lIns="0" rIns="0" tIns="0" bIns="0" anchor="t">
            <a:spAutoFit/>
          </a:bodyPr>
          <a:lstStyle/>
          <a:p>
            <a:pPr algn="l">
              <a:lnSpc>
                <a:spcPct val="132000"/>
              </a:lnSpc>
            </a:pPr>
            <a:r>
              <a:rPr sz="1700" b="1" i="0">
                <a:solidFill>
                  <a:srgbClr val="B45309"/>
                </a:solidFill>
                <a:latin typeface="Verdana"/>
              </a:rPr>
              <a:t>« Est-ce que vous pouvez répéter, s'il vous plaît ? »</a:t>
            </a:r>
          </a:p>
        </p:txBody>
      </p:sp>
      <p:sp>
        <p:nvSpPr>
          <p:cNvPr id="15" name="Rectangle 14"/>
          <p:cNvSpPr/>
          <p:nvPr/>
        </p:nvSpPr>
        <p:spPr>
          <a:xfrm>
            <a:off x="932688" y="3598164"/>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32688" y="3726180"/>
            <a:ext cx="3291492" cy="321564"/>
          </a:xfrm>
          <a:prstGeom prst="rect">
            <a:avLst/>
          </a:prstGeom>
          <a:noFill/>
        </p:spPr>
        <p:txBody>
          <a:bodyPr wrap="square" lIns="0" rIns="0" tIns="0" bIns="0" anchor="t">
            <a:spAutoFit/>
          </a:bodyPr>
          <a:lstStyle/>
          <a:p>
            <a:pPr algn="l">
              <a:lnSpc>
                <a:spcPct val="132000"/>
              </a:lnSpc>
            </a:pPr>
            <a:r>
              <a:rPr sz="1700" b="0" i="0">
                <a:solidFill>
                  <a:srgbClr val="3A3D40"/>
                </a:solidFill>
                <a:latin typeface="Verdana"/>
              </a:rPr>
              <a:t>C'est allé trop vite</a:t>
            </a:r>
          </a:p>
        </p:txBody>
      </p:sp>
      <p:sp>
        <p:nvSpPr>
          <p:cNvPr id="17" name="TextBox 16"/>
          <p:cNvSpPr txBox="1"/>
          <p:nvPr/>
        </p:nvSpPr>
        <p:spPr>
          <a:xfrm>
            <a:off x="4443636" y="3726180"/>
            <a:ext cx="6595914" cy="321564"/>
          </a:xfrm>
          <a:prstGeom prst="rect">
            <a:avLst/>
          </a:prstGeom>
          <a:noFill/>
        </p:spPr>
        <p:txBody>
          <a:bodyPr wrap="square" lIns="0" rIns="0" tIns="0" bIns="0" anchor="t">
            <a:spAutoFit/>
          </a:bodyPr>
          <a:lstStyle/>
          <a:p>
            <a:pPr algn="l">
              <a:lnSpc>
                <a:spcPct val="132000"/>
              </a:lnSpc>
            </a:pPr>
            <a:r>
              <a:rPr sz="1700" b="1" i="0">
                <a:solidFill>
                  <a:srgbClr val="B45309"/>
                </a:solidFill>
                <a:latin typeface="Verdana"/>
              </a:rPr>
              <a:t>« Un peu moins vite, s'il vous plaît. »</a:t>
            </a:r>
          </a:p>
        </p:txBody>
      </p:sp>
      <p:sp>
        <p:nvSpPr>
          <p:cNvPr id="18" name="Rectangle 17"/>
          <p:cNvSpPr/>
          <p:nvPr/>
        </p:nvSpPr>
        <p:spPr>
          <a:xfrm>
            <a:off x="932688" y="4120896"/>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32688" y="4248912"/>
            <a:ext cx="3291492" cy="321564"/>
          </a:xfrm>
          <a:prstGeom prst="rect">
            <a:avLst/>
          </a:prstGeom>
          <a:noFill/>
        </p:spPr>
        <p:txBody>
          <a:bodyPr wrap="square" lIns="0" rIns="0" tIns="0" bIns="0" anchor="t">
            <a:spAutoFit/>
          </a:bodyPr>
          <a:lstStyle/>
          <a:p>
            <a:pPr algn="l">
              <a:lnSpc>
                <a:spcPct val="132000"/>
              </a:lnSpc>
            </a:pPr>
            <a:r>
              <a:rPr sz="1700" b="0" i="0">
                <a:solidFill>
                  <a:srgbClr val="3A3D40"/>
                </a:solidFill>
                <a:latin typeface="Verdana"/>
              </a:rPr>
              <a:t>Vous voulez le voir écrit</a:t>
            </a:r>
          </a:p>
        </p:txBody>
      </p:sp>
      <p:sp>
        <p:nvSpPr>
          <p:cNvPr id="20" name="TextBox 19"/>
          <p:cNvSpPr txBox="1"/>
          <p:nvPr/>
        </p:nvSpPr>
        <p:spPr>
          <a:xfrm>
            <a:off x="4443636" y="4248912"/>
            <a:ext cx="6595914" cy="321564"/>
          </a:xfrm>
          <a:prstGeom prst="rect">
            <a:avLst/>
          </a:prstGeom>
          <a:noFill/>
        </p:spPr>
        <p:txBody>
          <a:bodyPr wrap="square" lIns="0" rIns="0" tIns="0" bIns="0" anchor="t">
            <a:spAutoFit/>
          </a:bodyPr>
          <a:lstStyle/>
          <a:p>
            <a:pPr algn="l">
              <a:lnSpc>
                <a:spcPct val="132000"/>
              </a:lnSpc>
            </a:pPr>
            <a:r>
              <a:rPr sz="1700" b="1" i="0">
                <a:solidFill>
                  <a:srgbClr val="B45309"/>
                </a:solidFill>
                <a:latin typeface="Verdana"/>
              </a:rPr>
              <a:t>« Est-ce que vous pouvez me l'écrire ? »</a:t>
            </a:r>
          </a:p>
        </p:txBody>
      </p:sp>
      <p:sp>
        <p:nvSpPr>
          <p:cNvPr id="21" name="Rounded Rectangle 20"/>
          <p:cNvSpPr/>
          <p:nvPr/>
        </p:nvSpPr>
        <p:spPr>
          <a:xfrm>
            <a:off x="566928" y="5064252"/>
            <a:ext cx="11057839" cy="769874"/>
          </a:xfrm>
          <a:prstGeom prst="roundRect">
            <a:avLst>
              <a:gd name="adj" fmla="val 19003"/>
            </a:avLst>
          </a:prstGeom>
          <a:solidFill>
            <a:srgbClr val="FBFBFA"/>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69264" y="5320284"/>
            <a:ext cx="10234879" cy="312674"/>
          </a:xfrm>
          <a:prstGeom prst="rect">
            <a:avLst/>
          </a:prstGeom>
          <a:noFill/>
        </p:spPr>
        <p:txBody>
          <a:bodyPr wrap="square" lIns="0" rIns="0" tIns="0" bIns="0" anchor="t">
            <a:spAutoFit/>
          </a:bodyPr>
          <a:lstStyle/>
          <a:p>
            <a:pPr algn="l">
              <a:lnSpc>
                <a:spcPct val="145000"/>
              </a:lnSpc>
            </a:pPr>
            <a:r>
              <a:rPr sz="1400" b="0" i="0">
                <a:solidFill>
                  <a:srgbClr val="4B4F52"/>
                </a:solidFill>
                <a:latin typeface="Verdana"/>
              </a:rPr>
              <a:t>Les quatre sont normales. Aucune ne gêne la personne devant vous.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B4 · Le colis de Yassine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5</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LES PRIX DU COMPTOIR</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En toutes lettres</a:t>
            </a:r>
          </a:p>
        </p:txBody>
      </p:sp>
      <p:sp>
        <p:nvSpPr>
          <p:cNvPr id="7" name="Rounded Rectangle 6"/>
          <p:cNvSpPr/>
          <p:nvPr/>
        </p:nvSpPr>
        <p:spPr>
          <a:xfrm>
            <a:off x="566928" y="1810512"/>
            <a:ext cx="11057839" cy="4270248"/>
          </a:xfrm>
          <a:prstGeom prst="roundRect">
            <a:avLst>
              <a:gd name="adj" fmla="val 34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2121408"/>
            <a:ext cx="3730275" cy="437387"/>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un dollar quarante-quatre</a:t>
            </a:r>
          </a:p>
        </p:txBody>
      </p:sp>
      <p:sp>
        <p:nvSpPr>
          <p:cNvPr id="9" name="TextBox 8"/>
          <p:cNvSpPr txBox="1"/>
          <p:nvPr/>
        </p:nvSpPr>
        <p:spPr>
          <a:xfrm>
            <a:off x="4937283" y="2121408"/>
            <a:ext cx="6321723" cy="437387"/>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un timbre à l'unité — 1,44 $</a:t>
            </a:r>
          </a:p>
        </p:txBody>
      </p:sp>
      <p:sp>
        <p:nvSpPr>
          <p:cNvPr id="10" name="Rectangle 9"/>
          <p:cNvSpPr/>
          <p:nvPr/>
        </p:nvSpPr>
        <p:spPr>
          <a:xfrm>
            <a:off x="932688" y="2631948"/>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2778252"/>
            <a:ext cx="3730275" cy="437387"/>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un dollar vingt-quatre</a:t>
            </a:r>
          </a:p>
        </p:txBody>
      </p:sp>
      <p:sp>
        <p:nvSpPr>
          <p:cNvPr id="12" name="TextBox 11"/>
          <p:cNvSpPr txBox="1"/>
          <p:nvPr/>
        </p:nvSpPr>
        <p:spPr>
          <a:xfrm>
            <a:off x="4937283" y="2778252"/>
            <a:ext cx="6321723" cy="437387"/>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un timbre acheté en carnet — 1,24 $</a:t>
            </a:r>
          </a:p>
        </p:txBody>
      </p:sp>
      <p:sp>
        <p:nvSpPr>
          <p:cNvPr id="13" name="Rectangle 12"/>
          <p:cNvSpPr/>
          <p:nvPr/>
        </p:nvSpPr>
        <p:spPr>
          <a:xfrm>
            <a:off x="932688" y="3288792"/>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32688" y="3435096"/>
            <a:ext cx="3730275" cy="437387"/>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vingt-deux dollars</a:t>
            </a:r>
          </a:p>
        </p:txBody>
      </p:sp>
      <p:sp>
        <p:nvSpPr>
          <p:cNvPr id="15" name="TextBox 14"/>
          <p:cNvSpPr txBox="1"/>
          <p:nvPr/>
        </p:nvSpPr>
        <p:spPr>
          <a:xfrm>
            <a:off x="4937283" y="3435096"/>
            <a:ext cx="6321723" cy="437387"/>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le colis standard de Québec à Calgary — 22 $</a:t>
            </a:r>
          </a:p>
        </p:txBody>
      </p:sp>
      <p:sp>
        <p:nvSpPr>
          <p:cNvPr id="16" name="Rectangle 15"/>
          <p:cNvSpPr/>
          <p:nvPr/>
        </p:nvSpPr>
        <p:spPr>
          <a:xfrm>
            <a:off x="932688" y="3945635"/>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32688" y="4091939"/>
            <a:ext cx="3730275" cy="437387"/>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trente-huit dollars</a:t>
            </a:r>
          </a:p>
        </p:txBody>
      </p:sp>
      <p:sp>
        <p:nvSpPr>
          <p:cNvPr id="18" name="TextBox 17"/>
          <p:cNvSpPr txBox="1"/>
          <p:nvPr/>
        </p:nvSpPr>
        <p:spPr>
          <a:xfrm>
            <a:off x="4937283" y="4091939"/>
            <a:ext cx="6321723" cy="437387"/>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le même colis en Xpresspost — 38 $</a:t>
            </a:r>
          </a:p>
        </p:txBody>
      </p:sp>
      <p:sp>
        <p:nvSpPr>
          <p:cNvPr id="19" name="Rectangle 18"/>
          <p:cNvSpPr/>
          <p:nvPr/>
        </p:nvSpPr>
        <p:spPr>
          <a:xfrm>
            <a:off x="932688" y="460248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932688" y="4748784"/>
            <a:ext cx="3730275" cy="437387"/>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treize dollars quinze</a:t>
            </a:r>
          </a:p>
        </p:txBody>
      </p:sp>
      <p:sp>
        <p:nvSpPr>
          <p:cNvPr id="21" name="TextBox 20"/>
          <p:cNvSpPr txBox="1"/>
          <p:nvPr/>
        </p:nvSpPr>
        <p:spPr>
          <a:xfrm>
            <a:off x="4937283" y="4748784"/>
            <a:ext cx="6321723" cy="437387"/>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le supplément du courrier recommandé — 13,15 $</a:t>
            </a:r>
          </a:p>
        </p:txBody>
      </p:sp>
      <p:sp>
        <p:nvSpPr>
          <p:cNvPr id="22" name="Rectangle 21"/>
          <p:cNvSpPr/>
          <p:nvPr/>
        </p:nvSpPr>
        <p:spPr>
          <a:xfrm>
            <a:off x="932688" y="5259324"/>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932688" y="5405628"/>
            <a:ext cx="3730275" cy="437387"/>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huit dollars cinquante</a:t>
            </a:r>
          </a:p>
        </p:txBody>
      </p:sp>
      <p:sp>
        <p:nvSpPr>
          <p:cNvPr id="24" name="TextBox 23"/>
          <p:cNvSpPr txBox="1"/>
          <p:nvPr/>
        </p:nvSpPr>
        <p:spPr>
          <a:xfrm>
            <a:off x="4937283" y="5405628"/>
            <a:ext cx="6321723" cy="437387"/>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un mandat-poste, jusqu'à mille dollars — 8,50 $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B4 · Le colis de Yassine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6</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UN MOT À CONNAÎTRE POUR LES DÉLAIS</a:t>
            </a:r>
          </a:p>
        </p:txBody>
      </p:sp>
      <p:sp>
        <p:nvSpPr>
          <p:cNvPr id="6" name="Rounded Rectangle 5"/>
          <p:cNvSpPr/>
          <p:nvPr/>
        </p:nvSpPr>
        <p:spPr>
          <a:xfrm>
            <a:off x="566928" y="1225296"/>
            <a:ext cx="11057839" cy="1441196"/>
          </a:xfrm>
          <a:prstGeom prst="roundRect">
            <a:avLst>
              <a:gd name="adj" fmla="val 10151"/>
            </a:avLst>
          </a:prstGeom>
          <a:solidFill>
            <a:srgbClr val="FBEEDC"/>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8448" y="1682496"/>
            <a:ext cx="9594799" cy="618235"/>
          </a:xfrm>
          <a:prstGeom prst="rect">
            <a:avLst/>
          </a:prstGeom>
          <a:noFill/>
        </p:spPr>
        <p:txBody>
          <a:bodyPr wrap="square" lIns="0" rIns="0" tIns="0" bIns="0" anchor="t">
            <a:spAutoFit/>
          </a:bodyPr>
          <a:lstStyle/>
          <a:p>
            <a:pPr algn="l">
              <a:lnSpc>
                <a:spcPct val="122000"/>
              </a:lnSpc>
            </a:pPr>
            <a:r>
              <a:rPr sz="3400" b="1" i="0">
                <a:solidFill>
                  <a:srgbClr val="17181A"/>
                </a:solidFill>
                <a:latin typeface="Verdana"/>
              </a:rPr>
              <a:t>un jour ouvrable</a:t>
            </a:r>
          </a:p>
        </p:txBody>
      </p:sp>
      <p:sp>
        <p:nvSpPr>
          <p:cNvPr id="8" name="Rounded Rectangle 7"/>
          <p:cNvSpPr/>
          <p:nvPr/>
        </p:nvSpPr>
        <p:spPr>
          <a:xfrm>
            <a:off x="566928" y="2940812"/>
            <a:ext cx="11057839" cy="1303528"/>
          </a:xfrm>
          <a:prstGeom prst="roundRect">
            <a:avLst>
              <a:gd name="adj" fmla="val 11223"/>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9264" y="3215132"/>
            <a:ext cx="10234879" cy="846327"/>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Un jour où les bureaux sont ouverts : du lundi au vendredi, sans les jours fériés. « Deux jours ouvrables » un vendredi veut dire mardi, pas dimanche.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B4 · Le colis de Yassine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7</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ÉCOUTE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Écrivez le prix en chiffres</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Écoutez la phrase, puis écrivez le prix.</a:t>
            </a:r>
          </a:p>
        </p:txBody>
      </p:sp>
      <p:sp>
        <p:nvSpPr>
          <p:cNvPr id="8" name="Rounded Rectangle 7"/>
          <p:cNvSpPr/>
          <p:nvPr/>
        </p:nvSpPr>
        <p:spPr>
          <a:xfrm>
            <a:off x="566928" y="2139696"/>
            <a:ext cx="5464911" cy="986535"/>
          </a:xfrm>
          <a:prstGeom prst="roundRect">
            <a:avLst>
              <a:gd name="adj" fmla="val 14830"/>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450083"/>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514091"/>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1</a:t>
            </a:r>
          </a:p>
        </p:txBody>
      </p:sp>
      <p:sp>
        <p:nvSpPr>
          <p:cNvPr id="11" name="TextBox 10"/>
          <p:cNvSpPr txBox="1"/>
          <p:nvPr/>
        </p:nvSpPr>
        <p:spPr>
          <a:xfrm>
            <a:off x="1344168" y="2295144"/>
            <a:ext cx="4504791" cy="71221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 Un timbre à l'unité, ça coûte un dollar quarante-quatre. »</a:t>
            </a:r>
          </a:p>
        </p:txBody>
      </p:sp>
      <p:sp>
        <p:nvSpPr>
          <p:cNvPr id="12" name="Rounded Rectangle 11"/>
          <p:cNvSpPr/>
          <p:nvPr/>
        </p:nvSpPr>
        <p:spPr>
          <a:xfrm>
            <a:off x="6159855" y="2139696"/>
            <a:ext cx="5464911" cy="986535"/>
          </a:xfrm>
          <a:prstGeom prst="roundRect">
            <a:avLst>
              <a:gd name="adj" fmla="val 14830"/>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6434175" y="2450083"/>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34175" y="2514091"/>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2</a:t>
            </a:r>
          </a:p>
        </p:txBody>
      </p:sp>
      <p:sp>
        <p:nvSpPr>
          <p:cNvPr id="15" name="TextBox 14"/>
          <p:cNvSpPr txBox="1"/>
          <p:nvPr/>
        </p:nvSpPr>
        <p:spPr>
          <a:xfrm>
            <a:off x="6937095" y="2295144"/>
            <a:ext cx="4504791" cy="71221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 En carnet, un dollar vingt-quatre par timbre. »</a:t>
            </a:r>
          </a:p>
        </p:txBody>
      </p:sp>
      <p:sp>
        <p:nvSpPr>
          <p:cNvPr id="16" name="Rounded Rectangle 15"/>
          <p:cNvSpPr/>
          <p:nvPr/>
        </p:nvSpPr>
        <p:spPr>
          <a:xfrm>
            <a:off x="566928" y="3254248"/>
            <a:ext cx="5464911" cy="986535"/>
          </a:xfrm>
          <a:prstGeom prst="roundRect">
            <a:avLst>
              <a:gd name="adj" fmla="val 14830"/>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564635"/>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28643"/>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3</a:t>
            </a:r>
          </a:p>
        </p:txBody>
      </p:sp>
      <p:sp>
        <p:nvSpPr>
          <p:cNvPr id="19" name="TextBox 18"/>
          <p:cNvSpPr txBox="1"/>
          <p:nvPr/>
        </p:nvSpPr>
        <p:spPr>
          <a:xfrm>
            <a:off x="1344168" y="3409696"/>
            <a:ext cx="4504791" cy="71221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 Le colis standard, vingt-deux dollars. »</a:t>
            </a:r>
          </a:p>
        </p:txBody>
      </p:sp>
      <p:sp>
        <p:nvSpPr>
          <p:cNvPr id="20" name="Rounded Rectangle 19"/>
          <p:cNvSpPr/>
          <p:nvPr/>
        </p:nvSpPr>
        <p:spPr>
          <a:xfrm>
            <a:off x="6159855" y="3254248"/>
            <a:ext cx="5464911" cy="986535"/>
          </a:xfrm>
          <a:prstGeom prst="roundRect">
            <a:avLst>
              <a:gd name="adj" fmla="val 14830"/>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6434175" y="3564635"/>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434175" y="3628643"/>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4</a:t>
            </a:r>
          </a:p>
        </p:txBody>
      </p:sp>
      <p:sp>
        <p:nvSpPr>
          <p:cNvPr id="23" name="TextBox 22"/>
          <p:cNvSpPr txBox="1"/>
          <p:nvPr/>
        </p:nvSpPr>
        <p:spPr>
          <a:xfrm>
            <a:off x="6937095" y="3409696"/>
            <a:ext cx="4504791" cy="71221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 L'Xpresspost, trente-huit dollars. »</a:t>
            </a:r>
          </a:p>
        </p:txBody>
      </p:sp>
      <p:sp>
        <p:nvSpPr>
          <p:cNvPr id="24" name="Rounded Rectangle 23"/>
          <p:cNvSpPr/>
          <p:nvPr/>
        </p:nvSpPr>
        <p:spPr>
          <a:xfrm>
            <a:off x="566928" y="4368800"/>
            <a:ext cx="5464911" cy="986535"/>
          </a:xfrm>
          <a:prstGeom prst="roundRect">
            <a:avLst>
              <a:gd name="adj" fmla="val 14830"/>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679188"/>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4743196"/>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5</a:t>
            </a:r>
          </a:p>
        </p:txBody>
      </p:sp>
      <p:sp>
        <p:nvSpPr>
          <p:cNvPr id="27" name="TextBox 26"/>
          <p:cNvSpPr txBox="1"/>
          <p:nvPr/>
        </p:nvSpPr>
        <p:spPr>
          <a:xfrm>
            <a:off x="1344168" y="4524248"/>
            <a:ext cx="4504791" cy="71221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 Le recommandé, treize dollars quinze en plus. »</a:t>
            </a:r>
          </a:p>
        </p:txBody>
      </p:sp>
      <p:sp>
        <p:nvSpPr>
          <p:cNvPr id="28" name="Rounded Rectangle 27"/>
          <p:cNvSpPr/>
          <p:nvPr/>
        </p:nvSpPr>
        <p:spPr>
          <a:xfrm>
            <a:off x="6159855" y="4368800"/>
            <a:ext cx="5464911" cy="986535"/>
          </a:xfrm>
          <a:prstGeom prst="roundRect">
            <a:avLst>
              <a:gd name="adj" fmla="val 14830"/>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6434175" y="4679188"/>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6434175" y="4743196"/>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6</a:t>
            </a:r>
          </a:p>
        </p:txBody>
      </p:sp>
      <p:sp>
        <p:nvSpPr>
          <p:cNvPr id="31" name="TextBox 30"/>
          <p:cNvSpPr txBox="1"/>
          <p:nvPr/>
        </p:nvSpPr>
        <p:spPr>
          <a:xfrm>
            <a:off x="6937095" y="4524248"/>
            <a:ext cx="4504791" cy="71221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 Un mandat-poste, huit dollars cinquante. »</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B4 · Le colis de Yassine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8</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Écrivez le prix en chiffres</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5464911" cy="986535"/>
          </a:xfrm>
          <a:prstGeom prst="roundRect">
            <a:avLst>
              <a:gd name="adj" fmla="val 14830"/>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450083"/>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514091"/>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1</a:t>
            </a:r>
          </a:p>
        </p:txBody>
      </p:sp>
      <p:sp>
        <p:nvSpPr>
          <p:cNvPr id="11" name="TextBox 10"/>
          <p:cNvSpPr txBox="1"/>
          <p:nvPr/>
        </p:nvSpPr>
        <p:spPr>
          <a:xfrm>
            <a:off x="1344168" y="2295144"/>
            <a:ext cx="4504791" cy="71221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 Un timbre à l'unité, ça coûte un dollar quarante-quatre. »   </a:t>
            </a:r>
            <a:r>
              <a:rPr sz="1900" b="1" i="0">
                <a:solidFill>
                  <a:srgbClr val="07734A"/>
                </a:solidFill>
                <a:latin typeface="Verdana"/>
              </a:rPr>
              <a:t>» 1,44 $</a:t>
            </a:r>
          </a:p>
        </p:txBody>
      </p:sp>
      <p:sp>
        <p:nvSpPr>
          <p:cNvPr id="12" name="Rounded Rectangle 11"/>
          <p:cNvSpPr/>
          <p:nvPr/>
        </p:nvSpPr>
        <p:spPr>
          <a:xfrm>
            <a:off x="6159855" y="2139696"/>
            <a:ext cx="5464911" cy="986535"/>
          </a:xfrm>
          <a:prstGeom prst="roundRect">
            <a:avLst>
              <a:gd name="adj" fmla="val 14830"/>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6434175" y="2450083"/>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34175" y="2514091"/>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2</a:t>
            </a:r>
          </a:p>
        </p:txBody>
      </p:sp>
      <p:sp>
        <p:nvSpPr>
          <p:cNvPr id="15" name="TextBox 14"/>
          <p:cNvSpPr txBox="1"/>
          <p:nvPr/>
        </p:nvSpPr>
        <p:spPr>
          <a:xfrm>
            <a:off x="6937095" y="2295144"/>
            <a:ext cx="4504791" cy="71221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 En carnet, un dollar vingt-quatre par timbre. »   </a:t>
            </a:r>
            <a:r>
              <a:rPr sz="1900" b="1" i="0">
                <a:solidFill>
                  <a:srgbClr val="07734A"/>
                </a:solidFill>
                <a:latin typeface="Verdana"/>
              </a:rPr>
              <a:t>» 1,24 $</a:t>
            </a:r>
          </a:p>
        </p:txBody>
      </p:sp>
      <p:sp>
        <p:nvSpPr>
          <p:cNvPr id="16" name="Rounded Rectangle 15"/>
          <p:cNvSpPr/>
          <p:nvPr/>
        </p:nvSpPr>
        <p:spPr>
          <a:xfrm>
            <a:off x="566928" y="3254248"/>
            <a:ext cx="5464911" cy="986535"/>
          </a:xfrm>
          <a:prstGeom prst="roundRect">
            <a:avLst>
              <a:gd name="adj" fmla="val 14830"/>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564635"/>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28643"/>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3</a:t>
            </a:r>
          </a:p>
        </p:txBody>
      </p:sp>
      <p:sp>
        <p:nvSpPr>
          <p:cNvPr id="19" name="TextBox 18"/>
          <p:cNvSpPr txBox="1"/>
          <p:nvPr/>
        </p:nvSpPr>
        <p:spPr>
          <a:xfrm>
            <a:off x="1344168" y="3409696"/>
            <a:ext cx="4504791" cy="71221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 Le colis standard, vingt-deux dollars. »   </a:t>
            </a:r>
            <a:r>
              <a:rPr sz="1900" b="1" i="0">
                <a:solidFill>
                  <a:srgbClr val="07734A"/>
                </a:solidFill>
                <a:latin typeface="Verdana"/>
              </a:rPr>
              <a:t>» 22 $</a:t>
            </a:r>
          </a:p>
        </p:txBody>
      </p:sp>
      <p:sp>
        <p:nvSpPr>
          <p:cNvPr id="20" name="Rounded Rectangle 19"/>
          <p:cNvSpPr/>
          <p:nvPr/>
        </p:nvSpPr>
        <p:spPr>
          <a:xfrm>
            <a:off x="6159855" y="3254248"/>
            <a:ext cx="5464911" cy="986535"/>
          </a:xfrm>
          <a:prstGeom prst="roundRect">
            <a:avLst>
              <a:gd name="adj" fmla="val 14830"/>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6434175" y="3564635"/>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434175" y="3628643"/>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4</a:t>
            </a:r>
          </a:p>
        </p:txBody>
      </p:sp>
      <p:sp>
        <p:nvSpPr>
          <p:cNvPr id="23" name="TextBox 22"/>
          <p:cNvSpPr txBox="1"/>
          <p:nvPr/>
        </p:nvSpPr>
        <p:spPr>
          <a:xfrm>
            <a:off x="6937095" y="3409696"/>
            <a:ext cx="4504791" cy="71221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 L'Xpresspost, trente-huit dollars. »   </a:t>
            </a:r>
            <a:r>
              <a:rPr sz="1900" b="1" i="0">
                <a:solidFill>
                  <a:srgbClr val="07734A"/>
                </a:solidFill>
                <a:latin typeface="Verdana"/>
              </a:rPr>
              <a:t>» 38 $</a:t>
            </a:r>
          </a:p>
        </p:txBody>
      </p:sp>
      <p:sp>
        <p:nvSpPr>
          <p:cNvPr id="24" name="Rounded Rectangle 23"/>
          <p:cNvSpPr/>
          <p:nvPr/>
        </p:nvSpPr>
        <p:spPr>
          <a:xfrm>
            <a:off x="566928" y="4368800"/>
            <a:ext cx="5464911" cy="986535"/>
          </a:xfrm>
          <a:prstGeom prst="roundRect">
            <a:avLst>
              <a:gd name="adj" fmla="val 14830"/>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679188"/>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4743196"/>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5</a:t>
            </a:r>
          </a:p>
        </p:txBody>
      </p:sp>
      <p:sp>
        <p:nvSpPr>
          <p:cNvPr id="27" name="TextBox 26"/>
          <p:cNvSpPr txBox="1"/>
          <p:nvPr/>
        </p:nvSpPr>
        <p:spPr>
          <a:xfrm>
            <a:off x="1344168" y="4524248"/>
            <a:ext cx="4504791" cy="71221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 Le recommandé, treize dollars quinze en plus. »   </a:t>
            </a:r>
            <a:r>
              <a:rPr sz="1900" b="1" i="0">
                <a:solidFill>
                  <a:srgbClr val="07734A"/>
                </a:solidFill>
                <a:latin typeface="Verdana"/>
              </a:rPr>
              <a:t>» 13,15 $</a:t>
            </a:r>
          </a:p>
        </p:txBody>
      </p:sp>
      <p:sp>
        <p:nvSpPr>
          <p:cNvPr id="28" name="Rounded Rectangle 27"/>
          <p:cNvSpPr/>
          <p:nvPr/>
        </p:nvSpPr>
        <p:spPr>
          <a:xfrm>
            <a:off x="6159855" y="4368800"/>
            <a:ext cx="5464911" cy="986535"/>
          </a:xfrm>
          <a:prstGeom prst="roundRect">
            <a:avLst>
              <a:gd name="adj" fmla="val 14830"/>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6434175" y="4679188"/>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6434175" y="4743196"/>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6</a:t>
            </a:r>
          </a:p>
        </p:txBody>
      </p:sp>
      <p:sp>
        <p:nvSpPr>
          <p:cNvPr id="31" name="TextBox 30"/>
          <p:cNvSpPr txBox="1"/>
          <p:nvPr/>
        </p:nvSpPr>
        <p:spPr>
          <a:xfrm>
            <a:off x="6937095" y="4524248"/>
            <a:ext cx="4504791" cy="71221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 Un mandat-poste, huit dollars cinquante. »   </a:t>
            </a:r>
            <a:r>
              <a:rPr sz="1900" b="1" i="0">
                <a:solidFill>
                  <a:srgbClr val="07734A"/>
                </a:solidFill>
                <a:latin typeface="Verdana"/>
              </a:rPr>
              <a:t>» 8,50 $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B4 · Le colis de Yassine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9</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COMPRÉHENSION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Quelle réponse donne la préposée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Associez la question à la réponse.</a:t>
            </a:r>
          </a:p>
        </p:txBody>
      </p:sp>
      <p:sp>
        <p:nvSpPr>
          <p:cNvPr id="8" name="Rounded Rectangle 7"/>
          <p:cNvSpPr/>
          <p:nvPr/>
        </p:nvSpPr>
        <p:spPr>
          <a:xfrm>
            <a:off x="566928" y="213969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 Un timbre à l'unité, ça coûte combien ? »</a:t>
            </a:r>
          </a:p>
        </p:txBody>
      </p:sp>
      <p:sp>
        <p:nvSpPr>
          <p:cNvPr id="12" name="Rounded Rectangle 11"/>
          <p:cNvSpPr/>
          <p:nvPr/>
        </p:nvSpPr>
        <p:spPr>
          <a:xfrm>
            <a:off x="566928" y="2827528"/>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 Et si je prends un carnet ? »</a:t>
            </a:r>
          </a:p>
        </p:txBody>
      </p:sp>
      <p:sp>
        <p:nvSpPr>
          <p:cNvPr id="16" name="Rounded Rectangle 15"/>
          <p:cNvSpPr/>
          <p:nvPr/>
        </p:nvSpPr>
        <p:spPr>
          <a:xfrm>
            <a:off x="566928" y="3515359"/>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 Combien de temps, le colis standard ? »</a:t>
            </a:r>
          </a:p>
        </p:txBody>
      </p:sp>
      <p:sp>
        <p:nvSpPr>
          <p:cNvPr id="20" name="Rounded Rectangle 19"/>
          <p:cNvSpPr/>
          <p:nvPr/>
        </p:nvSpPr>
        <p:spPr>
          <a:xfrm>
            <a:off x="566928" y="4203192"/>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 Et l'Xpresspost ? »</a:t>
            </a:r>
          </a:p>
        </p:txBody>
      </p:sp>
      <p:sp>
        <p:nvSpPr>
          <p:cNvPr id="24" name="Rounded Rectangle 23"/>
          <p:cNvSpPr/>
          <p:nvPr/>
        </p:nvSpPr>
        <p:spPr>
          <a:xfrm>
            <a:off x="566928" y="4891023"/>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 Le recommandé, c'est en plus ? »</a:t>
            </a:r>
          </a:p>
        </p:txBody>
      </p:sp>
      <p:sp>
        <p:nvSpPr>
          <p:cNvPr id="28" name="Rounded Rectangle 27"/>
          <p:cNvSpPr/>
          <p:nvPr/>
        </p:nvSpPr>
        <p:spPr>
          <a:xfrm>
            <a:off x="566928" y="557885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 Un mandat-poste, ça coûte quelque chose ? »</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B4 · Le colis de Yassine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10</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Quelle réponse donne la préposée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 Un timbre à l'unité, ça coûte combien ? »   </a:t>
            </a:r>
            <a:r>
              <a:rPr sz="1400" b="1" i="0">
                <a:solidFill>
                  <a:srgbClr val="07734A"/>
                </a:solidFill>
                <a:latin typeface="Verdana"/>
              </a:rPr>
              <a:t>» un dollar quarante-quatre</a:t>
            </a:r>
          </a:p>
        </p:txBody>
      </p:sp>
      <p:sp>
        <p:nvSpPr>
          <p:cNvPr id="12" name="Rounded Rectangle 11"/>
          <p:cNvSpPr/>
          <p:nvPr/>
        </p:nvSpPr>
        <p:spPr>
          <a:xfrm>
            <a:off x="566928" y="2827528"/>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 Et si je prends un carnet ? »   </a:t>
            </a:r>
            <a:r>
              <a:rPr sz="1400" b="1" i="0">
                <a:solidFill>
                  <a:srgbClr val="07734A"/>
                </a:solidFill>
                <a:latin typeface="Verdana"/>
              </a:rPr>
              <a:t>» un dollar vingt-quatre par timbre : c'est moins cher</a:t>
            </a:r>
          </a:p>
        </p:txBody>
      </p:sp>
      <p:sp>
        <p:nvSpPr>
          <p:cNvPr id="16" name="Rounded Rectangle 15"/>
          <p:cNvSpPr/>
          <p:nvPr/>
        </p:nvSpPr>
        <p:spPr>
          <a:xfrm>
            <a:off x="566928" y="3515359"/>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 Combien de temps, le colis standard ? »   </a:t>
            </a:r>
            <a:r>
              <a:rPr sz="1400" b="1" i="0">
                <a:solidFill>
                  <a:srgbClr val="07734A"/>
                </a:solidFill>
                <a:latin typeface="Verdana"/>
              </a:rPr>
              <a:t>» à peu près une semaine, d'un bout à l'autre du pays</a:t>
            </a:r>
          </a:p>
        </p:txBody>
      </p:sp>
      <p:sp>
        <p:nvSpPr>
          <p:cNvPr id="20" name="Rounded Rectangle 19"/>
          <p:cNvSpPr/>
          <p:nvPr/>
        </p:nvSpPr>
        <p:spPr>
          <a:xfrm>
            <a:off x="566928" y="4203192"/>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 Et l'Xpresspost ? »   </a:t>
            </a:r>
            <a:r>
              <a:rPr sz="1400" b="1" i="0">
                <a:solidFill>
                  <a:srgbClr val="07734A"/>
                </a:solidFill>
                <a:latin typeface="Verdana"/>
              </a:rPr>
              <a:t>» un ou deux jours ouvrables, avec une garantie</a:t>
            </a:r>
          </a:p>
        </p:txBody>
      </p:sp>
      <p:sp>
        <p:nvSpPr>
          <p:cNvPr id="24" name="Rounded Rectangle 23"/>
          <p:cNvSpPr/>
          <p:nvPr/>
        </p:nvSpPr>
        <p:spPr>
          <a:xfrm>
            <a:off x="566928" y="4891023"/>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 Le recommandé, c'est en plus ? »   </a:t>
            </a:r>
            <a:r>
              <a:rPr sz="1400" b="1" i="0">
                <a:solidFill>
                  <a:srgbClr val="07734A"/>
                </a:solidFill>
                <a:latin typeface="Verdana"/>
              </a:rPr>
              <a:t>» treize dollars quinze, en plus de l'affranchissement</a:t>
            </a:r>
          </a:p>
        </p:txBody>
      </p:sp>
      <p:sp>
        <p:nvSpPr>
          <p:cNvPr id="28" name="Rounded Rectangle 27"/>
          <p:cNvSpPr/>
          <p:nvPr/>
        </p:nvSpPr>
        <p:spPr>
          <a:xfrm>
            <a:off x="566928" y="557885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 Un mandat-poste, ça coûte quelque chose ? »   </a:t>
            </a:r>
            <a:r>
              <a:rPr sz="1400" b="1" i="0">
                <a:solidFill>
                  <a:srgbClr val="07734A"/>
                </a:solidFill>
                <a:latin typeface="Verdana"/>
              </a:rPr>
              <a:t>» huit dollars cinquante, jusqu'à mille dollars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B4 · Le colis de Yassine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11</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APRÈS LA RÉPONSE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piège le plus fréquent</a:t>
            </a:r>
          </a:p>
        </p:txBody>
      </p:sp>
      <p:sp>
        <p:nvSpPr>
          <p:cNvPr id="7" name="Rounded Rectangle 6"/>
          <p:cNvSpPr/>
          <p:nvPr/>
        </p:nvSpPr>
        <p:spPr>
          <a:xfrm>
            <a:off x="566928" y="1856232"/>
            <a:ext cx="5428335" cy="2331720"/>
          </a:xfrm>
          <a:prstGeom prst="roundRect">
            <a:avLst>
              <a:gd name="adj" fmla="val 6274"/>
            </a:avLst>
          </a:prstGeom>
          <a:solidFill>
            <a:srgbClr val="FFF6F5"/>
          </a:solidFill>
          <a:ln w="127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B91C1C"/>
                </a:solidFill>
                <a:latin typeface="Verdana"/>
              </a:rPr>
              <a:t>ON ENTEND SOUVENT</a:t>
            </a:r>
          </a:p>
        </p:txBody>
      </p:sp>
      <p:sp>
        <p:nvSpPr>
          <p:cNvPr id="9" name="TextBox 8"/>
          <p:cNvSpPr txBox="1"/>
          <p:nvPr/>
        </p:nvSpPr>
        <p:spPr>
          <a:xfrm>
            <a:off x="932688"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D'accord, merci. (sans avoir compris)</a:t>
            </a:r>
          </a:p>
        </p:txBody>
      </p:sp>
      <p:sp>
        <p:nvSpPr>
          <p:cNvPr id="10" name="Rounded Rectangle 9"/>
          <p:cNvSpPr/>
          <p:nvPr/>
        </p:nvSpPr>
        <p:spPr>
          <a:xfrm>
            <a:off x="6196431" y="1856232"/>
            <a:ext cx="5428335" cy="2331720"/>
          </a:xfrm>
          <a:prstGeom prst="roundRect">
            <a:avLst>
              <a:gd name="adj" fmla="val 6274"/>
            </a:avLst>
          </a:prstGeom>
          <a:solidFill>
            <a:srgbClr val="E6F5EE"/>
          </a:solidFill>
          <a:ln w="12700">
            <a:solidFill>
              <a:srgbClr val="0A8F5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562191"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07734A"/>
                </a:solidFill>
                <a:latin typeface="Verdana"/>
              </a:rPr>
              <a:t>IL FAUT DIRE PLUTÔT</a:t>
            </a:r>
          </a:p>
        </p:txBody>
      </p:sp>
      <p:sp>
        <p:nvSpPr>
          <p:cNvPr id="12" name="TextBox 11"/>
          <p:cNvSpPr txBox="1"/>
          <p:nvPr/>
        </p:nvSpPr>
        <p:spPr>
          <a:xfrm>
            <a:off x="6562191"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Vingt-deux dollars ? Vingt-deux ?</a:t>
            </a:r>
          </a:p>
        </p:txBody>
      </p:sp>
      <p:sp>
        <p:nvSpPr>
          <p:cNvPr id="13" name="Rounded Rectangle 12"/>
          <p:cNvSpPr/>
          <p:nvPr/>
        </p:nvSpPr>
        <p:spPr>
          <a:xfrm>
            <a:off x="566928" y="4462272"/>
            <a:ext cx="11057839" cy="1618487"/>
          </a:xfrm>
          <a:prstGeom prst="roundRect">
            <a:avLst>
              <a:gd name="adj" fmla="val 9039"/>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69264" y="4736592"/>
            <a:ext cx="10234879" cy="11506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Dire « d'accord » quand on n'a pas compris est le réflexe le plus coûteux du module : on paie un prix qu'on n'a pas choisi, et on ne s'en aperçoit qu'en regardant le reçu dehors. Répéter le chiffre prend deux secondes.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B4 · Le colis de Yassine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12</a:t>
            </a:r>
          </a:p>
        </p:txBody>
      </p:sp>
      <p:sp>
        <p:nvSpPr>
          <p:cNvPr id="5" name="Rectangle 4"/>
          <p:cNvSpPr/>
          <p:nvPr/>
        </p:nvSpPr>
        <p:spPr>
          <a:xfrm>
            <a:off x="0" y="0"/>
            <a:ext cx="12191695" cy="6858000"/>
          </a:xfrm>
          <a:prstGeom prst="rect">
            <a:avLst/>
          </a:prstGeom>
          <a:solidFill>
            <a:srgbClr val="17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051560"/>
            <a:ext cx="11057839" cy="274320"/>
          </a:xfrm>
          <a:prstGeom prst="rect">
            <a:avLst/>
          </a:prstGeom>
          <a:noFill/>
        </p:spPr>
        <p:txBody>
          <a:bodyPr wrap="square" lIns="0" rIns="0" tIns="0" bIns="0" anchor="t">
            <a:spAutoFit/>
          </a:bodyPr>
          <a:lstStyle/>
          <a:p>
            <a:pPr algn="l">
              <a:lnSpc>
                <a:spcPct val="135000"/>
              </a:lnSpc>
            </a:pPr>
            <a:r>
              <a:rPr sz="1300" b="1" i="0" spc="156">
                <a:solidFill>
                  <a:srgbClr val="FFFFFF"/>
                </a:solidFill>
                <a:latin typeface="Verdana"/>
              </a:rPr>
              <a:t>BILLET DE SORTIE</a:t>
            </a:r>
          </a:p>
        </p:txBody>
      </p:sp>
      <p:sp>
        <p:nvSpPr>
          <p:cNvPr id="7" name="TextBox 6"/>
          <p:cNvSpPr txBox="1"/>
          <p:nvPr/>
        </p:nvSpPr>
        <p:spPr>
          <a:xfrm>
            <a:off x="566928" y="1572768"/>
            <a:ext cx="9777679" cy="2103120"/>
          </a:xfrm>
          <a:prstGeom prst="rect">
            <a:avLst/>
          </a:prstGeom>
          <a:noFill/>
        </p:spPr>
        <p:txBody>
          <a:bodyPr wrap="square" lIns="0" rIns="0" tIns="0" bIns="0" anchor="t">
            <a:spAutoFit/>
          </a:bodyPr>
          <a:lstStyle/>
          <a:p>
            <a:pPr algn="l">
              <a:lnSpc>
                <a:spcPct val="125000"/>
              </a:lnSpc>
            </a:pPr>
            <a:r>
              <a:rPr sz="3400" b="1" i="0">
                <a:solidFill>
                  <a:srgbClr val="FFFFFF"/>
                </a:solidFill>
                <a:latin typeface="Verdana"/>
              </a:rPr>
              <a:t>Écrivez un prix que vous avez entendu cette semaine, en toutes lettres.</a:t>
            </a:r>
          </a:p>
        </p:txBody>
      </p:sp>
      <p:sp>
        <p:nvSpPr>
          <p:cNvPr id="8" name="Rounded Rectangle 7"/>
          <p:cNvSpPr/>
          <p:nvPr/>
        </p:nvSpPr>
        <p:spPr>
          <a:xfrm>
            <a:off x="566928" y="3931920"/>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4087368"/>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À l'épicerie, à l'autobus, à la pharmacie ?</a:t>
            </a:r>
          </a:p>
        </p:txBody>
      </p:sp>
      <p:sp>
        <p:nvSpPr>
          <p:cNvPr id="10" name="Rounded Rectangle 9"/>
          <p:cNvSpPr/>
          <p:nvPr/>
        </p:nvSpPr>
        <p:spPr>
          <a:xfrm>
            <a:off x="566928" y="4680712"/>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4836160"/>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Est-ce que vous l'avez fait répéter ?</a:t>
            </a:r>
          </a:p>
        </p:txBody>
      </p:sp>
      <p:sp>
        <p:nvSpPr>
          <p:cNvPr id="12" name="TextBox 11"/>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B4 · Le colis de Yassine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