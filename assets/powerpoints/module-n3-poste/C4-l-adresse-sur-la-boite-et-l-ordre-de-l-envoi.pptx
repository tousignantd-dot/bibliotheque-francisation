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d'écriture. Apporter une vraie boîte de carton si possible : les deux adresses se placent avec la main, pas sur une diapositive.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troisième piste amène la raison d'être de l'adresse de l'expéditeur : sans elle, une boîte perdue est perdue pour de bon.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C'est le document de l'exercice `t2adresse` du module. Le faire recopier tel quel sur la fiche : la mise en page s'apprend en la reproduisant.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Beaucoup de pays écrivent l'adresse dans l'ordre inverse, du pays vers la personne. Le dire, et faire comparer avec ce que les élèves connaissent.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 à photographier. Faire écrire son propre code postal à chaque élève, puis le faire épeler à voix haute au voisin : c'est l'entraînement de la diapositive suivante.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épeler son nom de famille à chaque élève devant le groupe. Cinq minutes, et c'est la compétence la plus transférable de la séance.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l'exercice `t2adresse` du module interactif. Le document de référence est le tableau projeté deux diapositives plus haut : y revenir à chaque réponse.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l'exercice `t2etapes` du module. Il résume les blocs B et C en six lignes : le projeter à la fin et le faire raconter par un élève, de mémoire, comme une histoire.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Ramasser et corriger. C'est un billet qui sert bien au-delà du module : beaucoup d'élèves n'ont jamais écrit leur adresse dans l'ordre d'ici.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SÉANCE C4  ·  MODULE 7</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L'adresse sur la boîte, et l'ordre de l'envoi</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Deux adresses sur la même boîte, jamais au même endroit : la vôtre en haut à gauche, celle de l'autre au milieu. Et six étapes qui reviennent toujours dans le même ordre.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Le colis de Yassine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placer l'adresse de l'expéditeur et celle du destinataire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écrire une adresse québécoise complète, avec le code postal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épeler un nom quand on le demande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remettre les six étapes d'un envoi dans l'ordre.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Où va chaque adresse sur cette boîte-là ?</a:t>
            </a:r>
          </a:p>
        </p:txBody>
      </p:sp>
      <p:sp>
        <p:nvSpPr>
          <p:cNvPr id="7" name="Rounded Rectangle 6"/>
          <p:cNvSpPr/>
          <p:nvPr/>
        </p:nvSpPr>
        <p:spPr>
          <a:xfrm>
            <a:off x="7424927" y="1719072"/>
            <a:ext cx="4199839" cy="4361688"/>
          </a:xfrm>
          <a:prstGeom prst="roundRect">
            <a:avLst>
              <a:gd name="adj" fmla="val 348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8" name="Picture 7" descr="ruban-boite.jpg"/>
          <p:cNvPicPr>
            <a:picLocks noChangeAspect="1"/>
          </p:cNvPicPr>
          <p:nvPr/>
        </p:nvPicPr>
        <p:blipFill>
          <a:blip r:embed="rId2"/>
          <a:stretch>
            <a:fillRect/>
          </a:stretch>
        </p:blipFill>
        <p:spPr>
          <a:xfrm>
            <a:off x="7644383" y="2638339"/>
            <a:ext cx="3760927" cy="2523153"/>
          </a:xfrm>
          <a:prstGeom prst="rect">
            <a:avLst/>
          </a:prstGeom>
        </p:spPr>
      </p:pic>
      <p:sp>
        <p:nvSpPr>
          <p:cNvPr id="9" name="Rounded Rectangle 8"/>
          <p:cNvSpPr/>
          <p:nvPr/>
        </p:nvSpPr>
        <p:spPr>
          <a:xfrm>
            <a:off x="566928" y="1856232"/>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566928" y="1965960"/>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0976" y="2039112"/>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Combien d'adresses faut-il écrire ?</a:t>
            </a:r>
          </a:p>
        </p:txBody>
      </p:sp>
      <p:sp>
        <p:nvSpPr>
          <p:cNvPr id="12" name="Rounded Rectangle 11"/>
          <p:cNvSpPr/>
          <p:nvPr/>
        </p:nvSpPr>
        <p:spPr>
          <a:xfrm>
            <a:off x="566928" y="2642108"/>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566928" y="2751836"/>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50976" y="2824988"/>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Laquelle doit être la plus grosse ?</a:t>
            </a:r>
          </a:p>
        </p:txBody>
      </p:sp>
      <p:sp>
        <p:nvSpPr>
          <p:cNvPr id="15" name="Rounded Rectangle 14"/>
          <p:cNvSpPr/>
          <p:nvPr/>
        </p:nvSpPr>
        <p:spPr>
          <a:xfrm>
            <a:off x="566928" y="3427984"/>
            <a:ext cx="6492240" cy="1041400"/>
          </a:xfrm>
          <a:prstGeom prst="roundRect">
            <a:avLst>
              <a:gd name="adj" fmla="val 14048"/>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566928" y="3537712"/>
            <a:ext cx="50292" cy="821944"/>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50976" y="3610864"/>
            <a:ext cx="5806440" cy="71221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arrive si la boîte ne se rend pas ?</a:t>
            </a:r>
          </a:p>
        </p:txBody>
      </p:sp>
      <p:sp>
        <p:nvSpPr>
          <p:cNvPr id="18" name="Rounded Rectangle 17"/>
          <p:cNvSpPr/>
          <p:nvPr/>
        </p:nvSpPr>
        <p:spPr>
          <a:xfrm>
            <a:off x="566928" y="4551680"/>
            <a:ext cx="6492240"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566928" y="4661408"/>
            <a:ext cx="50292" cy="484123"/>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950976" y="4734560"/>
            <a:ext cx="5806440"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Où écrit-on « fragile » ou « ne pas plier »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est écrit sur la boîte de Yassine</a:t>
            </a:r>
          </a:p>
        </p:txBody>
      </p:sp>
      <p:sp>
        <p:nvSpPr>
          <p:cNvPr id="7" name="Rounded Rectangle 6"/>
          <p:cNvSpPr/>
          <p:nvPr/>
        </p:nvSpPr>
        <p:spPr>
          <a:xfrm>
            <a:off x="566928" y="1810512"/>
            <a:ext cx="11057839" cy="3253740"/>
          </a:xfrm>
          <a:prstGeom prst="roundRect">
            <a:avLst>
              <a:gd name="adj" fmla="val 4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OÙ</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 EST ÉCRIT</a:t>
            </a:r>
          </a:p>
        </p:txBody>
      </p:sp>
      <p:sp>
        <p:nvSpPr>
          <p:cNvPr id="10" name="TextBox 9"/>
          <p:cNvSpPr txBox="1"/>
          <p:nvPr/>
        </p:nvSpPr>
        <p:spPr>
          <a:xfrm>
            <a:off x="932688" y="2395728"/>
            <a:ext cx="3291492"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En haut à gauche</a:t>
            </a:r>
          </a:p>
        </p:txBody>
      </p:sp>
      <p:sp>
        <p:nvSpPr>
          <p:cNvPr id="11" name="TextBox 10"/>
          <p:cNvSpPr txBox="1"/>
          <p:nvPr/>
        </p:nvSpPr>
        <p:spPr>
          <a:xfrm>
            <a:off x="4443636" y="2395728"/>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Yassine Berrada — 2145, 8e Avenue, app. 3</a:t>
            </a:r>
          </a:p>
        </p:txBody>
      </p:sp>
      <p:sp>
        <p:nvSpPr>
          <p:cNvPr id="12" name="Rectangle 11"/>
          <p:cNvSpPr/>
          <p:nvPr/>
        </p:nvSpPr>
        <p:spPr>
          <a:xfrm>
            <a:off x="932688" y="27904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18460"/>
            <a:ext cx="3291492"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La suite</a:t>
            </a:r>
          </a:p>
        </p:txBody>
      </p:sp>
      <p:sp>
        <p:nvSpPr>
          <p:cNvPr id="14" name="TextBox 13"/>
          <p:cNvSpPr txBox="1"/>
          <p:nvPr/>
        </p:nvSpPr>
        <p:spPr>
          <a:xfrm>
            <a:off x="4443636" y="2918460"/>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Québec (Québec) G1J 3K7</a:t>
            </a:r>
          </a:p>
        </p:txBody>
      </p:sp>
      <p:sp>
        <p:nvSpPr>
          <p:cNvPr id="15" name="Rectangle 14"/>
          <p:cNvSpPr/>
          <p:nvPr/>
        </p:nvSpPr>
        <p:spPr>
          <a:xfrm>
            <a:off x="932688" y="33131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41192"/>
            <a:ext cx="3291492"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Au milieu, en plus gros</a:t>
            </a:r>
          </a:p>
        </p:txBody>
      </p:sp>
      <p:sp>
        <p:nvSpPr>
          <p:cNvPr id="17" name="TextBox 16"/>
          <p:cNvSpPr txBox="1"/>
          <p:nvPr/>
        </p:nvSpPr>
        <p:spPr>
          <a:xfrm>
            <a:off x="4443636" y="3441192"/>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Karim Berrada — 780, 14e Rue Nord-Ouest</a:t>
            </a:r>
          </a:p>
        </p:txBody>
      </p:sp>
      <p:sp>
        <p:nvSpPr>
          <p:cNvPr id="18" name="Rectangle 17"/>
          <p:cNvSpPr/>
          <p:nvPr/>
        </p:nvSpPr>
        <p:spPr>
          <a:xfrm>
            <a:off x="932688" y="3835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963924"/>
            <a:ext cx="3291492"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La suite</a:t>
            </a:r>
          </a:p>
        </p:txBody>
      </p:sp>
      <p:sp>
        <p:nvSpPr>
          <p:cNvPr id="20" name="TextBox 19"/>
          <p:cNvSpPr txBox="1"/>
          <p:nvPr/>
        </p:nvSpPr>
        <p:spPr>
          <a:xfrm>
            <a:off x="4443636" y="3963924"/>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Calgary (Alberta) T2M 3P4</a:t>
            </a:r>
          </a:p>
        </p:txBody>
      </p:sp>
      <p:sp>
        <p:nvSpPr>
          <p:cNvPr id="21" name="Rectangle 20"/>
          <p:cNvSpPr/>
          <p:nvPr/>
        </p:nvSpPr>
        <p:spPr>
          <a:xfrm>
            <a:off x="932688" y="43586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486656"/>
            <a:ext cx="3291492" cy="321564"/>
          </a:xfrm>
          <a:prstGeom prst="rect">
            <a:avLst/>
          </a:prstGeom>
          <a:noFill/>
        </p:spPr>
        <p:txBody>
          <a:bodyPr wrap="square" lIns="0" rIns="0" tIns="0" bIns="0" anchor="t">
            <a:spAutoFit/>
          </a:bodyPr>
          <a:lstStyle/>
          <a:p>
            <a:pPr algn="l">
              <a:lnSpc>
                <a:spcPct val="132000"/>
              </a:lnSpc>
            </a:pPr>
            <a:r>
              <a:rPr sz="1700" b="1" i="0">
                <a:solidFill>
                  <a:srgbClr val="B45309"/>
                </a:solidFill>
                <a:latin typeface="Verdana"/>
              </a:rPr>
              <a:t>À la main, sur le côté</a:t>
            </a:r>
          </a:p>
        </p:txBody>
      </p:sp>
      <p:sp>
        <p:nvSpPr>
          <p:cNvPr id="23" name="TextBox 22"/>
          <p:cNvSpPr txBox="1"/>
          <p:nvPr/>
        </p:nvSpPr>
        <p:spPr>
          <a:xfrm>
            <a:off x="4443636" y="4486656"/>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Ne pas plier — deux kilos cent</a:t>
            </a:r>
          </a:p>
        </p:txBody>
      </p:sp>
      <p:sp>
        <p:nvSpPr>
          <p:cNvPr id="24" name="Rounded Rectangle 23"/>
          <p:cNvSpPr/>
          <p:nvPr/>
        </p:nvSpPr>
        <p:spPr>
          <a:xfrm>
            <a:off x="566928" y="530199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9264" y="555802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En haut à gauche : celui qui envoie. Au milieu : celui qui reçoit.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L'ORDRE DES LIGNES, TOUJOURS LE MÊME</a:t>
            </a:r>
          </a:p>
        </p:txBody>
      </p:sp>
      <p:sp>
        <p:nvSpPr>
          <p:cNvPr id="6" name="Rounded Rectangle 5"/>
          <p:cNvSpPr/>
          <p:nvPr/>
        </p:nvSpPr>
        <p:spPr>
          <a:xfrm>
            <a:off x="566928" y="1225296"/>
            <a:ext cx="11057839" cy="1967991"/>
          </a:xfrm>
          <a:prstGeom prst="roundRect">
            <a:avLst>
              <a:gd name="adj" fmla="val 7434"/>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le nom, le numéro et la rue, la ville, la province, le code postal</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Cinq lignes, jamais dans un autre ordre. Le numéro d'appartement se met après la rue, avec « app. ». La province s'écrit entre parenthèses après la ville : Québec (Québec), Calgary (Alberta).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LE CODE POSTAL</a:t>
            </a:r>
          </a:p>
        </p:txBody>
      </p:sp>
      <p:sp>
        <p:nvSpPr>
          <p:cNvPr id="6" name="Rounded Rectangle 5"/>
          <p:cNvSpPr/>
          <p:nvPr/>
        </p:nvSpPr>
        <p:spPr>
          <a:xfrm>
            <a:off x="566928" y="1225296"/>
            <a:ext cx="11057839" cy="1441196"/>
          </a:xfrm>
          <a:prstGeom prst="roundRect">
            <a:avLst>
              <a:gd name="adj" fmla="val 10151"/>
            </a:avLst>
          </a:prstGeom>
          <a:solidFill>
            <a:srgbClr val="FBEEDC"/>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618235"/>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G1J 3K7</a:t>
            </a:r>
          </a:p>
        </p:txBody>
      </p:sp>
      <p:sp>
        <p:nvSpPr>
          <p:cNvPr id="8" name="Rounded Rectangle 7"/>
          <p:cNvSpPr/>
          <p:nvPr/>
        </p:nvSpPr>
        <p:spPr>
          <a:xfrm>
            <a:off x="566928" y="2940812"/>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215132"/>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Six caractères : une lettre, un chiffre, une lettre, une espace, un chiffre, une lettre, un chiffre. Il dit exactement où livrer. Sans lui, la boîte part quand même, mais elle met plus de temps.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ÉPELER QUAND ON VOUS LE DEMANDE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Quatre choses à savoir</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656843"/>
          </a:xfrm>
          <a:prstGeom prst="rect">
            <a:avLst/>
          </a:prstGeom>
          <a:noFill/>
        </p:spPr>
        <p:txBody>
          <a:bodyPr wrap="square" lIns="0" rIns="0" tIns="0" bIns="0" anchor="t">
            <a:spAutoFit/>
          </a:bodyPr>
          <a:lstStyle/>
          <a:p>
            <a:pPr algn="l">
              <a:lnSpc>
                <a:spcPct val="118000"/>
              </a:lnSpc>
            </a:pPr>
            <a:r>
              <a:rPr sz="2100" b="1" i="0">
                <a:solidFill>
                  <a:srgbClr val="B45309"/>
                </a:solidFill>
                <a:latin typeface="Verdana"/>
              </a:rPr>
              <a:t>« Vous épelez, s'il vous plaît ? »</a:t>
            </a:r>
          </a:p>
        </p:txBody>
      </p:sp>
      <p:sp>
        <p:nvSpPr>
          <p:cNvPr id="9" name="TextBox 8"/>
          <p:cNvSpPr txBox="1"/>
          <p:nvPr/>
        </p:nvSpPr>
        <p:spPr>
          <a:xfrm>
            <a:off x="886968" y="276910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La préposée demande souvent d'épeler un nom de famille. Ce n'est pas une marque de méfiance : elle doit l'écrire sans faute.</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656843"/>
          </a:xfrm>
          <a:prstGeom prst="rect">
            <a:avLst/>
          </a:prstGeom>
          <a:noFill/>
        </p:spPr>
        <p:txBody>
          <a:bodyPr wrap="square" lIns="0" rIns="0" tIns="0" bIns="0" anchor="t">
            <a:spAutoFit/>
          </a:bodyPr>
          <a:lstStyle/>
          <a:p>
            <a:pPr algn="l">
              <a:lnSpc>
                <a:spcPct val="118000"/>
              </a:lnSpc>
            </a:pPr>
            <a:r>
              <a:rPr sz="2100" b="1" i="0">
                <a:solidFill>
                  <a:srgbClr val="B45309"/>
                </a:solidFill>
                <a:latin typeface="Verdana"/>
              </a:rPr>
              <a:t>Dire la lettre, puis un mot</a:t>
            </a:r>
          </a:p>
        </p:txBody>
      </p:sp>
      <p:sp>
        <p:nvSpPr>
          <p:cNvPr id="12" name="TextBox 11"/>
          <p:cNvSpPr txBox="1"/>
          <p:nvPr/>
        </p:nvSpPr>
        <p:spPr>
          <a:xfrm>
            <a:off x="6498183" y="276910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 B comme dans Boston. » C'est ce qu'on fait au téléphone et au comptoir quand deux lettres se ressemblent.</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656843"/>
          </a:xfrm>
          <a:prstGeom prst="rect">
            <a:avLst/>
          </a:prstGeom>
          <a:noFill/>
        </p:spPr>
        <p:txBody>
          <a:bodyPr wrap="square" lIns="0" rIns="0" tIns="0" bIns="0" anchor="t">
            <a:spAutoFit/>
          </a:bodyPr>
          <a:lstStyle/>
          <a:p>
            <a:pPr algn="l">
              <a:lnSpc>
                <a:spcPct val="118000"/>
              </a:lnSpc>
            </a:pPr>
            <a:r>
              <a:rPr sz="2100" b="1" i="0">
                <a:solidFill>
                  <a:srgbClr val="B45309"/>
                </a:solidFill>
                <a:latin typeface="Verdana"/>
              </a:rPr>
              <a:t>Les lettres qui se confondent</a:t>
            </a:r>
          </a:p>
        </p:txBody>
      </p:sp>
      <p:sp>
        <p:nvSpPr>
          <p:cNvPr id="15" name="TextBox 14"/>
          <p:cNvSpPr txBox="1"/>
          <p:nvPr/>
        </p:nvSpPr>
        <p:spPr>
          <a:xfrm>
            <a:off x="886968" y="498652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B et P, D et T, M et N, G et J. Ce sont les quatre paires qui posent problème en français : les préparer d'avance.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656843"/>
          </a:xfrm>
          <a:prstGeom prst="rect">
            <a:avLst/>
          </a:prstGeom>
          <a:noFill/>
        </p:spPr>
        <p:txBody>
          <a:bodyPr wrap="square" lIns="0" rIns="0" tIns="0" bIns="0" anchor="t">
            <a:spAutoFit/>
          </a:bodyPr>
          <a:lstStyle/>
          <a:p>
            <a:pPr algn="l">
              <a:lnSpc>
                <a:spcPct val="118000"/>
              </a:lnSpc>
            </a:pPr>
            <a:r>
              <a:rPr sz="2100" b="1" i="0">
                <a:solidFill>
                  <a:srgbClr val="B45309"/>
                </a:solidFill>
                <a:latin typeface="Verdana"/>
              </a:rPr>
              <a:t>Écrire en lettres détachées</a:t>
            </a:r>
          </a:p>
        </p:txBody>
      </p:sp>
      <p:sp>
        <p:nvSpPr>
          <p:cNvPr id="18" name="TextBox 17"/>
          <p:cNvSpPr txBox="1"/>
          <p:nvPr/>
        </p:nvSpPr>
        <p:spPr>
          <a:xfrm>
            <a:off x="6498183" y="498652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Sur une boîte, on n'écrit pas en lettres attachées : chaque lettre séparée, en majuscules si possible. La machine doit pouvoir lire.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Regardez le tableau de la boîte, puis répondez.</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Yassine est l'expéditeur du colis.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Karim habite en Alberta.</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L'adresse de l'expéditeur est écrite au milieu.</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code postal du destinataire est T2M 3P4.</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colis est parti par Xpresspost.</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y a un numéro de repérage sur le reçu.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Vrai ou faux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Yassine est l'expéditeur du colis.   </a:t>
            </a:r>
            <a:r>
              <a:rPr sz="1400" b="1" i="0">
                <a:solidFill>
                  <a:srgbClr val="07734A"/>
                </a:solidFill>
                <a:latin typeface="Verdana"/>
              </a:rPr>
              <a:t>» vrai — son adresse est en haut à gauche</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Karim habite en Alberta.   </a:t>
            </a:r>
            <a:r>
              <a:rPr sz="1400" b="1" i="0">
                <a:solidFill>
                  <a:srgbClr val="07734A"/>
                </a:solidFill>
                <a:latin typeface="Verdana"/>
              </a:rPr>
              <a:t>» vrai</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L'adresse de l'expéditeur est écrite au milieu.   </a:t>
            </a:r>
            <a:r>
              <a:rPr sz="1400" b="1" i="0">
                <a:solidFill>
                  <a:srgbClr val="07734A"/>
                </a:solidFill>
                <a:latin typeface="Verdana"/>
              </a:rPr>
              <a:t>» faux — en haut à gauche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code postal du destinataire est T2M 3P4.   </a:t>
            </a:r>
            <a:r>
              <a:rPr sz="1400" b="1" i="0">
                <a:solidFill>
                  <a:srgbClr val="07734A"/>
                </a:solidFill>
                <a:latin typeface="Verdana"/>
              </a:rPr>
              <a:t>» vrai</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Le colis est parti par Xpresspost.   </a:t>
            </a:r>
            <a:r>
              <a:rPr sz="1400" b="1" i="0">
                <a:solidFill>
                  <a:srgbClr val="07734A"/>
                </a:solidFill>
                <a:latin typeface="Verdana"/>
              </a:rPr>
              <a:t>» faux — colis standard</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y a un numéro de repérage sur le reçu.   </a:t>
            </a:r>
            <a:r>
              <a:rPr sz="1400" b="1" i="0">
                <a:solidFill>
                  <a:srgbClr val="07734A"/>
                </a:solidFill>
                <a:latin typeface="Verdana"/>
              </a:rPr>
              <a:t>» vrai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COMPRÉHENSION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six étapes, dans l'ordre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Qu'est-ce qui se passe à chaque étape ?</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Tu arrives au comptoir avec ta boîte.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préposée pose la boîte sur la balance.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demande ce qu'il y a dedans.</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nomme deux vitesses et deux prix.</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Tu paies au comptoir.</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Tu rentres à la maison.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B45309"/>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six étapes, dans l'ordre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Tu arrives au comptoir avec ta boîte.   </a:t>
            </a:r>
            <a:r>
              <a:rPr sz="1400" b="1" i="0">
                <a:solidFill>
                  <a:srgbClr val="07734A"/>
                </a:solidFill>
                <a:latin typeface="Verdana"/>
              </a:rPr>
              <a:t>» tu dis en une phrase où elle va</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La préposée pose la boîte sur la balance.   </a:t>
            </a:r>
            <a:r>
              <a:rPr sz="1400" b="1" i="0">
                <a:solidFill>
                  <a:srgbClr val="07734A"/>
                </a:solidFill>
                <a:latin typeface="Verdana"/>
              </a:rPr>
              <a:t>» le poids décide d'une partie du prix</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demande ce qu'il y a dedans.   </a:t>
            </a:r>
            <a:r>
              <a:rPr sz="1400" b="1" i="0">
                <a:solidFill>
                  <a:srgbClr val="07734A"/>
                </a:solidFill>
                <a:latin typeface="Verdana"/>
              </a:rPr>
              <a:t>» tu nommes le contenu et tu dis si c'est fragile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Elle nomme deux vitesses et deux prix.   </a:t>
            </a:r>
            <a:r>
              <a:rPr sz="1400" b="1" i="0">
                <a:solidFill>
                  <a:srgbClr val="07734A"/>
                </a:solidFill>
                <a:latin typeface="Verdana"/>
              </a:rPr>
              <a:t>» tu demandes le délai, puis tu choisis</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Tu paies au comptoir.   </a:t>
            </a:r>
            <a:r>
              <a:rPr sz="1400" b="1" i="0">
                <a:solidFill>
                  <a:srgbClr val="07734A"/>
                </a:solidFill>
                <a:latin typeface="Verdana"/>
              </a:rPr>
              <a:t>» tu reçois un reçu avec le numéro de repérage</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BEED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B45309"/>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Tu rentres à la maison.   </a:t>
            </a:r>
            <a:r>
              <a:rPr sz="1400" b="1" i="0">
                <a:solidFill>
                  <a:srgbClr val="07734A"/>
                </a:solidFill>
                <a:latin typeface="Verdana"/>
              </a:rPr>
              <a:t>» tu suis ton colis sur Internet avec ce numéro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Le colis de Yassine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votre adresse complète, dans le bon ordre, avec le code postal.</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Cinq lignes : le nom, le numéro et la rue, la ville, la province, le code postal.</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En lettres détachées, comme sur une boîte.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C4 · Le colis de Yassine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