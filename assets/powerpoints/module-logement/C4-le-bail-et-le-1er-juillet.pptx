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Apporter un vrai formulaire de bail si possible : celui du Tribunal administratif du logement est public et gratuit. Le manipuler change tout.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parties. Faire chercher chacune dans le vrai formulaire si vous en avez 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centrale de la séance. C'est un savoir juridique simple et il évite des mois de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carte est celle que personne ne connaît et qui coûte le plus cher. La souligner.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Résilier » et « sous-louer » sont les deux mots du départ. Les faire prononcer et écrire.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dépôt » mérite une explication : au Québec, un propriétaire ne peut pas exiger plus que le premier mois de loyer. C'est un droit.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employer chaque mot dans une phrase. Ce sont des mots qu'on lit plus qu'on ne les dit : les faire produire à l'oral.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ces cinq informations dans le vrai formulaire. Elles y sont toutes, dans cet ordre.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sans méfiance excessive : c'est une pratique normale, et un propriétaire sérieux acceptera sans problème.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Donner le repère pratique : pour un bail de douze mois, l'avis se donne entre trois et six mois avant la fin.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énoncés sont du savoir pratique. Les faire noter dans le cahier, avec les réponses.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liste de cinq points est le vrai résultat de la séance. La faire copier et garder.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billet est une fiche pratique à garder. Suggérer de le photographier et de le conserver dans le téléphone.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SÉANCE C4  ·  MODULE 8</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bail et le 1er juillet</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Douze mois, une signature, et une date que tout le Québec connaît. Le bail est le document le plus engageant qu'un locataire signe — et presque personne ne le lit.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Comment est le logement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parties d'un bail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qu'on signe et pour combien de temps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la tradition du 1er juillet et ses conséquences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ce qu'il faut vérifier avant de signer.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qu'un bail contient</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3824057" y="1975104"/>
            <a:ext cx="721549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DIT</a:t>
            </a:r>
          </a:p>
        </p:txBody>
      </p:sp>
      <p:sp>
        <p:nvSpPr>
          <p:cNvPr id="10" name="TextBox 9"/>
          <p:cNvSpPr txBox="1"/>
          <p:nvPr/>
        </p:nvSpPr>
        <p:spPr>
          <a:xfrm>
            <a:off x="932688" y="2395728"/>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les parties</a:t>
            </a:r>
          </a:p>
        </p:txBody>
      </p:sp>
      <p:sp>
        <p:nvSpPr>
          <p:cNvPr id="11" name="TextBox 10"/>
          <p:cNvSpPr txBox="1"/>
          <p:nvPr/>
        </p:nvSpPr>
        <p:spPr>
          <a:xfrm>
            <a:off x="3824057" y="2395728"/>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nom du propriétaire et celui du locataire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 logement</a:t>
            </a:r>
          </a:p>
        </p:txBody>
      </p:sp>
      <p:sp>
        <p:nvSpPr>
          <p:cNvPr id="14" name="TextBox 13"/>
          <p:cNvSpPr txBox="1"/>
          <p:nvPr/>
        </p:nvSpPr>
        <p:spPr>
          <a:xfrm>
            <a:off x="3824057" y="2935224"/>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l'adresse, le numéro, le nombre de pièces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la durée</a:t>
            </a:r>
          </a:p>
        </p:txBody>
      </p:sp>
      <p:sp>
        <p:nvSpPr>
          <p:cNvPr id="17" name="TextBox 16"/>
          <p:cNvSpPr txBox="1"/>
          <p:nvPr/>
        </p:nvSpPr>
        <p:spPr>
          <a:xfrm>
            <a:off x="3824057" y="3474720"/>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date de début et la date de fin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 loyer</a:t>
            </a:r>
          </a:p>
        </p:txBody>
      </p:sp>
      <p:sp>
        <p:nvSpPr>
          <p:cNvPr id="20" name="TextBox 19"/>
          <p:cNvSpPr txBox="1"/>
          <p:nvPr/>
        </p:nvSpPr>
        <p:spPr>
          <a:xfrm>
            <a:off x="3824057" y="4014215"/>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montant, et la date de paiement chaque mois</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les inclusions</a:t>
            </a:r>
          </a:p>
        </p:txBody>
      </p:sp>
      <p:sp>
        <p:nvSpPr>
          <p:cNvPr id="23" name="TextBox 22"/>
          <p:cNvSpPr txBox="1"/>
          <p:nvPr/>
        </p:nvSpPr>
        <p:spPr>
          <a:xfrm>
            <a:off x="3824057" y="4553712"/>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chauffage, électricité, stationnement, électros</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2671913"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les règlements</a:t>
            </a:r>
          </a:p>
        </p:txBody>
      </p:sp>
      <p:sp>
        <p:nvSpPr>
          <p:cNvPr id="26" name="TextBox 25"/>
          <p:cNvSpPr txBox="1"/>
          <p:nvPr/>
        </p:nvSpPr>
        <p:spPr>
          <a:xfrm>
            <a:off x="3824057" y="5093207"/>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animaux, fumée, bruit, sous-location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LA RÈGLE DU BAIL</a:t>
            </a:r>
          </a:p>
        </p:txBody>
      </p:sp>
      <p:sp>
        <p:nvSpPr>
          <p:cNvPr id="6" name="Rounded Rectangle 5"/>
          <p:cNvSpPr/>
          <p:nvPr/>
        </p:nvSpPr>
        <p:spPr>
          <a:xfrm>
            <a:off x="566928" y="1225296"/>
            <a:ext cx="11057839" cy="1967991"/>
          </a:xfrm>
          <a:prstGeom prst="roundRect">
            <a:avLst>
              <a:gd name="adj" fmla="val 7434"/>
            </a:avLst>
          </a:prstGeom>
          <a:solidFill>
            <a:srgbClr val="E3F1E7"/>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Ce qui n'est pas écrit dans le bail n'existe pas.</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promesse faite pendant la visite — « je repeindrai le salon », « le stationnement est à vous » — n'engage à rien si elle n'est pas dans le bail. Faites-la ajouter avant de signer.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EN APPRENDRE PLUS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1er juillet au Québec</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166534"/>
                </a:solidFill>
                <a:latin typeface="Verdana"/>
              </a:rPr>
              <a:t>Une tradition</a:t>
            </a:r>
          </a:p>
        </p:txBody>
      </p:sp>
      <p:sp>
        <p:nvSpPr>
          <p:cNvPr id="9" name="TextBox 8"/>
          <p:cNvSpPr txBox="1"/>
          <p:nvPr/>
        </p:nvSpPr>
        <p:spPr>
          <a:xfrm>
            <a:off x="886968"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plupart des baux se terminent le 30 juin. Le 1er juillet, des milliers de ménages déménagent le même jour, partout dans la province.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166534"/>
                </a:solidFill>
                <a:latin typeface="Verdana"/>
              </a:rPr>
              <a:t>Les conséquences pratiques</a:t>
            </a:r>
          </a:p>
        </p:txBody>
      </p:sp>
      <p:sp>
        <p:nvSpPr>
          <p:cNvPr id="12" name="TextBox 11"/>
          <p:cNvSpPr txBox="1"/>
          <p:nvPr/>
        </p:nvSpPr>
        <p:spPr>
          <a:xfrm>
            <a:off x="6498183" y="246938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Les camions de location se réservent des mois d'avance. Les déménageurs coûtent plus cher ce jour-là. Les rues sont pleines de meubles.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57124"/>
          </a:xfrm>
          <a:prstGeom prst="rect">
            <a:avLst/>
          </a:prstGeom>
          <a:noFill/>
        </p:spPr>
        <p:txBody>
          <a:bodyPr wrap="square" lIns="0" rIns="0" tIns="0" bIns="0" anchor="t">
            <a:spAutoFit/>
          </a:bodyPr>
          <a:lstStyle/>
          <a:p>
            <a:pPr algn="l">
              <a:lnSpc>
                <a:spcPct val="118000"/>
              </a:lnSpc>
            </a:pPr>
            <a:r>
              <a:rPr sz="2200" b="1" i="0">
                <a:solidFill>
                  <a:srgbClr val="166534"/>
                </a:solidFill>
                <a:latin typeface="Verdana"/>
              </a:rPr>
              <a:t>D'autres dates existent</a:t>
            </a:r>
          </a:p>
        </p:txBody>
      </p:sp>
      <p:sp>
        <p:nvSpPr>
          <p:cNvPr id="15" name="TextBox 14"/>
          <p:cNvSpPr txBox="1"/>
          <p:nvPr/>
        </p:nvSpPr>
        <p:spPr>
          <a:xfrm>
            <a:off x="886968"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bail d'Ibrahim commence le 1er septembre. C'est fréquent dans une ville universitaire comme Sherbrooke.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57124"/>
          </a:xfrm>
          <a:prstGeom prst="rect">
            <a:avLst/>
          </a:prstGeom>
          <a:noFill/>
        </p:spPr>
        <p:txBody>
          <a:bodyPr wrap="square" lIns="0" rIns="0" tIns="0" bIns="0" anchor="t">
            <a:spAutoFit/>
          </a:bodyPr>
          <a:lstStyle/>
          <a:p>
            <a:pPr algn="l">
              <a:lnSpc>
                <a:spcPct val="118000"/>
              </a:lnSpc>
            </a:pPr>
            <a:r>
              <a:rPr sz="2200" b="1" i="0">
                <a:solidFill>
                  <a:srgbClr val="166534"/>
                </a:solidFill>
                <a:latin typeface="Verdana"/>
              </a:rPr>
              <a:t>Le bail se renouvelle tout seul</a:t>
            </a:r>
          </a:p>
        </p:txBody>
      </p:sp>
      <p:sp>
        <p:nvSpPr>
          <p:cNvPr id="18" name="TextBox 17"/>
          <p:cNvSpPr txBox="1"/>
          <p:nvPr/>
        </p:nvSpPr>
        <p:spPr>
          <a:xfrm>
            <a:off x="6498183" y="4686808"/>
            <a:ext cx="4806543" cy="111963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Si personne ne dit rien, le bail se renouvelle automatiquement pour un an. Pour partir, il faut envoyer un avis écrit, plusieurs mois à l'avance.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contrat</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bail</a:t>
            </a:r>
          </a:p>
        </p:txBody>
      </p:sp>
      <p:sp>
        <p:nvSpPr>
          <p:cNvPr id="9" name="TextBox 8"/>
          <p:cNvSpPr txBox="1"/>
          <p:nvPr/>
        </p:nvSpPr>
        <p:spPr>
          <a:xfrm>
            <a:off x="3866959" y="2121408"/>
            <a:ext cx="7392047" cy="437387"/>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Le contrat de location signé entre le locataire et le propriétaire.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signer un bail</a:t>
            </a:r>
          </a:p>
        </p:txBody>
      </p:sp>
      <p:sp>
        <p:nvSpPr>
          <p:cNvPr id="12" name="TextBox 11"/>
          <p:cNvSpPr txBox="1"/>
          <p:nvPr/>
        </p:nvSpPr>
        <p:spPr>
          <a:xfrm>
            <a:off x="3866959" y="2778252"/>
            <a:ext cx="739204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S'engager à louer pour la durée prévue.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renouveler un bail</a:t>
            </a:r>
          </a:p>
        </p:txBody>
      </p:sp>
      <p:sp>
        <p:nvSpPr>
          <p:cNvPr id="15" name="TextBox 14"/>
          <p:cNvSpPr txBox="1"/>
          <p:nvPr/>
        </p:nvSpPr>
        <p:spPr>
          <a:xfrm>
            <a:off x="3866959" y="3435096"/>
            <a:ext cx="739204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prolonger pour une nouvelle période.</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résilier un bail</a:t>
            </a:r>
          </a:p>
        </p:txBody>
      </p:sp>
      <p:sp>
        <p:nvSpPr>
          <p:cNvPr id="18" name="TextBox 17"/>
          <p:cNvSpPr txBox="1"/>
          <p:nvPr/>
        </p:nvSpPr>
        <p:spPr>
          <a:xfrm>
            <a:off x="3866959" y="4091939"/>
            <a:ext cx="739204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Y mettre fin avant la date prévue.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écrit</a:t>
            </a:r>
          </a:p>
        </p:txBody>
      </p:sp>
      <p:sp>
        <p:nvSpPr>
          <p:cNvPr id="21" name="TextBox 20"/>
          <p:cNvSpPr txBox="1"/>
          <p:nvPr/>
        </p:nvSpPr>
        <p:spPr>
          <a:xfrm>
            <a:off x="3866959" y="4748784"/>
            <a:ext cx="739204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lettre officielle envoyée dans un délai prévu.</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659951"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sous-louer</a:t>
            </a:r>
          </a:p>
        </p:txBody>
      </p:sp>
      <p:sp>
        <p:nvSpPr>
          <p:cNvPr id="24" name="TextBox 23"/>
          <p:cNvSpPr txBox="1"/>
          <p:nvPr/>
        </p:nvSpPr>
        <p:spPr>
          <a:xfrm>
            <a:off x="3866959" y="5405628"/>
            <a:ext cx="7392047"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Laisser quelqu'un d'autre habiter le logement à sa place.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déménagement</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437252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emménager</a:t>
            </a:r>
          </a:p>
        </p:txBody>
      </p:sp>
      <p:sp>
        <p:nvSpPr>
          <p:cNvPr id="9" name="TextBox 8"/>
          <p:cNvSpPr txBox="1"/>
          <p:nvPr/>
        </p:nvSpPr>
        <p:spPr>
          <a:xfrm>
            <a:off x="5579531" y="2121408"/>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S'installer dans un nouveau logement.</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437252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déménager</a:t>
            </a:r>
          </a:p>
        </p:txBody>
      </p:sp>
      <p:sp>
        <p:nvSpPr>
          <p:cNvPr id="12" name="TextBox 11"/>
          <p:cNvSpPr txBox="1"/>
          <p:nvPr/>
        </p:nvSpPr>
        <p:spPr>
          <a:xfrm>
            <a:off x="5579531" y="2909620"/>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Quitter un logement pour aller dans un autre.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437252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l'état des lieux</a:t>
            </a:r>
          </a:p>
        </p:txBody>
      </p:sp>
      <p:sp>
        <p:nvSpPr>
          <p:cNvPr id="15" name="TextBox 14"/>
          <p:cNvSpPr txBox="1"/>
          <p:nvPr/>
        </p:nvSpPr>
        <p:spPr>
          <a:xfrm>
            <a:off x="5579531" y="3697833"/>
            <a:ext cx="567947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description du logement au début du bail.</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437252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dépôt</a:t>
            </a:r>
          </a:p>
        </p:txBody>
      </p:sp>
      <p:sp>
        <p:nvSpPr>
          <p:cNvPr id="18" name="TextBox 17"/>
          <p:cNvSpPr txBox="1"/>
          <p:nvPr/>
        </p:nvSpPr>
        <p:spPr>
          <a:xfrm>
            <a:off x="5579531" y="4486046"/>
            <a:ext cx="5679475"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somme demandée d'avance — interdite au Québec, sauf le premier mois.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4372523" cy="568756"/>
          </a:xfrm>
          <a:prstGeom prst="rect">
            <a:avLst/>
          </a:prstGeom>
          <a:noFill/>
        </p:spPr>
        <p:txBody>
          <a:bodyPr wrap="square" lIns="0" rIns="0" tIns="0" bIns="0" anchor="t">
            <a:spAutoFit/>
          </a:bodyPr>
          <a:lstStyle/>
          <a:p>
            <a:pPr algn="l">
              <a:lnSpc>
                <a:spcPct val="128000"/>
              </a:lnSpc>
            </a:pPr>
            <a:r>
              <a:rPr sz="1800" b="1" i="0">
                <a:solidFill>
                  <a:srgbClr val="17181A"/>
                </a:solidFill>
                <a:latin typeface="Verdana"/>
              </a:rPr>
              <a:t>le Tribunal administratif du logement</a:t>
            </a:r>
          </a:p>
        </p:txBody>
      </p:sp>
      <p:sp>
        <p:nvSpPr>
          <p:cNvPr id="21" name="TextBox 20"/>
          <p:cNvSpPr txBox="1"/>
          <p:nvPr/>
        </p:nvSpPr>
        <p:spPr>
          <a:xfrm>
            <a:off x="5579531" y="5274259"/>
            <a:ext cx="5679475"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L'organisme qui règle les conflits entre locataire et propriétaire.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veut dire le mot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Vocabulaire du bail.</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signer un bail</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résilier un bail</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sous-louer</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avis écrit</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l'état des lieux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veut dire le mot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signer un bail   </a:t>
            </a:r>
            <a:r>
              <a:rPr sz="1900" b="1" i="0">
                <a:solidFill>
                  <a:srgbClr val="07734A"/>
                </a:solidFill>
                <a:latin typeface="Verdana"/>
              </a:rPr>
              <a:t>» s'engager à louer pour la durée prévue</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résilier un bail   </a:t>
            </a:r>
            <a:r>
              <a:rPr sz="1900" b="1" i="0">
                <a:solidFill>
                  <a:srgbClr val="07734A"/>
                </a:solidFill>
                <a:latin typeface="Verdana"/>
              </a:rPr>
              <a:t>» y mettre fin avant la date prévue</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sous-louer   </a:t>
            </a:r>
            <a:r>
              <a:rPr sz="1900" b="1" i="0">
                <a:solidFill>
                  <a:srgbClr val="07734A"/>
                </a:solidFill>
                <a:latin typeface="Verdana"/>
              </a:rPr>
              <a:t>» laisser quelqu'un d'autre habiter à sa place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avis écrit   </a:t>
            </a:r>
            <a:r>
              <a:rPr sz="1900" b="1" i="0">
                <a:solidFill>
                  <a:srgbClr val="07734A"/>
                </a:solidFill>
                <a:latin typeface="Verdana"/>
              </a:rPr>
              <a:t>» une lettre officielle envoyée dans un délai prévu</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l'état des lieux   </a:t>
            </a:r>
            <a:r>
              <a:rPr sz="1900" b="1" i="0">
                <a:solidFill>
                  <a:srgbClr val="07734A"/>
                </a:solidFill>
                <a:latin typeface="Verdana"/>
              </a:rPr>
              <a:t>» la description du logement au début du bail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quelle partie du bail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Six parties : les parties, le logement, la durée, le loyer, les inclusions, les règlements.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Les chats sont acceptés, les chiens ne le sont pas.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890 $ par mois, payable le premier de chaque mois. »</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Du 1er septembre au 31 août. »</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Chauffage et eau chaude compris. »</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4 ½, deuxième étage, rue Galt.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quelle partie du bail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Les chats sont acceptés, les chiens ne le sont pas. »   </a:t>
            </a:r>
            <a:r>
              <a:rPr sz="1900" b="1" i="0">
                <a:solidFill>
                  <a:srgbClr val="07734A"/>
                </a:solidFill>
                <a:latin typeface="Verdana"/>
              </a:rPr>
              <a:t>» les règlements</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890 $ par mois, payable le premier de chaque mois. »   </a:t>
            </a:r>
            <a:r>
              <a:rPr sz="1900" b="1" i="0">
                <a:solidFill>
                  <a:srgbClr val="07734A"/>
                </a:solidFill>
                <a:latin typeface="Verdana"/>
              </a:rPr>
              <a:t>» le loyer</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Du 1er septembre au 31 août. »   </a:t>
            </a:r>
            <a:r>
              <a:rPr sz="1900" b="1" i="0">
                <a:solidFill>
                  <a:srgbClr val="07734A"/>
                </a:solidFill>
                <a:latin typeface="Verdana"/>
              </a:rPr>
              <a:t>» la durée</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Chauffage et eau chaude compris. »   </a:t>
            </a:r>
            <a:r>
              <a:rPr sz="1900" b="1" i="0">
                <a:solidFill>
                  <a:srgbClr val="07734A"/>
                </a:solidFill>
                <a:latin typeface="Verdana"/>
              </a:rPr>
              <a:t>» les inclusions</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4 ½, deuxième étage, rue Galt. »   </a:t>
            </a:r>
            <a:r>
              <a:rPr sz="1900" b="1" i="0">
                <a:solidFill>
                  <a:srgbClr val="07734A"/>
                </a:solidFill>
                <a:latin typeface="Verdana"/>
              </a:rPr>
              <a:t>» le logement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LE PIÈGE DE LA PROMESSE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Elle m'a dit qu'elle repeindrait le salon.</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Faites-le écrire dans le bail avant de signer.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promesse faite pendant une visite n'engage à rien. Ce n'est pas une question de confiance : le propriétaire peut changer, ou oublier. Une ligne ajoutée au bail règle la question pour douze mois.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LE PIÈGE DU RENOUVELLEMENT AUTOMATIQUE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pars en juin, je n'ai rien à faire.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faut envoyer un avis écrit, plusieurs mois à l'avance.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Sans avis, le bail se renouvelle tout seul pour une année complète. Le délai est fixé par la loi et il se compte en mois, pas en semaines. C'est l'erreur la plus coûteuse d'un locataire.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D'après ce que vous venez d'apprendre.</a:t>
            </a:r>
          </a:p>
        </p:txBody>
      </p:sp>
      <p:sp>
        <p:nvSpPr>
          <p:cNvPr id="8" name="Rounded Rectangle 7"/>
          <p:cNvSpPr/>
          <p:nvPr/>
        </p:nvSpPr>
        <p:spPr>
          <a:xfrm>
            <a:off x="566928" y="2139696"/>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5450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1851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plupart des baux se terminent le 30 juin.</a:t>
            </a:r>
          </a:p>
        </p:txBody>
      </p:sp>
      <p:sp>
        <p:nvSpPr>
          <p:cNvPr id="12" name="Rounded Rectangle 11"/>
          <p:cNvSpPr/>
          <p:nvPr/>
        </p:nvSpPr>
        <p:spPr>
          <a:xfrm>
            <a:off x="566928" y="2863088"/>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77896"/>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41904"/>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18536"/>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bail peut commencer une autre date que le 1er juillet.</a:t>
            </a:r>
          </a:p>
        </p:txBody>
      </p:sp>
      <p:sp>
        <p:nvSpPr>
          <p:cNvPr id="16" name="Rounded Rectangle 15"/>
          <p:cNvSpPr/>
          <p:nvPr/>
        </p:nvSpPr>
        <p:spPr>
          <a:xfrm>
            <a:off x="566928" y="3586480"/>
            <a:ext cx="11057839" cy="879856"/>
          </a:xfrm>
          <a:prstGeom prst="roundRect">
            <a:avLst>
              <a:gd name="adj" fmla="val 166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4352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0753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74192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propriétaire peut demander trois mois de loyer d'avance.</a:t>
            </a:r>
          </a:p>
        </p:txBody>
      </p:sp>
      <p:sp>
        <p:nvSpPr>
          <p:cNvPr id="20" name="Rounded Rectangle 19"/>
          <p:cNvSpPr/>
          <p:nvPr/>
        </p:nvSpPr>
        <p:spPr>
          <a:xfrm>
            <a:off x="566928" y="4594352"/>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0916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7316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74980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Si je ne dis rien, mon bail se termine tout seul.</a:t>
            </a:r>
          </a:p>
        </p:txBody>
      </p:sp>
      <p:sp>
        <p:nvSpPr>
          <p:cNvPr id="24" name="Rounded Rectangle 23"/>
          <p:cNvSpPr/>
          <p:nvPr/>
        </p:nvSpPr>
        <p:spPr>
          <a:xfrm>
            <a:off x="566928" y="5317744"/>
            <a:ext cx="11057839" cy="595376"/>
          </a:xfrm>
          <a:prstGeom prst="roundRect">
            <a:avLst>
              <a:gd name="adj" fmla="val 245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3255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9656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73192"/>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promesse orale a la même valeur qu'une clause du bail.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5450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1851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La plupart des baux se terminent le 30 juin.   </a:t>
            </a:r>
            <a:r>
              <a:rPr sz="1600" b="1" i="0">
                <a:solidFill>
                  <a:srgbClr val="07734A"/>
                </a:solidFill>
                <a:latin typeface="Verdana"/>
              </a:rPr>
              <a:t>» VRAI</a:t>
            </a:r>
          </a:p>
        </p:txBody>
      </p:sp>
      <p:sp>
        <p:nvSpPr>
          <p:cNvPr id="12" name="Rounded Rectangle 11"/>
          <p:cNvSpPr/>
          <p:nvPr/>
        </p:nvSpPr>
        <p:spPr>
          <a:xfrm>
            <a:off x="566928" y="2863088"/>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77896"/>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41904"/>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18536"/>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bail peut commencer une autre date que le 1er juillet.   </a:t>
            </a:r>
            <a:r>
              <a:rPr sz="1600" b="1" i="0">
                <a:solidFill>
                  <a:srgbClr val="07734A"/>
                </a:solidFill>
                <a:latin typeface="Verdana"/>
              </a:rPr>
              <a:t>» VRAI</a:t>
            </a:r>
          </a:p>
        </p:txBody>
      </p:sp>
      <p:sp>
        <p:nvSpPr>
          <p:cNvPr id="16" name="Rounded Rectangle 15"/>
          <p:cNvSpPr/>
          <p:nvPr/>
        </p:nvSpPr>
        <p:spPr>
          <a:xfrm>
            <a:off x="566928" y="3586480"/>
            <a:ext cx="11057839" cy="879856"/>
          </a:xfrm>
          <a:prstGeom prst="roundRect">
            <a:avLst>
              <a:gd name="adj" fmla="val 1662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4352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0753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741928"/>
            <a:ext cx="10097719" cy="60553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 propriétaire peut demander trois mois de loyer d'avance.   </a:t>
            </a:r>
            <a:r>
              <a:rPr sz="1600" b="1" i="0">
                <a:solidFill>
                  <a:srgbClr val="07734A"/>
                </a:solidFill>
                <a:latin typeface="Verdana"/>
              </a:rPr>
              <a:t>» FAUX — le premier mois seulement</a:t>
            </a:r>
          </a:p>
        </p:txBody>
      </p:sp>
      <p:sp>
        <p:nvSpPr>
          <p:cNvPr id="20" name="Rounded Rectangle 19"/>
          <p:cNvSpPr/>
          <p:nvPr/>
        </p:nvSpPr>
        <p:spPr>
          <a:xfrm>
            <a:off x="566928" y="4594352"/>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70916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7316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749800"/>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Si je ne dis rien, mon bail se termine tout seul.   </a:t>
            </a:r>
            <a:r>
              <a:rPr sz="1600" b="1" i="0">
                <a:solidFill>
                  <a:srgbClr val="07734A"/>
                </a:solidFill>
                <a:latin typeface="Verdana"/>
              </a:rPr>
              <a:t>» FAUX — il se renouvelle automatiquement</a:t>
            </a:r>
          </a:p>
        </p:txBody>
      </p:sp>
      <p:sp>
        <p:nvSpPr>
          <p:cNvPr id="24" name="Rounded Rectangle 23"/>
          <p:cNvSpPr/>
          <p:nvPr/>
        </p:nvSpPr>
        <p:spPr>
          <a:xfrm>
            <a:off x="566928" y="5317744"/>
            <a:ext cx="11057839" cy="595376"/>
          </a:xfrm>
          <a:prstGeom prst="roundRect">
            <a:avLst>
              <a:gd name="adj" fmla="val 24573"/>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43255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9656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73192"/>
            <a:ext cx="10097719" cy="321056"/>
          </a:xfrm>
          <a:prstGeom prst="rect">
            <a:avLst/>
          </a:prstGeom>
          <a:noFill/>
        </p:spPr>
        <p:txBody>
          <a:bodyPr wrap="square" lIns="0" rIns="0" tIns="0" bIns="0" anchor="t">
            <a:spAutoFit/>
          </a:bodyPr>
          <a:lstStyle/>
          <a:p>
            <a:pPr algn="l">
              <a:lnSpc>
                <a:spcPct val="140000"/>
              </a:lnSpc>
            </a:pPr>
            <a:r>
              <a:rPr sz="1600" b="0" i="0">
                <a:solidFill>
                  <a:srgbClr val="3A3D40"/>
                </a:solidFill>
                <a:latin typeface="Verdana"/>
              </a:rPr>
              <a:t>Une promesse orale a la même valeur qu'une clause du bail.   </a:t>
            </a:r>
            <a:r>
              <a:rPr sz="1600" b="1" i="0">
                <a:solidFill>
                  <a:srgbClr val="07734A"/>
                </a:solidFill>
                <a:latin typeface="Verdana"/>
              </a:rPr>
              <a:t>» FAUX</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vérifiez-vous avant de signer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Cinq points, dans l'ordre.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durée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loyer</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inclusions</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règlements</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promesses de la visite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 vérifiez-vous avant de signer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durée   </a:t>
            </a:r>
            <a:r>
              <a:rPr sz="1900" b="1" i="0">
                <a:solidFill>
                  <a:srgbClr val="07734A"/>
                </a:solidFill>
                <a:latin typeface="Verdana"/>
              </a:rPr>
              <a:t>» les dates de début et de fin</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loyer   </a:t>
            </a:r>
            <a:r>
              <a:rPr sz="1900" b="1" i="0">
                <a:solidFill>
                  <a:srgbClr val="07734A"/>
                </a:solidFill>
                <a:latin typeface="Verdana"/>
              </a:rPr>
              <a:t>» le montant, et ce qu'il comprend</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inclusions   </a:t>
            </a:r>
            <a:r>
              <a:rPr sz="1900" b="1" i="0">
                <a:solidFill>
                  <a:srgbClr val="07734A"/>
                </a:solidFill>
                <a:latin typeface="Verdana"/>
              </a:rPr>
              <a:t>» écrites, pas promises</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règlements   </a:t>
            </a:r>
            <a:r>
              <a:rPr sz="1900" b="1" i="0">
                <a:solidFill>
                  <a:srgbClr val="07734A"/>
                </a:solidFill>
                <a:latin typeface="Verdana"/>
              </a:rPr>
              <a:t>» animaux, fumée, sous-location</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promesses de la visite   </a:t>
            </a:r>
            <a:r>
              <a:rPr sz="1900" b="1" i="0">
                <a:solidFill>
                  <a:srgbClr val="07734A"/>
                </a:solidFill>
                <a:latin typeface="Verdana"/>
              </a:rPr>
              <a:t>» sont-elles écrites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18</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les cinq points à vérifier avant de signer un bail.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ligne chacun.</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sixième ligne : la question que vous poseriez avant de signer.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Comment est le logement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