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un vrai formulaire de bail si possible : celui du Tribunal administratif du logement est public et gratuit. Le manipuler change tout.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parties. Faire chercher chacune dans le vrai formulaire si vous en avez 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C'est un savoir juridique simple et il évite des mois de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celle que personne ne connaît et qui coûte le plus cher. La souligner.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Résilier » et « sous-louer » sont les deux mots du départ. Les faire prononcer et écrire.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dépôt » mérite une explication : au Québec, un propriétaire ne peut pas exiger plus que le premier mois de loyer. C'est un 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employer chaque mot dans une phrase. Ce sont des mots qu'on lit plus qu'on ne les dit : les faire produire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ces cinq informations dans le vrai formulaire. Elles y sont toutes, dans cet ordre.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méfiance excessive : c'est une pratique normale, et un propriétaire sérieux acceptera sans problème.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pour un bail de douze mois, l'avis se donne entre trois et six mois avant la fin.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énoncés sont du savoir pratique. Les faire noter dans le cahier, avec les réponses.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liste de cinq points est le vrai résultat de la séance. La faire copier et garder.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est une fiche pratique à garder. Suggérer de le photographier et de le conserver dans le téléphone.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C4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bail et le 1er juillet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Douze mois, une signature, et une date que tout le Québec connaît. Le bail est le document le plus engageant qu'un locataire signe — et presque personne ne le lit.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parties d'un bail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qu'on signe et pour combien de temps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la tradition du 1er juillet et ses conséquences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faut vérifier avant de signer.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bail contient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3824057" y="1975104"/>
            <a:ext cx="721549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DIT</a:t>
            </a:r>
          </a:p>
        </p:txBody>
      </p:sp>
      <p:sp>
        <p:nvSpPr>
          <p:cNvPr id="10" name="TextBox 9"/>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les parties</a:t>
            </a:r>
          </a:p>
        </p:txBody>
      </p:sp>
      <p:sp>
        <p:nvSpPr>
          <p:cNvPr id="11" name="TextBox 10"/>
          <p:cNvSpPr txBox="1"/>
          <p:nvPr/>
        </p:nvSpPr>
        <p:spPr>
          <a:xfrm>
            <a:off x="3824057" y="2395728"/>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nom du propriétaire et celui du locataire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logement</a:t>
            </a:r>
          </a:p>
        </p:txBody>
      </p:sp>
      <p:sp>
        <p:nvSpPr>
          <p:cNvPr id="14" name="TextBox 13"/>
          <p:cNvSpPr txBox="1"/>
          <p:nvPr/>
        </p:nvSpPr>
        <p:spPr>
          <a:xfrm>
            <a:off x="3824057" y="2935224"/>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l'adresse, le numéro, le nombre de pièces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durée</a:t>
            </a:r>
          </a:p>
        </p:txBody>
      </p:sp>
      <p:sp>
        <p:nvSpPr>
          <p:cNvPr id="17" name="TextBox 16"/>
          <p:cNvSpPr txBox="1"/>
          <p:nvPr/>
        </p:nvSpPr>
        <p:spPr>
          <a:xfrm>
            <a:off x="3824057" y="3474720"/>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date de début et la date de fin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loyer</a:t>
            </a:r>
          </a:p>
        </p:txBody>
      </p:sp>
      <p:sp>
        <p:nvSpPr>
          <p:cNvPr id="20" name="TextBox 19"/>
          <p:cNvSpPr txBox="1"/>
          <p:nvPr/>
        </p:nvSpPr>
        <p:spPr>
          <a:xfrm>
            <a:off x="3824057" y="4014215"/>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montant, et la date de paiement chaque mois</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les inclusions</a:t>
            </a:r>
          </a:p>
        </p:txBody>
      </p:sp>
      <p:sp>
        <p:nvSpPr>
          <p:cNvPr id="23" name="TextBox 22"/>
          <p:cNvSpPr txBox="1"/>
          <p:nvPr/>
        </p:nvSpPr>
        <p:spPr>
          <a:xfrm>
            <a:off x="3824057" y="4553712"/>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chauffage, électricité, stationnement, électros</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2671913"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les règlements</a:t>
            </a:r>
          </a:p>
        </p:txBody>
      </p:sp>
      <p:sp>
        <p:nvSpPr>
          <p:cNvPr id="26" name="TextBox 25"/>
          <p:cNvSpPr txBox="1"/>
          <p:nvPr/>
        </p:nvSpPr>
        <p:spPr>
          <a:xfrm>
            <a:off x="3824057" y="5093207"/>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animaux, fumée, bruit, sous-location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RÈGLE DU BAIL</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n'est pas écrit dans le bail n'existe pas.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la visite — « je repeindrai le salon », « le stationnement est à vous » — n'engage à rien si elle n'est pas dans le bail. Faites-la ajouter avant de signer.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au Québec</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166534"/>
                </a:solidFill>
                <a:latin typeface="Verdana"/>
              </a:rPr>
              <a:t>Une tradition</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plupart des baux se terminent le 30 juin. Le 1er juillet, des milliers de ménages déménagent le même jour, partout dans la province.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166534"/>
                </a:solidFill>
                <a:latin typeface="Verdana"/>
              </a:rPr>
              <a:t>Les conséquences pratiques</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camions de location se réservent des mois d'avance. Les déménageurs coûtent plus cher ce jour-là. Les rues sont pleines de meubles.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166534"/>
                </a:solidFill>
                <a:latin typeface="Verdana"/>
              </a:rPr>
              <a:t>D'autres dates existent</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166534"/>
                </a:solidFill>
                <a:latin typeface="Verdana"/>
              </a:rPr>
              <a:t>Le bail se renouvelle tout seul</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 personne ne dit rien, le bail se renouvelle automatiquement pour un an. Pour partir, il faut envoyer un avis écrit, plusieurs mois à l'avance.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contrat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bail</a:t>
            </a:r>
          </a:p>
        </p:txBody>
      </p:sp>
      <p:sp>
        <p:nvSpPr>
          <p:cNvPr id="9" name="TextBox 8"/>
          <p:cNvSpPr txBox="1"/>
          <p:nvPr/>
        </p:nvSpPr>
        <p:spPr>
          <a:xfrm>
            <a:off x="3866959" y="2121408"/>
            <a:ext cx="7392047"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Le contrat de location signé entre le locataire et le propriétaire.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signer un bail</a:t>
            </a:r>
          </a:p>
        </p:txBody>
      </p:sp>
      <p:sp>
        <p:nvSpPr>
          <p:cNvPr id="12" name="TextBox 11"/>
          <p:cNvSpPr txBox="1"/>
          <p:nvPr/>
        </p:nvSpPr>
        <p:spPr>
          <a:xfrm>
            <a:off x="3866959" y="2778252"/>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S'engager à louer pour la durée prévue.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renouveler un bail</a:t>
            </a:r>
          </a:p>
        </p:txBody>
      </p:sp>
      <p:sp>
        <p:nvSpPr>
          <p:cNvPr id="15" name="TextBox 14"/>
          <p:cNvSpPr txBox="1"/>
          <p:nvPr/>
        </p:nvSpPr>
        <p:spPr>
          <a:xfrm>
            <a:off x="3866959" y="3435096"/>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prolonger pour une nouvelle période.</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résilier un bail</a:t>
            </a:r>
          </a:p>
        </p:txBody>
      </p:sp>
      <p:sp>
        <p:nvSpPr>
          <p:cNvPr id="18" name="TextBox 17"/>
          <p:cNvSpPr txBox="1"/>
          <p:nvPr/>
        </p:nvSpPr>
        <p:spPr>
          <a:xfrm>
            <a:off x="3866959" y="4091939"/>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Y mettre fin avant la date prévue.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21" name="TextBox 20"/>
          <p:cNvSpPr txBox="1"/>
          <p:nvPr/>
        </p:nvSpPr>
        <p:spPr>
          <a:xfrm>
            <a:off x="3866959" y="4748784"/>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lettre officielle envoyée dans un délai prévu.</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sous-louer</a:t>
            </a:r>
          </a:p>
        </p:txBody>
      </p:sp>
      <p:sp>
        <p:nvSpPr>
          <p:cNvPr id="24" name="TextBox 23"/>
          <p:cNvSpPr txBox="1"/>
          <p:nvPr/>
        </p:nvSpPr>
        <p:spPr>
          <a:xfrm>
            <a:off x="3866959" y="5405628"/>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Laisser quelqu'un d'autre habiter le logement à sa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déménagement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emménager</a:t>
            </a:r>
          </a:p>
        </p:txBody>
      </p:sp>
      <p:sp>
        <p:nvSpPr>
          <p:cNvPr id="9" name="TextBox 8"/>
          <p:cNvSpPr txBox="1"/>
          <p:nvPr/>
        </p:nvSpPr>
        <p:spPr>
          <a:xfrm>
            <a:off x="5579531" y="2121408"/>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S'installer dans un nouveau logement.</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déménager</a:t>
            </a:r>
          </a:p>
        </p:txBody>
      </p:sp>
      <p:sp>
        <p:nvSpPr>
          <p:cNvPr id="12" name="TextBox 11"/>
          <p:cNvSpPr txBox="1"/>
          <p:nvPr/>
        </p:nvSpPr>
        <p:spPr>
          <a:xfrm>
            <a:off x="5579531" y="2909620"/>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Quitter un logement pour aller dans un autre.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l'état des lieux</a:t>
            </a:r>
          </a:p>
        </p:txBody>
      </p:sp>
      <p:sp>
        <p:nvSpPr>
          <p:cNvPr id="15" name="TextBox 14"/>
          <p:cNvSpPr txBox="1"/>
          <p:nvPr/>
        </p:nvSpPr>
        <p:spPr>
          <a:xfrm>
            <a:off x="5579531" y="3697833"/>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description du logement au début du bail.</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dépôt</a:t>
            </a:r>
          </a:p>
        </p:txBody>
      </p:sp>
      <p:sp>
        <p:nvSpPr>
          <p:cNvPr id="18" name="TextBox 17"/>
          <p:cNvSpPr txBox="1"/>
          <p:nvPr/>
        </p:nvSpPr>
        <p:spPr>
          <a:xfrm>
            <a:off x="5579531" y="4486046"/>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somme demandée d'avance — interdite au Québec, sauf le premier mois.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le Tribunal administratif du logement</a:t>
            </a:r>
          </a:p>
        </p:txBody>
      </p:sp>
      <p:sp>
        <p:nvSpPr>
          <p:cNvPr id="21" name="TextBox 20"/>
          <p:cNvSpPr txBox="1"/>
          <p:nvPr/>
        </p:nvSpPr>
        <p:spPr>
          <a:xfrm>
            <a:off x="5579531" y="5274259"/>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L'organisme qui règle les conflits entre locataire et propriétaire.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Vocabulaire du bail.</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   </a:t>
            </a:r>
            <a:r>
              <a:rPr sz="1900" b="1" i="0">
                <a:solidFill>
                  <a:srgbClr val="07734A"/>
                </a:solidFill>
                <a:latin typeface="Verdana"/>
              </a:rPr>
              <a:t>» s'engager à louer pour la durée prévue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   </a:t>
            </a:r>
            <a:r>
              <a:rPr sz="1900" b="1" i="0">
                <a:solidFill>
                  <a:srgbClr val="07734A"/>
                </a:solidFill>
                <a:latin typeface="Verdana"/>
              </a:rPr>
              <a:t>» y mettre fin avant la date prévue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   </a:t>
            </a:r>
            <a:r>
              <a:rPr sz="1900" b="1" i="0">
                <a:solidFill>
                  <a:srgbClr val="07734A"/>
                </a:solidFill>
                <a:latin typeface="Verdana"/>
              </a:rPr>
              <a:t>» laisser quelqu'un d'autre habiter à sa place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   </a:t>
            </a:r>
            <a:r>
              <a:rPr sz="1900" b="1" i="0">
                <a:solidFill>
                  <a:srgbClr val="07734A"/>
                </a:solidFill>
                <a:latin typeface="Verdana"/>
              </a:rPr>
              <a:t>» une lettre officielle envoyée dans un délai prévu</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   </a:t>
            </a:r>
            <a:r>
              <a:rPr sz="1900" b="1" i="0">
                <a:solidFill>
                  <a:srgbClr val="07734A"/>
                </a:solidFill>
                <a:latin typeface="Verdana"/>
              </a:rPr>
              <a:t>» la description du logement au début du bail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parties : les parties, le logement, la durée, le loyer, les inclusions, les règlements.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   </a:t>
            </a:r>
            <a:r>
              <a:rPr sz="1900" b="1" i="0">
                <a:solidFill>
                  <a:srgbClr val="07734A"/>
                </a:solidFill>
                <a:latin typeface="Verdana"/>
              </a:rPr>
              <a:t>» les règlements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   </a:t>
            </a:r>
            <a:r>
              <a:rPr sz="1900" b="1" i="0">
                <a:solidFill>
                  <a:srgbClr val="07734A"/>
                </a:solidFill>
                <a:latin typeface="Verdana"/>
              </a:rPr>
              <a:t>» le loyer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   </a:t>
            </a:r>
            <a:r>
              <a:rPr sz="1900" b="1" i="0">
                <a:solidFill>
                  <a:srgbClr val="07734A"/>
                </a:solidFill>
                <a:latin typeface="Verdana"/>
              </a:rPr>
              <a:t>» la durée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   </a:t>
            </a:r>
            <a:r>
              <a:rPr sz="1900" b="1" i="0">
                <a:solidFill>
                  <a:srgbClr val="07734A"/>
                </a:solidFill>
                <a:latin typeface="Verdana"/>
              </a:rPr>
              <a:t>» les inclusions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   </a:t>
            </a:r>
            <a:r>
              <a:rPr sz="1900" b="1" i="0">
                <a:solidFill>
                  <a:srgbClr val="07734A"/>
                </a:solidFill>
                <a:latin typeface="Verdana"/>
              </a:rPr>
              <a:t>» le logement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LA PROMESSE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m'a dit qu'elle repeindrait le salon.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Faites-le écrire dans le bail avant de signer.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une visite n'engage à rien. Ce n'est pas une question de confiance : le propriétaire peut changer, ou oublier. Une ligne ajoutée au bail règle la question pour douze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RENOUVELLEMENT AUTOMATIQUE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pars en juin, je n'ai rien à faire.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faut envoyer un avis écrit, plusieurs mois à l'avance.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avis, le bail se renouvelle tout seul pour une année complète. Le délai est fixé par la loi et il se compte en mois, pas en semaines. C'est l'erreur la plus coûteuse d'un locataire.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ce que vous venez d'apprendre.</a:t>
            </a:r>
          </a:p>
        </p:txBody>
      </p:sp>
      <p:sp>
        <p:nvSpPr>
          <p:cNvPr id="8" name="Rounded Rectangle 7"/>
          <p:cNvSpPr/>
          <p:nvPr/>
        </p:nvSpPr>
        <p:spPr>
          <a:xfrm>
            <a:off x="566928" y="2139696"/>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a:t>
            </a:r>
          </a:p>
        </p:txBody>
      </p:sp>
      <p:sp>
        <p:nvSpPr>
          <p:cNvPr id="12" name="Rounded Rectangle 11"/>
          <p:cNvSpPr/>
          <p:nvPr/>
        </p:nvSpPr>
        <p:spPr>
          <a:xfrm>
            <a:off x="566928" y="2863088"/>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a:t>
            </a:r>
          </a:p>
        </p:txBody>
      </p:sp>
      <p:sp>
        <p:nvSpPr>
          <p:cNvPr id="16" name="Rounded Rectangle 15"/>
          <p:cNvSpPr/>
          <p:nvPr/>
        </p:nvSpPr>
        <p:spPr>
          <a:xfrm>
            <a:off x="566928" y="358648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a:t>
            </a:r>
          </a:p>
        </p:txBody>
      </p:sp>
      <p:sp>
        <p:nvSpPr>
          <p:cNvPr id="20" name="Rounded Rectangle 19"/>
          <p:cNvSpPr/>
          <p:nvPr/>
        </p:nvSpPr>
        <p:spPr>
          <a:xfrm>
            <a:off x="566928" y="459435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a:t>
            </a:r>
          </a:p>
        </p:txBody>
      </p:sp>
      <p:sp>
        <p:nvSpPr>
          <p:cNvPr id="24" name="Rounded Rectangle 23"/>
          <p:cNvSpPr/>
          <p:nvPr/>
        </p:nvSpPr>
        <p:spPr>
          <a:xfrm>
            <a:off x="566928" y="5317744"/>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   </a:t>
            </a:r>
            <a:r>
              <a:rPr sz="1600" b="1" i="0">
                <a:solidFill>
                  <a:srgbClr val="07734A"/>
                </a:solidFill>
                <a:latin typeface="Verdana"/>
              </a:rPr>
              <a:t>» VRAI</a:t>
            </a:r>
          </a:p>
        </p:txBody>
      </p:sp>
      <p:sp>
        <p:nvSpPr>
          <p:cNvPr id="12" name="Rounded Rectangle 11"/>
          <p:cNvSpPr/>
          <p:nvPr/>
        </p:nvSpPr>
        <p:spPr>
          <a:xfrm>
            <a:off x="566928" y="2863088"/>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   </a:t>
            </a:r>
            <a:r>
              <a:rPr sz="1600" b="1" i="0">
                <a:solidFill>
                  <a:srgbClr val="07734A"/>
                </a:solidFill>
                <a:latin typeface="Verdana"/>
              </a:rPr>
              <a:t>» VRAI</a:t>
            </a:r>
          </a:p>
        </p:txBody>
      </p:sp>
      <p:sp>
        <p:nvSpPr>
          <p:cNvPr id="16" name="Rounded Rectangle 15"/>
          <p:cNvSpPr/>
          <p:nvPr/>
        </p:nvSpPr>
        <p:spPr>
          <a:xfrm>
            <a:off x="566928" y="358648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   </a:t>
            </a:r>
            <a:r>
              <a:rPr sz="1600" b="1" i="0">
                <a:solidFill>
                  <a:srgbClr val="07734A"/>
                </a:solidFill>
                <a:latin typeface="Verdana"/>
              </a:rPr>
              <a:t>» FAUX — le premier mois seulement</a:t>
            </a:r>
          </a:p>
        </p:txBody>
      </p:sp>
      <p:sp>
        <p:nvSpPr>
          <p:cNvPr id="20" name="Rounded Rectangle 19"/>
          <p:cNvSpPr/>
          <p:nvPr/>
        </p:nvSpPr>
        <p:spPr>
          <a:xfrm>
            <a:off x="566928" y="459435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   </a:t>
            </a:r>
            <a:r>
              <a:rPr sz="1600" b="1" i="0">
                <a:solidFill>
                  <a:srgbClr val="07734A"/>
                </a:solidFill>
                <a:latin typeface="Verdana"/>
              </a:rPr>
              <a:t>» FAUX — il se renouvelle automatiquement</a:t>
            </a:r>
          </a:p>
        </p:txBody>
      </p:sp>
      <p:sp>
        <p:nvSpPr>
          <p:cNvPr id="24" name="Rounded Rectangle 23"/>
          <p:cNvSpPr/>
          <p:nvPr/>
        </p:nvSpPr>
        <p:spPr>
          <a:xfrm>
            <a:off x="566928" y="5317744"/>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   </a:t>
            </a:r>
            <a:r>
              <a:rPr sz="1600" b="1" i="0">
                <a:solidFill>
                  <a:srgbClr val="07734A"/>
                </a:solidFill>
                <a:latin typeface="Verdana"/>
              </a:rPr>
              <a:t>» FAUX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Cinq points, dans l'ordre.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   </a:t>
            </a:r>
            <a:r>
              <a:rPr sz="1900" b="1" i="0">
                <a:solidFill>
                  <a:srgbClr val="07734A"/>
                </a:solidFill>
                <a:latin typeface="Verdana"/>
              </a:rPr>
              <a:t>» les dates de début et de fin</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   </a:t>
            </a:r>
            <a:r>
              <a:rPr sz="1900" b="1" i="0">
                <a:solidFill>
                  <a:srgbClr val="07734A"/>
                </a:solidFill>
                <a:latin typeface="Verdana"/>
              </a:rPr>
              <a:t>» le montant, et ce qu'il comprend</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   </a:t>
            </a:r>
            <a:r>
              <a:rPr sz="1900" b="1" i="0">
                <a:solidFill>
                  <a:srgbClr val="07734A"/>
                </a:solidFill>
                <a:latin typeface="Verdana"/>
              </a:rPr>
              <a:t>» écrites, pas promises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   </a:t>
            </a:r>
            <a:r>
              <a:rPr sz="1900" b="1" i="0">
                <a:solidFill>
                  <a:srgbClr val="07734A"/>
                </a:solidFill>
                <a:latin typeface="Verdana"/>
              </a:rPr>
              <a:t>» animaux, fumée, sous-location</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   </a:t>
            </a:r>
            <a:r>
              <a:rPr sz="1900" b="1" i="0">
                <a:solidFill>
                  <a:srgbClr val="07734A"/>
                </a:solidFill>
                <a:latin typeface="Verdana"/>
              </a:rPr>
              <a:t>» sont-elles écrites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cinq points à vérifier avant de signer un bail.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chacun.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sixième ligne : la question que vous poseriez avant de signer.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