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2. Demander : à qui parlez-vous après avoir visité un logement ? Presque tout le monde en parle à quelqu'un avant de décider.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l'audio du défi 2. « Ce qui m'a plu, c'est… » est la construction du défi. La signaler sans l'expliquer : elle sera le sujet de C2.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Leyla ne discute pas l'inquiétude : elle propose une solution. C'est ce qu'on attend d'un proche à qui on demande conseil.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Petite, mais claire » : deux jugements dans trois mots. Faire remarquer le « mais », qui pose le contraste.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remplir ce tableau par les élèves pendant la deuxième écoute, avant de l'afficher.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du défi. Beaucoup d'élèves cherchent un logement sans défaut et ne trouvent rien : le dire.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énoncé est le piège : Leyla pose la question, Ibrahim répond le contraire de ce qu'elle suggère.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question porte sur une solution, pas sur un problème. C'est celle qui compte le plus.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Savoir culturel propre au Québec. Beaucoup d'élèves l'apprennent en le subissant : autant le dire d'avance.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Boucler sur la règle du module : ce qui compte dépend de la vie qu'on mène.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l'alternance : chaque problème d'Ibrahim reçoit une solution de Leyla. C'est le rythme de la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Quinze minutes. Se servir des visites du jeu de rôle de B4 : le groupe a déjà de la matière.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Ces listes serviront en C2, où l'on apprendra à les dire avec la construction emphatique.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Ibrahim en parle à Leyla</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visite est finie. Ibrahim raconte à Leyla ce qui lui a plu et ce qui l'inquiète. C'est la conversation qui décide vraiment — pas la visite.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Comment est le logement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où l'on pèse le pour et le contre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plaît de ce qui inquiète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les solutions proposées à un problème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construction qui met un élément en évidence.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m'a plu, c'est la chambre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l'enregistrement, diapo masquée. Lisez ensuite.</a:t>
            </a:r>
          </a:p>
        </p:txBody>
      </p:sp>
      <p:sp>
        <p:nvSpPr>
          <p:cNvPr id="8" name="TextBox 7"/>
          <p:cNvSpPr txBox="1"/>
          <p:nvPr/>
        </p:nvSpPr>
        <p:spPr>
          <a:xfrm>
            <a:off x="932688" y="2322576"/>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LEYLA</a:t>
            </a:r>
          </a:p>
        </p:txBody>
      </p:sp>
      <p:sp>
        <p:nvSpPr>
          <p:cNvPr id="9" name="TextBox 8"/>
          <p:cNvSpPr txBox="1"/>
          <p:nvPr/>
        </p:nvSpPr>
        <p:spPr>
          <a:xfrm>
            <a:off x="2421445" y="2322576"/>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ce logement au-dessus de la boulangerie ? Tu as l'air content, toi.</a:t>
            </a:r>
          </a:p>
        </p:txBody>
      </p:sp>
      <p:sp>
        <p:nvSpPr>
          <p:cNvPr id="10" name="Rounded Rectangle 9"/>
          <p:cNvSpPr/>
          <p:nvPr/>
        </p:nvSpPr>
        <p:spPr>
          <a:xfrm>
            <a:off x="566928" y="324510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409696"/>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IBRAHIM</a:t>
            </a:r>
          </a:p>
        </p:txBody>
      </p:sp>
      <p:sp>
        <p:nvSpPr>
          <p:cNvPr id="12" name="TextBox 11"/>
          <p:cNvSpPr txBox="1"/>
          <p:nvPr/>
        </p:nvSpPr>
        <p:spPr>
          <a:xfrm>
            <a:off x="2421445" y="3409696"/>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qui m'a plu, c'est la chambre : elle donne sur la cour, loin de la rue. Je vais pouvoir dormir le matin après mes quarts.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Celui que je crains</a:t>
            </a:r>
          </a:p>
        </p:txBody>
      </p:sp>
      <p:sp>
        <p:nvSpPr>
          <p:cNvPr id="7" name="TextBox 6"/>
          <p:cNvSpPr txBox="1"/>
          <p:nvPr/>
        </p:nvSpPr>
        <p:spPr>
          <a:xfrm>
            <a:off x="932688" y="1901952"/>
            <a:ext cx="148875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LEYLA</a:t>
            </a:r>
          </a:p>
        </p:txBody>
      </p:sp>
      <p:sp>
        <p:nvSpPr>
          <p:cNvPr id="8" name="TextBox 7"/>
          <p:cNvSpPr txBox="1"/>
          <p:nvPr/>
        </p:nvSpPr>
        <p:spPr>
          <a:xfrm>
            <a:off x="2421445" y="1901952"/>
            <a:ext cx="865468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l'odeur du pain chaud à cinq heures, ça ne va pas te déranger ?</a:t>
            </a:r>
          </a:p>
        </p:txBody>
      </p:sp>
      <p:sp>
        <p:nvSpPr>
          <p:cNvPr id="9" name="Rounded Rectangle 8"/>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IBRAHIM</a:t>
            </a:r>
          </a:p>
        </p:txBody>
      </p:sp>
      <p:sp>
        <p:nvSpPr>
          <p:cNvPr id="11" name="TextBox 10"/>
          <p:cNvSpPr txBox="1"/>
          <p:nvPr/>
        </p:nvSpPr>
        <p:spPr>
          <a:xfrm>
            <a:off x="2421445" y="2651252"/>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c'est un cadeau ! Celui que je crains, c'est plutôt le camion de farine qui recule dans la ruelle.</a:t>
            </a:r>
          </a:p>
        </p:txBody>
      </p:sp>
      <p:sp>
        <p:nvSpPr>
          <p:cNvPr id="12" name="Rounded Rectangle 11"/>
          <p:cNvSpPr/>
          <p:nvPr/>
        </p:nvSpPr>
        <p:spPr>
          <a:xfrm>
            <a:off x="566928" y="35737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738371"/>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LEYLA</a:t>
            </a:r>
          </a:p>
        </p:txBody>
      </p:sp>
      <p:sp>
        <p:nvSpPr>
          <p:cNvPr id="14" name="TextBox 13"/>
          <p:cNvSpPr txBox="1"/>
          <p:nvPr/>
        </p:nvSpPr>
        <p:spPr>
          <a:xfrm>
            <a:off x="2421445" y="3738371"/>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Mets des rideaux épais et un ventilateur, le bruit passe au deuxième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Rappelle-la avant vendredi</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IBRAHIM</a:t>
            </a:r>
          </a:p>
        </p:txBody>
      </p:sp>
      <p:sp>
        <p:nvSpPr>
          <p:cNvPr id="9" name="TextBox 8"/>
          <p:cNvSpPr txBox="1"/>
          <p:nvPr/>
        </p:nvSpPr>
        <p:spPr>
          <a:xfrm>
            <a:off x="2421445" y="1901952"/>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Petite, mais claire. Ce que je changerais, c'est la couleur des murs : un vert olive un peu triste.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8875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LEYLA</a:t>
            </a:r>
          </a:p>
        </p:txBody>
      </p:sp>
      <p:sp>
        <p:nvSpPr>
          <p:cNvPr id="12" name="TextBox 11"/>
          <p:cNvSpPr txBox="1"/>
          <p:nvPr/>
        </p:nvSpPr>
        <p:spPr>
          <a:xfrm>
            <a:off x="2421445" y="2989072"/>
            <a:ext cx="865468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Ginette fournit la peinture, non ? Rappelle-la avant vendredi : les logements tranquilles partent vite à Sherbrooke.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plaît et ce qui inquiète</a:t>
            </a:r>
          </a:p>
        </p:txBody>
      </p:sp>
      <p:sp>
        <p:nvSpPr>
          <p:cNvPr id="7" name="Rounded Rectangle 6"/>
          <p:cNvSpPr/>
          <p:nvPr/>
        </p:nvSpPr>
        <p:spPr>
          <a:xfrm>
            <a:off x="566928" y="1810512"/>
            <a:ext cx="11057839" cy="3015996"/>
          </a:xfrm>
          <a:prstGeom prst="roundRect">
            <a:avLst>
              <a:gd name="adj" fmla="val 48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PLAÎT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INQUIÈTE</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chambre donne sur la cour</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camion de farine dans la ruelle</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l'odeur du pain chaud</a:t>
            </a:r>
          </a:p>
        </p:txBody>
      </p:sp>
      <p:sp>
        <p:nvSpPr>
          <p:cNvPr id="14" name="TextBox 13"/>
          <p:cNvSpPr txBox="1"/>
          <p:nvPr/>
        </p:nvSpPr>
        <p:spPr>
          <a:xfrm>
            <a:off x="4443636" y="320344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couleur des murs, un vert olive</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cuisine est claire</a:t>
            </a:r>
          </a:p>
        </p:txBody>
      </p:sp>
      <p:sp>
        <p:nvSpPr>
          <p:cNvPr id="17" name="TextBox 16"/>
          <p:cNvSpPr txBox="1"/>
          <p:nvPr/>
        </p:nvSpPr>
        <p:spPr>
          <a:xfrm>
            <a:off x="4443636" y="372618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cuisine est petite</a:t>
            </a:r>
          </a:p>
        </p:txBody>
      </p:sp>
      <p:sp>
        <p:nvSpPr>
          <p:cNvPr id="18" name="Rectangle 17"/>
          <p:cNvSpPr/>
          <p:nvPr/>
        </p:nvSpPr>
        <p:spPr>
          <a:xfrm>
            <a:off x="932688" y="41208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248912"/>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 peinture est fournie</a:t>
            </a:r>
          </a:p>
        </p:txBody>
      </p:sp>
      <p:sp>
        <p:nvSpPr>
          <p:cNvPr id="20" name="TextBox 19"/>
          <p:cNvSpPr txBox="1"/>
          <p:nvPr/>
        </p:nvSpPr>
        <p:spPr>
          <a:xfrm>
            <a:off x="4443636" y="424891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faut décider avant vendredi</a:t>
            </a:r>
          </a:p>
        </p:txBody>
      </p:sp>
      <p:sp>
        <p:nvSpPr>
          <p:cNvPr id="21" name="Rounded Rectangle 20"/>
          <p:cNvSpPr/>
          <p:nvPr/>
        </p:nvSpPr>
        <p:spPr>
          <a:xfrm>
            <a:off x="566928" y="506425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2028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troisième ligne montre que la même pièce peut plaire et déplaire. C'est normal : aucun logement n'est parfait.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RÈGLE DU DÉFI 2</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ne cherche pas le logement parfait : on pèse ce qui plaît et ce qui inquiète.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chambre sur la cour règle le vrai problème d'Ibrahim. Le camion de farine reste un inconvénient, mais des rideaux épais le réduisent. C'est ce calcul qui décide, pas une liste de défauts.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le dialogue.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qui rassure Ibrahim, c'est que la chambre donne sur la cour.</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du pain chaud dérange beaucoup Ibrahim.</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Ibrahim aimerait changer la couleur des murs de la cuisine.</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Leyla conseille d'attendre encore quelques semaines.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qui rassure Ibrahim, c'est que la chambre donne sur la cour.   </a:t>
            </a:r>
            <a:r>
              <a:rPr sz="1900" b="1" i="0">
                <a:solidFill>
                  <a:srgbClr val="07734A"/>
                </a:solidFill>
                <a:latin typeface="Verdana"/>
              </a:rPr>
              <a:t>» VRAI</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du pain chaud dérange beaucoup Ibrahim.   </a:t>
            </a:r>
            <a:r>
              <a:rPr sz="1900" b="1" i="0">
                <a:solidFill>
                  <a:srgbClr val="07734A"/>
                </a:solidFill>
                <a:latin typeface="Verdana"/>
              </a:rPr>
              <a:t>» FAUX — il dit que c'est un cadeau</a:t>
            </a:r>
          </a:p>
        </p:txBody>
      </p:sp>
      <p:sp>
        <p:nvSpPr>
          <p:cNvPr id="16" name="Rounded Rectangle 15"/>
          <p:cNvSpPr/>
          <p:nvPr/>
        </p:nvSpPr>
        <p:spPr>
          <a:xfrm>
            <a:off x="566928" y="403098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Ibrahim aimerait changer la couleur des murs de la cuisine.   </a:t>
            </a:r>
            <a:r>
              <a:rPr sz="1900" b="1" i="0">
                <a:solidFill>
                  <a:srgbClr val="07734A"/>
                </a:solidFill>
                <a:latin typeface="Verdana"/>
              </a:rPr>
              <a:t>» VRAI</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Leyla conseille d'attendre encore quelques semaines.   </a:t>
            </a:r>
            <a:r>
              <a:rPr sz="1900" b="1" i="0">
                <a:solidFill>
                  <a:srgbClr val="07734A"/>
                </a:solidFill>
                <a:latin typeface="Verdana"/>
              </a:rPr>
              <a:t>» FAUX — elle dit de rappeler avant vendredi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questions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par une phrase complète.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Pourquoi Ibrahim est-il content de la chambre ?</a:t>
            </a:r>
          </a:p>
        </p:txBody>
      </p:sp>
      <p:sp>
        <p:nvSpPr>
          <p:cNvPr id="12" name="Rounded Rectangle 11"/>
          <p:cNvSpPr/>
          <p:nvPr/>
        </p:nvSpPr>
        <p:spPr>
          <a:xfrm>
            <a:off x="566928" y="321868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Qu'est-ce qu'il craint le plus ?</a:t>
            </a:r>
          </a:p>
        </p:txBody>
      </p:sp>
      <p:sp>
        <p:nvSpPr>
          <p:cNvPr id="16" name="Rounded Rectangle 15"/>
          <p:cNvSpPr/>
          <p:nvPr/>
        </p:nvSpPr>
        <p:spPr>
          <a:xfrm>
            <a:off x="566928" y="429768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propose Leyla pour atténuer le bruit ?</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voudrait-il changer dans la cuisine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questions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Pourquoi Ibrahim est-il content de la chambre ?   </a:t>
            </a:r>
            <a:r>
              <a:rPr sz="1800" b="1" i="0">
                <a:solidFill>
                  <a:srgbClr val="07734A"/>
                </a:solidFill>
                <a:latin typeface="Verdana"/>
              </a:rPr>
              <a:t>» Elle donne sur la cour, loin du bruit de la rue.</a:t>
            </a:r>
          </a:p>
        </p:txBody>
      </p:sp>
      <p:sp>
        <p:nvSpPr>
          <p:cNvPr id="12" name="Rounded Rectangle 11"/>
          <p:cNvSpPr/>
          <p:nvPr/>
        </p:nvSpPr>
        <p:spPr>
          <a:xfrm>
            <a:off x="566928" y="321868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Qu'est-ce qu'il craint le plus ?   </a:t>
            </a:r>
            <a:r>
              <a:rPr sz="1800" b="1" i="0">
                <a:solidFill>
                  <a:srgbClr val="07734A"/>
                </a:solidFill>
                <a:latin typeface="Verdana"/>
              </a:rPr>
              <a:t>» Le camion de farine qui recule dans la ruelle le matin.</a:t>
            </a:r>
          </a:p>
        </p:txBody>
      </p:sp>
      <p:sp>
        <p:nvSpPr>
          <p:cNvPr id="16" name="Rounded Rectangle 15"/>
          <p:cNvSpPr/>
          <p:nvPr/>
        </p:nvSpPr>
        <p:spPr>
          <a:xfrm>
            <a:off x="566928" y="429768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propose Leyla pour atténuer le bruit ?   </a:t>
            </a:r>
            <a:r>
              <a:rPr sz="1800" b="1" i="0">
                <a:solidFill>
                  <a:srgbClr val="07734A"/>
                </a:solidFill>
                <a:latin typeface="Verdana"/>
              </a:rPr>
              <a:t>» Des rideaux épais et un ventilateur.</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voudrait-il changer dans la cuisine ?   </a:t>
            </a:r>
            <a:r>
              <a:rPr sz="1800" b="1" i="0">
                <a:solidFill>
                  <a:srgbClr val="07734A"/>
                </a:solidFill>
                <a:latin typeface="Verdana"/>
              </a:rPr>
              <a:t>» La couleur des murs, un vert olive qu'il trouve triste.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EN APPRENDRE PLUS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1er juillet, jour de déménagement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tradition québécoise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La plupart des baux se terminent le 30 juin. Le 1er juillet, des milliers de ménages déménagent le même jour.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 cela change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Les camions de location se réservent des mois d'avance, et les déménageurs coûtent plus cher ce jour-là qu'un autre.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D'autres dates existent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Le bail d'Ibrahim commence le 1er septembre. C'est fréquent dans une ville universitaire comme Sherbrooke.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qu'il faut prévoir</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Réserver le camion dès qu'on signe. Et prévoir que l'ancien locataire partira peut-être le matin même de votre arrivée.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DU LOGEMENT PARFAIT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y a le camion de farine, je cherche autre chose.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chambre donne sur la cour : c'est ce qui compte pour moi.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Chaque logement a un défaut. La question n'est pas « y a-t-il un problème ? » mais « est-ce que ce problème me touche, moi ? ». Le camion de farine dérangerait quelqu'un qui dort le matin dans une chambre sur rue. Pas Ibrahim.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Problème ou solution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Ce que dit chaque réplique.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camion de farine recule dans la ruelle.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Mets des rideaux épais et un ventilateur.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 que je changerais, c'est la couleur des murs.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Ginette fournit la peinture, non ?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Problème ou solution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camion de farine recule dans la ruelle. »   </a:t>
            </a:r>
            <a:r>
              <a:rPr sz="1900" b="1" i="0">
                <a:solidFill>
                  <a:srgbClr val="07734A"/>
                </a:solidFill>
                <a:latin typeface="Verdana"/>
              </a:rPr>
              <a:t>» un problème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Mets des rideaux épais et un ventilateur. »   </a:t>
            </a:r>
            <a:r>
              <a:rPr sz="1900" b="1" i="0">
                <a:solidFill>
                  <a:srgbClr val="07734A"/>
                </a:solidFill>
                <a:latin typeface="Verdana"/>
              </a:rPr>
              <a:t>» une solution</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 que je changerais, c'est la couleur des murs. »   </a:t>
            </a:r>
            <a:r>
              <a:rPr sz="1900" b="1" i="0">
                <a:solidFill>
                  <a:srgbClr val="07734A"/>
                </a:solidFill>
                <a:latin typeface="Verdana"/>
              </a:rPr>
              <a:t>» un problème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Ginette fournit la peinture, non ? »   </a:t>
            </a:r>
            <a:r>
              <a:rPr sz="1900" b="1" i="0">
                <a:solidFill>
                  <a:srgbClr val="07734A"/>
                </a:solidFill>
                <a:latin typeface="Verdana"/>
              </a:rPr>
              <a:t>» une solution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deux · racontez votre visite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Trois choses qui plaisent, deux qui inquiètent, une solution.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qui vous a plu</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qui vous inquiète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propose votre partenaire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décision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Après une visite : trois choses qui plaisent, deux qui inquiètent.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visite réelle ou celle du jeu de rôle.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solution possible pour l'une des deux inquiétudes.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C1 · Comment est le logement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