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Demander : à qui parlez-vous après avoir visité un logement ? Presque tout le monde en parle à quelqu'un avant de décider.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2. « Ce qui m'a plu, c'est… » est la construction du défi. La signaler sans l'expliquer : elle sera le sujet de C2.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Leyla ne discute pas l'inquiétude : elle propose une solution. C'est ce qu'on attend d'un proche à qui on demande conseil.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Petite, mais claire » : deux jugements dans trois mots. Faire remarquer le « mais », qui pose le 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remplir ce tableau par les élèves pendant la deuxième écoute, avant de l'afficher.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du défi. Beaucoup d'élèves cherchent un logement sans défaut et ne trouvent rien : le dire.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énoncé est le piège : Leyla pose la question, Ibrahim répond le contraire de ce qu'elle suggère.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question porte sur une solution, pas sur un problème. C'est celle qui compte le plus.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Savoir culturel propre au Québec. Beaucoup d'élèves l'apprennent en le subissant : autant le dire d'avance.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Boucler sur la règle du module : ce qui compte dépend de la vie qu'on mène.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l'alternance : chaque problème d'Ibrahim reçoit une solution de Leyla. C'est le rythme de la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Quinze minutes. Se servir des visites du jeu de rôle de B4 : le groupe a déjà de la matière.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listes serviront en C2, où l'on apprendra à les dire avec la construction emphatique.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Ibrahim en parle à Leyla</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visite est finie. Ibrahim raconte à Leyla ce qui lui a plu et ce qui l'inquiète. C'est la conversation qui décide vraiment — pas la visite.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où l'on pèse le pour et le contre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plaît de ce qui inquiète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les solutions proposées à un problème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construction qui met un élément en évidence.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m'a plu, c'est la chambre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TextBox 7"/>
          <p:cNvSpPr txBox="1"/>
          <p:nvPr/>
        </p:nvSpPr>
        <p:spPr>
          <a:xfrm>
            <a:off x="932688" y="232257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9" name="TextBox 8"/>
          <p:cNvSpPr txBox="1"/>
          <p:nvPr/>
        </p:nvSpPr>
        <p:spPr>
          <a:xfrm>
            <a:off x="2421445" y="232257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ce logement au-dessus de la boulangerie ? Tu as l'air content, toi.</a:t>
            </a:r>
          </a:p>
        </p:txBody>
      </p:sp>
      <p:sp>
        <p:nvSpPr>
          <p:cNvPr id="10" name="Rounded Rectangle 9"/>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0969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2" name="TextBox 11"/>
          <p:cNvSpPr txBox="1"/>
          <p:nvPr/>
        </p:nvSpPr>
        <p:spPr>
          <a:xfrm>
            <a:off x="2421445" y="340969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m'a plu, c'est la chambre : elle donne sur la cour, loin de la rue. Je vais pouvoir dormir le matin après mes quarts.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Celui que je crains</a:t>
            </a:r>
          </a:p>
        </p:txBody>
      </p:sp>
      <p:sp>
        <p:nvSpPr>
          <p:cNvPr id="7" name="TextBox 6"/>
          <p:cNvSpPr txBox="1"/>
          <p:nvPr/>
        </p:nvSpPr>
        <p:spPr>
          <a:xfrm>
            <a:off x="932688" y="1901952"/>
            <a:ext cx="148875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8" name="TextBox 7"/>
          <p:cNvSpPr txBox="1"/>
          <p:nvPr/>
        </p:nvSpPr>
        <p:spPr>
          <a:xfrm>
            <a:off x="2421445" y="1901952"/>
            <a:ext cx="865468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l'odeur du pain chaud à cinq heures, ça ne va pas te déranger ?</a:t>
            </a:r>
          </a:p>
        </p:txBody>
      </p:sp>
      <p:sp>
        <p:nvSpPr>
          <p:cNvPr id="9" name="Rounded Rectangle 8"/>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1" name="TextBox 10"/>
          <p:cNvSpPr txBox="1"/>
          <p:nvPr/>
        </p:nvSpPr>
        <p:spPr>
          <a:xfrm>
            <a:off x="2421445" y="26512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c'est un cadeau ! Celui que je crains, c'est plutôt le camion de farine qui recule dans la ruelle.</a:t>
            </a:r>
          </a:p>
        </p:txBody>
      </p:sp>
      <p:sp>
        <p:nvSpPr>
          <p:cNvPr id="12" name="Rounded Rectangle 11"/>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4" name="TextBox 13"/>
          <p:cNvSpPr txBox="1"/>
          <p:nvPr/>
        </p:nvSpPr>
        <p:spPr>
          <a:xfrm>
            <a:off x="2421445" y="3738371"/>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Mets des rideaux épais et un ventilateur, le bruit passe au deuxième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Rappelle-la avant vendredi</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9" name="TextBox 8"/>
          <p:cNvSpPr txBox="1"/>
          <p:nvPr/>
        </p:nvSpPr>
        <p:spPr>
          <a:xfrm>
            <a:off x="2421445" y="19019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Petite, mais claire. Ce que je changerais, c'est la couleur des murs : un vert olive un peu triste.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2" name="TextBox 11"/>
          <p:cNvSpPr txBox="1"/>
          <p:nvPr/>
        </p:nvSpPr>
        <p:spPr>
          <a:xfrm>
            <a:off x="2421445" y="298907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Ginette fournit la peinture, non ? Rappelle-la avant vendredi : les logements tranquilles partent vite à Sherbrooke.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plaît et ce qui inquiète</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PLAÎT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INQUIÈTE</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chambre donne sur la cour</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camion de farine dans la ruelle</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l'odeur du pain chaud</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couleur des murs, un vert olive</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cuisine est claire</a:t>
            </a:r>
          </a:p>
        </p:txBody>
      </p:sp>
      <p:sp>
        <p:nvSpPr>
          <p:cNvPr id="17" name="TextBox 16"/>
          <p:cNvSpPr txBox="1"/>
          <p:nvPr/>
        </p:nvSpPr>
        <p:spPr>
          <a:xfrm>
            <a:off x="4443636" y="372618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cuisine est petite</a:t>
            </a:r>
          </a:p>
        </p:txBody>
      </p:sp>
      <p:sp>
        <p:nvSpPr>
          <p:cNvPr id="18" name="Rectangle 17"/>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4891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peinture est fournie</a:t>
            </a:r>
          </a:p>
        </p:txBody>
      </p:sp>
      <p:sp>
        <p:nvSpPr>
          <p:cNvPr id="20" name="TextBox 19"/>
          <p:cNvSpPr txBox="1"/>
          <p:nvPr/>
        </p:nvSpPr>
        <p:spPr>
          <a:xfrm>
            <a:off x="4443636" y="424891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faut décider avant vendredi</a:t>
            </a:r>
          </a:p>
        </p:txBody>
      </p:sp>
      <p:sp>
        <p:nvSpPr>
          <p:cNvPr id="21" name="Rounded Rectangle 20"/>
          <p:cNvSpPr/>
          <p:nvPr/>
        </p:nvSpPr>
        <p:spPr>
          <a:xfrm>
            <a:off x="566928" y="50642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202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troisième ligne montre que la même pièce peut plaire et déplaire. C'est normal : aucun logement n'est parfait.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DU DÉFI 2</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ne cherche pas le logement parfait : on pèse ce qui plaît et ce qui inquiète.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chambre sur la cour règle le vrai problème d'Ibrahim. Le camion de farine reste un inconvénient, mais des rideaux épais le réduisent. C'est ce calcul qui décide, pas une liste de défauts.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   </a:t>
            </a:r>
            <a:r>
              <a:rPr sz="1900" b="1" i="0">
                <a:solidFill>
                  <a:srgbClr val="07734A"/>
                </a:solidFill>
                <a:latin typeface="Verdana"/>
              </a:rPr>
              <a:t>» VRAI</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   </a:t>
            </a:r>
            <a:r>
              <a:rPr sz="1900" b="1" i="0">
                <a:solidFill>
                  <a:srgbClr val="07734A"/>
                </a:solidFill>
                <a:latin typeface="Verdana"/>
              </a:rPr>
              <a:t>» FAUX — il dit que c'est un cadeau</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   </a:t>
            </a:r>
            <a:r>
              <a:rPr sz="1900" b="1" i="0">
                <a:solidFill>
                  <a:srgbClr val="07734A"/>
                </a:solidFill>
                <a:latin typeface="Verdana"/>
              </a:rPr>
              <a:t>» VRAI</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   </a:t>
            </a:r>
            <a:r>
              <a:rPr sz="1900" b="1" i="0">
                <a:solidFill>
                  <a:srgbClr val="07734A"/>
                </a:solidFill>
                <a:latin typeface="Verdana"/>
              </a:rPr>
              <a:t>» FAUX — elle dit de rappeler avant vendredi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par une phrase complète.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   </a:t>
            </a:r>
            <a:r>
              <a:rPr sz="1800" b="1" i="0">
                <a:solidFill>
                  <a:srgbClr val="07734A"/>
                </a:solidFill>
                <a:latin typeface="Verdana"/>
              </a:rPr>
              <a:t>» Elle donne sur la cour, loin du bruit de la rue.</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   </a:t>
            </a:r>
            <a:r>
              <a:rPr sz="1800" b="1" i="0">
                <a:solidFill>
                  <a:srgbClr val="07734A"/>
                </a:solidFill>
                <a:latin typeface="Verdana"/>
              </a:rPr>
              <a:t>» Le camion de farine qui recule dans la ruelle le matin.</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   </a:t>
            </a:r>
            <a:r>
              <a:rPr sz="1800" b="1" i="0">
                <a:solidFill>
                  <a:srgbClr val="07734A"/>
                </a:solidFill>
                <a:latin typeface="Verdana"/>
              </a:rPr>
              <a:t>» Des rideaux épais et un ventilateur.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   </a:t>
            </a:r>
            <a:r>
              <a:rPr sz="1800" b="1" i="0">
                <a:solidFill>
                  <a:srgbClr val="07734A"/>
                </a:solidFill>
                <a:latin typeface="Verdana"/>
              </a:rPr>
              <a:t>» La couleur des murs, un vert olive qu'il trouve triste.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jour de déménagement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tradition québécoise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La plupart des baux se terminent le 30 juin. Le 1er juillet, des milliers de ménages déménagent le même jour.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que cela change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Les camions de location se réservent des mois d'avance, et les déménageurs coûtent plus cher ce jour-là qu'un autre.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D'autres dates existent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qu'il faut prévoir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Réserver le camion dès qu'on signe. Et prévoir que l'ancien locataire partira peut-être le matin même de votre arrivée.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LOGEMENT PARFAIT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le camion de farine, je cherche autre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chambre donne sur la cour : c'est ce qui compte pour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Chaque logement a un défaut. La question n'est pas « y a-t-il un problème ? » mais « est-ce que ce problème me touche, moi ? ». Le camion de farine dérangerait quelqu'un qui dort le matin dans une chambre sur rue. Pas Ibrahim.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Ce que dit chaque réplique.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   </a:t>
            </a:r>
            <a:r>
              <a:rPr sz="1900" b="1" i="0">
                <a:solidFill>
                  <a:srgbClr val="07734A"/>
                </a:solidFill>
                <a:latin typeface="Verdana"/>
              </a:rPr>
              <a:t>» un problème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   </a:t>
            </a:r>
            <a:r>
              <a:rPr sz="1900" b="1" i="0">
                <a:solidFill>
                  <a:srgbClr val="07734A"/>
                </a:solidFill>
                <a:latin typeface="Verdana"/>
              </a:rPr>
              <a:t>» une solution</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   </a:t>
            </a:r>
            <a:r>
              <a:rPr sz="1900" b="1" i="0">
                <a:solidFill>
                  <a:srgbClr val="07734A"/>
                </a:solidFill>
                <a:latin typeface="Verdana"/>
              </a:rPr>
              <a:t>» un problème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   </a:t>
            </a:r>
            <a:r>
              <a:rPr sz="1900" b="1" i="0">
                <a:solidFill>
                  <a:srgbClr val="07734A"/>
                </a:solidFill>
                <a:latin typeface="Verdana"/>
              </a:rPr>
              <a:t>» une solution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deux · racontez votre visite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choses qui plaisent, deux qui inquiètent, une solution.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a plu</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inquiète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propose votre partenaire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décision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Après une visite : trois choses qui plaisent, deux qui inquiètent.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visite réelle ou celle du jeu de rôle.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solution possible pour l'une des deux inquiétudes.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