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bloc D. Demander qui a déjà fait un échange au Québec, et comment ça s'est passé. Les récits sont souvent instructifs.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de gens font la file à la caisse et sont renvoyés au fond du magasin. Le comptoir s'appelle « service à la clientèle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 voudrais échanger… » : la formule d'ouverture. La facture arrive tout de suite après — c'est la première chose qu'on demande.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choses le sauvent : pas portées dehors, la boîte gardée, la facture. Les faire nommer par le groupe.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 paie la différence où ? » : question pratique et fréquente. La nouvelle facture repart un nouveau délai.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Beaucoup d'élèves demandent un remboursement et acceptent une note de crédit sans comprendre la différence.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C'est la diapo centrale du bloc 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famille cause le plus de mauvaises surprises : le rabais se paie par l'impossibilité de revenir.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prendre l'habitude : photo, puis le papier dans une enveloppe.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Ces phrases servent au jeu de rôle de E1.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D1  ·  MODULE 18</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Échanger un article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facture, les étiquettes, la boîte, et le délai. Quatre conditions, et un comptoir qui n'est pas la caisse. Un échange bien préparé prend trois minutes.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Acheter des vêtements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demander un échange au bon comptoir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présenter la facture et expliquer le motif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échange, remboursement et note de crédit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le délai et les exceptions.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faut-il aller pour un échange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omptoir-service.jpg"/>
          <p:cNvPicPr>
            <a:picLocks noChangeAspect="1"/>
          </p:cNvPicPr>
          <p:nvPr/>
        </p:nvPicPr>
        <p:blipFill>
          <a:blip r:embed="rId2"/>
          <a:stretch>
            <a:fillRect/>
          </a:stretch>
        </p:blipFill>
        <p:spPr>
          <a:xfrm>
            <a:off x="7644383" y="2019452"/>
            <a:ext cx="3760927" cy="3760927"/>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la même file que pour payer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qu'il faut apporter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a-t-on pour revenir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tout s'échange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demande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KOFI</a:t>
            </a:r>
          </a:p>
        </p:txBody>
      </p:sp>
      <p:sp>
        <p:nvSpPr>
          <p:cNvPr id="10" name="TextBox 9"/>
          <p:cNvSpPr txBox="1"/>
          <p:nvPr/>
        </p:nvSpPr>
        <p:spPr>
          <a:xfrm>
            <a:off x="1896808" y="2322576"/>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Je voudrais échanger ces bottes, s'il vous plaît.</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RÉMI</a:t>
            </a:r>
          </a:p>
        </p:txBody>
      </p:sp>
      <p:sp>
        <p:nvSpPr>
          <p:cNvPr id="13" name="TextBox 12"/>
          <p:cNvSpPr txBox="1"/>
          <p:nvPr/>
        </p:nvSpPr>
        <p:spPr>
          <a:xfrm>
            <a:off x="1896808" y="3071876"/>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Bien sûr. Vous avez la facture ?</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KOFI</a:t>
            </a:r>
          </a:p>
        </p:txBody>
      </p:sp>
      <p:sp>
        <p:nvSpPr>
          <p:cNvPr id="16" name="TextBox 15"/>
          <p:cNvSpPr txBox="1"/>
          <p:nvPr/>
        </p:nvSpPr>
        <p:spPr>
          <a:xfrm>
            <a:off x="1896808" y="3821175"/>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la voici. Je les ai achetées samedi.</a:t>
            </a:r>
          </a:p>
        </p:txBody>
      </p:sp>
      <p:sp>
        <p:nvSpPr>
          <p:cNvPr id="17" name="TextBox 16"/>
          <p:cNvSpPr txBox="1"/>
          <p:nvPr/>
        </p:nvSpPr>
        <p:spPr>
          <a:xfrm>
            <a:off x="932688" y="4570475"/>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RÉMI</a:t>
            </a:r>
          </a:p>
        </p:txBody>
      </p:sp>
      <p:sp>
        <p:nvSpPr>
          <p:cNvPr id="18" name="TextBox 17"/>
          <p:cNvSpPr txBox="1"/>
          <p:nvPr/>
        </p:nvSpPr>
        <p:spPr>
          <a:xfrm>
            <a:off x="1896808" y="4570475"/>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Parfait. Qu'est-ce qui ne va pas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motif</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KOFI</a:t>
            </a:r>
          </a:p>
        </p:txBody>
      </p:sp>
      <p:sp>
        <p:nvSpPr>
          <p:cNvPr id="9" name="TextBox 8"/>
          <p:cNvSpPr txBox="1"/>
          <p:nvPr/>
        </p:nvSpPr>
        <p:spPr>
          <a:xfrm>
            <a:off x="1896808" y="1901952"/>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Elles sont trop petites pour mon fils. Il fait du 4, pas du 3.</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RÉMI</a:t>
            </a:r>
          </a:p>
        </p:txBody>
      </p:sp>
      <p:sp>
        <p:nvSpPr>
          <p:cNvPr id="12" name="TextBox 11"/>
          <p:cNvSpPr txBox="1"/>
          <p:nvPr/>
        </p:nvSpPr>
        <p:spPr>
          <a:xfrm>
            <a:off x="1896808" y="2651252"/>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D'accord. Est-ce qu'il les a portées dehors ?</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KOFI</a:t>
            </a:r>
          </a:p>
        </p:txBody>
      </p:sp>
      <p:sp>
        <p:nvSpPr>
          <p:cNvPr id="15" name="TextBox 14"/>
          <p:cNvSpPr txBox="1"/>
          <p:nvPr/>
        </p:nvSpPr>
        <p:spPr>
          <a:xfrm>
            <a:off x="1896808" y="3400551"/>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seulement essayées dans la maison. J'ai gardé la boîte.</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RÉMI</a:t>
            </a:r>
          </a:p>
        </p:txBody>
      </p:sp>
      <p:sp>
        <p:nvSpPr>
          <p:cNvPr id="18" name="TextBox 17"/>
          <p:cNvSpPr txBox="1"/>
          <p:nvPr/>
        </p:nvSpPr>
        <p:spPr>
          <a:xfrm>
            <a:off x="1896808" y="4149851"/>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ce qu'il fallait faire. Je vous cherche le 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différence de prix</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RÉMI</a:t>
            </a:r>
          </a:p>
        </p:txBody>
      </p:sp>
      <p:sp>
        <p:nvSpPr>
          <p:cNvPr id="9" name="TextBox 8"/>
          <p:cNvSpPr txBox="1"/>
          <p:nvPr/>
        </p:nvSpPr>
        <p:spPr>
          <a:xfrm>
            <a:off x="1896808" y="1901952"/>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4 coûte cinq dollars de plus. Ça vous va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KOFI</a:t>
            </a:r>
          </a:p>
        </p:txBody>
      </p:sp>
      <p:sp>
        <p:nvSpPr>
          <p:cNvPr id="12" name="TextBox 11"/>
          <p:cNvSpPr txBox="1"/>
          <p:nvPr/>
        </p:nvSpPr>
        <p:spPr>
          <a:xfrm>
            <a:off x="1896808" y="2651252"/>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ça va. Je paie la différence où ?</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RÉMI</a:t>
            </a:r>
          </a:p>
        </p:txBody>
      </p:sp>
      <p:sp>
        <p:nvSpPr>
          <p:cNvPr id="15" name="TextBox 14"/>
          <p:cNvSpPr txBox="1"/>
          <p:nvPr/>
        </p:nvSpPr>
        <p:spPr>
          <a:xfrm>
            <a:off x="1896808" y="3400551"/>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Ici, je m'en occupe. Gardez la nouvelle facture pour trente jours.</a:t>
            </a:r>
          </a:p>
        </p:txBody>
      </p:sp>
      <p:sp>
        <p:nvSpPr>
          <p:cNvPr id="16" name="TextBox 15"/>
          <p:cNvSpPr txBox="1"/>
          <p:nvPr/>
        </p:nvSpPr>
        <p:spPr>
          <a:xfrm>
            <a:off x="932688" y="4149851"/>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KOFI</a:t>
            </a:r>
          </a:p>
        </p:txBody>
      </p:sp>
      <p:sp>
        <p:nvSpPr>
          <p:cNvPr id="17" name="TextBox 16"/>
          <p:cNvSpPr txBox="1"/>
          <p:nvPr/>
        </p:nvSpPr>
        <p:spPr>
          <a:xfrm>
            <a:off x="1896808" y="4149851"/>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Merci beaucoup.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choses différentes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REÇOIT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échange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autre article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remboursement</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son argent</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note de crédit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crédit au magasin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mise de côté</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l'article gardé, contre un dépôt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La note de crédit ne se dépense que dans ce magasin.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QUATRE CONDITIONS</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facture, les étiquettes, l'état, le délai</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&lt;b&gt;facture&lt;/b&gt; prouve l'achat. Les &lt;b&gt;étiquettes&lt;/b&gt; attachées prouvent que l'article n'a pas servi. L'&lt;b&gt;état&lt;/b&gt; doit être neuf — des bottes portées dehors ne se reprennent pas. Le &lt;b&gt;délai&lt;/b&gt; est de quinze à trente jours selon le magasin, et il est écrit sur la facture.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QUI NE SE REPREND JAMAIS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familles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Les sous-vêtements et les maillots</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Pour des raisons d'hygiène. Aucun magasin ne fait exception.</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Les articles en solde final</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Vente finale », « solde final » : c'est écrit sur l'étiquette et sur la facture. Lire avant de payer.</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qui a servi</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Bottes portées dehors, vêtement lavé, étiquettes coupées. L'article est considéré comme utilisé.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JETER LA FACTURE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l'ai mise à la poubelle avec le sac.</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photographier tout de suite.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Sans facture, la plupart des magasins refusent, ou offrent au mieux une note de crédit au prix le plus bas de la saison. Une photo prise dans le stationnement règle le problème pour toujours — le papier des reçus s'efface en quelques mois, même bien rangé.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Kofi veut se faire rembourser.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a gardé la facture.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bottes ont été portées dehors.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a gardé la boîte.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4 coûte le même prix.</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doit garder la nouvelle facture.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Kofi veut se faire rembourser.   </a:t>
            </a:r>
            <a:r>
              <a:rPr sz="1400" b="1" i="0">
                <a:solidFill>
                  <a:srgbClr val="07734A"/>
                </a:solidFill>
                <a:latin typeface="Verdana"/>
              </a:rPr>
              <a:t>» faux — il veut échanger</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a gardé la facture.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bottes ont été portées dehors.   </a:t>
            </a:r>
            <a:r>
              <a:rPr sz="1400" b="1" i="0">
                <a:solidFill>
                  <a:srgbClr val="07734A"/>
                </a:solidFill>
                <a:latin typeface="Verdana"/>
              </a:rPr>
              <a:t>» faux — essayées à la maison</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a gardé la boîte.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4 coûte le même prix.   </a:t>
            </a:r>
            <a:r>
              <a:rPr sz="1400" b="1" i="0">
                <a:solidFill>
                  <a:srgbClr val="07734A"/>
                </a:solidFill>
                <a:latin typeface="Verdana"/>
              </a:rPr>
              <a:t>» faux — cinq dollars de plus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doit garder la nouvelle facture.   </a:t>
            </a:r>
            <a:r>
              <a:rPr sz="1400" b="1" i="0">
                <a:solidFill>
                  <a:srgbClr val="07734A"/>
                </a:solidFill>
                <a:latin typeface="Verdana"/>
              </a:rPr>
              <a:t>» vrai — trente jours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première phrase d'un échange, et le motif.</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 Je voudrais échanger… parce que…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Trois situations différentes.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