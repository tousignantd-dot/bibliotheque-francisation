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3, et la plus dense du module. Trois points de langue : ne pas tout expliquer, faire faire. La recette du dialogue de D1 sert de support du début à la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 Faites », pas « faisez » : c'est le seul vraiment traître, et il est dans la recette du dialogue.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Le « pèle » avec accent grave surprend : le signaler sans en faire une règle, c'est du vocabulaire à ce stade.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t3imper du module. Faire lire les six consignes à la suite, à voix haute : la voix descend à la fin de chacune, ce n'est pas une question.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dernière phrase est la faute la plus fréquente du niveau, et la plus facile à corriger : après une quantité, « de », 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Les deux dernières lignes valent pour tous les genres : du, de la et des y deviennent tous « de ». Faire couvrir la colonne du milieu et faire retrouver le petit mot à partir de l'exemple.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t3quant du module. Faire justifier chaque réponse par la ligne du tableau : c'est le raisonnement qui compte.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a déjà écrit l'un ou l'autre. C'est une faute d'excès de zèle, pas d'ignorance : le dire, ça change la façon dont l'élève la reçoit.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t3abrev du module. Insister sur les deux cuillères : une c. à soupe vaut trois c. à thé, et confondre les deux triple la quantité. C'est l'erreur la plus coûteuse d'une recette.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et dernier écrit avant le bloc E. Ramasser : les deux points de langue de la séance s'y voient tout de suite.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D2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Pelez, coupez, ajoutez</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recette ne raconte rien : elle demande de faire. D'où des verbes sans sujet devant, des quantités qu'on ne compte pas, et des mots écrits en abrégé. Trois points de langue, et la feuille se lit d'un trait.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Choisir une activité au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la forme en -ez des consignes de recette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entre du, de la, de l' et des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de » après une quantité et après une négation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les abréviations d'une recette : ml, c. à soupe, c. à thé.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CONSIGNES D'UNE RECETTE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Pelez six pommes de terre. » — aucun sujet devant le verbe.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prend le verbe avec « vous » et on enlève le mot « vous ». Pelez, coupez, égouttez, écrasez, ajoutez, mélangez. Trois verbes irréguliers reviennent tout le temps : faites, mettez, soyez.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verbes de la recette</a:t>
            </a:r>
          </a:p>
        </p:txBody>
      </p:sp>
      <p:sp>
        <p:nvSpPr>
          <p:cNvPr id="7" name="Rounded Rectangle 6"/>
          <p:cNvSpPr/>
          <p:nvPr/>
        </p:nvSpPr>
        <p:spPr>
          <a:xfrm>
            <a:off x="566928" y="1810512"/>
            <a:ext cx="11057839" cy="3086100"/>
          </a:xfrm>
          <a:prstGeom prst="roundRect">
            <a:avLst>
              <a:gd name="adj" fmla="val 474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VERBE</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AVEC VOUS — LA RECETTE ÉCRITE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AVEC TU — ENTRE AMIS</a:t>
            </a:r>
          </a:p>
        </p:txBody>
      </p:sp>
      <p:sp>
        <p:nvSpPr>
          <p:cNvPr id="11" name="TextBox 10"/>
          <p:cNvSpPr txBox="1"/>
          <p:nvPr/>
        </p:nvSpPr>
        <p:spPr>
          <a:xfrm>
            <a:off x="932688"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peler</a:t>
            </a:r>
          </a:p>
        </p:txBody>
      </p:sp>
      <p:sp>
        <p:nvSpPr>
          <p:cNvPr id="12" name="TextBox 11"/>
          <p:cNvSpPr txBox="1"/>
          <p:nvPr/>
        </p:nvSpPr>
        <p:spPr>
          <a:xfrm>
            <a:off x="4374794" y="2395728"/>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Pelez les pommes de terre.</a:t>
            </a:r>
          </a:p>
        </p:txBody>
      </p:sp>
      <p:sp>
        <p:nvSpPr>
          <p:cNvPr id="13" name="TextBox 12"/>
          <p:cNvSpPr txBox="1"/>
          <p:nvPr/>
        </p:nvSpPr>
        <p:spPr>
          <a:xfrm>
            <a:off x="7816900" y="2395728"/>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Pèle les pommes de terre.</a:t>
            </a:r>
          </a:p>
        </p:txBody>
      </p:sp>
      <p:sp>
        <p:nvSpPr>
          <p:cNvPr id="14" name="Rectangle 13"/>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couper</a:t>
            </a:r>
          </a:p>
        </p:txBody>
      </p:sp>
      <p:sp>
        <p:nvSpPr>
          <p:cNvPr id="16" name="TextBox 15"/>
          <p:cNvSpPr txBox="1"/>
          <p:nvPr/>
        </p:nvSpPr>
        <p:spPr>
          <a:xfrm>
            <a:off x="4374794" y="2884932"/>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Coupez-les en morceaux.</a:t>
            </a:r>
          </a:p>
        </p:txBody>
      </p:sp>
      <p:sp>
        <p:nvSpPr>
          <p:cNvPr id="17" name="TextBox 16"/>
          <p:cNvSpPr txBox="1"/>
          <p:nvPr/>
        </p:nvSpPr>
        <p:spPr>
          <a:xfrm>
            <a:off x="7816900" y="2884932"/>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Coupe-les en morceaux.</a:t>
            </a:r>
          </a:p>
        </p:txBody>
      </p:sp>
      <p:sp>
        <p:nvSpPr>
          <p:cNvPr id="18" name="Rectangle 17"/>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ajouter</a:t>
            </a:r>
          </a:p>
        </p:txBody>
      </p:sp>
      <p:sp>
        <p:nvSpPr>
          <p:cNvPr id="20" name="TextBox 19"/>
          <p:cNvSpPr txBox="1"/>
          <p:nvPr/>
        </p:nvSpPr>
        <p:spPr>
          <a:xfrm>
            <a:off x="4374794" y="3374136"/>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Ajoutez 60 ml de lait.</a:t>
            </a:r>
          </a:p>
        </p:txBody>
      </p:sp>
      <p:sp>
        <p:nvSpPr>
          <p:cNvPr id="21" name="TextBox 20"/>
          <p:cNvSpPr txBox="1"/>
          <p:nvPr/>
        </p:nvSpPr>
        <p:spPr>
          <a:xfrm>
            <a:off x="7816900" y="3374136"/>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Ajoute 60 ml de lait.</a:t>
            </a:r>
          </a:p>
        </p:txBody>
      </p:sp>
      <p:sp>
        <p:nvSpPr>
          <p:cNvPr id="22" name="Rectangle 21"/>
          <p:cNvSpPr/>
          <p:nvPr/>
        </p:nvSpPr>
        <p:spPr>
          <a:xfrm>
            <a:off x="932688" y="3735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mélanger</a:t>
            </a:r>
          </a:p>
        </p:txBody>
      </p:sp>
      <p:sp>
        <p:nvSpPr>
          <p:cNvPr id="24" name="TextBox 23"/>
          <p:cNvSpPr txBox="1"/>
          <p:nvPr/>
        </p:nvSpPr>
        <p:spPr>
          <a:xfrm>
            <a:off x="4374794" y="3863339"/>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Mélangez jusqu'au bout.</a:t>
            </a:r>
          </a:p>
        </p:txBody>
      </p:sp>
      <p:sp>
        <p:nvSpPr>
          <p:cNvPr id="25" name="TextBox 24"/>
          <p:cNvSpPr txBox="1"/>
          <p:nvPr/>
        </p:nvSpPr>
        <p:spPr>
          <a:xfrm>
            <a:off x="7816900" y="3863339"/>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Mélange jusqu'au bout.</a:t>
            </a:r>
          </a:p>
        </p:txBody>
      </p:sp>
      <p:sp>
        <p:nvSpPr>
          <p:cNvPr id="26" name="Rectangle 25"/>
          <p:cNvSpPr/>
          <p:nvPr/>
        </p:nvSpPr>
        <p:spPr>
          <a:xfrm>
            <a:off x="932688" y="42245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352544"/>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faire</a:t>
            </a:r>
          </a:p>
        </p:txBody>
      </p:sp>
      <p:sp>
        <p:nvSpPr>
          <p:cNvPr id="28" name="TextBox 27"/>
          <p:cNvSpPr txBox="1"/>
          <p:nvPr/>
        </p:nvSpPr>
        <p:spPr>
          <a:xfrm>
            <a:off x="4374794" y="4352544"/>
            <a:ext cx="3222650"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Faites bouillir vingt minutes.</a:t>
            </a:r>
          </a:p>
        </p:txBody>
      </p:sp>
      <p:sp>
        <p:nvSpPr>
          <p:cNvPr id="29" name="TextBox 28"/>
          <p:cNvSpPr txBox="1"/>
          <p:nvPr/>
        </p:nvSpPr>
        <p:spPr>
          <a:xfrm>
            <a:off x="7816900" y="4352544"/>
            <a:ext cx="3222650"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Fais bouillir vingt minutes.</a:t>
            </a:r>
          </a:p>
        </p:txBody>
      </p:sp>
      <p:sp>
        <p:nvSpPr>
          <p:cNvPr id="30" name="Rounded Rectangle 29"/>
          <p:cNvSpPr/>
          <p:nvPr/>
        </p:nvSpPr>
        <p:spPr>
          <a:xfrm>
            <a:off x="566928" y="51343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69264" y="53903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À l'écrit, toujours la colonne du milieu. Et avec « tu », pas de s aux verbes en -er.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 consigne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le verbe entre parenthèses, à la forme de la recette.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six pommes de terre. (peler)</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-les en gros morceaux. (couper)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bouillir vingt minutes. (faire)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60 ml de lait et une cuillère à soupe de beurre. (ajouter)</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jusqu'à ce que ce soit lisse. (mélanger)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chaudron sur le rond arrière. (mettre)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la consigne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six pommes de terre. (peler)   </a:t>
            </a:r>
            <a:r>
              <a:rPr sz="1400" b="1" i="0">
                <a:solidFill>
                  <a:srgbClr val="07734A"/>
                </a:solidFill>
                <a:latin typeface="Verdana"/>
              </a:rPr>
              <a:t>» Pelez</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-les en gros morceaux. (couper)   </a:t>
            </a:r>
            <a:r>
              <a:rPr sz="1400" b="1" i="0">
                <a:solidFill>
                  <a:srgbClr val="07734A"/>
                </a:solidFill>
                <a:latin typeface="Verdana"/>
              </a:rPr>
              <a:t>» Coupez</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bouillir vingt minutes. (faire)   </a:t>
            </a:r>
            <a:r>
              <a:rPr sz="1400" b="1" i="0">
                <a:solidFill>
                  <a:srgbClr val="07734A"/>
                </a:solidFill>
                <a:latin typeface="Verdana"/>
              </a:rPr>
              <a:t>» Faites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60 ml de lait et une cuillère à soupe de beurre. (ajouter)   </a:t>
            </a:r>
            <a:r>
              <a:rPr sz="1400" b="1" i="0">
                <a:solidFill>
                  <a:srgbClr val="07734A"/>
                </a:solidFill>
                <a:latin typeface="Verdana"/>
              </a:rPr>
              <a:t>» Ajoutez</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jusqu'à ce que ce soit lisse. (mélanger)   </a:t>
            </a:r>
            <a:r>
              <a:rPr sz="1400" b="1" i="0">
                <a:solidFill>
                  <a:srgbClr val="07734A"/>
                </a:solidFill>
                <a:latin typeface="Verdana"/>
              </a:rPr>
              <a:t>» Mélangez</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le chaudron sur le rond arrière. (mettre)   </a:t>
            </a:r>
            <a:r>
              <a:rPr sz="1400" b="1" i="0">
                <a:solidFill>
                  <a:srgbClr val="07734A"/>
                </a:solidFill>
                <a:latin typeface="Verdana"/>
              </a:rPr>
              <a:t>» Mettez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SE COMPTE, CE QUI NE SE COMPTE PAS</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du lait · de la crème · de l'eau · des pommes de terre</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ne compte pas le lait : on en prend une partie, d'où « du ». On compterait les pommes de terre une par une, d'où « des ». Mais après une quantité — 60 ml, un peu, beaucoup — il ne reste que « de » : un peu DE sel, jamais « un peu du sel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petit mot devant l'aliment</a:t>
            </a:r>
          </a:p>
        </p:txBody>
      </p:sp>
      <p:sp>
        <p:nvSpPr>
          <p:cNvPr id="7" name="Rounded Rectangle 6"/>
          <p:cNvSpPr/>
          <p:nvPr/>
        </p:nvSpPr>
        <p:spPr>
          <a:xfrm>
            <a:off x="566928" y="1810512"/>
            <a:ext cx="11057839" cy="3877056"/>
          </a:xfrm>
          <a:prstGeom prst="roundRect">
            <a:avLst>
              <a:gd name="adj" fmla="val 377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CAS</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MET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masculin, une partie</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du</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lait, du sel</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féminin, une partie</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 la</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la crème</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devant une voyelle</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 l'</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 l'eau, de l'huile</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ça se compte</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des</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des oignons</a:t>
            </a:r>
          </a:p>
        </p:txBody>
      </p:sp>
      <p:sp>
        <p:nvSpPr>
          <p:cNvPr id="26" name="Rectangle 25"/>
          <p:cNvSpPr/>
          <p:nvPr/>
        </p:nvSpPr>
        <p:spPr>
          <a:xfrm>
            <a:off x="932688" y="442569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55371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après une quantité</a:t>
            </a:r>
          </a:p>
        </p:txBody>
      </p:sp>
      <p:sp>
        <p:nvSpPr>
          <p:cNvPr id="28" name="TextBox 27"/>
          <p:cNvSpPr txBox="1"/>
          <p:nvPr/>
        </p:nvSpPr>
        <p:spPr>
          <a:xfrm>
            <a:off x="4374794" y="4553712"/>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de</a:t>
            </a:r>
          </a:p>
        </p:txBody>
      </p:sp>
      <p:sp>
        <p:nvSpPr>
          <p:cNvPr id="29" name="TextBox 28"/>
          <p:cNvSpPr txBox="1"/>
          <p:nvPr/>
        </p:nvSpPr>
        <p:spPr>
          <a:xfrm>
            <a:off x="7816900" y="4553712"/>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peu de sel</a:t>
            </a:r>
          </a:p>
        </p:txBody>
      </p:sp>
      <p:sp>
        <p:nvSpPr>
          <p:cNvPr id="30" name="Rectangle 29"/>
          <p:cNvSpPr/>
          <p:nvPr/>
        </p:nvSpPr>
        <p:spPr>
          <a:xfrm>
            <a:off x="932688" y="49651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32688" y="5093207"/>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à la forme négative</a:t>
            </a:r>
          </a:p>
        </p:txBody>
      </p:sp>
      <p:sp>
        <p:nvSpPr>
          <p:cNvPr id="32" name="TextBox 31"/>
          <p:cNvSpPr txBox="1"/>
          <p:nvPr/>
        </p:nvSpPr>
        <p:spPr>
          <a:xfrm>
            <a:off x="4374794" y="5093207"/>
            <a:ext cx="3222650"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pas de</a:t>
            </a:r>
          </a:p>
        </p:txBody>
      </p:sp>
      <p:sp>
        <p:nvSpPr>
          <p:cNvPr id="33" name="TextBox 32"/>
          <p:cNvSpPr txBox="1"/>
          <p:nvPr/>
        </p:nvSpPr>
        <p:spPr>
          <a:xfrm>
            <a:off x="7816900" y="5093207"/>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pas de maïs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Du, de la, des, ou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 du », « de la », « de l' », « des », « de » ou « d'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Ajoutez ___ lait et une cuillère à soupe de beurre.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recette demande ___ crème, mais on peut la remplacer.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Pelez ___ pommes de terre et deux oignons.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Mettez un peu ___ sel, pas plus.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Camila ne veut ___ maïs dans sa portion.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Faites bouillir beaucoup ___ eau dans le gros chaudron.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Du, de la, des, ou de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Ajoutez ___ lait et une cuillère à soupe de beurre.   </a:t>
            </a:r>
            <a:r>
              <a:rPr sz="1400" b="1" i="0">
                <a:solidFill>
                  <a:srgbClr val="07734A"/>
                </a:solidFill>
                <a:latin typeface="Verdana"/>
              </a:rPr>
              <a:t>» du</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recette demande ___ crème, mais on peut la remplacer.   </a:t>
            </a:r>
            <a:r>
              <a:rPr sz="1400" b="1" i="0">
                <a:solidFill>
                  <a:srgbClr val="07734A"/>
                </a:solidFill>
                <a:latin typeface="Verdana"/>
              </a:rPr>
              <a:t>» de la</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Pelez ___ pommes de terre et deux oignons.   </a:t>
            </a:r>
            <a:r>
              <a:rPr sz="1400" b="1" i="0">
                <a:solidFill>
                  <a:srgbClr val="07734A"/>
                </a:solidFill>
                <a:latin typeface="Verdana"/>
              </a:rPr>
              <a:t>» des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Mettez un peu ___ sel, pas plus.   </a:t>
            </a:r>
            <a:r>
              <a:rPr sz="1400" b="1" i="0">
                <a:solidFill>
                  <a:srgbClr val="07734A"/>
                </a:solidFill>
                <a:latin typeface="Verdana"/>
              </a:rPr>
              <a:t>» de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Camila ne veut ___ maïs dans sa portion.   </a:t>
            </a:r>
            <a:r>
              <a:rPr sz="1400" b="1" i="0">
                <a:solidFill>
                  <a:srgbClr val="07734A"/>
                </a:solidFill>
                <a:latin typeface="Verdana"/>
              </a:rPr>
              <a:t>» pas de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Faites bouillir beaucoup ___ eau dans le gros chaudron.   </a:t>
            </a:r>
            <a:r>
              <a:rPr sz="1400" b="1" i="0">
                <a:solidFill>
                  <a:srgbClr val="07734A"/>
                </a:solidFill>
                <a:latin typeface="Verdana"/>
              </a:rPr>
              <a:t>» 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peu du sel, six des pommes de terre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peu de sel, six pommes de terre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fautes qui viennent du même réflexe : garder le petit mot alors qu'une quantité l'a déjà remplacé. Après « un peu », « beaucoup », « 60 ml » ou une tasse, il ne reste que « de ». Et devant un nombre, il ne reste rien du tout.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ÉCRITURE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abréviations de la recette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Que veut dire chaque abréviation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ml</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 à soupe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 à thé</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min</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1 t.</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4 pers.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abréviations de la recette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ml   </a:t>
            </a:r>
            <a:r>
              <a:rPr sz="1400" b="1" i="0">
                <a:solidFill>
                  <a:srgbClr val="07734A"/>
                </a:solidFill>
                <a:latin typeface="Verdana"/>
              </a:rPr>
              <a:t>» millilitre — une mesure de liquide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 à soupe   </a:t>
            </a:r>
            <a:r>
              <a:rPr sz="1400" b="1" i="0">
                <a:solidFill>
                  <a:srgbClr val="07734A"/>
                </a:solidFill>
                <a:latin typeface="Verdana"/>
              </a:rPr>
              <a:t>» cuillère à soupe — la grande, 15 ml</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 à thé   </a:t>
            </a:r>
            <a:r>
              <a:rPr sz="1400" b="1" i="0">
                <a:solidFill>
                  <a:srgbClr val="07734A"/>
                </a:solidFill>
                <a:latin typeface="Verdana"/>
              </a:rPr>
              <a:t>» cuillère à thé — la petite, 5 ml</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   </a:t>
            </a:r>
            <a:r>
              <a:rPr sz="1400" b="1" i="0">
                <a:solidFill>
                  <a:srgbClr val="07734A"/>
                </a:solidFill>
                <a:latin typeface="Verdana"/>
              </a:rPr>
              <a:t>» gramme — une mesure de poids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min   </a:t>
            </a:r>
            <a:r>
              <a:rPr sz="1400" b="1" i="0">
                <a:solidFill>
                  <a:srgbClr val="07734A"/>
                </a:solidFill>
                <a:latin typeface="Verdana"/>
              </a:rPr>
              <a:t>» minute — le temps de cuisson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1 t.   </a:t>
            </a:r>
            <a:r>
              <a:rPr sz="1400" b="1" i="0">
                <a:solidFill>
                  <a:srgbClr val="07734A"/>
                </a:solidFill>
                <a:latin typeface="Verdana"/>
              </a:rPr>
              <a:t>» une tasse — 250 ml</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4 pers.   </a:t>
            </a:r>
            <a:r>
              <a:rPr sz="1400" b="1" i="0">
                <a:solidFill>
                  <a:srgbClr val="07734A"/>
                </a:solidFill>
                <a:latin typeface="Verdana"/>
              </a:rPr>
              <a:t>» pour quatre personnes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lignes d'une recette que vous connaissez.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Employez la forme en -ez : pelez, coupez, ajoutez, mélangez.</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Mettez au moins une quantité : un peu de…, 60 ml de…, une tasse de…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D2 · Choisir une activité au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