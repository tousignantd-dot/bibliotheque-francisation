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Dernière séance du défi 1. Elle ferme la boucle : on a téléphoné, on se présente, et on découvre ce qu'on n'avait pas pensé à demander.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dernière piste amène la preuve d'adresse. Si personne n'y pense, laisser passer : le dialogue l'apporte deux minutes plus tard, et la surprise vaut mieux que l'annonce.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« J'aimerais savoir autre chose » est la formule à relever : elle ouvre une question nouvelle sans avoir l'air de déranger. La faire répéter.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Beaucoup d'élèves croient qu'il faut une carte d'identité officielle. La réponse — un compte d'électricité, un bail — surprend et rassure. Demander à chacun quel papier il aurait sous la main chez lui.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« Merci de votre patience » est une formule de sortie utile et rare chez les élèves. L'écrire au tableau à côté de « merci beaucoup » : deux façons de finir, l'une plus chaleureuse que l'autre.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 à photographier. Faire calculer l'économie sur une session de douze semaines : vingt-quatre dollars pour un papier qu'on a déjà chez soi.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 à photographier. La distinction identité / adresse est le point à faire passer : elle revient dans presque toutes les démarches municipales.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C'est l'exercice t1comptoir du module, rattaché au deuxième dialogue.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C'est l'exercice t1rep du module. Le faire d'abord à l'oral, réponses masquées, puis découvrir : la moitié se devine, et c'est justement ce qu'on veut installer avant le défi 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Devoir court et concret. Plusieurs élèves reviendront en disant qu'ils n'en ont trouvé aucun à leur nom : c'est une vraie difficulté de vie, et elle mérite deux minutes en début de séance suivante.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SÉANCE B4  ·  MODULE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Au comptoir du centre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763268"/>
          </a:xfrm>
          <a:prstGeom prst="roundRect">
            <a:avLst>
              <a:gd name="adj" fmla="val 829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Le téléphone ne dit pas tout. Marisol se présente au comptoir, et deux renseignements nouveaux arrivent : l'heure des familles, et la preuve d'adresse qui fait baisser le tarif de cinq dollars à trois.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60 minutes  ·  Choisir une activité au centre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B4 · Choisir une activité au centre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comprendre un échange au comptoir d'un service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poser une question qu'on n'avait pas prévue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savoir ce qu'est une preuve d'adresse et à quoi elle sert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associer chaque question à la réponse qui lui correspond.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B4 · Choisir une activité au centre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OBSERVATION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Que fait-on à ce comptoir-là 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566928" y="1965960"/>
            <a:ext cx="50292" cy="484123"/>
          </a:xfrm>
          <a:prstGeom prst="rect">
            <a:avLst/>
          </a:prstGeom>
          <a:solidFill>
            <a:srgbClr val="0D7A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50976" y="2039112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Qu'est-ce qu'il y a sur le comptoir, et à quoi ça sert 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642108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566928" y="2751836"/>
            <a:ext cx="50292" cy="484123"/>
          </a:xfrm>
          <a:prstGeom prst="rect">
            <a:avLst/>
          </a:prstGeom>
          <a:solidFill>
            <a:srgbClr val="0D7A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950976" y="2824988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Qu'est-ce qu'on peut demander à la personne qui est derrière 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3427984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566928" y="3537712"/>
            <a:ext cx="50292" cy="484123"/>
          </a:xfrm>
          <a:prstGeom prst="rect">
            <a:avLst/>
          </a:prstGeom>
          <a:solidFill>
            <a:srgbClr val="0D7A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50976" y="3610864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Est-ce qu'il faut un rendez-vous pour se présenter ici 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213860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566928" y="4323588"/>
            <a:ext cx="50292" cy="484123"/>
          </a:xfrm>
          <a:prstGeom prst="rect">
            <a:avLst/>
          </a:prstGeom>
          <a:solidFill>
            <a:srgbClr val="0D7A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950976" y="4396740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Qu'est-ce qu'on peut avoir à montrer, et pourquoi 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B4 · Choisir une activité au centre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DIALOGUE · 1 DE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L'heure des familles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73736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Écoutez d'abord, diapo masquée.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57984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DCF2E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2322576"/>
            <a:ext cx="1498473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0D7A6F"/>
                </a:solidFill>
                <a:latin typeface="Verdana"/>
              </a:rPr>
              <a:t>MARISOL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31161" y="2322576"/>
            <a:ext cx="8644966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Bonjour. J'ai téléphoné mardi passé, pour le badminton.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907283"/>
            <a:ext cx="11057839" cy="1004823"/>
          </a:xfrm>
          <a:prstGeom prst="roundRect">
            <a:avLst>
              <a:gd name="adj" fmla="val 14560"/>
            </a:avLst>
          </a:prstGeom>
          <a:solidFill>
            <a:srgbClr val="DCF2E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932688" y="3071876"/>
            <a:ext cx="1498473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0D7A6F"/>
                </a:solidFill>
                <a:latin typeface="Verdana"/>
              </a:rPr>
              <a:t>ROXANE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431161" y="3071876"/>
            <a:ext cx="8644966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Ah oui ! Vous êtes venue. Le gymnase est au fond du corridor, à gauche.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3994404"/>
            <a:ext cx="11057839" cy="1004823"/>
          </a:xfrm>
          <a:prstGeom prst="roundRect">
            <a:avLst>
              <a:gd name="adj" fmla="val 14560"/>
            </a:avLst>
          </a:prstGeom>
          <a:solidFill>
            <a:srgbClr val="DCF2E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32688" y="4158995"/>
            <a:ext cx="1498473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0D7A6F"/>
                </a:solidFill>
                <a:latin typeface="Verdana"/>
              </a:rPr>
              <a:t>MARISOL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431161" y="4158995"/>
            <a:ext cx="8644966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Merci. J'aimerais savoir autre chose : ma fille a huit ans. Est-ce qu'elle peut venir ?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6928" y="5081524"/>
            <a:ext cx="11057839" cy="1004823"/>
          </a:xfrm>
          <a:prstGeom prst="roundRect">
            <a:avLst>
              <a:gd name="adj" fmla="val 14560"/>
            </a:avLst>
          </a:prstGeom>
          <a:solidFill>
            <a:srgbClr val="DCF2E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932688" y="5246116"/>
            <a:ext cx="1498473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0D7A6F"/>
                </a:solidFill>
                <a:latin typeface="Verdana"/>
              </a:rPr>
              <a:t>ROXANE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431161" y="5246116"/>
            <a:ext cx="8644966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mardi soir, c'est pour les adultes. Mais le samedi matin, il y a une heure pour les familles.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B4 · Choisir une activité au centre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DIALOGUE · 2 DE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La preuve d'adresse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37360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DCF2E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01952"/>
            <a:ext cx="1498473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0D7A6F"/>
                </a:solidFill>
                <a:latin typeface="Verdana"/>
              </a:rPr>
              <a:t>MARISOL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431161" y="1901952"/>
            <a:ext cx="8644966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Parfait. Est-ce que je dois montrer une carte 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486659"/>
            <a:ext cx="11057839" cy="1004823"/>
          </a:xfrm>
          <a:prstGeom prst="roundRect">
            <a:avLst>
              <a:gd name="adj" fmla="val 14560"/>
            </a:avLst>
          </a:prstGeom>
          <a:solidFill>
            <a:srgbClr val="DCF2E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2651252"/>
            <a:ext cx="1498473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0D7A6F"/>
                </a:solidFill>
                <a:latin typeface="Verdana"/>
              </a:rPr>
              <a:t>ROXANE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31161" y="2651252"/>
            <a:ext cx="8644966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Une preuve d'adresse, la première fois. Un compte d'électricité ou votre bail, ça suffit.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3573780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DCF2E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32688" y="3738371"/>
            <a:ext cx="1498473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0D7A6F"/>
                </a:solidFill>
                <a:latin typeface="Verdana"/>
              </a:rPr>
              <a:t>MARISOL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431161" y="3738371"/>
            <a:ext cx="8644966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Je n'ai pas ça avec moi aujourd'hui.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323080"/>
            <a:ext cx="11057839" cy="1004823"/>
          </a:xfrm>
          <a:prstGeom prst="roundRect">
            <a:avLst>
              <a:gd name="adj" fmla="val 14560"/>
            </a:avLst>
          </a:prstGeom>
          <a:solidFill>
            <a:srgbClr val="DCF2E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32688" y="4487672"/>
            <a:ext cx="1498473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0D7A6F"/>
                </a:solidFill>
                <a:latin typeface="Verdana"/>
              </a:rPr>
              <a:t>ROXANE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431161" y="4487672"/>
            <a:ext cx="8644966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Ce n'est pas grave. Aujourd'hui, vous payez le tarif visiteur : cinq dollars.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B4 · Choisir une activité au centre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DIALOGUE · 3 DE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Deux dollars de différence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37360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DCF2E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01952"/>
            <a:ext cx="1498473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0D7A6F"/>
                </a:solidFill>
                <a:latin typeface="Verdana"/>
              </a:rPr>
              <a:t>MARISOL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431161" y="1901952"/>
            <a:ext cx="8644966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Et avec la preuve d'adresse 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486659"/>
            <a:ext cx="11057839" cy="1004823"/>
          </a:xfrm>
          <a:prstGeom prst="roundRect">
            <a:avLst>
              <a:gd name="adj" fmla="val 14560"/>
            </a:avLst>
          </a:prstGeom>
          <a:solidFill>
            <a:srgbClr val="DCF2E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2651252"/>
            <a:ext cx="1498473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0D7A6F"/>
                </a:solidFill>
                <a:latin typeface="Verdana"/>
              </a:rPr>
              <a:t>ROXANE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31161" y="2651252"/>
            <a:ext cx="8644966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Trois dollars, le tarif du quartier. Apportez-la samedi et je la note à votre dossier.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3573780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DCF2E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32688" y="3738371"/>
            <a:ext cx="1498473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0D7A6F"/>
                </a:solidFill>
                <a:latin typeface="Verdana"/>
              </a:rPr>
              <a:t>MARISOL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431161" y="3738371"/>
            <a:ext cx="8644966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Très bien. Merci de votre patience.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32688" y="4487672"/>
            <a:ext cx="1498473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0D7A6F"/>
                </a:solidFill>
                <a:latin typeface="Verdana"/>
              </a:rPr>
              <a:t>ROXANE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431161" y="4487672"/>
            <a:ext cx="8644966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Ça me fait plaisir. Bon badminton !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B4 · Choisir une activité au centre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Deux tarifs, une seule différence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56032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2265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LE TARIF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74794" y="1975104"/>
            <a:ext cx="322265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COMBIEN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16900" y="1975104"/>
            <a:ext cx="322265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CE QU'IL FAUT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" y="2395728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0D7A6F"/>
                </a:solidFill>
                <a:latin typeface="Verdana"/>
              </a:rPr>
              <a:t>tarif visiteur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74794" y="2395728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5 $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16900" y="2395728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rien — on paie et on entre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32688" y="2935224"/>
            <a:ext cx="322265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0D7A6F"/>
                </a:solidFill>
                <a:latin typeface="Verdana"/>
              </a:rPr>
              <a:t>tarif du quartier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74794" y="2935224"/>
            <a:ext cx="322265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3 $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16900" y="2935224"/>
            <a:ext cx="322265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une preuve d'adresse, une seule fois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648456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3776472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0D7A6F"/>
                </a:solidFill>
                <a:latin typeface="Verdana"/>
              </a:rPr>
              <a:t>heure des familles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74794" y="3776472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gratuit pour les enfants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816900" y="3776472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l'adulte paie son tarif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66928" y="4608576"/>
            <a:ext cx="11057839" cy="843534"/>
          </a:xfrm>
          <a:prstGeom prst="roundRect">
            <a:avLst>
              <a:gd name="adj" fmla="val 17344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969264" y="4864608"/>
            <a:ext cx="10234879" cy="38633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La preuve d'adresse ne se montre qu'une fois : elle reste au dossier.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B4 · Choisir une activité au centre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LE MOT À RETENIR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441196"/>
          </a:xfrm>
          <a:prstGeom prst="roundRect">
            <a:avLst>
              <a:gd name="adj" fmla="val 10151"/>
            </a:avLst>
          </a:prstGeom>
          <a:solidFill>
            <a:srgbClr val="DCF2E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6182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« une preuve d'adresse »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940812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215132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C'est un papier qui montre où l'on habite : un compte d'électricité, un compte de téléphone, un bail. Ce n'est pas une carte d'identité : le centre ne veut pas savoir qui vous êtes, mais où vous habitez, pour appliquer le tarif du quartier.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B4 · Choisir une activité au centre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COMPRÉHENSION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Vrai ou faux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Répondez d'après le dialogue.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gymnase est au fond du corridor, à gauche.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La fille de Marisol peut venir le mardi soir.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L'heure des familles est le samedi matin.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Il faut montrer une preuve d'adresse la première fois.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Sans preuve d'adresse, Marisol paie trois dollars.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Un compte d'électricité peut servir de preuve d'adresse.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B4 · Choisir une activité au centre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Vrai ou faux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gymnase est au fond du corridor, à gauche.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vrai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La fille de Marisol peut venir le mardi soir.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faux — le mardi soir est pour les adultes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L'heure des familles est le samedi matin.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vrai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Il faut montrer une preuve d'adresse la première fois.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vrai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Sans preuve d'adresse, Marisol paie trois dollars.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faux — cinq dollars, le tarif visiteur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Un compte d'électricité peut servir de preuve d'adresse.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vrai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B4 · Choisir une activité au centre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ASSOCIATION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La question et la réponse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Reliez chaque question à la réponse de la préposée.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C'est quel jour 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C'est à quelle heure 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C'est combien ?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Qu'est-ce qu'il faut apporter ?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C'est où, exactement ?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Est-ce que ça dure longtemps ?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B4 · Choisir une activité au centre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La question et la réponse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C'est quel jour ?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Le mardi soir, toutes les semaines.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C'est à quelle heure ?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De dix-neuf heures à vingt et une heures.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C'est combien ?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Trois dollars par séance, payables à l'entrée.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Qu'est-ce qu'il faut apporter ?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Des espadrilles propres et une bouteille d'eau.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C'est où, exactement ?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Au gymnase, au fond du corridor à gauche.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Est-ce que ça dure longtemps ?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Jusqu'à la fin de la session, en décembre.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B4 · Choisir une activité au centre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13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Quel papier avez-vous chez vous qui pourrait servir de preuve d'adresse 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Un compte, une facture, un bail — écrivez lequel.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Vérifiez qu'il porte bien votre nom et votre adresse.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B4 · Choisir une activité au centre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