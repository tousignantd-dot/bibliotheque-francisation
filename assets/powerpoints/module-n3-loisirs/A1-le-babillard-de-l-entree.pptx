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Demander au groupe qui connaît le centre communautaire de son quartier, et ce qu'on y fait. Beaucoup d'élèves passent devant depuis des mois sans y être jamais entrés : c'est exactement la situation de Marisol.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venir les mots dans n'importe quelle langue, puis les écrire au tableau en français. Le mot « babillard » est propre au Québec — ailleurs on dit « tableau d'affichage ». Le signaler, sans en faire une leçon.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réplique donne la définition du module. La faire répéter, puis la faire redire par un élève sans regarder l'écran. Demander ensuite ce qu'on peut faire dans un gymnase, dans une cuisine, dans une salle.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activités, trois soirs différents : c'est la première rencontre avec la forme « le mardi soir », qui reviendra en A4. Ne pas l'expliquer ici ; seulement la faire entendre.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est le plan du module entier. L'écrire au tableau et l'y laisser toute la semaine. Prendre au sérieux « je n'ose pas téléphoner » : c'est le vrai obstacle, pas le vocabulaire.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lire chaque ligne par un élève différent, puis effacer le tableau et faire redire les quatre questions de mémoire.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répéter le mot à voix haute : il est long et il fait peur à lire, mais il se dit en deux morceaux — centre, communautaire.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chaque mot avec son article. Les quatre reviennent dans toutes les séances du module.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du dialogue. C'est l'exercice pr1 du module : les élèves le retrouveront à l'écran.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Les réponses servent de matière au défi 1 : chacun aura sa propre activité à se renseigner, plutôt que celle du manuel.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12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babillard de l'entrée</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l'entrée de son immeuble, Marisol regarde son voisin lire le babillard. Le centre communautaire vient d'afficher son feuillet d'automne. Il y a des activités à trois rues de chez elle, et elle ne le savait pas.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Choisir une activité au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centre communautaire et dire ce qu'on y trouve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un babillard et savoir ce qu'un feuillet de loisirs annonce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conversation entre deux voisins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quatre renseignements qu'il faut avant de choisir.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qu'on trouve sur ce panneau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voit-on des panneaux comme celui-là dans votre quartier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met les feuilles dessus ? Qui les lit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est écrit sur une feuille d'activité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vous êtes déjà arrêté pour en lire une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centre communautaire, c'est quoi ?</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0" name="TextBox 9"/>
          <p:cNvSpPr txBox="1"/>
          <p:nvPr/>
        </p:nvSpPr>
        <p:spPr>
          <a:xfrm>
            <a:off x="2431161" y="23225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Thierry ! Qu'est-ce que tu regardes ?</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THIERRY</a:t>
            </a:r>
          </a:p>
        </p:txBody>
      </p:sp>
      <p:sp>
        <p:nvSpPr>
          <p:cNvPr id="13" name="TextBox 12"/>
          <p:cNvSpPr txBox="1"/>
          <p:nvPr/>
        </p:nvSpPr>
        <p:spPr>
          <a:xfrm>
            <a:off x="2431161" y="30718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babillard. Le centre communautaire a mis son feuillet d'automne.</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6" name="TextBox 15"/>
          <p:cNvSpPr txBox="1"/>
          <p:nvPr/>
        </p:nvSpPr>
        <p:spPr>
          <a:xfrm>
            <a:off x="2431161" y="3821175"/>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centre communautaire… c'est quoi, exactement ?</a:t>
            </a:r>
          </a:p>
        </p:txBody>
      </p:sp>
      <p:sp>
        <p:nvSpPr>
          <p:cNvPr id="17" name="Rounded Rectangle 16"/>
          <p:cNvSpPr/>
          <p:nvPr/>
        </p:nvSpPr>
        <p:spPr>
          <a:xfrm>
            <a:off x="566928" y="44058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THIERRY</a:t>
            </a:r>
          </a:p>
        </p:txBody>
      </p:sp>
      <p:sp>
        <p:nvSpPr>
          <p:cNvPr id="19" name="TextBox 18"/>
          <p:cNvSpPr txBox="1"/>
          <p:nvPr/>
        </p:nvSpPr>
        <p:spPr>
          <a:xfrm>
            <a:off x="2431161" y="4570475"/>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une grande maison de quartier, sur la rue Galt. Il y a un gymnase, une cuisine et deux salles.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activités, trois soirs</a:t>
            </a:r>
          </a:p>
        </p:txBody>
      </p:sp>
      <p:sp>
        <p:nvSpPr>
          <p:cNvPr id="7" name="TextBox 6"/>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8" name="TextBox 7"/>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on fait quoi, là-dedans ?</a:t>
            </a:r>
          </a:p>
        </p:txBody>
      </p:sp>
      <p:sp>
        <p:nvSpPr>
          <p:cNvPr id="9" name="Rounded Rectangle 8"/>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265125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THIERRY</a:t>
            </a:r>
          </a:p>
        </p:txBody>
      </p:sp>
      <p:sp>
        <p:nvSpPr>
          <p:cNvPr id="11" name="TextBox 10"/>
          <p:cNvSpPr txBox="1"/>
          <p:nvPr/>
        </p:nvSpPr>
        <p:spPr>
          <a:xfrm>
            <a:off x="2431161" y="265125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activités. Regarde : badminton le mardi soir, danse en ligne le jeudi, ciné-club le vendredi.</a:t>
            </a:r>
          </a:p>
        </p:txBody>
      </p:sp>
      <p:sp>
        <p:nvSpPr>
          <p:cNvPr id="12" name="TextBox 11"/>
          <p:cNvSpPr txBox="1"/>
          <p:nvPr/>
        </p:nvSpPr>
        <p:spPr>
          <a:xfrm>
            <a:off x="932688" y="373837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3" name="TextBox 12"/>
          <p:cNvSpPr txBox="1"/>
          <p:nvPr/>
        </p:nvSpPr>
        <p:spPr>
          <a:xfrm>
            <a:off x="2431161" y="373837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samedi, je reste toujours à la maison avec Camila. Ça coûte cher ?</a:t>
            </a:r>
          </a:p>
        </p:txBody>
      </p:sp>
      <p:sp>
        <p:nvSpPr>
          <p:cNvPr id="14" name="Rounded Rectangle 13"/>
          <p:cNvSpPr/>
          <p:nvPr/>
        </p:nvSpPr>
        <p:spPr>
          <a:xfrm>
            <a:off x="566928" y="466090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82549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THIERRY</a:t>
            </a:r>
          </a:p>
        </p:txBody>
      </p:sp>
      <p:sp>
        <p:nvSpPr>
          <p:cNvPr id="16" name="TextBox 15"/>
          <p:cNvSpPr txBox="1"/>
          <p:nvPr/>
        </p:nvSpPr>
        <p:spPr>
          <a:xfrm>
            <a:off x="2431161" y="482549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Pas beaucoup. Certaines activités sont gratuites.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questions suffisent</a:t>
            </a:r>
          </a:p>
        </p:txBody>
      </p:sp>
      <p:sp>
        <p:nvSpPr>
          <p:cNvPr id="7" name="TextBox 6"/>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8" name="TextBox 7"/>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il faut apporter quelque chose ?</a:t>
            </a:r>
          </a:p>
        </p:txBody>
      </p:sp>
      <p:sp>
        <p:nvSpPr>
          <p:cNvPr id="9" name="Rounded Rectangle 8"/>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265125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THIERRY</a:t>
            </a:r>
          </a:p>
        </p:txBody>
      </p:sp>
      <p:sp>
        <p:nvSpPr>
          <p:cNvPr id="11" name="TextBox 10"/>
          <p:cNvSpPr txBox="1"/>
          <p:nvPr/>
        </p:nvSpPr>
        <p:spPr>
          <a:xfrm>
            <a:off x="2431161" y="265125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je ne sais pas. Appelle et demande : c'est écrit en bas, le numéro.</a:t>
            </a:r>
          </a:p>
        </p:txBody>
      </p:sp>
      <p:sp>
        <p:nvSpPr>
          <p:cNvPr id="12" name="Rounded Rectangle 11"/>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73837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4" name="TextBox 13"/>
          <p:cNvSpPr txBox="1"/>
          <p:nvPr/>
        </p:nvSpPr>
        <p:spPr>
          <a:xfrm>
            <a:off x="2431161" y="373837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n'ose pas téléphoner. Je parle encore mal.</a:t>
            </a:r>
          </a:p>
        </p:txBody>
      </p:sp>
      <p:sp>
        <p:nvSpPr>
          <p:cNvPr id="15" name="Rounded Rectangle 14"/>
          <p:cNvSpPr/>
          <p:nvPr/>
        </p:nvSpPr>
        <p:spPr>
          <a:xfrm>
            <a:off x="566928" y="43230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48767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THIERRY</a:t>
            </a:r>
          </a:p>
        </p:txBody>
      </p:sp>
      <p:sp>
        <p:nvSpPr>
          <p:cNvPr id="17" name="TextBox 16"/>
          <p:cNvSpPr txBox="1"/>
          <p:nvPr/>
        </p:nvSpPr>
        <p:spPr>
          <a:xfrm>
            <a:off x="2431161" y="448767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parles très bien. Et au téléphone, quatre questions suffisent : quand, combien, où, quoi apporter.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renseignements avant de choisir</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QUESTION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VA CHERCHER</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Quand ?</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jour, l'heure, et si c'est toutes les semaines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Combien ?</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tarif, à la séance ou pour la session</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Où ?</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salle, dans le centre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Quoi apporter ?</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matériel, et ce qui est prêté sur place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Avec ces quatre-là, aucune activité de quartier ne reste mystérieuse.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LIEU ET SON NOM</a:t>
            </a:r>
          </a:p>
        </p:txBody>
      </p:sp>
      <p:sp>
        <p:nvSpPr>
          <p:cNvPr id="6" name="Rounded Rectangle 5"/>
          <p:cNvSpPr/>
          <p:nvPr/>
        </p:nvSpPr>
        <p:spPr>
          <a:xfrm>
            <a:off x="566928" y="1225296"/>
            <a:ext cx="11057839" cy="1441196"/>
          </a:xfrm>
          <a:prstGeom prst="roundRect">
            <a:avLst>
              <a:gd name="adj" fmla="val 1015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un centre communautaire »</a:t>
            </a:r>
          </a:p>
        </p:txBody>
      </p:sp>
      <p:sp>
        <p:nvSpPr>
          <p:cNvPr id="8" name="Rounded Rectangle 7"/>
          <p:cNvSpPr/>
          <p:nvPr/>
        </p:nvSpPr>
        <p:spPr>
          <a:xfrm>
            <a:off x="566928" y="2940812"/>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la maison du quartier : un bâtiment public où l'on entre sans rendez-vous. On y trouve souvent un gymnase, une cuisine et des salles prêtées aux groupes. Les activités y sont annoncées trois fois par année, dans un feuillet.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MOTS DE L'ENTRÉE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mots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babillard</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grand panneau de liège où l'on affiche les papiers. Les feuilles y sont tenues par des punaises, et n'importe qui peut s'arrêter pour les lire.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feuillet</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petit journal plié qui annonce les activités. Il arrive trois fois par année et se rapporte chez soi : c'est lui qu'on relit à la maison.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session</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période de plusieurs semaines pendant laquelle une activité a lieu. Automne, hiver, printemps : trois sessions par année.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tarif</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prix demandé pour participer. Il se paie à la séance ou pour la session entière, et il est souvent plus bas pour le monde du quartier.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Thierry lit le babillard dans l'entrée de l'immeuble.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centre communautaire est sur la rue Galt.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n'y a qu'une seule salle dans le centre.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badminton a lieu le jeudi soir.</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Toutes les activités du centre sont gratuites.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Thierry ne sait pas s'il faut apporter quelque chose.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Thierry lit le babillard dans l'entrée de l'immeuble.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centre communautaire est sur la rue Galt.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n'y a qu'une seule salle dans le centre.   </a:t>
            </a:r>
            <a:r>
              <a:rPr sz="1400" b="1" i="0">
                <a:solidFill>
                  <a:srgbClr val="07734A"/>
                </a:solidFill>
                <a:latin typeface="Verdana"/>
              </a:rPr>
              <a:t>» faux — un gymnase, une cuisine et deux salles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badminton a lieu le jeudi soir.   </a:t>
            </a:r>
            <a:r>
              <a:rPr sz="1400" b="1" i="0">
                <a:solidFill>
                  <a:srgbClr val="07734A"/>
                </a:solidFill>
                <a:latin typeface="Verdana"/>
              </a:rPr>
              <a:t>» faux — le mardi soir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Toutes les activités du centre sont gratuites.   </a:t>
            </a:r>
            <a:r>
              <a:rPr sz="1400" b="1" i="0">
                <a:solidFill>
                  <a:srgbClr val="07734A"/>
                </a:solidFill>
                <a:latin typeface="Verdana"/>
              </a:rPr>
              <a:t>» faux — certaines seulement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Thierry ne sait pas s'il faut apporter quelque chose.   </a:t>
            </a:r>
            <a:r>
              <a:rPr sz="1400" b="1" i="0">
                <a:solidFill>
                  <a:srgbClr val="07734A"/>
                </a:solidFill>
                <a:latin typeface="Verdana"/>
              </a:rPr>
              <a:t>» vrai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 nom d'une activité que vous aimeriez essayer près de chez vous.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Est-ce que vous savez quel jour elle a lieu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Est-ce que vous savez combien elle coûte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Choisir une activité au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