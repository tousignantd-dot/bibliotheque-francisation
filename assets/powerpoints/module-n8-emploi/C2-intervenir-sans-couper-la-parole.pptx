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prise de parole. Beaucoup d'oral. Prévoir de faire jouer la réunion en petits groupes dans la seconde moitié.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L'objectif 4 est le plus utile en situation réelle et le moins enseigné.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choisir à chacun les deux formules qu'il emploiera vraiment : sept d'un coup, personne ne les retient.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produire une phrase par ligne, sur le dossier des deux fournisseurs.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confusion « en effet / en fait » inverse le sens de la phrase. C'est l'erreur la plus fréquente à ce niveau.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stratégie de survie la plus utile d'une réunion en langue seconde.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deux phrases par élève, une avec chaque connecteur.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Attention aux deux dernières : l'une demande l'indicatif, l'autre le subjonctif. Le faire remarquer plutôt que de le corriger.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Circuler et noter les formules réellement employées, pour les projeter à la fin sans nommer d'auteur.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formules bien tenues valent mieux que sept mal retenues.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C2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Intervenir sans couper la parole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connecteur ne décore pas la phrase : il annonce ce qui vient. « Cependant » prévient votre interlocuteur qu'une objection arrive — et vous donne le temps de la formuler.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Tenir son bout au travail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sept formules d'intervention selon l'intention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l'opposition qui admet de celle qui met en balance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le mode après un connecteur de condition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reformuler pour garder la parole quand la phrase part de travers.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SEPT FAÇONS D'INTERVENIR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L'intention d'abord, la formule ensuite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68956"/>
          </a:xfrm>
          <a:prstGeom prst="roundRect">
            <a:avLst>
              <a:gd name="adj" fmla="val 311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10417759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Reformuler pour vérifier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349500"/>
            <a:ext cx="10417759" cy="-344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 je résume ce que vous venez de dire…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44060"/>
            <a:ext cx="11057839" cy="468956"/>
          </a:xfrm>
          <a:prstGeom prst="roundRect">
            <a:avLst>
              <a:gd name="adj" fmla="val 311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86968" y="2718380"/>
            <a:ext cx="10417759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Appuyer sur une source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2983048"/>
            <a:ext cx="10417759" cy="-344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écrit à la page quatre ; j'ai vérifié deux fois.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077609"/>
            <a:ext cx="11057839" cy="468956"/>
          </a:xfrm>
          <a:prstGeom prst="roundRect">
            <a:avLst>
              <a:gd name="adj" fmla="val 311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3351929"/>
            <a:ext cx="10417759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Objecter sans contredire de front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3616597"/>
            <a:ext cx="10417759" cy="-344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Cependant, il y a une donnée qui n'est pas dans la soumission.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11157"/>
            <a:ext cx="11057839" cy="468956"/>
          </a:xfrm>
          <a:prstGeom prst="roundRect">
            <a:avLst>
              <a:gd name="adj" fmla="val 311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86968" y="3985477"/>
            <a:ext cx="10417759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Reconnaître avant de nuancer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4250145"/>
            <a:ext cx="10417759" cy="-344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Tout à fait, et je ne dis pas qu'il faut refuser.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344706"/>
            <a:ext cx="11057839" cy="468956"/>
          </a:xfrm>
          <a:prstGeom prst="roundRect">
            <a:avLst>
              <a:gd name="adj" fmla="val 311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86968" y="4619026"/>
            <a:ext cx="10417759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Avancer une solution sans l'imposer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" y="4883694"/>
            <a:ext cx="10417759" cy="-344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proposerais un partage.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978254"/>
            <a:ext cx="11057839" cy="468956"/>
          </a:xfrm>
          <a:prstGeom prst="roundRect">
            <a:avLst>
              <a:gd name="adj" fmla="val 311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86968" y="5252574"/>
            <a:ext cx="10417759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Nommer son propre intérêt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" y="5517242"/>
            <a:ext cx="10417759" cy="-344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moi qui écoperais de ce travail, alors je le dis en connaissance de cause.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5611803"/>
            <a:ext cx="11057839" cy="468956"/>
          </a:xfrm>
          <a:prstGeom prst="roundRect">
            <a:avLst>
              <a:gd name="adj" fmla="val 311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86968" y="5886123"/>
            <a:ext cx="10417759" cy="2372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Reconnaître ce qui a manqué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" y="6150791"/>
            <a:ext cx="10417759" cy="-344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aurait dû demander leurs délais avant de comparer les prix.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L'opposition et la conséquence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862072"/>
          </a:xfrm>
          <a:prstGeom prst="roundRect">
            <a:avLst>
              <a:gd name="adj" fmla="val 511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FAIT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LES CONNECTEURS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J'admets, puis j'objecte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cependant · toutefois · néanmoins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Je mets deux choses en balance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 revanche · par contre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Ce qui suit découle de ce qui précède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76472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par conséquent · donc · c'est pourquoi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910328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5166360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« Par contre » est correct au Québec ; « en revanche » passe mieux dans une lettre.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L'explication et la condition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862072"/>
          </a:xfrm>
          <a:prstGeom prst="roundRect">
            <a:avLst>
              <a:gd name="adj" fmla="val 511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FAIT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LES CONNECTEURS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Je confirme et j'explique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 effet · car · en raison 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Je pose une condition (indicatif)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du moment que · dès lors que · puisque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Je pose une condition (subjonctif)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76472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condition que · pourvu que · à moins que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910328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5166360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« En effet » confirme ; « en fait » corrige. Ce ne sont pas des variantes.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REFORMULER POUR GARDER LA PAROLE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Autrement dit…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Quand vous sentez que votre phrase est partie de travers, n'arrêtez pas et ne vous excusez pas : enchaînez « autrement dit » et redites la même chose plus simplement. Personne n'y verra une hésitation ; tout le monde y verra un souci de clarté. Même service avec « ce que je veux dire, c'est que ».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CONFONDRE EN EFFET ET EN FAIT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portrait change. En fait, le délai passe à dix jours.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portrait change. En effet, le délai passe à dix jours.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En effet » confirme ce qu'on vient de dire et l'explique. « En fait » corrige ce que l'autre croyait. Employer le second à la place du premier revient à contredire son propre propos, et l'interlocuteur cherche l'erreur qu'on vient de lui signaler — sans la trouver.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GRAMMAIRE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connecteur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la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L'écart de prix est réel. ___, le délai est de dix jours.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Ferrico livre en quatre jours ; ___, Lachance en demande dix.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faudrait doubler le stock ; ___, l'économie tombe à vingt mille.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Ça change le portrait. ___, tout le calcul reposait sur le prix.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J'accepte, ___ Ferrico n'impose rien avant octobre.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Nous tranchons le seize, ___ vous ayez les deux chiffres.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___, je ne viens pas demander une faveur.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connecteur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L'écart de prix est réel. ___, le délai est de dix jours.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Cependant / Toutefois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Ferrico livre en quatre jours ; ___, Lachance en demande dix.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 revanche / par contre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faudrait doubler le stock ; ___, l'économie tombe à vingt mille.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par conséquent / donc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Ça change le portrait. ___, tout le calcul reposait sur le prix.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 effet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J'accepte, ___ Ferrico n'impose rien avant octobre.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du moment que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Nous tranchons le seize, ___ vous ayez les deux chiffres.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à condition que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___, je ne viens pas demander une faveur.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Autrement dit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Prenez la parole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En équipes de trois, rejouez le point trois de l'ordre du jour.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L'un défend le changement de fournisseur (le prix).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L'un apporte la donnée du délai et propose un compromis.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L'un dirige la réunion et tranche ou reporte.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Chacun doit employer au moins trois des sept formules.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Tenir son bout au travail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Choisissez deux formules d'intervention et écrivez-les sur une fiche.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pour objecter, une pour proposer.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Gardez la fiche : elle sert à la production orale de E1.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Tenir son bout au travail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