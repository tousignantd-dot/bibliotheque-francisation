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et du niveau 8. Demander d'abord qui, dans le groupe, travaille en ce moment, et qui a déjà reçu une description de tâches écrite. La réponse est presque toujours non : c'est le point de départ.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celui du niveau 8. Un poste s'apprend par deux canaux : le document, et la culture du lieu. Le module montre les deux.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récits. Beaucoup diront « personne ne m'a rien expliqué ». C'est fréquent, et ce n'est pas une fatalité : le module donne les mots pour demander.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Nadia pose une question de cas particulier tout de suite. C'est exactement ce qu'on attend d'un employé : la règle générale ne suffit jamais.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Nadia répète le chiffre à voix haute : « vingt-cinq dollars, d'accord ». C'est une stratégie d'écoute, pas un 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bascule de registre est ici. Yves ne dit pas les mêmes mots que Manon, et il donne l'information la plus utile de la séance. Y revenir en A3.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Proposer à chacun de faire le sien pour son propre emploi, en devoir à long terme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fonde tout le module : la paie, la réunion et la demande de formation se gagnent avec des chiffres.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la formule « pour être certaine… ». Elle revient en C4, quand Nadia vérifie une échéance en pleine réunion.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Le dialogue est long : accepter deux écoutes.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concret. Ces quatre lignes reviennent en A4 pour le vocabulaire, et en E1 comme matière du jeu de rôle.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Ta description de tâches, au complet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poste, ce n'est pas un titre : c'est une liste de gestes, avec des heures et des montants. Comprendre cette liste en détail, c'est la première compétence d'un employé.</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Tenir son bout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suivre une explication détaillée sur des tâches professionnelles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les chiffres qui commandent une consigne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de précision au bon moment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est écrit de ce qui se transmet autrement.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vous a expliqué votre travail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ons-command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Aviez-vous un document écrit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a duré l'explication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avez compris seulement après des mois ?</a:t>
            </a:r>
          </a:p>
        </p:txBody>
      </p:sp>
      <p:sp>
        <p:nvSpPr>
          <p:cNvPr id="18" name="Rounded Rectangle 17"/>
          <p:cNvSpPr/>
          <p:nvPr/>
        </p:nvSpPr>
        <p:spPr>
          <a:xfrm>
            <a:off x="566928" y="455168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posiez-vous vos questions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blocs, et des chiffres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MANON</a:t>
            </a:r>
          </a:p>
        </p:txBody>
      </p:sp>
      <p:sp>
        <p:nvSpPr>
          <p:cNvPr id="10" name="TextBox 9"/>
          <p:cNvSpPr txBox="1"/>
          <p:nvPr/>
        </p:nvSpPr>
        <p:spPr>
          <a:xfrm>
            <a:off x="2201227" y="2322576"/>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huit mois que tu es avec nous, et on ne t'a jamais expliqué ta description de tâches au complet.</a:t>
            </a:r>
          </a:p>
        </p:txBody>
      </p:sp>
      <p:sp>
        <p:nvSpPr>
          <p:cNvPr id="11" name="Rounded Rectangle 10"/>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3" name="TextBox 12"/>
          <p:cNvSpPr txBox="1"/>
          <p:nvPr/>
        </p:nvSpPr>
        <p:spPr>
          <a:xfrm>
            <a:off x="2201227" y="3409696"/>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l'ai lue le premier jour, mais je ne comprenais pas encore la moitié des mots.</a:t>
            </a:r>
          </a:p>
        </p:txBody>
      </p:sp>
      <p:sp>
        <p:nvSpPr>
          <p:cNvPr id="14" name="Rounded Rectangle 13"/>
          <p:cNvSpPr/>
          <p:nvPr/>
        </p:nvSpPr>
        <p:spPr>
          <a:xfrm>
            <a:off x="566928" y="433222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496816"/>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MANON</a:t>
            </a:r>
          </a:p>
        </p:txBody>
      </p:sp>
      <p:sp>
        <p:nvSpPr>
          <p:cNvPr id="16" name="TextBox 15"/>
          <p:cNvSpPr txBox="1"/>
          <p:nvPr/>
        </p:nvSpPr>
        <p:spPr>
          <a:xfrm>
            <a:off x="2201227" y="4496816"/>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premier bloc, c'est la réception des commandes : tu les entres dans le système avant midi.</a:t>
            </a:r>
          </a:p>
        </p:txBody>
      </p:sp>
      <p:sp>
        <p:nvSpPr>
          <p:cNvPr id="17" name="Rounded Rectangle 16"/>
          <p:cNvSpPr/>
          <p:nvPr/>
        </p:nvSpPr>
        <p:spPr>
          <a:xfrm>
            <a:off x="566928" y="541934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583936"/>
            <a:ext cx="126853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9" name="TextBox 18"/>
          <p:cNvSpPr txBox="1"/>
          <p:nvPr/>
        </p:nvSpPr>
        <p:spPr>
          <a:xfrm>
            <a:off x="2201227" y="5583936"/>
            <a:ext cx="887489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quand un bon arrive à deux heures de l'après-midi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montants décident</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MANON</a:t>
            </a:r>
          </a:p>
        </p:txBody>
      </p:sp>
      <p:sp>
        <p:nvSpPr>
          <p:cNvPr id="9" name="TextBox 8"/>
          <p:cNvSpPr txBox="1"/>
          <p:nvPr/>
        </p:nvSpPr>
        <p:spPr>
          <a:xfrm>
            <a:off x="2201227" y="1901952"/>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compares les factures avec les bons de commande. Si l'écart est en bas de vingt-cinq dollars, tu approuves.</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201227" y="2989072"/>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Vingt-cinq dollars, d'accord. Et si c'est un fournisseur qui se trompe chaque fois ?</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26853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MANON</a:t>
            </a:r>
          </a:p>
        </p:txBody>
      </p:sp>
      <p:sp>
        <p:nvSpPr>
          <p:cNvPr id="15" name="TextBox 14"/>
          <p:cNvSpPr txBox="1"/>
          <p:nvPr/>
        </p:nvSpPr>
        <p:spPr>
          <a:xfrm>
            <a:off x="2201227" y="4076191"/>
            <a:ext cx="887489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le notes dans le tableau partagé, et on en parle à la réunion du mois.</a:t>
            </a:r>
          </a:p>
        </p:txBody>
      </p:sp>
      <p:sp>
        <p:nvSpPr>
          <p:cNvPr id="16" name="Rounded Rectangle 15"/>
          <p:cNvSpPr/>
          <p:nvPr/>
        </p:nvSpPr>
        <p:spPr>
          <a:xfrm>
            <a:off x="566928" y="499872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2"/>
            <a:ext cx="126853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8" name="TextBox 17"/>
          <p:cNvSpPr txBox="1"/>
          <p:nvPr/>
        </p:nvSpPr>
        <p:spPr>
          <a:xfrm>
            <a:off x="2201227" y="5163312"/>
            <a:ext cx="887489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compte rendu, c'est la partie qui m'inquiète le plus, honnêtement.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n'est écrit nulle part</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YVES</a:t>
            </a:r>
          </a:p>
        </p:txBody>
      </p:sp>
      <p:sp>
        <p:nvSpPr>
          <p:cNvPr id="9" name="TextBox 8"/>
          <p:cNvSpPr txBox="1"/>
          <p:nvPr/>
        </p:nvSpPr>
        <p:spPr>
          <a:xfrm>
            <a:off x="2089499" y="19019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Puis, elle t'a passé le grand portrait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15681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089499" y="2651252"/>
            <a:ext cx="898662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grand portrait au complet, oui. Quatre blocs, avec les heures et les montants.</a:t>
            </a:r>
          </a:p>
        </p:txBody>
      </p:sp>
      <p:sp>
        <p:nvSpPr>
          <p:cNvPr id="13" name="Rounded Rectangle 12"/>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15681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YVES</a:t>
            </a:r>
          </a:p>
        </p:txBody>
      </p:sp>
      <p:sp>
        <p:nvSpPr>
          <p:cNvPr id="15" name="TextBox 14"/>
          <p:cNvSpPr txBox="1"/>
          <p:nvPr/>
        </p:nvSpPr>
        <p:spPr>
          <a:xfrm>
            <a:off x="2089499" y="3738371"/>
            <a:ext cx="898662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gars de la découpe part à une heure. Si le bon n'est pas entré, la commande attend à demain.</a:t>
            </a:r>
          </a:p>
        </p:txBody>
      </p:sp>
      <p:sp>
        <p:nvSpPr>
          <p:cNvPr id="16" name="Rounded Rectangle 15"/>
          <p:cNvSpPr/>
          <p:nvPr/>
        </p:nvSpPr>
        <p:spPr>
          <a:xfrm>
            <a:off x="566928" y="46609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8" name="TextBox 17"/>
          <p:cNvSpPr txBox="1"/>
          <p:nvPr/>
        </p:nvSpPr>
        <p:spPr>
          <a:xfrm>
            <a:off x="2089499" y="482549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 n'est écrit nulle part dans ma description de tâches.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blocs, quatre règles chiffrées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BLOC</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QUI VA AVEC</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La réception des commandes</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entrées avant midi ; après midi, on avertit Yves</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Le suivi des livraisons</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appel au transporteur le mardi et le jeudi</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Les factures des fournisseurs</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écart de moins de 25 $ : on approuve seul</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La réunion de production</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compte rendu rédigé dans les deux jours</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description de tâches utile tient dans un tableau de deux colonnes.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DÉTAIL QUI COMMANDE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Dans une consigne de travail, le chiffre est la consigne.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Entre les bons rapidement » ne veut rien dire ; « avant midi » se vérifie. « Un petit écart » ne veut rien dire ; « moins de vingt-cinq dollars » se décide seul. Quand une consigne n'a pas de chiffre, il faut le demander — c'est le geste professionnel le plus rentable qu'un employé puisse faire.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DIRE OUI SANS AVOIR COMPRIS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Oui oui, ça va, j'ai compris.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Pour être certaine : avant midi, ça vaut aussi le vendredi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Personne ne pense du mal d'un employé qui demande une précision le premier jour. Tout le monde pense du mal de celui qui se trompe six mois plus tard sur une consigne qu'il n'avait jamais comprise. La question de précision coûte dix secondes ; l'erreur coûte une journée de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Nadia travaille chez Valmont depuis huit mois.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bons doivent être entrés avant midi.</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bon reçu en après-midi n'est pas entré du tout.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approuve seule les écarts jusqu'à cent dollars.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compte rendu se rédige dans les deux jours.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compte rendu rapporte ce que chaque personne a dit.</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raison de la règle de midi est écrite dans le document.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Nadia travaille chez Valmont depuis huit mois.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bons doivent être entrés avant midi.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bon reçu en après-midi n'est pas entré du tout.   </a:t>
            </a:r>
            <a:r>
              <a:rPr sz="1400" b="1" i="0">
                <a:solidFill>
                  <a:srgbClr val="07734A"/>
                </a:solidFill>
                <a:latin typeface="Verdana"/>
              </a:rPr>
              <a:t>» faux — il est entré, et on avertit Yves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approuve seule les écarts jusqu'à cent dollars.   </a:t>
            </a:r>
            <a:r>
              <a:rPr sz="1400" b="1" i="0">
                <a:solidFill>
                  <a:srgbClr val="07734A"/>
                </a:solidFill>
                <a:latin typeface="Verdana"/>
              </a:rPr>
              <a:t>» faux — vingt-cinq dollars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compte rendu se rédige dans les deux jours.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compte rendu rapporte ce que chaque personne a dit.   </a:t>
            </a:r>
            <a:r>
              <a:rPr sz="1400" b="1" i="0">
                <a:solidFill>
                  <a:srgbClr val="07734A"/>
                </a:solidFill>
                <a:latin typeface="Verdana"/>
              </a:rPr>
              <a:t>» faux — les décisions, les responsables, les dates</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raison de la règle de midi est écrite dans le document.   </a:t>
            </a:r>
            <a:r>
              <a:rPr sz="1400" b="1" i="0">
                <a:solidFill>
                  <a:srgbClr val="07734A"/>
                </a:solidFill>
                <a:latin typeface="Verdana"/>
              </a:rPr>
              <a:t>» faux — Yves l'explique à la pause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gestes que vous faites le plus souvent au travail.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Pour chacun, y a-t-il une heure ou un montant à respecter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Lequel n'est écrit dans aucun document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Tenir son bout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