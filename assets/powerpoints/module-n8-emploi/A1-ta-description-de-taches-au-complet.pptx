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Première séance du module et du niveau 8. Demander d'abord qui, dans le groupe, travaille en ce moment, et qui a déjà reçu une description de tâches écrite. La réponse est presque toujours non : c'est le point de départ.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quatrième objectif est celui du niveau 8. Un poste s'apprend par deux canaux : le document, et la culture du lieu. Le module montre les deux.</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Laisser venir les récits. Beaucoup diront « personne ne m'a rien expliqué ». C'est fréquent, et ce n'est pas une fatalité : le module donne les mots pour demander.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Nadia pose une question de cas particulier tout de suite. C'est exactement ce qu'on attend d'un employé : la règle générale ne suffit jamais.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remarquer que Nadia répète le chiffre à voix haute : « vingt-cinq dollars, d'accord ». C'est une stratégie d'écoute, pas un tic.</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bascule de registre est ici. Yves ne dit pas les mêmes mots que Manon, et il donne l'information la plus utile de la séance. Y revenir en A3.</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Proposer à chacun de faire le sien pour son propre emploi, en devoir à long terme du module.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Elle fonde tout le module : la paie, la réunion et la demande de formation se gagnent avec des chiffres.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répéter la formule « pour être certaine… ». Elle revient en C4, quand Nadia vérifie une échéance en pleine réunion.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justifier chaque « faux » par la réplique exacte. Le dialogue est long : accepter deux écoutes.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Devoir concret. Ces quatre lignes reviennent en A4 pour le vocabulaire, et en E1 comme matière du jeu de rôle.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SÉANCE A1  ·  MODULE 1</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Ta description de tâches, au complet</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 poste, ce n'est pas un titre : c'est une liste de gestes, avec des heures et des montants. Comprendre cette liste en détail, c'est la première compétence d'un employé.</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Tenir son bout au travail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Tenir son bout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suivre une explication détaillée sur des tâches professionnelles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repérer les chiffres qui commandent une consigne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poser une question de précision au bon moment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distinguer ce qui est écrit de ce qui se transmet autrement.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Tenir son bout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OBSERVATION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Qui vous a expliqué votre travail ?</a:t>
            </a:r>
          </a:p>
        </p:txBody>
      </p:sp>
      <p:sp>
        <p:nvSpPr>
          <p:cNvPr id="7" name="Rounded Rectangle 6"/>
          <p:cNvSpPr/>
          <p:nvPr/>
        </p:nvSpPr>
        <p:spPr>
          <a:xfrm>
            <a:off x="7424927" y="1719072"/>
            <a:ext cx="4199839" cy="4361688"/>
          </a:xfrm>
          <a:prstGeom prst="roundRect">
            <a:avLst>
              <a:gd name="adj" fmla="val 348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bons-commande.jpg"/>
          <p:cNvPicPr>
            <a:picLocks noChangeAspect="1"/>
          </p:cNvPicPr>
          <p:nvPr/>
        </p:nvPicPr>
        <p:blipFill>
          <a:blip r:embed="rId2"/>
          <a:stretch>
            <a:fillRect/>
          </a:stretch>
        </p:blipFill>
        <p:spPr>
          <a:xfrm>
            <a:off x="7644383" y="2638339"/>
            <a:ext cx="3760927" cy="2523153"/>
          </a:xfrm>
          <a:prstGeom prst="rect">
            <a:avLst/>
          </a:prstGeom>
        </p:spPr>
      </p:pic>
      <p:sp>
        <p:nvSpPr>
          <p:cNvPr id="9" name="Rounded Rectangle 8"/>
          <p:cNvSpPr/>
          <p:nvPr/>
        </p:nvSpPr>
        <p:spPr>
          <a:xfrm>
            <a:off x="566928" y="1856232"/>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1965960"/>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50976" y="2039112"/>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Aviez-vous un document écrit ?</a:t>
            </a:r>
          </a:p>
        </p:txBody>
      </p:sp>
      <p:sp>
        <p:nvSpPr>
          <p:cNvPr id="12" name="Rounded Rectangle 11"/>
          <p:cNvSpPr/>
          <p:nvPr/>
        </p:nvSpPr>
        <p:spPr>
          <a:xfrm>
            <a:off x="566928" y="2642108"/>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66928" y="2751836"/>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50976" y="2824988"/>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Combien de temps a duré l'explication ?</a:t>
            </a:r>
          </a:p>
        </p:txBody>
      </p:sp>
      <p:sp>
        <p:nvSpPr>
          <p:cNvPr id="15" name="Rounded Rectangle 14"/>
          <p:cNvSpPr/>
          <p:nvPr/>
        </p:nvSpPr>
        <p:spPr>
          <a:xfrm>
            <a:off x="566928" y="3427984"/>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66928" y="3537712"/>
            <a:ext cx="50292" cy="821944"/>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50976" y="3610864"/>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Qu'est-ce que vous avez compris seulement après des mois ?</a:t>
            </a:r>
          </a:p>
        </p:txBody>
      </p:sp>
      <p:sp>
        <p:nvSpPr>
          <p:cNvPr id="18" name="Rounded Rectangle 17"/>
          <p:cNvSpPr/>
          <p:nvPr/>
        </p:nvSpPr>
        <p:spPr>
          <a:xfrm>
            <a:off x="566928" y="4551680"/>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66928" y="4661408"/>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50976" y="4734560"/>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À qui posiez-vous vos questions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Tenir son bout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1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Quatre blocs, et des chiffres</a:t>
            </a:r>
          </a:p>
        </p:txBody>
      </p:sp>
      <p:sp>
        <p:nvSpPr>
          <p:cNvPr id="7" name="TextBox 6"/>
          <p:cNvSpPr txBox="1"/>
          <p:nvPr/>
        </p:nvSpPr>
        <p:spPr>
          <a:xfrm>
            <a:off x="566928" y="173736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Écoutez d'abord, diapositive masquée.</a:t>
            </a:r>
          </a:p>
        </p:txBody>
      </p:sp>
      <p:sp>
        <p:nvSpPr>
          <p:cNvPr id="8" name="Rounded Rectangle 7"/>
          <p:cNvSpPr/>
          <p:nvPr/>
        </p:nvSpPr>
        <p:spPr>
          <a:xfrm>
            <a:off x="566928" y="2157984"/>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2322576"/>
            <a:ext cx="1268539"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MANON</a:t>
            </a:r>
          </a:p>
        </p:txBody>
      </p:sp>
      <p:sp>
        <p:nvSpPr>
          <p:cNvPr id="10" name="TextBox 9"/>
          <p:cNvSpPr txBox="1"/>
          <p:nvPr/>
        </p:nvSpPr>
        <p:spPr>
          <a:xfrm>
            <a:off x="2201227" y="2322576"/>
            <a:ext cx="8874899"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Ça fait huit mois que tu es avec nous, et on ne t'a jamais expliqué ta description de tâches au complet.</a:t>
            </a:r>
          </a:p>
        </p:txBody>
      </p:sp>
      <p:sp>
        <p:nvSpPr>
          <p:cNvPr id="11" name="Rounded Rectangle 10"/>
          <p:cNvSpPr/>
          <p:nvPr/>
        </p:nvSpPr>
        <p:spPr>
          <a:xfrm>
            <a:off x="566928" y="3245103"/>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32688" y="3409696"/>
            <a:ext cx="1268539"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NADIA</a:t>
            </a:r>
          </a:p>
        </p:txBody>
      </p:sp>
      <p:sp>
        <p:nvSpPr>
          <p:cNvPr id="13" name="TextBox 12"/>
          <p:cNvSpPr txBox="1"/>
          <p:nvPr/>
        </p:nvSpPr>
        <p:spPr>
          <a:xfrm>
            <a:off x="2201227" y="3409696"/>
            <a:ext cx="8874899"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Je l'ai lue le premier jour, mais je ne comprenais pas encore la moitié des mots.</a:t>
            </a:r>
          </a:p>
        </p:txBody>
      </p:sp>
      <p:sp>
        <p:nvSpPr>
          <p:cNvPr id="14" name="Rounded Rectangle 13"/>
          <p:cNvSpPr/>
          <p:nvPr/>
        </p:nvSpPr>
        <p:spPr>
          <a:xfrm>
            <a:off x="566928" y="4332224"/>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32688" y="4496816"/>
            <a:ext cx="1268539"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MANON</a:t>
            </a:r>
          </a:p>
        </p:txBody>
      </p:sp>
      <p:sp>
        <p:nvSpPr>
          <p:cNvPr id="16" name="TextBox 15"/>
          <p:cNvSpPr txBox="1"/>
          <p:nvPr/>
        </p:nvSpPr>
        <p:spPr>
          <a:xfrm>
            <a:off x="2201227" y="4496816"/>
            <a:ext cx="8874899"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premier bloc, c'est la réception des commandes : tu les entres dans le système avant midi.</a:t>
            </a:r>
          </a:p>
        </p:txBody>
      </p:sp>
      <p:sp>
        <p:nvSpPr>
          <p:cNvPr id="17" name="Rounded Rectangle 16"/>
          <p:cNvSpPr/>
          <p:nvPr/>
        </p:nvSpPr>
        <p:spPr>
          <a:xfrm>
            <a:off x="566928" y="5419344"/>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32688" y="5583936"/>
            <a:ext cx="1268539"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NADIA</a:t>
            </a:r>
          </a:p>
        </p:txBody>
      </p:sp>
      <p:sp>
        <p:nvSpPr>
          <p:cNvPr id="19" name="TextBox 18"/>
          <p:cNvSpPr txBox="1"/>
          <p:nvPr/>
        </p:nvSpPr>
        <p:spPr>
          <a:xfrm>
            <a:off x="2201227" y="5583936"/>
            <a:ext cx="8874899"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Et quand un bon arrive à deux heures de l'après-midi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Tenir son bout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2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Les montants décident</a:t>
            </a:r>
          </a:p>
        </p:txBody>
      </p:sp>
      <p:sp>
        <p:nvSpPr>
          <p:cNvPr id="7" name="Rounded Rectangle 6"/>
          <p:cNvSpPr/>
          <p:nvPr/>
        </p:nvSpPr>
        <p:spPr>
          <a:xfrm>
            <a:off x="566928" y="1737360"/>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01952"/>
            <a:ext cx="1268539"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MANON</a:t>
            </a:r>
          </a:p>
        </p:txBody>
      </p:sp>
      <p:sp>
        <p:nvSpPr>
          <p:cNvPr id="9" name="TextBox 8"/>
          <p:cNvSpPr txBox="1"/>
          <p:nvPr/>
        </p:nvSpPr>
        <p:spPr>
          <a:xfrm>
            <a:off x="2201227" y="1901952"/>
            <a:ext cx="8874899"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Tu compares les factures avec les bons de commande. Si l'écart est en bas de vingt-cinq dollars, tu approuves.</a:t>
            </a:r>
          </a:p>
        </p:txBody>
      </p:sp>
      <p:sp>
        <p:nvSpPr>
          <p:cNvPr id="10" name="Rounded Rectangle 9"/>
          <p:cNvSpPr/>
          <p:nvPr/>
        </p:nvSpPr>
        <p:spPr>
          <a:xfrm>
            <a:off x="566928" y="2824479"/>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989072"/>
            <a:ext cx="1268539"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NADIA</a:t>
            </a:r>
          </a:p>
        </p:txBody>
      </p:sp>
      <p:sp>
        <p:nvSpPr>
          <p:cNvPr id="12" name="TextBox 11"/>
          <p:cNvSpPr txBox="1"/>
          <p:nvPr/>
        </p:nvSpPr>
        <p:spPr>
          <a:xfrm>
            <a:off x="2201227" y="2989072"/>
            <a:ext cx="8874899"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Vingt-cinq dollars, d'accord. Et si c'est un fournisseur qui se trompe chaque fois ?</a:t>
            </a:r>
          </a:p>
        </p:txBody>
      </p:sp>
      <p:sp>
        <p:nvSpPr>
          <p:cNvPr id="13" name="Rounded Rectangle 12"/>
          <p:cNvSpPr/>
          <p:nvPr/>
        </p:nvSpPr>
        <p:spPr>
          <a:xfrm>
            <a:off x="566928" y="3911600"/>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4076191"/>
            <a:ext cx="1268539"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MANON</a:t>
            </a:r>
          </a:p>
        </p:txBody>
      </p:sp>
      <p:sp>
        <p:nvSpPr>
          <p:cNvPr id="15" name="TextBox 14"/>
          <p:cNvSpPr txBox="1"/>
          <p:nvPr/>
        </p:nvSpPr>
        <p:spPr>
          <a:xfrm>
            <a:off x="2201227" y="4076191"/>
            <a:ext cx="8874899"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Tu le notes dans le tableau partagé, et on en parle à la réunion du mois.</a:t>
            </a:r>
          </a:p>
        </p:txBody>
      </p:sp>
      <p:sp>
        <p:nvSpPr>
          <p:cNvPr id="16" name="Rounded Rectangle 15"/>
          <p:cNvSpPr/>
          <p:nvPr/>
        </p:nvSpPr>
        <p:spPr>
          <a:xfrm>
            <a:off x="566928" y="4998720"/>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5163312"/>
            <a:ext cx="1268539"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NADIA</a:t>
            </a:r>
          </a:p>
        </p:txBody>
      </p:sp>
      <p:sp>
        <p:nvSpPr>
          <p:cNvPr id="18" name="TextBox 17"/>
          <p:cNvSpPr txBox="1"/>
          <p:nvPr/>
        </p:nvSpPr>
        <p:spPr>
          <a:xfrm>
            <a:off x="2201227" y="5163312"/>
            <a:ext cx="8874899"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compte rendu, c'est la partie qui m'inquiète le plus, honnêtement.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Tenir son bout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3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 qui n'est écrit nulle part</a:t>
            </a:r>
          </a:p>
        </p:txBody>
      </p:sp>
      <p:sp>
        <p:nvSpPr>
          <p:cNvPr id="7" name="Rounded Rectangle 6"/>
          <p:cNvSpPr/>
          <p:nvPr/>
        </p:nvSpPr>
        <p:spPr>
          <a:xfrm>
            <a:off x="566928" y="1737360"/>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01952"/>
            <a:ext cx="1156811"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YVES</a:t>
            </a:r>
          </a:p>
        </p:txBody>
      </p:sp>
      <p:sp>
        <p:nvSpPr>
          <p:cNvPr id="9" name="TextBox 8"/>
          <p:cNvSpPr txBox="1"/>
          <p:nvPr/>
        </p:nvSpPr>
        <p:spPr>
          <a:xfrm>
            <a:off x="2089499" y="1901952"/>
            <a:ext cx="8986627"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Puis, elle t'a passé le grand portrait ?</a:t>
            </a:r>
          </a:p>
        </p:txBody>
      </p:sp>
      <p:sp>
        <p:nvSpPr>
          <p:cNvPr id="10" name="Rounded Rectangle 9"/>
          <p:cNvSpPr/>
          <p:nvPr/>
        </p:nvSpPr>
        <p:spPr>
          <a:xfrm>
            <a:off x="566928" y="2486659"/>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651252"/>
            <a:ext cx="1156811"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NADIA</a:t>
            </a:r>
          </a:p>
        </p:txBody>
      </p:sp>
      <p:sp>
        <p:nvSpPr>
          <p:cNvPr id="12" name="TextBox 11"/>
          <p:cNvSpPr txBox="1"/>
          <p:nvPr/>
        </p:nvSpPr>
        <p:spPr>
          <a:xfrm>
            <a:off x="2089499" y="2651252"/>
            <a:ext cx="8986627"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grand portrait au complet, oui. Quatre blocs, avec les heures et les montants.</a:t>
            </a:r>
          </a:p>
        </p:txBody>
      </p:sp>
      <p:sp>
        <p:nvSpPr>
          <p:cNvPr id="13" name="Rounded Rectangle 12"/>
          <p:cNvSpPr/>
          <p:nvPr/>
        </p:nvSpPr>
        <p:spPr>
          <a:xfrm>
            <a:off x="566928" y="3573780"/>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3738371"/>
            <a:ext cx="1156811"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YVES</a:t>
            </a:r>
          </a:p>
        </p:txBody>
      </p:sp>
      <p:sp>
        <p:nvSpPr>
          <p:cNvPr id="15" name="TextBox 14"/>
          <p:cNvSpPr txBox="1"/>
          <p:nvPr/>
        </p:nvSpPr>
        <p:spPr>
          <a:xfrm>
            <a:off x="2089499" y="3738371"/>
            <a:ext cx="8986627"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gars de la découpe part à une heure. Si le bon n'est pas entré, la commande attend à demain.</a:t>
            </a:r>
          </a:p>
        </p:txBody>
      </p:sp>
      <p:sp>
        <p:nvSpPr>
          <p:cNvPr id="16" name="Rounded Rectangle 15"/>
          <p:cNvSpPr/>
          <p:nvPr/>
        </p:nvSpPr>
        <p:spPr>
          <a:xfrm>
            <a:off x="566928" y="4660900"/>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4825492"/>
            <a:ext cx="1156811"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NADIA</a:t>
            </a:r>
          </a:p>
        </p:txBody>
      </p:sp>
      <p:sp>
        <p:nvSpPr>
          <p:cNvPr id="18" name="TextBox 17"/>
          <p:cNvSpPr txBox="1"/>
          <p:nvPr/>
        </p:nvSpPr>
        <p:spPr>
          <a:xfrm>
            <a:off x="2089499" y="4825492"/>
            <a:ext cx="8986627"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Ça, ce n'est écrit nulle part dans ma description de tâches.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Tenir son bout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Quatre blocs, quatre règles chiffrées</a:t>
            </a:r>
          </a:p>
        </p:txBody>
      </p:sp>
      <p:sp>
        <p:nvSpPr>
          <p:cNvPr id="7" name="Rounded Rectangle 6"/>
          <p:cNvSpPr/>
          <p:nvPr/>
        </p:nvSpPr>
        <p:spPr>
          <a:xfrm>
            <a:off x="566928" y="1810512"/>
            <a:ext cx="11057839" cy="3200400"/>
          </a:xfrm>
          <a:prstGeom prst="roundRect">
            <a:avLst>
              <a:gd name="adj" fmla="val 457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LE BLOC</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LA RÈGLE QUI VA AVEC</a:t>
            </a:r>
          </a:p>
        </p:txBody>
      </p:sp>
      <p:sp>
        <p:nvSpPr>
          <p:cNvPr id="10" name="TextBox 9"/>
          <p:cNvSpPr txBox="1"/>
          <p:nvPr/>
        </p:nvSpPr>
        <p:spPr>
          <a:xfrm>
            <a:off x="932688" y="2395728"/>
            <a:ext cx="3291492" cy="573024"/>
          </a:xfrm>
          <a:prstGeom prst="rect">
            <a:avLst/>
          </a:prstGeom>
          <a:noFill/>
        </p:spPr>
        <p:txBody>
          <a:bodyPr wrap="square" lIns="0" rIns="0" tIns="0" bIns="0" anchor="t">
            <a:spAutoFit/>
          </a:bodyPr>
          <a:lstStyle/>
          <a:p>
            <a:pPr algn="l">
              <a:lnSpc>
                <a:spcPct val="132000"/>
              </a:lnSpc>
            </a:pPr>
            <a:r>
              <a:rPr sz="1600" b="1" i="0">
                <a:solidFill>
                  <a:srgbClr val="1D6B8F"/>
                </a:solidFill>
                <a:latin typeface="Verdana"/>
              </a:rPr>
              <a:t>La réception des commandes</a:t>
            </a:r>
          </a:p>
        </p:txBody>
      </p:sp>
      <p:sp>
        <p:nvSpPr>
          <p:cNvPr id="11" name="TextBox 10"/>
          <p:cNvSpPr txBox="1"/>
          <p:nvPr/>
        </p:nvSpPr>
        <p:spPr>
          <a:xfrm>
            <a:off x="4443636" y="2395728"/>
            <a:ext cx="6595914" cy="573024"/>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entrées avant midi ; après midi, on avertit Yves</a:t>
            </a:r>
          </a:p>
        </p:txBody>
      </p:sp>
      <p:sp>
        <p:nvSpPr>
          <p:cNvPr id="12" name="Rectangle 11"/>
          <p:cNvSpPr/>
          <p:nvPr/>
        </p:nvSpPr>
        <p:spPr>
          <a:xfrm>
            <a:off x="932688" y="30419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3169920"/>
            <a:ext cx="3291492" cy="304800"/>
          </a:xfrm>
          <a:prstGeom prst="rect">
            <a:avLst/>
          </a:prstGeom>
          <a:noFill/>
        </p:spPr>
        <p:txBody>
          <a:bodyPr wrap="square" lIns="0" rIns="0" tIns="0" bIns="0" anchor="t">
            <a:spAutoFit/>
          </a:bodyPr>
          <a:lstStyle/>
          <a:p>
            <a:pPr algn="l">
              <a:lnSpc>
                <a:spcPct val="132000"/>
              </a:lnSpc>
            </a:pPr>
            <a:r>
              <a:rPr sz="1600" b="1" i="0">
                <a:solidFill>
                  <a:srgbClr val="1D6B8F"/>
                </a:solidFill>
                <a:latin typeface="Verdana"/>
              </a:rPr>
              <a:t>Le suivi des livraisons</a:t>
            </a:r>
          </a:p>
        </p:txBody>
      </p:sp>
      <p:sp>
        <p:nvSpPr>
          <p:cNvPr id="14" name="TextBox 13"/>
          <p:cNvSpPr txBox="1"/>
          <p:nvPr/>
        </p:nvSpPr>
        <p:spPr>
          <a:xfrm>
            <a:off x="4443636" y="3169920"/>
            <a:ext cx="6595914" cy="304800"/>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appel au transporteur le mardi et le jeudi</a:t>
            </a:r>
          </a:p>
        </p:txBody>
      </p:sp>
      <p:sp>
        <p:nvSpPr>
          <p:cNvPr id="15" name="Rectangle 14"/>
          <p:cNvSpPr/>
          <p:nvPr/>
        </p:nvSpPr>
        <p:spPr>
          <a:xfrm>
            <a:off x="932688" y="354787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675887"/>
            <a:ext cx="3291492" cy="573024"/>
          </a:xfrm>
          <a:prstGeom prst="rect">
            <a:avLst/>
          </a:prstGeom>
          <a:noFill/>
        </p:spPr>
        <p:txBody>
          <a:bodyPr wrap="square" lIns="0" rIns="0" tIns="0" bIns="0" anchor="t">
            <a:spAutoFit/>
          </a:bodyPr>
          <a:lstStyle/>
          <a:p>
            <a:pPr algn="l">
              <a:lnSpc>
                <a:spcPct val="132000"/>
              </a:lnSpc>
            </a:pPr>
            <a:r>
              <a:rPr sz="1600" b="1" i="0">
                <a:solidFill>
                  <a:srgbClr val="1D6B8F"/>
                </a:solidFill>
                <a:latin typeface="Verdana"/>
              </a:rPr>
              <a:t>Les factures des fournisseurs</a:t>
            </a:r>
          </a:p>
        </p:txBody>
      </p:sp>
      <p:sp>
        <p:nvSpPr>
          <p:cNvPr id="17" name="TextBox 16"/>
          <p:cNvSpPr txBox="1"/>
          <p:nvPr/>
        </p:nvSpPr>
        <p:spPr>
          <a:xfrm>
            <a:off x="4443636" y="3675887"/>
            <a:ext cx="6595914" cy="573024"/>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écart de moins de 25 $ : on approuve seul</a:t>
            </a:r>
          </a:p>
        </p:txBody>
      </p:sp>
      <p:sp>
        <p:nvSpPr>
          <p:cNvPr id="18" name="Rectangle 17"/>
          <p:cNvSpPr/>
          <p:nvPr/>
        </p:nvSpPr>
        <p:spPr>
          <a:xfrm>
            <a:off x="932688" y="432206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450080"/>
            <a:ext cx="3291492" cy="304800"/>
          </a:xfrm>
          <a:prstGeom prst="rect">
            <a:avLst/>
          </a:prstGeom>
          <a:noFill/>
        </p:spPr>
        <p:txBody>
          <a:bodyPr wrap="square" lIns="0" rIns="0" tIns="0" bIns="0" anchor="t">
            <a:spAutoFit/>
          </a:bodyPr>
          <a:lstStyle/>
          <a:p>
            <a:pPr algn="l">
              <a:lnSpc>
                <a:spcPct val="132000"/>
              </a:lnSpc>
            </a:pPr>
            <a:r>
              <a:rPr sz="1600" b="1" i="0">
                <a:solidFill>
                  <a:srgbClr val="1D6B8F"/>
                </a:solidFill>
                <a:latin typeface="Verdana"/>
              </a:rPr>
              <a:t>La réunion de production</a:t>
            </a:r>
          </a:p>
        </p:txBody>
      </p:sp>
      <p:sp>
        <p:nvSpPr>
          <p:cNvPr id="20" name="TextBox 19"/>
          <p:cNvSpPr txBox="1"/>
          <p:nvPr/>
        </p:nvSpPr>
        <p:spPr>
          <a:xfrm>
            <a:off x="4443636" y="4450080"/>
            <a:ext cx="6595914" cy="304800"/>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compte rendu rédigé dans les deux jours</a:t>
            </a:r>
          </a:p>
        </p:txBody>
      </p:sp>
      <p:sp>
        <p:nvSpPr>
          <p:cNvPr id="21" name="Rounded Rectangle 20"/>
          <p:cNvSpPr/>
          <p:nvPr/>
        </p:nvSpPr>
        <p:spPr>
          <a:xfrm>
            <a:off x="566928" y="5248656"/>
            <a:ext cx="11057839" cy="769874"/>
          </a:xfrm>
          <a:prstGeom prst="roundRect">
            <a:avLst>
              <a:gd name="adj" fmla="val 19003"/>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69264" y="5504688"/>
            <a:ext cx="10234879" cy="312674"/>
          </a:xfrm>
          <a:prstGeom prst="rect">
            <a:avLst/>
          </a:prstGeom>
          <a:noFill/>
        </p:spPr>
        <p:txBody>
          <a:bodyPr wrap="square" lIns="0" rIns="0" tIns="0" bIns="0" anchor="t">
            <a:spAutoFit/>
          </a:bodyPr>
          <a:lstStyle/>
          <a:p>
            <a:pPr algn="l">
              <a:lnSpc>
                <a:spcPct val="145000"/>
              </a:lnSpc>
            </a:pPr>
            <a:r>
              <a:rPr sz="1400" b="0" i="0">
                <a:solidFill>
                  <a:srgbClr val="4B4F52"/>
                </a:solidFill>
                <a:latin typeface="Verdana"/>
              </a:rPr>
              <a:t>Une description de tâches utile tient dans un tableau de deux colonnes.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Tenir son bout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LE DÉTAIL QUI COMMANDE</a:t>
            </a:r>
          </a:p>
        </p:txBody>
      </p:sp>
      <p:sp>
        <p:nvSpPr>
          <p:cNvPr id="6" name="Rounded Rectangle 5"/>
          <p:cNvSpPr/>
          <p:nvPr/>
        </p:nvSpPr>
        <p:spPr>
          <a:xfrm>
            <a:off x="566928" y="1225296"/>
            <a:ext cx="11057839" cy="1967991"/>
          </a:xfrm>
          <a:prstGeom prst="roundRect">
            <a:avLst>
              <a:gd name="adj" fmla="val 74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Dans une consigne de travail, le chiffre est la consigne.</a:t>
            </a:r>
          </a:p>
        </p:txBody>
      </p:sp>
      <p:sp>
        <p:nvSpPr>
          <p:cNvPr id="8" name="Rounded Rectangle 7"/>
          <p:cNvSpPr/>
          <p:nvPr/>
        </p:nvSpPr>
        <p:spPr>
          <a:xfrm>
            <a:off x="566928" y="3467607"/>
            <a:ext cx="11057839" cy="2040128"/>
          </a:xfrm>
          <a:prstGeom prst="roundRect">
            <a:avLst>
              <a:gd name="adj" fmla="val 717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1582928"/>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 Entre les bons rapidement » ne veut rien dire ; « avant midi » se vérifie. « Un petit écart » ne veut rien dire ; « moins de vingt-cinq dollars » se décide seul. Quand une consigne n'a pas de chiffre, il faut le demander — c'est le geste professionnel le plus rentable qu'un employé puisse faire.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Tenir son bout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DIRE OUI SANS AVOIR COMPRIS</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Oui oui, ça va, j'ai compris.</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Pour être certaine : avant midi, ça vaut aussi le vendredi ?</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5189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Personne ne pense du mal d'un employé qui demande une précision le premier jour. Tout le monde pense du mal de celui qui se trompe six mois plus tard sur une consigne qu'il n'avait jamais comprise. La question de précision coûte dix secondes ; l'erreur coûte une journée de production.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Tenir son bout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COMPRÉHENSION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Répondez d'après le dialogue.</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Nadia travaille chez Valmont depuis huit mois.</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Les bons doivent être entrés avant midi.</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 bon reçu en après-midi n'est pas entré du tout.</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Elle approuve seule les écarts jusqu'à cent dollars.</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compte rendu se rédige dans les deux jours.</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 compte rendu rapporte ce que chaque personne a dit.</a:t>
            </a:r>
          </a:p>
        </p:txBody>
      </p:sp>
      <p:sp>
        <p:nvSpPr>
          <p:cNvPr id="32" name="Rounded Rectangle 31"/>
          <p:cNvSpPr/>
          <p:nvPr/>
        </p:nvSpPr>
        <p:spPr>
          <a:xfrm>
            <a:off x="566928" y="626668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ounded Rectangle 32"/>
          <p:cNvSpPr/>
          <p:nvPr/>
        </p:nvSpPr>
        <p:spPr>
          <a:xfrm>
            <a:off x="841247" y="636371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41247" y="642772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7</a:t>
            </a:r>
          </a:p>
        </p:txBody>
      </p:sp>
      <p:sp>
        <p:nvSpPr>
          <p:cNvPr id="35" name="TextBox 34"/>
          <p:cNvSpPr txBox="1"/>
          <p:nvPr/>
        </p:nvSpPr>
        <p:spPr>
          <a:xfrm>
            <a:off x="1344168" y="6422136"/>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raison de la règle de midi est écrite dans le document.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Tenir son bout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Nadia travaille chez Valmont depuis huit mois.   </a:t>
            </a:r>
            <a:r>
              <a:rPr sz="1400" b="1" i="0">
                <a:solidFill>
                  <a:srgbClr val="07734A"/>
                </a:solidFill>
                <a:latin typeface="Verdana"/>
              </a:rPr>
              <a:t>» vrai</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Les bons doivent être entrés avant midi.   </a:t>
            </a:r>
            <a:r>
              <a:rPr sz="1400" b="1" i="0">
                <a:solidFill>
                  <a:srgbClr val="07734A"/>
                </a:solidFill>
                <a:latin typeface="Verdana"/>
              </a:rPr>
              <a:t>» vrai</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 bon reçu en après-midi n'est pas entré du tout.   </a:t>
            </a:r>
            <a:r>
              <a:rPr sz="1400" b="1" i="0">
                <a:solidFill>
                  <a:srgbClr val="07734A"/>
                </a:solidFill>
                <a:latin typeface="Verdana"/>
              </a:rPr>
              <a:t>» faux — il est entré, et on avertit Yves</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Elle approuve seule les écarts jusqu'à cent dollars.   </a:t>
            </a:r>
            <a:r>
              <a:rPr sz="1400" b="1" i="0">
                <a:solidFill>
                  <a:srgbClr val="07734A"/>
                </a:solidFill>
                <a:latin typeface="Verdana"/>
              </a:rPr>
              <a:t>» faux — vingt-cinq dollars</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compte rendu se rédige dans les deux jours.   </a:t>
            </a:r>
            <a:r>
              <a:rPr sz="1400" b="1" i="0">
                <a:solidFill>
                  <a:srgbClr val="07734A"/>
                </a:solidFill>
                <a:latin typeface="Verdana"/>
              </a:rPr>
              <a:t>» vrai</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 compte rendu rapporte ce que chaque personne a dit.   </a:t>
            </a:r>
            <a:r>
              <a:rPr sz="1400" b="1" i="0">
                <a:solidFill>
                  <a:srgbClr val="07734A"/>
                </a:solidFill>
                <a:latin typeface="Verdana"/>
              </a:rPr>
              <a:t>» faux — les décisions, les responsables, les dates</a:t>
            </a:r>
          </a:p>
        </p:txBody>
      </p:sp>
      <p:sp>
        <p:nvSpPr>
          <p:cNvPr id="32" name="Rounded Rectangle 31"/>
          <p:cNvSpPr/>
          <p:nvPr/>
        </p:nvSpPr>
        <p:spPr>
          <a:xfrm>
            <a:off x="566928" y="626668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ounded Rectangle 32"/>
          <p:cNvSpPr/>
          <p:nvPr/>
        </p:nvSpPr>
        <p:spPr>
          <a:xfrm>
            <a:off x="841247" y="636371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41247" y="642772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7</a:t>
            </a:r>
          </a:p>
        </p:txBody>
      </p:sp>
      <p:sp>
        <p:nvSpPr>
          <p:cNvPr id="35" name="TextBox 34"/>
          <p:cNvSpPr txBox="1"/>
          <p:nvPr/>
        </p:nvSpPr>
        <p:spPr>
          <a:xfrm>
            <a:off x="1344168" y="6422136"/>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raison de la règle de midi est écrite dans le document.   </a:t>
            </a:r>
            <a:r>
              <a:rPr sz="1400" b="1" i="0">
                <a:solidFill>
                  <a:srgbClr val="07734A"/>
                </a:solidFill>
                <a:latin typeface="Verdana"/>
              </a:rPr>
              <a:t>» faux — Yves l'explique à la pause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Tenir son bout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Écrivez les quatre gestes que vous faites le plus souvent au travail.</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Pour chacun, y a-t-il une heure ou un montant à respecter ?</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Lequel n'est écrit dans aucun document ?</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Tenir son bout au travail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