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production orale. Le jeu de rôle avec l'assistant sert de répétition ; la prise de parole enregistrée est ce qui sera remis.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L'objectif 4 est un objectif de méthode. Insister : personne ne réussit au premier essai, et c'est l'intérêt de l'enregistrement.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L'assistant joue le service administratif. Il n'est pas de mauvaise foi, mais il objectera au moins une fois : c'est là que se joue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liste à cocher du module, reprise de B1.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À afficher pendant tout le jeu de rôle.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en groupe entier, avant d'ouvrir les postes.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production qui sera déposée. Rappeler la mélodie de A2 : la voix descend au dernier groupe de chaque phrase.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que Nadia nomme aussi son propre intérêt : « c'est moi qui écoperais de ce travail ». C'est ce qui désarme le soupçon.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Dépôt dans le module, section « Je me lance ». La rétroaction de l'IA reste privée ; seul l'envoi arrive à l'enseignante.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L'appel et la réunion</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Tout ce qui a été appris se joue ici, à voix haute : régler un problème au téléphone, puis faire valoir son point de vue dans une réunion de décision.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Tenir son bout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régler un problème administratif au téléphone, du début à la fin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tenir son bout après une objection de procédure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intervenir dans une réunion en résumant, nuançant et proposant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s'enregistrer, s'écouter, corriger, puis remettre.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situations, deux rôles</a:t>
            </a:r>
          </a:p>
        </p:txBody>
      </p:sp>
      <p:sp>
        <p:nvSpPr>
          <p:cNvPr id="7" name="Rounded Rectangle 6"/>
          <p:cNvSpPr/>
          <p:nvPr/>
        </p:nvSpPr>
        <p:spPr>
          <a:xfrm>
            <a:off x="566928" y="181051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Des heures supplémentaires non majorées</a:t>
            </a:r>
          </a:p>
        </p:txBody>
      </p:sp>
      <p:sp>
        <p:nvSpPr>
          <p:cNvPr id="9" name="TextBox 8"/>
          <p:cNvSpPr txBox="1"/>
          <p:nvPr/>
        </p:nvSpPr>
        <p:spPr>
          <a:xfrm>
            <a:off x="886968" y="2499360"/>
            <a:ext cx="10417759"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44 heures travaillées, 4 au-delà de 40, payées au taux simple. Les heures avaient été demandées par courriel.</a:t>
            </a:r>
          </a:p>
        </p:txBody>
      </p:sp>
      <p:sp>
        <p:nvSpPr>
          <p:cNvPr id="10" name="Rounded Rectangle 9"/>
          <p:cNvSpPr/>
          <p:nvPr/>
        </p:nvSpPr>
        <p:spPr>
          <a:xfrm>
            <a:off x="566928" y="328879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3563112"/>
            <a:ext cx="10417759"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 horaire changé sans avis</a:t>
            </a:r>
          </a:p>
        </p:txBody>
      </p:sp>
      <p:sp>
        <p:nvSpPr>
          <p:cNvPr id="12" name="TextBox 11"/>
          <p:cNvSpPr txBox="1"/>
          <p:nvPr/>
        </p:nvSpPr>
        <p:spPr>
          <a:xfrm>
            <a:off x="886968" y="3977639"/>
            <a:ext cx="10417759"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Trois soirs au lieu de deux, sans que personne ait prévenu. Un cours est suivi le mercredi soir.</a:t>
            </a:r>
          </a:p>
        </p:txBody>
      </p:sp>
      <p:sp>
        <p:nvSpPr>
          <p:cNvPr id="13" name="Rounded Rectangle 12"/>
          <p:cNvSpPr/>
          <p:nvPr/>
        </p:nvSpPr>
        <p:spPr>
          <a:xfrm>
            <a:off x="566928" y="476707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5041391"/>
            <a:ext cx="10417759"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Une facture réglée deux fois</a:t>
            </a:r>
          </a:p>
        </p:txBody>
      </p:sp>
      <p:sp>
        <p:nvSpPr>
          <p:cNvPr id="15" name="TextBox 14"/>
          <p:cNvSpPr txBox="1"/>
          <p:nvPr/>
        </p:nvSpPr>
        <p:spPr>
          <a:xfrm>
            <a:off x="886968" y="5455920"/>
            <a:ext cx="10417759"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1 840 $ payés en double, crédit promis il y a trois semaines et toujours absent.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sept temps de l'appel</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1. Se présenter et situer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appelle, et de quel dossier il s'agit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2. Exposer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faits, avec leurs dates et leurs chiffres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3. Nommer l'écart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la voix passive, sans accuser personne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4. Répondre à l'objection</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reconnaître la contrainte, puis maintenir</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derniers temps : citer la règle, demander quoi et de qui, obtenir une confirmation écrite.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PHRASE QUI SAUVE UN APPEL</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Qu'est-ce qu'il vous faut, exactement, et de qui ?</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l'autre oppose une procédure, ne discutez pas la procédure : demandez ce dont elle a besoin pour avancer. Vous passez d'un désaccord à une marche à suivre, et vous raccrochez avec une action et une date au lieu d'une promesse vague.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PRÉPARATION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Bonne idée, mauvaise idée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Avant de composer le numéro.</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Écrire les dates et les chiffres sur un papier.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Commencer en disant que c'est inacceptable.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Nommer la norme sans accuser la personne.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Accepter « on va regarder ça » sans date.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une confirmation écrite en expliquant pourquoi.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Menacer de porter plainte dès la première phrase.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Vérifier si d'autres périodes sont touchées.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Bonne idée, mauvaise idée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Écrire les dates et les chiffres sur un papier.   </a:t>
            </a:r>
            <a:r>
              <a:rPr sz="1400" b="1" i="0">
                <a:solidFill>
                  <a:srgbClr val="07734A"/>
                </a:solidFill>
                <a:latin typeface="Verdana"/>
              </a:rPr>
              <a:t>» bonne idée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Commencer en disant que c'est inacceptable.   </a:t>
            </a:r>
            <a:r>
              <a:rPr sz="1400" b="1" i="0">
                <a:solidFill>
                  <a:srgbClr val="07734A"/>
                </a:solidFill>
                <a:latin typeface="Verdana"/>
              </a:rPr>
              <a:t>» mauvaise idée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Nommer la norme sans accuser la personne.   </a:t>
            </a:r>
            <a:r>
              <a:rPr sz="1400" b="1" i="0">
                <a:solidFill>
                  <a:srgbClr val="07734A"/>
                </a:solidFill>
                <a:latin typeface="Verdana"/>
              </a:rPr>
              <a:t>» bonne idée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Accepter « on va regarder ça » sans date.   </a:t>
            </a:r>
            <a:r>
              <a:rPr sz="1400" b="1" i="0">
                <a:solidFill>
                  <a:srgbClr val="07734A"/>
                </a:solidFill>
                <a:latin typeface="Verdana"/>
              </a:rPr>
              <a:t>» mauvaise idée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une confirmation écrite en expliquant pourquoi.   </a:t>
            </a:r>
            <a:r>
              <a:rPr sz="1400" b="1" i="0">
                <a:solidFill>
                  <a:srgbClr val="07734A"/>
                </a:solidFill>
                <a:latin typeface="Verdana"/>
              </a:rPr>
              <a:t>» bonne idée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Menacer de porter plainte dès la première phrase.   </a:t>
            </a:r>
            <a:r>
              <a:rPr sz="1400" b="1" i="0">
                <a:solidFill>
                  <a:srgbClr val="07734A"/>
                </a:solidFill>
                <a:latin typeface="Verdana"/>
              </a:rPr>
              <a:t>» mauvaise idée</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Vérifier si d'autres périodes sont touchées.   </a:t>
            </a:r>
            <a:r>
              <a:rPr sz="1400" b="1" i="0">
                <a:solidFill>
                  <a:srgbClr val="07734A"/>
                </a:solidFill>
                <a:latin typeface="Verdana"/>
              </a:rPr>
              <a:t>» bonne idée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Intervenir dans la réunion</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1 · Résumer</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 je résume, l'écart de prix est réel : environ 40 000 $.</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2 · Objecter avec un chiffre</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Cependant, le délai passerait à dix jours.</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3 · Proposer au conditionnel</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proposerais un partage entre les deux fournisseurs.</a:t>
            </a:r>
          </a:p>
        </p:txBody>
      </p:sp>
      <p:sp>
        <p:nvSpPr>
          <p:cNvPr id="18" name="Rounded Rectangle 17"/>
          <p:cNvSpPr/>
          <p:nvPr/>
        </p:nvSpPr>
        <p:spPr>
          <a:xfrm>
            <a:off x="566928" y="521208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Environ 90 secondes. On s'enregistre, on s'écoute, on recommence.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PARLER PLUS FORT QUAND ON N'EST PAS ÉCOUTÉ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Non mais écoutez, c'est dix jours, dix jours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C'est écrit à la page quatre ; j'ai vérifié deux fois.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 réunion, le volume ne convainc personne et coûte la crédibilité. Ce qui convainc, c'est la source et le chiffre. Nadia fait changer une décision de quarante mille dollars sans élever la voix une seule fois — parce qu'elle avait lu la page quatre.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 votre intervention de 90 secondes et déposez-la.</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Réécoutez-vous avant d'envoyer : les trois temps y sont-ils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Avez-vous employé au moins un conditionnel de proposition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Tenir son bout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