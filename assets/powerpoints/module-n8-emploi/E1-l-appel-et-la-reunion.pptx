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 production orale. Le jeu de rôle avec l'assistant sert de répétition ; la prise de parole enregistrée est ce qui sera remis.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L'objectif 4 est un objectif de méthode. Insister : personne ne réussit au premier essai, et c'est l'intérêt de l'enregistrement.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L'assistant joue le service administratif. Il n'est pas de mauvaise foi, mais il objectera au moins une fois : c'est là que se joue la séance.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C'est la liste à cocher du module, reprise de B1.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À afficher pendant tout le jeu de rôle.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Cinq minutes, en groupe entier, avant d'ouvrir les postes.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la production qui sera déposée. Rappeler la mélodie de A2 : la voix descend au dernier groupe de chaque phrase.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Rappeler que Nadia nomme aussi son propre intérêt : « c'est moi qui écoperais de ce travail ». C'est ce qui désarme le soupçon.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Dépôt dans le module, section « Je me lance ». La rétroaction de l'IA reste privée ; seul l'envoi arrive à l'enseignante.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SÉANCE E1  ·  MODULE 1</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L'appel et la réunion</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Tout ce qui a été appris se joue ici, à voix haute : régler un problème au téléphone, puis faire valoir son point de vue dans une réunion de décision.</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60 minutes  ·  Tenir son bout au travail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Tenir son bout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régler un problème administratif au téléphone, du début à la fin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tenir son bout après une objection de procédure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intervenir dans une réunion en résumant, nuançant et proposant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s'enregistrer, s'écouter, corriger, puis remettre.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Tenir son bout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LE JEU DE RÔLE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Trois situations, deux rôles</a:t>
            </a:r>
          </a:p>
        </p:txBody>
      </p:sp>
      <p:sp>
        <p:nvSpPr>
          <p:cNvPr id="7" name="Rounded Rectangle 6"/>
          <p:cNvSpPr/>
          <p:nvPr/>
        </p:nvSpPr>
        <p:spPr>
          <a:xfrm>
            <a:off x="566928" y="1810512"/>
            <a:ext cx="11057839" cy="1313687"/>
          </a:xfrm>
          <a:prstGeom prst="roundRect">
            <a:avLst>
              <a:gd name="adj" fmla="val 1113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10417759"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Des heures supplémentaires non majorées</a:t>
            </a:r>
          </a:p>
        </p:txBody>
      </p:sp>
      <p:sp>
        <p:nvSpPr>
          <p:cNvPr id="9" name="TextBox 8"/>
          <p:cNvSpPr txBox="1"/>
          <p:nvPr/>
        </p:nvSpPr>
        <p:spPr>
          <a:xfrm>
            <a:off x="886968" y="2499360"/>
            <a:ext cx="10417759" cy="350519"/>
          </a:xfrm>
          <a:prstGeom prst="rect">
            <a:avLst/>
          </a:prstGeom>
          <a:noFill/>
        </p:spPr>
        <p:txBody>
          <a:bodyPr wrap="square" lIns="0" rIns="0" tIns="0" bIns="0" anchor="t">
            <a:spAutoFit/>
          </a:bodyPr>
          <a:lstStyle/>
          <a:p>
            <a:pPr algn="l">
              <a:lnSpc>
                <a:spcPct val="142000"/>
              </a:lnSpc>
            </a:pPr>
            <a:r>
              <a:rPr sz="1400" b="0" i="0">
                <a:solidFill>
                  <a:srgbClr val="3A3D40"/>
                </a:solidFill>
                <a:latin typeface="Verdana"/>
              </a:rPr>
              <a:t>44 heures travaillées, 4 au-delà de 40, payées au taux simple. Les heures avaient été demandées par courriel.</a:t>
            </a:r>
          </a:p>
        </p:txBody>
      </p:sp>
      <p:sp>
        <p:nvSpPr>
          <p:cNvPr id="10" name="Rounded Rectangle 9"/>
          <p:cNvSpPr/>
          <p:nvPr/>
        </p:nvSpPr>
        <p:spPr>
          <a:xfrm>
            <a:off x="566928" y="3288792"/>
            <a:ext cx="11057839" cy="1313687"/>
          </a:xfrm>
          <a:prstGeom prst="roundRect">
            <a:avLst>
              <a:gd name="adj" fmla="val 1113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86968" y="3563112"/>
            <a:ext cx="10417759"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Un horaire changé sans avis</a:t>
            </a:r>
          </a:p>
        </p:txBody>
      </p:sp>
      <p:sp>
        <p:nvSpPr>
          <p:cNvPr id="12" name="TextBox 11"/>
          <p:cNvSpPr txBox="1"/>
          <p:nvPr/>
        </p:nvSpPr>
        <p:spPr>
          <a:xfrm>
            <a:off x="886968" y="3977639"/>
            <a:ext cx="10417759" cy="350519"/>
          </a:xfrm>
          <a:prstGeom prst="rect">
            <a:avLst/>
          </a:prstGeom>
          <a:noFill/>
        </p:spPr>
        <p:txBody>
          <a:bodyPr wrap="square" lIns="0" rIns="0" tIns="0" bIns="0" anchor="t">
            <a:spAutoFit/>
          </a:bodyPr>
          <a:lstStyle/>
          <a:p>
            <a:pPr algn="l">
              <a:lnSpc>
                <a:spcPct val="142000"/>
              </a:lnSpc>
            </a:pPr>
            <a:r>
              <a:rPr sz="1400" b="0" i="0">
                <a:solidFill>
                  <a:srgbClr val="3A3D40"/>
                </a:solidFill>
                <a:latin typeface="Verdana"/>
              </a:rPr>
              <a:t>Trois soirs au lieu de deux, sans que personne ait prévenu. Un cours est suivi le mercredi soir.</a:t>
            </a:r>
          </a:p>
        </p:txBody>
      </p:sp>
      <p:sp>
        <p:nvSpPr>
          <p:cNvPr id="13" name="Rounded Rectangle 12"/>
          <p:cNvSpPr/>
          <p:nvPr/>
        </p:nvSpPr>
        <p:spPr>
          <a:xfrm>
            <a:off x="566928" y="4767072"/>
            <a:ext cx="11057839" cy="1313687"/>
          </a:xfrm>
          <a:prstGeom prst="roundRect">
            <a:avLst>
              <a:gd name="adj" fmla="val 1113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5041391"/>
            <a:ext cx="10417759"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Une facture réglée deux fois</a:t>
            </a:r>
          </a:p>
        </p:txBody>
      </p:sp>
      <p:sp>
        <p:nvSpPr>
          <p:cNvPr id="15" name="TextBox 14"/>
          <p:cNvSpPr txBox="1"/>
          <p:nvPr/>
        </p:nvSpPr>
        <p:spPr>
          <a:xfrm>
            <a:off x="886968" y="5455920"/>
            <a:ext cx="10417759" cy="350519"/>
          </a:xfrm>
          <a:prstGeom prst="rect">
            <a:avLst/>
          </a:prstGeom>
          <a:noFill/>
        </p:spPr>
        <p:txBody>
          <a:bodyPr wrap="square" lIns="0" rIns="0" tIns="0" bIns="0" anchor="t">
            <a:spAutoFit/>
          </a:bodyPr>
          <a:lstStyle/>
          <a:p>
            <a:pPr algn="l">
              <a:lnSpc>
                <a:spcPct val="142000"/>
              </a:lnSpc>
            </a:pPr>
            <a:r>
              <a:rPr sz="1400" b="0" i="0">
                <a:solidFill>
                  <a:srgbClr val="3A3D40"/>
                </a:solidFill>
                <a:latin typeface="Verdana"/>
              </a:rPr>
              <a:t>1 840 $ payés en double, crédit promis il y a trois semaines et toujours absent.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Tenir son bout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PLAN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sept temps de l'appel</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TEMPS</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QU'ON DIT</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1. Se présenter et situer</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qui appelle, et de quel dossier il s'agit</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2. Exposer</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les faits, avec leurs dates et leurs chiffres</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3. Nommer l'écart</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à la voix passive, sans accuser personne</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4. Répondre à l'objection</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reconnaître la contrainte, puis maintenir</a:t>
            </a:r>
          </a:p>
        </p:txBody>
      </p:sp>
      <p:sp>
        <p:nvSpPr>
          <p:cNvPr id="21" name="Rounded Rectangle 20"/>
          <p:cNvSpPr/>
          <p:nvPr/>
        </p:nvSpPr>
        <p:spPr>
          <a:xfrm>
            <a:off x="566928" y="4846320"/>
            <a:ext cx="11057839" cy="1175004"/>
          </a:xfrm>
          <a:prstGeom prst="roundRect">
            <a:avLst>
              <a:gd name="adj" fmla="val 12451"/>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102352"/>
            <a:ext cx="10234879" cy="71780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Les trois derniers temps : citer la règle, demander quoi et de qui, obtenir une confirmation écrite.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Tenir son bout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LA PHRASE QUI SAUVE UN APPEL</a:t>
            </a:r>
          </a:p>
        </p:txBody>
      </p:sp>
      <p:sp>
        <p:nvSpPr>
          <p:cNvPr id="6" name="Rounded Rectangle 5"/>
          <p:cNvSpPr/>
          <p:nvPr/>
        </p:nvSpPr>
        <p:spPr>
          <a:xfrm>
            <a:off x="566928" y="1225296"/>
            <a:ext cx="11057839" cy="1967991"/>
          </a:xfrm>
          <a:prstGeom prst="roundRect">
            <a:avLst>
              <a:gd name="adj" fmla="val 7434"/>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Qu'est-ce qu'il vous faut, exactement, et de qui ?</a:t>
            </a:r>
          </a:p>
        </p:txBody>
      </p:sp>
      <p:sp>
        <p:nvSpPr>
          <p:cNvPr id="8" name="Rounded Rectangle 7"/>
          <p:cNvSpPr/>
          <p:nvPr/>
        </p:nvSpPr>
        <p:spPr>
          <a:xfrm>
            <a:off x="566928" y="3467607"/>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Quand l'autre oppose une procédure, ne discutez pas la procédure : demandez ce dont elle a besoin pour avancer. Vous passez d'un désaccord à une marche à suivre, et vous raccrochez avec une action et une date au lieu d'une promesse vague.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Tenir son bout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PRÉPARATION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Bonne idée, mauvaise idée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Avant de composer le numéro.</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Écrire les dates et les chiffres sur un papier.</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Commencer en disant que c'est inacceptable.</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Nommer la norme sans accuser la personne.</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Accepter « on va regarder ça » sans date.</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Demander une confirmation écrite en expliquant pourquoi.</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Menacer de porter plainte dès la première phrase.</a:t>
            </a:r>
          </a:p>
        </p:txBody>
      </p:sp>
      <p:sp>
        <p:nvSpPr>
          <p:cNvPr id="32" name="Rounded Rectangle 31"/>
          <p:cNvSpPr/>
          <p:nvPr/>
        </p:nvSpPr>
        <p:spPr>
          <a:xfrm>
            <a:off x="566928" y="626668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636371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642772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7</a:t>
            </a:r>
          </a:p>
        </p:txBody>
      </p:sp>
      <p:sp>
        <p:nvSpPr>
          <p:cNvPr id="35" name="TextBox 34"/>
          <p:cNvSpPr txBox="1"/>
          <p:nvPr/>
        </p:nvSpPr>
        <p:spPr>
          <a:xfrm>
            <a:off x="1344168" y="6422136"/>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Vérifier si d'autres périodes sont touchées.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Tenir son bout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Bonne idée, mauvaise idée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Écrire les dates et les chiffres sur un papier.   </a:t>
            </a:r>
            <a:r>
              <a:rPr sz="1400" b="1" i="0">
                <a:solidFill>
                  <a:srgbClr val="07734A"/>
                </a:solidFill>
                <a:latin typeface="Verdana"/>
              </a:rPr>
              <a:t>» bonne idée</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Commencer en disant que c'est inacceptable.   </a:t>
            </a:r>
            <a:r>
              <a:rPr sz="1400" b="1" i="0">
                <a:solidFill>
                  <a:srgbClr val="07734A"/>
                </a:solidFill>
                <a:latin typeface="Verdana"/>
              </a:rPr>
              <a:t>» mauvaise idée</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Nommer la norme sans accuser la personne.   </a:t>
            </a:r>
            <a:r>
              <a:rPr sz="1400" b="1" i="0">
                <a:solidFill>
                  <a:srgbClr val="07734A"/>
                </a:solidFill>
                <a:latin typeface="Verdana"/>
              </a:rPr>
              <a:t>» bonne idée</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Accepter « on va regarder ça » sans date.   </a:t>
            </a:r>
            <a:r>
              <a:rPr sz="1400" b="1" i="0">
                <a:solidFill>
                  <a:srgbClr val="07734A"/>
                </a:solidFill>
                <a:latin typeface="Verdana"/>
              </a:rPr>
              <a:t>» mauvaise idée</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Demander une confirmation écrite en expliquant pourquoi.   </a:t>
            </a:r>
            <a:r>
              <a:rPr sz="1400" b="1" i="0">
                <a:solidFill>
                  <a:srgbClr val="07734A"/>
                </a:solidFill>
                <a:latin typeface="Verdana"/>
              </a:rPr>
              <a:t>» bonne idée</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Menacer de porter plainte dès la première phrase.   </a:t>
            </a:r>
            <a:r>
              <a:rPr sz="1400" b="1" i="0">
                <a:solidFill>
                  <a:srgbClr val="07734A"/>
                </a:solidFill>
                <a:latin typeface="Verdana"/>
              </a:rPr>
              <a:t>» mauvaise idée</a:t>
            </a:r>
          </a:p>
        </p:txBody>
      </p:sp>
      <p:sp>
        <p:nvSpPr>
          <p:cNvPr id="32" name="Rounded Rectangle 31"/>
          <p:cNvSpPr/>
          <p:nvPr/>
        </p:nvSpPr>
        <p:spPr>
          <a:xfrm>
            <a:off x="566928" y="626668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ounded Rectangle 32"/>
          <p:cNvSpPr/>
          <p:nvPr/>
        </p:nvSpPr>
        <p:spPr>
          <a:xfrm>
            <a:off x="841247" y="6363716"/>
            <a:ext cx="365760" cy="365760"/>
          </a:xfrm>
          <a:prstGeom prst="roundRect">
            <a:avLst>
              <a:gd name="adj" fmla="val 32500"/>
            </a:avLst>
          </a:prstGeom>
          <a:solidFill>
            <a:srgbClr val="DCF2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41247" y="6427724"/>
            <a:ext cx="365760" cy="256032"/>
          </a:xfrm>
          <a:prstGeom prst="rect">
            <a:avLst/>
          </a:prstGeom>
          <a:noFill/>
        </p:spPr>
        <p:txBody>
          <a:bodyPr wrap="square" lIns="0" rIns="0" tIns="0" bIns="0" anchor="t">
            <a:spAutoFit/>
          </a:bodyPr>
          <a:lstStyle/>
          <a:p>
            <a:pPr algn="ctr">
              <a:lnSpc>
                <a:spcPct val="135000"/>
              </a:lnSpc>
            </a:pPr>
            <a:r>
              <a:rPr sz="1500" b="1" i="0">
                <a:solidFill>
                  <a:srgbClr val="0D7A6F"/>
                </a:solidFill>
                <a:latin typeface="Verdana"/>
              </a:rPr>
              <a:t>7</a:t>
            </a:r>
          </a:p>
        </p:txBody>
      </p:sp>
      <p:sp>
        <p:nvSpPr>
          <p:cNvPr id="35" name="TextBox 34"/>
          <p:cNvSpPr txBox="1"/>
          <p:nvPr/>
        </p:nvSpPr>
        <p:spPr>
          <a:xfrm>
            <a:off x="1344168" y="6422136"/>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Vérifier si d'autres périodes sont touchées.   </a:t>
            </a:r>
            <a:r>
              <a:rPr sz="1400" b="1" i="0">
                <a:solidFill>
                  <a:srgbClr val="07734A"/>
                </a:solidFill>
                <a:latin typeface="Verdana"/>
              </a:rPr>
              <a:t>» bonne idée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Tenir son bout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PRODUCTION ORALE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Intervenir dans la réunion</a:t>
            </a:r>
          </a:p>
        </p:txBody>
      </p:sp>
      <p:sp>
        <p:nvSpPr>
          <p:cNvPr id="7" name="Rounded Rectangle 6"/>
          <p:cNvSpPr/>
          <p:nvPr/>
        </p:nvSpPr>
        <p:spPr>
          <a:xfrm>
            <a:off x="566928" y="1810512"/>
            <a:ext cx="11057839" cy="3163824"/>
          </a:xfrm>
          <a:prstGeom prst="roundRect">
            <a:avLst>
              <a:gd name="adj" fmla="val 462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TEMPS</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QU'ON DIT</a:t>
            </a:r>
          </a:p>
        </p:txBody>
      </p:sp>
      <p:sp>
        <p:nvSpPr>
          <p:cNvPr id="10" name="TextBox 9"/>
          <p:cNvSpPr txBox="1"/>
          <p:nvPr/>
        </p:nvSpPr>
        <p:spPr>
          <a:xfrm>
            <a:off x="932688" y="2395728"/>
            <a:ext cx="3291492" cy="640080"/>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Temps 1 · Résumer</a:t>
            </a:r>
          </a:p>
        </p:txBody>
      </p:sp>
      <p:sp>
        <p:nvSpPr>
          <p:cNvPr id="11" name="TextBox 10"/>
          <p:cNvSpPr txBox="1"/>
          <p:nvPr/>
        </p:nvSpPr>
        <p:spPr>
          <a:xfrm>
            <a:off x="4443636" y="2395728"/>
            <a:ext cx="6595914"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Si je résume, l'écart de prix est réel : environ 40 000 $.</a:t>
            </a:r>
          </a:p>
        </p:txBody>
      </p:sp>
      <p:sp>
        <p:nvSpPr>
          <p:cNvPr id="12" name="Rectangle 11"/>
          <p:cNvSpPr/>
          <p:nvPr/>
        </p:nvSpPr>
        <p:spPr>
          <a:xfrm>
            <a:off x="932688" y="310896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3236976"/>
            <a:ext cx="3291492" cy="640080"/>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Temps 2 · Objecter avec un chiffre</a:t>
            </a:r>
          </a:p>
        </p:txBody>
      </p:sp>
      <p:sp>
        <p:nvSpPr>
          <p:cNvPr id="14" name="TextBox 13"/>
          <p:cNvSpPr txBox="1"/>
          <p:nvPr/>
        </p:nvSpPr>
        <p:spPr>
          <a:xfrm>
            <a:off x="4443636" y="3236976"/>
            <a:ext cx="6595914"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Cependant, le délai passerait à dix jours.</a:t>
            </a:r>
          </a:p>
        </p:txBody>
      </p:sp>
      <p:sp>
        <p:nvSpPr>
          <p:cNvPr id="15" name="Rectangle 14"/>
          <p:cNvSpPr/>
          <p:nvPr/>
        </p:nvSpPr>
        <p:spPr>
          <a:xfrm>
            <a:off x="932688" y="3950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4078224"/>
            <a:ext cx="3291492" cy="640080"/>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Temps 3 · Proposer au conditionnel</a:t>
            </a:r>
          </a:p>
        </p:txBody>
      </p:sp>
      <p:sp>
        <p:nvSpPr>
          <p:cNvPr id="17" name="TextBox 16"/>
          <p:cNvSpPr txBox="1"/>
          <p:nvPr/>
        </p:nvSpPr>
        <p:spPr>
          <a:xfrm>
            <a:off x="4443636" y="4078224"/>
            <a:ext cx="6595914"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Je proposerais un partage entre les deux fournisseurs.</a:t>
            </a:r>
          </a:p>
        </p:txBody>
      </p:sp>
      <p:sp>
        <p:nvSpPr>
          <p:cNvPr id="18" name="Rounded Rectangle 17"/>
          <p:cNvSpPr/>
          <p:nvPr/>
        </p:nvSpPr>
        <p:spPr>
          <a:xfrm>
            <a:off x="566928" y="5212080"/>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69264" y="5468112"/>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Environ 90 secondes. On s'enregistre, on s'écoute, on recommence.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Tenir son bout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PARLER PLUS FORT QUAND ON N'EST PAS ÉCOUTÉ</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Non mais écoutez, c'est dix jours, dix jours !</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C'est écrit à la page quatre ; j'ai vérifié deux fois.</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En réunion, le volume ne convainc personne et coûte la crédibilité. Ce qui convainc, c'est la source et le chiffre. Nadia fait changer une décision de quarante mille dollars sans élever la voix une seule fois — parce qu'elle avait lu la page quatre.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Tenir son bout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Enregistrez votre intervention de 90 secondes et déposez-la.</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Réécoutez-vous avant d'envoyer : les trois temps y sont-ils ?</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Avez-vous employé au moins un conditionnel de proposition ?</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E1 · Tenir son bout au travail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