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Dernière séance du module. Elle consolide et elle produit ; aucun mot neuf, aucun point de grammaire neuf.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Lire les objectifs à voix haute. Y revenir au billet de sortie.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Retour à A4, quatre semaines plus tard. Faire employer chaque mot dans une phrase sur son propre travail.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Demander au groupe le seuil et la majoration. La réponse doit venir sans hésitation : quarante heures, cinquante pour cent.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redire la formule d'une ligne de compte rendu : quoi, qui, quand.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Rappeler où s'adresser pour la reconnaissance des acquis : le centre de services scolaire.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Diapositive à photographier. C'est la grille de correction du travail remis.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Diapositive à photographier. Chacun adapte la phrase à son propre travail avant de rédiger.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Reprendre l'autoévaluation du module, section « Je retiens des mots ». Faire nommer à chacun le point qu'il travaillera encore.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Troisième et dernière production écrite du module. Elle se dépose dans la section « Je me lance ».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12344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A5335F"/>
                </a:solidFill>
                <a:latin typeface="Verdana"/>
              </a:rPr>
              <a:t>SÉANCE E2  ·  MODULE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691640"/>
            <a:ext cx="9960559" cy="1874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17181A"/>
                </a:solidFill>
                <a:latin typeface="Verdana"/>
              </a:rPr>
              <a:t>La demande écrite, et le bilan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3794760"/>
            <a:ext cx="9960559" cy="1763268"/>
          </a:xfrm>
          <a:prstGeom prst="roundRect">
            <a:avLst>
              <a:gd name="adj" fmla="val 8297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96112" y="4123944"/>
            <a:ext cx="9302191" cy="11506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Seize mots, quatre familles, et une dernière production : demander un congé de formation en arrivant avec le problème réglé plutôt qu'avec un souhait.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0350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6E7175"/>
                </a:solidFill>
                <a:latin typeface="Verdana"/>
              </a:rPr>
              <a:t>60 minutes  ·  Tenir son bout au travail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E2 · Tenir son bout au travail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A5335F"/>
                </a:solidFill>
                <a:latin typeface="Verdana"/>
              </a:rPr>
              <a:t>OBJECTIFS DE LA SÉANCE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À la fin, je serai capable de…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64792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804672" y="1942592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04672" y="2024887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965960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revoir les seize mots du module par famille 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650744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804672" y="2828544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04672" y="2910840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2851912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écrire une demande de congé de formation chiffrée ;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536696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804672" y="3714496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04672" y="3796792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8176" y="3737864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réemployer le subjonctif et l'hypothèse au passé dans un texte utile ;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4422648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ounded Rectangle 19"/>
          <p:cNvSpPr/>
          <p:nvPr/>
        </p:nvSpPr>
        <p:spPr>
          <a:xfrm>
            <a:off x="804672" y="4600448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04672" y="4682744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8176" y="4623816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évaluer honnêtement ce qu'on est maintenant capable de faire.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E2 · Tenir son bout au travail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A5335F"/>
                </a:solidFill>
                <a:latin typeface="Verdana"/>
              </a:rPr>
              <a:t>FAMILLE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poste et les tâches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4270248"/>
          </a:xfrm>
          <a:prstGeom prst="roundRect">
            <a:avLst>
              <a:gd name="adj" fmla="val 34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2121408"/>
            <a:ext cx="3686555" cy="7658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une description de tâches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893564" y="2121408"/>
            <a:ext cx="6365443" cy="7658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Le document qui énumère tout ce qu'on doit faire.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932688" y="2960370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3106674"/>
            <a:ext cx="3686555" cy="7658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un supérieur immédiat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93564" y="3106674"/>
            <a:ext cx="6365443" cy="7658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La personne à qui on rend des comptes directement.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32688" y="3945635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32688" y="4091939"/>
            <a:ext cx="3686555" cy="7658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faire le suivi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93564" y="4091939"/>
            <a:ext cx="6365443" cy="7658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Reprendre un dossier commencé pour le faire avancer.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32688" y="4930901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932688" y="5077205"/>
            <a:ext cx="3686555" cy="7658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un imprévu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93564" y="5077205"/>
            <a:ext cx="6365443" cy="7658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Ce qui arrive sans avoir été planifié.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E2 · Tenir son bout au travail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A5335F"/>
                </a:solidFill>
                <a:latin typeface="Verdana"/>
              </a:rPr>
              <a:t>FAMILLE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La paie et la réclamation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4270248"/>
          </a:xfrm>
          <a:prstGeom prst="roundRect">
            <a:avLst>
              <a:gd name="adj" fmla="val 34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2121408"/>
            <a:ext cx="3948874" cy="7658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un relevé de paie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155882" y="2121408"/>
            <a:ext cx="6103124" cy="7658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Le document qui détaille les heures, le taux et les retenues.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932688" y="2960370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3106674"/>
            <a:ext cx="3948874" cy="7658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les heures supplémentaires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55882" y="3106674"/>
            <a:ext cx="6103124" cy="7658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Les heures travaillées au-delà de la semaine normale.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32688" y="3945635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32688" y="4091939"/>
            <a:ext cx="3948874" cy="7658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une réclamation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155882" y="4091939"/>
            <a:ext cx="6103124" cy="7658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La démarche pour faire corriger une somme due.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32688" y="4930901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932688" y="5077205"/>
            <a:ext cx="3948874" cy="7658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un accusé de réception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155882" y="5077205"/>
            <a:ext cx="6103124" cy="7658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Le message qui confirme qu'un document a été reçu.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E2 · Tenir son bout au travail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A5335F"/>
                </a:solidFill>
                <a:latin typeface="Verdana"/>
              </a:rPr>
              <a:t>FAMILLE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La réunion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4270248"/>
          </a:xfrm>
          <a:prstGeom prst="roundRect">
            <a:avLst>
              <a:gd name="adj" fmla="val 34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2121408"/>
            <a:ext cx="2483453" cy="7658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un ordre du jour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90461" y="2121408"/>
            <a:ext cx="7568545" cy="7658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La liste des points traités pendant une réunion.</a:t>
            </a:r>
          </a:p>
        </p:txBody>
      </p:sp>
      <p:sp>
        <p:nvSpPr>
          <p:cNvPr id="10" name="Rectangle 9"/>
          <p:cNvSpPr/>
          <p:nvPr/>
        </p:nvSpPr>
        <p:spPr>
          <a:xfrm>
            <a:off x="932688" y="2960370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3106674"/>
            <a:ext cx="2483453" cy="7658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un compte rendu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90461" y="3106674"/>
            <a:ext cx="7568545" cy="7658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Le texte qui rapporte les décisions, les responsables et les dates.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32688" y="3945635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32688" y="4091939"/>
            <a:ext cx="2483453" cy="7658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un compromis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90461" y="4091939"/>
            <a:ext cx="7568545" cy="7658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La solution que deux parties acceptent quand aucune n'obtient tout.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32688" y="4930901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932688" y="5077205"/>
            <a:ext cx="2483453" cy="7658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une échéance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90461" y="5077205"/>
            <a:ext cx="7568545" cy="7658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La date limite à laquelle une chose doit être faite.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E2 · Tenir son bout au travail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A5335F"/>
                </a:solidFill>
                <a:latin typeface="Verdana"/>
              </a:rPr>
              <a:t>FAMILLE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La formation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4270248"/>
          </a:xfrm>
          <a:prstGeom prst="roundRect">
            <a:avLst>
              <a:gd name="adj" fmla="val 34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2121408"/>
            <a:ext cx="4143184" cy="7658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le perfectionnement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350192" y="2121408"/>
            <a:ext cx="5908814" cy="7658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Améliorer des compétences qu'on possède déjà.</a:t>
            </a:r>
          </a:p>
        </p:txBody>
      </p:sp>
      <p:sp>
        <p:nvSpPr>
          <p:cNvPr id="10" name="Rectangle 9"/>
          <p:cNvSpPr/>
          <p:nvPr/>
        </p:nvSpPr>
        <p:spPr>
          <a:xfrm>
            <a:off x="932688" y="2960370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3106674"/>
            <a:ext cx="4143184" cy="7658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une attestation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350192" y="3106674"/>
            <a:ext cx="5908814" cy="7658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Le document officiel qui prouve une formation réussie.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32688" y="3945635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32688" y="4091939"/>
            <a:ext cx="4143184" cy="7658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un congé de formation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50192" y="4091939"/>
            <a:ext cx="5908814" cy="7658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Le temps libéré par l'employeur pour suivre un cours.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32688" y="4930901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932688" y="5077205"/>
            <a:ext cx="4143184" cy="7658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la reconnaissance des acquis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350192" y="5077205"/>
            <a:ext cx="5908814" cy="7658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La démarche qui fait créditer ce qu'on sait déjà faire.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E2 · Tenir son bout au travail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A5335F"/>
                </a:solidFill>
                <a:latin typeface="Verdana"/>
              </a:rPr>
              <a:t>PRODUCTION ÉCRITE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Ce que la demande doit contenir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3233928"/>
          </a:xfrm>
          <a:prstGeom prst="roundRect">
            <a:avLst>
              <a:gd name="adj" fmla="val 452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75104"/>
            <a:ext cx="329149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L'ÉLÉMENT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43636" y="1975104"/>
            <a:ext cx="659591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POURQUOI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395728"/>
            <a:ext cx="3291492" cy="2712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400" b="1" i="0">
                <a:solidFill>
                  <a:srgbClr val="A5335F"/>
                </a:solidFill>
                <a:latin typeface="Verdana"/>
              </a:rPr>
              <a:t>Un objet qui se lit seul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43636" y="2395728"/>
            <a:ext cx="6595914" cy="2712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la décision se prend souvent à l'objet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2688" y="2740152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32688" y="2868168"/>
            <a:ext cx="3291492" cy="5059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400" b="1" i="0">
                <a:solidFill>
                  <a:srgbClr val="A5335F"/>
                </a:solidFill>
                <a:latin typeface="Verdana"/>
              </a:rPr>
              <a:t>Le nom exact de la formation et sa durée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43636" y="2868168"/>
            <a:ext cx="6595914" cy="5059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sans cela, la demande n'est pas traitable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32688" y="3447288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32688" y="3575304"/>
            <a:ext cx="3291492" cy="5059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400" b="1" i="0">
                <a:solidFill>
                  <a:srgbClr val="A5335F"/>
                </a:solidFill>
                <a:latin typeface="Verdana"/>
              </a:rPr>
              <a:t>Un chiffre : ce que la lacune coûte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43636" y="3575304"/>
            <a:ext cx="6595914" cy="5059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c'est l'argument, pas l'envie d'apprendre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32688" y="4154423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32688" y="4282439"/>
            <a:ext cx="3291492" cy="5059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400" b="1" i="0">
                <a:solidFill>
                  <a:srgbClr val="A5335F"/>
                </a:solidFill>
                <a:latin typeface="Verdana"/>
              </a:rPr>
              <a:t>Comment le travail se fait pendant l'absence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43636" y="4282439"/>
            <a:ext cx="6595914" cy="5059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c'est la seule vraie objection de l'employeur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66928" y="5282184"/>
            <a:ext cx="11057839" cy="769874"/>
          </a:xfrm>
          <a:prstGeom prst="roundRect">
            <a:avLst>
              <a:gd name="adj" fmla="val 19003"/>
            </a:avLst>
          </a:prstGeom>
          <a:solidFill>
            <a:srgbClr val="FBFBFA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969264" y="5538216"/>
            <a:ext cx="10234879" cy="31267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400" b="0" i="0">
                <a:solidFill>
                  <a:srgbClr val="4B4F52"/>
                </a:solidFill>
                <a:latin typeface="Verdana"/>
              </a:rPr>
              <a:t>Une hypothèse au passé, une phrase au subjonctif, une demande unique, une date de réponse.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E2 · Tenir son bout au travail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A5335F"/>
                </a:solidFill>
                <a:latin typeface="Verdana"/>
              </a:rPr>
              <a:t>LA PHRASE À PLACER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225296"/>
            <a:ext cx="11057839" cy="2494788"/>
          </a:xfrm>
          <a:prstGeom prst="roundRect">
            <a:avLst>
              <a:gd name="adj" fmla="val 5864"/>
            </a:avLst>
          </a:prstGeom>
          <a:solidFill>
            <a:srgbClr val="FCE9F0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298448" y="1682496"/>
            <a:ext cx="9594799" cy="16718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Si j'avais su utiliser ce module l'an dernier, j'aurais économisé quarante heures.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994404"/>
            <a:ext cx="11057839" cy="1671827"/>
          </a:xfrm>
          <a:prstGeom prst="roundRect">
            <a:avLst>
              <a:gd name="adj" fmla="val 8751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69264" y="4268724"/>
            <a:ext cx="10234879" cy="12146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Elle fait tout le travail à elle seule : elle nomme la lacune, elle la chiffre, et elle montre que vous avez réfléchi avant d'écrire. Sans elle, la demande dit « j'aimerais » ; avec elle, elle dit « voici ce que ça vous rapporte ».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E2 · Tenir son bout au travail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A5335F"/>
                </a:solidFill>
                <a:latin typeface="Verdana"/>
              </a:rPr>
              <a:t>BILAN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Qu'est-ce que je suis capable de faire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Répondez honnêtement : pas encore, un peu, ou oui.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Je comprends une description de tâches détaillée.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Je découpe une phrase longue en groupes de souffle.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Je distingue le registre du corridor de celui d'un courriel.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Je peux exposer un problème de paie avec ses dates et ses chiffres.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Je connais le seuil de 40 heures et la majoration de 50 %.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Je nomme un écart à la voix passive, sans accuser personne.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66928" y="626668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Rounded Rectangle 32"/>
          <p:cNvSpPr/>
          <p:nvPr/>
        </p:nvSpPr>
        <p:spPr>
          <a:xfrm>
            <a:off x="841247" y="636371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TextBox 33"/>
          <p:cNvSpPr txBox="1"/>
          <p:nvPr/>
        </p:nvSpPr>
        <p:spPr>
          <a:xfrm>
            <a:off x="841247" y="642772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7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344168" y="6422136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Je résume les propos d'un collègue avant de donner mon avis.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66928" y="6954520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Rounded Rectangle 36"/>
          <p:cNvSpPr/>
          <p:nvPr/>
        </p:nvSpPr>
        <p:spPr>
          <a:xfrm>
            <a:off x="841247" y="705154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" name="TextBox 37"/>
          <p:cNvSpPr txBox="1"/>
          <p:nvPr/>
        </p:nvSpPr>
        <p:spPr>
          <a:xfrm>
            <a:off x="841247" y="711555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8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344168" y="7109968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Je rédige un compte rendu : décision, responsable, échéance.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E2 · Tenir son bout au travail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10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18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05156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FFFFFF"/>
                </a:solidFill>
                <a:latin typeface="Verdana"/>
              </a:rPr>
              <a:t>BILLET DE SORTIE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572768"/>
            <a:ext cx="9777679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400" b="1" i="0">
                <a:solidFill>
                  <a:srgbClr val="FFFFFF"/>
                </a:solidFill>
                <a:latin typeface="Verdana"/>
              </a:rPr>
              <a:t>Écrivez votre demande de congé de formation et déposez-la.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931920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32688" y="4087368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De huit à douze phrases, un objet qui se lit seul.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4680712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4836160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Un chiffre, une hypothèse au passé, une date de réponse.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E2 · Tenir son bout au travail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