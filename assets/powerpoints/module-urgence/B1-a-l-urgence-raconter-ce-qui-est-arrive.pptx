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défi 1. Rappeler la chronologie : l'accident à onze heures, quinze minutes d'eau froide, l'appel au 811, puis l'urgence.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Passer l'audio du défi 1. Faire remarquer que Fatou répond à la question de l'heure ET ajoute ce qu'elle a fait. La deuxième information n'était pas demandée, et c'est celle qui compte le plus.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Vous avez bien réagi » n'est pas une politesse : c'est une information médicale. Les quinze minutes d'eau froide ont limité la profondeur de la brûlure. Le dire au groupe.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copier les quatre étiquettes de gauche dans le cahier. Elles servent de plan pour l'exercice de production, en B4.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raconter volontairement dans le désordre par un élève, puis dans l'ordre. Le groupe entendra la différence tout seul.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carte demande du courage : on avoue une erreur. Le dire clairement — un médecin n'est pas là pour juger, il a besoin de savoir.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est celle qui trompe : le côté est dit une seule fois, au milieu d'une longue phrase.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position par un mot du dialogue. C'est un exercice de compréhension fine, pas de mémoire.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produire cette phrase longue par trois ou quatre élèves, à voix haute. Ne corriger que l'ordre et le contenu, pas encore les temps verbaux — ce sera l'objet de B2.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corrigés sont des modèles, pas des réponses uniques. Ce qu'on évalue est la présence des quatre étapes, dans l'ordre.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billets serviront de matière première en B2, où l'on travaillera les temps du passé sur les phrases produites par le groupe lui-même.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B1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À l'urgence : raconter ce qui est arrivé</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Racontez-moi ce qui s'est passé. » Sept répliques pour répondre, et une phrase qui change tout : « Vous avez bien réagi. »</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Une urgence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raconter un accident dans l'ordre où il est arrivé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l'heure et la durée d'un événement passé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expliquer les premiers soins déjà donnés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que le médecin vérifie en écoutant le récit.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Racontez-moi ce qui s'est passé</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l'enregistrement, diapo masquée. Lisez ensuite.</a:t>
            </a:r>
          </a:p>
        </p:txBody>
      </p:sp>
      <p:sp>
        <p:nvSpPr>
          <p:cNvPr id="8" name="TextBox 7"/>
          <p:cNvSpPr txBox="1"/>
          <p:nvPr/>
        </p:nvSpPr>
        <p:spPr>
          <a:xfrm>
            <a:off x="932688" y="2322576"/>
            <a:ext cx="265947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L'URGENTOLOGUE</a:t>
            </a:r>
          </a:p>
        </p:txBody>
      </p:sp>
      <p:sp>
        <p:nvSpPr>
          <p:cNvPr id="9" name="TextBox 8"/>
          <p:cNvSpPr txBox="1"/>
          <p:nvPr/>
        </p:nvSpPr>
        <p:spPr>
          <a:xfrm>
            <a:off x="3592163" y="2322576"/>
            <a:ext cx="748396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Bonjour. Racontez-moi ce qui s'est passé.</a:t>
            </a:r>
          </a:p>
        </p:txBody>
      </p:sp>
      <p:sp>
        <p:nvSpPr>
          <p:cNvPr id="10" name="Rounded Rectangle 9"/>
          <p:cNvSpPr/>
          <p:nvPr/>
        </p:nvSpPr>
        <p:spPr>
          <a:xfrm>
            <a:off x="566928" y="29072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071876"/>
            <a:ext cx="265947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12" name="TextBox 11"/>
          <p:cNvSpPr txBox="1"/>
          <p:nvPr/>
        </p:nvSpPr>
        <p:spPr>
          <a:xfrm>
            <a:off x="3592163" y="3071876"/>
            <a:ext cx="748396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travaillais en cuisine. L'huile a éclaboussé et je me suis brûlé l'avant-bras droit.</a:t>
            </a:r>
          </a:p>
        </p:txBody>
      </p:sp>
      <p:sp>
        <p:nvSpPr>
          <p:cNvPr id="13" name="TextBox 12"/>
          <p:cNvSpPr txBox="1"/>
          <p:nvPr/>
        </p:nvSpPr>
        <p:spPr>
          <a:xfrm>
            <a:off x="932688" y="4158995"/>
            <a:ext cx="265947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L'URGENTOLOGUE</a:t>
            </a:r>
          </a:p>
        </p:txBody>
      </p:sp>
      <p:sp>
        <p:nvSpPr>
          <p:cNvPr id="14" name="TextBox 13"/>
          <p:cNvSpPr txBox="1"/>
          <p:nvPr/>
        </p:nvSpPr>
        <p:spPr>
          <a:xfrm>
            <a:off x="3592163" y="4158995"/>
            <a:ext cx="748396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quelle heure est-ce arrivé ?</a:t>
            </a:r>
          </a:p>
        </p:txBody>
      </p:sp>
      <p:sp>
        <p:nvSpPr>
          <p:cNvPr id="15" name="Rounded Rectangle 14"/>
          <p:cNvSpPr/>
          <p:nvPr/>
        </p:nvSpPr>
        <p:spPr>
          <a:xfrm>
            <a:off x="566928" y="474370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908296"/>
            <a:ext cx="265947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17" name="TextBox 16"/>
          <p:cNvSpPr txBox="1"/>
          <p:nvPr/>
        </p:nvSpPr>
        <p:spPr>
          <a:xfrm>
            <a:off x="3592163" y="4908296"/>
            <a:ext cx="748396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Vers onze heures. J'ai mis mon bras sous l'eau froide pendant quinze minutes.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Vous avez bien réagi</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265947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L'URGENTOLOGUE</a:t>
            </a:r>
          </a:p>
        </p:txBody>
      </p:sp>
      <p:sp>
        <p:nvSpPr>
          <p:cNvPr id="9" name="TextBox 8"/>
          <p:cNvSpPr txBox="1"/>
          <p:nvPr/>
        </p:nvSpPr>
        <p:spPr>
          <a:xfrm>
            <a:off x="3592163" y="1901952"/>
            <a:ext cx="748396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avez bien réagi. Est-ce que vous avez percé les cloques ?</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265947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FATOU</a:t>
            </a:r>
          </a:p>
        </p:txBody>
      </p:sp>
      <p:sp>
        <p:nvSpPr>
          <p:cNvPr id="12" name="TextBox 11"/>
          <p:cNvSpPr txBox="1"/>
          <p:nvPr/>
        </p:nvSpPr>
        <p:spPr>
          <a:xfrm>
            <a:off x="3592163" y="2989072"/>
            <a:ext cx="748396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l'infirmière d'Info-Santé m'a dit de ne pas y toucher.</a:t>
            </a:r>
          </a:p>
        </p:txBody>
      </p:sp>
      <p:sp>
        <p:nvSpPr>
          <p:cNvPr id="13" name="TextBox 12"/>
          <p:cNvSpPr txBox="1"/>
          <p:nvPr/>
        </p:nvSpPr>
        <p:spPr>
          <a:xfrm>
            <a:off x="932688" y="3738371"/>
            <a:ext cx="265947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L'URGENTOLOGUE</a:t>
            </a:r>
          </a:p>
        </p:txBody>
      </p:sp>
      <p:sp>
        <p:nvSpPr>
          <p:cNvPr id="14" name="TextBox 13"/>
          <p:cNvSpPr txBox="1"/>
          <p:nvPr/>
        </p:nvSpPr>
        <p:spPr>
          <a:xfrm>
            <a:off x="3592163" y="3738371"/>
            <a:ext cx="748396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Parfait. Je vais nettoyer la plaie et poser un pansement.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récit de Fatou, en quatre temps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MOMENT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DIT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ce que je faisais</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travaillais en cuisine.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ce qui est arrivé</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L'huile a éclaboussé.</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ce que ça m'a fait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me suis brûlé l'avant-bras droit.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ce que j'ai fait</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J'ai mis mon bras sous l'eau froide.</a:t>
            </a:r>
          </a:p>
        </p:txBody>
      </p:sp>
      <p:sp>
        <p:nvSpPr>
          <p:cNvPr id="21" name="Rounded Rectangle 20"/>
          <p:cNvSpPr/>
          <p:nvPr/>
        </p:nvSpPr>
        <p:spPr>
          <a:xfrm>
            <a:off x="566928" y="4846320"/>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Quatre phrases, dans l'ordre du temps. C'est la structure de tout récit d'accident, au travail comme à l'hôpital.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LA RÈGLE DU RÉCIT</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On raconte dans l'ordre où c'est arrivé, pas dans l'ordre d'importance.</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que je faisais, ce qui est arrivé, ce que ça m'a fait, ce que j'ai fait ensuite. Un récit dans le désordre oblige l'auditeur à reconstruire, et il se trompera.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informations que le médecin cherche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mécanisme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Comment l'accident s'est produit : de l'huile, de l'eau bouillante, une flamme. Chaque cause donne une brûlure différente.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L'heure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brûlure évolue pendant les premières heures. Savoir quand elle est arrivée dit à quel stade elle en est.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Les premiers soins</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Ce qui a été fait — et pendant combien de temps. Quinze minutes d'eau froide et trois minutes ne donnent pas le même résultat.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qui n'a pas été fait</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Avoir percé une cloque, mis du beurre ou de la glace change le traitement. Il faut le dire, même si on sait maintenant que c'était une erreur.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 à l'urgence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sans relire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Fatou travaillait en cuisine au moment de l'accident.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s'est brûlé l'avant-bras gauche.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L'accident est arrivé vers onze heures.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mis son bras sous l'eau froide quinze minutes.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médecin trouve qu'elle a mal réagi.</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Fatou a percé les cloques elle-même.</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médecin va nettoyer la plaie et poser un pansement.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 à l'urgence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Fatou travaillait en cuisine au moment de l'accident.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s'est brûlé l'avant-bras gauche.   </a:t>
            </a:r>
            <a:r>
              <a:rPr sz="1400" b="1" i="0">
                <a:solidFill>
                  <a:srgbClr val="07734A"/>
                </a:solidFill>
                <a:latin typeface="Verdana"/>
              </a:rPr>
              <a:t>» FAUX — le droit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L'accident est arrivé vers onze heures.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mis son bras sous l'eau froide quinze minutes.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médecin trouve qu'elle a mal réagi.   </a:t>
            </a:r>
            <a:r>
              <a:rPr sz="1400" b="1" i="0">
                <a:solidFill>
                  <a:srgbClr val="07734A"/>
                </a:solidFill>
                <a:latin typeface="Verdana"/>
              </a:rPr>
              <a:t>» FAUX — il dit qu'elle a bien réagi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Fatou a percé les cloques elle-même.   </a:t>
            </a:r>
            <a:r>
              <a:rPr sz="1400" b="1" i="0">
                <a:solidFill>
                  <a:srgbClr val="07734A"/>
                </a:solidFill>
                <a:latin typeface="Verdana"/>
              </a:rPr>
              <a:t>» FAUX — elle n'y a pas touché</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médecin va nettoyer la plaie et poser un pansement.   </a:t>
            </a:r>
            <a:r>
              <a:rPr sz="1400" b="1" i="0">
                <a:solidFill>
                  <a:srgbClr val="07734A"/>
                </a:solidFill>
                <a:latin typeface="Verdana"/>
              </a:rPr>
              <a:t>» VRAI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Remettez le récit dans l'ordre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Numérotez de 1 à 5 selon l'ordre où c'est arrivé.</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a mis son bras sous l'eau froide.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travaillait en cuisine.</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Mathieu a appelé Info-Santé.</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L'huile a éclaboussé son avant-bras.</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est arrivée à l'urgence.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Remettez le récit dans l'ordre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a mis son bras sous l'eau froide.   </a:t>
            </a:r>
            <a:r>
              <a:rPr sz="1900" b="1" i="0">
                <a:solidFill>
                  <a:srgbClr val="07734A"/>
                </a:solidFill>
                <a:latin typeface="Verdana"/>
              </a:rPr>
              <a:t>» 3</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travaillait en cuisine.   </a:t>
            </a:r>
            <a:r>
              <a:rPr sz="1900" b="1" i="0">
                <a:solidFill>
                  <a:srgbClr val="07734A"/>
                </a:solidFill>
                <a:latin typeface="Verdana"/>
              </a:rPr>
              <a:t>» 1</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Mathieu a appelé Info-Santé.   </a:t>
            </a:r>
            <a:r>
              <a:rPr sz="1900" b="1" i="0">
                <a:solidFill>
                  <a:srgbClr val="07734A"/>
                </a:solidFill>
                <a:latin typeface="Verdana"/>
              </a:rPr>
              <a:t>» 4</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L'huile a éclaboussé son avant-bras.   </a:t>
            </a:r>
            <a:r>
              <a:rPr sz="1900" b="1" i="0">
                <a:solidFill>
                  <a:srgbClr val="07734A"/>
                </a:solidFill>
                <a:latin typeface="Verdana"/>
              </a:rPr>
              <a:t>» 2</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est arrivée à l'urgence.   </a:t>
            </a:r>
            <a:r>
              <a:rPr sz="1900" b="1" i="0">
                <a:solidFill>
                  <a:srgbClr val="07734A"/>
                </a:solidFill>
                <a:latin typeface="Verdana"/>
              </a:rPr>
              <a:t>»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PIÈGE DU RÉCIT TROP COURT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me suis brûlée.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000" b="1" i="0">
                <a:solidFill>
                  <a:srgbClr val="17181A"/>
                </a:solidFill>
                <a:latin typeface="Verdana"/>
              </a:rPr>
              <a:t>Je travaillais en cuisine, l'huile a éclaboussé et je me suis brûlé l'avant-bras droit vers onze heures.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Je me suis brûlée » ne dit ni comment, ni où sur le corps, ni quand. Le médecin devra poser quatre questions. Une phrase préparée d'avance en fait gagner cinq, et personne n'oublie l'essentiel dans la panique.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Racontez l'accident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Quatre phrases : ce que je faisais, ce qui est arrivé, ce que ça m'a fait, ce que j'ai fait.</a:t>
            </a:r>
          </a:p>
        </p:txBody>
      </p:sp>
      <p:sp>
        <p:nvSpPr>
          <p:cNvPr id="8" name="Rounded Rectangle 7"/>
          <p:cNvSpPr/>
          <p:nvPr/>
        </p:nvSpPr>
        <p:spPr>
          <a:xfrm>
            <a:off x="566928" y="2139696"/>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coupure en préparant des légumes</a:t>
            </a:r>
          </a:p>
        </p:txBody>
      </p:sp>
      <p:sp>
        <p:nvSpPr>
          <p:cNvPr id="12" name="Rounded Rectangle 11"/>
          <p:cNvSpPr/>
          <p:nvPr/>
        </p:nvSpPr>
        <p:spPr>
          <a:xfrm>
            <a:off x="566928" y="3254248"/>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40969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chute dans un escalier</a:t>
            </a:r>
          </a:p>
        </p:txBody>
      </p:sp>
      <p:sp>
        <p:nvSpPr>
          <p:cNvPr id="16" name="Rounded Rectangle 15"/>
          <p:cNvSpPr/>
          <p:nvPr/>
        </p:nvSpPr>
        <p:spPr>
          <a:xfrm>
            <a:off x="566928" y="4368800"/>
            <a:ext cx="11057839" cy="1324356"/>
          </a:xfrm>
          <a:prstGeom prst="roundRect">
            <a:avLst>
              <a:gd name="adj" fmla="val 1104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84809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91210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524248"/>
            <a:ext cx="10097719" cy="105003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brûlure avec de l'eau bouillante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Racontez l'accident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coupure en préparant des légumes   </a:t>
            </a:r>
            <a:r>
              <a:rPr sz="1900" b="1" i="0">
                <a:solidFill>
                  <a:srgbClr val="07734A"/>
                </a:solidFill>
                <a:latin typeface="Verdana"/>
              </a:rPr>
              <a:t>» Je préparais des légumes. Le couteau a glissé. Je me suis coupé le doigt. J'ai comprimé avec un linge propre.</a:t>
            </a:r>
          </a:p>
        </p:txBody>
      </p:sp>
      <p:sp>
        <p:nvSpPr>
          <p:cNvPr id="12" name="Rounded Rectangle 11"/>
          <p:cNvSpPr/>
          <p:nvPr/>
        </p:nvSpPr>
        <p:spPr>
          <a:xfrm>
            <a:off x="566928" y="3254248"/>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40969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chute dans un escalier   </a:t>
            </a:r>
            <a:r>
              <a:rPr sz="1900" b="1" i="0">
                <a:solidFill>
                  <a:srgbClr val="07734A"/>
                </a:solidFill>
                <a:latin typeface="Verdana"/>
              </a:rPr>
              <a:t>» Je descendais l'escalier. J'ai glissé sur une marche mouillée. Je me suis tordu la cheville. J'ai mis de la glace.</a:t>
            </a:r>
          </a:p>
        </p:txBody>
      </p:sp>
      <p:sp>
        <p:nvSpPr>
          <p:cNvPr id="16" name="Rounded Rectangle 15"/>
          <p:cNvSpPr/>
          <p:nvPr/>
        </p:nvSpPr>
        <p:spPr>
          <a:xfrm>
            <a:off x="566928" y="4368800"/>
            <a:ext cx="11057839" cy="1324356"/>
          </a:xfrm>
          <a:prstGeom prst="roundRect">
            <a:avLst>
              <a:gd name="adj" fmla="val 11047"/>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84809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91210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524248"/>
            <a:ext cx="10097719" cy="105003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brûlure avec de l'eau bouillante   </a:t>
            </a:r>
            <a:r>
              <a:rPr sz="1900" b="1" i="0">
                <a:solidFill>
                  <a:srgbClr val="07734A"/>
                </a:solidFill>
                <a:latin typeface="Verdana"/>
              </a:rPr>
              <a:t>» Je vidais une casserole. L'eau bouillante a débordé. Je me suis brûlé la main. J'ai mis la main sous l'eau froide quinze minutes.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Racontez en quatre phrases un petit accident qui vous est déjà arrivé.</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Ce que vous faisiez · ce qui est arrivé · ce que ça vous a fait · ce que vous avez fait.</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Si rien ne vous vient, inventez : la structure compte plus que la vérité.</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Une urgence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