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repérage dans les services d'urgence. Demander d'entrée qui a déjà composé le 911, et pourquoi. Les réponses orientent la séance.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Écrire la question au tableau et l'y laisser toute la séance. C'est elle qu'on appliquera à chacune des situations de l'exercice.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sur la deuxième carte : « dans plusieurs langues » est une information que peu de gens connaissent et qui change tout pour un nouvel arrivant.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apprendre ces cinq par cœur. C'est la seule liste du module qui doit être sue sans hésitation.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L'adresse en premier : c'est la seule information qui permet d'envoyer les secours même si l'appel se coupe. Le dire explicitement.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Beaucoup de gens raccrochent dès qu'ils ont donné l'information, croyant libérer la ligne. Corriger cette idée clairement.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revenant chaque fois à la question du début : est-ce que la vie est en danger maintenant ? Ne jamais corriger par l'habitude.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culturel important pour un groupe de nouveaux arrivants, qui viennent parfois de pays où les secours se font payer ou ne viennent pas. Le dire explicitement.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fréquente et légitime. Répondre honnêtement — oui, c'est facturé — puis expliquer pourquoi cela ne change pas la décision.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donner la raison avant le numéro. C'est le raisonnement qu'on évalue, pas la mémoire.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jouer la scène à deux, debout, avec un téléphone dans la main. La position debout change la voix et le rythme : c'est voulu.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Vérifier que chacun sait dire son adresse complète en français, avec le numéro d'appartement. Beaucoup ne l'ont jamais dit à voix haute.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A3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911, 811 ou clinique ?</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Trois numéros, trois usages, et une seule question pour choisir : est-ce que la vie est en danger maintenant ? Tout le reste en découle.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Une urgence au travail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quand composer le 911 et quand ne pas le faire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ce que fait le 811 et à quoi il sert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signes qui ne peuvent pas attendre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au téléphone les informations qu'on va vous demander.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LA QUESTION QUI DÉCIDE</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Est-ce que la vie est en danger maintenant ?</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Si oui : le 911, sans hésiter et sans se demander si on dérange. Si non, mais qu'on ne sait pas quoi faire : le 811. Si non, et qu'il faut voir quelqu'un aujourd'hui : la clinique ou l'urgence.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numéros, trois usages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57124"/>
          </a:xfrm>
          <a:prstGeom prst="rect">
            <a:avLst/>
          </a:prstGeom>
          <a:noFill/>
        </p:spPr>
        <p:txBody>
          <a:bodyPr wrap="square" lIns="0" rIns="0" tIns="0" bIns="0" anchor="t">
            <a:spAutoFit/>
          </a:bodyPr>
          <a:lstStyle/>
          <a:p>
            <a:pPr algn="l">
              <a:lnSpc>
                <a:spcPct val="118000"/>
              </a:lnSpc>
            </a:pPr>
            <a:r>
              <a:rPr sz="2200" b="1" i="0">
                <a:solidFill>
                  <a:srgbClr val="1D6B8F"/>
                </a:solidFill>
                <a:latin typeface="Verdana"/>
              </a:rPr>
              <a:t>Le 911 · la vie en danger</a:t>
            </a:r>
          </a:p>
        </p:txBody>
      </p:sp>
      <p:sp>
        <p:nvSpPr>
          <p:cNvPr id="9" name="TextBox 8"/>
          <p:cNvSpPr txBox="1"/>
          <p:nvPr/>
        </p:nvSpPr>
        <p:spPr>
          <a:xfrm>
            <a:off x="886968" y="2469388"/>
            <a:ext cx="4806543" cy="111963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Une personne ne respire plus, a perdu connaissance, saigne abondamment, ou a une douleur à la poitrine. On répond en quelques secondes et une ambulance part si nécessaire.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57124"/>
          </a:xfrm>
          <a:prstGeom prst="rect">
            <a:avLst/>
          </a:prstGeom>
          <a:noFill/>
        </p:spPr>
        <p:txBody>
          <a:bodyPr wrap="square" lIns="0" rIns="0" tIns="0" bIns="0" anchor="t">
            <a:spAutoFit/>
          </a:bodyPr>
          <a:lstStyle/>
          <a:p>
            <a:pPr algn="l">
              <a:lnSpc>
                <a:spcPct val="118000"/>
              </a:lnSpc>
            </a:pPr>
            <a:r>
              <a:rPr sz="2200" b="1" i="0">
                <a:solidFill>
                  <a:srgbClr val="1D6B8F"/>
                </a:solidFill>
                <a:latin typeface="Verdana"/>
              </a:rPr>
              <a:t>Le 811 · Info-Santé</a:t>
            </a:r>
          </a:p>
        </p:txBody>
      </p:sp>
      <p:sp>
        <p:nvSpPr>
          <p:cNvPr id="12" name="TextBox 11"/>
          <p:cNvSpPr txBox="1"/>
          <p:nvPr/>
        </p:nvSpPr>
        <p:spPr>
          <a:xfrm>
            <a:off x="6498183" y="2469388"/>
            <a:ext cx="4806543" cy="111963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Une infirmière répond jour et nuit, gratuitement, dans plusieurs langues. Elle dit quoi faire et vers quel service aller. C'est le numéro du doute.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57124"/>
          </a:xfrm>
          <a:prstGeom prst="rect">
            <a:avLst/>
          </a:prstGeom>
          <a:noFill/>
        </p:spPr>
        <p:txBody>
          <a:bodyPr wrap="square" lIns="0" rIns="0" tIns="0" bIns="0" anchor="t">
            <a:spAutoFit/>
          </a:bodyPr>
          <a:lstStyle/>
          <a:p>
            <a:pPr algn="l">
              <a:lnSpc>
                <a:spcPct val="118000"/>
              </a:lnSpc>
            </a:pPr>
            <a:r>
              <a:rPr sz="2200" b="1" i="0">
                <a:solidFill>
                  <a:srgbClr val="1D6B8F"/>
                </a:solidFill>
                <a:latin typeface="Verdana"/>
              </a:rPr>
              <a:t>La clinique sans rendez-vous</a:t>
            </a:r>
          </a:p>
        </p:txBody>
      </p:sp>
      <p:sp>
        <p:nvSpPr>
          <p:cNvPr id="15" name="TextBox 14"/>
          <p:cNvSpPr txBox="1"/>
          <p:nvPr/>
        </p:nvSpPr>
        <p:spPr>
          <a:xfrm>
            <a:off x="886968" y="4686808"/>
            <a:ext cx="4806543" cy="111963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Pour ce qui doit être vu aujourd'hui sans être dangereux : une coupure, une brûlure légère, une fièvre qui dure.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57124"/>
          </a:xfrm>
          <a:prstGeom prst="rect">
            <a:avLst/>
          </a:prstGeom>
          <a:noFill/>
        </p:spPr>
        <p:txBody>
          <a:bodyPr wrap="square" lIns="0" rIns="0" tIns="0" bIns="0" anchor="t">
            <a:spAutoFit/>
          </a:bodyPr>
          <a:lstStyle/>
          <a:p>
            <a:pPr algn="l">
              <a:lnSpc>
                <a:spcPct val="118000"/>
              </a:lnSpc>
            </a:pPr>
            <a:r>
              <a:rPr sz="2200" b="1" i="0">
                <a:solidFill>
                  <a:srgbClr val="1D6B8F"/>
                </a:solidFill>
                <a:latin typeface="Verdana"/>
              </a:rPr>
              <a:t>L'urgence de l'hôpital</a:t>
            </a:r>
          </a:p>
        </p:txBody>
      </p:sp>
      <p:sp>
        <p:nvSpPr>
          <p:cNvPr id="18" name="TextBox 17"/>
          <p:cNvSpPr txBox="1"/>
          <p:nvPr/>
        </p:nvSpPr>
        <p:spPr>
          <a:xfrm>
            <a:off x="6498183" y="4686808"/>
            <a:ext cx="4806543" cy="111963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Pour ce qui est sérieux sans mettre la vie en danger immédiatement : une brûlure avec cloques, une plaie profonde, une fracture possible.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Cinq signes qui appellent le 911</a:t>
            </a:r>
          </a:p>
        </p:txBody>
      </p:sp>
      <p:sp>
        <p:nvSpPr>
          <p:cNvPr id="7" name="Rounded Rectangle 6"/>
          <p:cNvSpPr/>
          <p:nvPr/>
        </p:nvSpPr>
        <p:spPr>
          <a:xfrm>
            <a:off x="566928" y="1810512"/>
            <a:ext cx="11057839" cy="3002280"/>
          </a:xfrm>
          <a:prstGeom prst="roundRect">
            <a:avLst>
              <a:gd name="adj" fmla="val 48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SIGNE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POURQUOI</a:t>
            </a:r>
          </a:p>
        </p:txBody>
      </p:sp>
      <p:sp>
        <p:nvSpPr>
          <p:cNvPr id="10" name="TextBox 9"/>
          <p:cNvSpPr txBox="1"/>
          <p:nvPr/>
        </p:nvSpPr>
        <p:spPr>
          <a:xfrm>
            <a:off x="932688" y="2395728"/>
            <a:ext cx="3291492" cy="271271"/>
          </a:xfrm>
          <a:prstGeom prst="rect">
            <a:avLst/>
          </a:prstGeom>
          <a:noFill/>
        </p:spPr>
        <p:txBody>
          <a:bodyPr wrap="square" lIns="0" rIns="0" tIns="0" bIns="0" anchor="t">
            <a:spAutoFit/>
          </a:bodyPr>
          <a:lstStyle/>
          <a:p>
            <a:pPr algn="l">
              <a:lnSpc>
                <a:spcPct val="132000"/>
              </a:lnSpc>
            </a:pPr>
            <a:r>
              <a:rPr sz="1400" b="1" i="0">
                <a:solidFill>
                  <a:srgbClr val="1D6B8F"/>
                </a:solidFill>
                <a:latin typeface="Verdana"/>
              </a:rPr>
              <a:t>la personne ne respire plus</a:t>
            </a:r>
          </a:p>
        </p:txBody>
      </p:sp>
      <p:sp>
        <p:nvSpPr>
          <p:cNvPr id="11" name="TextBox 10"/>
          <p:cNvSpPr txBox="1"/>
          <p:nvPr/>
        </p:nvSpPr>
        <p:spPr>
          <a:xfrm>
            <a:off x="4443636" y="2395728"/>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quelques minutes suffisent</a:t>
            </a:r>
          </a:p>
        </p:txBody>
      </p:sp>
      <p:sp>
        <p:nvSpPr>
          <p:cNvPr id="12" name="Rectangle 11"/>
          <p:cNvSpPr/>
          <p:nvPr/>
        </p:nvSpPr>
        <p:spPr>
          <a:xfrm>
            <a:off x="932688" y="27401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868168"/>
            <a:ext cx="3291492" cy="271271"/>
          </a:xfrm>
          <a:prstGeom prst="rect">
            <a:avLst/>
          </a:prstGeom>
          <a:noFill/>
        </p:spPr>
        <p:txBody>
          <a:bodyPr wrap="square" lIns="0" rIns="0" tIns="0" bIns="0" anchor="t">
            <a:spAutoFit/>
          </a:bodyPr>
          <a:lstStyle/>
          <a:p>
            <a:pPr algn="l">
              <a:lnSpc>
                <a:spcPct val="132000"/>
              </a:lnSpc>
            </a:pPr>
            <a:r>
              <a:rPr sz="1400" b="1" i="0">
                <a:solidFill>
                  <a:srgbClr val="1D6B8F"/>
                </a:solidFill>
                <a:latin typeface="Verdana"/>
              </a:rPr>
              <a:t>elle a perdu connaissance</a:t>
            </a:r>
          </a:p>
        </p:txBody>
      </p:sp>
      <p:sp>
        <p:nvSpPr>
          <p:cNvPr id="14" name="TextBox 13"/>
          <p:cNvSpPr txBox="1"/>
          <p:nvPr/>
        </p:nvSpPr>
        <p:spPr>
          <a:xfrm>
            <a:off x="4443636" y="2868168"/>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la cause est inconnue</a:t>
            </a:r>
          </a:p>
        </p:txBody>
      </p:sp>
      <p:sp>
        <p:nvSpPr>
          <p:cNvPr id="15" name="Rectangle 14"/>
          <p:cNvSpPr/>
          <p:nvPr/>
        </p:nvSpPr>
        <p:spPr>
          <a:xfrm>
            <a:off x="932688" y="32125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340608"/>
            <a:ext cx="3291492" cy="271271"/>
          </a:xfrm>
          <a:prstGeom prst="rect">
            <a:avLst/>
          </a:prstGeom>
          <a:noFill/>
        </p:spPr>
        <p:txBody>
          <a:bodyPr wrap="square" lIns="0" rIns="0" tIns="0" bIns="0" anchor="t">
            <a:spAutoFit/>
          </a:bodyPr>
          <a:lstStyle/>
          <a:p>
            <a:pPr algn="l">
              <a:lnSpc>
                <a:spcPct val="132000"/>
              </a:lnSpc>
            </a:pPr>
            <a:r>
              <a:rPr sz="1400" b="1" i="0">
                <a:solidFill>
                  <a:srgbClr val="1D6B8F"/>
                </a:solidFill>
                <a:latin typeface="Verdana"/>
              </a:rPr>
              <a:t>douleur à la poitrine et au bras</a:t>
            </a:r>
          </a:p>
        </p:txBody>
      </p:sp>
      <p:sp>
        <p:nvSpPr>
          <p:cNvPr id="17" name="TextBox 16"/>
          <p:cNvSpPr txBox="1"/>
          <p:nvPr/>
        </p:nvSpPr>
        <p:spPr>
          <a:xfrm>
            <a:off x="4443636" y="3340608"/>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le cœur peut être en cause</a:t>
            </a:r>
          </a:p>
        </p:txBody>
      </p:sp>
      <p:sp>
        <p:nvSpPr>
          <p:cNvPr id="18" name="Rectangle 17"/>
          <p:cNvSpPr/>
          <p:nvPr/>
        </p:nvSpPr>
        <p:spPr>
          <a:xfrm>
            <a:off x="932688" y="368503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813047"/>
            <a:ext cx="3291492" cy="271271"/>
          </a:xfrm>
          <a:prstGeom prst="rect">
            <a:avLst/>
          </a:prstGeom>
          <a:noFill/>
        </p:spPr>
        <p:txBody>
          <a:bodyPr wrap="square" lIns="0" rIns="0" tIns="0" bIns="0" anchor="t">
            <a:spAutoFit/>
          </a:bodyPr>
          <a:lstStyle/>
          <a:p>
            <a:pPr algn="l">
              <a:lnSpc>
                <a:spcPct val="132000"/>
              </a:lnSpc>
            </a:pPr>
            <a:r>
              <a:rPr sz="1400" b="1" i="0">
                <a:solidFill>
                  <a:srgbClr val="1D6B8F"/>
                </a:solidFill>
                <a:latin typeface="Verdana"/>
              </a:rPr>
              <a:t>saignement qu'on n'arrête pas</a:t>
            </a:r>
          </a:p>
        </p:txBody>
      </p:sp>
      <p:sp>
        <p:nvSpPr>
          <p:cNvPr id="20" name="TextBox 19"/>
          <p:cNvSpPr txBox="1"/>
          <p:nvPr/>
        </p:nvSpPr>
        <p:spPr>
          <a:xfrm>
            <a:off x="4443636" y="3813047"/>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la perte de sang s'accélère</a:t>
            </a:r>
          </a:p>
        </p:txBody>
      </p:sp>
      <p:sp>
        <p:nvSpPr>
          <p:cNvPr id="21" name="Rectangle 20"/>
          <p:cNvSpPr/>
          <p:nvPr/>
        </p:nvSpPr>
        <p:spPr>
          <a:xfrm>
            <a:off x="932688" y="415747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285487"/>
            <a:ext cx="3291492" cy="271271"/>
          </a:xfrm>
          <a:prstGeom prst="rect">
            <a:avLst/>
          </a:prstGeom>
          <a:noFill/>
        </p:spPr>
        <p:txBody>
          <a:bodyPr wrap="square" lIns="0" rIns="0" tIns="0" bIns="0" anchor="t">
            <a:spAutoFit/>
          </a:bodyPr>
          <a:lstStyle/>
          <a:p>
            <a:pPr algn="l">
              <a:lnSpc>
                <a:spcPct val="132000"/>
              </a:lnSpc>
            </a:pPr>
            <a:r>
              <a:rPr sz="1400" b="1" i="0">
                <a:solidFill>
                  <a:srgbClr val="1D6B8F"/>
                </a:solidFill>
                <a:latin typeface="Verdana"/>
              </a:rPr>
              <a:t>brûlure blanche ou très étendue</a:t>
            </a:r>
          </a:p>
        </p:txBody>
      </p:sp>
      <p:sp>
        <p:nvSpPr>
          <p:cNvPr id="23" name="TextBox 22"/>
          <p:cNvSpPr txBox="1"/>
          <p:nvPr/>
        </p:nvSpPr>
        <p:spPr>
          <a:xfrm>
            <a:off x="4443636" y="4285487"/>
            <a:ext cx="6595914" cy="271271"/>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les tissus sont détruits</a:t>
            </a:r>
          </a:p>
        </p:txBody>
      </p:sp>
      <p:sp>
        <p:nvSpPr>
          <p:cNvPr id="24" name="Rounded Rectangle 23"/>
          <p:cNvSpPr/>
          <p:nvPr/>
        </p:nvSpPr>
        <p:spPr>
          <a:xfrm>
            <a:off x="566928" y="505053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30656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Ces cinq signes ne se discutent pas. On compose le 911, même en pleine nuit, même si on n'est pas certain.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vous demandera au téléphone</a:t>
            </a:r>
          </a:p>
        </p:txBody>
      </p:sp>
      <p:sp>
        <p:nvSpPr>
          <p:cNvPr id="7" name="Rounded Rectangle 6"/>
          <p:cNvSpPr/>
          <p:nvPr/>
        </p:nvSpPr>
        <p:spPr>
          <a:xfrm>
            <a:off x="566928" y="1810512"/>
            <a:ext cx="11057839" cy="3941064"/>
          </a:xfrm>
          <a:prstGeom prst="roundRect">
            <a:avLst>
              <a:gd name="adj" fmla="val 371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QUESTION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VOTRE RÉPONSE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Où êtes-vous ?</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l'adresse, l'étage, comment entrer</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Qu'est-ce qui s'est passé ?</a:t>
            </a:r>
          </a:p>
        </p:txBody>
      </p:sp>
      <p:sp>
        <p:nvSpPr>
          <p:cNvPr id="14" name="TextBox 13"/>
          <p:cNvSpPr txBox="1"/>
          <p:nvPr/>
        </p:nvSpPr>
        <p:spPr>
          <a:xfrm>
            <a:off x="4443636" y="2935224"/>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en une phrase, au passé</a:t>
            </a:r>
          </a:p>
        </p:txBody>
      </p:sp>
      <p:sp>
        <p:nvSpPr>
          <p:cNvPr id="15" name="Rectangle 14"/>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76472"/>
            <a:ext cx="3291492"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La personne est-elle consciente ?</a:t>
            </a:r>
          </a:p>
        </p:txBody>
      </p:sp>
      <p:sp>
        <p:nvSpPr>
          <p:cNvPr id="17" name="TextBox 16"/>
          <p:cNvSpPr txBox="1"/>
          <p:nvPr/>
        </p:nvSpPr>
        <p:spPr>
          <a:xfrm>
            <a:off x="4443636" y="3776472"/>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oui ou non</a:t>
            </a:r>
          </a:p>
        </p:txBody>
      </p:sp>
      <p:sp>
        <p:nvSpPr>
          <p:cNvPr id="18" name="Rectangle 17"/>
          <p:cNvSpPr/>
          <p:nvPr/>
        </p:nvSpPr>
        <p:spPr>
          <a:xfrm>
            <a:off x="932688" y="4489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617720"/>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Respire-t-elle ?</a:t>
            </a:r>
          </a:p>
        </p:txBody>
      </p:sp>
      <p:sp>
        <p:nvSpPr>
          <p:cNvPr id="20" name="TextBox 19"/>
          <p:cNvSpPr txBox="1"/>
          <p:nvPr/>
        </p:nvSpPr>
        <p:spPr>
          <a:xfrm>
            <a:off x="4443636" y="4617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oui ou non</a:t>
            </a:r>
          </a:p>
        </p:txBody>
      </p:sp>
      <p:sp>
        <p:nvSpPr>
          <p:cNvPr id="21" name="Rectangle 20"/>
          <p:cNvSpPr/>
          <p:nvPr/>
        </p:nvSpPr>
        <p:spPr>
          <a:xfrm>
            <a:off x="932688" y="5029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157216"/>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Quel est votre numéro ?</a:t>
            </a:r>
          </a:p>
        </p:txBody>
      </p:sp>
      <p:sp>
        <p:nvSpPr>
          <p:cNvPr id="23" name="TextBox 22"/>
          <p:cNvSpPr txBox="1"/>
          <p:nvPr/>
        </p:nvSpPr>
        <p:spPr>
          <a:xfrm>
            <a:off x="4443636" y="5157216"/>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pour qu'on vous rappelle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LA RÈGLE DU TÉLÉPHONE</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L'adresse d'abord. Ne raccrochez jamais avant qu'on vous le dise.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personne au bout du fil vous guidera : elle peut vous dire comment comprimer une plaie ou comment placer quelqu'un qui a perdu connaissance. Rester en ligne fait partie des premiers soins.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911 ou 811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Le 911 est réservé aux cas où la vie est en danger.</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personne ne respire plus.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enfant a une petite coupure au doigt et vous hésitez sur les soins.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homme a une douleur forte à la poitrine et au bras gauche.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vous demandez si une fièvre de 38 degrés est inquiétante.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personne a perdu connaissance et ne répond pas.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voulez savoir quoi faire pour une brûlure avec des cloques.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911 ou 811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personne ne respire plus.   </a:t>
            </a:r>
            <a:r>
              <a:rPr sz="1400" b="1" i="0">
                <a:solidFill>
                  <a:srgbClr val="07734A"/>
                </a:solidFill>
                <a:latin typeface="Verdana"/>
              </a:rPr>
              <a:t>» 911</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enfant a une petite coupure au doigt et vous hésitez sur les soins.   </a:t>
            </a:r>
            <a:r>
              <a:rPr sz="1400" b="1" i="0">
                <a:solidFill>
                  <a:srgbClr val="07734A"/>
                </a:solidFill>
                <a:latin typeface="Verdana"/>
              </a:rPr>
              <a:t>» 811</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homme a une douleur forte à la poitrine et au bras gauche.   </a:t>
            </a:r>
            <a:r>
              <a:rPr sz="1400" b="1" i="0">
                <a:solidFill>
                  <a:srgbClr val="07734A"/>
                </a:solidFill>
                <a:latin typeface="Verdana"/>
              </a:rPr>
              <a:t>» 911</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vous demandez si une fièvre de 38 degrés est inquiétante.   </a:t>
            </a:r>
            <a:r>
              <a:rPr sz="1400" b="1" i="0">
                <a:solidFill>
                  <a:srgbClr val="07734A"/>
                </a:solidFill>
                <a:latin typeface="Verdana"/>
              </a:rPr>
              <a:t>» 811</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personne a perdu connaissance et ne répond pas.   </a:t>
            </a:r>
            <a:r>
              <a:rPr sz="1400" b="1" i="0">
                <a:solidFill>
                  <a:srgbClr val="07734A"/>
                </a:solidFill>
                <a:latin typeface="Verdana"/>
              </a:rPr>
              <a:t>» 911</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voulez savoir quoi faire pour une brûlure avec des cloques.   </a:t>
            </a:r>
            <a:r>
              <a:rPr sz="1400" b="1" i="0">
                <a:solidFill>
                  <a:srgbClr val="07734A"/>
                </a:solidFill>
                <a:latin typeface="Verdana"/>
              </a:rPr>
              <a:t>» 811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PIÈGE DE LA PEUR DE DÉRANGER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ne veux pas appeler le 911 pour rien.</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Si la vie peut être en danger, on appelle.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Les répartiteurs préfèrent cent appels inutiles à un appel qui n'a pas été fait. Personne ne vous reprochera d'avoir appelé, et le service est gratuit. Hésiter coûte des minutes qui ne se rattrapent pas.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PIÈGE DE L'AMBULANCE PAYANTE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L'ambulance coûte cher, on va y aller en auto.</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Si c'est un cas de 911, on appelle l'ambulance.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transport en ambulance est facturé au Québec, c'est vrai. Mais les soins commencent dans le véhicule, et une personne qui perd connaissance en auto n'a personne pour l'aider. Le coût ne doit jamais entrer dans la décision quand la vie est en jeu.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service, et pourquoi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Nommez le service et donnez la raison en une phrase.</a:t>
            </a:r>
          </a:p>
        </p:txBody>
      </p:sp>
      <p:sp>
        <p:nvSpPr>
          <p:cNvPr id="8" name="Rounded Rectangle 7"/>
          <p:cNvSpPr/>
          <p:nvPr/>
        </p:nvSpPr>
        <p:spPr>
          <a:xfrm>
            <a:off x="566928" y="2139696"/>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3230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9631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Votre collègue s'est brûlé le bras, il y a des cloques.</a:t>
            </a:r>
          </a:p>
        </p:txBody>
      </p:sp>
      <p:sp>
        <p:nvSpPr>
          <p:cNvPr id="12" name="Rounded Rectangle 11"/>
          <p:cNvSpPr/>
          <p:nvPr/>
        </p:nvSpPr>
        <p:spPr>
          <a:xfrm>
            <a:off x="566928" y="3218688"/>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51129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57530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374136"/>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Vous ne savez pas si votre enfant doit voir un médecin.</a:t>
            </a:r>
          </a:p>
        </p:txBody>
      </p:sp>
      <p:sp>
        <p:nvSpPr>
          <p:cNvPr id="16" name="Rounded Rectangle 15"/>
          <p:cNvSpPr/>
          <p:nvPr/>
        </p:nvSpPr>
        <p:spPr>
          <a:xfrm>
            <a:off x="566928" y="4297680"/>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43026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49427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45312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Une personne est tombée et ne se réveille pas.</a:t>
            </a:r>
          </a:p>
        </p:txBody>
      </p:sp>
      <p:sp>
        <p:nvSpPr>
          <p:cNvPr id="20" name="Rounded Rectangle 19"/>
          <p:cNvSpPr/>
          <p:nvPr/>
        </p:nvSpPr>
        <p:spPr>
          <a:xfrm>
            <a:off x="566928" y="5056632"/>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34924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1324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521208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Vous avez une coupure qui a saigné dix minutes puis s'est arrêtée.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service, et pourquoi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3230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9631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Votre collègue s'est brûlé le bras, il y a des cloques.   </a:t>
            </a:r>
            <a:r>
              <a:rPr sz="1800" b="1" i="0">
                <a:solidFill>
                  <a:srgbClr val="07734A"/>
                </a:solidFill>
                <a:latin typeface="Verdana"/>
              </a:rPr>
              <a:t>» l'urgence — des cloques veulent dire deuxième degré</a:t>
            </a:r>
          </a:p>
        </p:txBody>
      </p:sp>
      <p:sp>
        <p:nvSpPr>
          <p:cNvPr id="12" name="Rounded Rectangle 11"/>
          <p:cNvSpPr/>
          <p:nvPr/>
        </p:nvSpPr>
        <p:spPr>
          <a:xfrm>
            <a:off x="566928" y="3218688"/>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51129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57530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374136"/>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Vous ne savez pas si votre enfant doit voir un médecin.   </a:t>
            </a:r>
            <a:r>
              <a:rPr sz="1800" b="1" i="0">
                <a:solidFill>
                  <a:srgbClr val="07734A"/>
                </a:solidFill>
                <a:latin typeface="Verdana"/>
              </a:rPr>
              <a:t>» le 811 — c'est le numéro du doute</a:t>
            </a:r>
          </a:p>
        </p:txBody>
      </p:sp>
      <p:sp>
        <p:nvSpPr>
          <p:cNvPr id="16" name="Rounded Rectangle 15"/>
          <p:cNvSpPr/>
          <p:nvPr/>
        </p:nvSpPr>
        <p:spPr>
          <a:xfrm>
            <a:off x="566928" y="4297680"/>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43026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49427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45312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Une personne est tombée et ne se réveille pas.   </a:t>
            </a:r>
            <a:r>
              <a:rPr sz="1800" b="1" i="0">
                <a:solidFill>
                  <a:srgbClr val="07734A"/>
                </a:solidFill>
                <a:latin typeface="Verdana"/>
              </a:rPr>
              <a:t>» le 911 — perte de connaissance</a:t>
            </a:r>
          </a:p>
        </p:txBody>
      </p:sp>
      <p:sp>
        <p:nvSpPr>
          <p:cNvPr id="20" name="Rounded Rectangle 19"/>
          <p:cNvSpPr/>
          <p:nvPr/>
        </p:nvSpPr>
        <p:spPr>
          <a:xfrm>
            <a:off x="566928" y="5056632"/>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34924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1324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521208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Vous avez une coupure qui a saigné dix minutes puis s'est arrêtée.   </a:t>
            </a:r>
            <a:r>
              <a:rPr sz="1800" b="1" i="0">
                <a:solidFill>
                  <a:srgbClr val="07734A"/>
                </a:solidFill>
                <a:latin typeface="Verdana"/>
              </a:rPr>
              <a:t>» la clinique sans rendez-vous — aujourd'hui, sans danger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L'appel au 911, en cinq réponses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Un accident vient d'arriver au travail. Répondez au répartiteur.</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êtes-vous ?</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s'est passé ?</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Est-il conscient ?</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qu'il respire ?</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Votre numéro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L'appel au 911, en cinq réponses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êtes-vous ?   </a:t>
            </a:r>
            <a:r>
              <a:rPr sz="1900" b="1" i="0">
                <a:solidFill>
                  <a:srgbClr val="07734A"/>
                </a:solidFill>
                <a:latin typeface="Verdana"/>
              </a:rPr>
              <a:t>» Au 1250, rue Principale, dans la cuisine du restaurant.</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s'est passé ?   </a:t>
            </a:r>
            <a:r>
              <a:rPr sz="1900" b="1" i="0">
                <a:solidFill>
                  <a:srgbClr val="07734A"/>
                </a:solidFill>
                <a:latin typeface="Verdana"/>
              </a:rPr>
              <a:t>» Un collègue est tombé et s'est cogné la tête.</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Est-il conscient ?   </a:t>
            </a:r>
            <a:r>
              <a:rPr sz="1900" b="1" i="0">
                <a:solidFill>
                  <a:srgbClr val="07734A"/>
                </a:solidFill>
                <a:latin typeface="Verdana"/>
              </a:rPr>
              <a:t>» Non, il ne répond pas.</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qu'il respire ?   </a:t>
            </a:r>
            <a:r>
              <a:rPr sz="1900" b="1" i="0">
                <a:solidFill>
                  <a:srgbClr val="07734A"/>
                </a:solidFill>
                <a:latin typeface="Verdana"/>
              </a:rPr>
              <a:t>» Oui, je vois sa poitrine bouger.</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Votre numéro ?   </a:t>
            </a:r>
            <a:r>
              <a:rPr sz="1900" b="1" i="0">
                <a:solidFill>
                  <a:srgbClr val="07734A"/>
                </a:solidFill>
                <a:latin typeface="Verdana"/>
              </a:rPr>
              <a:t>» C'est le 514 555-0142.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Une urgence au travail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16</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les deux numéros et, pour chacun, une situation où vous l'utiliseriez.</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 numéro, puis la situation en une phrase.</a:t>
            </a:r>
          </a:p>
        </p:txBody>
      </p:sp>
      <p:sp>
        <p:nvSpPr>
          <p:cNvPr id="10" name="Rounded Rectangle 9"/>
          <p:cNvSpPr/>
          <p:nvPr/>
        </p:nvSpPr>
        <p:spPr>
          <a:xfrm>
            <a:off x="566928" y="4680712"/>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Notez aussi votre adresse complète : c'est la première chose qu'on vous demandera.</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Une urgence au travail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