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module 2. Écrire au tableau : QUINZE MINUTES. C'est le chiffre de la séance, et le seul geste qui compte vraiment.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Prévenir qu'on reviendra à ces objectifs sur le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en grand groupe. Noter les réponses au tableau sans corriger. Plusieurs proposeront la glace, le beurre ou le dentifrice : ce sont précisément les trois erreurs, et on y reviendra.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est le message caché de la séance : on n'a pas à savoir seul si c'est grave. Quelqu'un répond, jour et nuit, gratuitement.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Passer l'audio de « Je découvre » avant d'afficher le texte. Faire remarquer que Mathieu ne pose aucune question avant d'agir : l'eau d'abord, les questions ensuite.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répliques, mais c'est le cœur du module. Écrire au tableau : 911 = la vie en danger. 811 = un conseil.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compter les informations données par Mathieu : l'endroit, la cause, l'aspect de la peau. Trois éléments, et l'infirmière peut décider.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centrale du module. La laisser affichée longtemps. Demander à quelqu'un de compter quinze minutes à voix haute — le groupe comprendra que c'est très long.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le troisième degré : une brûlure profonde ne fait parfois pas mal, parce que les nerfs sont détruits. L'absence de douleur n'est pas rassurante.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prononcer « éclabousser » plusieurs fois : c'est un mot long et rare, mais c'est celui qui raconte exactement l'accident.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que chacun a noté le 811 dans son téléphone avant de sortir. C'est le geste le plus utile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trompe presque tout le monde : les deux numéros sont prononcés dans le dialogue, à quelques secondes d'écart.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Traiter cette diapo avec respect : ces remèdes viennent souvent de la famille de l'élève. Expliquer pourquoi ils nuisent, sans juger ceux qui les emploient.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Si un billet mentionne encore la glace ou le beurre, y revenir individuellement : c'est un savoir de sécurité, pas seulement de langue.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Une brûlure en cuisine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En pleine heure de pointe, de l'huile chaude éclabousse l'avant-bras de Fatou. Ce qui se passe dans les quinze minutes suivantes décidera de tout le reste.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urgence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une brûlure et décrire son aspect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le premier geste à faire, et pendant combien de temps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qu'il ne faut jamais faire sur une brûlure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911 du 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De l'huile chaude vient de vous éclabousser le bras. Que faites-vous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est votre tout premier geste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Pendant combien de temps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met quelque chose sur la peau ? Quoi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appelle ? Qui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sait de Fatou</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Où elle est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En cuisine, en pleine heure de pointe. L'accident arrive vers onze heures, pendant le service.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Ce qui est arrivé</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L'huile chaude a éclaboussé son avant-bras droit. La peau devient rouge, puis de petites cloques apparaissent.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Qui réagit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Mathieu, son collègue. Il l'amène à l'évier avant de faire quoi que ce soit d'autre.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Qui décide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infirmière d'Info-Santé, au bout du fil. Ce n'est ni Fatou ni Mathieu qui tranche : c'est une professionnelle.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Viens à l'évier, tout de suite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l'enregistrement, diapo masquée. Lisez ensuite.</a:t>
            </a:r>
          </a:p>
        </p:txBody>
      </p:sp>
      <p:sp>
        <p:nvSpPr>
          <p:cNvPr id="8" name="Rounded Rectangle 7"/>
          <p:cNvSpPr/>
          <p:nvPr/>
        </p:nvSpPr>
        <p:spPr>
          <a:xfrm>
            <a:off x="566928" y="2157984"/>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506569"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FATOU</a:t>
            </a:r>
          </a:p>
        </p:txBody>
      </p:sp>
      <p:sp>
        <p:nvSpPr>
          <p:cNvPr id="10" name="TextBox 9"/>
          <p:cNvSpPr txBox="1"/>
          <p:nvPr/>
        </p:nvSpPr>
        <p:spPr>
          <a:xfrm>
            <a:off x="2439257" y="2322576"/>
            <a:ext cx="863686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Mathieu ! L'huile a éclaboussé, je me suis brûlé l'avant-bras.</a:t>
            </a:r>
          </a:p>
        </p:txBody>
      </p:sp>
      <p:sp>
        <p:nvSpPr>
          <p:cNvPr id="11" name="Rounded Rectangle 10"/>
          <p:cNvSpPr/>
          <p:nvPr/>
        </p:nvSpPr>
        <p:spPr>
          <a:xfrm>
            <a:off x="566928" y="2907283"/>
            <a:ext cx="11057839" cy="1004823"/>
          </a:xfrm>
          <a:prstGeom prst="roundRect">
            <a:avLst>
              <a:gd name="adj" fmla="val 14560"/>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506569"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MATHIEU</a:t>
            </a:r>
          </a:p>
        </p:txBody>
      </p:sp>
      <p:sp>
        <p:nvSpPr>
          <p:cNvPr id="13" name="TextBox 12"/>
          <p:cNvSpPr txBox="1"/>
          <p:nvPr/>
        </p:nvSpPr>
        <p:spPr>
          <a:xfrm>
            <a:off x="2439257" y="3071876"/>
            <a:ext cx="863686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 touche à rien. Viens à l'évier, on met ça sous l'eau froide tout de suite.</a:t>
            </a:r>
          </a:p>
        </p:txBody>
      </p:sp>
      <p:sp>
        <p:nvSpPr>
          <p:cNvPr id="14" name="TextBox 13"/>
          <p:cNvSpPr txBox="1"/>
          <p:nvPr/>
        </p:nvSpPr>
        <p:spPr>
          <a:xfrm>
            <a:off x="932688" y="4158995"/>
            <a:ext cx="1506569"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FATOU</a:t>
            </a:r>
          </a:p>
        </p:txBody>
      </p:sp>
      <p:sp>
        <p:nvSpPr>
          <p:cNvPr id="15" name="TextBox 14"/>
          <p:cNvSpPr txBox="1"/>
          <p:nvPr/>
        </p:nvSpPr>
        <p:spPr>
          <a:xfrm>
            <a:off x="2439257" y="4158995"/>
            <a:ext cx="863686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chauffe beaucoup… et la peau devient rouge.</a:t>
            </a:r>
          </a:p>
        </p:txBody>
      </p:sp>
      <p:sp>
        <p:nvSpPr>
          <p:cNvPr id="16" name="Rounded Rectangle 15"/>
          <p:cNvSpPr/>
          <p:nvPr/>
        </p:nvSpPr>
        <p:spPr>
          <a:xfrm>
            <a:off x="566928" y="4743704"/>
            <a:ext cx="11057839" cy="1004823"/>
          </a:xfrm>
          <a:prstGeom prst="roundRect">
            <a:avLst>
              <a:gd name="adj" fmla="val 14560"/>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908296"/>
            <a:ext cx="1506569"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MATHIEU</a:t>
            </a:r>
          </a:p>
        </p:txBody>
      </p:sp>
      <p:sp>
        <p:nvSpPr>
          <p:cNvPr id="18" name="TextBox 17"/>
          <p:cNvSpPr txBox="1"/>
          <p:nvPr/>
        </p:nvSpPr>
        <p:spPr>
          <a:xfrm>
            <a:off x="2439257" y="4908296"/>
            <a:ext cx="863686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laisse couler quinze minutes, c'est ce qu'il faut faire. Pendant ce temps, j'appelle Info-Santé au 811.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pas le 911 ?</a:t>
            </a:r>
          </a:p>
        </p:txBody>
      </p:sp>
      <p:sp>
        <p:nvSpPr>
          <p:cNvPr id="7" name="Rounded Rectangle 6"/>
          <p:cNvSpPr/>
          <p:nvPr/>
        </p:nvSpPr>
        <p:spPr>
          <a:xfrm>
            <a:off x="566928" y="1737360"/>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506569"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FATOU</a:t>
            </a:r>
          </a:p>
        </p:txBody>
      </p:sp>
      <p:sp>
        <p:nvSpPr>
          <p:cNvPr id="9" name="TextBox 8"/>
          <p:cNvSpPr txBox="1"/>
          <p:nvPr/>
        </p:nvSpPr>
        <p:spPr>
          <a:xfrm>
            <a:off x="2439257" y="1901952"/>
            <a:ext cx="863686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Pourquoi pas le 911 ?</a:t>
            </a:r>
          </a:p>
        </p:txBody>
      </p:sp>
      <p:sp>
        <p:nvSpPr>
          <p:cNvPr id="10" name="Rounded Rectangle 9"/>
          <p:cNvSpPr/>
          <p:nvPr/>
        </p:nvSpPr>
        <p:spPr>
          <a:xfrm>
            <a:off x="566928" y="2486659"/>
            <a:ext cx="11057839" cy="1004823"/>
          </a:xfrm>
          <a:prstGeom prst="roundRect">
            <a:avLst>
              <a:gd name="adj" fmla="val 14560"/>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506569"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MATHIEU</a:t>
            </a:r>
          </a:p>
        </p:txBody>
      </p:sp>
      <p:sp>
        <p:nvSpPr>
          <p:cNvPr id="12" name="TextBox 11"/>
          <p:cNvSpPr txBox="1"/>
          <p:nvPr/>
        </p:nvSpPr>
        <p:spPr>
          <a:xfrm>
            <a:off x="2439257" y="2651252"/>
            <a:ext cx="863686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911, c'est quand la vie est en danger. Là, une infirmière va nous dire quoi faire.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Décrivez-moi la brûlure</a:t>
            </a:r>
          </a:p>
        </p:txBody>
      </p:sp>
      <p:sp>
        <p:nvSpPr>
          <p:cNvPr id="7" name="TextBox 6"/>
          <p:cNvSpPr txBox="1"/>
          <p:nvPr/>
        </p:nvSpPr>
        <p:spPr>
          <a:xfrm>
            <a:off x="932688" y="1901952"/>
            <a:ext cx="2138076"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L'INFIRMIÈRE</a:t>
            </a:r>
          </a:p>
        </p:txBody>
      </p:sp>
      <p:sp>
        <p:nvSpPr>
          <p:cNvPr id="8" name="TextBox 7"/>
          <p:cNvSpPr txBox="1"/>
          <p:nvPr/>
        </p:nvSpPr>
        <p:spPr>
          <a:xfrm>
            <a:off x="3070764" y="1901952"/>
            <a:ext cx="800536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Info-Santé, bonjour. Décrivez-moi la brûlure.</a:t>
            </a:r>
          </a:p>
        </p:txBody>
      </p:sp>
      <p:sp>
        <p:nvSpPr>
          <p:cNvPr id="9" name="Rounded Rectangle 8"/>
          <p:cNvSpPr/>
          <p:nvPr/>
        </p:nvSpPr>
        <p:spPr>
          <a:xfrm>
            <a:off x="566928" y="2486659"/>
            <a:ext cx="11057839" cy="1004823"/>
          </a:xfrm>
          <a:prstGeom prst="roundRect">
            <a:avLst>
              <a:gd name="adj" fmla="val 14560"/>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651252"/>
            <a:ext cx="2138076"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MATHIEU</a:t>
            </a:r>
          </a:p>
        </p:txBody>
      </p:sp>
      <p:sp>
        <p:nvSpPr>
          <p:cNvPr id="11" name="TextBox 10"/>
          <p:cNvSpPr txBox="1"/>
          <p:nvPr/>
        </p:nvSpPr>
        <p:spPr>
          <a:xfrm>
            <a:off x="3070764" y="2651252"/>
            <a:ext cx="8005362"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brûlure à l'avant-bras avec de l'huile chaude. La peau est rouge et il y a de petites cloques.</a:t>
            </a:r>
          </a:p>
        </p:txBody>
      </p:sp>
      <p:sp>
        <p:nvSpPr>
          <p:cNvPr id="12" name="Rounded Rectangle 11"/>
          <p:cNvSpPr/>
          <p:nvPr/>
        </p:nvSpPr>
        <p:spPr>
          <a:xfrm>
            <a:off x="566928" y="3573780"/>
            <a:ext cx="11057839" cy="1342644"/>
          </a:xfrm>
          <a:prstGeom prst="roundRect">
            <a:avLst>
              <a:gd name="adj" fmla="val 10896"/>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738371"/>
            <a:ext cx="2138076" cy="1068324"/>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L'INFIRMIÈRE</a:t>
            </a:r>
          </a:p>
        </p:txBody>
      </p:sp>
      <p:sp>
        <p:nvSpPr>
          <p:cNvPr id="14" name="TextBox 13"/>
          <p:cNvSpPr txBox="1"/>
          <p:nvPr/>
        </p:nvSpPr>
        <p:spPr>
          <a:xfrm>
            <a:off x="3070764" y="3738371"/>
            <a:ext cx="8005362"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cloques, c'est une brûlure du deuxième degré. Continuez l'eau froide, ne percez rien, et rendez-vous à l'urgence aujourd'hui.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PREMIER GESTE</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De l'eau fraîche qui coule, pendant quinze minutes, tout de suite.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Pas de glace, pas de beurre, pas de dentifrice, pas de pommade. Rien d'autre que de l'eau qui coule. Et quinze minutes, montre en main : trois minutes ne suffisent pas.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degrés d'une brûlure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DEGRÉ</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VOIT</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QUOI FAIRE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premier</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peau est rouge</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eau fraîche, surveiller</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deuxième</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 cloques apparaissent</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eau fraîche, puis consulter</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troisième</a:t>
            </a:r>
          </a:p>
        </p:txBody>
      </p:sp>
      <p:sp>
        <p:nvSpPr>
          <p:cNvPr id="20" name="TextBox 19"/>
          <p:cNvSpPr txBox="1"/>
          <p:nvPr/>
        </p:nvSpPr>
        <p:spPr>
          <a:xfrm>
            <a:off x="4374794" y="3474720"/>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peau est blanche ou noire</a:t>
            </a:r>
          </a:p>
        </p:txBody>
      </p:sp>
      <p:sp>
        <p:nvSpPr>
          <p:cNvPr id="21" name="TextBox 20"/>
          <p:cNvSpPr txBox="1"/>
          <p:nvPr/>
        </p:nvSpPr>
        <p:spPr>
          <a:xfrm>
            <a:off x="7816900" y="3474720"/>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911, sans attendre</a:t>
            </a:r>
          </a:p>
        </p:txBody>
      </p:sp>
      <p:sp>
        <p:nvSpPr>
          <p:cNvPr id="22" name="Rounded Rectangle 21"/>
          <p:cNvSpPr/>
          <p:nvPr/>
        </p:nvSpPr>
        <p:spPr>
          <a:xfrm>
            <a:off x="566928" y="4608576"/>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864608"/>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cloques sont la limite : dès qu'il y en a, on consulte le jour même.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blessure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69395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brûlure</a:t>
            </a:r>
          </a:p>
        </p:txBody>
      </p:sp>
      <p:sp>
        <p:nvSpPr>
          <p:cNvPr id="9" name="TextBox 8"/>
          <p:cNvSpPr txBox="1"/>
          <p:nvPr/>
        </p:nvSpPr>
        <p:spPr>
          <a:xfrm>
            <a:off x="3900963" y="2121408"/>
            <a:ext cx="7358043" cy="437387"/>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blessure causée par la chaleur, le feu ou un liquide chaud.</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69395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cloque</a:t>
            </a:r>
          </a:p>
        </p:txBody>
      </p:sp>
      <p:sp>
        <p:nvSpPr>
          <p:cNvPr id="12" name="TextBox 11"/>
          <p:cNvSpPr txBox="1"/>
          <p:nvPr/>
        </p:nvSpPr>
        <p:spPr>
          <a:xfrm>
            <a:off x="3900963" y="2778252"/>
            <a:ext cx="735804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petite poche de liquide sur la peau brûlée.</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69395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plaie</a:t>
            </a:r>
          </a:p>
        </p:txBody>
      </p:sp>
      <p:sp>
        <p:nvSpPr>
          <p:cNvPr id="15" name="TextBox 14"/>
          <p:cNvSpPr txBox="1"/>
          <p:nvPr/>
        </p:nvSpPr>
        <p:spPr>
          <a:xfrm>
            <a:off x="3900963" y="3435096"/>
            <a:ext cx="735804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blessure ouverte sur la peau.</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69395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deuxième degré</a:t>
            </a:r>
          </a:p>
        </p:txBody>
      </p:sp>
      <p:sp>
        <p:nvSpPr>
          <p:cNvPr id="18" name="TextBox 17"/>
          <p:cNvSpPr txBox="1"/>
          <p:nvPr/>
        </p:nvSpPr>
        <p:spPr>
          <a:xfrm>
            <a:off x="3900963" y="4091939"/>
            <a:ext cx="735804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niveau d'une brûlure avec des cloques.</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69395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cicatrice</a:t>
            </a:r>
          </a:p>
        </p:txBody>
      </p:sp>
      <p:sp>
        <p:nvSpPr>
          <p:cNvPr id="21" name="TextBox 20"/>
          <p:cNvSpPr txBox="1"/>
          <p:nvPr/>
        </p:nvSpPr>
        <p:spPr>
          <a:xfrm>
            <a:off x="3900963" y="4748784"/>
            <a:ext cx="735804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marque qui reste sur la peau après une blessure.</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69395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éclabousser</a:t>
            </a:r>
          </a:p>
        </p:txBody>
      </p:sp>
      <p:sp>
        <p:nvSpPr>
          <p:cNvPr id="24" name="TextBox 23"/>
          <p:cNvSpPr txBox="1"/>
          <p:nvPr/>
        </p:nvSpPr>
        <p:spPr>
          <a:xfrm>
            <a:off x="3900963" y="5405628"/>
            <a:ext cx="735804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Projeter un liquide en gouttes.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soins et les services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991897"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Info-Santé</a:t>
            </a:r>
          </a:p>
        </p:txBody>
      </p:sp>
      <p:sp>
        <p:nvSpPr>
          <p:cNvPr id="9" name="TextBox 8"/>
          <p:cNvSpPr txBox="1"/>
          <p:nvPr/>
        </p:nvSpPr>
        <p:spPr>
          <a:xfrm>
            <a:off x="4198905" y="2121408"/>
            <a:ext cx="7060101"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ligne téléphonique, le 811, où une infirmière conseille.</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991897"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l'urgence</a:t>
            </a:r>
          </a:p>
        </p:txBody>
      </p:sp>
      <p:sp>
        <p:nvSpPr>
          <p:cNvPr id="12" name="TextBox 11"/>
          <p:cNvSpPr txBox="1"/>
          <p:nvPr/>
        </p:nvSpPr>
        <p:spPr>
          <a:xfrm>
            <a:off x="4198905" y="2778252"/>
            <a:ext cx="7060101" cy="437387"/>
          </a:xfrm>
          <a:prstGeom prst="rect">
            <a:avLst/>
          </a:prstGeom>
          <a:noFill/>
        </p:spPr>
        <p:txBody>
          <a:bodyPr wrap="square" lIns="0" rIns="0" tIns="0" bIns="0" anchor="t">
            <a:spAutoFit/>
          </a:bodyPr>
          <a:lstStyle/>
          <a:p>
            <a:pPr algn="l">
              <a:lnSpc>
                <a:spcPct val="135000"/>
              </a:lnSpc>
            </a:pPr>
            <a:r>
              <a:rPr sz="1600" b="0" i="0">
                <a:solidFill>
                  <a:srgbClr val="4B4F52"/>
                </a:solidFill>
                <a:latin typeface="Verdana"/>
              </a:rPr>
              <a:t>Le service de l'hôpital pour les cas qui ne peuvent pas attendre.</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991897"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pansement</a:t>
            </a:r>
          </a:p>
        </p:txBody>
      </p:sp>
      <p:sp>
        <p:nvSpPr>
          <p:cNvPr id="15" name="TextBox 14"/>
          <p:cNvSpPr txBox="1"/>
          <p:nvPr/>
        </p:nvSpPr>
        <p:spPr>
          <a:xfrm>
            <a:off x="4198905" y="3435096"/>
            <a:ext cx="7060101"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pose sur une plaie pour la protéger.</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991897"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désinfecter</a:t>
            </a:r>
          </a:p>
        </p:txBody>
      </p:sp>
      <p:sp>
        <p:nvSpPr>
          <p:cNvPr id="18" name="TextBox 17"/>
          <p:cNvSpPr txBox="1"/>
          <p:nvPr/>
        </p:nvSpPr>
        <p:spPr>
          <a:xfrm>
            <a:off x="4198905" y="4091939"/>
            <a:ext cx="7060101"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Nettoyer pour éliminer les microbes.</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991897"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congé de maladie</a:t>
            </a:r>
          </a:p>
        </p:txBody>
      </p:sp>
      <p:sp>
        <p:nvSpPr>
          <p:cNvPr id="21" name="TextBox 20"/>
          <p:cNvSpPr txBox="1"/>
          <p:nvPr/>
        </p:nvSpPr>
        <p:spPr>
          <a:xfrm>
            <a:off x="4198905" y="4748784"/>
            <a:ext cx="7060101" cy="437387"/>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Des jours autorisés pour ne pas travailler quand on est blessé.</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991897"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salle d'attente</a:t>
            </a:r>
          </a:p>
        </p:txBody>
      </p:sp>
      <p:sp>
        <p:nvSpPr>
          <p:cNvPr id="24" name="TextBox 23"/>
          <p:cNvSpPr txBox="1"/>
          <p:nvPr/>
        </p:nvSpPr>
        <p:spPr>
          <a:xfrm>
            <a:off x="4198905" y="5405628"/>
            <a:ext cx="7060101"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L'endroit où les gens attendent leur tour.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 une brûlure en cuisine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relire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 s'est brûlée avec de l'eau bouillante.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Mathieu met tout de suite le bras sous l'eau froide.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laisser couler l'eau froide quinze minutes.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Mathieu appelle le 911.</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911 sert quand la vie est en danger.</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de petites cloques sur la peau de Fatou.</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L'infirmière conseille de percer les cloques.</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Des cloques indiquent une brûlure du deuxième degré.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 une brûlure en cuisine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 s'est brûlée avec de l'eau bouillante.   </a:t>
            </a:r>
            <a:r>
              <a:rPr sz="1400" b="1" i="0">
                <a:solidFill>
                  <a:srgbClr val="07734A"/>
                </a:solidFill>
                <a:latin typeface="Verdana"/>
              </a:rPr>
              <a:t>» FAUX — avec de l'huile chaude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Mathieu met tout de suite le bras sous l'eau froide.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laisser couler l'eau froide quinze minutes.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Mathieu appelle le 911.   </a:t>
            </a:r>
            <a:r>
              <a:rPr sz="1400" b="1" i="0">
                <a:solidFill>
                  <a:srgbClr val="07734A"/>
                </a:solidFill>
                <a:latin typeface="Verdana"/>
              </a:rPr>
              <a:t>» FAUX — il appelle le 811</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911 sert quand la vie est en danger.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de petites cloques sur la peau de Fatou.   </a:t>
            </a:r>
            <a:r>
              <a:rPr sz="1400" b="1" i="0">
                <a:solidFill>
                  <a:srgbClr val="07734A"/>
                </a:solidFill>
                <a:latin typeface="Verdana"/>
              </a:rPr>
              <a:t>» VRAI</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L'infirmière conseille de percer les cloques.   </a:t>
            </a:r>
            <a:r>
              <a:rPr sz="1400" b="1" i="0">
                <a:solidFill>
                  <a:srgbClr val="07734A"/>
                </a:solidFill>
                <a:latin typeface="Verdana"/>
              </a:rPr>
              <a:t>» FAUX — de ne rien percer</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Des cloques indiquent une brûlure du deuxième degré.   </a:t>
            </a:r>
            <a:r>
              <a:rPr sz="1400" b="1" i="0">
                <a:solidFill>
                  <a:srgbClr val="07734A"/>
                </a:solidFill>
                <a:latin typeface="Verdana"/>
              </a:rPr>
              <a:t>» VRAI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PIÈGE DES REMÈDES DE MAISON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mets du beurre — ou de la glace, ou du dentifrice.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 l'eau fraîche qui coule, rien d'autre.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beurre garde la chaleur dans la peau et aggrave la brûlure. La glace gèle les tissus déjà abîmés. Le dentifrice infecte la plaie. Ces trois gestes sont courants dans beaucoup de familles, et tous les trois nuisent.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une phrase : que ferez-vous la prochaine fois que vous vous brûlerez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Nommez le geste, la durée, et qui vous appellerez.</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De l'eau fraîche quinze minutes, puis j'appelle le 811.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urgence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