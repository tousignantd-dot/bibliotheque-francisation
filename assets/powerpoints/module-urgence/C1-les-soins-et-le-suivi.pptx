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défi 2. Rappeler où on en est : Fatou est à l'urgence, la plaie est nettoyée, le pansement est posé. Le médecin va maintenant expliquer la suite.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Passer l'audio du défi 2. Faire remarquer le « si » dans la réponse du médecin : la promesse est conditionnelle, et la condition dure six mois.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informations dans une seule réplique : la durée du congé et la fréquence de la crème. Faire relever les deux chiffres.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phrase est la plus importante de tout le défi : ce sont les deux signes d'infection. Les écrire au tableau.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noter les cinq dans le cahier avant de faire l'exercice. L'écriture pendant l'écoute est une compétence à installer.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laisser affichée longtemps. C'est le savoir de sécurité de la séance, et il vaut pour toute plaie, pas seulement les brûlures.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carte est importante et peu connue : une brûlure en cuisine est un accident de travail. Le dire, et renvoyer au module 3 pour la démarche auprès de l'employeur.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trompe : le médecin dit « probablement pas », ce qui n'est ni oui ni non. Faire entendre la nuance.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répondre cahier fermé. Puis demander qui avait noté les quatre chiffres pendant l'écoute : c'est la vraie leçon.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Relier au module 1, séance C4 : c'est le même raisonnement que pour un antibiotique. Faire le lien explicitement.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question est celle que personne ne pose et qui manque le plus. Le souligner.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et corriger : ce billet montre exactement qui sait écouter une consigne médicale et qui ne le sait pas encore.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C1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Les soins et le suivi</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diagnostic tient en une phrase, mais ce qui suit tient en cinq : la cicatrice, le congé, la crème, le pansement, et le signal qui dit de revenir.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Une urgence au travail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 diagnostic et le degré d'une brûlure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retenir des consignes de soins données à l'oral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quand il faut retourner voir un médecin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poser les questions qui manquent.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n'est pas dangereux</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l'enregistrement, diapo masquée. Lisez ensuite.</a:t>
            </a:r>
          </a:p>
        </p:txBody>
      </p:sp>
      <p:sp>
        <p:nvSpPr>
          <p:cNvPr id="8" name="Rounded Rectangle 7"/>
          <p:cNvSpPr/>
          <p:nvPr/>
        </p:nvSpPr>
        <p:spPr>
          <a:xfrm>
            <a:off x="566928" y="215798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265947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L'URGENTOLOGUE</a:t>
            </a:r>
          </a:p>
        </p:txBody>
      </p:sp>
      <p:sp>
        <p:nvSpPr>
          <p:cNvPr id="10" name="TextBox 9"/>
          <p:cNvSpPr txBox="1"/>
          <p:nvPr/>
        </p:nvSpPr>
        <p:spPr>
          <a:xfrm>
            <a:off x="3592163" y="2322576"/>
            <a:ext cx="748396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une brûlure du deuxième degré, superficielle. Ce n'est pas dangereux.</a:t>
            </a:r>
          </a:p>
        </p:txBody>
      </p:sp>
      <p:sp>
        <p:nvSpPr>
          <p:cNvPr id="11" name="Rounded Rectangle 10"/>
          <p:cNvSpPr/>
          <p:nvPr/>
        </p:nvSpPr>
        <p:spPr>
          <a:xfrm>
            <a:off x="566928" y="324510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409696"/>
            <a:ext cx="265947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FATOU</a:t>
            </a:r>
          </a:p>
        </p:txBody>
      </p:sp>
      <p:sp>
        <p:nvSpPr>
          <p:cNvPr id="13" name="TextBox 12"/>
          <p:cNvSpPr txBox="1"/>
          <p:nvPr/>
        </p:nvSpPr>
        <p:spPr>
          <a:xfrm>
            <a:off x="3592163" y="3409696"/>
            <a:ext cx="748396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je vais garder une cicatrice ?</a:t>
            </a:r>
          </a:p>
        </p:txBody>
      </p:sp>
      <p:sp>
        <p:nvSpPr>
          <p:cNvPr id="14" name="Rounded Rectangle 13"/>
          <p:cNvSpPr/>
          <p:nvPr/>
        </p:nvSpPr>
        <p:spPr>
          <a:xfrm>
            <a:off x="566928" y="399440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158995"/>
            <a:ext cx="265947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L'URGENTOLOGUE</a:t>
            </a:r>
          </a:p>
        </p:txBody>
      </p:sp>
      <p:sp>
        <p:nvSpPr>
          <p:cNvPr id="16" name="TextBox 15"/>
          <p:cNvSpPr txBox="1"/>
          <p:nvPr/>
        </p:nvSpPr>
        <p:spPr>
          <a:xfrm>
            <a:off x="3592163" y="4158995"/>
            <a:ext cx="748396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Probablement pas, si vous protégez la peau du soleil pendant six mois.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Est-ce que je peux retourner en cuisine ?</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265947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FATOU</a:t>
            </a:r>
          </a:p>
        </p:txBody>
      </p:sp>
      <p:sp>
        <p:nvSpPr>
          <p:cNvPr id="9" name="TextBox 8"/>
          <p:cNvSpPr txBox="1"/>
          <p:nvPr/>
        </p:nvSpPr>
        <p:spPr>
          <a:xfrm>
            <a:off x="3592163" y="1901952"/>
            <a:ext cx="748396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je peux retourner en cuisine demain ?</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265947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L'URGENTOLOGUE</a:t>
            </a:r>
          </a:p>
        </p:txBody>
      </p:sp>
      <p:sp>
        <p:nvSpPr>
          <p:cNvPr id="12" name="TextBox 11"/>
          <p:cNvSpPr txBox="1"/>
          <p:nvPr/>
        </p:nvSpPr>
        <p:spPr>
          <a:xfrm>
            <a:off x="3592163" y="2651252"/>
            <a:ext cx="748396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Non. Je vous donne un congé de maladie de trois jours et une crème à appliquer deux fois par jour.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 la douleur augmente, revenez</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265947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FATOU</a:t>
            </a:r>
          </a:p>
        </p:txBody>
      </p:sp>
      <p:sp>
        <p:nvSpPr>
          <p:cNvPr id="9" name="TextBox 8"/>
          <p:cNvSpPr txBox="1"/>
          <p:nvPr/>
        </p:nvSpPr>
        <p:spPr>
          <a:xfrm>
            <a:off x="3592163" y="1901952"/>
            <a:ext cx="748396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le pansement, je le change moi-même ?</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265947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L'URGENTOLOGUE</a:t>
            </a:r>
          </a:p>
        </p:txBody>
      </p:sp>
      <p:sp>
        <p:nvSpPr>
          <p:cNvPr id="12" name="TextBox 11"/>
          <p:cNvSpPr txBox="1"/>
          <p:nvPr/>
        </p:nvSpPr>
        <p:spPr>
          <a:xfrm>
            <a:off x="3592163" y="2651252"/>
            <a:ext cx="748396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le changez chaque matin. Si la douleur augmente ou si la plaie devient jaune, revenez nous voir.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cinq informations du médecin</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SUJET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DIT</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le diagnostic</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deuxième degré, superficielle, pas dangereux</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la cicatrice</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probablement pas, si on protège du soleil six mois</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le travail</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trois jours de congé de maladie</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la crème</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deux fois par jour</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le pansement</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changé chaque matin</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Cinq informations, sept répliques. Un patient qui n'en retient que trois sort avec la moitié de son traitement.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LES DEUX SIGNAUX QUI FONT REVENIR</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 douleur augmente, ou la plaie devient jaune.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 sont les signes d'une infection. Une brûlure qui va bien fait de moins en moins mal, jour après jour. Si la douleur monte après deux jours, quelque chose ne va pas.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EN APPRENDRE PLUS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choses sur le congé de maladie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12165"/>
          </a:xfrm>
          <a:prstGeom prst="rect">
            <a:avLst/>
          </a:prstGeom>
          <a:noFill/>
        </p:spPr>
        <p:txBody>
          <a:bodyPr wrap="square" lIns="0" rIns="0" tIns="0" bIns="0" anchor="t">
            <a:spAutoFit/>
          </a:bodyPr>
          <a:lstStyle/>
          <a:p>
            <a:pPr algn="l">
              <a:lnSpc>
                <a:spcPct val="118000"/>
              </a:lnSpc>
            </a:pPr>
            <a:r>
              <a:rPr sz="1900" b="1" i="0">
                <a:solidFill>
                  <a:srgbClr val="1D6B8F"/>
                </a:solidFill>
                <a:latin typeface="Verdana"/>
              </a:rPr>
              <a:t>C'est un papier officiel</a:t>
            </a:r>
          </a:p>
        </p:txBody>
      </p:sp>
      <p:sp>
        <p:nvSpPr>
          <p:cNvPr id="9" name="TextBox 8"/>
          <p:cNvSpPr txBox="1"/>
          <p:nvPr/>
        </p:nvSpPr>
        <p:spPr>
          <a:xfrm>
            <a:off x="886968" y="2424429"/>
            <a:ext cx="4806543" cy="116459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Il porte le nom du médecin, la date et le nombre de jours. Gardez-en une copie ou une photo avant de le remettre à l'employeur.</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12165"/>
          </a:xfrm>
          <a:prstGeom prst="rect">
            <a:avLst/>
          </a:prstGeom>
          <a:noFill/>
        </p:spPr>
        <p:txBody>
          <a:bodyPr wrap="square" lIns="0" rIns="0" tIns="0" bIns="0" anchor="t">
            <a:spAutoFit/>
          </a:bodyPr>
          <a:lstStyle/>
          <a:p>
            <a:pPr algn="l">
              <a:lnSpc>
                <a:spcPct val="118000"/>
              </a:lnSpc>
            </a:pPr>
            <a:r>
              <a:rPr sz="1900" b="1" i="0">
                <a:solidFill>
                  <a:srgbClr val="1D6B8F"/>
                </a:solidFill>
                <a:latin typeface="Verdana"/>
              </a:rPr>
              <a:t>Il ne dit pas pourquoi</a:t>
            </a:r>
          </a:p>
        </p:txBody>
      </p:sp>
      <p:sp>
        <p:nvSpPr>
          <p:cNvPr id="12" name="TextBox 11"/>
          <p:cNvSpPr txBox="1"/>
          <p:nvPr/>
        </p:nvSpPr>
        <p:spPr>
          <a:xfrm>
            <a:off x="6498183" y="2424429"/>
            <a:ext cx="4806543" cy="116459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L'employeur a le droit de savoir combien de jours, pas de savoir de quoi vous souffrez. Votre diagnostic reste privé.</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12165"/>
          </a:xfrm>
          <a:prstGeom prst="rect">
            <a:avLst/>
          </a:prstGeom>
          <a:noFill/>
        </p:spPr>
        <p:txBody>
          <a:bodyPr wrap="square" lIns="0" rIns="0" tIns="0" bIns="0" anchor="t">
            <a:spAutoFit/>
          </a:bodyPr>
          <a:lstStyle/>
          <a:p>
            <a:pPr algn="l">
              <a:lnSpc>
                <a:spcPct val="118000"/>
              </a:lnSpc>
            </a:pPr>
            <a:r>
              <a:rPr sz="1900" b="1" i="0">
                <a:solidFill>
                  <a:srgbClr val="1D6B8F"/>
                </a:solidFill>
                <a:latin typeface="Verdana"/>
              </a:rPr>
              <a:t>Un accident de travail est différent</a:t>
            </a:r>
          </a:p>
        </p:txBody>
      </p:sp>
      <p:sp>
        <p:nvSpPr>
          <p:cNvPr id="15" name="TextBox 14"/>
          <p:cNvSpPr txBox="1"/>
          <p:nvPr/>
        </p:nvSpPr>
        <p:spPr>
          <a:xfrm>
            <a:off x="886968" y="4641850"/>
            <a:ext cx="4806543" cy="116459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Une blessure survenue au travail relève de la CNESST. Le formulaire n'est pas le même, et il faut déclarer l'accident à l'employeur le jour même.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12165"/>
          </a:xfrm>
          <a:prstGeom prst="rect">
            <a:avLst/>
          </a:prstGeom>
          <a:noFill/>
        </p:spPr>
        <p:txBody>
          <a:bodyPr wrap="square" lIns="0" rIns="0" tIns="0" bIns="0" anchor="t">
            <a:spAutoFit/>
          </a:bodyPr>
          <a:lstStyle/>
          <a:p>
            <a:pPr algn="l">
              <a:lnSpc>
                <a:spcPct val="118000"/>
              </a:lnSpc>
            </a:pPr>
            <a:r>
              <a:rPr sz="1900" b="1" i="0">
                <a:solidFill>
                  <a:srgbClr val="1D6B8F"/>
                </a:solidFill>
                <a:latin typeface="Verdana"/>
              </a:rPr>
              <a:t>Prévenir tout de suite</a:t>
            </a:r>
          </a:p>
        </p:txBody>
      </p:sp>
      <p:sp>
        <p:nvSpPr>
          <p:cNvPr id="18" name="TextBox 17"/>
          <p:cNvSpPr txBox="1"/>
          <p:nvPr/>
        </p:nvSpPr>
        <p:spPr>
          <a:xfrm>
            <a:off x="6498183" y="4641850"/>
            <a:ext cx="4806543" cy="116459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Téléphonez à votre employeur dès que vous savez combien de jours. Ne attendez pas d'avoir le papier en main.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 les soins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sans relire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brûlure est du deuxième degré, superficielle.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médecin dit que c'est dangereux.</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Fatou gardera sûrement une cicatrice.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protéger la peau du soleil pendant six mois.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peut retourner en cuisine dès le lendemain.</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reçoit un congé de maladie de trois jours.</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crème s'applique deux fois par jour.</a:t>
            </a:r>
          </a:p>
        </p:txBody>
      </p:sp>
      <p:sp>
        <p:nvSpPr>
          <p:cNvPr id="36" name="Rounded Rectangle 35"/>
          <p:cNvSpPr/>
          <p:nvPr/>
        </p:nvSpPr>
        <p:spPr>
          <a:xfrm>
            <a:off x="566928" y="6954520"/>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revenir si la plaie devient jaune.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 les soins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brûlure est du deuxième degré, superficielle.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médecin dit que c'est dangereux.   </a:t>
            </a:r>
            <a:r>
              <a:rPr sz="1400" b="1" i="0">
                <a:solidFill>
                  <a:srgbClr val="07734A"/>
                </a:solidFill>
                <a:latin typeface="Verdana"/>
              </a:rPr>
              <a:t>» FAUX — ce n'est pas dangereux</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Fatou gardera sûrement une cicatrice.   </a:t>
            </a:r>
            <a:r>
              <a:rPr sz="1400" b="1" i="0">
                <a:solidFill>
                  <a:srgbClr val="07734A"/>
                </a:solidFill>
                <a:latin typeface="Verdana"/>
              </a:rPr>
              <a:t>» FAUX — probablement pas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protéger la peau du soleil pendant six mois.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peut retourner en cuisine dès le lendemain.   </a:t>
            </a:r>
            <a:r>
              <a:rPr sz="1400" b="1" i="0">
                <a:solidFill>
                  <a:srgbClr val="07734A"/>
                </a:solidFill>
                <a:latin typeface="Verdana"/>
              </a:rPr>
              <a:t>» FAUX — trois jours de congé</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reçoit un congé de maladie de trois jours.   </a:t>
            </a:r>
            <a:r>
              <a:rPr sz="1400" b="1" i="0">
                <a:solidFill>
                  <a:srgbClr val="07734A"/>
                </a:solidFill>
                <a:latin typeface="Verdana"/>
              </a:rPr>
              <a:t>» VRAI</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crème s'applique deux fois par jour.   </a:t>
            </a:r>
            <a:r>
              <a:rPr sz="1400" b="1" i="0">
                <a:solidFill>
                  <a:srgbClr val="07734A"/>
                </a:solidFill>
                <a:latin typeface="Verdana"/>
              </a:rPr>
              <a:t>» VRAI</a:t>
            </a:r>
          </a:p>
        </p:txBody>
      </p:sp>
      <p:sp>
        <p:nvSpPr>
          <p:cNvPr id="36" name="Rounded Rectangle 35"/>
          <p:cNvSpPr/>
          <p:nvPr/>
        </p:nvSpPr>
        <p:spPr>
          <a:xfrm>
            <a:off x="566928" y="6954520"/>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revenir si la plaie devient jaune.   </a:t>
            </a:r>
            <a:r>
              <a:rPr sz="1400" b="1" i="0">
                <a:solidFill>
                  <a:srgbClr val="07734A"/>
                </a:solidFill>
                <a:latin typeface="Verdana"/>
              </a:rPr>
              <a:t>» VRAI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Retrouvez le chiffre exact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Les chiffres d'une consigne sont ce qu'on oublie en premier.</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jours de congé de maladie ?</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fois par jour la crème ?</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quelle fréquence changer le pansement ?</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temps protéger la peau du soleil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Retrouvez le chiffre exact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jours de congé de maladie ?   </a:t>
            </a:r>
            <a:r>
              <a:rPr sz="1900" b="1" i="0">
                <a:solidFill>
                  <a:srgbClr val="07734A"/>
                </a:solidFill>
                <a:latin typeface="Verdana"/>
              </a:rPr>
              <a:t>» trois jours</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fois par jour la crème ?   </a:t>
            </a:r>
            <a:r>
              <a:rPr sz="1900" b="1" i="0">
                <a:solidFill>
                  <a:srgbClr val="07734A"/>
                </a:solidFill>
                <a:latin typeface="Verdana"/>
              </a:rPr>
              <a:t>» deux fois</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quelle fréquence changer le pansement ?   </a:t>
            </a:r>
            <a:r>
              <a:rPr sz="1900" b="1" i="0">
                <a:solidFill>
                  <a:srgbClr val="07734A"/>
                </a:solidFill>
                <a:latin typeface="Verdana"/>
              </a:rPr>
              <a:t>» chaque matin</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temps protéger la peau du soleil ?   </a:t>
            </a:r>
            <a:r>
              <a:rPr sz="1900" b="1" i="0">
                <a:solidFill>
                  <a:srgbClr val="07734A"/>
                </a:solidFill>
                <a:latin typeface="Verdana"/>
              </a:rPr>
              <a:t>» six mois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PIÈGE DU « ÇA VA MIEUX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La crème, j'arrête quand ça ne fait plus mal.</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La crème, je continue jusqu'à ce que le médecin le dise.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brûlure qui ne fait plus mal n'est pas guérie : la peau neuve est fragile pendant des semaines. Arrêter la crème trop tôt laisse la peau sèche et augmente le risque de cicatrice foncée.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question posez-vous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Le médecin vient de parler. Que demandez-vous ?</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C'est une brûlure du deuxième degré. »</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Je vous donne un congé de maladie. »</a:t>
            </a:r>
          </a:p>
        </p:txBody>
      </p:sp>
      <p:sp>
        <p:nvSpPr>
          <p:cNvPr id="16" name="Rounded Rectangle 15"/>
          <p:cNvSpPr/>
          <p:nvPr/>
        </p:nvSpPr>
        <p:spPr>
          <a:xfrm>
            <a:off x="566928" y="3693160"/>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0354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67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Voici une crème à appliquer. »</a:t>
            </a:r>
          </a:p>
        </p:txBody>
      </p:sp>
      <p:sp>
        <p:nvSpPr>
          <p:cNvPr id="20" name="Rounded Rectangle 19"/>
          <p:cNvSpPr/>
          <p:nvPr/>
        </p:nvSpPr>
        <p:spPr>
          <a:xfrm>
            <a:off x="566928" y="4807711"/>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94919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01319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963159"/>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Revenez si ça ne va pas.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question posez-vous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C'est une brûlure du deuxième degré. »   </a:t>
            </a:r>
            <a:r>
              <a:rPr sz="1900" b="1" i="0">
                <a:solidFill>
                  <a:srgbClr val="07734A"/>
                </a:solidFill>
                <a:latin typeface="Verdana"/>
              </a:rPr>
              <a:t>» Est-ce que c'est grave ?</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Je vous donne un congé de maladie. »   </a:t>
            </a:r>
            <a:r>
              <a:rPr sz="1900" b="1" i="0">
                <a:solidFill>
                  <a:srgbClr val="07734A"/>
                </a:solidFill>
                <a:latin typeface="Verdana"/>
              </a:rPr>
              <a:t>» Pour combien de jours ?</a:t>
            </a:r>
          </a:p>
        </p:txBody>
      </p:sp>
      <p:sp>
        <p:nvSpPr>
          <p:cNvPr id="16" name="Rounded Rectangle 15"/>
          <p:cNvSpPr/>
          <p:nvPr/>
        </p:nvSpPr>
        <p:spPr>
          <a:xfrm>
            <a:off x="566928" y="3693160"/>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0354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67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Voici une crème à appliquer. »   </a:t>
            </a:r>
            <a:r>
              <a:rPr sz="1900" b="1" i="0">
                <a:solidFill>
                  <a:srgbClr val="07734A"/>
                </a:solidFill>
                <a:latin typeface="Verdana"/>
              </a:rPr>
              <a:t>» Combien de fois par jour, et pendant combien de temps ?</a:t>
            </a:r>
          </a:p>
        </p:txBody>
      </p:sp>
      <p:sp>
        <p:nvSpPr>
          <p:cNvPr id="20" name="Rounded Rectangle 19"/>
          <p:cNvSpPr/>
          <p:nvPr/>
        </p:nvSpPr>
        <p:spPr>
          <a:xfrm>
            <a:off x="566928" y="4807711"/>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94919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01319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963159"/>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Revenez si ça ne va pas. »   </a:t>
            </a:r>
            <a:r>
              <a:rPr sz="1900" b="1" i="0">
                <a:solidFill>
                  <a:srgbClr val="07734A"/>
                </a:solidFill>
                <a:latin typeface="Verdana"/>
              </a:rPr>
              <a:t>» Qu'est-ce que je dois surveiller exactement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16</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Résumez en cinq lignes ce que Fatou doit faire en rentrant chez elle.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ligne par consigne, avec le chiffre.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Ajoutez une sixième ligne : dans quels cas elle doit retourner à l'urgence.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Une urgence au travail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