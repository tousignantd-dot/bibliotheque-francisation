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2. Rappeler où on en est : Fatou est à l'urgence, la plaie est nettoyée, le pansement est posé. Le médecin va maintenant expliquer la suite.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l'audio du défi 2. Faire remarquer le « si » dans la réponse du médecin : la promesse est conditionnelle, et la condition dure six mois.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informations dans une seule réplique : la durée du congé et la fréquence de la crème. Faire relever les deux chiffres.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phrase est la plus importante de tout le défi : ce sont les deux signes d'infection. Les écrire au tableau.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noter les cinq dans le cahier avant de faire l'exercice. L'écriture pendant l'écoute est une compétence à installer.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laisser affichée longtemps. C'est le savoir de sécurité de la séance, et il vaut pour toute plaie, pas seulement les brûlures.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importante et peu connue : une brûlure en cuisine est un accident de travail. Le dire, et renvoyer au module 3 pour la démarche auprès de l'employeur.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trompe : le médecin dit « probablement pas », ce qui n'est ni oui ni non. Faire entendre la nuance.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cahier fermé. Puis demander qui avait noté les quatre chiffres pendant l'écoute : c'est la vraie leçon.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au module 1, séance C4 : c'est le même raisonnement que pour un antibiotique. Faire le lien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question est celle que personne ne pose et qui manque le plus. Le souligner.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et corriger : ce billet montre exactement qui sait écouter une consigne médicale et qui ne le sait pas encore.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soins et le suivi</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diagnostic tient en une phrase, mais ce qui suit tient en cinq : la cicatrice, le congé, la crème, le pansement, et le signal qui dit de revenir.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diagnostic et le degré d'une brûlure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retenir des consignes de soins données à l'oral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quand il faut retourner voir un médecin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les questions qui manquent.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n'est pas dangereux</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l'enregistrement, diapo masquée. Lisez ensuite.</a:t>
            </a:r>
          </a:p>
        </p:txBody>
      </p:sp>
      <p:sp>
        <p:nvSpPr>
          <p:cNvPr id="8" name="Rounded Rectangle 7"/>
          <p:cNvSpPr/>
          <p:nvPr/>
        </p:nvSpPr>
        <p:spPr>
          <a:xfrm>
            <a:off x="566928" y="215798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0" name="TextBox 9"/>
          <p:cNvSpPr txBox="1"/>
          <p:nvPr/>
        </p:nvSpPr>
        <p:spPr>
          <a:xfrm>
            <a:off x="3592163" y="2322576"/>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une brûlure du deuxième degré, superficielle. Ce n'est pas dangereux.</a:t>
            </a:r>
          </a:p>
        </p:txBody>
      </p:sp>
      <p:sp>
        <p:nvSpPr>
          <p:cNvPr id="11" name="Rounded Rectangle 10"/>
          <p:cNvSpPr/>
          <p:nvPr/>
        </p:nvSpPr>
        <p:spPr>
          <a:xfrm>
            <a:off x="566928" y="324510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409696"/>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3" name="TextBox 12"/>
          <p:cNvSpPr txBox="1"/>
          <p:nvPr/>
        </p:nvSpPr>
        <p:spPr>
          <a:xfrm>
            <a:off x="3592163" y="3409696"/>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je vais garder une cicatrice ?</a:t>
            </a:r>
          </a:p>
        </p:txBody>
      </p:sp>
      <p:sp>
        <p:nvSpPr>
          <p:cNvPr id="14" name="Rounded Rectangle 13"/>
          <p:cNvSpPr/>
          <p:nvPr/>
        </p:nvSpPr>
        <p:spPr>
          <a:xfrm>
            <a:off x="566928" y="399440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6" name="TextBox 15"/>
          <p:cNvSpPr txBox="1"/>
          <p:nvPr/>
        </p:nvSpPr>
        <p:spPr>
          <a:xfrm>
            <a:off x="3592163" y="4158995"/>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Probablement pas, si vous protégez la peau du soleil pendant six mois.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Est-ce que je peux retourner en cuisine ?</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9" name="TextBox 8"/>
          <p:cNvSpPr txBox="1"/>
          <p:nvPr/>
        </p:nvSpPr>
        <p:spPr>
          <a:xfrm>
            <a:off x="3592163" y="1901952"/>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je peux retourner en cuisine demain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2" name="TextBox 11"/>
          <p:cNvSpPr txBox="1"/>
          <p:nvPr/>
        </p:nvSpPr>
        <p:spPr>
          <a:xfrm>
            <a:off x="3592163" y="2651252"/>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Je vous donne un congé de maladie de trois jours et une crème à appliquer deux fois par jour.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 la douleur augmente, revenez</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9" name="TextBox 8"/>
          <p:cNvSpPr txBox="1"/>
          <p:nvPr/>
        </p:nvSpPr>
        <p:spPr>
          <a:xfrm>
            <a:off x="3592163" y="1901952"/>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pansement, je le change moi-même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2" name="TextBox 11"/>
          <p:cNvSpPr txBox="1"/>
          <p:nvPr/>
        </p:nvSpPr>
        <p:spPr>
          <a:xfrm>
            <a:off x="3592163" y="2651252"/>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le changez chaque matin. Si la douleur augmente ou si la plaie devient jaune, revenez nous voir.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informations du médecin</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SUJET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DIT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diagnostic</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deuxième degré, superficielle, pas dangereux</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cicatrice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probablement pas, si on protège du soleil six mois</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travail</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trois jours de congé de maladie</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crème</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deux fois par jour</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pansement</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changé chaque matin</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Cinq informations, sept répliques. Un patient qui n'en retient que trois sort avec la moitié de son traitement.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DEUX SIGNAUX QUI FONT REVENIR</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douleur augmente, ou la plaie devient jaune.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sont les signes d'une infection. Une brûlure qui va bien fait de moins en moins mal, jour après jour. Si la douleur monte après deux jours, quelque chose ne va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OUVRIR LA MINI-LEÇON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sur le congé de maladie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12165"/>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C'est un papier officiel</a:t>
            </a:r>
          </a:p>
        </p:txBody>
      </p:sp>
      <p:sp>
        <p:nvSpPr>
          <p:cNvPr id="9" name="TextBox 8"/>
          <p:cNvSpPr txBox="1"/>
          <p:nvPr/>
        </p:nvSpPr>
        <p:spPr>
          <a:xfrm>
            <a:off x="886968" y="2424429"/>
            <a:ext cx="4806543" cy="116459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Il porte le nom du médecin, la date et le nombre de jours. Gardez-en une copie ou une photo avant de le remettre à l'employeur.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12165"/>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Il ne dit pas pourquoi</a:t>
            </a:r>
          </a:p>
        </p:txBody>
      </p:sp>
      <p:sp>
        <p:nvSpPr>
          <p:cNvPr id="12" name="TextBox 11"/>
          <p:cNvSpPr txBox="1"/>
          <p:nvPr/>
        </p:nvSpPr>
        <p:spPr>
          <a:xfrm>
            <a:off x="6498183" y="2424429"/>
            <a:ext cx="4806543" cy="116459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L'employeur a le droit de savoir combien de jours, pas de savoir de quoi vous souffrez. Votre diagnostic reste privé.</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12165"/>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Un accident de travail est différent</a:t>
            </a:r>
          </a:p>
        </p:txBody>
      </p:sp>
      <p:sp>
        <p:nvSpPr>
          <p:cNvPr id="15" name="TextBox 14"/>
          <p:cNvSpPr txBox="1"/>
          <p:nvPr/>
        </p:nvSpPr>
        <p:spPr>
          <a:xfrm>
            <a:off x="886968" y="4641850"/>
            <a:ext cx="4806543" cy="116459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blessure survenue au travail relève de la CNESST. Le formulaire n'est pas le même, et il faut déclarer l'accident à l'employeur le jour même.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12165"/>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Prévenir tout de suite</a:t>
            </a:r>
          </a:p>
        </p:txBody>
      </p:sp>
      <p:sp>
        <p:nvSpPr>
          <p:cNvPr id="18" name="TextBox 17"/>
          <p:cNvSpPr txBox="1"/>
          <p:nvPr/>
        </p:nvSpPr>
        <p:spPr>
          <a:xfrm>
            <a:off x="6498183" y="4641850"/>
            <a:ext cx="4806543" cy="116459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Téléphonez à votre employeur dès que vous savez combien de jours. Ne attendez pas d'avoir le papier en main.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les soins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relire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brûlure est du deuxième degré, superficielle.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médecin dit que c'est dangereux.</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gardera sûrement une cicatrice.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protéger la peau du soleil pendant six mois.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peut retourner en cuisine dès le lendemain.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reçoit un congé de maladie de trois jours.</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crème s'applique deux fois par jour.</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revenir si la plaie devient jaune.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les soins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brûlure est du deuxième degré, superficielle.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médecin dit que c'est dangereux.   </a:t>
            </a:r>
            <a:r>
              <a:rPr sz="1400" b="1" i="0">
                <a:solidFill>
                  <a:srgbClr val="07734A"/>
                </a:solidFill>
                <a:latin typeface="Verdana"/>
              </a:rPr>
              <a:t>» FAUX — ce n'est pas dangereux</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gardera sûrement une cicatrice.   </a:t>
            </a:r>
            <a:r>
              <a:rPr sz="1400" b="1" i="0">
                <a:solidFill>
                  <a:srgbClr val="07734A"/>
                </a:solidFill>
                <a:latin typeface="Verdana"/>
              </a:rPr>
              <a:t>» FAUX — probablement pas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protéger la peau du soleil pendant six mois.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peut retourner en cuisine dès le lendemain.   </a:t>
            </a:r>
            <a:r>
              <a:rPr sz="1400" b="1" i="0">
                <a:solidFill>
                  <a:srgbClr val="07734A"/>
                </a:solidFill>
                <a:latin typeface="Verdana"/>
              </a:rPr>
              <a:t>» FAUX — trois jours de congé</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reçoit un congé de maladie de trois jours.   </a:t>
            </a:r>
            <a:r>
              <a:rPr sz="1400" b="1" i="0">
                <a:solidFill>
                  <a:srgbClr val="07734A"/>
                </a:solidFill>
                <a:latin typeface="Verdana"/>
              </a:rPr>
              <a:t>» VRAI</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crème s'applique deux fois par jour.   </a:t>
            </a:r>
            <a:r>
              <a:rPr sz="1400" b="1" i="0">
                <a:solidFill>
                  <a:srgbClr val="07734A"/>
                </a:solidFill>
                <a:latin typeface="Verdana"/>
              </a:rPr>
              <a:t>» VRAI</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revenir si la plaie devient jaune.   </a:t>
            </a:r>
            <a:r>
              <a:rPr sz="14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Retrouvez le chiffre exact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Les chiffres d'une consigne sont ce qu'on oublie en premier.</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jours de congé de maladie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fois par jour la crème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quelle fréquence changer le pansement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protéger la peau du soleil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Retrouvez le chiffre exact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jours de congé de maladie ?   </a:t>
            </a:r>
            <a:r>
              <a:rPr sz="1900" b="1" i="0">
                <a:solidFill>
                  <a:srgbClr val="07734A"/>
                </a:solidFill>
                <a:latin typeface="Verdana"/>
              </a:rPr>
              <a:t>» trois jours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fois par jour la crème ?   </a:t>
            </a:r>
            <a:r>
              <a:rPr sz="1900" b="1" i="0">
                <a:solidFill>
                  <a:srgbClr val="07734A"/>
                </a:solidFill>
                <a:latin typeface="Verdana"/>
              </a:rPr>
              <a:t>» deux fois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quelle fréquence changer le pansement ?   </a:t>
            </a:r>
            <a:r>
              <a:rPr sz="1900" b="1" i="0">
                <a:solidFill>
                  <a:srgbClr val="07734A"/>
                </a:solidFill>
                <a:latin typeface="Verdana"/>
              </a:rPr>
              <a:t>» chaque matin</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protéger la peau du soleil ?   </a:t>
            </a:r>
            <a:r>
              <a:rPr sz="1900" b="1" i="0">
                <a:solidFill>
                  <a:srgbClr val="07734A"/>
                </a:solidFill>
                <a:latin typeface="Verdana"/>
              </a:rPr>
              <a:t>» six mois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DU « ÇA VA MIEUX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crème, j'arrête quand ça ne fait plus mal.</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crème, je continue jusqu'à ce que le médecin le dise.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brûlure qui ne fait plus mal n'est pas guérie : la peau neuve est fragile pendant des semaines. Arrêter la crème trop tôt laisse la peau sèche et augmente le risque de cicatrice foncée.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question posez-vous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médecin vient de parler. Que demandez-vous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C'est une brûlure du deuxième degré.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Je vous donne un congé de maladie. »</a:t>
            </a:r>
          </a:p>
        </p:txBody>
      </p:sp>
      <p:sp>
        <p:nvSpPr>
          <p:cNvPr id="16" name="Rounded Rectangle 15"/>
          <p:cNvSpPr/>
          <p:nvPr/>
        </p:nvSpPr>
        <p:spPr>
          <a:xfrm>
            <a:off x="566928" y="369316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Voici une crème à appliquer. »</a:t>
            </a:r>
          </a:p>
        </p:txBody>
      </p:sp>
      <p:sp>
        <p:nvSpPr>
          <p:cNvPr id="20" name="Rounded Rectangle 19"/>
          <p:cNvSpPr/>
          <p:nvPr/>
        </p:nvSpPr>
        <p:spPr>
          <a:xfrm>
            <a:off x="566928" y="4807711"/>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Revenez si ça ne va pas.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question posez-vous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C'est une brûlure du deuxième degré. »   </a:t>
            </a:r>
            <a:r>
              <a:rPr sz="1900" b="1" i="0">
                <a:solidFill>
                  <a:srgbClr val="07734A"/>
                </a:solidFill>
                <a:latin typeface="Verdana"/>
              </a:rPr>
              <a:t>» Est-ce que c'est grave ?</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Je vous donne un congé de maladie. »   </a:t>
            </a:r>
            <a:r>
              <a:rPr sz="1900" b="1" i="0">
                <a:solidFill>
                  <a:srgbClr val="07734A"/>
                </a:solidFill>
                <a:latin typeface="Verdana"/>
              </a:rPr>
              <a:t>» Pour combien de jours ?</a:t>
            </a:r>
          </a:p>
        </p:txBody>
      </p:sp>
      <p:sp>
        <p:nvSpPr>
          <p:cNvPr id="16" name="Rounded Rectangle 15"/>
          <p:cNvSpPr/>
          <p:nvPr/>
        </p:nvSpPr>
        <p:spPr>
          <a:xfrm>
            <a:off x="566928" y="369316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Voici une crème à appliquer. »   </a:t>
            </a:r>
            <a:r>
              <a:rPr sz="1900" b="1" i="0">
                <a:solidFill>
                  <a:srgbClr val="07734A"/>
                </a:solidFill>
                <a:latin typeface="Verdana"/>
              </a:rPr>
              <a:t>» Combien de fois par jour, et pendant combien de temps ?</a:t>
            </a:r>
          </a:p>
        </p:txBody>
      </p:sp>
      <p:sp>
        <p:nvSpPr>
          <p:cNvPr id="20" name="Rounded Rectangle 19"/>
          <p:cNvSpPr/>
          <p:nvPr/>
        </p:nvSpPr>
        <p:spPr>
          <a:xfrm>
            <a:off x="566928" y="4807711"/>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Revenez si ça ne va pas. »   </a:t>
            </a:r>
            <a:r>
              <a:rPr sz="1900" b="1" i="0">
                <a:solidFill>
                  <a:srgbClr val="07734A"/>
                </a:solidFill>
                <a:latin typeface="Verdana"/>
              </a:rPr>
              <a:t>» Qu'est-ce que je dois surveiller exactement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Résumez en cinq lignes ce que Fatou doit faire en rentrant chez elle.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ligne par consigne, avec le chiffre.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sixième ligne : dans quels cas elle doit retourner à l'urgence.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