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Commencer par écrire « brûlure » et « douleur » au tableau et faire dire les deux mots par cinq élèves. Les erreurs se manifesteront toutes seules.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Contrairement aux nasales, l'orthographe ne piège pas ici. Le problème est purement articulatoire.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pour cela que le son « u » est si difficile : on ne peut pas l'imiter en regardant. Il faut sentir la position de la langue.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faire l'exercice de la quatrième carte par tout le groupe, en même temps. C'est bruyant et cela fonctionne.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 chaque mot deux fois, sans le montrer. Ne pas laisser voir l'orthographe avant la réponse.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paire est celle qui compte au travail : « au-dessus » et « au-dessous » sont des consignes de sécurité opposées.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Conseil pratique à donner : le geste double la parole. Ce n'est pas un aveu de faiblesse, c'est ce que font tous les gens qui travaillent dans le bruit.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dire « cuisine » : le mot contient « ui », donc les deux premiers sons de la famille collés l'un à l'autre.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Ici on va du son vers l'écriture. Laisser deux minutes de recherche avant de corriger.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lire lentement et debout. La troisième phrase est un enchaînement de « ou » : c'est le meilleur test de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circulant. Un élève qui écrit « douleur » dans la colonne du « u » n'entend pas encore la différence : le reprendre individuellement.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SÉANCE A2  ·  MODULE 2</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Le son « u » et le son « ou »</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Brûlure » et « douleur » : les deux mots de la séance précédente, et les deux sons que les élèves confondent le plus. Une lettre de différence, deux positions de lèvres.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60 minutes  ·  Une urgence au travail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entendre la différence entre le son « u » et le son « ou »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quelles lettres écrivent chacun des deux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prononcer les mots du module sans les confondre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le son « i », le troisième de la famille.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LA RÈGLE</a:t>
            </a:r>
          </a:p>
        </p:txBody>
      </p:sp>
      <p:sp>
        <p:nvSpPr>
          <p:cNvPr id="6" name="Rounded Rectangle 5"/>
          <p:cNvSpPr/>
          <p:nvPr/>
        </p:nvSpPr>
        <p:spPr>
          <a:xfrm>
            <a:off x="566928" y="1225296"/>
            <a:ext cx="11057839" cy="2494788"/>
          </a:xfrm>
          <a:prstGeom prst="roundRect">
            <a:avLst>
              <a:gd name="adj" fmla="val 5864"/>
            </a:avLst>
          </a:prstGeom>
          <a:solidFill>
            <a:srgbClr val="E8EA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La lettre u seule fait le son « u ». Les lettres o et u ensemble font le son « ou ».</a:t>
            </a:r>
          </a:p>
        </p:txBody>
      </p:sp>
      <p:sp>
        <p:nvSpPr>
          <p:cNvPr id="8" name="Rounded Rectangle 7"/>
          <p:cNvSpPr/>
          <p:nvPr/>
        </p:nvSpPr>
        <p:spPr>
          <a:xfrm>
            <a:off x="566928" y="3994404"/>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Brûlure, urgence, minute, sucre : le son « u ». Douleur, pouce, soupe, soutien : le son « ou ». L'orthographe est fiable ici — c'est l'oreille qui doit rattraper les yeux.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Deux sons, deux positions de bouche</a:t>
            </a:r>
          </a:p>
        </p:txBody>
      </p:sp>
      <p:sp>
        <p:nvSpPr>
          <p:cNvPr id="7" name="Rounded Rectangle 6"/>
          <p:cNvSpPr/>
          <p:nvPr/>
        </p:nvSpPr>
        <p:spPr>
          <a:xfrm>
            <a:off x="566928" y="1810512"/>
            <a:ext cx="11057839" cy="2322576"/>
          </a:xfrm>
          <a:prstGeom prst="roundRect">
            <a:avLst>
              <a:gd name="adj" fmla="val 629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2362123"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SON</a:t>
            </a:r>
          </a:p>
        </p:txBody>
      </p:sp>
      <p:sp>
        <p:nvSpPr>
          <p:cNvPr id="9" name="TextBox 8"/>
          <p:cNvSpPr txBox="1"/>
          <p:nvPr/>
        </p:nvSpPr>
        <p:spPr>
          <a:xfrm>
            <a:off x="3514267" y="1975104"/>
            <a:ext cx="2362123"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LES LETTRES</a:t>
            </a:r>
          </a:p>
        </p:txBody>
      </p:sp>
      <p:sp>
        <p:nvSpPr>
          <p:cNvPr id="10" name="TextBox 9"/>
          <p:cNvSpPr txBox="1"/>
          <p:nvPr/>
        </p:nvSpPr>
        <p:spPr>
          <a:xfrm>
            <a:off x="6095847" y="1975104"/>
            <a:ext cx="2362123"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BOUCHE</a:t>
            </a:r>
          </a:p>
        </p:txBody>
      </p:sp>
      <p:sp>
        <p:nvSpPr>
          <p:cNvPr id="11" name="TextBox 10"/>
          <p:cNvSpPr txBox="1"/>
          <p:nvPr/>
        </p:nvSpPr>
        <p:spPr>
          <a:xfrm>
            <a:off x="8677427" y="1975104"/>
            <a:ext cx="2362123"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MOT REPÈRE</a:t>
            </a:r>
          </a:p>
        </p:txBody>
      </p:sp>
      <p:sp>
        <p:nvSpPr>
          <p:cNvPr id="12" name="TextBox 11"/>
          <p:cNvSpPr txBox="1"/>
          <p:nvPr/>
        </p:nvSpPr>
        <p:spPr>
          <a:xfrm>
            <a:off x="932688" y="2395728"/>
            <a:ext cx="2362123" cy="640080"/>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le son « u »</a:t>
            </a:r>
          </a:p>
        </p:txBody>
      </p:sp>
      <p:sp>
        <p:nvSpPr>
          <p:cNvPr id="13" name="TextBox 12"/>
          <p:cNvSpPr txBox="1"/>
          <p:nvPr/>
        </p:nvSpPr>
        <p:spPr>
          <a:xfrm>
            <a:off x="3514267" y="2395728"/>
            <a:ext cx="2362123"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 û</a:t>
            </a:r>
          </a:p>
        </p:txBody>
      </p:sp>
      <p:sp>
        <p:nvSpPr>
          <p:cNvPr id="14" name="TextBox 13"/>
          <p:cNvSpPr txBox="1"/>
          <p:nvPr/>
        </p:nvSpPr>
        <p:spPr>
          <a:xfrm>
            <a:off x="6095847" y="2395728"/>
            <a:ext cx="2362123"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lèvres arrondies, langue en avant</a:t>
            </a:r>
          </a:p>
        </p:txBody>
      </p:sp>
      <p:sp>
        <p:nvSpPr>
          <p:cNvPr id="15" name="TextBox 14"/>
          <p:cNvSpPr txBox="1"/>
          <p:nvPr/>
        </p:nvSpPr>
        <p:spPr>
          <a:xfrm>
            <a:off x="8677427" y="2395728"/>
            <a:ext cx="2362123"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brûlure</a:t>
            </a:r>
          </a:p>
        </p:txBody>
      </p:sp>
      <p:sp>
        <p:nvSpPr>
          <p:cNvPr id="16" name="Rectangle 15"/>
          <p:cNvSpPr/>
          <p:nvPr/>
        </p:nvSpPr>
        <p:spPr>
          <a:xfrm>
            <a:off x="932688" y="310896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3236976"/>
            <a:ext cx="2362123" cy="640080"/>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le son « ou »</a:t>
            </a:r>
          </a:p>
        </p:txBody>
      </p:sp>
      <p:sp>
        <p:nvSpPr>
          <p:cNvPr id="18" name="TextBox 17"/>
          <p:cNvSpPr txBox="1"/>
          <p:nvPr/>
        </p:nvSpPr>
        <p:spPr>
          <a:xfrm>
            <a:off x="3514267" y="3236976"/>
            <a:ext cx="2362123"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ou, oû</a:t>
            </a:r>
          </a:p>
        </p:txBody>
      </p:sp>
      <p:sp>
        <p:nvSpPr>
          <p:cNvPr id="19" name="TextBox 18"/>
          <p:cNvSpPr txBox="1"/>
          <p:nvPr/>
        </p:nvSpPr>
        <p:spPr>
          <a:xfrm>
            <a:off x="6095847" y="3236976"/>
            <a:ext cx="2362123"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lèvres arrondies, langue en arrière</a:t>
            </a:r>
          </a:p>
        </p:txBody>
      </p:sp>
      <p:sp>
        <p:nvSpPr>
          <p:cNvPr id="20" name="TextBox 19"/>
          <p:cNvSpPr txBox="1"/>
          <p:nvPr/>
        </p:nvSpPr>
        <p:spPr>
          <a:xfrm>
            <a:off x="8677427" y="3236976"/>
            <a:ext cx="2362123"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douleur</a:t>
            </a:r>
          </a:p>
        </p:txBody>
      </p:sp>
      <p:sp>
        <p:nvSpPr>
          <p:cNvPr id="21" name="Rounded Rectangle 20"/>
          <p:cNvSpPr/>
          <p:nvPr/>
        </p:nvSpPr>
        <p:spPr>
          <a:xfrm>
            <a:off x="566928" y="4370831"/>
            <a:ext cx="11057839" cy="1175004"/>
          </a:xfrm>
          <a:prstGeom prst="roundRect">
            <a:avLst>
              <a:gd name="adj" fmla="val 12451"/>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4626864"/>
            <a:ext cx="10234879" cy="71780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Les lèvres font la même chose dans les deux cas. C'est la langue qui change de place, et elle ne se voit pas.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LA BOUCHE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Comment fabriquer le son « u »</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42138"/>
          </a:xfrm>
          <a:prstGeom prst="rect">
            <a:avLst/>
          </a:prstGeom>
          <a:noFill/>
        </p:spPr>
        <p:txBody>
          <a:bodyPr wrap="square" lIns="0" rIns="0" tIns="0" bIns="0" anchor="t">
            <a:spAutoFit/>
          </a:bodyPr>
          <a:lstStyle/>
          <a:p>
            <a:pPr algn="l">
              <a:lnSpc>
                <a:spcPct val="118000"/>
              </a:lnSpc>
            </a:pPr>
            <a:r>
              <a:rPr sz="2100" b="1" i="0">
                <a:solidFill>
                  <a:srgbClr val="3B49A0"/>
                </a:solidFill>
                <a:latin typeface="Verdana"/>
              </a:rPr>
              <a:t>Étape 1 · dites « i »</a:t>
            </a:r>
          </a:p>
        </p:txBody>
      </p:sp>
      <p:sp>
        <p:nvSpPr>
          <p:cNvPr id="9" name="TextBox 8"/>
          <p:cNvSpPr txBox="1"/>
          <p:nvPr/>
        </p:nvSpPr>
        <p:spPr>
          <a:xfrm>
            <a:off x="886968" y="2454402"/>
            <a:ext cx="4806543" cy="1134618"/>
          </a:xfrm>
          <a:prstGeom prst="rect">
            <a:avLst/>
          </a:prstGeom>
          <a:noFill/>
        </p:spPr>
        <p:txBody>
          <a:bodyPr wrap="square" lIns="0" rIns="0" tIns="0" bIns="0" anchor="t">
            <a:spAutoFit/>
          </a:bodyPr>
          <a:lstStyle/>
          <a:p>
            <a:pPr algn="l">
              <a:lnSpc>
                <a:spcPct val="142000"/>
              </a:lnSpc>
            </a:pPr>
            <a:r>
              <a:rPr sz="1700" b="0" i="0">
                <a:solidFill>
                  <a:srgbClr val="3A3D40"/>
                </a:solidFill>
                <a:latin typeface="Verdana"/>
              </a:rPr>
              <a:t>La langue monte à l'avant de la bouche, les lèvres sont plates et étirées. Gardez cette position de langue.</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42138"/>
          </a:xfrm>
          <a:prstGeom prst="rect">
            <a:avLst/>
          </a:prstGeom>
          <a:noFill/>
        </p:spPr>
        <p:txBody>
          <a:bodyPr wrap="square" lIns="0" rIns="0" tIns="0" bIns="0" anchor="t">
            <a:spAutoFit/>
          </a:bodyPr>
          <a:lstStyle/>
          <a:p>
            <a:pPr algn="l">
              <a:lnSpc>
                <a:spcPct val="118000"/>
              </a:lnSpc>
            </a:pPr>
            <a:r>
              <a:rPr sz="2100" b="1" i="0">
                <a:solidFill>
                  <a:srgbClr val="3B49A0"/>
                </a:solidFill>
                <a:latin typeface="Verdana"/>
              </a:rPr>
              <a:t>Étape 2 · arrondissez les lèvres</a:t>
            </a:r>
          </a:p>
        </p:txBody>
      </p:sp>
      <p:sp>
        <p:nvSpPr>
          <p:cNvPr id="12" name="TextBox 11"/>
          <p:cNvSpPr txBox="1"/>
          <p:nvPr/>
        </p:nvSpPr>
        <p:spPr>
          <a:xfrm>
            <a:off x="6498183" y="2454402"/>
            <a:ext cx="4806543" cy="1134618"/>
          </a:xfrm>
          <a:prstGeom prst="rect">
            <a:avLst/>
          </a:prstGeom>
          <a:noFill/>
        </p:spPr>
        <p:txBody>
          <a:bodyPr wrap="square" lIns="0" rIns="0" tIns="0" bIns="0" anchor="t">
            <a:spAutoFit/>
          </a:bodyPr>
          <a:lstStyle/>
          <a:p>
            <a:pPr algn="l">
              <a:lnSpc>
                <a:spcPct val="142000"/>
              </a:lnSpc>
            </a:pPr>
            <a:r>
              <a:rPr sz="1700" b="0" i="0">
                <a:solidFill>
                  <a:srgbClr val="3A3D40"/>
                </a:solidFill>
                <a:latin typeface="Verdana"/>
              </a:rPr>
              <a:t>Sans bouger la langue, arrondissez les lèvres comme pour dire « ou ». Le son qui sort est « u ».</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42138"/>
          </a:xfrm>
          <a:prstGeom prst="rect">
            <a:avLst/>
          </a:prstGeom>
          <a:noFill/>
        </p:spPr>
        <p:txBody>
          <a:bodyPr wrap="square" lIns="0" rIns="0" tIns="0" bIns="0" anchor="t">
            <a:spAutoFit/>
          </a:bodyPr>
          <a:lstStyle/>
          <a:p>
            <a:pPr algn="l">
              <a:lnSpc>
                <a:spcPct val="118000"/>
              </a:lnSpc>
            </a:pPr>
            <a:r>
              <a:rPr sz="2100" b="1" i="0">
                <a:solidFill>
                  <a:srgbClr val="3B49A0"/>
                </a:solidFill>
                <a:latin typeface="Verdana"/>
              </a:rPr>
              <a:t>Le contraste</a:t>
            </a:r>
          </a:p>
        </p:txBody>
      </p:sp>
      <p:sp>
        <p:nvSpPr>
          <p:cNvPr id="15" name="TextBox 14"/>
          <p:cNvSpPr txBox="1"/>
          <p:nvPr/>
        </p:nvSpPr>
        <p:spPr>
          <a:xfrm>
            <a:off x="886968" y="4671822"/>
            <a:ext cx="4806543" cy="1134618"/>
          </a:xfrm>
          <a:prstGeom prst="rect">
            <a:avLst/>
          </a:prstGeom>
          <a:noFill/>
        </p:spPr>
        <p:txBody>
          <a:bodyPr wrap="square" lIns="0" rIns="0" tIns="0" bIns="0" anchor="t">
            <a:spAutoFit/>
          </a:bodyPr>
          <a:lstStyle/>
          <a:p>
            <a:pPr algn="l">
              <a:lnSpc>
                <a:spcPct val="142000"/>
              </a:lnSpc>
            </a:pPr>
            <a:r>
              <a:rPr sz="1700" b="0" i="0">
                <a:solidFill>
                  <a:srgbClr val="3A3D40"/>
                </a:solidFill>
                <a:latin typeface="Verdana"/>
              </a:rPr>
              <a:t>Pour « ou », la langue recule vers le fond. Pour « u », elle reste en avant. Les lèvres, elles, ne changent pas.</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42138"/>
          </a:xfrm>
          <a:prstGeom prst="rect">
            <a:avLst/>
          </a:prstGeom>
          <a:noFill/>
        </p:spPr>
        <p:txBody>
          <a:bodyPr wrap="square" lIns="0" rIns="0" tIns="0" bIns="0" anchor="t">
            <a:spAutoFit/>
          </a:bodyPr>
          <a:lstStyle/>
          <a:p>
            <a:pPr algn="l">
              <a:lnSpc>
                <a:spcPct val="118000"/>
              </a:lnSpc>
            </a:pPr>
            <a:r>
              <a:rPr sz="2100" b="1" i="0">
                <a:solidFill>
                  <a:srgbClr val="3B49A0"/>
                </a:solidFill>
                <a:latin typeface="Verdana"/>
              </a:rPr>
              <a:t>L'exercice qui marche</a:t>
            </a:r>
          </a:p>
        </p:txBody>
      </p:sp>
      <p:sp>
        <p:nvSpPr>
          <p:cNvPr id="18" name="TextBox 17"/>
          <p:cNvSpPr txBox="1"/>
          <p:nvPr/>
        </p:nvSpPr>
        <p:spPr>
          <a:xfrm>
            <a:off x="6498183" y="4671822"/>
            <a:ext cx="4806543" cy="1134618"/>
          </a:xfrm>
          <a:prstGeom prst="rect">
            <a:avLst/>
          </a:prstGeom>
          <a:noFill/>
        </p:spPr>
        <p:txBody>
          <a:bodyPr wrap="square" lIns="0" rIns="0" tIns="0" bIns="0" anchor="t">
            <a:spAutoFit/>
          </a:bodyPr>
          <a:lstStyle/>
          <a:p>
            <a:pPr algn="l">
              <a:lnSpc>
                <a:spcPct val="142000"/>
              </a:lnSpc>
            </a:pPr>
            <a:r>
              <a:rPr sz="1700" b="0" i="0">
                <a:solidFill>
                  <a:srgbClr val="3A3D40"/>
                </a:solidFill>
                <a:latin typeface="Verdana"/>
              </a:rPr>
              <a:t>Dites « i - u - i - u » dix fois, lentement. Seules les lèvres bougent. C'est le seul exercice qui installe vraiment ce son.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PRATIQUE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 son entendez-vous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le mot, écrivez « u » ou « ou ».</a:t>
            </a:r>
          </a:p>
        </p:txBody>
      </p:sp>
      <p:sp>
        <p:nvSpPr>
          <p:cNvPr id="8" name="Rounded Rectangle 7"/>
          <p:cNvSpPr/>
          <p:nvPr/>
        </p:nvSpPr>
        <p:spPr>
          <a:xfrm>
            <a:off x="566928" y="2139696"/>
            <a:ext cx="5464911"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brûlure</a:t>
            </a:r>
          </a:p>
        </p:txBody>
      </p:sp>
      <p:sp>
        <p:nvSpPr>
          <p:cNvPr id="12" name="Rounded Rectangle 11"/>
          <p:cNvSpPr/>
          <p:nvPr/>
        </p:nvSpPr>
        <p:spPr>
          <a:xfrm>
            <a:off x="6159855" y="2139696"/>
            <a:ext cx="5464911"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28117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34518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6937095" y="2295144"/>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douleur</a:t>
            </a:r>
          </a:p>
        </p:txBody>
      </p:sp>
      <p:sp>
        <p:nvSpPr>
          <p:cNvPr id="16" name="Rounded Rectangle 15"/>
          <p:cNvSpPr/>
          <p:nvPr/>
        </p:nvSpPr>
        <p:spPr>
          <a:xfrm>
            <a:off x="566928" y="2916428"/>
            <a:ext cx="5464911"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057905"/>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071876"/>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urgence</a:t>
            </a:r>
          </a:p>
        </p:txBody>
      </p:sp>
      <p:sp>
        <p:nvSpPr>
          <p:cNvPr id="20" name="Rounded Rectangle 19"/>
          <p:cNvSpPr/>
          <p:nvPr/>
        </p:nvSpPr>
        <p:spPr>
          <a:xfrm>
            <a:off x="6159855" y="2916428"/>
            <a:ext cx="5464911"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057905"/>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121913"/>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6937095" y="3071876"/>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pouce</a:t>
            </a:r>
          </a:p>
        </p:txBody>
      </p:sp>
      <p:sp>
        <p:nvSpPr>
          <p:cNvPr id="24" name="Rounded Rectangle 23"/>
          <p:cNvSpPr/>
          <p:nvPr/>
        </p:nvSpPr>
        <p:spPr>
          <a:xfrm>
            <a:off x="566928" y="3693160"/>
            <a:ext cx="5464911"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383463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3848608"/>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minute</a:t>
            </a:r>
          </a:p>
        </p:txBody>
      </p:sp>
      <p:sp>
        <p:nvSpPr>
          <p:cNvPr id="28" name="Rounded Rectangle 27"/>
          <p:cNvSpPr/>
          <p:nvPr/>
        </p:nvSpPr>
        <p:spPr>
          <a:xfrm>
            <a:off x="6159855" y="3693160"/>
            <a:ext cx="5464911"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383463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389864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6937095" y="3848608"/>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soupe</a:t>
            </a:r>
          </a:p>
        </p:txBody>
      </p:sp>
      <p:sp>
        <p:nvSpPr>
          <p:cNvPr id="32" name="Rounded Rectangle 31"/>
          <p:cNvSpPr/>
          <p:nvPr/>
        </p:nvSpPr>
        <p:spPr>
          <a:xfrm>
            <a:off x="566928" y="4469892"/>
            <a:ext cx="5464911"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461137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7</a:t>
            </a:r>
          </a:p>
        </p:txBody>
      </p:sp>
      <p:sp>
        <p:nvSpPr>
          <p:cNvPr id="35" name="TextBox 34"/>
          <p:cNvSpPr txBox="1"/>
          <p:nvPr/>
        </p:nvSpPr>
        <p:spPr>
          <a:xfrm>
            <a:off x="1344168" y="4625340"/>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sucre</a:t>
            </a:r>
          </a:p>
        </p:txBody>
      </p:sp>
      <p:sp>
        <p:nvSpPr>
          <p:cNvPr id="36" name="Rounded Rectangle 35"/>
          <p:cNvSpPr/>
          <p:nvPr/>
        </p:nvSpPr>
        <p:spPr>
          <a:xfrm>
            <a:off x="6159855" y="4469892"/>
            <a:ext cx="5464911"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6434175" y="461137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34175" y="467537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8</a:t>
            </a:r>
          </a:p>
        </p:txBody>
      </p:sp>
      <p:sp>
        <p:nvSpPr>
          <p:cNvPr id="39" name="TextBox 38"/>
          <p:cNvSpPr txBox="1"/>
          <p:nvPr/>
        </p:nvSpPr>
        <p:spPr>
          <a:xfrm>
            <a:off x="6937095" y="4625340"/>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soutien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 son entendez-vous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5464911"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brûlure   </a:t>
            </a:r>
            <a:r>
              <a:rPr sz="1900" b="1" i="0">
                <a:solidFill>
                  <a:srgbClr val="07734A"/>
                </a:solidFill>
                <a:latin typeface="Verdana"/>
              </a:rPr>
              <a:t>» le son « u »</a:t>
            </a:r>
          </a:p>
        </p:txBody>
      </p:sp>
      <p:sp>
        <p:nvSpPr>
          <p:cNvPr id="12" name="Rounded Rectangle 11"/>
          <p:cNvSpPr/>
          <p:nvPr/>
        </p:nvSpPr>
        <p:spPr>
          <a:xfrm>
            <a:off x="6159855" y="2139696"/>
            <a:ext cx="5464911"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28117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34518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6937095" y="2295144"/>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douleur   </a:t>
            </a:r>
            <a:r>
              <a:rPr sz="1900" b="1" i="0">
                <a:solidFill>
                  <a:srgbClr val="07734A"/>
                </a:solidFill>
                <a:latin typeface="Verdana"/>
              </a:rPr>
              <a:t>» le son « ou »</a:t>
            </a:r>
          </a:p>
        </p:txBody>
      </p:sp>
      <p:sp>
        <p:nvSpPr>
          <p:cNvPr id="16" name="Rounded Rectangle 15"/>
          <p:cNvSpPr/>
          <p:nvPr/>
        </p:nvSpPr>
        <p:spPr>
          <a:xfrm>
            <a:off x="566928" y="2916428"/>
            <a:ext cx="5464911"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057905"/>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071876"/>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urgence   </a:t>
            </a:r>
            <a:r>
              <a:rPr sz="1900" b="1" i="0">
                <a:solidFill>
                  <a:srgbClr val="07734A"/>
                </a:solidFill>
                <a:latin typeface="Verdana"/>
              </a:rPr>
              <a:t>» le son « u »</a:t>
            </a:r>
          </a:p>
        </p:txBody>
      </p:sp>
      <p:sp>
        <p:nvSpPr>
          <p:cNvPr id="20" name="Rounded Rectangle 19"/>
          <p:cNvSpPr/>
          <p:nvPr/>
        </p:nvSpPr>
        <p:spPr>
          <a:xfrm>
            <a:off x="6159855" y="2916428"/>
            <a:ext cx="5464911"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057905"/>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121913"/>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6937095" y="3071876"/>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pouce   </a:t>
            </a:r>
            <a:r>
              <a:rPr sz="1900" b="1" i="0">
                <a:solidFill>
                  <a:srgbClr val="07734A"/>
                </a:solidFill>
                <a:latin typeface="Verdana"/>
              </a:rPr>
              <a:t>» le son « ou »</a:t>
            </a:r>
          </a:p>
        </p:txBody>
      </p:sp>
      <p:sp>
        <p:nvSpPr>
          <p:cNvPr id="24" name="Rounded Rectangle 23"/>
          <p:cNvSpPr/>
          <p:nvPr/>
        </p:nvSpPr>
        <p:spPr>
          <a:xfrm>
            <a:off x="566928" y="3693160"/>
            <a:ext cx="5464911"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383463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3848608"/>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minute   </a:t>
            </a:r>
            <a:r>
              <a:rPr sz="1900" b="1" i="0">
                <a:solidFill>
                  <a:srgbClr val="07734A"/>
                </a:solidFill>
                <a:latin typeface="Verdana"/>
              </a:rPr>
              <a:t>» le son « u »</a:t>
            </a:r>
          </a:p>
        </p:txBody>
      </p:sp>
      <p:sp>
        <p:nvSpPr>
          <p:cNvPr id="28" name="Rounded Rectangle 27"/>
          <p:cNvSpPr/>
          <p:nvPr/>
        </p:nvSpPr>
        <p:spPr>
          <a:xfrm>
            <a:off x="6159855" y="3693160"/>
            <a:ext cx="5464911"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383463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389864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6937095" y="3848608"/>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soupe   </a:t>
            </a:r>
            <a:r>
              <a:rPr sz="1900" b="1" i="0">
                <a:solidFill>
                  <a:srgbClr val="07734A"/>
                </a:solidFill>
                <a:latin typeface="Verdana"/>
              </a:rPr>
              <a:t>» le son « ou »</a:t>
            </a:r>
          </a:p>
        </p:txBody>
      </p:sp>
      <p:sp>
        <p:nvSpPr>
          <p:cNvPr id="32" name="Rounded Rectangle 31"/>
          <p:cNvSpPr/>
          <p:nvPr/>
        </p:nvSpPr>
        <p:spPr>
          <a:xfrm>
            <a:off x="566928" y="4469892"/>
            <a:ext cx="5464911"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461137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7</a:t>
            </a:r>
          </a:p>
        </p:txBody>
      </p:sp>
      <p:sp>
        <p:nvSpPr>
          <p:cNvPr id="35" name="TextBox 34"/>
          <p:cNvSpPr txBox="1"/>
          <p:nvPr/>
        </p:nvSpPr>
        <p:spPr>
          <a:xfrm>
            <a:off x="1344168" y="4625340"/>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sucre   </a:t>
            </a:r>
            <a:r>
              <a:rPr sz="1900" b="1" i="0">
                <a:solidFill>
                  <a:srgbClr val="07734A"/>
                </a:solidFill>
                <a:latin typeface="Verdana"/>
              </a:rPr>
              <a:t>» le son « u »</a:t>
            </a:r>
          </a:p>
        </p:txBody>
      </p:sp>
      <p:sp>
        <p:nvSpPr>
          <p:cNvPr id="36" name="Rounded Rectangle 35"/>
          <p:cNvSpPr/>
          <p:nvPr/>
        </p:nvSpPr>
        <p:spPr>
          <a:xfrm>
            <a:off x="6159855" y="4469892"/>
            <a:ext cx="5464911"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6434175" y="461137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34175" y="467537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8</a:t>
            </a:r>
          </a:p>
        </p:txBody>
      </p:sp>
      <p:sp>
        <p:nvSpPr>
          <p:cNvPr id="39" name="TextBox 38"/>
          <p:cNvSpPr txBox="1"/>
          <p:nvPr/>
        </p:nvSpPr>
        <p:spPr>
          <a:xfrm>
            <a:off x="6937095" y="4625340"/>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soutien   </a:t>
            </a:r>
            <a:r>
              <a:rPr sz="1900" b="1" i="0">
                <a:solidFill>
                  <a:srgbClr val="07734A"/>
                </a:solidFill>
                <a:latin typeface="Verdana"/>
              </a:rPr>
              <a:t>» le son « ou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paires qui se distinguent par ce seul son</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AVEC « U »</a:t>
            </a:r>
          </a:p>
        </p:txBody>
      </p:sp>
      <p:sp>
        <p:nvSpPr>
          <p:cNvPr id="9" name="TextBox 8"/>
          <p:cNvSpPr txBox="1"/>
          <p:nvPr/>
        </p:nvSpPr>
        <p:spPr>
          <a:xfrm>
            <a:off x="4374794"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AVEC « OU »</a:t>
            </a:r>
          </a:p>
        </p:txBody>
      </p:sp>
      <p:sp>
        <p:nvSpPr>
          <p:cNvPr id="10" name="TextBox 9"/>
          <p:cNvSpPr txBox="1"/>
          <p:nvPr/>
        </p:nvSpPr>
        <p:spPr>
          <a:xfrm>
            <a:off x="7816900"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DEUX MOTS DIFFÉRENTS</a:t>
            </a:r>
          </a:p>
        </p:txBody>
      </p:sp>
      <p:sp>
        <p:nvSpPr>
          <p:cNvPr id="11" name="TextBox 10"/>
          <p:cNvSpPr txBox="1"/>
          <p:nvPr/>
        </p:nvSpPr>
        <p:spPr>
          <a:xfrm>
            <a:off x="932688"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su</a:t>
            </a:r>
          </a:p>
        </p:txBody>
      </p:sp>
      <p:sp>
        <p:nvSpPr>
          <p:cNvPr id="12" name="TextBox 11"/>
          <p:cNvSpPr txBox="1"/>
          <p:nvPr/>
        </p:nvSpPr>
        <p:spPr>
          <a:xfrm>
            <a:off x="4374794"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sou</a:t>
            </a:r>
          </a:p>
        </p:txBody>
      </p:sp>
      <p:sp>
        <p:nvSpPr>
          <p:cNvPr id="13" name="TextBox 12"/>
          <p:cNvSpPr txBox="1"/>
          <p:nvPr/>
        </p:nvSpPr>
        <p:spPr>
          <a:xfrm>
            <a:off x="7816900" y="2395728"/>
            <a:ext cx="3222650"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il a su · un sou</a:t>
            </a:r>
          </a:p>
        </p:txBody>
      </p:sp>
      <p:sp>
        <p:nvSpPr>
          <p:cNvPr id="14" name="Rectangle 13"/>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2935224"/>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pu</a:t>
            </a:r>
          </a:p>
        </p:txBody>
      </p:sp>
      <p:sp>
        <p:nvSpPr>
          <p:cNvPr id="16" name="TextBox 15"/>
          <p:cNvSpPr txBox="1"/>
          <p:nvPr/>
        </p:nvSpPr>
        <p:spPr>
          <a:xfrm>
            <a:off x="4374794" y="2935224"/>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pou</a:t>
            </a:r>
          </a:p>
        </p:txBody>
      </p:sp>
      <p:sp>
        <p:nvSpPr>
          <p:cNvPr id="17" name="TextBox 16"/>
          <p:cNvSpPr txBox="1"/>
          <p:nvPr/>
        </p:nvSpPr>
        <p:spPr>
          <a:xfrm>
            <a:off x="7816900" y="2935224"/>
            <a:ext cx="3222650"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il a pu · un pou</a:t>
            </a:r>
          </a:p>
        </p:txBody>
      </p:sp>
      <p:sp>
        <p:nvSpPr>
          <p:cNvPr id="18" name="Rectangle 17"/>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474720"/>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rue</a:t>
            </a:r>
          </a:p>
        </p:txBody>
      </p:sp>
      <p:sp>
        <p:nvSpPr>
          <p:cNvPr id="20" name="TextBox 19"/>
          <p:cNvSpPr txBox="1"/>
          <p:nvPr/>
        </p:nvSpPr>
        <p:spPr>
          <a:xfrm>
            <a:off x="4374794" y="3474720"/>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roue</a:t>
            </a:r>
          </a:p>
        </p:txBody>
      </p:sp>
      <p:sp>
        <p:nvSpPr>
          <p:cNvPr id="21" name="TextBox 20"/>
          <p:cNvSpPr txBox="1"/>
          <p:nvPr/>
        </p:nvSpPr>
        <p:spPr>
          <a:xfrm>
            <a:off x="7816900" y="3474720"/>
            <a:ext cx="3222650"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une rue · une roue</a:t>
            </a:r>
          </a:p>
        </p:txBody>
      </p:sp>
      <p:sp>
        <p:nvSpPr>
          <p:cNvPr id="22" name="Rectangle 21"/>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4014215"/>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dessus</a:t>
            </a:r>
          </a:p>
        </p:txBody>
      </p:sp>
      <p:sp>
        <p:nvSpPr>
          <p:cNvPr id="24" name="TextBox 23"/>
          <p:cNvSpPr txBox="1"/>
          <p:nvPr/>
        </p:nvSpPr>
        <p:spPr>
          <a:xfrm>
            <a:off x="4374794" y="4014215"/>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dessous</a:t>
            </a:r>
          </a:p>
        </p:txBody>
      </p:sp>
      <p:sp>
        <p:nvSpPr>
          <p:cNvPr id="25" name="TextBox 24"/>
          <p:cNvSpPr txBox="1"/>
          <p:nvPr/>
        </p:nvSpPr>
        <p:spPr>
          <a:xfrm>
            <a:off x="7816900" y="4014215"/>
            <a:ext cx="3222650"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au-dessus · au-dessous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LE PIÈGE DE « AU-DESSUS »</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Mets ça au-dessous, quand on veut dire au-dessus</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au-dessus — le son « u » à la fin</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Ces deux mots disent le contraire l'un de l'autre, et un seul son les sépare. Dans une cuisine ou un entrepôt, cela change complètement une consigne. Quand vous n'êtes pas sûr d'être compris, montrez avec la main.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LE TROISIÈME DE LA FAMILLE</a:t>
            </a:r>
          </a:p>
        </p:txBody>
      </p:sp>
      <p:sp>
        <p:nvSpPr>
          <p:cNvPr id="6" name="Rounded Rectangle 5"/>
          <p:cNvSpPr/>
          <p:nvPr/>
        </p:nvSpPr>
        <p:spPr>
          <a:xfrm>
            <a:off x="566928" y="1225296"/>
            <a:ext cx="11057839" cy="1967991"/>
          </a:xfrm>
          <a:prstGeom prst="roundRect">
            <a:avLst>
              <a:gd name="adj" fmla="val 7434"/>
            </a:avLst>
          </a:prstGeom>
          <a:solidFill>
            <a:srgbClr val="E8EA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Le son « i » s'écrit i, î ou y : cuisine, infirmière, plaie.</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Les trois sons — i, u, ou — se font tous avec la bouche presque fermée. Le « i » a les lèvres étirées, le « u » et le « ou » les ont arrondies. C'est le premier tri à faire.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PRATIQUE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Complétez avec u ou ou</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Un seul groupe de lettres par trou.</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brûl___re (la blessure)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d___leur (ce qu'on sent)</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l'___rgence (le service de l'hôpital)</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p___ce (le premier doigt)</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min___te (soixante secondes)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s___tien (l'aide qu'on reçoit)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Complétez avec u ou ou</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brûl___re (la blessure)   </a:t>
            </a:r>
            <a:r>
              <a:rPr sz="1400" b="1" i="0">
                <a:solidFill>
                  <a:srgbClr val="07734A"/>
                </a:solidFill>
                <a:latin typeface="Verdana"/>
              </a:rPr>
              <a:t>» brûlure — u</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d___leur (ce qu'on sent)   </a:t>
            </a:r>
            <a:r>
              <a:rPr sz="1400" b="1" i="0">
                <a:solidFill>
                  <a:srgbClr val="07734A"/>
                </a:solidFill>
                <a:latin typeface="Verdana"/>
              </a:rPr>
              <a:t>» douleur — ou</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l'___rgence (le service de l'hôpital)   </a:t>
            </a:r>
            <a:r>
              <a:rPr sz="1400" b="1" i="0">
                <a:solidFill>
                  <a:srgbClr val="07734A"/>
                </a:solidFill>
                <a:latin typeface="Verdana"/>
              </a:rPr>
              <a:t>» urgence — u</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p___ce (le premier doigt)   </a:t>
            </a:r>
            <a:r>
              <a:rPr sz="1400" b="1" i="0">
                <a:solidFill>
                  <a:srgbClr val="07734A"/>
                </a:solidFill>
                <a:latin typeface="Verdana"/>
              </a:rPr>
              <a:t>» pouce — ou</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min___te (soixante secondes)   </a:t>
            </a:r>
            <a:r>
              <a:rPr sz="1400" b="1" i="0">
                <a:solidFill>
                  <a:srgbClr val="07734A"/>
                </a:solidFill>
                <a:latin typeface="Verdana"/>
              </a:rPr>
              <a:t>» minute — u</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s___tien (l'aide qu'on reçoit)   </a:t>
            </a:r>
            <a:r>
              <a:rPr sz="1400" b="1" i="0">
                <a:solidFill>
                  <a:srgbClr val="07734A"/>
                </a:solidFill>
                <a:latin typeface="Verdana"/>
              </a:rPr>
              <a:t>» soutien — ou</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PRATIQUE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phrases à lire à voix haute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Chacun lit une phrase. Le groupe corrige les deux sons, rien d'autre.</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brûlure de Fatou est douloureuse.</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À l'urgence, l'infirmière a nettoyé la plaie en quinze minutes.</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Il a mis son pouce sous l'eau froide.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phrases à lire à voix haute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brûlure de Fatou est douloureuse.   </a:t>
            </a:r>
            <a:r>
              <a:rPr sz="1900" b="1" i="0">
                <a:solidFill>
                  <a:srgbClr val="07734A"/>
                </a:solidFill>
                <a:latin typeface="Verdana"/>
              </a:rPr>
              <a:t>» u · ou · ou</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À l'urgence, l'infirmière a nettoyé la plaie en quinze minutes.   </a:t>
            </a:r>
            <a:r>
              <a:rPr sz="1900" b="1" i="0">
                <a:solidFill>
                  <a:srgbClr val="07734A"/>
                </a:solidFill>
                <a:latin typeface="Verdana"/>
              </a:rPr>
              <a:t>» u · i · u</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Il a mis son pouce sous l'eau froide.   </a:t>
            </a:r>
            <a:r>
              <a:rPr sz="1900" b="1" i="0">
                <a:solidFill>
                  <a:srgbClr val="07734A"/>
                </a:solidFill>
                <a:latin typeface="Verdana"/>
              </a:rPr>
              <a:t>» ou · ou · ou</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15</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quatre mots du module : deux avec le son « u », deux avec le son « ou ».</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Soulignez la ou les lettres qui font le son.</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Exemple : « brûlure » — le son « u », lettre û.</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Une urgence au travail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