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au tableau les deux phrases : « L'huile a brûlé son bras » et « Elle s'est brûlé le bras ». Demander la différence. Le groupe trouvera « c'est elle-même » : c'est exactement la leçon.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 nouvelle à annoncer comme telle : après la difficulté du choix d'auxiliaire en B2, ici il n'y a rien à choisir.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pronom change avec la personne : me, te, se, nous, vous, se. C'est la seule partie qui demande de la mémoire.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la plus difficile du module. Y consacrer le temps qu'il faut, et accepter que tout le monde ne la maîtrise pas à la fin.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appliquer le test à voix haute sur les quatre lignes. C'est un test mécanique : il ne demande pas de comprendre pourquoi.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verbes couvrent la grande majorité des accidents de travail. Les faire employer chacun dans une phrase complète.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chercher, pour chaque item, s'il y a un complément après le participe. C'est la seule question à se poser.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diapo mérite dix minutes. Écrire les deux versions au tableau et faire appliquer le test par cinq élèves différents.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Erreur très fréquente et très audible. La corriger systématiquement à l'oral, dès la première occurrence, pendant tout le reste du module.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cinquième item est le plus fin : « au travail » indique le lieu, pas l'objet. L'accord se fait. Le signaler sans en faire une règle nouvelle.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item n'a pas de partie du corps : l'accord se fait. C'est le contraste qui installe la règle.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surtout la présence de l'auxiliaire être. L'accord viendra plus tard ; l'auxiliaire, lui, doit être acquis avant la fin du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B3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Je me suis brûlé</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on se blesse soi-même, le français ajoute un petit mot devant le verbe. Et cet ajout change l'auxiliaire, puis l'accord. Trois conséquences pour deux lettres.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Une urgence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verbe pronominal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le conjuguer au passé composé avec être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accorder le participe avec le sujet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quand l'accord ne se fait pas.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RÈGLE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verbe pronominal se conjugue toujours avec être au passé composé.</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Je me suis brûlé. Il s'est coupé. Nous nous sommes lavés. Jamais avoir, dans aucun cas. C'est la seule règle du français où il n'y a pas d'exception à retenir.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Se brûler au passé composé</a:t>
            </a:r>
          </a:p>
        </p:txBody>
      </p:sp>
      <p:sp>
        <p:nvSpPr>
          <p:cNvPr id="7" name="Rounded Rectangle 6"/>
          <p:cNvSpPr/>
          <p:nvPr/>
        </p:nvSpPr>
        <p:spPr>
          <a:xfrm>
            <a:off x="566928" y="1810512"/>
            <a:ext cx="11057839" cy="3337560"/>
          </a:xfrm>
          <a:prstGeom prst="roundRect">
            <a:avLst>
              <a:gd name="adj" fmla="val 4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PERSONNE</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PRONOM</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FORME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me</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me suis brûlé</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tu</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te</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tu t'es brûlé</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elle</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se</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s'est brûlée</a:t>
            </a:r>
          </a:p>
        </p:txBody>
      </p:sp>
      <p:sp>
        <p:nvSpPr>
          <p:cNvPr id="22" name="Rectangle 21"/>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nous</a:t>
            </a:r>
          </a:p>
        </p:txBody>
      </p:sp>
      <p:sp>
        <p:nvSpPr>
          <p:cNvPr id="24" name="TextBox 23"/>
          <p:cNvSpPr txBox="1"/>
          <p:nvPr/>
        </p:nvSpPr>
        <p:spPr>
          <a:xfrm>
            <a:off x="4374794" y="4014215"/>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nous</a:t>
            </a:r>
          </a:p>
        </p:txBody>
      </p:sp>
      <p:sp>
        <p:nvSpPr>
          <p:cNvPr id="25" name="TextBox 24"/>
          <p:cNvSpPr txBox="1"/>
          <p:nvPr/>
        </p:nvSpPr>
        <p:spPr>
          <a:xfrm>
            <a:off x="7816900"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nous nous sommes brûlés</a:t>
            </a:r>
          </a:p>
        </p:txBody>
      </p:sp>
      <p:sp>
        <p:nvSpPr>
          <p:cNvPr id="26" name="Rectangle 25"/>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2688" y="4553712"/>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a:t>
            </a:r>
          </a:p>
        </p:txBody>
      </p:sp>
      <p:sp>
        <p:nvSpPr>
          <p:cNvPr id="28" name="TextBox 27"/>
          <p:cNvSpPr txBox="1"/>
          <p:nvPr/>
        </p:nvSpPr>
        <p:spPr>
          <a:xfrm>
            <a:off x="4374794" y="4553712"/>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vous</a:t>
            </a:r>
          </a:p>
        </p:txBody>
      </p:sp>
      <p:sp>
        <p:nvSpPr>
          <p:cNvPr id="29" name="TextBox 28"/>
          <p:cNvSpPr txBox="1"/>
          <p:nvPr/>
        </p:nvSpPr>
        <p:spPr>
          <a:xfrm>
            <a:off x="7816900" y="4553712"/>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 vous êtes brûlés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RÈGLE D'ACCORD</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participe s'accorde avec le sujet — sauf si une partie du corps suit.</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Elle s'est blessée » : accord. « Elle s'est blessé le bras » : pas d'accord, parce que « le bras » vient après. Dès qu'un complément suit le participe, l'accord disparaît.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Avec ou sans accord</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ACCORD ?</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POURQUOI</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s'est blessée.</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oui</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rien après le participe</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s'est blessé le bras.</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non</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 le bras » suit</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Ils se sont coupés.</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oui</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rien après</a:t>
            </a:r>
          </a:p>
        </p:txBody>
      </p:sp>
      <p:sp>
        <p:nvSpPr>
          <p:cNvPr id="22" name="Rectangle 21"/>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Ils se sont coupé le doigt.</a:t>
            </a:r>
          </a:p>
        </p:txBody>
      </p:sp>
      <p:sp>
        <p:nvSpPr>
          <p:cNvPr id="24" name="TextBox 23"/>
          <p:cNvSpPr txBox="1"/>
          <p:nvPr/>
        </p:nvSpPr>
        <p:spPr>
          <a:xfrm>
            <a:off x="4374794" y="4014215"/>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non</a:t>
            </a:r>
          </a:p>
        </p:txBody>
      </p:sp>
      <p:sp>
        <p:nvSpPr>
          <p:cNvPr id="25" name="TextBox 24"/>
          <p:cNvSpPr txBox="1"/>
          <p:nvPr/>
        </p:nvSpPr>
        <p:spPr>
          <a:xfrm>
            <a:off x="7816900"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 le doigt » suit</a:t>
            </a:r>
          </a:p>
        </p:txBody>
      </p:sp>
      <p:sp>
        <p:nvSpPr>
          <p:cNvPr id="26" name="Rounded Rectangle 25"/>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test tient en une question : y a-t-il quelque chose juste après le participe ? Si oui, pas d'accord.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EN APPRENDRE PLUS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verbes pronominaux du travail</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se blesser</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mot général : « je me suis blessé au travail ». C'est celui à employer quand on remplit une déclaration d'accident.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se couper</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Avec un objet tranchant. « Je me suis coupé le doigt en préparant les légumes.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se brûler</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Avec la chaleur. « Elle s'est brûlé l'avant-bras avec de l'huile chaude. »</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se tordre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Une articulation qui part de travers. « Il s'est tordu la cheville dans l'escalier.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200" b="1" i="0">
                <a:solidFill>
                  <a:srgbClr val="17181A"/>
                </a:solidFill>
                <a:latin typeface="Verdana"/>
              </a:rPr>
              <a:t>Écrivez le verbe pronominal au passé composé</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L'auxiliaire est toujours être.</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Je (se brûler) ___ l'avant-bras.</a:t>
            </a:r>
          </a:p>
        </p:txBody>
      </p:sp>
      <p:sp>
        <p:nvSpPr>
          <p:cNvPr id="12" name="Rounded Rectangle 11"/>
          <p:cNvSpPr/>
          <p:nvPr/>
        </p:nvSpPr>
        <p:spPr>
          <a:xfrm>
            <a:off x="566928" y="289864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Elle (se couper) ___ en préparant les légumes.</a:t>
            </a:r>
          </a:p>
        </p:txBody>
      </p:sp>
      <p:sp>
        <p:nvSpPr>
          <p:cNvPr id="16" name="Rounded Rectangle 15"/>
          <p:cNvSpPr/>
          <p:nvPr/>
        </p:nvSpPr>
        <p:spPr>
          <a:xfrm>
            <a:off x="566928" y="365760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Ils (se blesser) ___ au travail.</a:t>
            </a:r>
          </a:p>
        </p:txBody>
      </p:sp>
      <p:sp>
        <p:nvSpPr>
          <p:cNvPr id="20" name="Rounded Rectangle 19"/>
          <p:cNvSpPr/>
          <p:nvPr/>
        </p:nvSpPr>
        <p:spPr>
          <a:xfrm>
            <a:off x="566928" y="4416552"/>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Nous (se laver) ___ les mains avant les soins.</a:t>
            </a:r>
          </a:p>
        </p:txBody>
      </p:sp>
      <p:sp>
        <p:nvSpPr>
          <p:cNvPr id="24" name="Rounded Rectangle 23"/>
          <p:cNvSpPr/>
          <p:nvPr/>
        </p:nvSpPr>
        <p:spPr>
          <a:xfrm>
            <a:off x="566928" y="5175504"/>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Il (se tordre) ___ la cheville.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200" b="1" i="0">
                <a:solidFill>
                  <a:srgbClr val="17181A"/>
                </a:solidFill>
                <a:latin typeface="Verdana"/>
              </a:rPr>
              <a:t>Écrivez le verbe pronominal au passé composé</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Je (se brûler) ___ l'avant-bras.   </a:t>
            </a:r>
            <a:r>
              <a:rPr sz="1800" b="1" i="0">
                <a:solidFill>
                  <a:srgbClr val="07734A"/>
                </a:solidFill>
                <a:latin typeface="Verdana"/>
              </a:rPr>
              <a:t>» me suis brûlé — pas d'accord, « l'avant-bras » suit</a:t>
            </a:r>
          </a:p>
        </p:txBody>
      </p:sp>
      <p:sp>
        <p:nvSpPr>
          <p:cNvPr id="12" name="Rounded Rectangle 11"/>
          <p:cNvSpPr/>
          <p:nvPr/>
        </p:nvSpPr>
        <p:spPr>
          <a:xfrm>
            <a:off x="566928" y="289864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Elle (se couper) ___ en préparant les légumes.   </a:t>
            </a:r>
            <a:r>
              <a:rPr sz="1800" b="1" i="0">
                <a:solidFill>
                  <a:srgbClr val="07734A"/>
                </a:solidFill>
                <a:latin typeface="Verdana"/>
              </a:rPr>
              <a:t>» s'est coupée — accord</a:t>
            </a:r>
          </a:p>
        </p:txBody>
      </p:sp>
      <p:sp>
        <p:nvSpPr>
          <p:cNvPr id="16" name="Rounded Rectangle 15"/>
          <p:cNvSpPr/>
          <p:nvPr/>
        </p:nvSpPr>
        <p:spPr>
          <a:xfrm>
            <a:off x="566928" y="365760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Ils (se blesser) ___ au travail.   </a:t>
            </a:r>
            <a:r>
              <a:rPr sz="1800" b="1" i="0">
                <a:solidFill>
                  <a:srgbClr val="07734A"/>
                </a:solidFill>
                <a:latin typeface="Verdana"/>
              </a:rPr>
              <a:t>» se sont blessés — accord</a:t>
            </a:r>
          </a:p>
        </p:txBody>
      </p:sp>
      <p:sp>
        <p:nvSpPr>
          <p:cNvPr id="20" name="Rounded Rectangle 19"/>
          <p:cNvSpPr/>
          <p:nvPr/>
        </p:nvSpPr>
        <p:spPr>
          <a:xfrm>
            <a:off x="566928" y="4416552"/>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Nous (se laver) ___ les mains avant les soins.   </a:t>
            </a:r>
            <a:r>
              <a:rPr sz="1800" b="1" i="0">
                <a:solidFill>
                  <a:srgbClr val="07734A"/>
                </a:solidFill>
                <a:latin typeface="Verdana"/>
              </a:rPr>
              <a:t>» nous sommes lavé les mains</a:t>
            </a:r>
          </a:p>
        </p:txBody>
      </p:sp>
      <p:sp>
        <p:nvSpPr>
          <p:cNvPr id="24" name="Rounded Rectangle 23"/>
          <p:cNvSpPr/>
          <p:nvPr/>
        </p:nvSpPr>
        <p:spPr>
          <a:xfrm>
            <a:off x="566928" y="5175504"/>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Il (se tordre) ___ la cheville.   </a:t>
            </a:r>
            <a:r>
              <a:rPr sz="1800" b="1" i="0">
                <a:solidFill>
                  <a:srgbClr val="07734A"/>
                </a:solidFill>
                <a:latin typeface="Verdana"/>
              </a:rPr>
              <a:t>» s'est tordu la cheville — pas d'accord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PIÈGE DE LA PARTIE DU CORPS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s'est brûlée le bras.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s'est brûlé le bras.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la partie du corps est écrite après le participe, l'accord ne se fait pas. C'est contre-intuitif : on voit « elle », on veut accorder. Mais le français accorde avec ce qui précède, et ici la partie du corps suit.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PIÈGE DE L'AUXILIAIRE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m'ai brûlé le bras.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me suis brûlé le bras.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verbe pronominal ne prend jamais avoir. Cette erreur vient souvent de la langue maternelle, où l'auxiliaire est le même dans les deux cas. En français, le petit pronom impose être, sans exception.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Accord ou pas d'accord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Appliquez le test : y a-t-il un complément après le participe ?</a:t>
            </a:r>
          </a:p>
        </p:txBody>
      </p:sp>
      <p:sp>
        <p:nvSpPr>
          <p:cNvPr id="8" name="Rounded Rectangle 7"/>
          <p:cNvSpPr/>
          <p:nvPr/>
        </p:nvSpPr>
        <p:spPr>
          <a:xfrm>
            <a:off x="566928" y="2139696"/>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Elle s'est coupé___ .</a:t>
            </a:r>
          </a:p>
        </p:txBody>
      </p:sp>
      <p:sp>
        <p:nvSpPr>
          <p:cNvPr id="12" name="Rounded Rectangle 11"/>
          <p:cNvSpPr/>
          <p:nvPr/>
        </p:nvSpPr>
        <p:spPr>
          <a:xfrm>
            <a:off x="566928" y="2880868"/>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Elle s'est coupé___ le doigt.</a:t>
            </a:r>
          </a:p>
        </p:txBody>
      </p:sp>
      <p:sp>
        <p:nvSpPr>
          <p:cNvPr id="16" name="Rounded Rectangle 15"/>
          <p:cNvSpPr/>
          <p:nvPr/>
        </p:nvSpPr>
        <p:spPr>
          <a:xfrm>
            <a:off x="566928" y="3622040"/>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Ils se sont brûlé___ .</a:t>
            </a:r>
          </a:p>
        </p:txBody>
      </p:sp>
      <p:sp>
        <p:nvSpPr>
          <p:cNvPr id="20" name="Rounded Rectangle 19"/>
          <p:cNvSpPr/>
          <p:nvPr/>
        </p:nvSpPr>
        <p:spPr>
          <a:xfrm>
            <a:off x="566928" y="4363212"/>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Ils se sont brûlé___ les mains.</a:t>
            </a:r>
          </a:p>
        </p:txBody>
      </p:sp>
      <p:sp>
        <p:nvSpPr>
          <p:cNvPr id="24" name="Rounded Rectangle 23"/>
          <p:cNvSpPr/>
          <p:nvPr/>
        </p:nvSpPr>
        <p:spPr>
          <a:xfrm>
            <a:off x="566928" y="5104384"/>
            <a:ext cx="11057839"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7921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4322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259832"/>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Nous nous sommes blessé___ au travail.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Accord ou pas d'accord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Elle s'est coupé___ .   </a:t>
            </a:r>
            <a:r>
              <a:rPr sz="1700" b="1" i="0">
                <a:solidFill>
                  <a:srgbClr val="07734A"/>
                </a:solidFill>
                <a:latin typeface="Verdana"/>
              </a:rPr>
              <a:t>» coupée — accord, rien ne suit</a:t>
            </a:r>
          </a:p>
        </p:txBody>
      </p:sp>
      <p:sp>
        <p:nvSpPr>
          <p:cNvPr id="12" name="Rounded Rectangle 11"/>
          <p:cNvSpPr/>
          <p:nvPr/>
        </p:nvSpPr>
        <p:spPr>
          <a:xfrm>
            <a:off x="566928" y="2880868"/>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Elle s'est coupé___ le doigt.   </a:t>
            </a:r>
            <a:r>
              <a:rPr sz="1700" b="1" i="0">
                <a:solidFill>
                  <a:srgbClr val="07734A"/>
                </a:solidFill>
                <a:latin typeface="Verdana"/>
              </a:rPr>
              <a:t>» coupé — pas d'accord, « le doigt » suit</a:t>
            </a:r>
          </a:p>
        </p:txBody>
      </p:sp>
      <p:sp>
        <p:nvSpPr>
          <p:cNvPr id="16" name="Rounded Rectangle 15"/>
          <p:cNvSpPr/>
          <p:nvPr/>
        </p:nvSpPr>
        <p:spPr>
          <a:xfrm>
            <a:off x="566928" y="3622040"/>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Ils se sont brûlé___ .   </a:t>
            </a:r>
            <a:r>
              <a:rPr sz="1700" b="1" i="0">
                <a:solidFill>
                  <a:srgbClr val="07734A"/>
                </a:solidFill>
                <a:latin typeface="Verdana"/>
              </a:rPr>
              <a:t>» brûlés — accord</a:t>
            </a:r>
          </a:p>
        </p:txBody>
      </p:sp>
      <p:sp>
        <p:nvSpPr>
          <p:cNvPr id="20" name="Rounded Rectangle 19"/>
          <p:cNvSpPr/>
          <p:nvPr/>
        </p:nvSpPr>
        <p:spPr>
          <a:xfrm>
            <a:off x="566928" y="4363212"/>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Ils se sont brûlé___ les mains.   </a:t>
            </a:r>
            <a:r>
              <a:rPr sz="1700" b="1" i="0">
                <a:solidFill>
                  <a:srgbClr val="07734A"/>
                </a:solidFill>
                <a:latin typeface="Verdana"/>
              </a:rPr>
              <a:t>» brûlé — pas d'accord</a:t>
            </a:r>
          </a:p>
        </p:txBody>
      </p:sp>
      <p:sp>
        <p:nvSpPr>
          <p:cNvPr id="24" name="Rounded Rectangle 23"/>
          <p:cNvSpPr/>
          <p:nvPr/>
        </p:nvSpPr>
        <p:spPr>
          <a:xfrm>
            <a:off x="566928" y="5104384"/>
            <a:ext cx="11057839"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7921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4322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259832"/>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Nous nous sommes blessé___ au travail.   </a:t>
            </a:r>
            <a:r>
              <a:rPr sz="1700" b="1" i="0">
                <a:solidFill>
                  <a:srgbClr val="07734A"/>
                </a:solidFill>
                <a:latin typeface="Verdana"/>
              </a:rPr>
              <a:t>» blessés — « au travail » n'est pas un complément direct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Racontez l'accident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Une phrase par situation, avec un verbe pronominal au passé composé.</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Une coupure au doigt avec un couteau</a:t>
            </a:r>
          </a:p>
        </p:txBody>
      </p:sp>
      <p:sp>
        <p:nvSpPr>
          <p:cNvPr id="12" name="Rounded Rectangle 11"/>
          <p:cNvSpPr/>
          <p:nvPr/>
        </p:nvSpPr>
        <p:spPr>
          <a:xfrm>
            <a:off x="566928" y="2898648"/>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912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552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5409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Une brûlure à la main avec de l'eau bouillante</a:t>
            </a:r>
          </a:p>
        </p:txBody>
      </p:sp>
      <p:sp>
        <p:nvSpPr>
          <p:cNvPr id="16" name="Rounded Rectangle 15"/>
          <p:cNvSpPr/>
          <p:nvPr/>
        </p:nvSpPr>
        <p:spPr>
          <a:xfrm>
            <a:off x="566928" y="3977639"/>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1022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7423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33087"/>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Une cheville tordue dans un escalier</a:t>
            </a:r>
          </a:p>
        </p:txBody>
      </p:sp>
      <p:sp>
        <p:nvSpPr>
          <p:cNvPr id="20" name="Rounded Rectangle 19"/>
          <p:cNvSpPr/>
          <p:nvPr/>
        </p:nvSpPr>
        <p:spPr>
          <a:xfrm>
            <a:off x="566928" y="473659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02920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9320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89204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Deux collègues blessés en déchargeant un camion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Racontez l'accident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Une coupure au doigt avec un couteau   </a:t>
            </a:r>
            <a:r>
              <a:rPr sz="1800" b="1" i="0">
                <a:solidFill>
                  <a:srgbClr val="07734A"/>
                </a:solidFill>
                <a:latin typeface="Verdana"/>
              </a:rPr>
              <a:t>» Je me suis coupé le doigt avec un couteau.</a:t>
            </a:r>
          </a:p>
        </p:txBody>
      </p:sp>
      <p:sp>
        <p:nvSpPr>
          <p:cNvPr id="12" name="Rounded Rectangle 11"/>
          <p:cNvSpPr/>
          <p:nvPr/>
        </p:nvSpPr>
        <p:spPr>
          <a:xfrm>
            <a:off x="566928" y="2898648"/>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912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552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5409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Une brûlure à la main avec de l'eau bouillante   </a:t>
            </a:r>
            <a:r>
              <a:rPr sz="1800" b="1" i="0">
                <a:solidFill>
                  <a:srgbClr val="07734A"/>
                </a:solidFill>
                <a:latin typeface="Verdana"/>
              </a:rPr>
              <a:t>» Elle s'est brûlé la main avec de l'eau bouillante.</a:t>
            </a:r>
          </a:p>
        </p:txBody>
      </p:sp>
      <p:sp>
        <p:nvSpPr>
          <p:cNvPr id="16" name="Rounded Rectangle 15"/>
          <p:cNvSpPr/>
          <p:nvPr/>
        </p:nvSpPr>
        <p:spPr>
          <a:xfrm>
            <a:off x="566928" y="3977639"/>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1022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7423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33087"/>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Une cheville tordue dans un escalier   </a:t>
            </a:r>
            <a:r>
              <a:rPr sz="1800" b="1" i="0">
                <a:solidFill>
                  <a:srgbClr val="07734A"/>
                </a:solidFill>
                <a:latin typeface="Verdana"/>
              </a:rPr>
              <a:t>» Il s'est tordu la cheville dans l'escalier.</a:t>
            </a:r>
          </a:p>
        </p:txBody>
      </p:sp>
      <p:sp>
        <p:nvSpPr>
          <p:cNvPr id="20" name="Rounded Rectangle 19"/>
          <p:cNvSpPr/>
          <p:nvPr/>
        </p:nvSpPr>
        <p:spPr>
          <a:xfrm>
            <a:off x="566928" y="473659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02920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9320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89204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Deux collègues blessés en déchargeant un camion   </a:t>
            </a:r>
            <a:r>
              <a:rPr sz="1800" b="1" i="0">
                <a:solidFill>
                  <a:srgbClr val="07734A"/>
                </a:solidFill>
                <a:latin typeface="Verdana"/>
              </a:rPr>
              <a:t>» Ils se sont blessés en déchargeant un camion.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deux phrases avec un verbe pronominal au passé composé.</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avec une partie du corps après le participe, une sans.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Soulignez le participe et écrivez à côté : accord, ou pas d'accord.</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Une urgence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