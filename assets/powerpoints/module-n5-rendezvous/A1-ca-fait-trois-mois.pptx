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par une question au groupe : combien de temps attendez-vous avant d'aller voir un médecin ? Les réponses vont de « tout de suite » à « jamais », et l'écart dit à lui seul ce que le module va travailler. Ne juger aucune réponse.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piste est la vraie : ce n'est presque jamais l'ignorance qui retient, c'est la langue au téléphone. Le dire au groupe — c'est exactement ce que le module va enlever comme obstacle.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les deux façons de dire la durée dans quatre répliques : « ça fait combien de temps que » et « depuis le mois de mars ». Elles reviendront toute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Ce n'est pas à toi de décider » est la phrase pivot du module. Un problème qui dure ne s'évalue pas soi-même. Demander au groupe s'il est d'accord.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Deux phrases, pas plus » surprend toujours : les élèves croient devoir tout raconter au téléphone. Ce sera le point du défi 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décision la plus utile de tout le module, et beaucoup d'élèves ne l'ont jamais entendue formulée.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troisième : beaucoup d'élèves ignorent le 8-1-1, qui est pourtant le bon premier appel quand on hésite entre les trois autres.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ajouter deux situations par le groupe et les faire classer. C'est là que sortent les vraies hésitations.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Rachid dit cette phrase mot pour mot dans le dialogue. La faire retrouver, puis demander qui l'a déjà dite lui-même.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du dialogue.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Personne n'est obligé d'écrire quelque chose de personnel : un mal de dos inventé fait le même travail de langue. Le dire avant de distribuer.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5</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Ça fait trois mois. »</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Rachid a cinquante-deux ans et la tête lui tourne le matin depuis le mois de mars. Il appelle ça « rien ». Sa fille, elle, compte les mois — et c'est elle qui a raison.</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Prendre rendez-vous chez le médecin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Prendre rendez-vous chez le médecin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depuis combien de temps un problème de santé dure ;</a:t>
            </a:r>
          </a:p>
        </p:txBody>
      </p:sp>
      <p:sp>
        <p:nvSpPr>
          <p:cNvPr id="11" name="Rounded Rectangle 10"/>
          <p:cNvSpPr/>
          <p:nvPr/>
        </p:nvSpPr>
        <p:spPr>
          <a:xfrm>
            <a:off x="566928" y="2650744"/>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0063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0886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le médecin de famille, le sans-rendez-vous, le 8-1-1 et l'urgence ;</a:t>
            </a:r>
          </a:p>
        </p:txBody>
      </p:sp>
      <p:sp>
        <p:nvSpPr>
          <p:cNvPr id="15" name="Rounded Rectangle 14"/>
          <p:cNvSpPr/>
          <p:nvPr/>
        </p:nvSpPr>
        <p:spPr>
          <a:xfrm>
            <a:off x="566928" y="38922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40934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qu'est un GMF et ce qu'on y trouve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préparer ce qu'il faut avoir sous la main avant de téléphoner.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Prendre rendez-vous chez le médecin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Cette personne se tient au mur en se levant. Depuis trois mois. Qu'est-ce qu'elle devrait faire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salle-attente.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c'est grave ? Qui peut le dire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va-t-on avec un problème qui dure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peut-on attendre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empêche d'appeler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Prendre rendez-vous chez le médecin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mois, et il appelle ça « rien »</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32521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0" name="TextBox 9"/>
          <p:cNvSpPr txBox="1"/>
          <p:nvPr/>
        </p:nvSpPr>
        <p:spPr>
          <a:xfrm>
            <a:off x="2257901" y="2322576"/>
            <a:ext cx="881822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Papa, tu t'es tenu au comptoir en te levant, tantôt. Je t'ai vu.</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32521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RACHID</a:t>
            </a:r>
          </a:p>
        </p:txBody>
      </p:sp>
      <p:sp>
        <p:nvSpPr>
          <p:cNvPr id="13" name="TextBox 12"/>
          <p:cNvSpPr txBox="1"/>
          <p:nvPr/>
        </p:nvSpPr>
        <p:spPr>
          <a:xfrm>
            <a:off x="2257901" y="3071876"/>
            <a:ext cx="881822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rien. Je me lève trop vite, c'est tout.</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32521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6" name="TextBox 15"/>
          <p:cNvSpPr txBox="1"/>
          <p:nvPr/>
        </p:nvSpPr>
        <p:spPr>
          <a:xfrm>
            <a:off x="2257901" y="3821175"/>
            <a:ext cx="881822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fait combien de temps que ça t'arrive ?</a:t>
            </a:r>
          </a:p>
        </p:txBody>
      </p:sp>
      <p:sp>
        <p:nvSpPr>
          <p:cNvPr id="17" name="Rounded Rectangle 16"/>
          <p:cNvSpPr/>
          <p:nvPr/>
        </p:nvSpPr>
        <p:spPr>
          <a:xfrm>
            <a:off x="566928" y="44058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32521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RACHID</a:t>
            </a:r>
          </a:p>
        </p:txBody>
      </p:sp>
      <p:sp>
        <p:nvSpPr>
          <p:cNvPr id="19" name="TextBox 18"/>
          <p:cNvSpPr txBox="1"/>
          <p:nvPr/>
        </p:nvSpPr>
        <p:spPr>
          <a:xfrm>
            <a:off x="2257901" y="4570475"/>
            <a:ext cx="881822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ne sais pas. Depuis le mois de mars, peut-être. Ça passe en dix secondes.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Prendre rendez-vous chez le médecin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n'est pas à toi de décider</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32521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9" name="TextBox 8"/>
          <p:cNvSpPr txBox="1"/>
          <p:nvPr/>
        </p:nvSpPr>
        <p:spPr>
          <a:xfrm>
            <a:off x="2257901" y="1901952"/>
            <a:ext cx="881822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Mars, on est en juin. Ça fait trois mois, papa.</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32521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RACHID</a:t>
            </a:r>
          </a:p>
        </p:txBody>
      </p:sp>
      <p:sp>
        <p:nvSpPr>
          <p:cNvPr id="12" name="TextBox 11"/>
          <p:cNvSpPr txBox="1"/>
          <p:nvPr/>
        </p:nvSpPr>
        <p:spPr>
          <a:xfrm>
            <a:off x="2257901" y="2651252"/>
            <a:ext cx="881822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Trois mois, et je travaille tous les jours. Ce n'est pas une maladie, ça.</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32521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5" name="TextBox 14"/>
          <p:cNvSpPr txBox="1"/>
          <p:nvPr/>
        </p:nvSpPr>
        <p:spPr>
          <a:xfrm>
            <a:off x="2257901" y="3400551"/>
            <a:ext cx="881822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n'est pas à toi de décider. Tu as un médecin de famille, sers-t'en.</a:t>
            </a:r>
          </a:p>
        </p:txBody>
      </p:sp>
      <p:sp>
        <p:nvSpPr>
          <p:cNvPr id="16" name="Rounded Rectangle 15"/>
          <p:cNvSpPr/>
          <p:nvPr/>
        </p:nvSpPr>
        <p:spPr>
          <a:xfrm>
            <a:off x="566928" y="39852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32521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RACHID</a:t>
            </a:r>
          </a:p>
        </p:txBody>
      </p:sp>
      <p:sp>
        <p:nvSpPr>
          <p:cNvPr id="18" name="TextBox 17"/>
          <p:cNvSpPr txBox="1"/>
          <p:nvPr/>
        </p:nvSpPr>
        <p:spPr>
          <a:xfrm>
            <a:off x="2257901" y="4149851"/>
            <a:ext cx="881822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docteure Fongang, oui. Mais prendre un rendez-vous, c'est deux heures au téléphone.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Prendre rendez-vous chez le médecin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qu'il faut avoir à côté du téléphone</a:t>
            </a:r>
          </a:p>
        </p:txBody>
      </p:sp>
      <p:sp>
        <p:nvSpPr>
          <p:cNvPr id="7" name="Rounded Rectangle 6"/>
          <p:cNvSpPr/>
          <p:nvPr/>
        </p:nvSpPr>
        <p:spPr>
          <a:xfrm>
            <a:off x="566928" y="1737360"/>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325213"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9" name="TextBox 8"/>
          <p:cNvSpPr txBox="1"/>
          <p:nvPr/>
        </p:nvSpPr>
        <p:spPr>
          <a:xfrm>
            <a:off x="2257901" y="1901952"/>
            <a:ext cx="8818225"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tu as des étourdissements le matin depuis trois mois, et que tu es fatigué. Deux phrases, pas plus. Garde ta carte d'assurance maladie à côté de toi.</a:t>
            </a:r>
          </a:p>
        </p:txBody>
      </p:sp>
      <p:sp>
        <p:nvSpPr>
          <p:cNvPr id="10" name="Rounded Rectangle 9"/>
          <p:cNvSpPr/>
          <p:nvPr/>
        </p:nvSpPr>
        <p:spPr>
          <a:xfrm>
            <a:off x="566928" y="316229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326892"/>
            <a:ext cx="132521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RACHID</a:t>
            </a:r>
          </a:p>
        </p:txBody>
      </p:sp>
      <p:sp>
        <p:nvSpPr>
          <p:cNvPr id="12" name="TextBox 11"/>
          <p:cNvSpPr txBox="1"/>
          <p:nvPr/>
        </p:nvSpPr>
        <p:spPr>
          <a:xfrm>
            <a:off x="2257901" y="3326892"/>
            <a:ext cx="881822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Pourquoi la carte ?</a:t>
            </a:r>
          </a:p>
        </p:txBody>
      </p:sp>
      <p:sp>
        <p:nvSpPr>
          <p:cNvPr id="13" name="Rounded Rectangle 12"/>
          <p:cNvSpPr/>
          <p:nvPr/>
        </p:nvSpPr>
        <p:spPr>
          <a:xfrm>
            <a:off x="566928" y="391160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76191"/>
            <a:ext cx="132521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5" name="TextBox 14"/>
          <p:cNvSpPr txBox="1"/>
          <p:nvPr/>
        </p:nvSpPr>
        <p:spPr>
          <a:xfrm>
            <a:off x="2257901" y="4076191"/>
            <a:ext cx="881822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Ils demandent toujours le numéro. Et vérifie la date : si elle est expirée, tu vas payer.</a:t>
            </a:r>
          </a:p>
        </p:txBody>
      </p:sp>
      <p:sp>
        <p:nvSpPr>
          <p:cNvPr id="16" name="TextBox 15"/>
          <p:cNvSpPr txBox="1"/>
          <p:nvPr/>
        </p:nvSpPr>
        <p:spPr>
          <a:xfrm>
            <a:off x="932688" y="5163312"/>
            <a:ext cx="132521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RACHID</a:t>
            </a:r>
          </a:p>
        </p:txBody>
      </p:sp>
      <p:sp>
        <p:nvSpPr>
          <p:cNvPr id="17" name="TextBox 16"/>
          <p:cNvSpPr txBox="1"/>
          <p:nvPr/>
        </p:nvSpPr>
        <p:spPr>
          <a:xfrm>
            <a:off x="2257901" y="5163312"/>
            <a:ext cx="881822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est bonne jusqu'en février. J'appelle demain matin, alors.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Prendre rendez-vous chez le médecin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UN PROBLÈME QUI DURE DEMANDE SON PROPRE MÉDECIN</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sans-rendez-vous répare ce qui vient d'arriver ; le médecin de famille suit ce qui revient.</a:t>
            </a:r>
          </a:p>
        </p:txBody>
      </p:sp>
      <p:sp>
        <p:nvSpPr>
          <p:cNvPr id="8" name="Rounded Rectangle 7"/>
          <p:cNvSpPr/>
          <p:nvPr/>
        </p:nvSpPr>
        <p:spPr>
          <a:xfrm>
            <a:off x="566928" y="3994404"/>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Au sans-rendez-vous, la personne qui vous reçoit ne connaît pas votre dossier et vous voit une seule fois. Pour trois mois de symptômes qui changent, il faut quelqu'un qui puisse comparer avec l'année dernière — et c'est votre médecin de famille.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Prendre rendez-vous chez le médecin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QUATRE PORTES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Laquelle pousser, et quand</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Son médecin de famille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Ce qui dure, ce qui revient, ce qui demande un suivi dans le temps.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sans-rendez-vous</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jour même, sans réserver — mais pas forcément avec son médecin.</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Info-Santé, au 8-1-1</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infirmière au téléphone, jour et nuit, gratuitement. Elle oriente.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L'urgence, au 9-1-1</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Ce qui menace tout de suite : la poitrine, la respiration, une perte de connaissance.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Prendre rendez-vous chez le médecin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OÙ APPELER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situations, une décision</a:t>
            </a:r>
          </a:p>
        </p:txBody>
      </p:sp>
      <p:sp>
        <p:nvSpPr>
          <p:cNvPr id="7" name="Rounded Rectangle 6"/>
          <p:cNvSpPr/>
          <p:nvPr/>
        </p:nvSpPr>
        <p:spPr>
          <a:xfrm>
            <a:off x="566928" y="1810512"/>
            <a:ext cx="11057839" cy="4242816"/>
          </a:xfrm>
          <a:prstGeom prst="roundRect">
            <a:avLst>
              <a:gd name="adj" fmla="val 34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SITUATION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OÙ APPELER</a:t>
            </a:r>
          </a:p>
        </p:txBody>
      </p:sp>
      <p:sp>
        <p:nvSpPr>
          <p:cNvPr id="10" name="TextBox 9"/>
          <p:cNvSpPr txBox="1"/>
          <p:nvPr/>
        </p:nvSpPr>
        <p:spPr>
          <a:xfrm>
            <a:off x="932688" y="2395728"/>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Des étourdissements depuis trois mois</a:t>
            </a:r>
          </a:p>
        </p:txBody>
      </p:sp>
      <p:sp>
        <p:nvSpPr>
          <p:cNvPr id="11" name="TextBox 10"/>
          <p:cNvSpPr txBox="1"/>
          <p:nvPr/>
        </p:nvSpPr>
        <p:spPr>
          <a:xfrm>
            <a:off x="4443636" y="2395728"/>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son médecin de famille</a:t>
            </a:r>
          </a:p>
        </p:txBody>
      </p:sp>
      <p:sp>
        <p:nvSpPr>
          <p:cNvPr id="12" name="Rectangle 11"/>
          <p:cNvSpPr/>
          <p:nvPr/>
        </p:nvSpPr>
        <p:spPr>
          <a:xfrm>
            <a:off x="932688" y="30419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169920"/>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Une coupure au doigt, hier soir</a:t>
            </a:r>
          </a:p>
        </p:txBody>
      </p:sp>
      <p:sp>
        <p:nvSpPr>
          <p:cNvPr id="14" name="TextBox 13"/>
          <p:cNvSpPr txBox="1"/>
          <p:nvPr/>
        </p:nvSpPr>
        <p:spPr>
          <a:xfrm>
            <a:off x="4443636" y="3169920"/>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sans-rendez-vous</a:t>
            </a:r>
          </a:p>
        </p:txBody>
      </p:sp>
      <p:sp>
        <p:nvSpPr>
          <p:cNvPr id="15" name="Rectangle 14"/>
          <p:cNvSpPr/>
          <p:nvPr/>
        </p:nvSpPr>
        <p:spPr>
          <a:xfrm>
            <a:off x="932688" y="38160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944112"/>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Une fièvre chez un enfant, la nuit</a:t>
            </a:r>
          </a:p>
        </p:txBody>
      </p:sp>
      <p:sp>
        <p:nvSpPr>
          <p:cNvPr id="17" name="TextBox 16"/>
          <p:cNvSpPr txBox="1"/>
          <p:nvPr/>
        </p:nvSpPr>
        <p:spPr>
          <a:xfrm>
            <a:off x="4443636" y="3944112"/>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8-1-1</a:t>
            </a:r>
          </a:p>
        </p:txBody>
      </p:sp>
      <p:sp>
        <p:nvSpPr>
          <p:cNvPr id="18" name="Rectangle 17"/>
          <p:cNvSpPr/>
          <p:nvPr/>
        </p:nvSpPr>
        <p:spPr>
          <a:xfrm>
            <a:off x="932688" y="459028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718304"/>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Une douleur à la poitrine, maintenant</a:t>
            </a:r>
          </a:p>
        </p:txBody>
      </p:sp>
      <p:sp>
        <p:nvSpPr>
          <p:cNvPr id="20" name="TextBox 19"/>
          <p:cNvSpPr txBox="1"/>
          <p:nvPr/>
        </p:nvSpPr>
        <p:spPr>
          <a:xfrm>
            <a:off x="4443636" y="4718304"/>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9-1-1</a:t>
            </a:r>
          </a:p>
        </p:txBody>
      </p:sp>
      <p:sp>
        <p:nvSpPr>
          <p:cNvPr id="21" name="Rectangle 20"/>
          <p:cNvSpPr/>
          <p:nvPr/>
        </p:nvSpPr>
        <p:spPr>
          <a:xfrm>
            <a:off x="932688" y="5364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5492496"/>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Je ne sais pas si c'est grave</a:t>
            </a:r>
          </a:p>
        </p:txBody>
      </p:sp>
      <p:sp>
        <p:nvSpPr>
          <p:cNvPr id="23" name="TextBox 22"/>
          <p:cNvSpPr txBox="1"/>
          <p:nvPr/>
        </p:nvSpPr>
        <p:spPr>
          <a:xfrm>
            <a:off x="4443636" y="5492496"/>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8-1-1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Prendre rendez-vous chez le médecin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DÉCIDER SOI-MÊME QUE CE N'EST PAS GRAVE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travaille tous les jours, donc ce n'est pas une maladie.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Ça dure depuis trois mois, donc j'en parle à quelqu'un.</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Tenir debout n'est pas un diagnostic. Ce qui décide, ce n'est pas si l'on peut continuer, c'est depuis quand ça dure et si ça change.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Prendre rendez-vous chez le médecin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Rachid a des étourdissements depuis le mois de mars.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Rachid trouve tout de suite que c'est grave.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un GMF, plusieurs médecins travaillent ensemble.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Au sans-rendez-vous, on voit son propre médecin.</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Nadia conseille de tout raconter au téléphone.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carte d'assurance maladie expirée peut coûter cher.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Prendre rendez-vous chez le médecin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Rachid a des étourdissements depuis le mois de mars.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Rachid trouve tout de suite que c'est grave.   </a:t>
            </a:r>
            <a:r>
              <a:rPr sz="1400" b="1" i="0">
                <a:solidFill>
                  <a:srgbClr val="07734A"/>
                </a:solidFill>
                <a:latin typeface="Verdana"/>
              </a:rPr>
              <a:t>» faux — il dit « c'est rien »</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un GMF, plusieurs médecins travaillent ensemble.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Au sans-rendez-vous, on voit son propre médecin.   </a:t>
            </a:r>
            <a:r>
              <a:rPr sz="1400" b="1" i="0">
                <a:solidFill>
                  <a:srgbClr val="07734A"/>
                </a:solidFill>
                <a:latin typeface="Verdana"/>
              </a:rPr>
              <a:t>» faux — pas forcément</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Nadia conseille de tout raconter au téléphone.   </a:t>
            </a:r>
            <a:r>
              <a:rPr sz="1400" b="1" i="0">
                <a:solidFill>
                  <a:srgbClr val="07734A"/>
                </a:solidFill>
                <a:latin typeface="Verdana"/>
              </a:rPr>
              <a:t>» faux — deux phrases, pas plus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carte d'assurance maladie expirée peut coûter cher.   </a:t>
            </a:r>
            <a:r>
              <a:rPr sz="1400" b="1" i="0">
                <a:solidFill>
                  <a:srgbClr val="07734A"/>
                </a:solidFill>
                <a:latin typeface="Verdana"/>
              </a:rPr>
              <a:t>» vrai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Prendre rendez-vous chez le médecin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en une phrase depuis quand dure quelque chose chez vous.</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 mal de dos, une fatigue, un bruit dans l'oreille — ou quelque chose de banal.</a:t>
            </a:r>
          </a:p>
        </p:txBody>
      </p:sp>
      <p:sp>
        <p:nvSpPr>
          <p:cNvPr id="10" name="Rounded Rectangle 9"/>
          <p:cNvSpPr/>
          <p:nvPr/>
        </p:nvSpPr>
        <p:spPr>
          <a:xfrm>
            <a:off x="566928" y="5036311"/>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Employez « depuis » ou « ça fait… que ». Une phrase, pas plus.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Prendre rendez-vous chez le médecin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