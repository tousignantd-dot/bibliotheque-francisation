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Rendre les billets annotés de B4 et de D1 : les trois phrases y sont déjà, il ne reste qu'à les tenir debout pendant deux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 qui distingue cette production d'un exposé d'opinion. Il est aussi le plus difficile à tenir sous le regard du groupe : prévoir de le rappeler entre chaque passage.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pistes, quatre minutes. Ce sont les quatre critères de correction ; les annoncer avant les passages, pas après.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et à laisser affichée pendant tous les passages : c'est la grille que le groupe suit en écoutant.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formules, tirées des six séances de langue du module. En faire choisir deux à chacun avant de passer : cela structure le troisième temps, qui sinon s'évapore.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dire avant le premier passage, textuellement : personne ne perd rien à concéder.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Répétition générale, en dyades, avant les passages devant le groupe. Ceux qui le souhaitent peuvent le refaire avec l'assistant du module, qui joue Léandre Pinsonneault et ne cède jamais devant l'insistance.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ligne compte autant que les cinq autres. Le dire au groupe avant le premier passage : on n'évalue pas la fluidité, on évalue la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dépôt se fait depuis la section « Je me lance ». Rappeler que la correction de l'assistant reste privée : seul l'envoi atteint l'enseignante.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Proposez une lecture devant le cercle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ou trois minutes debout. Ne racontez pas l'œuvre : le cercle la connaît. Proposez-en une lecture, appuyez-la, et dites ce que l'autre lecture explique mieux.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tenir deux ou trois minutes de parole suivie devant le groupe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séparer les faits de la lecture, à voix haute et dans cet ordre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appuyer sa lecture sur deux détails qu'on peut montrer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soi-même la lecture opposée, et ce qu'elle explique mieux.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000" b="1" i="0">
                <a:solidFill>
                  <a:srgbClr val="17181A"/>
                </a:solidFill>
                <a:latin typeface="Verdana"/>
              </a:rPr>
              <a:t>Qu'est-ce qui rend une prise de parole écoutable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Commencer par ce que tout le monde peut vérifier.</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Annoncer sa lecture comme une lecture, pas comme un fait.</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détail précis vaut mieux que trois adjectifs.</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Dire soi-même ce qui joue contre soi : cela ne se retourne jamais contre vous.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temps, deux ou trois minutes</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FAIT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1</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faits seuls, trois ou quatre phrases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2</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votre lecture, et deux indices qui l'appuient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Temps 3</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l'autre lecture, ce qu'elle explique mieux</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Le troisième temps est le plus court, et c'est celui qu'on retient.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le troisième temps peut donner</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Une concession</a:t>
            </a:r>
          </a:p>
        </p:txBody>
      </p:sp>
      <p:sp>
        <p:nvSpPr>
          <p:cNvPr id="9" name="TextBox 8"/>
          <p:cNvSpPr txBox="1"/>
          <p:nvPr/>
        </p:nvSpPr>
        <p:spPr>
          <a:xfrm>
            <a:off x="886968" y="246938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Bien sûr, la corde reste attachée.</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Ce que l'autre explique mieux</a:t>
            </a:r>
          </a:p>
        </p:txBody>
      </p:sp>
      <p:sp>
        <p:nvSpPr>
          <p:cNvPr id="12" name="TextBox 11"/>
          <p:cNvSpPr txBox="1"/>
          <p:nvPr/>
        </p:nvSpPr>
        <p:spPr>
          <a:xfrm>
            <a:off x="6498183" y="246938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Cette lecture rend mieux compte des six épisodes.</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Une hypothèse irréelle</a:t>
            </a:r>
          </a:p>
        </p:txBody>
      </p:sp>
      <p:sp>
        <p:nvSpPr>
          <p:cNvPr id="15" name="TextBox 14"/>
          <p:cNvSpPr txBox="1"/>
          <p:nvPr/>
        </p:nvSpPr>
        <p:spPr>
          <a:xfrm>
            <a:off x="886968" y="394766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Si elle avait détaché la corde, on n'en parlerait pas.</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 doute assumé</a:t>
            </a:r>
          </a:p>
        </p:txBody>
      </p:sp>
      <p:sp>
        <p:nvSpPr>
          <p:cNvPr id="18" name="TextBox 17"/>
          <p:cNvSpPr txBox="1"/>
          <p:nvPr/>
        </p:nvSpPr>
        <p:spPr>
          <a:xfrm>
            <a:off x="6498183" y="394766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Il se peut donc qu'elle soit prise et qu'elle l'accepte.</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Une reprise de l'indice</a:t>
            </a:r>
          </a:p>
        </p:txBody>
      </p:sp>
      <p:sp>
        <p:nvSpPr>
          <p:cNvPr id="21" name="TextBox 20"/>
          <p:cNvSpPr txBox="1"/>
          <p:nvPr/>
        </p:nvSpPr>
        <p:spPr>
          <a:xfrm>
            <a:off x="886968" y="542594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corde n'est pas ce qui la retient.</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357124"/>
          </a:xfrm>
          <a:prstGeom prst="rect">
            <a:avLst/>
          </a:prstGeom>
          <a:noFill/>
        </p:spPr>
        <p:txBody>
          <a:bodyPr wrap="square" lIns="0" rIns="0" tIns="0" bIns="0" anchor="t">
            <a:spAutoFit/>
          </a:bodyPr>
          <a:lstStyle/>
          <a:p>
            <a:pPr algn="l">
              <a:lnSpc>
                <a:spcPct val="118000"/>
              </a:lnSpc>
            </a:pPr>
            <a:r>
              <a:rPr sz="2200" b="1" i="0">
                <a:solidFill>
                  <a:srgbClr val="0D7A6F"/>
                </a:solidFill>
                <a:latin typeface="Verdana"/>
              </a:rPr>
              <a:t>Une conclusion sans trancher</a:t>
            </a:r>
          </a:p>
        </p:txBody>
      </p:sp>
      <p:sp>
        <p:nvSpPr>
          <p:cNvPr id="24" name="TextBox 23"/>
          <p:cNvSpPr txBox="1"/>
          <p:nvPr/>
        </p:nvSpPr>
        <p:spPr>
          <a:xfrm>
            <a:off x="6498183" y="5425948"/>
            <a:ext cx="4806543" cy="380491"/>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 qui, au fond, reste un choix.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ON NE CHERCHE PAS À AVOIR RAISON</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cherche la lecture qui explique le plus de détails, et on le dit.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la règle depuis A1, et c'est celle qui sera évaluée. Une prise de parole qui nie l'autre lecture perd des points ; une prise de parole qui la nomme et lui reconnaît quelque chose en gagne, même si elle défend l'inverse.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RÉPÉTITION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jeu de rôle, en dyades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Dix minutes, puis on inverse.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proposez</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L'autre conteste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reformulez</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retournez son indice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demande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concluez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passages devant le cercle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Deux ou trois minutes chacun. Le groupe écoute avec la grille.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note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note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note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note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note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qu'on ne note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 votre passage dans le module, écoutez-vous une fois, et envoyez la version que vous préférez.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Vous pouvez recommencer autant de fois que vous voulez.</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L'assistant vous rend une rétroaction avant l'envoi.</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