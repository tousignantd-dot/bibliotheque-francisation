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phonétique, et la seule du module : le programme du niveau 8 ne porte qu'un savoir de phonétique, l'intonation expressive. Aucun symbole au tableau — ce savoir s'entend et se répète, il ne se lit pas.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vrai. C'est le défaut le plus répandu chez les adultes qui apprennent, et il vient de la prudence, pas de l'ignorance.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les trois vous-même, sans annoncer laquelle est laquelle. Le groupe entend la différence avant de savoir la nommer, et c'est l'ordre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répéter chaque ligne deux fois, en exagérant : l'exagération est ce qui fait entrer une mélodie dans l'oreille.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faire dire par les élèves, deux fois chacune, avant de donner l'intention. Corriger la mélodie, jamais les mots.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dire « c'est magnifique » deux fois : une fois vite, une fois en tenant la deuxième syllabe. La différence est entendue par tout le groupe.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montrer sur une phrase du module : « je crois qu'elle choisit de rester ». Dite en montant, elle demande la permission. Dite en descendant, elle ouvre la discussion.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`prInto` du module. Le faire à l'oral d'abord, puis à l'écran. Les élèves qui hésitent entre déception et incompréhension écoutent le début de la phrase : la déception tombe dès la première syllabe.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dyades, cinq minutes. Celui qui écoute nomme l'intention ; celui qui parle confirme. C'est le seul exercice du module où l'on se trompe utilement, parce que l'erreur s'entend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d'écoute, pas d'écriture. Les rapports servent d'entrée en matière à A3.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que la voix ajoute aux mots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niveau 8 ne demande plus qu'une chose à l'oreille : l'intonation expressive. Pas un son nouveau — une mélodie. Une même phrase de six mots peut dire trois choses.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l'œuvre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quatre intentions à la seule mélodie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produire l'admiration, la déception et l'incompréhension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chez l'autre le signal qu'une réponse ne lui a pas plu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cesser de monter la voix à la fin de chaque phrase.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Trois fois la même phrase. Qu'est-ce qui change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Six épisodes pour arriver à ça.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Dite lentement, la voix qui tombe dès le début.</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Dite vite, la voix qui monte à la fin.</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Dite en s'appuyant longuement sur « ça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mélodies, quatre intentions</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MÉLODIE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DIT</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Elle s'élargit et appuie</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l'admiration</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Elle tombe dès la première syllabe</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la déception</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Elle freine, un silence, puis le mot</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l'incompréhension</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Elle monte d'un coup à la fin</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1" i="0">
                <a:solidFill>
                  <a:srgbClr val="3B49A0"/>
                </a:solidFill>
                <a:latin typeface="Verdana"/>
              </a:rPr>
              <a:t>la surprise</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Aucun symbole. On les nomme par ce que fait la voix.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Huit répliques, quatre intentions</a:t>
            </a:r>
          </a:p>
        </p:txBody>
      </p:sp>
      <p:sp>
        <p:nvSpPr>
          <p:cNvPr id="7" name="Rounded Rectangle 6"/>
          <p:cNvSpPr/>
          <p:nvPr/>
        </p:nvSpPr>
        <p:spPr>
          <a:xfrm>
            <a:off x="566928" y="181051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Quatorze secondes sur des bottes !</a:t>
            </a:r>
          </a:p>
        </p:txBody>
      </p:sp>
      <p:sp>
        <p:nvSpPr>
          <p:cNvPr id="9" name="TextBox 8"/>
          <p:cNvSpPr txBox="1"/>
          <p:nvPr/>
        </p:nvSpPr>
        <p:spPr>
          <a:xfrm>
            <a:off x="886968" y="2559303"/>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admiration</a:t>
            </a:r>
          </a:p>
        </p:txBody>
      </p:sp>
      <p:sp>
        <p:nvSpPr>
          <p:cNvPr id="10" name="Rounded Rectangle 9"/>
          <p:cNvSpPr/>
          <p:nvPr/>
        </p:nvSpPr>
        <p:spPr>
          <a:xfrm>
            <a:off x="6178143" y="181051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C'est la plus belle dernière page de l'année.</a:t>
            </a:r>
          </a:p>
        </p:txBody>
      </p:sp>
      <p:sp>
        <p:nvSpPr>
          <p:cNvPr id="12" name="TextBox 11"/>
          <p:cNvSpPr txBox="1"/>
          <p:nvPr/>
        </p:nvSpPr>
        <p:spPr>
          <a:xfrm>
            <a:off x="6498183" y="2559303"/>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admiration</a:t>
            </a:r>
          </a:p>
        </p:txBody>
      </p:sp>
      <p:sp>
        <p:nvSpPr>
          <p:cNvPr id="13" name="Rounded Rectangle 12"/>
          <p:cNvSpPr/>
          <p:nvPr/>
        </p:nvSpPr>
        <p:spPr>
          <a:xfrm>
            <a:off x="566928" y="291922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193541"/>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Ah bon. Moi qui attendais ça depuis six semaines.</a:t>
            </a:r>
          </a:p>
        </p:txBody>
      </p:sp>
      <p:sp>
        <p:nvSpPr>
          <p:cNvPr id="15" name="TextBox 14"/>
          <p:cNvSpPr txBox="1"/>
          <p:nvPr/>
        </p:nvSpPr>
        <p:spPr>
          <a:xfrm>
            <a:off x="886968" y="3668014"/>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déception</a:t>
            </a:r>
          </a:p>
        </p:txBody>
      </p:sp>
      <p:sp>
        <p:nvSpPr>
          <p:cNvPr id="16" name="Rounded Rectangle 15"/>
          <p:cNvSpPr/>
          <p:nvPr/>
        </p:nvSpPr>
        <p:spPr>
          <a:xfrm>
            <a:off x="6178143" y="291922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193541"/>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Bon. Je pensais qu'on parlerait du texte.</a:t>
            </a:r>
          </a:p>
        </p:txBody>
      </p:sp>
      <p:sp>
        <p:nvSpPr>
          <p:cNvPr id="18" name="TextBox 17"/>
          <p:cNvSpPr txBox="1"/>
          <p:nvPr/>
        </p:nvSpPr>
        <p:spPr>
          <a:xfrm>
            <a:off x="6498183" y="3668014"/>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déception</a:t>
            </a:r>
          </a:p>
        </p:txBody>
      </p:sp>
      <p:sp>
        <p:nvSpPr>
          <p:cNvPr id="19" name="Rounded Rectangle 18"/>
          <p:cNvSpPr/>
          <p:nvPr/>
        </p:nvSpPr>
        <p:spPr>
          <a:xfrm>
            <a:off x="566928" y="4027931"/>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4302251"/>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Le mot « défendable », vous l'entendez comment ?</a:t>
            </a:r>
          </a:p>
        </p:txBody>
      </p:sp>
      <p:sp>
        <p:nvSpPr>
          <p:cNvPr id="21" name="TextBox 20"/>
          <p:cNvSpPr txBox="1"/>
          <p:nvPr/>
        </p:nvSpPr>
        <p:spPr>
          <a:xfrm>
            <a:off x="886968" y="4776723"/>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incompréhension</a:t>
            </a:r>
          </a:p>
        </p:txBody>
      </p:sp>
      <p:sp>
        <p:nvSpPr>
          <p:cNvPr id="22" name="Rounded Rectangle 21"/>
          <p:cNvSpPr/>
          <p:nvPr/>
        </p:nvSpPr>
        <p:spPr>
          <a:xfrm>
            <a:off x="6178143" y="4027931"/>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4302251"/>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Là, j'ai perdu le fil de votre lecture.</a:t>
            </a:r>
          </a:p>
        </p:txBody>
      </p:sp>
      <p:sp>
        <p:nvSpPr>
          <p:cNvPr id="24" name="TextBox 23"/>
          <p:cNvSpPr txBox="1"/>
          <p:nvPr/>
        </p:nvSpPr>
        <p:spPr>
          <a:xfrm>
            <a:off x="6498183" y="4776723"/>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incompréhension</a:t>
            </a:r>
          </a:p>
        </p:txBody>
      </p:sp>
      <p:sp>
        <p:nvSpPr>
          <p:cNvPr id="25" name="Rounded Rectangle 24"/>
          <p:cNvSpPr/>
          <p:nvPr/>
        </p:nvSpPr>
        <p:spPr>
          <a:xfrm>
            <a:off x="566928" y="513664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86968" y="5410962"/>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Comment ça, elle ne détache pas la corde ?</a:t>
            </a:r>
          </a:p>
        </p:txBody>
      </p:sp>
      <p:sp>
        <p:nvSpPr>
          <p:cNvPr id="27" name="TextBox 26"/>
          <p:cNvSpPr txBox="1"/>
          <p:nvPr/>
        </p:nvSpPr>
        <p:spPr>
          <a:xfrm>
            <a:off x="886968" y="5885434"/>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surprise</a:t>
            </a:r>
          </a:p>
        </p:txBody>
      </p:sp>
      <p:sp>
        <p:nvSpPr>
          <p:cNvPr id="28" name="Rounded Rectangle 27"/>
          <p:cNvSpPr/>
          <p:nvPr/>
        </p:nvSpPr>
        <p:spPr>
          <a:xfrm>
            <a:off x="6178143" y="5136642"/>
            <a:ext cx="5446623"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98183" y="5410962"/>
            <a:ext cx="4806543" cy="447040"/>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Trois lectures de la même scène ?</a:t>
            </a:r>
          </a:p>
        </p:txBody>
      </p:sp>
      <p:sp>
        <p:nvSpPr>
          <p:cNvPr id="30" name="TextBox 29"/>
          <p:cNvSpPr txBox="1"/>
          <p:nvPr/>
        </p:nvSpPr>
        <p:spPr>
          <a:xfrm>
            <a:off x="6498183" y="5885434"/>
            <a:ext cx="4806543" cy="-78994"/>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surprise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L'ADMIRATION RALENTIT, ELLE NE MONTE PAS</a:t>
            </a:r>
          </a:p>
        </p:txBody>
      </p:sp>
      <p:sp>
        <p:nvSpPr>
          <p:cNvPr id="6" name="Rounded Rectangle 5"/>
          <p:cNvSpPr/>
          <p:nvPr/>
        </p:nvSpPr>
        <p:spPr>
          <a:xfrm>
            <a:off x="566928" y="1225296"/>
            <a:ext cx="11057839" cy="2494788"/>
          </a:xfrm>
          <a:prstGeom prst="roundRect">
            <a:avLst>
              <a:gd name="adj" fmla="val 586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admiration dite vite passe pour de la politesse. C'est la lenteur qui la rend crédible.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voix s'élargit et s'appuie longuement sur le mot qui porte l'éloge. C'est le contraire de la surprise, qui grimpe brusquement sur les deux dernières syllabes.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monter la voix à chaque phrase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descendre quand on affirme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mélodie qui monte partout transforme chaque affirmation en question, et chaque lecture en demande d'autorisation. C'est le défaut le plus fréquent chez les adultes qui apprennent, et il ne vient pas de la langue : il vient de la prudence. On n'ose pas conclure, alors on laisse la phrase ouverte.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intention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puis nommez l'intention.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réussit tout ça sans une seule réplique.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pensais que c'était décidé.</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bien dit quatorze secondes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ça, l'auteure ne le dit jamais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Ah. Bon.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magnifique.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intention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réussit tout ça sans une seule réplique.   </a:t>
            </a:r>
            <a:r>
              <a:rPr sz="1400" b="1" i="0">
                <a:solidFill>
                  <a:srgbClr val="07734A"/>
                </a:solidFill>
                <a:latin typeface="Verdana"/>
              </a:rPr>
              <a:t>» admiration</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pensais que c'était décidé.   </a:t>
            </a:r>
            <a:r>
              <a:rPr sz="1400" b="1" i="0">
                <a:solidFill>
                  <a:srgbClr val="07734A"/>
                </a:solidFill>
                <a:latin typeface="Verdana"/>
              </a:rPr>
              <a:t>» déception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bien dit quatorze secondes ?   </a:t>
            </a:r>
            <a:r>
              <a:rPr sz="1400" b="1" i="0">
                <a:solidFill>
                  <a:srgbClr val="07734A"/>
                </a:solidFill>
                <a:latin typeface="Verdana"/>
              </a:rPr>
              <a:t>» incompréhension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ça, l'auteure ne le dit jamais ?   </a:t>
            </a:r>
            <a:r>
              <a:rPr sz="1400" b="1" i="0">
                <a:solidFill>
                  <a:srgbClr val="07734A"/>
                </a:solidFill>
                <a:latin typeface="Verdana"/>
              </a:rPr>
              <a:t>» surprise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Ah. Bon.   </a:t>
            </a:r>
            <a:r>
              <a:rPr sz="1400" b="1" i="0">
                <a:solidFill>
                  <a:srgbClr val="07734A"/>
                </a:solidFill>
                <a:latin typeface="Verdana"/>
              </a:rPr>
              <a:t>» déception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magnifique.   </a:t>
            </a:r>
            <a:r>
              <a:rPr sz="1400" b="1" i="0">
                <a:solidFill>
                  <a:srgbClr val="07734A"/>
                </a:solidFill>
                <a:latin typeface="Verdana"/>
              </a:rPr>
              <a:t>» admiration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 la même phrase trois fois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phrase, trois intentions. Le groupe devine.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ne détache pas la corde.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strophes seulement.</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Personne n'a rien dit.</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ne l'a pas vérifié.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100" b="1" i="0">
                <a:solidFill>
                  <a:srgbClr val="FFFFFF"/>
                </a:solidFill>
                <a:latin typeface="Verdana"/>
              </a:rPr>
              <a:t>Écoutez quelqu'un cette semaine — à la radio, au travail, à la maison — et notez une phrase dont la mélodie disait plus que les mots.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phrase, telle que vous l'avez entendue.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Ce que la voix ajoutait : surprise, admiration, déception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 que l'œuvre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