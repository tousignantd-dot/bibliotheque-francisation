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charnière du bloc A. Tout le module en dépend : un cercle qui confond les trois opérations discute d'un jugement sans s'être entendu sur les faits.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le plus difficile, et le plus utile hors du cours : « elle a l'air fâchée » se dit comme un fait et n'en est pas 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la phrase au tableau et la découper à la craie sous les yeux du groupe. Le découpage physique fait plus que l'explication.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l'outil que l'élève emportera ; tout le reste de la séance sert à l'exercer.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chercher au groupe trois autres exemples du même moule : « il hésite », « elle ment », « il s'en fiche ». Chacun est une déduction présentée comme une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dire sans sévérité : tout le monde emploie ces adverbes, l'enseignante comprise. Ce qui compte est de les entendre.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`prImpl` du module. Les six colonnes de droite ne sont écrites nulle part dans les textes : c'est le lecteur qui les apporte. Le faire remarquer une fois, à la fin.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aussi une attente de fin de cours du niveau 8 : l'adulte résume les propos de son interlocuteur pour vérifier l'information reçue.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produire une phrase de chaque sorte, en dyades, à partir d'une réplique du dialogue `prep`.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`prRefor` du module. Le piège habituel est de mettre « en somme » devant une précision : le contrôle est la longueur, ce qui suit « en somme » doit être plus court que ce qui précède.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à faire en classe, debout, pas à la maison. Les corrections sont immédiates et le groupe rit — c'est le meilleur moment du bloc 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A4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Trois opérations, et comment redire celle des autres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Elle s'assoit, elle renonce, et franchement c'est raté. » Une phrase, trois opérations complètement différentes — et personne ne les entend passer.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 que l'œuvre ne dit pas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trancher entre fait, interprétation et jugement en deux secondes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une interprétation déguisée en fait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ce qu'une phrase laisse entendre sans le dire ;</a:t>
            </a:r>
          </a:p>
        </p:txBody>
      </p:sp>
      <p:sp>
        <p:nvSpPr>
          <p:cNvPr id="19" name="Rounded Rectangle 18"/>
          <p:cNvSpPr/>
          <p:nvPr/>
        </p:nvSpPr>
        <p:spPr>
          <a:xfrm>
            <a:off x="566928" y="44226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7782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8605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reformuler avec « autrement dit », « c'est-à-dire », « si je vous suis bien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Combien de choses différentes y a-t-il dans cette phrase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Elle s'assoit dans la chaloupe, elle renonce à partir, et cette fin est ratée.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peut-on vérifier en revoyant la scène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ajoute quelque chose que l'œuvre ne montre pas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dit si c'est bon ou mauvais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questions, dans cet ordre</a:t>
            </a:r>
          </a:p>
        </p:txBody>
      </p:sp>
      <p:sp>
        <p:nvSpPr>
          <p:cNvPr id="7" name="Rounded Rectangle 6"/>
          <p:cNvSpPr/>
          <p:nvPr/>
        </p:nvSpPr>
        <p:spPr>
          <a:xfrm>
            <a:off x="566928" y="1810512"/>
            <a:ext cx="11057839" cy="3163824"/>
          </a:xfrm>
          <a:prstGeom prst="roundRect">
            <a:avLst>
              <a:gd name="adj" fmla="val 462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QUESTION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SI OUI</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Puis-je le vérifier en revoyant ?</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c'est un fait</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Est-ce que j'ajoute quelque chose ?</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c'est une interprétation</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Est-ce que je dis bon ou mauvais ?</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c'est un jugement</a:t>
            </a:r>
          </a:p>
        </p:txBody>
      </p:sp>
      <p:sp>
        <p:nvSpPr>
          <p:cNvPr id="18" name="Rounded Rectangle 17"/>
          <p:cNvSpPr/>
          <p:nvPr/>
        </p:nvSpPr>
        <p:spPr>
          <a:xfrm>
            <a:off x="566928" y="521208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46811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poser dans cet ordre : la première élimine la moitié des cas.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Elle est triste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Elle ne lève pas les yeux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émotion n'est jamais un fait. On voit un visage, on déduit un sentiment, et la déduction se fait si vite qu'on croit avoir vu la tristesse. Presque toutes les phrases d'un cercle de lecture sont des interprétations déguisées en descriptions, et c'est ce qui rend les discussions confuses : deux personnes croient parler du même fait et parlent déjà de deux lectures.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Évidemment, elle renonce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Elle laisse sonner le téléphone : je comprends qu'elle renonce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Évidemment », « clairement », « manifestement » font passer une interprétation pour un fait sans rien prouver. Ce sont des mots de pression, pas des mots de preuve. Quand vous en entendez un, cherchez le détail qui suit : s'il n'y en a pas, il n'y a rien.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est dit, ce qui est entendu</a:t>
            </a:r>
          </a:p>
        </p:txBody>
      </p:sp>
      <p:sp>
        <p:nvSpPr>
          <p:cNvPr id="7" name="Rounded Rectangle 6"/>
          <p:cNvSpPr/>
          <p:nvPr/>
        </p:nvSpPr>
        <p:spPr>
          <a:xfrm>
            <a:off x="566928"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447040"/>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 On avait commencé sans elle. »</a:t>
            </a:r>
          </a:p>
        </p:txBody>
      </p:sp>
      <p:sp>
        <p:nvSpPr>
          <p:cNvPr id="9" name="TextBox 8"/>
          <p:cNvSpPr txBox="1"/>
          <p:nvPr/>
        </p:nvSpPr>
        <p:spPr>
          <a:xfrm>
            <a:off x="886968" y="2559303"/>
            <a:ext cx="4806543" cy="290575"/>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sa présence n'était pas nécessaire</a:t>
            </a:r>
          </a:p>
        </p:txBody>
      </p:sp>
      <p:sp>
        <p:nvSpPr>
          <p:cNvPr id="10" name="Rounded Rectangle 9"/>
          <p:cNvSpPr/>
          <p:nvPr/>
        </p:nvSpPr>
        <p:spPr>
          <a:xfrm>
            <a:off x="6178143"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447040"/>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 Il l'appela deux fois Ginette. »</a:t>
            </a:r>
          </a:p>
        </p:txBody>
      </p:sp>
      <p:sp>
        <p:nvSpPr>
          <p:cNvPr id="12" name="TextBox 11"/>
          <p:cNvSpPr txBox="1"/>
          <p:nvPr/>
        </p:nvSpPr>
        <p:spPr>
          <a:xfrm>
            <a:off x="6498183" y="2559303"/>
            <a:ext cx="4806543" cy="290575"/>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trente et un ans n'ont pas suffi</a:t>
            </a:r>
          </a:p>
        </p:txBody>
      </p:sp>
      <p:sp>
        <p:nvSpPr>
          <p:cNvPr id="13" name="Rounded Rectangle 12"/>
          <p:cNvSpPr/>
          <p:nvPr/>
        </p:nvSpPr>
        <p:spPr>
          <a:xfrm>
            <a:off x="566928"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563112"/>
            <a:ext cx="4806543" cy="447040"/>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 On ne le corrigea pas. »</a:t>
            </a:r>
          </a:p>
        </p:txBody>
      </p:sp>
      <p:sp>
        <p:nvSpPr>
          <p:cNvPr id="15" name="TextBox 14"/>
          <p:cNvSpPr txBox="1"/>
          <p:nvPr/>
        </p:nvSpPr>
        <p:spPr>
          <a:xfrm>
            <a:off x="886968" y="4037584"/>
            <a:ext cx="4806543" cy="290575"/>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personne d'autre ne savait son nom</a:t>
            </a:r>
          </a:p>
        </p:txBody>
      </p:sp>
      <p:sp>
        <p:nvSpPr>
          <p:cNvPr id="16" name="Rounded Rectangle 15"/>
          <p:cNvSpPr/>
          <p:nvPr/>
        </p:nvSpPr>
        <p:spPr>
          <a:xfrm>
            <a:off x="6178143"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563112"/>
            <a:ext cx="4806543" cy="447040"/>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 Elle avait oublié ses lunettes. »</a:t>
            </a:r>
          </a:p>
        </p:txBody>
      </p:sp>
      <p:sp>
        <p:nvSpPr>
          <p:cNvPr id="18" name="TextBox 17"/>
          <p:cNvSpPr txBox="1"/>
          <p:nvPr/>
        </p:nvSpPr>
        <p:spPr>
          <a:xfrm>
            <a:off x="6498183" y="4037584"/>
            <a:ext cx="4806543" cy="290575"/>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elle refuse de lire, et le cache</a:t>
            </a:r>
          </a:p>
        </p:txBody>
      </p:sp>
      <p:sp>
        <p:nvSpPr>
          <p:cNvPr id="19" name="Rounded Rectangle 18"/>
          <p:cNvSpPr/>
          <p:nvPr/>
        </p:nvSpPr>
        <p:spPr>
          <a:xfrm>
            <a:off x="566928"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041391"/>
            <a:ext cx="4806543" cy="447040"/>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 La banquette de droite est chaude pour rien. »</a:t>
            </a:r>
          </a:p>
        </p:txBody>
      </p:sp>
      <p:sp>
        <p:nvSpPr>
          <p:cNvPr id="21" name="TextBox 20"/>
          <p:cNvSpPr txBox="1"/>
          <p:nvPr/>
        </p:nvSpPr>
        <p:spPr>
          <a:xfrm>
            <a:off x="886968" y="5515864"/>
            <a:ext cx="4806543" cy="290575"/>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quelqu'un s'y asseyait</a:t>
            </a:r>
          </a:p>
        </p:txBody>
      </p:sp>
      <p:sp>
        <p:nvSpPr>
          <p:cNvPr id="22" name="Rounded Rectangle 21"/>
          <p:cNvSpPr/>
          <p:nvPr/>
        </p:nvSpPr>
        <p:spPr>
          <a:xfrm>
            <a:off x="6178143"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8183" y="5041391"/>
            <a:ext cx="4806543" cy="447040"/>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 Vous passez la corde sous silence. »</a:t>
            </a:r>
          </a:p>
        </p:txBody>
      </p:sp>
      <p:sp>
        <p:nvSpPr>
          <p:cNvPr id="24" name="TextBox 23"/>
          <p:cNvSpPr txBox="1"/>
          <p:nvPr/>
        </p:nvSpPr>
        <p:spPr>
          <a:xfrm>
            <a:off x="6498183" y="5515864"/>
            <a:ext cx="4806543" cy="290575"/>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vous évitez ce qui vous gêne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REFORMULER PROUVE QU'ON A COMPRIS</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Répéter les mots de l'autre prouve qu'on a entendu ; les remplacer prouve qu'on a compris.</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test est simple : la personne citée doit pouvoir approuver votre phrase d'un signe de tête, sans rien corriger. Si elle doit corriger, vous avez ajouté quelque chose — et ce n'est plus une reformulation.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connecteurs, quatre usages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CONNECTEUR</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FAIT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Autrement dit</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redit la même chose avec d'autres mots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C'est-à-dire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précise : ce qui suit est plus étroit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En somme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rassemble plusieurs éléments en un seul</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Si je vous suis bien</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fait confirmer, et finit sur une question</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dernier est le plus utile : il rend la parole à l'autre.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connecteur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Chacun raconte, puis chacun note. ___, on ne lit jamais.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prend le fond, ___ la table des stagiaires.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Deux lectures, trois indices : ___, une bonne soirée.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vous y voyez un piège plutôt qu'un choix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n'a rien vérifié ; ___ termes, il l'écrit sans le savoir.</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refusé, ___ elle a demandé à quelqu'un d'autre.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connecteur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Chacun raconte, puis chacun note. ___, on ne lit jamais.   </a:t>
            </a:r>
            <a:r>
              <a:rPr sz="1400" b="1" i="0">
                <a:solidFill>
                  <a:srgbClr val="07734A"/>
                </a:solidFill>
                <a:latin typeface="Verdana"/>
              </a:rPr>
              <a:t>» Autrement dit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prend le fond, ___ la table des stagiaires.   </a:t>
            </a:r>
            <a:r>
              <a:rPr sz="1400" b="1" i="0">
                <a:solidFill>
                  <a:srgbClr val="07734A"/>
                </a:solidFill>
                <a:latin typeface="Verdana"/>
              </a:rPr>
              <a:t>» c'est-à-dire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Deux lectures, trois indices : ___, une bonne soirée.   </a:t>
            </a:r>
            <a:r>
              <a:rPr sz="1400" b="1" i="0">
                <a:solidFill>
                  <a:srgbClr val="07734A"/>
                </a:solidFill>
                <a:latin typeface="Verdana"/>
              </a:rPr>
              <a:t>» en somme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vous y voyez un piège plutôt qu'un choix ?   </a:t>
            </a:r>
            <a:r>
              <a:rPr sz="1400" b="1" i="0">
                <a:solidFill>
                  <a:srgbClr val="07734A"/>
                </a:solidFill>
                <a:latin typeface="Verdana"/>
              </a:rPr>
              <a:t>» Si je vous suis bien</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n'a rien vérifié ; ___ termes, il l'écrit sans le savoir.   </a:t>
            </a:r>
            <a:r>
              <a:rPr sz="1400" b="1" i="0">
                <a:solidFill>
                  <a:srgbClr val="07734A"/>
                </a:solidFill>
                <a:latin typeface="Verdana"/>
              </a:rPr>
              <a:t>» en d'autres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refusé, ___ elle a demandé à quelqu'un d'autre.   </a:t>
            </a:r>
            <a:r>
              <a:rPr sz="1400" b="1" i="0">
                <a:solidFill>
                  <a:srgbClr val="07734A"/>
                </a:solidFill>
                <a:latin typeface="Verdana"/>
              </a:rPr>
              <a:t>» c'est-à-dire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2900" b="1" i="0">
                <a:solidFill>
                  <a:srgbClr val="FFFFFF"/>
                </a:solidFill>
                <a:latin typeface="Verdana"/>
              </a:rPr>
              <a:t>Écoutez la personne à côté de vous pendant deux minutes, puis reformulez ce qu'elle a dit en une phrase commençant par « si je vous suis bien ». Elle approuve ou elle corrige.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Sujet libre : une œuvre, une semaine, un souvenir.</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règle : rien de neuf ne doit entrer dans votre phrase.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Ce que l'œuvre ne dit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