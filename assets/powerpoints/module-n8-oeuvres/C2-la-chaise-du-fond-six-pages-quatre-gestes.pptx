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compréhension écrite. Faire distribuer l'extrait imprimé avant d'ouvrir l'écran : on lit sur papier, on répond à l'écran.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une méthode de lecture générale : dans un texte court, cherchez la seule fois où la voix qui raconte se permet quelque chose.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à faire circuler dans le groupe : les réponses sont très différentes selon les cultures d'origine, et c'est exactement le sujet du texte. Ne trancher pas.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remarquer que le texte ne contient aucun adjectif de sentiment : ni triste, ni fâchée, ni déçue. C'est un choix, pas une pauvreté.</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dire clairement : cette liste-là est à reconnaître, pas à produire. Cela soulage la moitié du groupe.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Dans cette nouvelle, tout ce qui s'est décidé sans Gisèle est au plus-que-parfait : la grammaire dit la même chose que l'histoire.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cette nouvelle, le narrateur ne juge jamais Gisèle. Il note ce qu'elle fait — et une seule fois ce qu'elle cache.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cases sont le décompte de B2 appliqué à un texte. Quatre contre deux : la lecture de la colère n'est pas plus vraie, elle couvre plus de texte.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`t2nouv` du module, en version papier. À l'écran, l'élève clique le passage dans le texte : le faire ensuite, la manipulation vaut la reprise.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`t2temps` du module, moitié avant. L'autre moitié est en C4 : ici on l'installe sur le texte qu'on vient de lire, ce qui aide.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copies qui donnent un sentiment au lieu d'un geste (« parce qu'elle est triste ») disent que le partage fait / interprétation n'est pas encore acquis : y revenir en C3.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C2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 La chaise du fond » : six pages, quatre gestes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nouvelle ne dit jamais ce que Gisèle éprouve. Elle montre quatre gestes et vous laisse faire l'addition. Ce n'est pas un manque de clarté : c'est de la place laissée.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l'œuvre ne dit pas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 récit littéraire au passé simple sans buter dessus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au plus-que-parfait ce qui s'était décidé avant la scène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trouver l'endroit unique où le narrateur sort de la scène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comparer deux lectures en comptant ce que chacune explique.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100" b="1" i="0">
                <a:solidFill>
                  <a:srgbClr val="17181A"/>
                </a:solidFill>
                <a:latin typeface="Verdana"/>
              </a:rPr>
              <a:t>Où s'assoit-on quand on arrive à sa propre fête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ble-du-fond.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Deux places restent libres : une au centre, une au fond.</a:t>
            </a:r>
          </a:p>
        </p:txBody>
      </p:sp>
      <p:sp>
        <p:nvSpPr>
          <p:cNvPr id="12" name="Rounded Rectangle 11"/>
          <p:cNvSpPr/>
          <p:nvPr/>
        </p:nvSpPr>
        <p:spPr>
          <a:xfrm>
            <a:off x="566928" y="297992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prendriez-vous ? Pourquoi ?</a:t>
            </a:r>
          </a:p>
        </p:txBody>
      </p:sp>
      <p:sp>
        <p:nvSpPr>
          <p:cNvPr id="15" name="Rounded Rectangle 14"/>
          <p:cNvSpPr/>
          <p:nvPr/>
        </p:nvSpPr>
        <p:spPr>
          <a:xfrm>
            <a:off x="566928" y="376580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87553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94868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quoi sert cette table-là, le reste de l'année ?</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comprend la salle si vous prenez le fond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gestes, et rien d'autre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GESTE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LE TEXTE DIT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chaise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prend celle du fond, la table des stagiaires</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Le silence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personne ne dit rien, personne ne corrige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lecture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demande à sa voisine de lire à sa place</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La nappe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la plie et la met dans son sac</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Aucun de ces gestes n'est expliqué. La nouvelle s'arrête après le quatrième.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LE PASSÉ SIMPLE SE RECONNAÎT, IL NE SE PARLE PAS</a:t>
            </a:r>
          </a:p>
        </p:txBody>
      </p:sp>
      <p:sp>
        <p:nvSpPr>
          <p:cNvPr id="6" name="Rounded Rectangle 5"/>
          <p:cNvSpPr/>
          <p:nvPr/>
        </p:nvSpPr>
        <p:spPr>
          <a:xfrm>
            <a:off x="566928" y="1225296"/>
            <a:ext cx="11057839" cy="2494788"/>
          </a:xfrm>
          <a:prstGeom prst="roundRect">
            <a:avLst>
              <a:gd name="adj" fmla="val 586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Verbes en -er : elle poussa, ils poussèrent. La plupart des autres : elle prit, il fit, elle dit, elle vint.</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Vous ne l'emploierez jamais dans une conversation, et personne ne vous le demandera. Vous le lirez dans chaque roman, chaque nouvelle et chaque conte que vous ouvrirez ici. Six irréguliers suffisent : fut, eut, fit, dit, vit, vint.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temps, trois plans du récit</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TEMPS</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QU'IL PORTE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Imparfait</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décor : la salle était pleine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Passé simple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l'action : elle traversa la salle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Plus-que-parfait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l'avant : on avait commencé sans elle</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Rangez chaque phrase dans une colonne, et le texte s'organise seul.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confondre le narrateur et l'auteure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les tenir séparés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Celui qui raconte est une voix construite : il peut se taire, se tromper, ou juger. Odile Brassard-Vézina n'est pas plus « la voix » de cette nouvelle que Gisèle n'est elle-même. La confusion est banale et elle coûte cher : elle transforme une lecture de texte en procès d'intention contre une personne.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parenthèse, et ce qu'elle change</a:t>
            </a:r>
          </a:p>
        </p:txBody>
      </p:sp>
      <p:sp>
        <p:nvSpPr>
          <p:cNvPr id="7" name="Rounded Rectangle 6"/>
          <p:cNvSpPr/>
          <p:nvPr/>
        </p:nvSpPr>
        <p:spPr>
          <a:xfrm>
            <a:off x="566928"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qu'elle dit</a:t>
            </a:r>
          </a:p>
        </p:txBody>
      </p:sp>
      <p:sp>
        <p:nvSpPr>
          <p:cNvPr id="9" name="TextBox 8"/>
          <p:cNvSpPr txBox="1"/>
          <p:nvPr/>
        </p:nvSpPr>
        <p:spPr>
          <a:xfrm>
            <a:off x="886968" y="2499360"/>
            <a:ext cx="4806543" cy="350519"/>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qu'elle avait oublié ses lunettes</a:t>
            </a:r>
          </a:p>
        </p:txBody>
      </p:sp>
      <p:sp>
        <p:nvSpPr>
          <p:cNvPr id="10" name="Rounded Rectangle 9"/>
          <p:cNvSpPr/>
          <p:nvPr/>
        </p:nvSpPr>
        <p:spPr>
          <a:xfrm>
            <a:off x="6178143" y="181051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que le narrateur ajoute</a:t>
            </a:r>
          </a:p>
        </p:txBody>
      </p:sp>
      <p:sp>
        <p:nvSpPr>
          <p:cNvPr id="12" name="TextBox 11"/>
          <p:cNvSpPr txBox="1"/>
          <p:nvPr/>
        </p:nvSpPr>
        <p:spPr>
          <a:xfrm>
            <a:off x="6498183" y="2499360"/>
            <a:ext cx="4806543" cy="350519"/>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qu'elle ne les avait pas oubliées</a:t>
            </a:r>
          </a:p>
        </p:txBody>
      </p:sp>
      <p:sp>
        <p:nvSpPr>
          <p:cNvPr id="13" name="Rounded Rectangle 12"/>
          <p:cNvSpPr/>
          <p:nvPr/>
        </p:nvSpPr>
        <p:spPr>
          <a:xfrm>
            <a:off x="566928"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356311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Combien de fois</a:t>
            </a:r>
          </a:p>
        </p:txBody>
      </p:sp>
      <p:sp>
        <p:nvSpPr>
          <p:cNvPr id="15" name="TextBox 14"/>
          <p:cNvSpPr txBox="1"/>
          <p:nvPr/>
        </p:nvSpPr>
        <p:spPr>
          <a:xfrm>
            <a:off x="886968" y="3977639"/>
            <a:ext cx="4806543" cy="350519"/>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seule, en six pages</a:t>
            </a:r>
          </a:p>
        </p:txBody>
      </p:sp>
      <p:sp>
        <p:nvSpPr>
          <p:cNvPr id="16" name="Rounded Rectangle 15"/>
          <p:cNvSpPr/>
          <p:nvPr/>
        </p:nvSpPr>
        <p:spPr>
          <a:xfrm>
            <a:off x="6178143" y="328879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356311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Ce que ça prouve</a:t>
            </a:r>
          </a:p>
        </p:txBody>
      </p:sp>
      <p:sp>
        <p:nvSpPr>
          <p:cNvPr id="18" name="TextBox 17"/>
          <p:cNvSpPr txBox="1"/>
          <p:nvPr/>
        </p:nvSpPr>
        <p:spPr>
          <a:xfrm>
            <a:off x="6498183" y="3977639"/>
            <a:ext cx="4806543" cy="350519"/>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rien : cela oriente, et cela suffit</a:t>
            </a:r>
          </a:p>
        </p:txBody>
      </p:sp>
      <p:sp>
        <p:nvSpPr>
          <p:cNvPr id="19" name="Rounded Rectangle 18"/>
          <p:cNvSpPr/>
          <p:nvPr/>
        </p:nvSpPr>
        <p:spPr>
          <a:xfrm>
            <a:off x="566928"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86968" y="504139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Lecture tendre</a:t>
            </a:r>
          </a:p>
        </p:txBody>
      </p:sp>
      <p:sp>
        <p:nvSpPr>
          <p:cNvPr id="21" name="TextBox 20"/>
          <p:cNvSpPr txBox="1"/>
          <p:nvPr/>
        </p:nvSpPr>
        <p:spPr>
          <a:xfrm>
            <a:off x="886968" y="5455920"/>
            <a:ext cx="4806543" cy="350519"/>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une femme effacée : explique deux gestes</a:t>
            </a:r>
          </a:p>
        </p:txBody>
      </p:sp>
      <p:sp>
        <p:nvSpPr>
          <p:cNvPr id="22" name="Rounded Rectangle 21"/>
          <p:cNvSpPr/>
          <p:nvPr/>
        </p:nvSpPr>
        <p:spPr>
          <a:xfrm>
            <a:off x="6178143" y="4767072"/>
            <a:ext cx="5446623" cy="1313687"/>
          </a:xfrm>
          <a:prstGeom prst="roundRect">
            <a:avLst>
              <a:gd name="adj" fmla="val 1113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498183" y="504139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Lecture de la colère</a:t>
            </a:r>
          </a:p>
        </p:txBody>
      </p:sp>
      <p:sp>
        <p:nvSpPr>
          <p:cNvPr id="24" name="TextBox 23"/>
          <p:cNvSpPr txBox="1"/>
          <p:nvPr/>
        </p:nvSpPr>
        <p:spPr>
          <a:xfrm>
            <a:off x="6498183" y="5455920"/>
            <a:ext cx="4806543" cy="350519"/>
          </a:xfrm>
          <a:prstGeom prst="rect">
            <a:avLst/>
          </a:prstGeom>
          <a:noFill/>
        </p:spPr>
        <p:txBody>
          <a:bodyPr wrap="square" lIns="0" rIns="0" tIns="0" bIns="0" anchor="t">
            <a:spAutoFit/>
          </a:bodyPr>
          <a:lstStyle/>
          <a:p>
            <a:pPr algn="l">
              <a:lnSpc>
                <a:spcPct val="142000"/>
              </a:lnSpc>
            </a:pPr>
            <a:r>
              <a:rPr sz="1700" b="0" i="0">
                <a:solidFill>
                  <a:srgbClr val="3A3D40"/>
                </a:solidFill>
                <a:latin typeface="Verdana"/>
              </a:rPr>
              <a:t>un geste public : explique les quatre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est-ce écrit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Retrouvez le passage qui répond.</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Montre que la fête avait commencé avant elle.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Indique qu'on lui avait gardé la place d'honneur.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Dit comment la salle réagit à son choix.</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Nomme l'erreur du contremaître.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Dit que sa raison de ne pas lire est fausse.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Ferme la nouvelle.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est-ce écrit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Montre que la fête avait commencé avant elle.   </a:t>
            </a:r>
            <a:r>
              <a:rPr sz="1400" b="1" i="0">
                <a:solidFill>
                  <a:srgbClr val="07734A"/>
                </a:solidFill>
                <a:latin typeface="Verdana"/>
              </a:rPr>
              <a:t>» on avait commencé sans elle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Indique qu'on lui avait gardé la place d'honneur.   </a:t>
            </a:r>
            <a:r>
              <a:rPr sz="1400" b="1" i="0">
                <a:solidFill>
                  <a:srgbClr val="07734A"/>
                </a:solidFill>
                <a:latin typeface="Verdana"/>
              </a:rPr>
              <a:t>» une chaise restait libre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Dit comment la salle réagit à son choix.   </a:t>
            </a:r>
            <a:r>
              <a:rPr sz="1400" b="1" i="0">
                <a:solidFill>
                  <a:srgbClr val="07734A"/>
                </a:solidFill>
                <a:latin typeface="Verdana"/>
              </a:rPr>
              <a:t>» personne ne dit rien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Nomme l'erreur du contremaître.   </a:t>
            </a:r>
            <a:r>
              <a:rPr sz="1400" b="1" i="0">
                <a:solidFill>
                  <a:srgbClr val="07734A"/>
                </a:solidFill>
                <a:latin typeface="Verdana"/>
              </a:rPr>
              <a:t>» il l'appela deux fois Ginette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Dit que sa raison de ne pas lire est fausse.   </a:t>
            </a:r>
            <a:r>
              <a:rPr sz="1400" b="1" i="0">
                <a:solidFill>
                  <a:srgbClr val="07734A"/>
                </a:solidFill>
                <a:latin typeface="Verdana"/>
              </a:rPr>
              <a:t>» la parenthèse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Ferme la nouvelle.   </a:t>
            </a:r>
            <a:r>
              <a:rPr sz="1400" b="1" i="0">
                <a:solidFill>
                  <a:srgbClr val="07734A"/>
                </a:solidFill>
                <a:latin typeface="Verdana"/>
              </a:rPr>
              <a:t>» elle plia la nappe et la mit dans son sac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Passé simple ou plus-que-parfait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Gisèle ___ (pousser) la porte à midi cinq.</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___ (prendre) la chaise du fond.</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contremaître ___ (faire) un discours.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elle arriva, on ___ (commencer) sans elle.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ne ___ (s'asseoir) sur la chaise du centre.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prétendit qu'elle ___ (oublier) ses lunettes.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Passé simple ou plus-que-parfait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Gisèle ___ (pousser) la porte à midi cinq.   </a:t>
            </a:r>
            <a:r>
              <a:rPr sz="1400" b="1" i="0">
                <a:solidFill>
                  <a:srgbClr val="07734A"/>
                </a:solidFill>
                <a:latin typeface="Verdana"/>
              </a:rPr>
              <a:t>» poussa</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___ (prendre) la chaise du fond.   </a:t>
            </a:r>
            <a:r>
              <a:rPr sz="1400" b="1" i="0">
                <a:solidFill>
                  <a:srgbClr val="07734A"/>
                </a:solidFill>
                <a:latin typeface="Verdana"/>
              </a:rPr>
              <a:t>» prit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contremaître ___ (faire) un discours.   </a:t>
            </a:r>
            <a:r>
              <a:rPr sz="1400" b="1" i="0">
                <a:solidFill>
                  <a:srgbClr val="07734A"/>
                </a:solidFill>
                <a:latin typeface="Verdana"/>
              </a:rPr>
              <a:t>» fit</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elle arriva, on ___ (commencer) sans elle.   </a:t>
            </a:r>
            <a:r>
              <a:rPr sz="1400" b="1" i="0">
                <a:solidFill>
                  <a:srgbClr val="07734A"/>
                </a:solidFill>
                <a:latin typeface="Verdana"/>
              </a:rPr>
              <a:t>» avait commencé</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ne ___ (s'asseoir) sur la chaise du centre.   </a:t>
            </a:r>
            <a:r>
              <a:rPr sz="1400" b="1" i="0">
                <a:solidFill>
                  <a:srgbClr val="07734A"/>
                </a:solidFill>
                <a:latin typeface="Verdana"/>
              </a:rPr>
              <a:t>» s'était assis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prétendit qu'elle ___ (oublier) ses lunettes.   </a:t>
            </a:r>
            <a:r>
              <a:rPr sz="1400" b="1" i="0">
                <a:solidFill>
                  <a:srgbClr val="07734A"/>
                </a:solidFill>
                <a:latin typeface="Verdana"/>
              </a:rPr>
              <a:t>» avait oublié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 deux phrases : quelle lecture de « La chaise du fond » défendez-vous, et sur quel geste précis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pour la lecture, une pour le geste.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geste doit être un de ceux du tableau : on doit pouvoir le montrer.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Ce que l'œuvre ne dit pas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