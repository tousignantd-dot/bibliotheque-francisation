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séance du module, et dernier module du programme. Ouvrir par une question au groupe : avez-vous déjà discuté d'un film avec quelqu'un qui l'avait compris autrement ? Les histoires sortent vite. Garder celle qui vient la première : elle servira en D1.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premier objectif est le cœur du module et il ne sera pas atteint aujourd'hui. Le poser quand même : les quinze séances y reviennent.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Exercice fondateur, à mener lentement. Les deux premières pistes font faire au groupe, sans le nommer, le partage entre le fait et l'interprétation. Noter les réponses au tableau en deux colonnes, sans les titrer : les titres viendront en A4.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réplique de Josyane est une reformulation : le premier outil du module, employé avant d'être enseigné. Le faire remarquer sans l'expliquer — A4 y revient.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de doctrine du module, dit par un personnage. Beaucoup d'adultes ont appris le contraire à l'école : il y avait une bonne réponse et le professeur l'avait. Prendre le temps.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règle de tout le module tient dans la première réplique. L'écrire au tableau et l'y laisser jusqu'à E2 : une lecture se juge à ce qu'elle permet d'expliquer.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le tableau le plus important du module ; il revient en A4, en B2 et en D2.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Question fréquente : « alors tout le monde a raison ? » Non : celui qui n'explique rien a tort, et cela se compte.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 faux » par la réplique exacte. Le dernier surprend : pourquoi l'invitée refuserait-elle de commencer ? Parce qu'elle veut dix-huit lectures, pas dix-huit fois la sienne.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concret. Les réponses servent de matière première tout le module : chaque élève arrive avec une œuvre à défendre, et c'est celle qu'il présentera en E1.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A1  ·  MODULE 6</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Un cercle de lecture qui tourne à vide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Dix-huit personnes se réunissent chaque mardi. Chacune raconte, chacune dit si elle a aimé, et à neuf heures moins quart tout le monde se lève. Il manque quelque chose au milieu.</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Ce que l'œuvre ne dit pas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un fait, une interprétation et un jugement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entendre ce qu'une voix ajoute aux mots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redire avec ses propres mots ce que quelqu'un vient de dire ;</a:t>
            </a:r>
          </a:p>
        </p:txBody>
      </p:sp>
      <p:sp>
        <p:nvSpPr>
          <p:cNvPr id="19" name="Rounded Rectangle 18"/>
          <p:cNvSpPr/>
          <p:nvPr/>
        </p:nvSpPr>
        <p:spPr>
          <a:xfrm>
            <a:off x="566928" y="4422648"/>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7782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8605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les premiers mots du dossier : une lecture, l'implicite, une interprétation.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Qu'est-ce qui se passe dans cette image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quai-lumiere.jpg"/>
          <p:cNvPicPr>
            <a:picLocks noChangeAspect="1"/>
          </p:cNvPicPr>
          <p:nvPr/>
        </p:nvPicPr>
        <p:blipFill>
          <a:blip r:embed="rId2"/>
          <a:stretch>
            <a:fillRect/>
          </a:stretch>
        </p:blipFill>
        <p:spPr>
          <a:xfrm>
            <a:off x="7644383" y="2638438"/>
            <a:ext cx="3760927" cy="2522955"/>
          </a:xfrm>
          <a:prstGeom prst="rect">
            <a:avLst/>
          </a:prstGeom>
        </p:spPr>
      </p:pic>
      <p:sp>
        <p:nvSpPr>
          <p:cNvPr id="9" name="Rounded Rectangle 8"/>
          <p:cNvSpPr/>
          <p:nvPr/>
        </p:nvSpPr>
        <p:spPr>
          <a:xfrm>
            <a:off x="566928" y="1856232"/>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Nommez trois choses que vous voyez, sans rien deviner.</a:t>
            </a:r>
          </a:p>
        </p:txBody>
      </p:sp>
      <p:sp>
        <p:nvSpPr>
          <p:cNvPr id="12" name="Rounded Rectangle 11"/>
          <p:cNvSpPr/>
          <p:nvPr/>
        </p:nvSpPr>
        <p:spPr>
          <a:xfrm>
            <a:off x="566928" y="2979928"/>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3089656"/>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3162808"/>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Maintenant, qu'est-ce que vous imaginez ?</a:t>
            </a:r>
          </a:p>
        </p:txBody>
      </p:sp>
      <p:sp>
        <p:nvSpPr>
          <p:cNvPr id="15" name="Rounded Rectangle 14"/>
          <p:cNvSpPr/>
          <p:nvPr/>
        </p:nvSpPr>
        <p:spPr>
          <a:xfrm>
            <a:off x="566928" y="3765804"/>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875532"/>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948684"/>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Sur quoi vous appuyez-vous pour l'imaginer ?</a:t>
            </a:r>
          </a:p>
        </p:txBody>
      </p:sp>
      <p:sp>
        <p:nvSpPr>
          <p:cNvPr id="18" name="Rounded Rectangle 17"/>
          <p:cNvSpPr/>
          <p:nvPr/>
        </p:nvSpPr>
        <p:spPr>
          <a:xfrm>
            <a:off x="566928" y="488950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999228"/>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507238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la personne à côté de vous imagine la même chose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 manque au cercle du mardi</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diapositive masquée.</a:t>
            </a:r>
          </a:p>
        </p:txBody>
      </p:sp>
      <p:sp>
        <p:nvSpPr>
          <p:cNvPr id="8" name="Rounded Rectangle 7"/>
          <p:cNvSpPr/>
          <p:nvPr/>
        </p:nvSpPr>
        <p:spPr>
          <a:xfrm>
            <a:off x="566928" y="2157984"/>
            <a:ext cx="11057839" cy="1342644"/>
          </a:xfrm>
          <a:prstGeom prst="roundRect">
            <a:avLst>
              <a:gd name="adj" fmla="val 10896"/>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895189" cy="106832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FATOUMATA</a:t>
            </a:r>
          </a:p>
        </p:txBody>
      </p:sp>
      <p:sp>
        <p:nvSpPr>
          <p:cNvPr id="10" name="TextBox 9"/>
          <p:cNvSpPr txBox="1"/>
          <p:nvPr/>
        </p:nvSpPr>
        <p:spPr>
          <a:xfrm>
            <a:off x="2827877" y="2322576"/>
            <a:ext cx="8248249" cy="106832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J'anime le cercle du mardi soir. Dix-huit personnes, une œuvre par mois. Ça marche très bien, et pourtant quelque chose ne va pas.</a:t>
            </a:r>
          </a:p>
        </p:txBody>
      </p:sp>
      <p:sp>
        <p:nvSpPr>
          <p:cNvPr id="11" name="Rounded Rectangle 10"/>
          <p:cNvSpPr/>
          <p:nvPr/>
        </p:nvSpPr>
        <p:spPr>
          <a:xfrm>
            <a:off x="566928" y="358292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747515"/>
            <a:ext cx="189518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JOSYANE</a:t>
            </a:r>
          </a:p>
        </p:txBody>
      </p:sp>
      <p:sp>
        <p:nvSpPr>
          <p:cNvPr id="13" name="TextBox 12"/>
          <p:cNvSpPr txBox="1"/>
          <p:nvPr/>
        </p:nvSpPr>
        <p:spPr>
          <a:xfrm>
            <a:off x="2827877" y="3747515"/>
            <a:ext cx="824824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ne va pas ?</a:t>
            </a:r>
          </a:p>
        </p:txBody>
      </p:sp>
      <p:sp>
        <p:nvSpPr>
          <p:cNvPr id="14" name="Rounded Rectangle 13"/>
          <p:cNvSpPr/>
          <p:nvPr/>
        </p:nvSpPr>
        <p:spPr>
          <a:xfrm>
            <a:off x="566928" y="4332224"/>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4496816"/>
            <a:ext cx="1895189"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FATOUMATA</a:t>
            </a:r>
          </a:p>
        </p:txBody>
      </p:sp>
      <p:sp>
        <p:nvSpPr>
          <p:cNvPr id="16" name="TextBox 15"/>
          <p:cNvSpPr txBox="1"/>
          <p:nvPr/>
        </p:nvSpPr>
        <p:spPr>
          <a:xfrm>
            <a:off x="2827877" y="4496816"/>
            <a:ext cx="824824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Chacun raconte ce qu'il a vu. Puis chacun dit s'il a aimé. Et à neuf heures moins quart, on se lève.</a:t>
            </a:r>
          </a:p>
        </p:txBody>
      </p:sp>
      <p:sp>
        <p:nvSpPr>
          <p:cNvPr id="17" name="Rounded Rectangle 16"/>
          <p:cNvSpPr/>
          <p:nvPr/>
        </p:nvSpPr>
        <p:spPr>
          <a:xfrm>
            <a:off x="566928" y="5419344"/>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5583936"/>
            <a:ext cx="189518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JOSYANE</a:t>
            </a:r>
          </a:p>
        </p:txBody>
      </p:sp>
      <p:sp>
        <p:nvSpPr>
          <p:cNvPr id="19" name="TextBox 18"/>
          <p:cNvSpPr txBox="1"/>
          <p:nvPr/>
        </p:nvSpPr>
        <p:spPr>
          <a:xfrm>
            <a:off x="2827877" y="5583936"/>
            <a:ext cx="824824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Autrement dit, vous résumez et vous notez.</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 Ce que l'œuvre veut dire »</a:t>
            </a:r>
          </a:p>
        </p:txBody>
      </p:sp>
      <p:sp>
        <p:nvSpPr>
          <p:cNvPr id="7" name="Rounded Rectangle 6"/>
          <p:cNvSpPr/>
          <p:nvPr/>
        </p:nvSpPr>
        <p:spPr>
          <a:xfrm>
            <a:off x="566928" y="173736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895189"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JOSYANE</a:t>
            </a:r>
          </a:p>
        </p:txBody>
      </p:sp>
      <p:sp>
        <p:nvSpPr>
          <p:cNvPr id="9" name="TextBox 8"/>
          <p:cNvSpPr txBox="1"/>
          <p:nvPr/>
        </p:nvSpPr>
        <p:spPr>
          <a:xfrm>
            <a:off x="2827877" y="1901952"/>
            <a:ext cx="824824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Attention. « Ce que l'œuvre veut dire », c'est une formule dangereuse.</a:t>
            </a:r>
          </a:p>
        </p:txBody>
      </p:sp>
      <p:sp>
        <p:nvSpPr>
          <p:cNvPr id="10" name="Rounded Rectangle 9"/>
          <p:cNvSpPr/>
          <p:nvPr/>
        </p:nvSpPr>
        <p:spPr>
          <a:xfrm>
            <a:off x="566928" y="282447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89072"/>
            <a:ext cx="1895189"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JOSYANE</a:t>
            </a:r>
          </a:p>
        </p:txBody>
      </p:sp>
      <p:sp>
        <p:nvSpPr>
          <p:cNvPr id="12" name="TextBox 11"/>
          <p:cNvSpPr txBox="1"/>
          <p:nvPr/>
        </p:nvSpPr>
        <p:spPr>
          <a:xfrm>
            <a:off x="2827877" y="2989072"/>
            <a:ext cx="824824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Elle laisse croire qu'il y a une réponse cachée quelque part et qu'un professeur la connaît.</a:t>
            </a:r>
          </a:p>
        </p:txBody>
      </p:sp>
      <p:sp>
        <p:nvSpPr>
          <p:cNvPr id="13" name="Rounded Rectangle 12"/>
          <p:cNvSpPr/>
          <p:nvPr/>
        </p:nvSpPr>
        <p:spPr>
          <a:xfrm>
            <a:off x="566928" y="391160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76191"/>
            <a:ext cx="189518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FATOUMATA</a:t>
            </a:r>
          </a:p>
        </p:txBody>
      </p:sp>
      <p:sp>
        <p:nvSpPr>
          <p:cNvPr id="15" name="TextBox 14"/>
          <p:cNvSpPr txBox="1"/>
          <p:nvPr/>
        </p:nvSpPr>
        <p:spPr>
          <a:xfrm>
            <a:off x="2827877" y="4076191"/>
            <a:ext cx="824824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Il n'y en a pas ?</a:t>
            </a:r>
          </a:p>
        </p:txBody>
      </p:sp>
      <p:sp>
        <p:nvSpPr>
          <p:cNvPr id="16" name="Rounded Rectangle 15"/>
          <p:cNvSpPr/>
          <p:nvPr/>
        </p:nvSpPr>
        <p:spPr>
          <a:xfrm>
            <a:off x="566928" y="466090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825492"/>
            <a:ext cx="1895189"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JOSYANE</a:t>
            </a:r>
          </a:p>
        </p:txBody>
      </p:sp>
      <p:sp>
        <p:nvSpPr>
          <p:cNvPr id="18" name="TextBox 17"/>
          <p:cNvSpPr txBox="1"/>
          <p:nvPr/>
        </p:nvSpPr>
        <p:spPr>
          <a:xfrm>
            <a:off x="2827877" y="4825492"/>
            <a:ext cx="824824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Il y a mieux. Il y a des lectures, plusieurs, et elles ne se valent pas toutes.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choses qu'on dit d'un souffle</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89518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JOSYANE</a:t>
            </a:r>
          </a:p>
        </p:txBody>
      </p:sp>
      <p:sp>
        <p:nvSpPr>
          <p:cNvPr id="9" name="TextBox 8"/>
          <p:cNvSpPr txBox="1"/>
          <p:nvPr/>
        </p:nvSpPr>
        <p:spPr>
          <a:xfrm>
            <a:off x="2827877" y="1901952"/>
            <a:ext cx="824824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lecture se juge à ce qu'elle permet d'expliquer dans l'œuvre.</a:t>
            </a:r>
          </a:p>
        </p:txBody>
      </p:sp>
      <p:sp>
        <p:nvSpPr>
          <p:cNvPr id="10" name="Rounded Rectangle 9"/>
          <p:cNvSpPr/>
          <p:nvPr/>
        </p:nvSpPr>
        <p:spPr>
          <a:xfrm>
            <a:off x="566928" y="24866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89518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JOSYANE</a:t>
            </a:r>
          </a:p>
        </p:txBody>
      </p:sp>
      <p:sp>
        <p:nvSpPr>
          <p:cNvPr id="12" name="TextBox 11"/>
          <p:cNvSpPr txBox="1"/>
          <p:nvPr/>
        </p:nvSpPr>
        <p:spPr>
          <a:xfrm>
            <a:off x="2827877" y="2651252"/>
            <a:ext cx="824824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problème de votre cercle, ce n'est pas qu'on y juge trop.</a:t>
            </a:r>
          </a:p>
        </p:txBody>
      </p:sp>
      <p:sp>
        <p:nvSpPr>
          <p:cNvPr id="13" name="Rounded Rectangle 12"/>
          <p:cNvSpPr/>
          <p:nvPr/>
        </p:nvSpPr>
        <p:spPr>
          <a:xfrm>
            <a:off x="566928" y="323595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00551"/>
            <a:ext cx="1895189"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JOSYANE</a:t>
            </a:r>
          </a:p>
        </p:txBody>
      </p:sp>
      <p:sp>
        <p:nvSpPr>
          <p:cNvPr id="15" name="TextBox 14"/>
          <p:cNvSpPr txBox="1"/>
          <p:nvPr/>
        </p:nvSpPr>
        <p:spPr>
          <a:xfrm>
            <a:off x="2827877" y="3400551"/>
            <a:ext cx="824824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C'est qu'on saute du fait au jugement sans passer par l'interprétation.</a:t>
            </a:r>
          </a:p>
        </p:txBody>
      </p:sp>
      <p:sp>
        <p:nvSpPr>
          <p:cNvPr id="16" name="Rounded Rectangle 15"/>
          <p:cNvSpPr/>
          <p:nvPr/>
        </p:nvSpPr>
        <p:spPr>
          <a:xfrm>
            <a:off x="566928" y="432307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487671"/>
            <a:ext cx="189518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FATOUMATA</a:t>
            </a:r>
          </a:p>
        </p:txBody>
      </p:sp>
      <p:sp>
        <p:nvSpPr>
          <p:cNvPr id="18" name="TextBox 17"/>
          <p:cNvSpPr txBox="1"/>
          <p:nvPr/>
        </p:nvSpPr>
        <p:spPr>
          <a:xfrm>
            <a:off x="2827877" y="4487671"/>
            <a:ext cx="824824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vous viendriez le dire vous-même, un mardi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choses, et on les dit ensemble</a:t>
            </a:r>
          </a:p>
        </p:txBody>
      </p:sp>
      <p:sp>
        <p:nvSpPr>
          <p:cNvPr id="7" name="Rounded Rectangle 6"/>
          <p:cNvSpPr/>
          <p:nvPr/>
        </p:nvSpPr>
        <p:spPr>
          <a:xfrm>
            <a:off x="566928" y="1810512"/>
            <a:ext cx="11057839" cy="2560320"/>
          </a:xfrm>
          <a:prstGeom prst="roundRect">
            <a:avLst>
              <a:gd name="adj" fmla="val 571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ON DIT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C'EST</a:t>
            </a:r>
          </a:p>
        </p:txBody>
      </p:sp>
      <p:sp>
        <p:nvSpPr>
          <p:cNvPr id="10" name="TextBox 9"/>
          <p:cNvSpPr txBox="1"/>
          <p:nvPr/>
        </p:nvSpPr>
        <p:spPr>
          <a:xfrm>
            <a:off x="932688" y="2395728"/>
            <a:ext cx="3291492" cy="640080"/>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Elle s'assoit dans la chaloupe</a:t>
            </a:r>
          </a:p>
        </p:txBody>
      </p:sp>
      <p:sp>
        <p:nvSpPr>
          <p:cNvPr id="11" name="TextBox 10"/>
          <p:cNvSpPr txBox="1"/>
          <p:nvPr/>
        </p:nvSpPr>
        <p:spPr>
          <a:xfrm>
            <a:off x="4443636" y="2395728"/>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 fait : on peut revoir la scène et le constater</a:t>
            </a:r>
          </a:p>
        </p:txBody>
      </p:sp>
      <p:sp>
        <p:nvSpPr>
          <p:cNvPr id="12" name="Rectangle 11"/>
          <p:cNvSpPr/>
          <p:nvPr/>
        </p:nvSpPr>
        <p:spPr>
          <a:xfrm>
            <a:off x="932688" y="310896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236976"/>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Elle renonce à partir</a:t>
            </a:r>
          </a:p>
        </p:txBody>
      </p:sp>
      <p:sp>
        <p:nvSpPr>
          <p:cNvPr id="14" name="TextBox 13"/>
          <p:cNvSpPr txBox="1"/>
          <p:nvPr/>
        </p:nvSpPr>
        <p:spPr>
          <a:xfrm>
            <a:off x="4443636" y="3236976"/>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une interprétation : ce n'est montré nulle part</a:t>
            </a:r>
          </a:p>
        </p:txBody>
      </p:sp>
      <p:sp>
        <p:nvSpPr>
          <p:cNvPr id="15" name="Rectangle 14"/>
          <p:cNvSpPr/>
          <p:nvPr/>
        </p:nvSpPr>
        <p:spPr>
          <a:xfrm>
            <a:off x="932688" y="364845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776472"/>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Cette fin est ratée</a:t>
            </a:r>
          </a:p>
        </p:txBody>
      </p:sp>
      <p:sp>
        <p:nvSpPr>
          <p:cNvPr id="17" name="TextBox 16"/>
          <p:cNvSpPr txBox="1"/>
          <p:nvPr/>
        </p:nvSpPr>
        <p:spPr>
          <a:xfrm>
            <a:off x="4443636" y="3776472"/>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 jugement : bon ou mauvais, et il coûte une raison</a:t>
            </a:r>
          </a:p>
        </p:txBody>
      </p:sp>
      <p:sp>
        <p:nvSpPr>
          <p:cNvPr id="18" name="Rounded Rectangle 17"/>
          <p:cNvSpPr/>
          <p:nvPr/>
        </p:nvSpPr>
        <p:spPr>
          <a:xfrm>
            <a:off x="566928" y="4608576"/>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4864608"/>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Les trois sont permis. Les mélanger ne l'est pas.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UNE LECTURE N'EST PAS UNE OPINION</a:t>
            </a:r>
          </a:p>
        </p:txBody>
      </p:sp>
      <p:sp>
        <p:nvSpPr>
          <p:cNvPr id="6" name="Rounded Rectangle 5"/>
          <p:cNvSpPr/>
          <p:nvPr/>
        </p:nvSpPr>
        <p:spPr>
          <a:xfrm>
            <a:off x="566928" y="1225296"/>
            <a:ext cx="11057839" cy="1967991"/>
          </a:xfrm>
          <a:prstGeom prst="roundRect">
            <a:avLst>
              <a:gd name="adj" fmla="val 74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Une lecture se juge à ce qu'elle permet d'expliquer dans l'œuvre.</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Deux personnes peuvent avoir deux lectures défendables du même passage. « Défendable » n'est pas « vraie » : celle qui rend compte du plus grand nombre de détails est la plus solide ce jour-là, et une meilleure peut venir demain.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le dialogue.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cercle du mardi réunit dix-huit personnes.</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Fatoumata trouve que les gens ne viennent plus.</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Josyane trouve la formule « ce que l'œuvre veut dire » dangereuse.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Pour elle, une réponse est cachée et le professeur la connaît.</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lecture se juge à ce qu'elle permet d'expliquer.</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Josyane accepte de parler la première, mardi.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cercle du mardi réunit dix-huit personnes.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Fatoumata trouve que les gens ne viennent plus.   </a:t>
            </a:r>
            <a:r>
              <a:rPr sz="1400" b="1" i="0">
                <a:solidFill>
                  <a:srgbClr val="07734A"/>
                </a:solidFill>
                <a:latin typeface="Verdana"/>
              </a:rPr>
              <a:t>» faux - ça marche très bien</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Josyane trouve la formule « ce que l'œuvre veut dire » dangereuse.   </a:t>
            </a:r>
            <a:r>
              <a:rPr sz="1400" b="1" i="0">
                <a:solidFill>
                  <a:srgbClr val="07734A"/>
                </a:solidFill>
                <a:latin typeface="Verdana"/>
              </a:rPr>
              <a:t>» vrai</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Pour elle, une réponse est cachée et le professeur la connaît.   </a:t>
            </a:r>
            <a:r>
              <a:rPr sz="1400" b="1" i="0">
                <a:solidFill>
                  <a:srgbClr val="07734A"/>
                </a:solidFill>
                <a:latin typeface="Verdana"/>
              </a:rPr>
              <a:t>» faux - le contraire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lecture se juge à ce qu'elle permet d'expliquer.   </a:t>
            </a:r>
            <a:r>
              <a:rPr sz="1400" b="1" i="0">
                <a:solidFill>
                  <a:srgbClr val="07734A"/>
                </a:solidFill>
                <a:latin typeface="Verdana"/>
              </a:rPr>
              <a:t>» vrai</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Josyane accepte de parler la première, mardi.   </a:t>
            </a:r>
            <a:r>
              <a:rPr sz="1400" b="1" i="0">
                <a:solidFill>
                  <a:srgbClr val="07734A"/>
                </a:solidFill>
                <a:latin typeface="Verdana"/>
              </a:rPr>
              <a:t>» faux - elle refuse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100" b="1" i="0">
                <a:solidFill>
                  <a:srgbClr val="FFFFFF"/>
                </a:solidFill>
                <a:latin typeface="Verdana"/>
              </a:rPr>
              <a:t>Nommez une œuvre dont la fin ne conclut pas — un film, une série, un livre, une chanson — et dites en une phrase ce que vous en avez compris.</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Le titre, et où vous l'avez vue ou lue.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phrase qui commence par « j'ai compris que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Ce que l'œuvre ne dit pas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