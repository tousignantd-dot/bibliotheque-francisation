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méthode, la plus importante du bloc B. On y apprend à mesurer une lecture au lieu de la défendre plus fort.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est le plus étranger au groupe : céder n'est pas perdre. Le formuler ainsi — on ne perd rien, on gagne une scène.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quatrième piste amène la corde sans qu'on la nomme. Ne pas la donner vous-même : le groupe la trouve en trente secondes et s'en souvient beaucoup mieux.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Trois contre deux, et un partagé : aucune lecture ne prend tout. Faire remarquer la dernière ligne — c'est elle qui rend la scène intéressante, pas les cinq autres.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Le mot « mesure » compte : on quitte l'impression pour le décompte, et c'est ce qui rend un cercle de lecture praticable avec dix-huit adultes.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cases, trois indices. Aucune des six n'est fausse : c'est ce qui déroute au début, et ce qu'il faut installer. Faire lire les six à voix haute par six personnes différentes.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Exemple à donner tel quel : « la corde n'est pas ce qui la retient, c'est ce qu'elle laisse en place ». Le faire répéter.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`t1deux` du module. Accepter la discussion sur les deux dernières : elles sont volontairement ambiguës, et c'est le sujet.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`t1img` du module. À faire à l'écran plutôt qu'ici si la classe a des postes : le glisser-déposer vaut mieux que la lecture.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billet prépare directement D1 et E1. Les copies qui ne trouvent aucun indice gênant sont celles dont la lecture n'est pas encore une lecture ; leur redemander une fois.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B2  ·  MODULE 6</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 même indice, deux lectures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Six indices, deux histoires. Chacune en explique trois ou quatre, aucune ne les explique tous — et deux d'entre eux servent aux deux à la fois.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Ce que l'œuvre ne dit pas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compter les indices dont une lecture rend compte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retourner un indice au lieu de le passer sous silence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accepter qu'un détail appuie deux lectures à la fois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céder devant une lecture qui explique davantage.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Cette chaloupe est-elle prête à partir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aloupe-retournee.jpg"/>
          <p:cNvPicPr>
            <a:picLocks noChangeAspect="1"/>
          </p:cNvPicPr>
          <p:nvPr/>
        </p:nvPicPr>
        <p:blipFill>
          <a:blip r:embed="rId2"/>
          <a:stretch>
            <a:fillRect/>
          </a:stretch>
        </p:blipFill>
        <p:spPr>
          <a:xfrm>
            <a:off x="7644383" y="2638438"/>
            <a:ext cx="3760927" cy="2522955"/>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 faudrait-il faire avant de l'utiliser ?</a:t>
            </a:r>
          </a:p>
        </p:txBody>
      </p:sp>
      <p:sp>
        <p:nvSpPr>
          <p:cNvPr id="12" name="Rounded Rectangle 11"/>
          <p:cNvSpPr/>
          <p:nvPr/>
        </p:nvSpPr>
        <p:spPr>
          <a:xfrm>
            <a:off x="566928" y="264210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gestes, exactement ?</a:t>
            </a:r>
          </a:p>
        </p:txBody>
      </p:sp>
      <p:sp>
        <p:nvSpPr>
          <p:cNvPr id="15" name="Rounded Rectangle 14"/>
          <p:cNvSpPr/>
          <p:nvPr/>
        </p:nvSpPr>
        <p:spPr>
          <a:xfrm>
            <a:off x="566928" y="3427984"/>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537712"/>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610864"/>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Lequel de ces gestes Estelle a-t-elle faits ?</a:t>
            </a:r>
          </a:p>
        </p:txBody>
      </p:sp>
      <p:sp>
        <p:nvSpPr>
          <p:cNvPr id="18" name="Rounded Rectangle 17"/>
          <p:cNvSpPr/>
          <p:nvPr/>
        </p:nvSpPr>
        <p:spPr>
          <a:xfrm>
            <a:off x="566928" y="4213860"/>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323588"/>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396740"/>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Lequel n'a-t-elle pas fait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Deux lectures, et ce qu'elles expliquent</a:t>
            </a:r>
          </a:p>
        </p:txBody>
      </p:sp>
      <p:sp>
        <p:nvSpPr>
          <p:cNvPr id="7" name="Rounded Rectangle 6"/>
          <p:cNvSpPr/>
          <p:nvPr/>
        </p:nvSpPr>
        <p:spPr>
          <a:xfrm>
            <a:off x="566928" y="1810512"/>
            <a:ext cx="11057839" cy="3877056"/>
          </a:xfrm>
          <a:prstGeom prst="roundRect">
            <a:avLst>
              <a:gd name="adj" fmla="val 377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L'INDICE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QU'IL APPUIE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téléphone laissé sonner</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elle choisit</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Les bottes de ville enlevées</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elle choisit</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chaloupe remise à l'eau</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elle choisit</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corde restée attachée</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elle est prise</a:t>
            </a:r>
          </a:p>
        </p:txBody>
      </p:sp>
      <p:sp>
        <p:nvSpPr>
          <p:cNvPr id="21" name="Rectangle 20"/>
          <p:cNvSpPr/>
          <p:nvPr/>
        </p:nvSpPr>
        <p:spPr>
          <a:xfrm>
            <a:off x="932688" y="44256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553712"/>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Six épisodes de promesses</a:t>
            </a:r>
          </a:p>
        </p:txBody>
      </p:sp>
      <p:sp>
        <p:nvSpPr>
          <p:cNvPr id="23" name="TextBox 22"/>
          <p:cNvSpPr txBox="1"/>
          <p:nvPr/>
        </p:nvSpPr>
        <p:spPr>
          <a:xfrm>
            <a:off x="4443636" y="4553712"/>
            <a:ext cx="6595914"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elle est prise</a:t>
            </a:r>
          </a:p>
        </p:txBody>
      </p:sp>
      <p:sp>
        <p:nvSpPr>
          <p:cNvPr id="24" name="Rectangle 23"/>
          <p:cNvSpPr/>
          <p:nvPr/>
        </p:nvSpPr>
        <p:spPr>
          <a:xfrm>
            <a:off x="932688" y="49651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2688" y="5093207"/>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Les bottes de la mère</a:t>
            </a:r>
          </a:p>
        </p:txBody>
      </p:sp>
      <p:sp>
        <p:nvSpPr>
          <p:cNvPr id="26" name="TextBox 25"/>
          <p:cNvSpPr txBox="1"/>
          <p:nvPr/>
        </p:nvSpPr>
        <p:spPr>
          <a:xfrm>
            <a:off x="4443636" y="5093207"/>
            <a:ext cx="6595914"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les deux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UNE LECTURE SE MESURE</a:t>
            </a:r>
          </a:p>
        </p:txBody>
      </p:sp>
      <p:sp>
        <p:nvSpPr>
          <p:cNvPr id="6" name="Rounded Rectangle 5"/>
          <p:cNvSpPr/>
          <p:nvPr/>
        </p:nvSpPr>
        <p:spPr>
          <a:xfrm>
            <a:off x="566928" y="1225296"/>
            <a:ext cx="11057839" cy="2494788"/>
          </a:xfrm>
          <a:prstGeom prst="roundRect">
            <a:avLst>
              <a:gd name="adj" fmla="val 586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Mettez les indices en colonne et cochez ceux dont votre lecture rend compte. Le résultat est un nombre.</a:t>
            </a:r>
          </a:p>
        </p:txBody>
      </p:sp>
      <p:sp>
        <p:nvSpPr>
          <p:cNvPr id="8" name="Rounded Rectangle 7"/>
          <p:cNvSpPr/>
          <p:nvPr/>
        </p:nvSpPr>
        <p:spPr>
          <a:xfrm>
            <a:off x="566928" y="3994404"/>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lecture qui couvre huit indices sur dix bat une lecture qui en couvre quatre, même dite plus fort et même défendue plus longtemps. C'est le seul critère mesurable de la discussion, et il met tout le monde à égalité.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 indice, deux façons de le lire</a:t>
            </a:r>
          </a:p>
        </p:txBody>
      </p:sp>
      <p:sp>
        <p:nvSpPr>
          <p:cNvPr id="7" name="Rounded Rectangle 6"/>
          <p:cNvSpPr/>
          <p:nvPr/>
        </p:nvSpPr>
        <p:spPr>
          <a:xfrm>
            <a:off x="566928" y="181051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Le téléphone : lecture A</a:t>
            </a:r>
          </a:p>
        </p:txBody>
      </p:sp>
      <p:sp>
        <p:nvSpPr>
          <p:cNvPr id="9" name="TextBox 8"/>
          <p:cNvSpPr txBox="1"/>
          <p:nvPr/>
        </p:nvSpPr>
        <p:spPr>
          <a:xfrm>
            <a:off x="886968" y="2499360"/>
            <a:ext cx="4806543" cy="35051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elle le porte au quai pour pouvoir le laisser</a:t>
            </a:r>
          </a:p>
        </p:txBody>
      </p:sp>
      <p:sp>
        <p:nvSpPr>
          <p:cNvPr id="10" name="Rounded Rectangle 9"/>
          <p:cNvSpPr/>
          <p:nvPr/>
        </p:nvSpPr>
        <p:spPr>
          <a:xfrm>
            <a:off x="6178143" y="181051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Le téléphone : lecture B</a:t>
            </a:r>
          </a:p>
        </p:txBody>
      </p:sp>
      <p:sp>
        <p:nvSpPr>
          <p:cNvPr id="12" name="TextBox 11"/>
          <p:cNvSpPr txBox="1"/>
          <p:nvPr/>
        </p:nvSpPr>
        <p:spPr>
          <a:xfrm>
            <a:off x="6498183" y="2499360"/>
            <a:ext cx="4806543" cy="35051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elle le laisse sonner : plus rien à dire</a:t>
            </a:r>
          </a:p>
        </p:txBody>
      </p:sp>
      <p:sp>
        <p:nvSpPr>
          <p:cNvPr id="13" name="Rounded Rectangle 12"/>
          <p:cNvSpPr/>
          <p:nvPr/>
        </p:nvSpPr>
        <p:spPr>
          <a:xfrm>
            <a:off x="566928" y="328879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3563112"/>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La corde : lecture A</a:t>
            </a:r>
          </a:p>
        </p:txBody>
      </p:sp>
      <p:sp>
        <p:nvSpPr>
          <p:cNvPr id="15" name="TextBox 14"/>
          <p:cNvSpPr txBox="1"/>
          <p:nvPr/>
        </p:nvSpPr>
        <p:spPr>
          <a:xfrm>
            <a:off x="886968" y="3977639"/>
            <a:ext cx="4806543" cy="35051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ce n'est pas ce qui la retient, c'est ce qu'elle laisse</a:t>
            </a:r>
          </a:p>
        </p:txBody>
      </p:sp>
      <p:sp>
        <p:nvSpPr>
          <p:cNvPr id="16" name="Rounded Rectangle 15"/>
          <p:cNvSpPr/>
          <p:nvPr/>
        </p:nvSpPr>
        <p:spPr>
          <a:xfrm>
            <a:off x="6178143" y="328879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3563112"/>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La corde : lecture B</a:t>
            </a:r>
          </a:p>
        </p:txBody>
      </p:sp>
      <p:sp>
        <p:nvSpPr>
          <p:cNvPr id="18" name="TextBox 17"/>
          <p:cNvSpPr txBox="1"/>
          <p:nvPr/>
        </p:nvSpPr>
        <p:spPr>
          <a:xfrm>
            <a:off x="6498183" y="3977639"/>
            <a:ext cx="4806543" cy="35051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une chaloupe attachée n'emmène personne</a:t>
            </a:r>
          </a:p>
        </p:txBody>
      </p:sp>
      <p:sp>
        <p:nvSpPr>
          <p:cNvPr id="19" name="Rounded Rectangle 18"/>
          <p:cNvSpPr/>
          <p:nvPr/>
        </p:nvSpPr>
        <p:spPr>
          <a:xfrm>
            <a:off x="566928" y="476707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86968" y="504139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Les bottes : lecture A</a:t>
            </a:r>
          </a:p>
        </p:txBody>
      </p:sp>
      <p:sp>
        <p:nvSpPr>
          <p:cNvPr id="21" name="TextBox 20"/>
          <p:cNvSpPr txBox="1"/>
          <p:nvPr/>
        </p:nvSpPr>
        <p:spPr>
          <a:xfrm>
            <a:off x="886968" y="5455920"/>
            <a:ext cx="4806543" cy="35051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elle enlève celles de ville : elle s'installe</a:t>
            </a:r>
          </a:p>
        </p:txBody>
      </p:sp>
      <p:sp>
        <p:nvSpPr>
          <p:cNvPr id="22" name="Rounded Rectangle 21"/>
          <p:cNvSpPr/>
          <p:nvPr/>
        </p:nvSpPr>
        <p:spPr>
          <a:xfrm>
            <a:off x="6178143" y="476707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98183" y="504139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Les bottes : lecture B</a:t>
            </a:r>
          </a:p>
        </p:txBody>
      </p:sp>
      <p:sp>
        <p:nvSpPr>
          <p:cNvPr id="24" name="TextBox 23"/>
          <p:cNvSpPr txBox="1"/>
          <p:nvPr/>
        </p:nvSpPr>
        <p:spPr>
          <a:xfrm>
            <a:off x="6498183" y="5455920"/>
            <a:ext cx="4806543" cy="35051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elle finit dans celles de sa mère, comme sa mère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PIÈGE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passer sous silence l'indice qui gêne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le sortir soi-même, et le retourner</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887219"/>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indice évité se voit toujours : votre interlocuteur l'a remarqué avant vous, et votre silence le lui confirme. Le sortir soi-même coûte dix secondes et change tout — on le garde intégralement comme fait, et on discute seulement de ce qu'il veut dire. C'est ce que fait Fatoumata avec la corde en D1, et c'est le geste le plus fort d'une discussion.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lecture cet indice appuie-t-il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Elle choisit, elle est prise, ou les deux ?</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laisse le téléphone sonner sur le quai.</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corde reste attachée au taquet.</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C'est elle qui remet la chaloupe à l'eau.</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enfile les bottes de sa mère.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promet de partir depuis six épisodes.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lampe du quai s'allume toute seule.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lecture cet indice appuie-t-il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laisse le téléphone sonner sur le quai.   </a:t>
            </a:r>
            <a:r>
              <a:rPr sz="1400" b="1" i="0">
                <a:solidFill>
                  <a:srgbClr val="07734A"/>
                </a:solidFill>
                <a:latin typeface="Verdana"/>
              </a:rPr>
              <a:t>» elle choisit</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corde reste attachée au taquet.   </a:t>
            </a:r>
            <a:r>
              <a:rPr sz="1400" b="1" i="0">
                <a:solidFill>
                  <a:srgbClr val="07734A"/>
                </a:solidFill>
                <a:latin typeface="Verdana"/>
              </a:rPr>
              <a:t>» elle est prise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C'est elle qui remet la chaloupe à l'eau.   </a:t>
            </a:r>
            <a:r>
              <a:rPr sz="1400" b="1" i="0">
                <a:solidFill>
                  <a:srgbClr val="07734A"/>
                </a:solidFill>
                <a:latin typeface="Verdana"/>
              </a:rPr>
              <a:t>» elle choisit</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enfile les bottes de sa mère.   </a:t>
            </a:r>
            <a:r>
              <a:rPr sz="1400" b="1" i="0">
                <a:solidFill>
                  <a:srgbClr val="07734A"/>
                </a:solidFill>
                <a:latin typeface="Verdana"/>
              </a:rPr>
              <a:t>» les deux</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promet de partir depuis six épisodes.   </a:t>
            </a:r>
            <a:r>
              <a:rPr sz="1400" b="1" i="0">
                <a:solidFill>
                  <a:srgbClr val="07734A"/>
                </a:solidFill>
                <a:latin typeface="Verdana"/>
              </a:rPr>
              <a:t>» elle est prise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lampe du quai s'allume toute seule.   </a:t>
            </a:r>
            <a:r>
              <a:rPr sz="1400" b="1" i="0">
                <a:solidFill>
                  <a:srgbClr val="07734A"/>
                </a:solidFill>
                <a:latin typeface="Verdana"/>
              </a:rPr>
              <a:t>» les deux</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objets de la scène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Reliez la photo à la phrase qui la décrit.</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quai de bois, la nuit, une lampe allumée au bout.</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chaloupe retournée sur la berge, la coque en l'air.</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Des bottes de caoutchouc à côté de bottes de ville.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corde enroulée en huit autour d'un taquet.</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cuisine de chalet, une lampe allumée, personne.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chemin de terre, l'auto stationnée au bout.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objets de la scène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quai de bois, la nuit, une lampe allumée au bout.   </a:t>
            </a:r>
            <a:r>
              <a:rPr sz="1400" b="1" i="0">
                <a:solidFill>
                  <a:srgbClr val="07734A"/>
                </a:solidFill>
                <a:latin typeface="Verdana"/>
              </a:rPr>
              <a:t>» le quai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chaloupe retournée sur la berge, la coque en l'air.   </a:t>
            </a:r>
            <a:r>
              <a:rPr sz="1400" b="1" i="0">
                <a:solidFill>
                  <a:srgbClr val="07734A"/>
                </a:solidFill>
                <a:latin typeface="Verdana"/>
              </a:rPr>
              <a:t>» la chaloupe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Des bottes de caoutchouc à côté de bottes de ville.   </a:t>
            </a:r>
            <a:r>
              <a:rPr sz="1400" b="1" i="0">
                <a:solidFill>
                  <a:srgbClr val="07734A"/>
                </a:solidFill>
                <a:latin typeface="Verdana"/>
              </a:rPr>
              <a:t>» les bottes</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corde enroulée en huit autour d'un taquet.   </a:t>
            </a:r>
            <a:r>
              <a:rPr sz="1400" b="1" i="0">
                <a:solidFill>
                  <a:srgbClr val="07734A"/>
                </a:solidFill>
                <a:latin typeface="Verdana"/>
              </a:rPr>
              <a:t>» la corde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cuisine de chalet, une lampe allumée, personne.   </a:t>
            </a:r>
            <a:r>
              <a:rPr sz="1400" b="1" i="0">
                <a:solidFill>
                  <a:srgbClr val="07734A"/>
                </a:solidFill>
                <a:latin typeface="Verdana"/>
              </a:rPr>
              <a:t>» le chalet</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chemin de terre, l'auto stationnée au bout.   </a:t>
            </a:r>
            <a:r>
              <a:rPr sz="1400" b="1" i="0">
                <a:solidFill>
                  <a:srgbClr val="07734A"/>
                </a:solidFill>
                <a:latin typeface="Verdana"/>
              </a:rPr>
              <a:t>» le chemin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Reprenez l'œuvre de votre billet d'A1. Écrivez deux indices qui appuient votre lecture, et un qui la gêne.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 indice est un détail qu'on peut montrer, pas une impression.</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Le troisième est le plus important : ne le choisissez pas trop facile.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Ce que l'œuvre ne dit pas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