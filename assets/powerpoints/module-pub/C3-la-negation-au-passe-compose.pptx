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« je n'ai pas entendu » et « je n'ai entendu pas » au tableau. Demander laquelle est correcte. Beaucoup hésiteront.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règle au tableau avec l'auxiliaire encadré par deux traits. L'image visuelle vaut mieux que l'explication.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le tableau colonne par colonne. La régularité est totale, et c'est ce qui rend la règle facile.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carte est la plus difficile. La montrer sans l'exiger : elle apparaîtra en lecture bien avant d'être produite.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souligner l'auxiliaire avant d'ajouter la négation. C'est l'étape qui évite l'erreur.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logique : on entoure ce qu'on croit être le verbe principal. Expliquer que l'auxiliaire est le verbe conjugué.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sans jugement : l'oral et l'écrit ne suivent pas les mêmes règles, et les deux sont corrects dans leur usage.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élisions sur cinq. Faire remarquer que « ne sont » est le seul cas sans élision dans cet exercice.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item rappelle que l'auxiliaire avoir n'accorde pas. La négation n'y change 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la deuxième phrase : « n'est pas passée » avec accord. C'est la synthèse des deux règles.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la place de la négation avant l'accord. C'est le savoir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C3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 négation au passé composé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n'ai pas entendu la capsule. » Les deux morceaux de la négation encadrent l'auxiliaire, pas le participe. Une question de place, et elle décide de toute la phrase.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Des publicités efficaces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placer ne et pas autour de l'auxiliaire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n' devant une voyelle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la négation avec avoir et avec être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accorder le participe passé malgré la négation.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Ne et pas encadrent l'auxiliaire, jamais le participe.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n'ai pas entendu. » « Ils ne sont pas arrivés. » Le verbe conjugué du passé composé, c'est l'auxiliaire : c'est donc lui que la négation entoure. Le participe reste après, intact.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place des trois morceaux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18458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SUJET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7951" y="1975104"/>
            <a:ext cx="18458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63215" y="1975104"/>
            <a:ext cx="18458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AUXILIAIRE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28479" y="1975104"/>
            <a:ext cx="18458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93743" y="1975104"/>
            <a:ext cx="18458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PARTICIPE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95728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7951" y="2395728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n'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63215" y="2395728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28479" y="2395728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93743" y="2395728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entendu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2935224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7951" y="2935224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3215" y="2935224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avons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28479" y="2935224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93743" y="2935224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annoncé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3474720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97951" y="3474720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n'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63215" y="3474720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28479" y="3474720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93743" y="3474720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gardé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32688" y="4014215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97951" y="4014215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63215" y="4014215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sont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28479" y="4014215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93743" y="4014215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arrivés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L'ordre ne change jamais. Seul l'auxiliaire varie, et « ne » devient « n' » devant une voyelle.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OUVRIR LA MINI-LEÇON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« Ne » devient « n'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Devant ai, as, a, avons, avez, ont, est, êtes : toutes des voyelles. Seul « ne sont » et « ne suis » gardent le 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L'accord se fait quand même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Elles ne sont pas arrivées » — le participe s'accorde comme d'habitude. La négation ne change rien à l'accord.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Avec un pronom complément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Je ne l'ai pas entendue. » Le pronom se glisse entre « ne » et l'auxiliaire. L'ordre reste : ne, pronom, auxiliaire, pas, participe.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« Ne… jamais », « ne… plus 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Même construction : « je n'ai jamais entendu », « il n'est plus venu ». Seul le second mot change.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à la forme négative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Ne et pas autour de l'auxiliaire.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4561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962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J'ai entendu la capsule à la radio.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45307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512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152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00755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Nous avons annoncé l'atelier dans l'infolettre.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50920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568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7208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06368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Tu as gardé le texte de trente secondes.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56532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6245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42645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411980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Les bénévoles sont arrivés avant neuf heures.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962144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06806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13207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117592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Vous êtes venus à la clinique de vélo.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à la forme négative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4561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962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J'ai entendu la capsule à la radio.   </a:t>
            </a:r>
            <a:r>
              <a:rPr sz="1500" b="1" i="0">
                <a:solidFill>
                  <a:srgbClr val="07734A"/>
                </a:solidFill>
                <a:latin typeface="Verdana"/>
              </a:rPr>
              <a:t>» Je n'ai pas entendu la capsule à la radio.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45307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512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152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00755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Nous avons annoncé l'atelier dans l'infolettre.   </a:t>
            </a:r>
            <a:r>
              <a:rPr sz="1500" b="1" i="0">
                <a:solidFill>
                  <a:srgbClr val="07734A"/>
                </a:solidFill>
                <a:latin typeface="Verdana"/>
              </a:rPr>
              <a:t>» Nous n'avons pas annoncé l'atelier dans l'infolettre.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50920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568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7208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06368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Tu as gardé le texte de trente secondes.   </a:t>
            </a:r>
            <a:r>
              <a:rPr sz="1500" b="1" i="0">
                <a:solidFill>
                  <a:srgbClr val="07734A"/>
                </a:solidFill>
                <a:latin typeface="Verdana"/>
              </a:rPr>
              <a:t>» Tu n'as pas gardé le texte de trente secondes.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56532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6245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42645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411980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Les bénévoles sont arrivés avant neuf heures.   </a:t>
            </a:r>
            <a:r>
              <a:rPr sz="1500" b="1" i="0">
                <a:solidFill>
                  <a:srgbClr val="07734A"/>
                </a:solidFill>
                <a:latin typeface="Verdana"/>
              </a:rPr>
              <a:t>» Les bénévoles ne sont pas arrivés avant neuf heures.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962144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06806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13207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117592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Vous êtes venus à la clinique de vélo.   </a:t>
            </a:r>
            <a:r>
              <a:rPr sz="1500" b="1" i="0">
                <a:solidFill>
                  <a:srgbClr val="07734A"/>
                </a:solidFill>
                <a:latin typeface="Verdana"/>
              </a:rPr>
              <a:t>» Vous n'êtes pas venus à la clinique de vélo.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PARTICIPE ENCADRÉ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n'ai entendu pas la capsule.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n'ai pas entendu la capsule.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l'auxiliaire qui est encadré, pas le participe. Au passé composé, le verbe conjugué est « ai », « as », « est » : c'est lui que la négation entoure. Le participe reste après, sans rien autour.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« NE » OUBLIÉ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pas entendu la capsule.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n'ai pas entendu la capsule.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À l'oral, le « ne » tombe presque toujours : « j'ai pas entendu » s'entend partout au Québec. À l'écrit, il faut le remettre. C'est la même différence que pour les consonnes finales du module 6.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Ne ou n'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L'élision se fait devant une voyelle.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___ ai pas entendu.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Ils ___ sont pas arrivés.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___ avons pas annoncé.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___ êtes pas venus.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___ est pas restée.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Ne ou n'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___ ai pas entendu.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Ils ___ sont pas arrivés.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___ avons pas annoncé.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n'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___ êtes pas venus.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n'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___ est pas restée.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n'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Accordez malgré la négation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participe s'accorde comme d'habitude avec être.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bénévoles ne sont pas (arriver) ___.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Solange n'est pas (venir) ___ à l'atelier.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Elles ne sont pas (rester) ___ jusqu'à la fin.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n'avons pas (annoncer) ___ l'atelier.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Accordez malgré la négation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bénévoles ne sont pas (arriver) ___.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arrivés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Solange n'est pas (venir) ___ à l'atelier.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venue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Elles ne sont pas (rester) ___ jusqu'à la fin.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restées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n'avons pas (annoncer) ___ l'atelier.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annoncé — pas d'accord avec avoir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bilan de la campagne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Quatre phrases négatives sur ce qui n'a pas été fait.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L'infolettre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radio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affiches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bénévoles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bilan de la campagne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L'infolettre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Nous n'avons pas annoncé l'atelier dans l'infolettre.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radio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capsule n'est pas passée à l'heure prévue.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affiches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Nous n'avons pas posé d'affiche au dépanneur.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bénévoles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Deux bénévoles ne sont pas venus samedi.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négatives au passé composé.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avec avoir, une avec être, une avec « ne… jamais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l'auxiliaire dans chacune.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Des publicités efficaces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