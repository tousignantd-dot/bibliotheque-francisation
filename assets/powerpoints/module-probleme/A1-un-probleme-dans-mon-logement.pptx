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Ouverture du module. Ne pas encore expliquer le vocabulaire : la séance commence par une situation, pas par une liste de mots. Écrire au tableau : 4B, dernier étage, six logements.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chaque objectif à voix haute. Dire au groupe qu'on y reviendra à la fin, sur le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Cinq minutes de discussion libre, en grand groupe. Ne rien corriger encore. Noter au tableau les mots que le groupe utilise — on y reviendra à la diapo du vocabulaire pour comparer avec les mots justes.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Insister sur la quatrième carte : beaucoup d'élèves reconnaîtront cette hésitation. Demander : « qui a déjà attendu avant d'appeler son propriétaire ? 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Passer l'audio du module (section « Je découvre ») avant d'afficher le texte. Les deux répliques teintées portent l'essentiel : elle décrit précisément, il fait vérifier avant d'appeler.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Vocabulaire à expliquer ici : le panneau électrique, le disjoncteur, « arrêté au milieu ». Faire mimer le geste avec la main.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le cœur de la séance. Faire reformuler la phrase de Bertrand par un élève, dans ses mots : le chauffage fait partie de ce qu'on paie.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répéter chaque mot avec son article : « un calorifère », jamais « calorifère ». L'article fait partie du mot.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Infiltration » et « moisissure » reviendront à toutes les séances du bloc B. Les écrire au tableau et les y laisser.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Se plaindre » sera repris au complet à la séance D2. Ici, on installe seulement le mot.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répéter la phrase de la carte blanche par deux élèves différents. C'est la diapo à photographier.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 pas présenter la colonne de gauche comme une faute de langue — c'est une phrase juste, mais inefficace. La nuance compte pour des adultes.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copier ces quatre points dans le cahier. C'est la seule chose de la séance que les élèves doivent avoir par écrit chez eux.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répondre à main levée avant d'afficher la correction. Redemander l'audio si le groupe hésite sur trois énoncés ou plus.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Exiger l'article dans la réponse. « Infiltration » seul ne compte pas.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Deux minutes. Ramasser les billets : ils servent de point de départ à la séance A4, où on classera ces problèmes par type et par urgence.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SÉANCE A1  ·  MODULE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Un problème dans mon logement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Oksana loue le 4B, au dernier étage d'un immeuble de six logements. Il fait quatorze degrés dans son salon et le calorifère reste froid. Que faire avant d'appeler la propriétaire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Pouvez-vous régler le problème 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1113536"/>
          </a:xfrm>
          <a:prstGeom prst="roundRect">
            <a:avLst>
              <a:gd name="adj" fmla="val 1313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21203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202688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747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nommer un problème de mon logement avec le mot précis, pas avec « il y a un problème »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3006343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31841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3266439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32075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dire depuis quand le problème dure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892295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4070095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4152391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4093463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savoir ce que je dois vérifier moi-même avant de téléphoner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7782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9560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50383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979415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savoir ce que je dois noter pour garder une trace de ma demande.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MISE EN SITUATION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300" b="1" i="0">
                <a:solidFill>
                  <a:srgbClr val="17181A"/>
                </a:solidFill>
                <a:latin typeface="Verdana"/>
              </a:rPr>
              <a:t>Que voyez-vous ? Qu'est-ce que vous feriez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4927" y="1719072"/>
            <a:ext cx="4199839" cy="4361688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plafon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383" y="2019452"/>
            <a:ext cx="3760927" cy="3760927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1856232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50976" y="2039112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qu'il y a au plafond, exactement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642108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66928" y="2751836"/>
            <a:ext cx="50292" cy="821944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50976" y="2824988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que c'est grave ? Est-ce que ça peut attendre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765804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66928" y="3875532"/>
            <a:ext cx="50292" cy="821944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50976" y="3948684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Qui faut-il appeler : le concierge ou la propriétaire 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889500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66928" y="4999228"/>
            <a:ext cx="50292" cy="821944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50976" y="5072380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que vous diriez au téléphone, en une phrase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LA SITUATION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qu'on sait d'Oksana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Où elle habite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Au 4B, le dernier étage d'un immeuble privé de six logements. La propriétaire s'appelle madame Rioux.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Ce qui ne va pas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 fait quatorze degrés dans le salon. Le calorifère est resté froid toute la nuit, même avec le thermostat à vingt-deux.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Qui elle appelle en premier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Bertrand, un ami. Pas encore la propriétaire — elle veut d'abord comprendre ce qui se passe.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Ce qui l'arrête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Elle n'aime pas déranger les gens. C'est une hésitation très courante, et c'est justement le sujet de la séance.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DIALOGUE · 1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Il fait quatorze degrés au 4B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d'abord l'enregistrement, diapo masquée. Lisez ensuite.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2322576"/>
            <a:ext cx="1708975" cy="623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 i="0">
                <a:solidFill>
                  <a:srgbClr val="0D7A6F"/>
                </a:solidFill>
                <a:latin typeface="Verdana"/>
              </a:rPr>
              <a:t>OKSANA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41663" y="2322576"/>
            <a:ext cx="8434463" cy="623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Bertrand, il fait quatorze degrés chez moi. Le calorifère du salon est resté froid toute la nuit.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3303016"/>
            <a:ext cx="1708975" cy="623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 i="0">
                <a:solidFill>
                  <a:srgbClr val="0D7A6F"/>
                </a:solidFill>
                <a:latin typeface="Verdana"/>
              </a:rPr>
              <a:t>BERTRAND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41663" y="3303016"/>
            <a:ext cx="8434463" cy="623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Quatorze ? En novembre, c'est beaucoup trop bas. Est-ce que les autres pièces chauffent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4118864"/>
            <a:ext cx="11057839" cy="898144"/>
          </a:xfrm>
          <a:prstGeom prst="roundRect">
            <a:avLst>
              <a:gd name="adj" fmla="val 16289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4283456"/>
            <a:ext cx="1708975" cy="623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 i="0">
                <a:solidFill>
                  <a:srgbClr val="0D7A6F"/>
                </a:solidFill>
                <a:latin typeface="Verdana"/>
              </a:rPr>
              <a:t>OKSANA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41663" y="4283456"/>
            <a:ext cx="8434463" cy="623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La cuisine et la chambre, oui. C'est seulement celui du salon qui ne réagit plus, même quand je monte le thermostat à vingt-deux.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5099304"/>
            <a:ext cx="11057839" cy="898144"/>
          </a:xfrm>
          <a:prstGeom prst="roundRect">
            <a:avLst>
              <a:gd name="adj" fmla="val 16289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5263895"/>
            <a:ext cx="1708975" cy="623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 i="0">
                <a:solidFill>
                  <a:srgbClr val="0D7A6F"/>
                </a:solidFill>
                <a:latin typeface="Verdana"/>
              </a:rPr>
              <a:t>BERTRAND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41663" y="5263895"/>
            <a:ext cx="8434463" cy="623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Avant d'appeler ta propriétaire, descends au panneau électrique. Cherche un disjoncteur qui n'est pas dans le même sens que les autres.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DIALOGUE · 2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Vérifier soi-même, d'abord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1901952"/>
            <a:ext cx="170897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OKSANA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41663" y="1901952"/>
            <a:ext cx="843446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Attends, je regarde… Oui, il y en a un qui est arrêté au milieu.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2486659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32688" y="2651252"/>
            <a:ext cx="1708975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BERTRAND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41663" y="2651252"/>
            <a:ext cx="8434463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Pousse-le à fond vers « arrêt », puis ramène-le vers « marche ». S'il retombe tout de suite, ne le touche plus.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" y="3738371"/>
            <a:ext cx="170897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OKSANA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41663" y="3738371"/>
            <a:ext cx="843446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vient de retomber. Deux fois.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4323080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4487672"/>
            <a:ext cx="1708975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BERTRAND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41663" y="4487672"/>
            <a:ext cx="8434463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Alors ce n'est pas le thermostat, c'est le circuit. Tu appelles madame Rioux aujourd'hui, pas la semaine prochaine.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DIALOGUE · 3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n'est pas déranger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1901952"/>
            <a:ext cx="170897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OKSANA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41663" y="1901952"/>
            <a:ext cx="843446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n'aime pas déranger les gens pour ça.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2486659"/>
            <a:ext cx="11057839" cy="1342644"/>
          </a:xfrm>
          <a:prstGeom prst="roundRect">
            <a:avLst>
              <a:gd name="adj" fmla="val 10896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32688" y="2651252"/>
            <a:ext cx="1708975" cy="1068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BERTRAND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41663" y="2651252"/>
            <a:ext cx="8434463" cy="1068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Tu ne déranges personne : le chauffage fait partie du logement que tu paies. Prends une photo de ton thermomètre avec la date, et note l'heure de ton appel.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" y="4076191"/>
            <a:ext cx="170897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OKSANA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41663" y="4076191"/>
            <a:ext cx="843446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Pourquoi noter tout ça 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4660900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4825492"/>
            <a:ext cx="1708975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BERTRAND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41663" y="4825492"/>
            <a:ext cx="8434463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Parce que si elle tarde, tes notes deviennent ta preuve. Et ne t'en fais pas : dans neuf cas sur dix, ça se règle en un coup de fil.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VOCABULAIRE · 1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logement et ses appareils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3322224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calorifère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29232" y="2121408"/>
            <a:ext cx="6729774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L'appareil fixé au mur qui chauffe une pièce.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76331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09620"/>
            <a:ext cx="3322224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disjoncteur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29232" y="2909620"/>
            <a:ext cx="6729774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 i="0">
                <a:solidFill>
                  <a:srgbClr val="4B4F52"/>
                </a:solidFill>
                <a:latin typeface="Verdana"/>
              </a:rPr>
              <a:t>L'interrupteur du panneau électrique qui coupe le courant en cas de danger.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551529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697833"/>
            <a:ext cx="3322224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chauffage d'appoint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29232" y="3697833"/>
            <a:ext cx="6729774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 i="0">
                <a:solidFill>
                  <a:srgbClr val="4B4F52"/>
                </a:solidFill>
                <a:latin typeface="Verdana"/>
              </a:rPr>
              <a:t>Un petit appareil de chauffage qu'on ajoute temporairement.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33974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486046"/>
            <a:ext cx="3322224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le bail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9232" y="4486046"/>
            <a:ext cx="6729774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contrat signé entre le locataire et le propriétaire.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512795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5274259"/>
            <a:ext cx="3322224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partie commune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9232" y="5274259"/>
            <a:ext cx="6729774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 espace de l'immeuble partagé par tous les locataires.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VOCABULAIRE · 2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qui abîme un logement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2204942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infiltration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11950" y="2121408"/>
            <a:ext cx="7847056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De l'eau qui entre par le toit ou par un mur.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76331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09620"/>
            <a:ext cx="2204942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la moisissure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11950" y="2909620"/>
            <a:ext cx="7847056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Des taches noires ou vertes causées par l'humidité.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551529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697833"/>
            <a:ext cx="2204942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l'insalubrité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11950" y="3697833"/>
            <a:ext cx="7847056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L'état d'un logement malpropre ou dangereux pour la santé.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33974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486046"/>
            <a:ext cx="2204942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l'ampleur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11950" y="4486046"/>
            <a:ext cx="7847056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grandeur, l'importance d'un problème.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512795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5274259"/>
            <a:ext cx="2204942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encombrer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11950" y="5274259"/>
            <a:ext cx="7847056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Occuper une place et gêner le passage.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VOCABULAIRE · 3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Demander, et garder une trace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3100387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se plaindre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07395" y="2121408"/>
            <a:ext cx="6951611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 i="0">
                <a:solidFill>
                  <a:srgbClr val="4B4F52"/>
                </a:solidFill>
                <a:latin typeface="Verdana"/>
              </a:rPr>
              <a:t>Dire qu'on n'accepte plus une situation et demander qu'elle change.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76331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09620"/>
            <a:ext cx="3100387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avis écrit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07395" y="2909620"/>
            <a:ext cx="6951611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 i="0">
                <a:solidFill>
                  <a:srgbClr val="4B4F52"/>
                </a:solidFill>
                <a:latin typeface="Verdana"/>
              </a:rPr>
              <a:t>Une lettre ou un courriel qui garde une trace d'une demande.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551529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697833"/>
            <a:ext cx="3100387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recours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07395" y="3697833"/>
            <a:ext cx="6951611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moyen légal de faire régler un problème qui traîne.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33974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486046"/>
            <a:ext cx="3100387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sortie de secours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07395" y="4486046"/>
            <a:ext cx="6951611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chemin à garder libre pour évacuer en cas d'incendie.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512795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5274259"/>
            <a:ext cx="3100387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couvreur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07395" y="5274259"/>
            <a:ext cx="6951611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personne qui répare les toitures.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CE QU'IL FAUT RETENIR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2494788"/>
          </a:xfrm>
          <a:prstGeom prst="roundRect">
            <a:avLst>
              <a:gd name="adj" fmla="val 586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6718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 problème nommé précisément se règle deux fois plus vite qu'un problème décrit vaguement.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94404"/>
            <a:ext cx="11057839" cy="2040128"/>
          </a:xfrm>
          <a:prstGeom prst="roundRect">
            <a:avLst>
              <a:gd name="adj" fmla="val 717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4268724"/>
            <a:ext cx="10234879" cy="1582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Il y a un problème dans mon salon » peut vouloir dire dix choses. « Le calorifère du salon ne chauffe plus depuis avant-hier, il fait quatorze degrés » dit tout en une phrase : l'appareil, la pièce, depuis quand, et à quel point c'est grave.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NOMMER LE PROBLÈME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Bonjour, il y a un problème chez moi.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Le calorifère du salon ne chauffe plus depuis avant-hier.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Les deux phrases sont grammaticalement correctes. Seule la deuxième permet à la propriétaire de savoir qui appeler et à quel point c'est urgent. Une phrase précise n'est pas une phrase impolie : c'est une phrase utile.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AVANT DE TÉLÉPHONER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quatre choses à faire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2971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1 · Je vérifie ce que je peux vérifier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09444"/>
            <a:ext cx="4806543" cy="11795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panneau électrique, le thermostat, le robinet d'arrêt. Sans jamais toucher à ce qui est dangereux : un disjoncteur qui retombe deux fois, on n'y touche plus.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2971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2 · Je mesure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09444"/>
            <a:ext cx="4806543" cy="11795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nombre de degrés, la grandeur de la tache, le nombre de jours. Un chiffre vaut dix adjectifs.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2971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3 · Je photographie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626864"/>
            <a:ext cx="4806543" cy="11795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thermomètre, la tache, le dégât — avec la date visible. La photo montre l'ampleur mieux qu'une description.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2971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4 · Je note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626864"/>
            <a:ext cx="4806543" cy="11795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date et l'heure de mon appel, le nom de la personne à qui j'ai parlé, ce qui a été promis. Si la réparation tarde, ces notes deviennent ma preuve.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de nouveau le dialogue, puis répondez.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Toutes les pièces du logement sont froides.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Oksana a monté son thermostat jusqu'à vingt-deux degrés.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808735"/>
          </a:xfrm>
          <a:prstGeom prst="roundRect">
            <a:avLst>
              <a:gd name="adj" fmla="val 1809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73684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0085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5344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Bertrand lui conseille d'appeler la propriétaire avant de vérifier quoi que ce soit.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5211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54914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1314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0756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disjoncteur est retombé deux fois.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13994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23697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30097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29539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Bertrand pense que le problème vient du thermostat.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82777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92480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98881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98322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lui conseille de photographier son thermomètre avec la date.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Toutes les pièces du logement sont froides.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seul le salon.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Oksana a monté son thermostat jusqu'à vingt-deux degrés.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808735"/>
          </a:xfrm>
          <a:prstGeom prst="roundRect">
            <a:avLst>
              <a:gd name="adj" fmla="val 1809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73684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0085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5344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Bertrand lui conseille d'appeler la propriétaire avant de vérifier quoi que ce soit.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il fait vérifier d'abord.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5211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54914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1314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0756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disjoncteur est retombé deux fois.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13994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23697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30097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29539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Bertrand pense que le problème vient du thermostat.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du circuit.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82777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92480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98881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98322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lui conseille de photographier son thermomètre avec la date.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mot juste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Quel mot du vocabulaire correspond à chaque définition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De l'eau qui entre par le toit ou par un mur.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L'interrupteur qui coupe le courant en cas de danger.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grandeur, l'importance d'un problème.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espace partagé par tous les locataires.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contrat signé entre le locataire et le propriétaire.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personne qui répare les toitures.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mot juste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De l'eau qui entre par le toit ou par un mur.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une infiltration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L'interrupteur qui coupe le courant en cas de danger.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un disjoncteur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grandeur, l'importance d'un problème.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l'ampleur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espace partagé par tous les locataires.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une partie commune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contrat signé entre le locataire et le propriétaire.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 bail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personne qui répare les toitures.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un couvreur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18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Décrivez un problème de votre logement en une seule phrase précise.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1022096"/>
          </a:xfrm>
          <a:prstGeom prst="roundRect">
            <a:avLst>
              <a:gd name="adj" fmla="val 8946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747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Utilisez : le nom de l'appareil ou de la pièce · ce qui ne fonctionne pas · depuis quand.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5036311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5191759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Exemple : « Le robinet de la cuisine goutte depuis trois jours. 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Pouvez-vous régler le problème 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