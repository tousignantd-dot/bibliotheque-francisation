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grammaire exigeante. Le piège n'est pas la forme, c'est l'ordre : ce qui suit « avant de » arrive en deuxième. Prévoir du temps sur ce seul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Commencer par là. Faire mimer avec deux objets posés sur la table : on déplace physiquement l'ordre des actions.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produire cinq phrases orales avec avant de avant de passer à la suite.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la forme la plus difficile à produire spontanément. Y consacrer le plus de temps.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copier la liste des verbes avec être. C'est une liste à mémoriser, il n'y a pas de raccourci.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Formule à faire répéter telle quelle : « être regarde le sujet, avoir ne le regarde pas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Exercice de compréhension pure, avant toute production. Ne pas laisser passer une seule erreur d'ordre ici : la production échouera sinon.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cinquième est le seul avec être : monter est un verbe de déplacement. Faire justifier.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corriger oralement cinq phrases fautives inventées sur place.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Condition souvent passée sous silence, et pourtant elle explique la moitié des phrases bancales produites par le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réunit les deux difficultés : être, et l'accord au féminin. Si le groupe la réussit, la séance est acquise.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reformulation est l'exercice clé : produire les deux formes pour la même idée prouve que l'ordre est compris.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C2  ·  MODULE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Avant de, après avoir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213156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Quand vous racontez ce que vous avez fait — au téléphone, dans un courriel, devant le tribunal — vous devez placer deux actions dans l'ordre. Ces deux marqueurs servent exactement à ça, et ils fonctionnent en miroir l'un de l'autre.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Pouvez-vous régler le problème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placer deux actions dans l'ordre à l'intérieur d'une seule phrase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avant de suivi de l'infinitif présent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après suivi de l'infinitif passé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accorder le participe passé quand le verbe se construit avec être.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PIÈGE, AVANT TOUT LE RESTE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suit « avant de » arrive en deuxième. Ce qui suit « après » arrive en premier.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C'est l'inverse de l'ordre de lecture, et c'est la seule vraie difficulté de la séance. « Je vérifie le panneau avant d'appeler » : je vérifie d'abord. « Après avoir vérifié le panneau, j'appelle » : je vérifie d'abord aussi. Même ordre réel, deux phrases inversées.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avant de + infinitif présent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ÉLÉMENT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EXEMPLE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RANG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1re action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Je vérifie le panneau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elle a lieu d'abord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marqueur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avant d'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devant une voyelle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2e action, à l'infinitif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appeler la propriétaire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pas encore faite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4306824"/>
            <a:ext cx="11057839" cy="1506474"/>
          </a:xfrm>
          <a:prstGeom prst="roundRect">
            <a:avLst>
              <a:gd name="adj" fmla="val 971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69264" y="4562856"/>
            <a:ext cx="10234879" cy="10492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Avant de devient avant d' devant une voyelle ou un h muet : avant d'appeler, avant d'utiliser, avant d'habiter. La phrase complète : « Je vérifie le panneau avant d'appeler la propriétaire. »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après + infinitif passé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020824"/>
          </a:xfrm>
          <a:prstGeom prst="roundRect">
            <a:avLst>
              <a:gd name="adj" fmla="val 72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ÉLÉMENT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EXEMPLE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RANG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1re action, à l'infinitif passé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Après avoir descendu les vélos,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déjà terminée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310896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236976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2e action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3236976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vous lavez le plancher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3236976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elle suit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069080"/>
            <a:ext cx="11057839" cy="1175004"/>
          </a:xfrm>
          <a:prstGeom prst="roundRect">
            <a:avLst>
              <a:gd name="adj" fmla="val 1245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325112"/>
            <a:ext cx="10234879" cy="717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On ne dit jamais « après descendre ». Après le mot après, le verbe est obligatoirement à l'infinitif passé — donc avoir ou être suivi du participe passé.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FORME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Fabriquer un infinitif passé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La formule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Deux morceaux : avoir ou être à l'infinitif, puis le participe passé du verbe. Avoir lavé. Être monté.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Avec avoir — la grande majorité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avoir lavé, avoir vu, avoir pris, avoir fini, avoir écrit. C'est le cas par défaut : en cas de doute, c'est probablement avoir.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Avec être — les déplacements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aller, venir, monter, descendre, entrer, sortir, rentrer, partir, arriver, rester, tomber. Et tous les verbes pronominaux : s'être levé.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Les terminaisons du participe passé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-é : parlé, tombé · -t : fait, écrit · -u : reçu, vendu, vu · -i : fini, réussi · -s : mis, pris.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L'ACCORD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Être regarde le sujet. Avoir ne le regarde pas.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Avec être, le participe s'accorde : après être monté (lui), après être montée (elle), après être montés (eux), après être montées (elles). Avec avoir, aucun accord avec le sujet : après avoir monté ne change jamais, quel que soit le sujet.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Quelle action vient en premier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Lisez la phrase et dites laquelle des deux actions a lieu d'abord.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6339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2740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Oksana prend une photo avant d'envoyer son courriel.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80868"/>
            <a:ext cx="11057839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1556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1970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36316"/>
            <a:ext cx="10097719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Après avoir terminé leur installation, l'électricien montera au quatrième.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24299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04799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11200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079747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Il faut couper le courant avant de toucher au panneau.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665472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7891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8531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820920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Après avoir descendu ses vélos, Jean-Philippe a lavé le plancher.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406644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53034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59435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562092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Lisez bien votre bail avant de le signer.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Quelle action vient en premier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6339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2740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Oksana prend une photo avant d'envoyer son courriel.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la photo, puis le courriel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80868"/>
            <a:ext cx="11057839" cy="915416"/>
          </a:xfrm>
          <a:prstGeom prst="roundRect">
            <a:avLst>
              <a:gd name="adj" fmla="val 1598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1556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1970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36316"/>
            <a:ext cx="10097719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Après avoir terminé leur installation, l'électricien montera au quatrième.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terminer, puis monter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24299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04799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11200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079747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Il faut couper le courant avant de toucher au panneau.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couper, puis toucher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665472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7891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8531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820920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Après avoir descendu ses vélos, Jean-Philippe a lavé le plancher.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descendre, puis laver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406644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53034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59435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562092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Lisez bien votre bail avant de le signer.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lire, puis signer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Avec avant de, avant d', après avoir ou après être.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Oksana prend une photo ___ envoyer un courriel à sa propriétaire.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terminé leur installation, l'électricien montera au quatrième.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faut couper le courant ___ toucher au panneau électrique.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descendu ses vélos, Jean-Philippe a lavé le plancher.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monté au troisième, Samir a constaté l'ampleur du désordre.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Lisez bien votre bail ___ le signer.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Oksana prend une photo ___ envoyer un courriel à sa propriétaire.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avant d'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terminé leur installation, l'électricien montera au quatrième.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Après avoir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faut couper le courant ___ toucher au panneau électrique.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avant de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descendu ses vélos, Jean-Philippe a lavé le plancher.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Après avoir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monté au troisième, Samir a constaté l'ampleur du désordre.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Après être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Lisez bien votre bail ___ le signer.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avant de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FORME APRÈS « APRÈS 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Après descendre les vélos, je lave le plancher.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Après avoir descendu les vélos, je lave le plancher.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Après le mot après, on ne met jamais un infinitif présent seul. Il faut l'infinitif passé : avoir ou être, suivi du participe passé. C'est l'erreur la plus fréquente, et elle s'entend tout de suite.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SUJET UNIQUE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Avant d'appeler la propriétaire, elle a vérifié le panneau.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Avant d'appeler la propriétaire, j'ai vérifié le panneau.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Les deux actions doivent avoir le même sujet. Si les sujets diffèrent, on abandonne l'infinitif et on emploie une phrase complète : « avant que la propriétaire appelle… ». C'est une condition, pas une préférence de style.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VÉRIFICATION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Cinq questions rapides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sans regarder vos notes.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6339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2740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Avant de signer, lisez votre bail. » Quelle action vient en premier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80868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0456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6857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36316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Après avoir payé, il a reçu un reçu. » Quelle action vient en premier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22040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457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097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777488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Après avoir fini, ou après finir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363212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48691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55091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518660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Elle est rentrée, puis elle a soupé. On dit…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04384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22808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29209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259832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Avant d' » s'emploie devant…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Cinq questions rapides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6339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2740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Avant de signer, lisez votre bail. » Quelle action vient en premier ?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lire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80868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0456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6857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36316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Après avoir payé, il a reçu un reçu. » Quelle action vient en premier ?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payer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22040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457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097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777488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Après avoir fini, ou après finir ?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après avoir fini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363212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48691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55091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518660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Elle est rentrée, puis elle a soupé. On dit…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Après être rentrée chez elle, elle a soupé.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04384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22808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29209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259832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Avant d' » s'emploie devant…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une voyelle ou un h muet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Racontez en une phrase deux choses que vous avez faites hier, dans l'ordre.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1022096"/>
          </a:xfrm>
          <a:prstGeom prst="roundRect">
            <a:avLst>
              <a:gd name="adj" fmla="val 8946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Utilisez avant de dans une phrase, puis récrivez la même idée avec après avoir.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5036311"/>
            <a:ext cx="11057839" cy="1022096"/>
          </a:xfrm>
          <a:prstGeom prst="roundRect">
            <a:avLst>
              <a:gd name="adj" fmla="val 8946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5191759"/>
            <a:ext cx="1005199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Exemple : « J'ai lavé la vaisselle avant de sortir. » / « Après avoir lavé la vaisselle, je suis sorti. 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Pouvez-vous régler le problème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