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bilan. Ton différent des autres : on ne présente rien de nouveau. Laisser beaucoup de place aux questions restées en suspens.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Cacher la colonne de droite et faire donner les définitions par le groupe. Puis l'inverse : cacher la gauche et faire retrouver les mots.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une phrase complète avec chaque mot, en lien avec le logement réel de l'élève.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mots sont ceux du droit et de la démarche. Ce sont aussi ceux que les élèves oublient le plus vite, parce qu'ils servent moins souvent.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Les lignes non cochées indiquent où renvoyer l'élève dans le module en ligne.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par le groupe le savoir qui leur a semblé le plus utile. Utile pour ajuster la prochaine fois qu'on donne le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l'autoévaluation à main levée, honnêtement. Sur les points faibles, renvoyer aux séances précises indiquées.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 le module a servi à parler, pas seulement à apprendre des règles.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gestes au tableau et les y laisser jusqu'à la fin du cours. C'est ce qui restera dans six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Dernier billet du module. Le lire à voix haute, anonymement, à la fin du cours : c'est le meilleur bilan collectif possible.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E2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Je retiens des mots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du module. On rassemble le vocabulaire, on revoit les neuf savoirs, et chacun fait le point sur ce qu'il est maintenant capable de faire.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revoir les seize mots essentiels du module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retrouver les neuf savoirs travaillés et savoir où chacun sert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évaluer honnêtement ce que je suis maintenant capable de faire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où retourner chercher ce qui n'est pas encore acquis.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logement et ses appareils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calorifère</a:t>
            </a:r>
          </a:p>
        </p:txBody>
      </p:sp>
      <p:sp>
        <p:nvSpPr>
          <p:cNvPr id="9" name="TextBox 8"/>
          <p:cNvSpPr txBox="1"/>
          <p:nvPr/>
        </p:nvSpPr>
        <p:spPr>
          <a:xfrm>
            <a:off x="4529232" y="2121408"/>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L'appareil fixé au mur qui chauffe une pièce.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disjoncteur</a:t>
            </a:r>
          </a:p>
        </p:txBody>
      </p:sp>
      <p:sp>
        <p:nvSpPr>
          <p:cNvPr id="12" name="TextBox 11"/>
          <p:cNvSpPr txBox="1"/>
          <p:nvPr/>
        </p:nvSpPr>
        <p:spPr>
          <a:xfrm>
            <a:off x="4529232" y="2778252"/>
            <a:ext cx="6729774"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L'interrupteur du panneau électrique qui coupe le courant.</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chauffage d'appoint</a:t>
            </a:r>
          </a:p>
        </p:txBody>
      </p:sp>
      <p:sp>
        <p:nvSpPr>
          <p:cNvPr id="15" name="TextBox 14"/>
          <p:cNvSpPr txBox="1"/>
          <p:nvPr/>
        </p:nvSpPr>
        <p:spPr>
          <a:xfrm>
            <a:off x="4529232" y="3435096"/>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petit appareil de chauffage ajouté temporairement.</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bail</a:t>
            </a:r>
          </a:p>
        </p:txBody>
      </p:sp>
      <p:sp>
        <p:nvSpPr>
          <p:cNvPr id="18" name="TextBox 17"/>
          <p:cNvSpPr txBox="1"/>
          <p:nvPr/>
        </p:nvSpPr>
        <p:spPr>
          <a:xfrm>
            <a:off x="4529232" y="4091939"/>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contrat signé entre le locataire et le propriétaire.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couvreur</a:t>
            </a:r>
          </a:p>
        </p:txBody>
      </p:sp>
      <p:sp>
        <p:nvSpPr>
          <p:cNvPr id="21" name="TextBox 20"/>
          <p:cNvSpPr txBox="1"/>
          <p:nvPr/>
        </p:nvSpPr>
        <p:spPr>
          <a:xfrm>
            <a:off x="4529232" y="4748784"/>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répare les toitures.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dégraissant</a:t>
            </a:r>
          </a:p>
        </p:txBody>
      </p:sp>
      <p:sp>
        <p:nvSpPr>
          <p:cNvPr id="24" name="TextBox 23"/>
          <p:cNvSpPr txBox="1"/>
          <p:nvPr/>
        </p:nvSpPr>
        <p:spPr>
          <a:xfrm>
            <a:off x="4529232" y="5405628"/>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produit fort qui enlève l'huile et la graisse.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abîme un logement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infiltration</a:t>
            </a:r>
          </a:p>
        </p:txBody>
      </p:sp>
      <p:sp>
        <p:nvSpPr>
          <p:cNvPr id="9" name="TextBox 8"/>
          <p:cNvSpPr txBox="1"/>
          <p:nvPr/>
        </p:nvSpPr>
        <p:spPr>
          <a:xfrm>
            <a:off x="3411950" y="2121408"/>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 l'eau qui entre par le toit ou par un mur.</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moisissure</a:t>
            </a:r>
          </a:p>
        </p:txBody>
      </p:sp>
      <p:sp>
        <p:nvSpPr>
          <p:cNvPr id="12" name="TextBox 11"/>
          <p:cNvSpPr txBox="1"/>
          <p:nvPr/>
        </p:nvSpPr>
        <p:spPr>
          <a:xfrm>
            <a:off x="3411950" y="2909620"/>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Des taches noires ou vertes causées par l'humidité.</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l'insalubrité</a:t>
            </a:r>
          </a:p>
        </p:txBody>
      </p:sp>
      <p:sp>
        <p:nvSpPr>
          <p:cNvPr id="15" name="TextBox 14"/>
          <p:cNvSpPr txBox="1"/>
          <p:nvPr/>
        </p:nvSpPr>
        <p:spPr>
          <a:xfrm>
            <a:off x="3411950" y="3697833"/>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L'état d'un logement malpropre ou dangereux pour la santé.</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l'ampleur</a:t>
            </a:r>
          </a:p>
        </p:txBody>
      </p:sp>
      <p:sp>
        <p:nvSpPr>
          <p:cNvPr id="18" name="TextBox 17"/>
          <p:cNvSpPr txBox="1"/>
          <p:nvPr/>
        </p:nvSpPr>
        <p:spPr>
          <a:xfrm>
            <a:off x="3411950" y="4486046"/>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grandeur, l'importance d'un problème.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encombrer</a:t>
            </a:r>
          </a:p>
        </p:txBody>
      </p:sp>
      <p:sp>
        <p:nvSpPr>
          <p:cNvPr id="21" name="TextBox 20"/>
          <p:cNvSpPr txBox="1"/>
          <p:nvPr/>
        </p:nvSpPr>
        <p:spPr>
          <a:xfrm>
            <a:off x="3411950" y="5274259"/>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Occuper une place et gêner le passage.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Demander et garder une trace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se plaindre</a:t>
            </a:r>
          </a:p>
        </p:txBody>
      </p:sp>
      <p:sp>
        <p:nvSpPr>
          <p:cNvPr id="9" name="TextBox 8"/>
          <p:cNvSpPr txBox="1"/>
          <p:nvPr/>
        </p:nvSpPr>
        <p:spPr>
          <a:xfrm>
            <a:off x="4307395" y="2121408"/>
            <a:ext cx="695161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Dire qu'on n'accepte plus une situation et demander qu'elle change.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écrit</a:t>
            </a:r>
          </a:p>
        </p:txBody>
      </p:sp>
      <p:sp>
        <p:nvSpPr>
          <p:cNvPr id="12" name="TextBox 11"/>
          <p:cNvSpPr txBox="1"/>
          <p:nvPr/>
        </p:nvSpPr>
        <p:spPr>
          <a:xfrm>
            <a:off x="4307395" y="2909620"/>
            <a:ext cx="695161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lettre ou un courriel qui garde une trace d'une demande.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recours</a:t>
            </a:r>
          </a:p>
        </p:txBody>
      </p:sp>
      <p:sp>
        <p:nvSpPr>
          <p:cNvPr id="15" name="TextBox 14"/>
          <p:cNvSpPr txBox="1"/>
          <p:nvPr/>
        </p:nvSpPr>
        <p:spPr>
          <a:xfrm>
            <a:off x="4307395" y="3697833"/>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moyen légal de faire régler un problème qui traîne.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partie commune</a:t>
            </a:r>
          </a:p>
        </p:txBody>
      </p:sp>
      <p:sp>
        <p:nvSpPr>
          <p:cNvPr id="18" name="TextBox 17"/>
          <p:cNvSpPr txBox="1"/>
          <p:nvPr/>
        </p:nvSpPr>
        <p:spPr>
          <a:xfrm>
            <a:off x="4307395" y="4486046"/>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espace de l'immeuble partagé par tous les locataires.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sortie de secours</a:t>
            </a:r>
          </a:p>
        </p:txBody>
      </p:sp>
      <p:sp>
        <p:nvSpPr>
          <p:cNvPr id="21" name="TextBox 20"/>
          <p:cNvSpPr txBox="1"/>
          <p:nvPr/>
        </p:nvSpPr>
        <p:spPr>
          <a:xfrm>
            <a:off x="4307395" y="5274259"/>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chemin à garder libre pour évacuer en cas d'incendie.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RÉVISION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savoirs du module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SAVOIR</a:t>
            </a:r>
          </a:p>
        </p:txBody>
      </p:sp>
      <p:sp>
        <p:nvSpPr>
          <p:cNvPr id="9" name="TextBox 8"/>
          <p:cNvSpPr txBox="1"/>
          <p:nvPr/>
        </p:nvSpPr>
        <p:spPr>
          <a:xfrm>
            <a:off x="3824057" y="1975104"/>
            <a:ext cx="566654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EN UNE PHRASE</a:t>
            </a:r>
          </a:p>
        </p:txBody>
      </p:sp>
      <p:sp>
        <p:nvSpPr>
          <p:cNvPr id="10" name="TextBox 9"/>
          <p:cNvSpPr txBox="1"/>
          <p:nvPr/>
        </p:nvSpPr>
        <p:spPr>
          <a:xfrm>
            <a:off x="9710059" y="1975104"/>
            <a:ext cx="132949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SÉANCE</a:t>
            </a:r>
          </a:p>
        </p:txBody>
      </p:sp>
      <p:sp>
        <p:nvSpPr>
          <p:cNvPr id="11" name="TextBox 10"/>
          <p:cNvSpPr txBox="1"/>
          <p:nvPr/>
        </p:nvSpPr>
        <p:spPr>
          <a:xfrm>
            <a:off x="932688" y="2395728"/>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[ø] et [œ]</a:t>
            </a:r>
          </a:p>
        </p:txBody>
      </p:sp>
      <p:sp>
        <p:nvSpPr>
          <p:cNvPr id="12" name="TextBox 11"/>
          <p:cNvSpPr txBox="1"/>
          <p:nvPr/>
        </p:nvSpPr>
        <p:spPr>
          <a:xfrm>
            <a:off x="3824057" y="2395728"/>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fin du mot écrit décide</a:t>
            </a:r>
          </a:p>
        </p:txBody>
      </p:sp>
      <p:sp>
        <p:nvSpPr>
          <p:cNvPr id="13" name="TextBox 12"/>
          <p:cNvSpPr txBox="1"/>
          <p:nvPr/>
        </p:nvSpPr>
        <p:spPr>
          <a:xfrm>
            <a:off x="9710059" y="2395728"/>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A2</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métiers</a:t>
            </a:r>
          </a:p>
        </p:txBody>
      </p:sp>
      <p:sp>
        <p:nvSpPr>
          <p:cNvPr id="16" name="TextBox 15"/>
          <p:cNvSpPr txBox="1"/>
          <p:nvPr/>
        </p:nvSpPr>
        <p:spPr>
          <a:xfrm>
            <a:off x="3824057" y="2935224"/>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on retient la matière, pas le problème</a:t>
            </a:r>
          </a:p>
        </p:txBody>
      </p:sp>
      <p:sp>
        <p:nvSpPr>
          <p:cNvPr id="17" name="TextBox 16"/>
          <p:cNvSpPr txBox="1"/>
          <p:nvPr/>
        </p:nvSpPr>
        <p:spPr>
          <a:xfrm>
            <a:off x="9710059" y="2935224"/>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A3</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droits</a:t>
            </a:r>
          </a:p>
        </p:txBody>
      </p:sp>
      <p:sp>
        <p:nvSpPr>
          <p:cNvPr id="20" name="TextBox 19"/>
          <p:cNvSpPr txBox="1"/>
          <p:nvPr/>
        </p:nvSpPr>
        <p:spPr>
          <a:xfrm>
            <a:off x="3824057" y="3474720"/>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on parle, on écrit, puis on dépose</a:t>
            </a:r>
          </a:p>
        </p:txBody>
      </p:sp>
      <p:sp>
        <p:nvSpPr>
          <p:cNvPr id="21" name="TextBox 20"/>
          <p:cNvSpPr txBox="1"/>
          <p:nvPr/>
        </p:nvSpPr>
        <p:spPr>
          <a:xfrm>
            <a:off x="9710059" y="3474720"/>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B4</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leur / leurs</a:t>
            </a:r>
          </a:p>
        </p:txBody>
      </p:sp>
      <p:sp>
        <p:nvSpPr>
          <p:cNvPr id="24" name="TextBox 23"/>
          <p:cNvSpPr txBox="1"/>
          <p:nvPr/>
        </p:nvSpPr>
        <p:spPr>
          <a:xfrm>
            <a:off x="3824057" y="4014215"/>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nom qui suit décide, lui seul</a:t>
            </a:r>
          </a:p>
        </p:txBody>
      </p:sp>
      <p:sp>
        <p:nvSpPr>
          <p:cNvPr id="25" name="TextBox 24"/>
          <p:cNvSpPr txBox="1"/>
          <p:nvPr/>
        </p:nvSpPr>
        <p:spPr>
          <a:xfrm>
            <a:off x="9710059" y="4014215"/>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B2</a:t>
            </a:r>
          </a:p>
        </p:txBody>
      </p:sp>
      <p:sp>
        <p:nvSpPr>
          <p:cNvPr id="26" name="Rounded Rectangle 25"/>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Pour chaque ligne : est-ce que vous sauriez l'expliquer à quelqu'un qui n'était pas là ? C'est le vrai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RÉVISION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savoirs du module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SAVOIR</a:t>
            </a:r>
          </a:p>
        </p:txBody>
      </p:sp>
      <p:sp>
        <p:nvSpPr>
          <p:cNvPr id="9" name="TextBox 8"/>
          <p:cNvSpPr txBox="1"/>
          <p:nvPr/>
        </p:nvSpPr>
        <p:spPr>
          <a:xfrm>
            <a:off x="3824057" y="1975104"/>
            <a:ext cx="566654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EN UNE PHRASE</a:t>
            </a:r>
          </a:p>
        </p:txBody>
      </p:sp>
      <p:sp>
        <p:nvSpPr>
          <p:cNvPr id="10" name="TextBox 9"/>
          <p:cNvSpPr txBox="1"/>
          <p:nvPr/>
        </p:nvSpPr>
        <p:spPr>
          <a:xfrm>
            <a:off x="9710059" y="1975104"/>
            <a:ext cx="132949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SÉANCE</a:t>
            </a:r>
          </a:p>
        </p:txBody>
      </p:sp>
      <p:sp>
        <p:nvSpPr>
          <p:cNvPr id="11" name="TextBox 10"/>
          <p:cNvSpPr txBox="1"/>
          <p:nvPr/>
        </p:nvSpPr>
        <p:spPr>
          <a:xfrm>
            <a:off x="932688" y="2395728"/>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depuis / ça fait… que</a:t>
            </a:r>
          </a:p>
        </p:txBody>
      </p:sp>
      <p:sp>
        <p:nvSpPr>
          <p:cNvPr id="12" name="TextBox 11"/>
          <p:cNvSpPr txBox="1"/>
          <p:nvPr/>
        </p:nvSpPr>
        <p:spPr>
          <a:xfrm>
            <a:off x="3824057" y="2395728"/>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regardez ce qui vient après</a:t>
            </a:r>
          </a:p>
        </p:txBody>
      </p:sp>
      <p:sp>
        <p:nvSpPr>
          <p:cNvPr id="13" name="TextBox 12"/>
          <p:cNvSpPr txBox="1"/>
          <p:nvPr/>
        </p:nvSpPr>
        <p:spPr>
          <a:xfrm>
            <a:off x="9710059" y="2395728"/>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B3</a:t>
            </a:r>
          </a:p>
        </p:txBody>
      </p:sp>
      <p:sp>
        <p:nvSpPr>
          <p:cNvPr id="14" name="Rectangle 13"/>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18460"/>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avant de / après avoir</a:t>
            </a:r>
          </a:p>
        </p:txBody>
      </p:sp>
      <p:sp>
        <p:nvSpPr>
          <p:cNvPr id="16" name="TextBox 15"/>
          <p:cNvSpPr txBox="1"/>
          <p:nvPr/>
        </p:nvSpPr>
        <p:spPr>
          <a:xfrm>
            <a:off x="3824057" y="2918460"/>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après « avant de », l'action est deuxième</a:t>
            </a:r>
          </a:p>
        </p:txBody>
      </p:sp>
      <p:sp>
        <p:nvSpPr>
          <p:cNvPr id="17" name="TextBox 16"/>
          <p:cNvSpPr txBox="1"/>
          <p:nvPr/>
        </p:nvSpPr>
        <p:spPr>
          <a:xfrm>
            <a:off x="9710059" y="2918460"/>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C2</a:t>
            </a:r>
          </a:p>
        </p:txBody>
      </p:sp>
      <p:sp>
        <p:nvSpPr>
          <p:cNvPr id="18" name="Rectangle 17"/>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41192"/>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faire + infinitif</a:t>
            </a:r>
          </a:p>
        </p:txBody>
      </p:sp>
      <p:sp>
        <p:nvSpPr>
          <p:cNvPr id="20" name="TextBox 19"/>
          <p:cNvSpPr txBox="1"/>
          <p:nvPr/>
        </p:nvSpPr>
        <p:spPr>
          <a:xfrm>
            <a:off x="3824057" y="3441192"/>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les deux verbes se touchent</a:t>
            </a:r>
          </a:p>
        </p:txBody>
      </p:sp>
      <p:sp>
        <p:nvSpPr>
          <p:cNvPr id="21" name="TextBox 20"/>
          <p:cNvSpPr txBox="1"/>
          <p:nvPr/>
        </p:nvSpPr>
        <p:spPr>
          <a:xfrm>
            <a:off x="9710059" y="3441192"/>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C3</a:t>
            </a:r>
          </a:p>
        </p:txBody>
      </p:sp>
      <p:sp>
        <p:nvSpPr>
          <p:cNvPr id="22" name="Rectangle 21"/>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963924"/>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Privé, coop, HLM</a:t>
            </a:r>
          </a:p>
        </p:txBody>
      </p:sp>
      <p:sp>
        <p:nvSpPr>
          <p:cNvPr id="24" name="TextBox 23"/>
          <p:cNvSpPr txBox="1"/>
          <p:nvPr/>
        </p:nvSpPr>
        <p:spPr>
          <a:xfrm>
            <a:off x="3824057" y="3963924"/>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trois logiques, trois interlocuteurs</a:t>
            </a:r>
          </a:p>
        </p:txBody>
      </p:sp>
      <p:sp>
        <p:nvSpPr>
          <p:cNvPr id="25" name="TextBox 24"/>
          <p:cNvSpPr txBox="1"/>
          <p:nvPr/>
        </p:nvSpPr>
        <p:spPr>
          <a:xfrm>
            <a:off x="9710059" y="3963924"/>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C4</a:t>
            </a:r>
          </a:p>
        </p:txBody>
      </p:sp>
      <p:sp>
        <p:nvSpPr>
          <p:cNvPr id="26" name="Rectangle 25"/>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486656"/>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Se plaindre</a:t>
            </a:r>
          </a:p>
        </p:txBody>
      </p:sp>
      <p:sp>
        <p:nvSpPr>
          <p:cNvPr id="28" name="TextBox 27"/>
          <p:cNvSpPr txBox="1"/>
          <p:nvPr/>
        </p:nvSpPr>
        <p:spPr>
          <a:xfrm>
            <a:off x="3824057" y="4486656"/>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le fait, l'effet sur moi, la demande</a:t>
            </a:r>
          </a:p>
        </p:txBody>
      </p:sp>
      <p:sp>
        <p:nvSpPr>
          <p:cNvPr id="29" name="TextBox 28"/>
          <p:cNvSpPr txBox="1"/>
          <p:nvPr/>
        </p:nvSpPr>
        <p:spPr>
          <a:xfrm>
            <a:off x="9710059" y="4486656"/>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D2</a:t>
            </a:r>
          </a:p>
        </p:txBody>
      </p:sp>
      <p:sp>
        <p:nvSpPr>
          <p:cNvPr id="30" name="Rounded Rectangle 29"/>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Neuf savoirs en tout. Le dernier sert le plus souvent.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Je suis maintenant capable de…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Nommer un problème précisément</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Avec l'appareil, la pièce, la durée et un chiffre — pas avec « il y a un problème ». Séances A1 et A4.</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Savoir qui appeler, et dans quel ordre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bon métier pour le bon problème, mais surtout : prévenir la propriétaire avant tout. Séances A3 et B4.</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Mener l'appel jusqu'au bout</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Me présenter, décrire, donner un chiffre, dire ce que j'ai vérifié, demander une solution temporaire. Séances B1 et E1.</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Laisser une trace écrite</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courriel de trois lignes, daté, avec une demande claire. C'est ce qui protège quand ça traîne. Séances B4 et E1.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aussi…</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Me plaindre sans me fâcher</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l'effet sur moi, la demande — et une échelle d'intensité que je monte seulement si rien ne bouge. Séance D2.</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Comprendre où j'habite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Privé, coopérative ou HLM : qui décide, qui paie, à qui je m'adresse. Séance C4.</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Dire depuis quand</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Trois façons de répondre à la question la plus posée au téléphone, avec le verbe au présent. Séance B3.</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Prononcer le vocabulaire du logement</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Les mots en -eur et en -eux, qui sont partout dans ce champ lexical. Séance 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PHRASE À EMPORTER</a:t>
            </a:r>
          </a:p>
        </p:txBody>
      </p:sp>
      <p:sp>
        <p:nvSpPr>
          <p:cNvPr id="6" name="Rounded Rectangle 5"/>
          <p:cNvSpPr/>
          <p:nvPr/>
        </p:nvSpPr>
        <p:spPr>
          <a:xfrm>
            <a:off x="566928" y="1225296"/>
            <a:ext cx="11057839" cy="1967991"/>
          </a:xfrm>
          <a:prstGeom prst="roundRect">
            <a:avLst>
              <a:gd name="adj" fmla="val 743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Signaler tôt, nommer précisément, garder une trace.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gestes, dans cet ordre, quel que soit le problème et quel que soit le type de logement. Tout le reste du module n'est que la manière de les faire en français.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vous ferez différemment la prochaine fois qu'un problème surviendra chez vous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concrète. Pas une intention générale.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Je vais prendre une photo avec la date avant d'appeler.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