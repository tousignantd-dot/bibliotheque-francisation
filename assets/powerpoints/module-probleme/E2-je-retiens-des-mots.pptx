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bilan. Ton différent des autres : on ne présente rien de nouveau. Laisser beaucoup de place aux questions restées en suspens.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Cacher la colonne de droite et faire donner les définitions par le groupe. Puis l'inverse : cacher la gauche et faire retrouver les mots.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produire une phrase complète avec chaque mot, en lien avec le logement réel de l'élève.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cinq mots sont ceux du droit et de la démarche. Ce sont aussi ceux que les élèves oublient le plus vite, parce qu'ils servent moins souvent.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cocher individuellement. Les lignes non cochées indiquent où renvoyer l'élève dans le module en ligne.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nommer par le groupe le savoir qui leur a semblé le plus utile. Utile pour ajuster la prochaine fois qu'on donne le module.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l'autoévaluation à main levée, honnêtement. Sur les points faibles, renvoyer aux séances précises indiquées.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Terminer là-dessus : le module a servi à parler, pas seulement à apprendre des règles.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trois gestes au tableau et les y laisser jusqu'à la fin du cours. C'est ce qui restera dans six mois.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Dernier billet du module. Le lire à voix haute, anonymement, à la fin du cours : c'est le meilleur bilan collectif possible.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Je retiens des mots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Dernière séance du module. On rassemble le vocabulaire, on revoit les neuf savoirs, et chacun fait le point sur ce qu'il est maintenant capable de faire.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Pouvez-vous régler le problème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revoir les seize mots essentiels du module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retrouver les neuf savoirs travaillés et savoir où chacun sert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évaluer honnêtement ce que je suis maintenant capable de faire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savoir où retourner chercher ce qui n'est pas encore acquis.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logement et ses appareils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calorifère</a:t>
            </a:r>
          </a:p>
        </p:txBody>
      </p:sp>
      <p:sp>
        <p:nvSpPr>
          <p:cNvPr id="9" name="TextBox 8"/>
          <p:cNvSpPr txBox="1"/>
          <p:nvPr/>
        </p:nvSpPr>
        <p:spPr>
          <a:xfrm>
            <a:off x="4529232" y="2121408"/>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L'appareil fixé au mur qui chauffe une pièce.</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disjoncteur</a:t>
            </a:r>
          </a:p>
        </p:txBody>
      </p:sp>
      <p:sp>
        <p:nvSpPr>
          <p:cNvPr id="12" name="TextBox 11"/>
          <p:cNvSpPr txBox="1"/>
          <p:nvPr/>
        </p:nvSpPr>
        <p:spPr>
          <a:xfrm>
            <a:off x="4529232" y="2778252"/>
            <a:ext cx="6729774" cy="437387"/>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L'interrupteur du panneau électrique qui coupe le courant.</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chauffage d'appoint</a:t>
            </a:r>
          </a:p>
        </p:txBody>
      </p:sp>
      <p:sp>
        <p:nvSpPr>
          <p:cNvPr id="15" name="TextBox 14"/>
          <p:cNvSpPr txBox="1"/>
          <p:nvPr/>
        </p:nvSpPr>
        <p:spPr>
          <a:xfrm>
            <a:off x="4529232" y="3435096"/>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petit appareil de chauffage ajouté temporairement.</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bail</a:t>
            </a:r>
          </a:p>
        </p:txBody>
      </p:sp>
      <p:sp>
        <p:nvSpPr>
          <p:cNvPr id="18" name="TextBox 17"/>
          <p:cNvSpPr txBox="1"/>
          <p:nvPr/>
        </p:nvSpPr>
        <p:spPr>
          <a:xfrm>
            <a:off x="4529232" y="4091939"/>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contrat signé entre le locataire et le propriétaire.</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couvreur</a:t>
            </a:r>
          </a:p>
        </p:txBody>
      </p:sp>
      <p:sp>
        <p:nvSpPr>
          <p:cNvPr id="21" name="TextBox 20"/>
          <p:cNvSpPr txBox="1"/>
          <p:nvPr/>
        </p:nvSpPr>
        <p:spPr>
          <a:xfrm>
            <a:off x="4529232" y="4748784"/>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personne qui répare les toitures.</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3322224"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dégraissant</a:t>
            </a:r>
          </a:p>
        </p:txBody>
      </p:sp>
      <p:sp>
        <p:nvSpPr>
          <p:cNvPr id="24" name="TextBox 23"/>
          <p:cNvSpPr txBox="1"/>
          <p:nvPr/>
        </p:nvSpPr>
        <p:spPr>
          <a:xfrm>
            <a:off x="4529232" y="5405628"/>
            <a:ext cx="6729774"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produit fort qui enlève l'huile et la graisse.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abîme un logement</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infiltration</a:t>
            </a:r>
          </a:p>
        </p:txBody>
      </p:sp>
      <p:sp>
        <p:nvSpPr>
          <p:cNvPr id="9" name="TextBox 8"/>
          <p:cNvSpPr txBox="1"/>
          <p:nvPr/>
        </p:nvSpPr>
        <p:spPr>
          <a:xfrm>
            <a:off x="3411950" y="2121408"/>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De l'eau qui entre par le toit ou par un mur.</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moisissure</a:t>
            </a:r>
          </a:p>
        </p:txBody>
      </p:sp>
      <p:sp>
        <p:nvSpPr>
          <p:cNvPr id="12" name="TextBox 11"/>
          <p:cNvSpPr txBox="1"/>
          <p:nvPr/>
        </p:nvSpPr>
        <p:spPr>
          <a:xfrm>
            <a:off x="3411950" y="2909620"/>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Des taches noires ou vertes causées par l'humidité.</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l'insalubrité</a:t>
            </a:r>
          </a:p>
        </p:txBody>
      </p:sp>
      <p:sp>
        <p:nvSpPr>
          <p:cNvPr id="15" name="TextBox 14"/>
          <p:cNvSpPr txBox="1"/>
          <p:nvPr/>
        </p:nvSpPr>
        <p:spPr>
          <a:xfrm>
            <a:off x="3411950" y="3697833"/>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L'état d'un logement malpropre ou dangereux pour la santé.</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l'ampleur</a:t>
            </a:r>
          </a:p>
        </p:txBody>
      </p:sp>
      <p:sp>
        <p:nvSpPr>
          <p:cNvPr id="18" name="TextBox 17"/>
          <p:cNvSpPr txBox="1"/>
          <p:nvPr/>
        </p:nvSpPr>
        <p:spPr>
          <a:xfrm>
            <a:off x="3411950" y="4486046"/>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grandeur, l'importance d'un problème.</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2204942"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encombrer</a:t>
            </a:r>
          </a:p>
        </p:txBody>
      </p:sp>
      <p:sp>
        <p:nvSpPr>
          <p:cNvPr id="21" name="TextBox 20"/>
          <p:cNvSpPr txBox="1"/>
          <p:nvPr/>
        </p:nvSpPr>
        <p:spPr>
          <a:xfrm>
            <a:off x="3411950" y="5274259"/>
            <a:ext cx="7847056"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Occuper une place et gêner le passage.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VOCABULAIRE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Demander et garder une trace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se plaindre</a:t>
            </a:r>
          </a:p>
        </p:txBody>
      </p:sp>
      <p:sp>
        <p:nvSpPr>
          <p:cNvPr id="9" name="TextBox 8"/>
          <p:cNvSpPr txBox="1"/>
          <p:nvPr/>
        </p:nvSpPr>
        <p:spPr>
          <a:xfrm>
            <a:off x="4307395" y="2121408"/>
            <a:ext cx="6951611"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Dire qu'on n'accepte plus une situation et demander qu'elle change.</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avis écrit</a:t>
            </a:r>
          </a:p>
        </p:txBody>
      </p:sp>
      <p:sp>
        <p:nvSpPr>
          <p:cNvPr id="12" name="TextBox 11"/>
          <p:cNvSpPr txBox="1"/>
          <p:nvPr/>
        </p:nvSpPr>
        <p:spPr>
          <a:xfrm>
            <a:off x="4307395" y="2909620"/>
            <a:ext cx="6951611"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lettre ou un courriel qui garde une trace d'une demande.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recours</a:t>
            </a:r>
          </a:p>
        </p:txBody>
      </p:sp>
      <p:sp>
        <p:nvSpPr>
          <p:cNvPr id="15" name="TextBox 14"/>
          <p:cNvSpPr txBox="1"/>
          <p:nvPr/>
        </p:nvSpPr>
        <p:spPr>
          <a:xfrm>
            <a:off x="4307395" y="3697833"/>
            <a:ext cx="695161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moyen légal de faire régler un problème qui traîne.</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partie commune</a:t>
            </a:r>
          </a:p>
        </p:txBody>
      </p:sp>
      <p:sp>
        <p:nvSpPr>
          <p:cNvPr id="18" name="TextBox 17"/>
          <p:cNvSpPr txBox="1"/>
          <p:nvPr/>
        </p:nvSpPr>
        <p:spPr>
          <a:xfrm>
            <a:off x="4307395" y="4486046"/>
            <a:ext cx="695161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espace de l'immeuble partagé par tous les locataires.</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310038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sortie de secours</a:t>
            </a:r>
          </a:p>
        </p:txBody>
      </p:sp>
      <p:sp>
        <p:nvSpPr>
          <p:cNvPr id="21" name="TextBox 20"/>
          <p:cNvSpPr txBox="1"/>
          <p:nvPr/>
        </p:nvSpPr>
        <p:spPr>
          <a:xfrm>
            <a:off x="4307395" y="5274259"/>
            <a:ext cx="695161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chemin à garder libre pour évacuer en cas d'incendie.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RÉVISION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savoirs du module</a:t>
            </a:r>
          </a:p>
        </p:txBody>
      </p:sp>
      <p:sp>
        <p:nvSpPr>
          <p:cNvPr id="7" name="Rounded Rectangle 6"/>
          <p:cNvSpPr/>
          <p:nvPr/>
        </p:nvSpPr>
        <p:spPr>
          <a:xfrm>
            <a:off x="566928" y="1810512"/>
            <a:ext cx="11057839" cy="2798064"/>
          </a:xfrm>
          <a:prstGeom prst="roundRect">
            <a:avLst>
              <a:gd name="adj" fmla="val 522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267191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SAVOIR</a:t>
            </a:r>
          </a:p>
        </p:txBody>
      </p:sp>
      <p:sp>
        <p:nvSpPr>
          <p:cNvPr id="9" name="TextBox 8"/>
          <p:cNvSpPr txBox="1"/>
          <p:nvPr/>
        </p:nvSpPr>
        <p:spPr>
          <a:xfrm>
            <a:off x="3824057" y="1975104"/>
            <a:ext cx="5666545"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RÈGLE EN UNE PHRASE</a:t>
            </a:r>
          </a:p>
        </p:txBody>
      </p:sp>
      <p:sp>
        <p:nvSpPr>
          <p:cNvPr id="10" name="TextBox 9"/>
          <p:cNvSpPr txBox="1"/>
          <p:nvPr/>
        </p:nvSpPr>
        <p:spPr>
          <a:xfrm>
            <a:off x="9710059" y="1975104"/>
            <a:ext cx="1329491"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SÉANCE</a:t>
            </a:r>
          </a:p>
        </p:txBody>
      </p:sp>
      <p:sp>
        <p:nvSpPr>
          <p:cNvPr id="11" name="TextBox 10"/>
          <p:cNvSpPr txBox="1"/>
          <p:nvPr/>
        </p:nvSpPr>
        <p:spPr>
          <a:xfrm>
            <a:off x="932688" y="2395728"/>
            <a:ext cx="267191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[ø] et [œ]</a:t>
            </a:r>
          </a:p>
        </p:txBody>
      </p:sp>
      <p:sp>
        <p:nvSpPr>
          <p:cNvPr id="12" name="TextBox 11"/>
          <p:cNvSpPr txBox="1"/>
          <p:nvPr/>
        </p:nvSpPr>
        <p:spPr>
          <a:xfrm>
            <a:off x="3824057" y="2395728"/>
            <a:ext cx="5666545"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la fin du mot écrit décide</a:t>
            </a:r>
          </a:p>
        </p:txBody>
      </p:sp>
      <p:sp>
        <p:nvSpPr>
          <p:cNvPr id="13" name="TextBox 12"/>
          <p:cNvSpPr txBox="1"/>
          <p:nvPr/>
        </p:nvSpPr>
        <p:spPr>
          <a:xfrm>
            <a:off x="9710059" y="2395728"/>
            <a:ext cx="132949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A2</a:t>
            </a:r>
          </a:p>
        </p:txBody>
      </p:sp>
      <p:sp>
        <p:nvSpPr>
          <p:cNvPr id="14" name="Rectangle 13"/>
          <p:cNvSpPr/>
          <p:nvPr/>
        </p:nvSpPr>
        <p:spPr>
          <a:xfrm>
            <a:off x="932688" y="2807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35224"/>
            <a:ext cx="267191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métiers</a:t>
            </a:r>
          </a:p>
        </p:txBody>
      </p:sp>
      <p:sp>
        <p:nvSpPr>
          <p:cNvPr id="16" name="TextBox 15"/>
          <p:cNvSpPr txBox="1"/>
          <p:nvPr/>
        </p:nvSpPr>
        <p:spPr>
          <a:xfrm>
            <a:off x="3824057" y="2935224"/>
            <a:ext cx="5666545"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on retient la matière, pas le problème</a:t>
            </a:r>
          </a:p>
        </p:txBody>
      </p:sp>
      <p:sp>
        <p:nvSpPr>
          <p:cNvPr id="17" name="TextBox 16"/>
          <p:cNvSpPr txBox="1"/>
          <p:nvPr/>
        </p:nvSpPr>
        <p:spPr>
          <a:xfrm>
            <a:off x="9710059" y="2935224"/>
            <a:ext cx="132949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A3</a:t>
            </a:r>
          </a:p>
        </p:txBody>
      </p:sp>
      <p:sp>
        <p:nvSpPr>
          <p:cNvPr id="18" name="Rectangle 17"/>
          <p:cNvSpPr/>
          <p:nvPr/>
        </p:nvSpPr>
        <p:spPr>
          <a:xfrm>
            <a:off x="932688" y="334670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74720"/>
            <a:ext cx="267191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Les droits</a:t>
            </a:r>
          </a:p>
        </p:txBody>
      </p:sp>
      <p:sp>
        <p:nvSpPr>
          <p:cNvPr id="20" name="TextBox 19"/>
          <p:cNvSpPr txBox="1"/>
          <p:nvPr/>
        </p:nvSpPr>
        <p:spPr>
          <a:xfrm>
            <a:off x="3824057" y="3474720"/>
            <a:ext cx="5666545"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on parle, on écrit, puis on dépose</a:t>
            </a:r>
          </a:p>
        </p:txBody>
      </p:sp>
      <p:sp>
        <p:nvSpPr>
          <p:cNvPr id="21" name="TextBox 20"/>
          <p:cNvSpPr txBox="1"/>
          <p:nvPr/>
        </p:nvSpPr>
        <p:spPr>
          <a:xfrm>
            <a:off x="9710059" y="3474720"/>
            <a:ext cx="132949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B4</a:t>
            </a:r>
          </a:p>
        </p:txBody>
      </p:sp>
      <p:sp>
        <p:nvSpPr>
          <p:cNvPr id="22" name="Rectangle 21"/>
          <p:cNvSpPr/>
          <p:nvPr/>
        </p:nvSpPr>
        <p:spPr>
          <a:xfrm>
            <a:off x="932688" y="388620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014215"/>
            <a:ext cx="2671913"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leur / leurs</a:t>
            </a:r>
          </a:p>
        </p:txBody>
      </p:sp>
      <p:sp>
        <p:nvSpPr>
          <p:cNvPr id="24" name="TextBox 23"/>
          <p:cNvSpPr txBox="1"/>
          <p:nvPr/>
        </p:nvSpPr>
        <p:spPr>
          <a:xfrm>
            <a:off x="3824057" y="4014215"/>
            <a:ext cx="5666545" cy="338328"/>
          </a:xfrm>
          <a:prstGeom prst="rect">
            <a:avLst/>
          </a:prstGeom>
          <a:noFill/>
        </p:spPr>
        <p:txBody>
          <a:bodyPr wrap="square" lIns="0" rIns="0" tIns="0" bIns="0" anchor="t">
            <a:spAutoFit/>
          </a:bodyPr>
          <a:lstStyle/>
          <a:p>
            <a:pPr algn="l">
              <a:lnSpc>
                <a:spcPct val="132000"/>
              </a:lnSpc>
            </a:pPr>
            <a:r>
              <a:rPr sz="1800" b="1" i="0">
                <a:solidFill>
                  <a:srgbClr val="A5335F"/>
                </a:solidFill>
                <a:latin typeface="Verdana"/>
              </a:rPr>
              <a:t>le nom qui suit décide, lui seul</a:t>
            </a:r>
          </a:p>
        </p:txBody>
      </p:sp>
      <p:sp>
        <p:nvSpPr>
          <p:cNvPr id="25" name="TextBox 24"/>
          <p:cNvSpPr txBox="1"/>
          <p:nvPr/>
        </p:nvSpPr>
        <p:spPr>
          <a:xfrm>
            <a:off x="9710059" y="4014215"/>
            <a:ext cx="1329491"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B2</a:t>
            </a:r>
          </a:p>
        </p:txBody>
      </p:sp>
      <p:sp>
        <p:nvSpPr>
          <p:cNvPr id="26" name="Rounded Rectangle 25"/>
          <p:cNvSpPr/>
          <p:nvPr/>
        </p:nvSpPr>
        <p:spPr>
          <a:xfrm>
            <a:off x="566928" y="4846320"/>
            <a:ext cx="11057839" cy="1175004"/>
          </a:xfrm>
          <a:prstGeom prst="roundRect">
            <a:avLst>
              <a:gd name="adj" fmla="val 12451"/>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102352"/>
            <a:ext cx="10234879" cy="71780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Pour chaque ligne : est-ce que vous sauriez l'expliquer à quelqu'un qui n'était pas là ? C'est le vrai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RÉVISION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savoirs du module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2671913"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SAVOIR</a:t>
            </a:r>
          </a:p>
        </p:txBody>
      </p:sp>
      <p:sp>
        <p:nvSpPr>
          <p:cNvPr id="9" name="TextBox 8"/>
          <p:cNvSpPr txBox="1"/>
          <p:nvPr/>
        </p:nvSpPr>
        <p:spPr>
          <a:xfrm>
            <a:off x="3824057" y="1975104"/>
            <a:ext cx="5666545"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RÈGLE EN UNE PHRASE</a:t>
            </a:r>
          </a:p>
        </p:txBody>
      </p:sp>
      <p:sp>
        <p:nvSpPr>
          <p:cNvPr id="10" name="TextBox 9"/>
          <p:cNvSpPr txBox="1"/>
          <p:nvPr/>
        </p:nvSpPr>
        <p:spPr>
          <a:xfrm>
            <a:off x="9710059" y="1975104"/>
            <a:ext cx="1329491"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SÉANCE</a:t>
            </a:r>
          </a:p>
        </p:txBody>
      </p:sp>
      <p:sp>
        <p:nvSpPr>
          <p:cNvPr id="11" name="TextBox 10"/>
          <p:cNvSpPr txBox="1"/>
          <p:nvPr/>
        </p:nvSpPr>
        <p:spPr>
          <a:xfrm>
            <a:off x="932688" y="2395728"/>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depuis / ça fait… que</a:t>
            </a:r>
          </a:p>
        </p:txBody>
      </p:sp>
      <p:sp>
        <p:nvSpPr>
          <p:cNvPr id="12" name="TextBox 11"/>
          <p:cNvSpPr txBox="1"/>
          <p:nvPr/>
        </p:nvSpPr>
        <p:spPr>
          <a:xfrm>
            <a:off x="3824057" y="2395728"/>
            <a:ext cx="5666545"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regardez ce qui vient après</a:t>
            </a:r>
          </a:p>
        </p:txBody>
      </p:sp>
      <p:sp>
        <p:nvSpPr>
          <p:cNvPr id="13" name="TextBox 12"/>
          <p:cNvSpPr txBox="1"/>
          <p:nvPr/>
        </p:nvSpPr>
        <p:spPr>
          <a:xfrm>
            <a:off x="9710059" y="2395728"/>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B3</a:t>
            </a:r>
          </a:p>
        </p:txBody>
      </p:sp>
      <p:sp>
        <p:nvSpPr>
          <p:cNvPr id="14" name="Rectangle 13"/>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18460"/>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avant de / après avoir</a:t>
            </a:r>
          </a:p>
        </p:txBody>
      </p:sp>
      <p:sp>
        <p:nvSpPr>
          <p:cNvPr id="16" name="TextBox 15"/>
          <p:cNvSpPr txBox="1"/>
          <p:nvPr/>
        </p:nvSpPr>
        <p:spPr>
          <a:xfrm>
            <a:off x="3824057" y="2918460"/>
            <a:ext cx="5666545"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après « avant de », l'action est deuxième</a:t>
            </a:r>
          </a:p>
        </p:txBody>
      </p:sp>
      <p:sp>
        <p:nvSpPr>
          <p:cNvPr id="17" name="TextBox 16"/>
          <p:cNvSpPr txBox="1"/>
          <p:nvPr/>
        </p:nvSpPr>
        <p:spPr>
          <a:xfrm>
            <a:off x="9710059" y="2918460"/>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C2</a:t>
            </a:r>
          </a:p>
        </p:txBody>
      </p:sp>
      <p:sp>
        <p:nvSpPr>
          <p:cNvPr id="18" name="Rectangle 17"/>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41192"/>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faire + infinitif</a:t>
            </a:r>
          </a:p>
        </p:txBody>
      </p:sp>
      <p:sp>
        <p:nvSpPr>
          <p:cNvPr id="20" name="TextBox 19"/>
          <p:cNvSpPr txBox="1"/>
          <p:nvPr/>
        </p:nvSpPr>
        <p:spPr>
          <a:xfrm>
            <a:off x="3824057" y="3441192"/>
            <a:ext cx="5666545"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les deux verbes se touchent</a:t>
            </a:r>
          </a:p>
        </p:txBody>
      </p:sp>
      <p:sp>
        <p:nvSpPr>
          <p:cNvPr id="21" name="TextBox 20"/>
          <p:cNvSpPr txBox="1"/>
          <p:nvPr/>
        </p:nvSpPr>
        <p:spPr>
          <a:xfrm>
            <a:off x="9710059" y="3441192"/>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C3</a:t>
            </a:r>
          </a:p>
        </p:txBody>
      </p:sp>
      <p:sp>
        <p:nvSpPr>
          <p:cNvPr id="22" name="Rectangle 21"/>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3963924"/>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Privé, coop, HLM</a:t>
            </a:r>
          </a:p>
        </p:txBody>
      </p:sp>
      <p:sp>
        <p:nvSpPr>
          <p:cNvPr id="24" name="TextBox 23"/>
          <p:cNvSpPr txBox="1"/>
          <p:nvPr/>
        </p:nvSpPr>
        <p:spPr>
          <a:xfrm>
            <a:off x="3824057" y="3963924"/>
            <a:ext cx="5666545"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trois logiques, trois interlocuteurs</a:t>
            </a:r>
          </a:p>
        </p:txBody>
      </p:sp>
      <p:sp>
        <p:nvSpPr>
          <p:cNvPr id="25" name="TextBox 24"/>
          <p:cNvSpPr txBox="1"/>
          <p:nvPr/>
        </p:nvSpPr>
        <p:spPr>
          <a:xfrm>
            <a:off x="9710059" y="3963924"/>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C4</a:t>
            </a:r>
          </a:p>
        </p:txBody>
      </p:sp>
      <p:sp>
        <p:nvSpPr>
          <p:cNvPr id="26" name="Rectangle 25"/>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32688" y="4486656"/>
            <a:ext cx="2671913"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Se plaindre</a:t>
            </a:r>
          </a:p>
        </p:txBody>
      </p:sp>
      <p:sp>
        <p:nvSpPr>
          <p:cNvPr id="28" name="TextBox 27"/>
          <p:cNvSpPr txBox="1"/>
          <p:nvPr/>
        </p:nvSpPr>
        <p:spPr>
          <a:xfrm>
            <a:off x="3824057" y="4486656"/>
            <a:ext cx="5666545" cy="321564"/>
          </a:xfrm>
          <a:prstGeom prst="rect">
            <a:avLst/>
          </a:prstGeom>
          <a:noFill/>
        </p:spPr>
        <p:txBody>
          <a:bodyPr wrap="square" lIns="0" rIns="0" tIns="0" bIns="0" anchor="t">
            <a:spAutoFit/>
          </a:bodyPr>
          <a:lstStyle/>
          <a:p>
            <a:pPr algn="l">
              <a:lnSpc>
                <a:spcPct val="132000"/>
              </a:lnSpc>
            </a:pPr>
            <a:r>
              <a:rPr sz="1700" b="1" i="0">
                <a:solidFill>
                  <a:srgbClr val="A5335F"/>
                </a:solidFill>
                <a:latin typeface="Verdana"/>
              </a:rPr>
              <a:t>le fait, l'effet sur moi, la demande</a:t>
            </a:r>
          </a:p>
        </p:txBody>
      </p:sp>
      <p:sp>
        <p:nvSpPr>
          <p:cNvPr id="29" name="TextBox 28"/>
          <p:cNvSpPr txBox="1"/>
          <p:nvPr/>
        </p:nvSpPr>
        <p:spPr>
          <a:xfrm>
            <a:off x="9710059" y="4486656"/>
            <a:ext cx="1329491"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D2</a:t>
            </a:r>
          </a:p>
        </p:txBody>
      </p:sp>
      <p:sp>
        <p:nvSpPr>
          <p:cNvPr id="30" name="Rounded Rectangle 29"/>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Neuf savoirs en tout. Le dernier sert le plus souvent.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Je suis maintenant capable de…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Nommer un problème précisément</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Avec l'appareil, la pièce, la durée et un chiffre — pas avec « il y a un problème ». Séances A1 et A4.</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Savoir qui appeler, et dans quel ordre</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bon métier pour le bon problème, mais surtout : prévenir la propriétaire avant tout. Séances A3 et B4.</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Mener l'appel jusqu'au bout</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Me présenter, décrire, donner un chiffre, dire ce que j'ai vérifié, demander une solution temporaire. Séances B1 et E1.</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Laisser une trace écrite</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courriel de trois lignes, daté, avec une demande claire. C'est ce qui protège quand ça traîne. Séances B4 et E1.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Et aussi…</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Me plaindre sans me fâcher</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fait, l'effet sur moi, la demande — et une échelle d'intensité que je monte seulement si rien ne bouge. Séance D2.</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Comprendre où j'habite</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Privé, coopérative ou HLM : qui décide, qui paie, à qui je m'adresse. Séance C4.</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Dire depuis quand</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Trois façons de répondre à la question la plus posée au téléphone, avec le verbe au présent. Séance B3.</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A5335F"/>
                </a:solidFill>
                <a:latin typeface="Verdana"/>
              </a:rPr>
              <a:t>Prononcer le vocabulaire du logement</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Les mots en -eur et en -eux, qui sont partout dans ce champ lexical. Séance A2.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LA PHRASE À EMPORTER</a:t>
            </a:r>
          </a:p>
        </p:txBody>
      </p:sp>
      <p:sp>
        <p:nvSpPr>
          <p:cNvPr id="6" name="Rounded Rectangle 5"/>
          <p:cNvSpPr/>
          <p:nvPr/>
        </p:nvSpPr>
        <p:spPr>
          <a:xfrm>
            <a:off x="566928" y="1225296"/>
            <a:ext cx="11057839" cy="1967991"/>
          </a:xfrm>
          <a:prstGeom prst="roundRect">
            <a:avLst>
              <a:gd name="adj" fmla="val 7434"/>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Signaler tôt, nommer précisément, garder une trace.</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Trois gestes, dans cet ordre, quel que soit le problème et quel que soit le type de logement. Tout le reste du module n'est que la manière de les faire en français.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Qu'est-ce que vous ferez différemment la prochaine fois qu'un problème surviendra chez vous ?</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phrase, concrète. Pas une intention générale.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 Je vais prendre une photo avec la date avant d'appeler. »</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Pouvez-vous régler le problème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