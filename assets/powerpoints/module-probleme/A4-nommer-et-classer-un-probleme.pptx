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Dernière séance du bloc A. Reprendre les billets de sortie de la séance A1 : on va classer les problèmes que le groupe a lui-même décrits.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important à dire clairement : la moisissure n'est pas une question de propreté. Beaucoup d'élèves ont honte de la signaler, croyant qu'on va les accuser de mal entretenir leur logement.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Projeter les photos du module en parallèle, dans l'activité interactive. Faire remarquer la structure commune : quoi · où · depuis quand ou comment.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Écrire les huit mots au tableau. Ils servent de banque pour l'exercice qui suit.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répondre le groupe avant d'afficher la correction. Laisser du silence : les élèves lisent plus lentement qu'on ne le croit.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Insalubrité » est un mot fort, qui a un sens légal. Le distinguer de « malpropreté » : l'insalubrité est dangereuse pour la santé.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deux questions structurent tout le reste du module : le bloc B traite du logement, le bloc C des parties communes.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Demander au groupe s'il est d'accord avec la colonne urgence. Les désaccords sont utiles : tout dépend de la saison et de qui habite le logement — un bébé change tout.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Insister sur la dernière ligne : c'est le sujet complet de la séance D2.</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Relier explicitement au billet de sortie de A1 : « je ne veux pas déranger » est la phrase à défaire pendant tout ce module.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Rendre les billets de A1 en début de séance pour que chacun retrouve sa phrase. Fin du bloc A : le groupe est prêt pour le défi 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SÉANCE A4  ·  MODULE 10</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Nommer et classer un problème</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Une fuite, un bris, une infiltration, de l'insalubrité, un trouble de voisinage : chaque type de problème a son mot, et ce mot dit à lui seul à qui s'adresser et à quelle vitesse.</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50 minutes  ·  Pouvez-vous régler le problème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un problème sur une photo et le décrire en une phrase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nommer le type de problème avec le mot juste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distinguer ce qui est urgent de ce qui peut attendre ;</a:t>
            </a:r>
          </a:p>
        </p:txBody>
      </p:sp>
      <p:sp>
        <p:nvSpPr>
          <p:cNvPr id="19" name="Rounded Rectangle 18"/>
          <p:cNvSpPr/>
          <p:nvPr/>
        </p:nvSpPr>
        <p:spPr>
          <a:xfrm>
            <a:off x="566928" y="4422648"/>
            <a:ext cx="11057839" cy="1113536"/>
          </a:xfrm>
          <a:prstGeom prst="roundRect">
            <a:avLst>
              <a:gd name="adj" fmla="val 1313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778248"/>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860544"/>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2" name="TextBox 21"/>
          <p:cNvSpPr txBox="1"/>
          <p:nvPr/>
        </p:nvSpPr>
        <p:spPr>
          <a:xfrm>
            <a:off x="1408176" y="4623816"/>
            <a:ext cx="9549079" cy="7477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distinguer ce qui relève de mon logement de ce qui relève de l'immeuble.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100" b="1" i="0">
                <a:solidFill>
                  <a:srgbClr val="17181A"/>
                </a:solidFill>
                <a:latin typeface="Verdana"/>
              </a:rPr>
              <a:t>Décrivez ce que vous voyez en une seule phrase.</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moisissure.jpg"/>
          <p:cNvPicPr>
            <a:picLocks noChangeAspect="1"/>
          </p:cNvPicPr>
          <p:nvPr/>
        </p:nvPicPr>
        <p:blipFill>
          <a:blip r:embed="rId2"/>
          <a:stretch>
            <a:fillRect/>
          </a:stretch>
        </p:blipFill>
        <p:spPr>
          <a:xfrm>
            <a:off x="7644383" y="2019452"/>
            <a:ext cx="3760927" cy="3760927"/>
          </a:xfrm>
          <a:prstGeom prst="rect">
            <a:avLst/>
          </a:prstGeom>
        </p:spPr>
      </p:pic>
      <p:sp>
        <p:nvSpPr>
          <p:cNvPr id="9" name="Rounded Rectangle 8"/>
          <p:cNvSpPr/>
          <p:nvPr/>
        </p:nvSpPr>
        <p:spPr>
          <a:xfrm>
            <a:off x="566928" y="1856232"/>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821944"/>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Quelle est la couleur ? Où est-ce, exactement ?</a:t>
            </a:r>
          </a:p>
        </p:txBody>
      </p:sp>
      <p:sp>
        <p:nvSpPr>
          <p:cNvPr id="12" name="Rounded Rectangle 11"/>
          <p:cNvSpPr/>
          <p:nvPr/>
        </p:nvSpPr>
        <p:spPr>
          <a:xfrm>
            <a:off x="566928" y="2979928"/>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3089656"/>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3162808"/>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que c'est de la saleté ou autre chose ?</a:t>
            </a:r>
          </a:p>
        </p:txBody>
      </p:sp>
      <p:sp>
        <p:nvSpPr>
          <p:cNvPr id="15" name="Rounded Rectangle 14"/>
          <p:cNvSpPr/>
          <p:nvPr/>
        </p:nvSpPr>
        <p:spPr>
          <a:xfrm>
            <a:off x="566928" y="3765804"/>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3875532"/>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3948684"/>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mot juste : de la moisissure.</a:t>
            </a:r>
          </a:p>
        </p:txBody>
      </p:sp>
      <p:sp>
        <p:nvSpPr>
          <p:cNvPr id="18" name="Rounded Rectangle 17"/>
          <p:cNvSpPr/>
          <p:nvPr/>
        </p:nvSpPr>
        <p:spPr>
          <a:xfrm>
            <a:off x="566928" y="4551680"/>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4661408"/>
            <a:ext cx="50292" cy="821944"/>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4734560"/>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D'où vient la moisissure ? De l'humidité, pas du manque de ménage.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PRATIQUE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Décrire ce qu'on voit</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Chaque phrase décrit une des photos du module. Laquelle ?</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De la moisissure noire s'est formée dans le coin du mur.</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robinet de la cuisine coule goutte à goutte.</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serrure de la porte d'entrée a été forcée.</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Les lattes du plancher de bois ont gondolé.</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prise de courant est noircie autour des trous.</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tache brune s'agrandit au plafond de la chambre.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Décrire ce qu'on voit</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De la moisissure noire s'est formée dans le coin du mur.   </a:t>
            </a:r>
            <a:r>
              <a:rPr sz="1400" b="1" i="0">
                <a:solidFill>
                  <a:srgbClr val="07734A"/>
                </a:solidFill>
                <a:latin typeface="Verdana"/>
              </a:rPr>
              <a:t>» photo du mur de la salle de bain</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robinet de la cuisine coule goutte à goutte.   </a:t>
            </a:r>
            <a:r>
              <a:rPr sz="1400" b="1" i="0">
                <a:solidFill>
                  <a:srgbClr val="07734A"/>
                </a:solidFill>
                <a:latin typeface="Verdana"/>
              </a:rPr>
              <a:t>» photo du robinet</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serrure de la porte d'entrée a été forcée.   </a:t>
            </a:r>
            <a:r>
              <a:rPr sz="1400" b="1" i="0">
                <a:solidFill>
                  <a:srgbClr val="07734A"/>
                </a:solidFill>
                <a:latin typeface="Verdana"/>
              </a:rPr>
              <a:t>» photo de la serrure</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Les lattes du plancher de bois ont gondolé.   </a:t>
            </a:r>
            <a:r>
              <a:rPr sz="1400" b="1" i="0">
                <a:solidFill>
                  <a:srgbClr val="07734A"/>
                </a:solidFill>
                <a:latin typeface="Verdana"/>
              </a:rPr>
              <a:t>» photo du plancher</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prise de courant est noircie autour des trous.   </a:t>
            </a:r>
            <a:r>
              <a:rPr sz="1400" b="1" i="0">
                <a:solidFill>
                  <a:srgbClr val="07734A"/>
                </a:solidFill>
                <a:latin typeface="Verdana"/>
              </a:rPr>
              <a:t>» photo de la prise</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tache brune s'agrandit au plafond de la chambre.   </a:t>
            </a:r>
            <a:r>
              <a:rPr sz="1400" b="1" i="0">
                <a:solidFill>
                  <a:srgbClr val="07734A"/>
                </a:solidFill>
                <a:latin typeface="Verdana"/>
              </a:rPr>
              <a:t>» photo du plafond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LE MOT DU TYPE</a:t>
            </a:r>
          </a:p>
        </p:txBody>
      </p:sp>
      <p:sp>
        <p:nvSpPr>
          <p:cNvPr id="6" name="Rounded Rectangle 5"/>
          <p:cNvSpPr/>
          <p:nvPr/>
        </p:nvSpPr>
        <p:spPr>
          <a:xfrm>
            <a:off x="566928" y="1225296"/>
            <a:ext cx="11057839" cy="1967991"/>
          </a:xfrm>
          <a:prstGeom prst="roundRect">
            <a:avLst>
              <a:gd name="adj" fmla="val 7434"/>
            </a:avLst>
          </a:prstGeom>
          <a:solidFill>
            <a:srgbClr val="DCF2E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Chaque type de problème a son mot — et ce mot dit déjà l'urgence.</a:t>
            </a:r>
          </a:p>
        </p:txBody>
      </p:sp>
      <p:sp>
        <p:nvSpPr>
          <p:cNvPr id="8" name="Rounded Rectangle 7"/>
          <p:cNvSpPr/>
          <p:nvPr/>
        </p:nvSpPr>
        <p:spPr>
          <a:xfrm>
            <a:off x="566928" y="3467607"/>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Une fuite, un bris, une infiltration, une défectuosité, un excès d'humidité, une invasion d'insectes, de l'insalubrité, un trouble de voisinage. Dire « il y a une infiltration » ne décrit pas seulement de l'eau : ça annonce un dégât qui va empirer, donc une intervention rapide.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PRATIQUE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Nommer le type de problème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Associez chaque situation au mot qui la nomme.</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robinet goutte jour et nuit.</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Des fourmis sortent de la plinthe de la cuisine.</a:t>
            </a:r>
          </a:p>
        </p:txBody>
      </p:sp>
      <p:sp>
        <p:nvSpPr>
          <p:cNvPr id="16" name="Rounded Rectangle 15"/>
          <p:cNvSpPr/>
          <p:nvPr/>
        </p:nvSpPr>
        <p:spPr>
          <a:xfrm>
            <a:off x="566928" y="369316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vitre de la fenêtre est cassée.</a:t>
            </a:r>
          </a:p>
        </p:txBody>
      </p:sp>
      <p:sp>
        <p:nvSpPr>
          <p:cNvPr id="20" name="Rounded Rectangle 19"/>
          <p:cNvSpPr/>
          <p:nvPr/>
        </p:nvSpPr>
        <p:spPr>
          <a:xfrm>
            <a:off x="566928" y="4469892"/>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miroir de la salle de bain reste embué une heure.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Nommer le type de problème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robinet goutte jour et nuit.   </a:t>
            </a:r>
            <a:r>
              <a:rPr sz="1900" b="1" i="0">
                <a:solidFill>
                  <a:srgbClr val="07734A"/>
                </a:solidFill>
                <a:latin typeface="Verdana"/>
              </a:rPr>
              <a:t>» une fuite</a:t>
            </a:r>
          </a:p>
        </p:txBody>
      </p:sp>
      <p:sp>
        <p:nvSpPr>
          <p:cNvPr id="12" name="Rounded Rectangle 11"/>
          <p:cNvSpPr/>
          <p:nvPr/>
        </p:nvSpPr>
        <p:spPr>
          <a:xfrm>
            <a:off x="566928" y="2916428"/>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Des fourmis sortent de la plinthe de la cuisine.   </a:t>
            </a:r>
            <a:r>
              <a:rPr sz="1900" b="1" i="0">
                <a:solidFill>
                  <a:srgbClr val="07734A"/>
                </a:solidFill>
                <a:latin typeface="Verdana"/>
              </a:rPr>
              <a:t>» une invasion d'insectes</a:t>
            </a:r>
          </a:p>
        </p:txBody>
      </p:sp>
      <p:sp>
        <p:nvSpPr>
          <p:cNvPr id="16" name="Rounded Rectangle 15"/>
          <p:cNvSpPr/>
          <p:nvPr/>
        </p:nvSpPr>
        <p:spPr>
          <a:xfrm>
            <a:off x="566928" y="3693160"/>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vitre de la fenêtre est cassée.   </a:t>
            </a:r>
            <a:r>
              <a:rPr sz="1900" b="1" i="0">
                <a:solidFill>
                  <a:srgbClr val="07734A"/>
                </a:solidFill>
                <a:latin typeface="Verdana"/>
              </a:rPr>
              <a:t>» un bris</a:t>
            </a:r>
          </a:p>
        </p:txBody>
      </p:sp>
      <p:sp>
        <p:nvSpPr>
          <p:cNvPr id="20" name="Rounded Rectangle 19"/>
          <p:cNvSpPr/>
          <p:nvPr/>
        </p:nvSpPr>
        <p:spPr>
          <a:xfrm>
            <a:off x="566928" y="4469892"/>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miroir de la salle de bain reste embué une heure.   </a:t>
            </a:r>
            <a:r>
              <a:rPr sz="1900" b="1" i="0">
                <a:solidFill>
                  <a:srgbClr val="07734A"/>
                </a:solidFill>
                <a:latin typeface="Verdana"/>
              </a:rPr>
              <a:t>» un excès d'humidité</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PRATIQUE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Suite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Même consigne. Les quatre derniers.</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Des déchets s'accumulent devant le local à ordures.</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calorifère ne chauffe plus même à vingt-deux degrés.</a:t>
            </a:r>
          </a:p>
        </p:txBody>
      </p:sp>
      <p:sp>
        <p:nvSpPr>
          <p:cNvPr id="16" name="Rounded Rectangle 15"/>
          <p:cNvSpPr/>
          <p:nvPr/>
        </p:nvSpPr>
        <p:spPr>
          <a:xfrm>
            <a:off x="566928" y="369316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L'eau de pluie entre par le toit.</a:t>
            </a:r>
          </a:p>
        </p:txBody>
      </p:sp>
      <p:sp>
        <p:nvSpPr>
          <p:cNvPr id="20" name="Rounded Rectangle 19"/>
          <p:cNvSpPr/>
          <p:nvPr/>
        </p:nvSpPr>
        <p:spPr>
          <a:xfrm>
            <a:off x="566928" y="4469892"/>
            <a:ext cx="11057839"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78028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84428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625340"/>
            <a:ext cx="10097719"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musique du voisin s'entend jusqu'à deux heures du matin.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Suite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Des déchets s'accumulent devant le local à ordures.   </a:t>
            </a:r>
            <a:r>
              <a:rPr sz="1900" b="1" i="0">
                <a:solidFill>
                  <a:srgbClr val="07734A"/>
                </a:solidFill>
                <a:latin typeface="Verdana"/>
              </a:rPr>
              <a:t>» de l'insalubrité</a:t>
            </a:r>
          </a:p>
        </p:txBody>
      </p:sp>
      <p:sp>
        <p:nvSpPr>
          <p:cNvPr id="12" name="Rounded Rectangle 11"/>
          <p:cNvSpPr/>
          <p:nvPr/>
        </p:nvSpPr>
        <p:spPr>
          <a:xfrm>
            <a:off x="566928" y="2916428"/>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calorifère ne chauffe plus même à vingt-deux degrés.   </a:t>
            </a:r>
            <a:r>
              <a:rPr sz="1900" b="1" i="0">
                <a:solidFill>
                  <a:srgbClr val="07734A"/>
                </a:solidFill>
                <a:latin typeface="Verdana"/>
              </a:rPr>
              <a:t>» une défectuosité</a:t>
            </a:r>
          </a:p>
        </p:txBody>
      </p:sp>
      <p:sp>
        <p:nvSpPr>
          <p:cNvPr id="16" name="Rounded Rectangle 15"/>
          <p:cNvSpPr/>
          <p:nvPr/>
        </p:nvSpPr>
        <p:spPr>
          <a:xfrm>
            <a:off x="566928" y="3693160"/>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L'eau de pluie entre par le toit.   </a:t>
            </a:r>
            <a:r>
              <a:rPr sz="1900" b="1" i="0">
                <a:solidFill>
                  <a:srgbClr val="07734A"/>
                </a:solidFill>
                <a:latin typeface="Verdana"/>
              </a:rPr>
              <a:t>» une infiltration</a:t>
            </a:r>
          </a:p>
        </p:txBody>
      </p:sp>
      <p:sp>
        <p:nvSpPr>
          <p:cNvPr id="20" name="Rounded Rectangle 19"/>
          <p:cNvSpPr/>
          <p:nvPr/>
        </p:nvSpPr>
        <p:spPr>
          <a:xfrm>
            <a:off x="566928" y="4469892"/>
            <a:ext cx="11057839"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78028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84428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625340"/>
            <a:ext cx="10097719"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musique du voisin s'entend jusqu'à deux heures du matin.   </a:t>
            </a:r>
            <a:r>
              <a:rPr sz="1900" b="1" i="0">
                <a:solidFill>
                  <a:srgbClr val="07734A"/>
                </a:solidFill>
                <a:latin typeface="Verdana"/>
              </a:rPr>
              <a:t>» un trouble de voisinage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CLASSER</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Deux questions à se poser</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27152"/>
          </a:xfrm>
          <a:prstGeom prst="rect">
            <a:avLst/>
          </a:prstGeom>
          <a:noFill/>
        </p:spPr>
        <p:txBody>
          <a:bodyPr wrap="square" lIns="0" rIns="0" tIns="0" bIns="0" anchor="t">
            <a:spAutoFit/>
          </a:bodyPr>
          <a:lstStyle/>
          <a:p>
            <a:pPr algn="l">
              <a:lnSpc>
                <a:spcPct val="118000"/>
              </a:lnSpc>
            </a:pPr>
            <a:r>
              <a:rPr sz="2000" b="1" i="0">
                <a:solidFill>
                  <a:srgbClr val="0D7A6F"/>
                </a:solidFill>
                <a:latin typeface="Verdana"/>
              </a:rPr>
              <a:t>Est-ce urgent ?</a:t>
            </a:r>
          </a:p>
        </p:txBody>
      </p:sp>
      <p:sp>
        <p:nvSpPr>
          <p:cNvPr id="9" name="TextBox 8"/>
          <p:cNvSpPr txBox="1"/>
          <p:nvPr/>
        </p:nvSpPr>
        <p:spPr>
          <a:xfrm>
            <a:off x="886968" y="2439415"/>
            <a:ext cx="4806543" cy="1149604"/>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Urgent : ce qui met en danger, ce qui abîme vite, ce qui rend le logement invivable. Un dégât d'eau, une panne de chauffage en hiver, une serrure forcée. On appelle le jour même.</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27152"/>
          </a:xfrm>
          <a:prstGeom prst="rect">
            <a:avLst/>
          </a:prstGeom>
          <a:noFill/>
        </p:spPr>
        <p:txBody>
          <a:bodyPr wrap="square" lIns="0" rIns="0" tIns="0" bIns="0" anchor="t">
            <a:spAutoFit/>
          </a:bodyPr>
          <a:lstStyle/>
          <a:p>
            <a:pPr algn="l">
              <a:lnSpc>
                <a:spcPct val="118000"/>
              </a:lnSpc>
            </a:pPr>
            <a:r>
              <a:rPr sz="2000" b="1" i="0">
                <a:solidFill>
                  <a:srgbClr val="0D7A6F"/>
                </a:solidFill>
                <a:latin typeface="Verdana"/>
              </a:rPr>
              <a:t>Ou est-ce que ça peut attendre ?</a:t>
            </a:r>
          </a:p>
        </p:txBody>
      </p:sp>
      <p:sp>
        <p:nvSpPr>
          <p:cNvPr id="12" name="TextBox 11"/>
          <p:cNvSpPr txBox="1"/>
          <p:nvPr/>
        </p:nvSpPr>
        <p:spPr>
          <a:xfrm>
            <a:off x="6498183" y="2439415"/>
            <a:ext cx="4806543" cy="1149604"/>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Un robinet qui goutte, une vitre fêlée, une porte qui coince. On signale par écrit et on laisse un délai raisonnable — mais on signale quand même.</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27152"/>
          </a:xfrm>
          <a:prstGeom prst="rect">
            <a:avLst/>
          </a:prstGeom>
          <a:noFill/>
        </p:spPr>
        <p:txBody>
          <a:bodyPr wrap="square" lIns="0" rIns="0" tIns="0" bIns="0" anchor="t">
            <a:spAutoFit/>
          </a:bodyPr>
          <a:lstStyle/>
          <a:p>
            <a:pPr algn="l">
              <a:lnSpc>
                <a:spcPct val="118000"/>
              </a:lnSpc>
            </a:pPr>
            <a:r>
              <a:rPr sz="2000" b="1" i="0">
                <a:solidFill>
                  <a:srgbClr val="0D7A6F"/>
                </a:solidFill>
                <a:latin typeface="Verdana"/>
              </a:rPr>
              <a:t>Est-ce chez moi ?</a:t>
            </a:r>
          </a:p>
        </p:txBody>
      </p:sp>
      <p:sp>
        <p:nvSpPr>
          <p:cNvPr id="15" name="TextBox 14"/>
          <p:cNvSpPr txBox="1"/>
          <p:nvPr/>
        </p:nvSpPr>
        <p:spPr>
          <a:xfrm>
            <a:off x="886968" y="4656836"/>
            <a:ext cx="4806543" cy="1149604"/>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Ce qui est à l'intérieur de mon logement : appareils, murs, plafonds, plomberie. Je m'adresse à la personne propriétaire.</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27152"/>
          </a:xfrm>
          <a:prstGeom prst="rect">
            <a:avLst/>
          </a:prstGeom>
          <a:noFill/>
        </p:spPr>
        <p:txBody>
          <a:bodyPr wrap="square" lIns="0" rIns="0" tIns="0" bIns="0" anchor="t">
            <a:spAutoFit/>
          </a:bodyPr>
          <a:lstStyle/>
          <a:p>
            <a:pPr algn="l">
              <a:lnSpc>
                <a:spcPct val="118000"/>
              </a:lnSpc>
            </a:pPr>
            <a:r>
              <a:rPr sz="2000" b="1" i="0">
                <a:solidFill>
                  <a:srgbClr val="0D7A6F"/>
                </a:solidFill>
                <a:latin typeface="Verdana"/>
              </a:rPr>
              <a:t>Ou est-ce dans l'immeuble ?</a:t>
            </a:r>
          </a:p>
        </p:txBody>
      </p:sp>
      <p:sp>
        <p:nvSpPr>
          <p:cNvPr id="18" name="TextBox 17"/>
          <p:cNvSpPr txBox="1"/>
          <p:nvPr/>
        </p:nvSpPr>
        <p:spPr>
          <a:xfrm>
            <a:off x="6498183" y="4656836"/>
            <a:ext cx="4806543" cy="1149604"/>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Corridors, escaliers, local à ordures, stationnement, entrée. Ce sont les parties communes : le concierge est le premier contact, et le problème touche tout le monde.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CLASSEMENT · 1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qui n'attend pas</a:t>
            </a:r>
          </a:p>
        </p:txBody>
      </p:sp>
      <p:sp>
        <p:nvSpPr>
          <p:cNvPr id="7" name="Rounded Rectangle 6"/>
          <p:cNvSpPr/>
          <p:nvPr/>
        </p:nvSpPr>
        <p:spPr>
          <a:xfrm>
            <a:off x="566928" y="1810512"/>
            <a:ext cx="11057839" cy="3200400"/>
          </a:xfrm>
          <a:prstGeom prst="roundRect">
            <a:avLst>
              <a:gd name="adj" fmla="val 45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SITUATION</a:t>
            </a:r>
          </a:p>
        </p:txBody>
      </p:sp>
      <p:sp>
        <p:nvSpPr>
          <p:cNvPr id="9" name="TextBox 8"/>
          <p:cNvSpPr txBox="1"/>
          <p:nvPr/>
        </p:nvSpPr>
        <p:spPr>
          <a:xfrm>
            <a:off x="4374794"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TYPE</a:t>
            </a:r>
          </a:p>
        </p:txBody>
      </p:sp>
      <p:sp>
        <p:nvSpPr>
          <p:cNvPr id="10" name="TextBox 9"/>
          <p:cNvSpPr txBox="1"/>
          <p:nvPr/>
        </p:nvSpPr>
        <p:spPr>
          <a:xfrm>
            <a:off x="7816900"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URGENCE</a:t>
            </a:r>
          </a:p>
        </p:txBody>
      </p:sp>
      <p:sp>
        <p:nvSpPr>
          <p:cNvPr id="11" name="TextBox 10"/>
          <p:cNvSpPr txBox="1"/>
          <p:nvPr/>
        </p:nvSpPr>
        <p:spPr>
          <a:xfrm>
            <a:off x="932688" y="2395728"/>
            <a:ext cx="3222650"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L'eau de pluie entre par le toit</a:t>
            </a:r>
          </a:p>
        </p:txBody>
      </p:sp>
      <p:sp>
        <p:nvSpPr>
          <p:cNvPr id="12" name="TextBox 11"/>
          <p:cNvSpPr txBox="1"/>
          <p:nvPr/>
        </p:nvSpPr>
        <p:spPr>
          <a:xfrm>
            <a:off x="4374794" y="2395728"/>
            <a:ext cx="3222650" cy="304800"/>
          </a:xfrm>
          <a:prstGeom prst="rect">
            <a:avLst/>
          </a:prstGeom>
          <a:noFill/>
        </p:spPr>
        <p:txBody>
          <a:bodyPr wrap="square" lIns="0" rIns="0" tIns="0" bIns="0" anchor="t">
            <a:spAutoFit/>
          </a:bodyPr>
          <a:lstStyle/>
          <a:p>
            <a:pPr algn="l">
              <a:lnSpc>
                <a:spcPct val="132000"/>
              </a:lnSpc>
            </a:pPr>
            <a:r>
              <a:rPr sz="1600" b="1" i="0">
                <a:solidFill>
                  <a:srgbClr val="0D7A6F"/>
                </a:solidFill>
                <a:latin typeface="Verdana"/>
              </a:rPr>
              <a:t>une infiltration</a:t>
            </a:r>
          </a:p>
        </p:txBody>
      </p:sp>
      <p:sp>
        <p:nvSpPr>
          <p:cNvPr id="13" name="TextBox 12"/>
          <p:cNvSpPr txBox="1"/>
          <p:nvPr/>
        </p:nvSpPr>
        <p:spPr>
          <a:xfrm>
            <a:off x="7816900" y="2395728"/>
            <a:ext cx="3222650"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urgent</a:t>
            </a:r>
          </a:p>
        </p:txBody>
      </p:sp>
      <p:sp>
        <p:nvSpPr>
          <p:cNvPr id="14" name="Rectangle 13"/>
          <p:cNvSpPr/>
          <p:nvPr/>
        </p:nvSpPr>
        <p:spPr>
          <a:xfrm>
            <a:off x="932688" y="277368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2901696"/>
            <a:ext cx="3222650"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Le calorifère ne chauffe plus</a:t>
            </a:r>
          </a:p>
        </p:txBody>
      </p:sp>
      <p:sp>
        <p:nvSpPr>
          <p:cNvPr id="16" name="TextBox 15"/>
          <p:cNvSpPr txBox="1"/>
          <p:nvPr/>
        </p:nvSpPr>
        <p:spPr>
          <a:xfrm>
            <a:off x="4374794" y="2901696"/>
            <a:ext cx="3222650" cy="304800"/>
          </a:xfrm>
          <a:prstGeom prst="rect">
            <a:avLst/>
          </a:prstGeom>
          <a:noFill/>
        </p:spPr>
        <p:txBody>
          <a:bodyPr wrap="square" lIns="0" rIns="0" tIns="0" bIns="0" anchor="t">
            <a:spAutoFit/>
          </a:bodyPr>
          <a:lstStyle/>
          <a:p>
            <a:pPr algn="l">
              <a:lnSpc>
                <a:spcPct val="132000"/>
              </a:lnSpc>
            </a:pPr>
            <a:r>
              <a:rPr sz="1600" b="1" i="0">
                <a:solidFill>
                  <a:srgbClr val="0D7A6F"/>
                </a:solidFill>
                <a:latin typeface="Verdana"/>
              </a:rPr>
              <a:t>une défectuosité</a:t>
            </a:r>
          </a:p>
        </p:txBody>
      </p:sp>
      <p:sp>
        <p:nvSpPr>
          <p:cNvPr id="17" name="TextBox 16"/>
          <p:cNvSpPr txBox="1"/>
          <p:nvPr/>
        </p:nvSpPr>
        <p:spPr>
          <a:xfrm>
            <a:off x="7816900" y="2901696"/>
            <a:ext cx="3222650"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urgent en hiver</a:t>
            </a:r>
          </a:p>
        </p:txBody>
      </p:sp>
      <p:sp>
        <p:nvSpPr>
          <p:cNvPr id="18" name="Rectangle 17"/>
          <p:cNvSpPr/>
          <p:nvPr/>
        </p:nvSpPr>
        <p:spPr>
          <a:xfrm>
            <a:off x="932688" y="327964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407664"/>
            <a:ext cx="3222650" cy="573024"/>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Des fourmis sortent de la plinthe</a:t>
            </a:r>
          </a:p>
        </p:txBody>
      </p:sp>
      <p:sp>
        <p:nvSpPr>
          <p:cNvPr id="20" name="TextBox 19"/>
          <p:cNvSpPr txBox="1"/>
          <p:nvPr/>
        </p:nvSpPr>
        <p:spPr>
          <a:xfrm>
            <a:off x="4374794" y="3407664"/>
            <a:ext cx="3222650" cy="573024"/>
          </a:xfrm>
          <a:prstGeom prst="rect">
            <a:avLst/>
          </a:prstGeom>
          <a:noFill/>
        </p:spPr>
        <p:txBody>
          <a:bodyPr wrap="square" lIns="0" rIns="0" tIns="0" bIns="0" anchor="t">
            <a:spAutoFit/>
          </a:bodyPr>
          <a:lstStyle/>
          <a:p>
            <a:pPr algn="l">
              <a:lnSpc>
                <a:spcPct val="132000"/>
              </a:lnSpc>
            </a:pPr>
            <a:r>
              <a:rPr sz="1600" b="1" i="0">
                <a:solidFill>
                  <a:srgbClr val="0D7A6F"/>
                </a:solidFill>
                <a:latin typeface="Verdana"/>
              </a:rPr>
              <a:t>une invasion d'insectes</a:t>
            </a:r>
          </a:p>
        </p:txBody>
      </p:sp>
      <p:sp>
        <p:nvSpPr>
          <p:cNvPr id="21" name="TextBox 20"/>
          <p:cNvSpPr txBox="1"/>
          <p:nvPr/>
        </p:nvSpPr>
        <p:spPr>
          <a:xfrm>
            <a:off x="7816900" y="3407664"/>
            <a:ext cx="3222650" cy="573024"/>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rapide</a:t>
            </a:r>
          </a:p>
        </p:txBody>
      </p:sp>
      <p:sp>
        <p:nvSpPr>
          <p:cNvPr id="22" name="Rectangle 21"/>
          <p:cNvSpPr/>
          <p:nvPr/>
        </p:nvSpPr>
        <p:spPr>
          <a:xfrm>
            <a:off x="932688" y="405384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32688" y="4181856"/>
            <a:ext cx="3222650" cy="573024"/>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Déchets devant le local à ordures</a:t>
            </a:r>
          </a:p>
        </p:txBody>
      </p:sp>
      <p:sp>
        <p:nvSpPr>
          <p:cNvPr id="24" name="TextBox 23"/>
          <p:cNvSpPr txBox="1"/>
          <p:nvPr/>
        </p:nvSpPr>
        <p:spPr>
          <a:xfrm>
            <a:off x="4374794" y="4181856"/>
            <a:ext cx="3222650" cy="573024"/>
          </a:xfrm>
          <a:prstGeom prst="rect">
            <a:avLst/>
          </a:prstGeom>
          <a:noFill/>
        </p:spPr>
        <p:txBody>
          <a:bodyPr wrap="square" lIns="0" rIns="0" tIns="0" bIns="0" anchor="t">
            <a:spAutoFit/>
          </a:bodyPr>
          <a:lstStyle/>
          <a:p>
            <a:pPr algn="l">
              <a:lnSpc>
                <a:spcPct val="132000"/>
              </a:lnSpc>
            </a:pPr>
            <a:r>
              <a:rPr sz="1600" b="1" i="0">
                <a:solidFill>
                  <a:srgbClr val="0D7A6F"/>
                </a:solidFill>
                <a:latin typeface="Verdana"/>
              </a:rPr>
              <a:t>de l'insalubrité</a:t>
            </a:r>
          </a:p>
        </p:txBody>
      </p:sp>
      <p:sp>
        <p:nvSpPr>
          <p:cNvPr id="25" name="TextBox 24"/>
          <p:cNvSpPr txBox="1"/>
          <p:nvPr/>
        </p:nvSpPr>
        <p:spPr>
          <a:xfrm>
            <a:off x="7816900" y="4181856"/>
            <a:ext cx="3222650" cy="573024"/>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rapide</a:t>
            </a:r>
          </a:p>
        </p:txBody>
      </p:sp>
      <p:sp>
        <p:nvSpPr>
          <p:cNvPr id="26" name="Rounded Rectangle 25"/>
          <p:cNvSpPr/>
          <p:nvPr/>
        </p:nvSpPr>
        <p:spPr>
          <a:xfrm>
            <a:off x="566928" y="5248656"/>
            <a:ext cx="11057839" cy="769874"/>
          </a:xfrm>
          <a:prstGeom prst="roundRect">
            <a:avLst>
              <a:gd name="adj" fmla="val 19003"/>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69264" y="5504688"/>
            <a:ext cx="10234879" cy="31267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Urgent veut dire : on téléphone le jour même, et on confirme par écrit après l'appel.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CLASSEMENT · 2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900" b="1" i="0">
                <a:solidFill>
                  <a:srgbClr val="17181A"/>
                </a:solidFill>
                <a:latin typeface="Verdana"/>
              </a:rPr>
              <a:t>Ce qui peut attendre — mais se signale quand même</a:t>
            </a:r>
          </a:p>
        </p:txBody>
      </p:sp>
      <p:sp>
        <p:nvSpPr>
          <p:cNvPr id="7" name="Rounded Rectangle 6"/>
          <p:cNvSpPr/>
          <p:nvPr/>
        </p:nvSpPr>
        <p:spPr>
          <a:xfrm>
            <a:off x="566928" y="1810512"/>
            <a:ext cx="11057839" cy="2596896"/>
          </a:xfrm>
          <a:prstGeom prst="roundRect">
            <a:avLst>
              <a:gd name="adj" fmla="val 563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SITUATION</a:t>
            </a:r>
          </a:p>
        </p:txBody>
      </p:sp>
      <p:sp>
        <p:nvSpPr>
          <p:cNvPr id="9" name="TextBox 8"/>
          <p:cNvSpPr txBox="1"/>
          <p:nvPr/>
        </p:nvSpPr>
        <p:spPr>
          <a:xfrm>
            <a:off x="4374794"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TYPE</a:t>
            </a:r>
          </a:p>
        </p:txBody>
      </p:sp>
      <p:sp>
        <p:nvSpPr>
          <p:cNvPr id="10" name="TextBox 9"/>
          <p:cNvSpPr txBox="1"/>
          <p:nvPr/>
        </p:nvSpPr>
        <p:spPr>
          <a:xfrm>
            <a:off x="7816900"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URGENCE</a:t>
            </a:r>
          </a:p>
        </p:txBody>
      </p:sp>
      <p:sp>
        <p:nvSpPr>
          <p:cNvPr id="11" name="TextBox 10"/>
          <p:cNvSpPr txBox="1"/>
          <p:nvPr/>
        </p:nvSpPr>
        <p:spPr>
          <a:xfrm>
            <a:off x="932688" y="2395728"/>
            <a:ext cx="3222650" cy="28803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La vitre de la fenêtre est cassée</a:t>
            </a:r>
          </a:p>
        </p:txBody>
      </p:sp>
      <p:sp>
        <p:nvSpPr>
          <p:cNvPr id="12" name="TextBox 11"/>
          <p:cNvSpPr txBox="1"/>
          <p:nvPr/>
        </p:nvSpPr>
        <p:spPr>
          <a:xfrm>
            <a:off x="4374794" y="2395728"/>
            <a:ext cx="3222650" cy="288036"/>
          </a:xfrm>
          <a:prstGeom prst="rect">
            <a:avLst/>
          </a:prstGeom>
          <a:noFill/>
        </p:spPr>
        <p:txBody>
          <a:bodyPr wrap="square" lIns="0" rIns="0" tIns="0" bIns="0" anchor="t">
            <a:spAutoFit/>
          </a:bodyPr>
          <a:lstStyle/>
          <a:p>
            <a:pPr algn="l">
              <a:lnSpc>
                <a:spcPct val="132000"/>
              </a:lnSpc>
            </a:pPr>
            <a:r>
              <a:rPr sz="1500" b="1" i="0">
                <a:solidFill>
                  <a:srgbClr val="0D7A6F"/>
                </a:solidFill>
                <a:latin typeface="Verdana"/>
              </a:rPr>
              <a:t>un bris</a:t>
            </a:r>
          </a:p>
        </p:txBody>
      </p:sp>
      <p:sp>
        <p:nvSpPr>
          <p:cNvPr id="13" name="TextBox 12"/>
          <p:cNvSpPr txBox="1"/>
          <p:nvPr/>
        </p:nvSpPr>
        <p:spPr>
          <a:xfrm>
            <a:off x="7816900" y="2395728"/>
            <a:ext cx="3222650" cy="28803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selon la saison</a:t>
            </a:r>
          </a:p>
        </p:txBody>
      </p:sp>
      <p:sp>
        <p:nvSpPr>
          <p:cNvPr id="14" name="Rectangle 13"/>
          <p:cNvSpPr/>
          <p:nvPr/>
        </p:nvSpPr>
        <p:spPr>
          <a:xfrm>
            <a:off x="932688" y="275691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2884932"/>
            <a:ext cx="3222650" cy="28803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Le miroir reste embué une heure</a:t>
            </a:r>
          </a:p>
        </p:txBody>
      </p:sp>
      <p:sp>
        <p:nvSpPr>
          <p:cNvPr id="16" name="TextBox 15"/>
          <p:cNvSpPr txBox="1"/>
          <p:nvPr/>
        </p:nvSpPr>
        <p:spPr>
          <a:xfrm>
            <a:off x="4374794" y="2884932"/>
            <a:ext cx="3222650" cy="288036"/>
          </a:xfrm>
          <a:prstGeom prst="rect">
            <a:avLst/>
          </a:prstGeom>
          <a:noFill/>
        </p:spPr>
        <p:txBody>
          <a:bodyPr wrap="square" lIns="0" rIns="0" tIns="0" bIns="0" anchor="t">
            <a:spAutoFit/>
          </a:bodyPr>
          <a:lstStyle/>
          <a:p>
            <a:pPr algn="l">
              <a:lnSpc>
                <a:spcPct val="132000"/>
              </a:lnSpc>
            </a:pPr>
            <a:r>
              <a:rPr sz="1500" b="1" i="0">
                <a:solidFill>
                  <a:srgbClr val="0D7A6F"/>
                </a:solidFill>
                <a:latin typeface="Verdana"/>
              </a:rPr>
              <a:t>un excès d'humidité</a:t>
            </a:r>
          </a:p>
        </p:txBody>
      </p:sp>
      <p:sp>
        <p:nvSpPr>
          <p:cNvPr id="17" name="TextBox 16"/>
          <p:cNvSpPr txBox="1"/>
          <p:nvPr/>
        </p:nvSpPr>
        <p:spPr>
          <a:xfrm>
            <a:off x="7816900" y="2884932"/>
            <a:ext cx="3222650" cy="28803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peut attendre</a:t>
            </a:r>
          </a:p>
        </p:txBody>
      </p:sp>
      <p:sp>
        <p:nvSpPr>
          <p:cNvPr id="18" name="Rectangle 17"/>
          <p:cNvSpPr/>
          <p:nvPr/>
        </p:nvSpPr>
        <p:spPr>
          <a:xfrm>
            <a:off x="932688" y="324612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374136"/>
            <a:ext cx="3222650" cy="28803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Le robinet goutte</a:t>
            </a:r>
          </a:p>
        </p:txBody>
      </p:sp>
      <p:sp>
        <p:nvSpPr>
          <p:cNvPr id="20" name="TextBox 19"/>
          <p:cNvSpPr txBox="1"/>
          <p:nvPr/>
        </p:nvSpPr>
        <p:spPr>
          <a:xfrm>
            <a:off x="4374794" y="3374136"/>
            <a:ext cx="3222650" cy="288036"/>
          </a:xfrm>
          <a:prstGeom prst="rect">
            <a:avLst/>
          </a:prstGeom>
          <a:noFill/>
        </p:spPr>
        <p:txBody>
          <a:bodyPr wrap="square" lIns="0" rIns="0" tIns="0" bIns="0" anchor="t">
            <a:spAutoFit/>
          </a:bodyPr>
          <a:lstStyle/>
          <a:p>
            <a:pPr algn="l">
              <a:lnSpc>
                <a:spcPct val="132000"/>
              </a:lnSpc>
            </a:pPr>
            <a:r>
              <a:rPr sz="1500" b="1" i="0">
                <a:solidFill>
                  <a:srgbClr val="0D7A6F"/>
                </a:solidFill>
                <a:latin typeface="Verdana"/>
              </a:rPr>
              <a:t>une fuite</a:t>
            </a:r>
          </a:p>
        </p:txBody>
      </p:sp>
      <p:sp>
        <p:nvSpPr>
          <p:cNvPr id="21" name="TextBox 20"/>
          <p:cNvSpPr txBox="1"/>
          <p:nvPr/>
        </p:nvSpPr>
        <p:spPr>
          <a:xfrm>
            <a:off x="7816900" y="3374136"/>
            <a:ext cx="3222650" cy="28803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peut attendre</a:t>
            </a:r>
          </a:p>
        </p:txBody>
      </p:sp>
      <p:sp>
        <p:nvSpPr>
          <p:cNvPr id="22" name="Rectangle 21"/>
          <p:cNvSpPr/>
          <p:nvPr/>
        </p:nvSpPr>
        <p:spPr>
          <a:xfrm>
            <a:off x="932688" y="373532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32688" y="3863339"/>
            <a:ext cx="3222650" cy="28803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La musique jusqu'à deux heures</a:t>
            </a:r>
          </a:p>
        </p:txBody>
      </p:sp>
      <p:sp>
        <p:nvSpPr>
          <p:cNvPr id="24" name="TextBox 23"/>
          <p:cNvSpPr txBox="1"/>
          <p:nvPr/>
        </p:nvSpPr>
        <p:spPr>
          <a:xfrm>
            <a:off x="4374794" y="3863339"/>
            <a:ext cx="3222650" cy="288036"/>
          </a:xfrm>
          <a:prstGeom prst="rect">
            <a:avLst/>
          </a:prstGeom>
          <a:noFill/>
        </p:spPr>
        <p:txBody>
          <a:bodyPr wrap="square" lIns="0" rIns="0" tIns="0" bIns="0" anchor="t">
            <a:spAutoFit/>
          </a:bodyPr>
          <a:lstStyle/>
          <a:p>
            <a:pPr algn="l">
              <a:lnSpc>
                <a:spcPct val="132000"/>
              </a:lnSpc>
            </a:pPr>
            <a:r>
              <a:rPr sz="1500" b="1" i="0">
                <a:solidFill>
                  <a:srgbClr val="0D7A6F"/>
                </a:solidFill>
                <a:latin typeface="Verdana"/>
              </a:rPr>
              <a:t>un trouble de voisinage</a:t>
            </a:r>
          </a:p>
        </p:txBody>
      </p:sp>
      <p:sp>
        <p:nvSpPr>
          <p:cNvPr id="25" name="TextBox 24"/>
          <p:cNvSpPr txBox="1"/>
          <p:nvPr/>
        </p:nvSpPr>
        <p:spPr>
          <a:xfrm>
            <a:off x="7816900" y="3863339"/>
            <a:ext cx="3222650" cy="28803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à documenter</a:t>
            </a:r>
          </a:p>
        </p:txBody>
      </p:sp>
      <p:sp>
        <p:nvSpPr>
          <p:cNvPr id="26" name="Rounded Rectangle 25"/>
          <p:cNvSpPr/>
          <p:nvPr/>
        </p:nvSpPr>
        <p:spPr>
          <a:xfrm>
            <a:off x="566928" y="4645152"/>
            <a:ext cx="11057839" cy="1027684"/>
          </a:xfrm>
          <a:prstGeom prst="roundRect">
            <a:avLst>
              <a:gd name="adj" fmla="val 14236"/>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69264" y="4901184"/>
            <a:ext cx="10234879" cy="57048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 À documenter » veut dire : notez les dates et les heures avant de vous plaindre. Un trouble de voisinage ne se règle pas sur un seul incident.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SIGNALER</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Ce n'est pas assez grave pour déranger.</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Je le signale par écrit, même si ça peut attendre.</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887219"/>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problème non signalé qui empire devient votre responsabilité, pas celle de la propriétaire. Une petite tache signalée par courriel en novembre reste son problème en mars ; la même tache jamais signalée devient discutable. Signaler n'oblige personne à venir le jour même — ça met simplement une date sur le problème.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15</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Classez le problème que vous avez décrit à la séance A1.</a:t>
            </a:r>
          </a:p>
        </p:txBody>
      </p:sp>
      <p:sp>
        <p:nvSpPr>
          <p:cNvPr id="8" name="Rounded Rectangle 7"/>
          <p:cNvSpPr/>
          <p:nvPr/>
        </p:nvSpPr>
        <p:spPr>
          <a:xfrm>
            <a:off x="566928" y="3931920"/>
            <a:ext cx="11057839" cy="1022096"/>
          </a:xfrm>
          <a:prstGeom prst="roundRect">
            <a:avLst>
              <a:gd name="adj" fmla="val 8946"/>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7477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Trois choses : son type · urgent ou non · dans mon logement ou dans l'immeuble.</a:t>
            </a:r>
          </a:p>
        </p:txBody>
      </p:sp>
      <p:sp>
        <p:nvSpPr>
          <p:cNvPr id="10" name="Rounded Rectangle 9"/>
          <p:cNvSpPr/>
          <p:nvPr/>
        </p:nvSpPr>
        <p:spPr>
          <a:xfrm>
            <a:off x="566928" y="5036311"/>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5191759"/>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Exemple : « une fuite · peut attendre · dans mon logement ».</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Pouvez-vous régler le problème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