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D. Quatre témoignages indépendants, à écouter d'abord en entier, puis un par un. Prévoir que le groupe reconnaisse ses propres situations : laisser un peu de place à ça.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la demande. Il n'y en a pas — Camille décrit et s'inquiète, mais ne demande rien. C'est exactement ce qu'on travaillera à la séance D2. Ne pas le dire tout de suite : laisser le groupe s'en apercevoir.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l'effet sur la personne est explicite : elle commence à sept heures. Et la formule « je ne peux plus le tolérer » est une vraie plainte. Mais il manque encore la demande.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seul des quatre témoignages complet : fait, effet, demande précise. Le faire remarquer. Noter aussi la structure « faire installer » de la séance C3.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Samir explique aussi pourquoi le problème persiste : les fenêtres ne s'ouvrent pas. Une bonne plainte contient souvent la cause, pas seulement le symptôme.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pivot de tout le bloc D. Laisser le groupe réagir avant de commenter.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Exiger la phrase complète, pas le mot seul. C'est un exercice de production orale déguisé en compréhension.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les quatre énoncés retenus sont tous des effets sur la personne, jamais des faits bruts. C'est ce qui les rend reconnaissables — et c'est ce qui donne envie d'agir.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Fermer la séance là-dessus, sans donner la formule en trois temps : elle ouvre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Rendre les billets de la séance C1 au début du cours. Ces billets, complétés, serviront de matière première à la séance D2.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situations inacceptables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personnes de l'immeuble décrivent une situation qu'elles ne tolèrent plus : les ordures, le bruit, le stationnement, l'odeur. Écoutez comment chacune s'y prend.</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quatre témoignages sur des problèmes de voisinage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dans chacun le fait, l'effet sur la personne et la demande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constater qu'une description n'est pas encore une plainte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situation à partir d'un seul énoncé.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local à ordures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 Cherchez : le fait, l'effet, la demande.</a:t>
            </a:r>
          </a:p>
        </p:txBody>
      </p:sp>
      <p:sp>
        <p:nvSpPr>
          <p:cNvPr id="8" name="Rounded Rectangle 7"/>
          <p:cNvSpPr/>
          <p:nvPr/>
        </p:nvSpPr>
        <p:spPr>
          <a:xfrm>
            <a:off x="566928" y="2157984"/>
            <a:ext cx="11057839" cy="2018284"/>
          </a:xfrm>
          <a:prstGeom prst="roundRect">
            <a:avLst>
              <a:gd name="adj" fmla="val 7248"/>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28845" cy="174396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0" name="TextBox 9"/>
          <p:cNvSpPr txBox="1"/>
          <p:nvPr/>
        </p:nvSpPr>
        <p:spPr>
          <a:xfrm>
            <a:off x="2361533" y="2322576"/>
            <a:ext cx="8714593" cy="174396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local à ordures est au bout du corridor du sous-sol. Depuis que le bac de recyclage est plein, les gens déposent leurs boîtes par terre, devant la porte. Il y a des restes de nourriture dans le tas et ça sent mauvais jusque dans l'escalier. Je pense que ça peut attirer de la vermine.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bruit du vendredi soir</a:t>
            </a:r>
          </a:p>
        </p:txBody>
      </p:sp>
      <p:sp>
        <p:nvSpPr>
          <p:cNvPr id="7" name="Rounded Rectangle 6"/>
          <p:cNvSpPr/>
          <p:nvPr/>
        </p:nvSpPr>
        <p:spPr>
          <a:xfrm>
            <a:off x="566928" y="1737360"/>
            <a:ext cx="11057839" cy="2018284"/>
          </a:xfrm>
          <a:prstGeom prst="roundRect">
            <a:avLst>
              <a:gd name="adj" fmla="val 7248"/>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77029" cy="174396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9" name="TextBox 8"/>
          <p:cNvSpPr txBox="1"/>
          <p:nvPr/>
        </p:nvSpPr>
        <p:spPr>
          <a:xfrm>
            <a:off x="2309717" y="1901952"/>
            <a:ext cx="8766409" cy="174396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Mes voisins du dessous reçoivent des amis presque tous les vendredis. Ils mettent la musique très fort et ils rient sur le balcon jusqu'à deux heures du matin. Moi, je commence à sept heures à la pharmacie. Ça fait cinq semaines que ça dure et je ne peux plus le tolérer.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stationnement</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327529"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JEAN-PHILIPPE</a:t>
            </a:r>
          </a:p>
        </p:txBody>
      </p:sp>
      <p:sp>
        <p:nvSpPr>
          <p:cNvPr id="9" name="TextBox 8"/>
          <p:cNvSpPr txBox="1"/>
          <p:nvPr/>
        </p:nvSpPr>
        <p:spPr>
          <a:xfrm>
            <a:off x="3260217" y="1901952"/>
            <a:ext cx="7815910"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visiteurs du 2C se stationnent dans les cases réservées aux locataires. La semaine passée, j'ai dû laisser mon auto dans la rue trois soirs de suite. Je demande à la propriétaire de faire installer une affiche à l'entrée du stationnement.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L'odeur de dégraissant</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1953"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9" name="TextBox 8"/>
          <p:cNvSpPr txBox="1"/>
          <p:nvPr/>
        </p:nvSpPr>
        <p:spPr>
          <a:xfrm>
            <a:off x="2084641" y="1901952"/>
            <a:ext cx="8991485"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L'atelier de vélos du rez-de-chaussée utilise un produit dégraissant très fort. L'odeur monte par la cage d'escalier et entre dans les logements du premier étage. Les fenêtres du corridor ne s'ouvrent pas. C'est vraiment désagréable, surtout le samedi matin.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contient chaque témoignage</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FAIT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DEMANDE ?</a:t>
            </a:r>
          </a:p>
        </p:txBody>
      </p:sp>
      <p:sp>
        <p:nvSpPr>
          <p:cNvPr id="11" name="TextBox 10"/>
          <p:cNvSpPr txBox="1"/>
          <p:nvPr/>
        </p:nvSpPr>
        <p:spPr>
          <a:xfrm>
            <a:off x="932688" y="2395728"/>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1 · les ordures</a:t>
            </a:r>
          </a:p>
        </p:txBody>
      </p:sp>
      <p:sp>
        <p:nvSpPr>
          <p:cNvPr id="12" name="TextBox 11"/>
          <p:cNvSpPr txBox="1"/>
          <p:nvPr/>
        </p:nvSpPr>
        <p:spPr>
          <a:xfrm>
            <a:off x="4374794" y="2395728"/>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boîtes par terre, ça sent mauvais</a:t>
            </a:r>
          </a:p>
        </p:txBody>
      </p:sp>
      <p:sp>
        <p:nvSpPr>
          <p:cNvPr id="13" name="TextBox 12"/>
          <p:cNvSpPr txBox="1"/>
          <p:nvPr/>
        </p:nvSpPr>
        <p:spPr>
          <a:xfrm>
            <a:off x="7816900" y="2395728"/>
            <a:ext cx="3222650"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14" name="Rectangle 13"/>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169920"/>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2 · le bruit</a:t>
            </a:r>
          </a:p>
        </p:txBody>
      </p:sp>
      <p:sp>
        <p:nvSpPr>
          <p:cNvPr id="16" name="TextBox 15"/>
          <p:cNvSpPr txBox="1"/>
          <p:nvPr/>
        </p:nvSpPr>
        <p:spPr>
          <a:xfrm>
            <a:off x="4374794" y="3169920"/>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musique jusqu'à deux heures</a:t>
            </a:r>
          </a:p>
        </p:txBody>
      </p:sp>
      <p:sp>
        <p:nvSpPr>
          <p:cNvPr id="17" name="TextBox 16"/>
          <p:cNvSpPr txBox="1"/>
          <p:nvPr/>
        </p:nvSpPr>
        <p:spPr>
          <a:xfrm>
            <a:off x="7816900" y="3169920"/>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18" name="Rectangle 17"/>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675887"/>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3 · le stationnement</a:t>
            </a:r>
          </a:p>
        </p:txBody>
      </p:sp>
      <p:sp>
        <p:nvSpPr>
          <p:cNvPr id="20" name="TextBox 19"/>
          <p:cNvSpPr txBox="1"/>
          <p:nvPr/>
        </p:nvSpPr>
        <p:spPr>
          <a:xfrm>
            <a:off x="4374794" y="3675887"/>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visiteurs dans les cases</a:t>
            </a:r>
          </a:p>
        </p:txBody>
      </p:sp>
      <p:sp>
        <p:nvSpPr>
          <p:cNvPr id="21" name="TextBox 20"/>
          <p:cNvSpPr txBox="1"/>
          <p:nvPr/>
        </p:nvSpPr>
        <p:spPr>
          <a:xfrm>
            <a:off x="7816900" y="3675887"/>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affiche à l'entrée</a:t>
            </a:r>
          </a:p>
        </p:txBody>
      </p:sp>
      <p:sp>
        <p:nvSpPr>
          <p:cNvPr id="22" name="Rectangle 21"/>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4 · l'odeur</a:t>
            </a:r>
          </a:p>
        </p:txBody>
      </p:sp>
      <p:sp>
        <p:nvSpPr>
          <p:cNvPr id="24" name="TextBox 23"/>
          <p:cNvSpPr txBox="1"/>
          <p:nvPr/>
        </p:nvSpPr>
        <p:spPr>
          <a:xfrm>
            <a:off x="4374794"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dégraissant très fort</a:t>
            </a:r>
          </a:p>
        </p:txBody>
      </p:sp>
      <p:sp>
        <p:nvSpPr>
          <p:cNvPr id="25" name="TextBox 24"/>
          <p:cNvSpPr txBox="1"/>
          <p:nvPr/>
        </p:nvSpPr>
        <p:spPr>
          <a:xfrm>
            <a:off x="7816900" y="4181856"/>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26" name="Rounded Rectangle 25"/>
          <p:cNvSpPr/>
          <p:nvPr/>
        </p:nvSpPr>
        <p:spPr>
          <a:xfrm>
            <a:off x="566928" y="498043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23646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Trois témoignages sur quatre n'aboutiront probablement à rien. Ce n'est pas parce qu'ils sont mal dits : c'est parce qu'il leur manque la dernière phrase.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situations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par une phrase complète.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Où les gens déposent-ils leurs boîtes ?</a:t>
            </a:r>
          </a:p>
        </p:txBody>
      </p:sp>
      <p:sp>
        <p:nvSpPr>
          <p:cNvPr id="12" name="Rounded Rectangle 11"/>
          <p:cNvSpPr/>
          <p:nvPr/>
        </p:nvSpPr>
        <p:spPr>
          <a:xfrm>
            <a:off x="566928" y="321868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Qu'est-ce que Camille craint que cela attire ?</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Depuis combien de temps la situation dure-t-elle ?</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Pourquoi le bruit dérange-t-il autant Oksana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situations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Où les gens déposent-ils leurs boîtes ?   </a:t>
            </a:r>
            <a:r>
              <a:rPr sz="1800" b="1" i="0">
                <a:solidFill>
                  <a:srgbClr val="07734A"/>
                </a:solidFill>
                <a:latin typeface="Verdana"/>
              </a:rPr>
              <a:t>» Par terre, devant la porte du local à ordures.</a:t>
            </a:r>
          </a:p>
        </p:txBody>
      </p:sp>
      <p:sp>
        <p:nvSpPr>
          <p:cNvPr id="12" name="Rounded Rectangle 11"/>
          <p:cNvSpPr/>
          <p:nvPr/>
        </p:nvSpPr>
        <p:spPr>
          <a:xfrm>
            <a:off x="566928" y="321868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Qu'est-ce que Camille craint que cela attire ?   </a:t>
            </a:r>
            <a:r>
              <a:rPr sz="1800" b="1" i="0">
                <a:solidFill>
                  <a:srgbClr val="07734A"/>
                </a:solidFill>
                <a:latin typeface="Verdana"/>
              </a:rPr>
              <a:t>» De la vermine.</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Depuis combien de temps la situation dure-t-elle ?   </a:t>
            </a:r>
            <a:r>
              <a:rPr sz="1800" b="1" i="0">
                <a:solidFill>
                  <a:srgbClr val="07734A"/>
                </a:solidFill>
                <a:latin typeface="Verdana"/>
              </a:rPr>
              <a:t>» Depuis cinq semaines.</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Pourquoi le bruit dérange-t-il autant Oksana ?   </a:t>
            </a:r>
            <a:r>
              <a:rPr sz="1800" b="1" i="0">
                <a:solidFill>
                  <a:srgbClr val="07734A"/>
                </a:solidFill>
                <a:latin typeface="Verdana"/>
              </a:rPr>
              <a:t>» Parce qu'elle commence à travailler à sept heures le matin.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Quel est le problème avec les visiteurs du 2C ?</a:t>
            </a:r>
          </a:p>
        </p:txBody>
      </p:sp>
      <p:sp>
        <p:nvSpPr>
          <p:cNvPr id="12" name="Rounded Rectangle 11"/>
          <p:cNvSpPr/>
          <p:nvPr/>
        </p:nvSpPr>
        <p:spPr>
          <a:xfrm>
            <a:off x="566928" y="321868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 demande Jean-Philippe à la propriétaire ?</a:t>
            </a:r>
          </a:p>
        </p:txBody>
      </p:sp>
      <p:sp>
        <p:nvSpPr>
          <p:cNvPr id="16" name="Rounded Rectangle 15"/>
          <p:cNvSpPr/>
          <p:nvPr/>
        </p:nvSpPr>
        <p:spPr>
          <a:xfrm>
            <a:off x="566928" y="429768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Par où l'odeur monte-t-elle ?</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Pourquoi l'odeur reste-t-elle dans le corridor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Quel est le problème avec les visiteurs du 2C ?   </a:t>
            </a:r>
            <a:r>
              <a:rPr sz="1800" b="1" i="0">
                <a:solidFill>
                  <a:srgbClr val="07734A"/>
                </a:solidFill>
                <a:latin typeface="Verdana"/>
              </a:rPr>
              <a:t>» Ils se stationnent dans les cases réservées aux locataires.</a:t>
            </a:r>
          </a:p>
        </p:txBody>
      </p:sp>
      <p:sp>
        <p:nvSpPr>
          <p:cNvPr id="12" name="Rounded Rectangle 11"/>
          <p:cNvSpPr/>
          <p:nvPr/>
        </p:nvSpPr>
        <p:spPr>
          <a:xfrm>
            <a:off x="566928" y="321868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 demande Jean-Philippe à la propriétaire ?   </a:t>
            </a:r>
            <a:r>
              <a:rPr sz="1800" b="1" i="0">
                <a:solidFill>
                  <a:srgbClr val="07734A"/>
                </a:solidFill>
                <a:latin typeface="Verdana"/>
              </a:rPr>
              <a:t>» De faire installer une affiche à l'entrée du stationnement.</a:t>
            </a:r>
          </a:p>
        </p:txBody>
      </p:sp>
      <p:sp>
        <p:nvSpPr>
          <p:cNvPr id="16" name="Rounded Rectangle 15"/>
          <p:cNvSpPr/>
          <p:nvPr/>
        </p:nvSpPr>
        <p:spPr>
          <a:xfrm>
            <a:off x="566928" y="429768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Par où l'odeur monte-t-elle ?   </a:t>
            </a:r>
            <a:r>
              <a:rPr sz="1800" b="1" i="0">
                <a:solidFill>
                  <a:srgbClr val="07734A"/>
                </a:solidFill>
                <a:latin typeface="Verdana"/>
              </a:rPr>
              <a:t>» Par la cage d'escalier.</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Pourquoi l'odeur reste-t-elle dans le corridor ?   </a:t>
            </a:r>
            <a:r>
              <a:rPr sz="1800" b="1" i="0">
                <a:solidFill>
                  <a:srgbClr val="07734A"/>
                </a:solidFill>
                <a:latin typeface="Verdana"/>
              </a:rPr>
              <a:t>» Parce que les fenêtres du corridor ne s'ouvrent pas.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quelle situation cet énoncé correspond-il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seul énoncé suffit à reconnaître la situation.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m'empêche de dormir avant mon quart du matin.</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peut attirer de la vermine et devenir insalubre.</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dois laisser mon auto dans la rue trois soirs de suite.</a:t>
            </a:r>
          </a:p>
        </p:txBody>
      </p:sp>
      <p:sp>
        <p:nvSpPr>
          <p:cNvPr id="20" name="Rounded Rectangle 19"/>
          <p:cNvSpPr/>
          <p:nvPr/>
        </p:nvSpPr>
        <p:spPr>
          <a:xfrm>
            <a:off x="566928" y="4807711"/>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entre dans les logements et ne part pas.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quelle situation cet énoncé correspond-il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m'empêche de dormir avant mon quart du matin.   </a:t>
            </a:r>
            <a:r>
              <a:rPr sz="1900" b="1" i="0">
                <a:solidFill>
                  <a:srgbClr val="07734A"/>
                </a:solidFill>
                <a:latin typeface="Verdana"/>
              </a:rPr>
              <a:t>» situation 2 — le bruit</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peut attirer de la vermine et devenir insalubre.   </a:t>
            </a:r>
            <a:r>
              <a:rPr sz="1900" b="1" i="0">
                <a:solidFill>
                  <a:srgbClr val="07734A"/>
                </a:solidFill>
                <a:latin typeface="Verdana"/>
              </a:rPr>
              <a:t>» situation 1 — les ordures</a:t>
            </a:r>
          </a:p>
        </p:txBody>
      </p:sp>
      <p:sp>
        <p:nvSpPr>
          <p:cNvPr id="16" name="Rounded Rectangle 15"/>
          <p:cNvSpPr/>
          <p:nvPr/>
        </p:nvSpPr>
        <p:spPr>
          <a:xfrm>
            <a:off x="566928" y="369316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dois laisser mon auto dans la rue trois soirs de suite.   </a:t>
            </a:r>
            <a:r>
              <a:rPr sz="1900" b="1" i="0">
                <a:solidFill>
                  <a:srgbClr val="07734A"/>
                </a:solidFill>
                <a:latin typeface="Verdana"/>
              </a:rPr>
              <a:t>» situation 3 — le stationnement</a:t>
            </a:r>
          </a:p>
        </p:txBody>
      </p:sp>
      <p:sp>
        <p:nvSpPr>
          <p:cNvPr id="20" name="Rounded Rectangle 19"/>
          <p:cNvSpPr/>
          <p:nvPr/>
        </p:nvSpPr>
        <p:spPr>
          <a:xfrm>
            <a:off x="566928" y="4807711"/>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entre dans les logements et ne part pas.   </a:t>
            </a:r>
            <a:r>
              <a:rPr sz="1900" b="1" i="0">
                <a:solidFill>
                  <a:srgbClr val="07734A"/>
                </a:solidFill>
                <a:latin typeface="Verdana"/>
              </a:rPr>
              <a:t>» situation 4 — le dégraissant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LA SÉANCE A MONTRÉ</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Décrire une situation ne suffit pas à la faire changer.</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quatre personnes ont raison, et toutes décrivent bien. Mais trois sur quatre s'arrêtent avant la dernière phrase — celle qui dit ce qu'on attend. C'est cette phrase qu'on apprend à écrire à la prochaine séance.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Reprenez le problème de partie commune que vous avez écrit à la séance C1.</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phrase : l'effet que ça a sur vous, personnellement.</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Les machines restent pleines toute la journée. Je dois refaire ma lessive le soir.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