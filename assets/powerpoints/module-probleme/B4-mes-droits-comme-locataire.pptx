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culture et de droits. Beaucoup d'élèves ignorent l'existence du TAL, ou le croient réservé aux propriétaires. Prévoir des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dessiner les trois marches dans le cahier. C'est le schéma le plus utile de tout le module.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écrire le courriel complet au tableau, collectivement, à partir des quatre éléments. Trois lignes, pas plus.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Relier à la séance A1 : c'est exactement le conseil de Bertrand, mais on sait maintenant pourquoi.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carte est celle qui rassure le plus. Insister : on peut se présenter seul et expliquer sa situation dans ses mots.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dernier cas surprend : un refus écrit n'est pas une mauvaise nouvelle, c'est la meilleure preuve possible devant le tribunal.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copier ces cinq phrases. Elles serviront à la production écrite de la séance E1.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dire deux fois. C'est une erreur qui coûte très cher et que des gens de bonne foi commettent chaque année.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qu'un courriel de confirmation n'est pas un geste hostile. Beaucoup d'élèves craignent de paraître méfiants.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répondre le groupe avant d'afficher la correction. Laisser du silence : les élèves lisent plus lentement qu'on ne le croit.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 du bloc B. Ramasser les billets : ils constituent un premier brouillon de la production écrite de la séance E1.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B4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Mes droits comme locataire</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problème de logement se règle presque toujours par étapes, et sauter une marche fait perdre du temps. On parle, on écrit, et seulement si rien ne bouge, on s'adresse au Tribunal administratif du logement.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Pouvez-vous régler le problème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connaître les trois marches d'un problème de logement, dans l'ordre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 avis écrit qui contient les quatre éléments nécessaires ;</a:t>
            </a:r>
          </a:p>
        </p:txBody>
      </p:sp>
      <p:sp>
        <p:nvSpPr>
          <p:cNvPr id="15" name="Rounded Rectangle 14"/>
          <p:cNvSpPr/>
          <p:nvPr/>
        </p:nvSpPr>
        <p:spPr>
          <a:xfrm>
            <a:off x="566928" y="3536696"/>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8922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9745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qu'est le Tribunal administratif du logement et quand s'y adresser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qu'il ne faut jamais faire, même quand une réparation traîne.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LES TROIS MARCHES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Dans cet ordre, jamais autrement</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72110"/>
          </a:xfrm>
          <a:prstGeom prst="rect">
            <a:avLst/>
          </a:prstGeom>
          <a:noFill/>
        </p:spPr>
        <p:txBody>
          <a:bodyPr wrap="square" lIns="0" rIns="0" tIns="0" bIns="0" anchor="t">
            <a:spAutoFit/>
          </a:bodyPr>
          <a:lstStyle/>
          <a:p>
            <a:pPr algn="l">
              <a:lnSpc>
                <a:spcPct val="118000"/>
              </a:lnSpc>
            </a:pPr>
            <a:r>
              <a:rPr sz="2300" b="1" i="0">
                <a:solidFill>
                  <a:srgbClr val="1D6B8F"/>
                </a:solidFill>
                <a:latin typeface="Verdana"/>
              </a:rPr>
              <a:t>1 · On parle</a:t>
            </a:r>
          </a:p>
        </p:txBody>
      </p:sp>
      <p:sp>
        <p:nvSpPr>
          <p:cNvPr id="9" name="TextBox 8"/>
          <p:cNvSpPr txBox="1"/>
          <p:nvPr/>
        </p:nvSpPr>
        <p:spPr>
          <a:xfrm>
            <a:off x="886968" y="2484373"/>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appel, une conversation dans l'entrée. C'est là que neuf problèmes sur dix se règlent. Rapide, direct, sans conflit.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72110"/>
          </a:xfrm>
          <a:prstGeom prst="rect">
            <a:avLst/>
          </a:prstGeom>
          <a:noFill/>
        </p:spPr>
        <p:txBody>
          <a:bodyPr wrap="square" lIns="0" rIns="0" tIns="0" bIns="0" anchor="t">
            <a:spAutoFit/>
          </a:bodyPr>
          <a:lstStyle/>
          <a:p>
            <a:pPr algn="l">
              <a:lnSpc>
                <a:spcPct val="118000"/>
              </a:lnSpc>
            </a:pPr>
            <a:r>
              <a:rPr sz="2300" b="1" i="0">
                <a:solidFill>
                  <a:srgbClr val="1D6B8F"/>
                </a:solidFill>
                <a:latin typeface="Verdana"/>
              </a:rPr>
              <a:t>2 · On écrit</a:t>
            </a:r>
          </a:p>
        </p:txBody>
      </p:sp>
      <p:sp>
        <p:nvSpPr>
          <p:cNvPr id="12" name="TextBox 11"/>
          <p:cNvSpPr txBox="1"/>
          <p:nvPr/>
        </p:nvSpPr>
        <p:spPr>
          <a:xfrm>
            <a:off x="6498183" y="2484373"/>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courriel daté qui reprend ce qui a été dit. Ça ne remplace pas l'appel : ça le double. Cette marche existe surtout pour protéger la troisième.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72110"/>
          </a:xfrm>
          <a:prstGeom prst="rect">
            <a:avLst/>
          </a:prstGeom>
          <a:noFill/>
        </p:spPr>
        <p:txBody>
          <a:bodyPr wrap="square" lIns="0" rIns="0" tIns="0" bIns="0" anchor="t">
            <a:spAutoFit/>
          </a:bodyPr>
          <a:lstStyle/>
          <a:p>
            <a:pPr algn="l">
              <a:lnSpc>
                <a:spcPct val="118000"/>
              </a:lnSpc>
            </a:pPr>
            <a:r>
              <a:rPr sz="2300" b="1" i="0">
                <a:solidFill>
                  <a:srgbClr val="1D6B8F"/>
                </a:solidFill>
                <a:latin typeface="Verdana"/>
              </a:rPr>
              <a:t>3 · On dépose une demande</a:t>
            </a:r>
          </a:p>
        </p:txBody>
      </p:sp>
      <p:sp>
        <p:nvSpPr>
          <p:cNvPr id="15" name="TextBox 14"/>
          <p:cNvSpPr txBox="1"/>
          <p:nvPr/>
        </p:nvSpPr>
        <p:spPr>
          <a:xfrm>
            <a:off x="886968" y="4701794"/>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Au Tribunal administratif du logement, si rien ne bouge. C'est un recours, pas un premier réflexe.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72110"/>
          </a:xfrm>
          <a:prstGeom prst="rect">
            <a:avLst/>
          </a:prstGeom>
          <a:noFill/>
        </p:spPr>
        <p:txBody>
          <a:bodyPr wrap="square" lIns="0" rIns="0" tIns="0" bIns="0" anchor="t">
            <a:spAutoFit/>
          </a:bodyPr>
          <a:lstStyle/>
          <a:p>
            <a:pPr algn="l">
              <a:lnSpc>
                <a:spcPct val="118000"/>
              </a:lnSpc>
            </a:pPr>
            <a:r>
              <a:rPr sz="2300" b="1" i="0">
                <a:solidFill>
                  <a:srgbClr val="1D6B8F"/>
                </a:solidFill>
                <a:latin typeface="Verdana"/>
              </a:rPr>
              <a:t>Pourquoi l'ordre compte</a:t>
            </a:r>
          </a:p>
        </p:txBody>
      </p:sp>
      <p:sp>
        <p:nvSpPr>
          <p:cNvPr id="18" name="TextBox 17"/>
          <p:cNvSpPr txBox="1"/>
          <p:nvPr/>
        </p:nvSpPr>
        <p:spPr>
          <a:xfrm>
            <a:off x="6498183" y="4701794"/>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Sauter la marche 1 braque la personne propriétaire pour rien. Sauter la marche 2 rend la marche 3 presque impossible : sans écrit, il ne reste que votre parole contre la sienne.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contient un bon avis écrit</a:t>
            </a:r>
          </a:p>
        </p:txBody>
      </p:sp>
      <p:sp>
        <p:nvSpPr>
          <p:cNvPr id="7" name="Rounded Rectangle 6"/>
          <p:cNvSpPr/>
          <p:nvPr/>
        </p:nvSpPr>
        <p:spPr>
          <a:xfrm>
            <a:off x="566928" y="1810512"/>
            <a:ext cx="11057839" cy="3015996"/>
          </a:xfrm>
          <a:prstGeom prst="roundRect">
            <a:avLst>
              <a:gd name="adj" fmla="val 485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ÉLÉMENT</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EXEMPLE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POURQUOI</a:t>
            </a:r>
          </a:p>
        </p:txBody>
      </p:sp>
      <p:sp>
        <p:nvSpPr>
          <p:cNvPr id="11" name="TextBox 10"/>
          <p:cNvSpPr txBox="1"/>
          <p:nvPr/>
        </p:nvSpPr>
        <p:spPr>
          <a:xfrm>
            <a:off x="932688" y="2395728"/>
            <a:ext cx="3222650"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 fait</a:t>
            </a:r>
          </a:p>
        </p:txBody>
      </p:sp>
      <p:sp>
        <p:nvSpPr>
          <p:cNvPr id="12" name="TextBox 11"/>
          <p:cNvSpPr txBox="1"/>
          <p:nvPr/>
        </p:nvSpPr>
        <p:spPr>
          <a:xfrm>
            <a:off x="4374794" y="2395728"/>
            <a:ext cx="3222650" cy="606552"/>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 calorifère ne chauffe plus</a:t>
            </a:r>
          </a:p>
        </p:txBody>
      </p:sp>
      <p:sp>
        <p:nvSpPr>
          <p:cNvPr id="13" name="TextBox 12"/>
          <p:cNvSpPr txBox="1"/>
          <p:nvPr/>
        </p:nvSpPr>
        <p:spPr>
          <a:xfrm>
            <a:off x="7816900" y="2395728"/>
            <a:ext cx="3222650"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 qui ne va pas</a:t>
            </a:r>
          </a:p>
        </p:txBody>
      </p:sp>
      <p:sp>
        <p:nvSpPr>
          <p:cNvPr id="14" name="Rectangle 13"/>
          <p:cNvSpPr/>
          <p:nvPr/>
        </p:nvSpPr>
        <p:spPr>
          <a:xfrm>
            <a:off x="932688" y="307543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203448"/>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Depuis quand</a:t>
            </a:r>
          </a:p>
        </p:txBody>
      </p:sp>
      <p:sp>
        <p:nvSpPr>
          <p:cNvPr id="16" name="TextBox 15"/>
          <p:cNvSpPr txBox="1"/>
          <p:nvPr/>
        </p:nvSpPr>
        <p:spPr>
          <a:xfrm>
            <a:off x="4374794" y="3203448"/>
            <a:ext cx="3222650"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depuis le 4 novembre</a:t>
            </a:r>
          </a:p>
        </p:txBody>
      </p:sp>
      <p:sp>
        <p:nvSpPr>
          <p:cNvPr id="17" name="TextBox 16"/>
          <p:cNvSpPr txBox="1"/>
          <p:nvPr/>
        </p:nvSpPr>
        <p:spPr>
          <a:xfrm>
            <a:off x="7816900" y="3203448"/>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c'est la date qui compte</a:t>
            </a:r>
          </a:p>
        </p:txBody>
      </p:sp>
      <p:sp>
        <p:nvSpPr>
          <p:cNvPr id="18" name="Rectangle 17"/>
          <p:cNvSpPr/>
          <p:nvPr/>
        </p:nvSpPr>
        <p:spPr>
          <a:xfrm>
            <a:off x="932688" y="35981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726180"/>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L'effet</a:t>
            </a:r>
          </a:p>
        </p:txBody>
      </p:sp>
      <p:sp>
        <p:nvSpPr>
          <p:cNvPr id="20" name="TextBox 19"/>
          <p:cNvSpPr txBox="1"/>
          <p:nvPr/>
        </p:nvSpPr>
        <p:spPr>
          <a:xfrm>
            <a:off x="4374794" y="3726180"/>
            <a:ext cx="3222650"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il fait 14 °C chez moi</a:t>
            </a:r>
          </a:p>
        </p:txBody>
      </p:sp>
      <p:sp>
        <p:nvSpPr>
          <p:cNvPr id="21" name="TextBox 20"/>
          <p:cNvSpPr txBox="1"/>
          <p:nvPr/>
        </p:nvSpPr>
        <p:spPr>
          <a:xfrm>
            <a:off x="7816900" y="3726180"/>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chiffre dit l'urgence</a:t>
            </a:r>
          </a:p>
        </p:txBody>
      </p:sp>
      <p:sp>
        <p:nvSpPr>
          <p:cNvPr id="22" name="Rectangle 21"/>
          <p:cNvSpPr/>
          <p:nvPr/>
        </p:nvSpPr>
        <p:spPr>
          <a:xfrm>
            <a:off x="932688" y="41208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248912"/>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 demande</a:t>
            </a:r>
          </a:p>
        </p:txBody>
      </p:sp>
      <p:sp>
        <p:nvSpPr>
          <p:cNvPr id="24" name="TextBox 23"/>
          <p:cNvSpPr txBox="1"/>
          <p:nvPr/>
        </p:nvSpPr>
        <p:spPr>
          <a:xfrm>
            <a:off x="4374794" y="4248912"/>
            <a:ext cx="3222650"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faire venir un électricien</a:t>
            </a:r>
          </a:p>
        </p:txBody>
      </p:sp>
      <p:sp>
        <p:nvSpPr>
          <p:cNvPr id="25" name="TextBox 24"/>
          <p:cNvSpPr txBox="1"/>
          <p:nvPr/>
        </p:nvSpPr>
        <p:spPr>
          <a:xfrm>
            <a:off x="7816900" y="4248912"/>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 que vous voulez</a:t>
            </a:r>
          </a:p>
        </p:txBody>
      </p:sp>
      <p:sp>
        <p:nvSpPr>
          <p:cNvPr id="26" name="Rounded Rectangle 25"/>
          <p:cNvSpPr/>
          <p:nvPr/>
        </p:nvSpPr>
        <p:spPr>
          <a:xfrm>
            <a:off x="566928" y="5064252"/>
            <a:ext cx="11057839" cy="1027684"/>
          </a:xfrm>
          <a:prstGeom prst="roundRect">
            <a:avLst>
              <a:gd name="adj" fmla="val 14236"/>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9264" y="5320284"/>
            <a:ext cx="10234879" cy="57048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Un courriel de trois lignes suffit s'il contient ces quatre éléments. C'est exactement la structure d'une plainte à l'oral — fait, effet, demande — avec une date en plus.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POURQUOI LA DATE CHANGE TOUT</a:t>
            </a:r>
          </a:p>
        </p:txBody>
      </p:sp>
      <p:sp>
        <p:nvSpPr>
          <p:cNvPr id="6" name="Rounded Rectangle 5"/>
          <p:cNvSpPr/>
          <p:nvPr/>
        </p:nvSpPr>
        <p:spPr>
          <a:xfrm>
            <a:off x="566928" y="1225296"/>
            <a:ext cx="11057839" cy="2355342"/>
          </a:xfrm>
          <a:prstGeom prst="roundRect">
            <a:avLst>
              <a:gd name="adj" fmla="val 621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532382"/>
          </a:xfrm>
          <a:prstGeom prst="rect">
            <a:avLst/>
          </a:prstGeom>
          <a:noFill/>
        </p:spPr>
        <p:txBody>
          <a:bodyPr wrap="square" lIns="0" rIns="0" tIns="0" bIns="0" anchor="t">
            <a:spAutoFit/>
          </a:bodyPr>
          <a:lstStyle/>
          <a:p>
            <a:pPr algn="l">
              <a:lnSpc>
                <a:spcPct val="122000"/>
              </a:lnSpc>
            </a:pPr>
            <a:r>
              <a:rPr sz="3100" b="1" i="0">
                <a:solidFill>
                  <a:srgbClr val="17181A"/>
                </a:solidFill>
                <a:latin typeface="Verdana"/>
              </a:rPr>
              <a:t>Devant le tribunal, la question n'est pas « le problème existe-t-il ? » mais « depuis quand la propriétaire le sait-elle ? »</a:t>
            </a:r>
          </a:p>
        </p:txBody>
      </p:sp>
      <p:sp>
        <p:nvSpPr>
          <p:cNvPr id="8" name="Rounded Rectangle 7"/>
          <p:cNvSpPr/>
          <p:nvPr/>
        </p:nvSpPr>
        <p:spPr>
          <a:xfrm>
            <a:off x="566928" y="3854958"/>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129278"/>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courriel envoyé le 4 novembre prouve qu'elle savait le 4 novembre. Un appel téléphonique ne prouve rien. Gardez aussi vos photos avec la date, et notez l'heure de chaque appel. Ça prend trente secondes et ça vaut beaucoup plus tard.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TRIBUNAL ADMINISTRATIF DU LOGEMENT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qu'il faut en savoir</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Ce que c'est</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L'organisme public du Québec qui tranche les désaccords entre locataires et propriétaires. C'est le nouveau nom de la Régie du logement, créée en 1980.</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Ce qu'il fait</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Il informe les deux parties sur leurs droits et leurs obligations, et il décide quand elles n'arrivent pas à s'entendre : loyer, réparations, bail, expulsion.</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Ce qu'on y trouve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service téléphonique, des rencontres individuelles, de la documentation gratuite, et des formulaires officiels — dont le modèle de bail obligatoire au Québec.</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Bon à savoir</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Déposer une demande coûte quelques dizaines de dollars. Il n'est pas obligatoire d'être représenté par un avocat : beaucoup de gens s'y présentent seuls.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marche pour quelle situation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Marche 1 : on parle. Marche 2 : on écrit. Marche 3 : on dépose une demande.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robinet goutte depuis hier.</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Deux courriels sans réponse depuis un mois.</a:t>
            </a:r>
          </a:p>
        </p:txBody>
      </p:sp>
      <p:sp>
        <p:nvSpPr>
          <p:cNvPr id="16" name="Rounded Rectangle 15"/>
          <p:cNvSpPr/>
          <p:nvPr/>
        </p:nvSpPr>
        <p:spPr>
          <a:xfrm>
            <a:off x="566928" y="3693160"/>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0354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67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chauffage est mort, il fait 14 °C.</a:t>
            </a:r>
          </a:p>
        </p:txBody>
      </p:sp>
      <p:sp>
        <p:nvSpPr>
          <p:cNvPr id="20" name="Rounded Rectangle 19"/>
          <p:cNvSpPr/>
          <p:nvPr/>
        </p:nvSpPr>
        <p:spPr>
          <a:xfrm>
            <a:off x="566928" y="4807711"/>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118099"/>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18210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963159"/>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propriétaire refuse par écrit de réparer.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marche pour quelle situation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robinet goutte depuis hier.   </a:t>
            </a:r>
            <a:r>
              <a:rPr sz="1900" b="1" i="0">
                <a:solidFill>
                  <a:srgbClr val="07734A"/>
                </a:solidFill>
                <a:latin typeface="Verdana"/>
              </a:rPr>
              <a:t>» marche 1 — un simple appel suffit</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Deux courriels sans réponse depuis un mois.   </a:t>
            </a:r>
            <a:r>
              <a:rPr sz="1900" b="1" i="0">
                <a:solidFill>
                  <a:srgbClr val="07734A"/>
                </a:solidFill>
                <a:latin typeface="Verdana"/>
              </a:rPr>
              <a:t>» marche 3 — l'écrit a déjà été fait</a:t>
            </a:r>
          </a:p>
        </p:txBody>
      </p:sp>
      <p:sp>
        <p:nvSpPr>
          <p:cNvPr id="16" name="Rounded Rectangle 15"/>
          <p:cNvSpPr/>
          <p:nvPr/>
        </p:nvSpPr>
        <p:spPr>
          <a:xfrm>
            <a:off x="566928" y="3693160"/>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0354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67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chauffage est mort, il fait 14 °C.   </a:t>
            </a:r>
            <a:r>
              <a:rPr sz="1900" b="1" i="0">
                <a:solidFill>
                  <a:srgbClr val="07734A"/>
                </a:solidFill>
                <a:latin typeface="Verdana"/>
              </a:rPr>
              <a:t>» marches 1 et 2 le même jour — c'est urgent</a:t>
            </a:r>
          </a:p>
        </p:txBody>
      </p:sp>
      <p:sp>
        <p:nvSpPr>
          <p:cNvPr id="20" name="Rounded Rectangle 19"/>
          <p:cNvSpPr/>
          <p:nvPr/>
        </p:nvSpPr>
        <p:spPr>
          <a:xfrm>
            <a:off x="566928" y="4807711"/>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118099"/>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18210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963159"/>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propriétaire refuse par écrit de réparer.   </a:t>
            </a:r>
            <a:r>
              <a:rPr sz="1900" b="1" i="0">
                <a:solidFill>
                  <a:srgbClr val="07734A"/>
                </a:solidFill>
                <a:latin typeface="Verdana"/>
              </a:rPr>
              <a:t>» marche 3 — le refus écrit est votre preuve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ÉCRIRE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Des phrases à réutiliser telles quelles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4372523" cy="568756"/>
          </a:xfrm>
          <a:prstGeom prst="rect">
            <a:avLst/>
          </a:prstGeom>
          <a:noFill/>
        </p:spPr>
        <p:txBody>
          <a:bodyPr wrap="square" lIns="0" rIns="0" tIns="0" bIns="0" anchor="t">
            <a:spAutoFit/>
          </a:bodyPr>
          <a:lstStyle/>
          <a:p>
            <a:pPr algn="l">
              <a:lnSpc>
                <a:spcPct val="128000"/>
              </a:lnSpc>
            </a:pPr>
            <a:r>
              <a:rPr sz="1400" b="1" i="0">
                <a:solidFill>
                  <a:srgbClr val="17181A"/>
                </a:solidFill>
                <a:latin typeface="Verdana"/>
              </a:rPr>
              <a:t>Je vous écris pour faire suite à notre conversation téléphonique du 4 novembre.</a:t>
            </a:r>
          </a:p>
        </p:txBody>
      </p:sp>
      <p:sp>
        <p:nvSpPr>
          <p:cNvPr id="9" name="TextBox 8"/>
          <p:cNvSpPr txBox="1"/>
          <p:nvPr/>
        </p:nvSpPr>
        <p:spPr>
          <a:xfrm>
            <a:off x="5579531" y="2121408"/>
            <a:ext cx="567947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Rappeler l'appel.</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4372523" cy="568756"/>
          </a:xfrm>
          <a:prstGeom prst="rect">
            <a:avLst/>
          </a:prstGeom>
          <a:noFill/>
        </p:spPr>
        <p:txBody>
          <a:bodyPr wrap="square" lIns="0" rIns="0" tIns="0" bIns="0" anchor="t">
            <a:spAutoFit/>
          </a:bodyPr>
          <a:lstStyle/>
          <a:p>
            <a:pPr algn="l">
              <a:lnSpc>
                <a:spcPct val="128000"/>
              </a:lnSpc>
            </a:pPr>
            <a:r>
              <a:rPr sz="1800" b="1" i="0">
                <a:solidFill>
                  <a:srgbClr val="17181A"/>
                </a:solidFill>
                <a:latin typeface="Verdana"/>
              </a:rPr>
              <a:t>Le problème dure depuis deux semaines et il s'aggrave.</a:t>
            </a:r>
          </a:p>
        </p:txBody>
      </p:sp>
      <p:sp>
        <p:nvSpPr>
          <p:cNvPr id="12" name="TextBox 11"/>
          <p:cNvSpPr txBox="1"/>
          <p:nvPr/>
        </p:nvSpPr>
        <p:spPr>
          <a:xfrm>
            <a:off x="5579531" y="2909620"/>
            <a:ext cx="567947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Situer dans le temps.</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4372523" cy="568756"/>
          </a:xfrm>
          <a:prstGeom prst="rect">
            <a:avLst/>
          </a:prstGeom>
          <a:noFill/>
        </p:spPr>
        <p:txBody>
          <a:bodyPr wrap="square" lIns="0" rIns="0" tIns="0" bIns="0" anchor="t">
            <a:spAutoFit/>
          </a:bodyPr>
          <a:lstStyle/>
          <a:p>
            <a:pPr algn="l">
              <a:lnSpc>
                <a:spcPct val="128000"/>
              </a:lnSpc>
            </a:pPr>
            <a:r>
              <a:rPr sz="1800" b="1" i="0">
                <a:solidFill>
                  <a:srgbClr val="17181A"/>
                </a:solidFill>
                <a:latin typeface="Verdana"/>
              </a:rPr>
              <a:t>Vous trouverez une photo en pièce jointe.</a:t>
            </a:r>
          </a:p>
        </p:txBody>
      </p:sp>
      <p:sp>
        <p:nvSpPr>
          <p:cNvPr id="15" name="TextBox 14"/>
          <p:cNvSpPr txBox="1"/>
          <p:nvPr/>
        </p:nvSpPr>
        <p:spPr>
          <a:xfrm>
            <a:off x="5579531" y="3697833"/>
            <a:ext cx="567947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Joindre la preuve.</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4372523" cy="568756"/>
          </a:xfrm>
          <a:prstGeom prst="rect">
            <a:avLst/>
          </a:prstGeom>
          <a:noFill/>
        </p:spPr>
        <p:txBody>
          <a:bodyPr wrap="square" lIns="0" rIns="0" tIns="0" bIns="0" anchor="t">
            <a:spAutoFit/>
          </a:bodyPr>
          <a:lstStyle/>
          <a:p>
            <a:pPr algn="l">
              <a:lnSpc>
                <a:spcPct val="128000"/>
              </a:lnSpc>
            </a:pPr>
            <a:r>
              <a:rPr sz="1800" b="1" i="0">
                <a:solidFill>
                  <a:srgbClr val="17181A"/>
                </a:solidFill>
                <a:latin typeface="Verdana"/>
              </a:rPr>
              <a:t>J'aimerais savoir quelle date est prévue pour la réparation.</a:t>
            </a:r>
          </a:p>
        </p:txBody>
      </p:sp>
      <p:sp>
        <p:nvSpPr>
          <p:cNvPr id="18" name="TextBox 17"/>
          <p:cNvSpPr txBox="1"/>
          <p:nvPr/>
        </p:nvSpPr>
        <p:spPr>
          <a:xfrm>
            <a:off x="5579531" y="4486046"/>
            <a:ext cx="567947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Demander clairement.</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4372523" cy="568756"/>
          </a:xfrm>
          <a:prstGeom prst="rect">
            <a:avLst/>
          </a:prstGeom>
          <a:noFill/>
        </p:spPr>
        <p:txBody>
          <a:bodyPr wrap="square" lIns="0" rIns="0" tIns="0" bIns="0" anchor="t">
            <a:spAutoFit/>
          </a:bodyPr>
          <a:lstStyle/>
          <a:p>
            <a:pPr algn="l">
              <a:lnSpc>
                <a:spcPct val="128000"/>
              </a:lnSpc>
            </a:pPr>
            <a:r>
              <a:rPr sz="1800" b="1" i="0">
                <a:solidFill>
                  <a:srgbClr val="17181A"/>
                </a:solidFill>
                <a:latin typeface="Verdana"/>
              </a:rPr>
              <a:t>Merci de me confirmer la réception de ce message.</a:t>
            </a:r>
          </a:p>
        </p:txBody>
      </p:sp>
      <p:sp>
        <p:nvSpPr>
          <p:cNvPr id="21" name="TextBox 20"/>
          <p:cNvSpPr txBox="1"/>
          <p:nvPr/>
        </p:nvSpPr>
        <p:spPr>
          <a:xfrm>
            <a:off x="5579531" y="5274259"/>
            <a:ext cx="567947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Obtenir une trace de réception.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CE QU'IL NE FAUT JAMAIS FAIRE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J'arrête de payer mon loyer pour la faire réagir.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continue à payer et je dépose une demande.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Arrêter de payer ne fait pas pression : ça donne au contraire un motif d'expulsion. Le loyer se paie même quand la réparation traîne. C'est contre-intuitif, mais c'est la règle, et c'est le conseil le plus important de la séance.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LA DEUXIÈME ERREUR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règle tout par téléphone, c'est plus rapide.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double chaque appel d'un courriel de deux lignes.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appel règle vite, mais ne laisse aucune trace. Le courriel envoyé après l'appel prend une minute et c'est lui qui vous protège en cas de désaccord. Il n'a pas besoin d'être long ni formel : « Bonjour, je vous confirme notre conversation de ce matin au sujet du calorifère » suffit.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VÉRIFICATION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sans regarder vos notes.</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Tribunal administratif du logement s'appelait avant la Régie du logement.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s'occupe seulement des personnes propriétaires.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peut y obtenir de la documentation gratuite et des formulaires.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s'adresser au tribunal avant de parler à sa propriétaire.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courriel daté est une meilleure preuve qu'un appel téléphonique.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est obligatoire d'être représenté par un avocat.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Tribunal administratif du logement s'appelait avant la Régie du logement.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s'occupe seulement des personnes propriétaires.   </a:t>
            </a:r>
            <a:r>
              <a:rPr sz="1400" b="1" i="0">
                <a:solidFill>
                  <a:srgbClr val="07734A"/>
                </a:solidFill>
                <a:latin typeface="Verdana"/>
              </a:rPr>
              <a:t>» FAUX — les deux parties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peut y obtenir de la documentation gratuite et des formulaires.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s'adresser au tribunal avant de parler à sa propriétaire.   </a:t>
            </a:r>
            <a:r>
              <a:rPr sz="1400" b="1" i="0">
                <a:solidFill>
                  <a:srgbClr val="07734A"/>
                </a:solidFill>
                <a:latin typeface="Verdana"/>
              </a:rPr>
              <a:t>» FAUX — c'est la dernière marche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courriel daté est une meilleure preuve qu'un appel téléphonique.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est obligatoire d'être représenté par un avocat.   </a:t>
            </a:r>
            <a:r>
              <a:rPr sz="1400" b="1" i="0">
                <a:solidFill>
                  <a:srgbClr val="07734A"/>
                </a:solidFill>
                <a:latin typeface="Verdana"/>
              </a:rPr>
              <a:t>» FAUX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les trois lignes du courriel que vous enverriez après votre appel.</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Quatre éléments : le fait · depuis quand · l'effet · la demande.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Datez-le. C'est la date qui fait toute la valeur du message.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Pouvez-vous régler le problème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