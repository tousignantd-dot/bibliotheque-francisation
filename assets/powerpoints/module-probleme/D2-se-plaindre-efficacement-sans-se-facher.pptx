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la plus utile du module dans la vie réelle. Prévoir beaucoup de production orale : la formule ne s'apprend pas en la lisant.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Ouvrir là-dessus, en reprenant les témoignages de la séance D1. Camille décrivait, Jean-Philippe demandait.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diapo à photographier. La faire copier dans le cahier avant de continuer.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Argument fort pour des adultes. Le faire reformuler par le groupe avec leurs propres situations.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le vrai enseignement. Beaucoup d'élèves commencent trop haut par crainte de ne pas être pris au sérieux, et se retrouvent sans marge de manœuvre.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trois phrases à voix haute par la même personne, avec le ton correspondant. L'exercice est inconfortable et très efficace.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nommer le mot qui fait la différence dans chaque cas : tolérer, dérangeante, déçue. Une plainte contient toujours un mot qui dit « ça ne va pas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chacune avec un ton ferme mais calme. Le ton compte autant que les mots ; c'est le moment de le travailler explicitement.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Relier à la séance A1 : « je n'aime pas déranger les gens ». C'est la même difficulté, et le module se termine dessus.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Renvoyer au dialogue de la séance C1 : Samir n'a jamais dit à Jean-Philippe qu'il était désordonné, et il a obtenu ce qu'il voulait en une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transformer collectivement trois demandes vagues du groupe en demandes précises avec délai.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individuellement, puis lire deux ou trois productions à voix haute. Corriger la structure, pas le vocabulaire.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cas justifie le degré 3 de l'échelle : cinq jours, une personne âgée. Faire remarquer que l'intensité se justifie par les faits, pas par l'humeur.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bloc D. Ces billets sont la matière première du jeu de rôle et du courriel de la séance E1 : les conserver soigneusement.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Se plaindre efficacement, sans se fâcher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plainte qui n'aboutit pas est très souvent une plainte à laquelle il manquait simplement la demande finale. Décrire n'est pas encore se plaindre.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Pouvez-vous régler le problème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description d'une plainte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0063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0886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construire une plainte en trois temps : le fait, l'effet sur moi, la demande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des mots dont l'intensité correspond au moment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rester ferme sans attaquer la personne.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POINT DE DÉPART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bac de recyclage déborde tous les mardis.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7181A"/>
                </a:solidFill>
                <a:latin typeface="Verdana"/>
              </a:rPr>
              <a:t>Je ne peux plus tolérer que le bac déborde ; pourriez-vous demander une collecte de plus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première phrase est une description : elle dit ce qui se passe, et l'autre personne peut très bien répondre « ah oui, en effet » sans rien faire. La seconde est une plainte : elle contient un jugement et une demande. Les deux sont polies ; une seule des deux fait bouger quelque chose.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FORMULE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temps, dans cet 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62656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FAIT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1 · Le fait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La musique joue jusqu'à deux heures.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on informe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169920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2 · L'effet sur moi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169920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Je commence à sept heures et je ne dors plus.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169920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on donne envie d'agir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160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44112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3 · La demande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944112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Pourriez-vous leur en parler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944112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on dit ce qu'on attend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010912"/>
            <a:ext cx="11057839" cy="1027684"/>
          </a:xfrm>
          <a:prstGeom prst="roundRect">
            <a:avLst>
              <a:gd name="adj" fmla="val 142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5266944"/>
            <a:ext cx="1023487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temps 2 est celui qu'on oublie le plus, et c'est pourtant celui qui compte : il transforme un détail en problème réel pour quelqu'un.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POURQUOI LE DEUXIÈME TEMPS EST DÉCISIF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fait se discute. Un effet sur une personne ne se discute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 corridor est encombré » peut se contester : encombré selon qui ? « Je ne peux plus passer avec ma poussette » ne se conteste pas — c'est votre expérience, et personne ne peut vous dire que vous avez tort de la vivre.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MOTS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échelle d'intensité, du bas vers le haut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1 · La situation dérange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Cette situation est dérangeante. C'est très difficile de… C'est vraiment injuste. C'est décevant. Pour un premier contact.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2 · Je dis mon émotion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Je suis irritée par… Je suis fâché de… Je suis contrariée par… Je suis fatigué de… Je suis très déçue. Pour une deuxième fois.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3 · Je suis au bout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Je ne peux plus tolérer… Je ne peux plus accepter cette situation. Cette situation doit se terminer. C'est inacceptable. C'est inapproprié.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principe de l'échelle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On commence par le bas. On garde « inacceptable » pour la deuxième ou la troisième fois, jamais pour le premier appel — sinon il ne reste plus rien à dire ensuite.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MONTER L'INTENSITÉ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même problème, trois degrés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61488"/>
          </a:xfrm>
          <a:prstGeom prst="roundRect">
            <a:avLst>
              <a:gd name="adj" fmla="val 529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DEGRÉ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1 · doux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C'est un peu dérangeant, mais je préfère vous en parler.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1er contact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9748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102864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2 · ferme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102864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Je suis fatiguée de ne pas dormir la semaine.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102864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2e fois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81983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09999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3 · très ferme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809999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Je ne peux plus tolérer ce bruit : c'est inacceptable.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809999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avant l'écrit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809744"/>
            <a:ext cx="11057839" cy="1027684"/>
          </a:xfrm>
          <a:prstGeom prst="roundRect">
            <a:avLst>
              <a:gd name="adj" fmla="val 142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5065776"/>
            <a:ext cx="1023487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Même au degré 3, on parle de la situation et jamais de la personne. C'est ce qui garde la conversation possible — et c'est ce qui permet de continuer à se croiser dans l'escalier.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 plaindre ou décrire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phrase et dites si la personne se plaint ou décrit.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bac de recyclage déborde tous les mardis matin.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peux plus tolérer le bruit après minuit, c'est inacceptable.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porte d'entrée reste ouverte quand il vente très fort.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Cette situation est vraiment dérangeante et elle doit se terminer.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suis très déçue de la façon dont le corridor est laissé.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 plaindre ou décrire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bac de recyclage déborde tous les mardis matin.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DÉCRIT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peux plus tolérer le bruit après minuit, c'est inacceptable.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SE PLAINT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porte d'entrée reste ouverte quand il vente très fort.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DÉCRIT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Cette situation est vraiment dérangeante et elle doit se terminer.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SE PLAINT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suis très déçue de la façon dont le corridor est laissé.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SE PLAINT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AU TÉLÉPHONE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Des phrases prêtes à dire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372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17181A"/>
                </a:solidFill>
                <a:latin typeface="Verdana"/>
              </a:rPr>
              <a:t>Je vous appelle parce que cette situation est vraiment dérangeante.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531" y="2121408"/>
            <a:ext cx="5679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Ouvrir.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4372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17181A"/>
                </a:solidFill>
                <a:latin typeface="Verdana"/>
              </a:rPr>
              <a:t>Ça fait cinq semaines que ça dure et je ne peux plus le tolérer.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9531" y="2778252"/>
            <a:ext cx="5679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Durée et limite.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4372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17181A"/>
                </a:solidFill>
                <a:latin typeface="Verdana"/>
              </a:rPr>
              <a:t>Je suis fatiguée de devoir laisser mon auto dans la rue.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9531" y="3435096"/>
            <a:ext cx="5679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L'effet sur moi.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4372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17181A"/>
                </a:solidFill>
                <a:latin typeface="Verdana"/>
              </a:rPr>
              <a:t>Ce n'est pas contre vous, mais il faut que ça change.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9531" y="4091939"/>
            <a:ext cx="5679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Garder la relation.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4372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17181A"/>
                </a:solidFill>
                <a:latin typeface="Verdana"/>
              </a:rPr>
              <a:t>J'aimerais savoir ce que vous comptez faire cette semaine.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9531" y="4748784"/>
            <a:ext cx="5679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Demande claire.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4372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17181A"/>
                </a:solidFill>
                <a:latin typeface="Verdana"/>
              </a:rPr>
              <a:t>Est-ce que vous pourriez faire installer une affiche à l'entrée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9531" y="5405628"/>
            <a:ext cx="5679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Demande précise.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QUI AFFAIBLIT UNE PLAINTE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m'excuse de vous déranger, ce n'est peut-être rien…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vous appelle au sujet du bruit du vendredi soir.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Trop d'excuses annonce à l'autre que le problème n'est pas important — et c'est exactement ce qu'il retiendra. On peut être poli sans s'effacer. « Bonjour, je vous appelle au sujet de… » est déjà poli, et ça ne diminue rien.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QUI AFFAIBLIT UNE PLAINTE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Vous êtes vraiment désordonné.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corridor est encombré depuis un mois.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Attaquer la personne fait fermer la porte immédiatement, et transforme un problème réglable en conflit durable. On se plaint d'une situation, jamais de quelqu'un. Le vouvoiement et le conditionnel — pourriez-vous, j'aimerais — gardent la porte ouverte à une solution.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QUI AFFAIBLIT UNE PLAINTE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faudrait faire quelque chose.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Pourriez-vous faire installer une affiche avant vendredi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Sans demande précise ni délai, l'autre personne ne sait pas ce qu'on attend d'elle — et rien ne bouge. Une bonne demande contient un verbe d'action et, quand c'est possible, une date. Ce n'est pas de l'impatience : c'est ce qui rend la demande exécutable.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Formulez votre plainte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temps : le fait, l'effet sur vous, la demande.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1324356"/>
          </a:xfrm>
          <a:prstGeom prst="roundRect">
            <a:avLst>
              <a:gd name="adj" fmla="val 1104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61899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8300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calorifère de votre salon ne chauffe plus depuis trois jours. Il fait quatorze degrés.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92068"/>
            <a:ext cx="11057839" cy="1324356"/>
          </a:xfrm>
          <a:prstGeom prst="roundRect">
            <a:avLst>
              <a:gd name="adj" fmla="val 1104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407136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413537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747516"/>
            <a:ext cx="10097719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visiteurs du logement voisin occupent votre case de stationnement.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Formulez votre plainte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1324356"/>
          </a:xfrm>
          <a:prstGeom prst="roundRect">
            <a:avLst>
              <a:gd name="adj" fmla="val 11047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61899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8300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calorifère de votre salon ne chauffe plus depuis trois jours. Il fait quatorze degrés.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…ma fille tousse et je ne dors plus. J'aimerais que vous fassiez venir un électricien cette semaine.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92068"/>
            <a:ext cx="11057839" cy="1324356"/>
          </a:xfrm>
          <a:prstGeom prst="roundRect">
            <a:avLst>
              <a:gd name="adj" fmla="val 11047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407136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413537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747516"/>
            <a:ext cx="10097719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visiteurs du logement voisin occupent votre case de stationnement.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…j'ai dû laisser mon auto dans la rue trois soirs. Pourriez-vous faire installer une affiche 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Même consigne. Deux situations plus difficiles.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1324356"/>
          </a:xfrm>
          <a:prstGeom prst="roundRect">
            <a:avLst>
              <a:gd name="adj" fmla="val 1104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61899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8300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L'ascenseur est en panne depuis cinq jours et vous habitez au sixième étage.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92068"/>
            <a:ext cx="11057839" cy="1324356"/>
          </a:xfrm>
          <a:prstGeom prst="roundRect">
            <a:avLst>
              <a:gd name="adj" fmla="val 1104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407136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413537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747516"/>
            <a:ext cx="10097719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odeur de moisissure persiste dans votre salle de bain malgré vos nettoyages.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1324356"/>
          </a:xfrm>
          <a:prstGeom prst="roundRect">
            <a:avLst>
              <a:gd name="adj" fmla="val 11047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61899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8300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L'ascenseur est en panne depuis cinq jours et vous habitez au sixième étage.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…je monte six étages avec mon épicerie et ma mère de 78 ans ne sort plus. J'aimerais savoir quand la réparation est prévue.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92068"/>
            <a:ext cx="11057839" cy="1324356"/>
          </a:xfrm>
          <a:prstGeom prst="roundRect">
            <a:avLst>
              <a:gd name="adj" fmla="val 11047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407136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413537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747516"/>
            <a:ext cx="10097719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odeur de moisissure persiste dans votre salle de bain malgré vos nettoyages.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…je suis inquiète pour la santé de mes enfants. Il faudrait faire installer un ventilateur.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votre plainte en trois temps, à partir de votre situation de la séance D1.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fait · l'effet sur vous · la demande, avec un verbe d'action et un délai.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phrases suffisent. Pas d'excuses au début.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Pouvez-vous régler le problème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