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bloc B. C'est le dialogue le plus important du module : tout le bloc s'appuie dessus. Prévoir deux écoutes complètes.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écouter l'audio du module (Défi 1) sans afficher le texte. Poser les quatre questions AVANT l'écoute et y revenir après.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compter les informations de la première réplique : le nom, le logement, le problème, depuis quand. Quatre informations en une phrase. C'est le modèle à reproduire.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structures à signaler ici, sans les enseigner encore : « faire venir » (séance C3) et « après avoir terminé » (séance C2). Dire au groupe qu'on y reviendra. La demande d'Oksana est le point à retenir : on a le droit de demander une solution temporaire.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Il y a autre chose, aussi » — la formule qui permet d'enchaîner un deuxième problème sans rappeler une autre fois. La faire répéter. La comparaison d'Oksana (pièce de deux dollars → assiette) vaut mieux que n'importe quel adjectif : c'est du concret.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d'Oksana est légitime et courante. La réponse est la règle générale : l'entretien est à la charge de la personne propriétaire. Y revenir à la séance B4.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noter ces cinq moments. Le cinquième est sur la diapo suivante.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le plus utile de la séance dans la vie réelle. Faire trouver d'autres exemples : une plaque chauffante si la cuisinière est morte, une clé de dépannage, l'accès à une autre buanderie.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groupe avant d'afficher la correction. Laisser du silence : les élèves lisent plus lentement qu'on ne le croit.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le groupe hésite sur la dernière, revenir au dialogue 4 et faire relire la réponse de madame Rioux mot à mot.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réemployer chaque expression dans une phrase nouvelle avant de passer à la suivante. « Tenir au courant » et « à ma charge » sont les deux plus utiles au téléphone.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pratiquer la première phrase à deux, en binômes, trois fois de suite. C'est mécanique, et c'est exactement ce qui bloque au moment de téléphoner pour vrai.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billets serviront de point de départ au jeu de rôle de la séance E1. Les conserver.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B1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Oksana appelle madame Rioux</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problèmes en un seul appel : le calorifère du salon qui ne chauffe plus, et une tache brune qui grossit au plafond de la chambre. L'appel dure trois minutes et règle les deux.</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 appel téléphonique entre une locataire et sa propriétaire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cinq moments d'un appel réussi ;</a:t>
            </a:r>
          </a:p>
        </p:txBody>
      </p:sp>
      <p:sp>
        <p:nvSpPr>
          <p:cNvPr id="15" name="Rounded Rectangle 14"/>
          <p:cNvSpPr/>
          <p:nvPr/>
        </p:nvSpPr>
        <p:spPr>
          <a:xfrm>
            <a:off x="566928" y="3892295"/>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2478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3301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093463"/>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les expressions du dialogue : constater l'ampleur, tenir au courant, à ma charge ;</a:t>
            </a:r>
          </a:p>
        </p:txBody>
      </p:sp>
      <p:sp>
        <p:nvSpPr>
          <p:cNvPr id="19" name="Rounded Rectangle 18"/>
          <p:cNvSpPr/>
          <p:nvPr/>
        </p:nvSpPr>
        <p:spPr>
          <a:xfrm>
            <a:off x="566928" y="5133847"/>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311647"/>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393943"/>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53350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demander une solution temporaire en attendant la réparation.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AVANT D'ÉCOUTER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va-t-elle dire en premier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lafond.jpg"/>
          <p:cNvPicPr>
            <a:picLocks noChangeAspect="1"/>
          </p:cNvPicPr>
          <p:nvPr/>
        </p:nvPicPr>
        <p:blipFill>
          <a:blip r:embed="rId2"/>
          <a:stretch>
            <a:fillRect/>
          </a:stretch>
        </p:blipFill>
        <p:spPr>
          <a:xfrm>
            <a:off x="7644383" y="2019452"/>
            <a:ext cx="3760927" cy="3760927"/>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Oksana a deux problèmes. Par lequel commence-t-elle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se présente-t-on au téléphone à sa propriétaire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faut-il dire tout de suite : le problème, ou depuis quand ?</a:t>
            </a:r>
          </a:p>
        </p:txBody>
      </p:sp>
      <p:sp>
        <p:nvSpPr>
          <p:cNvPr id="18" name="Rounded Rectangle 17"/>
          <p:cNvSpPr/>
          <p:nvPr/>
        </p:nvSpPr>
        <p:spPr>
          <a:xfrm>
            <a:off x="566928" y="522732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Écoutez, et vérifiez vos réponses.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Se présenter et nommer le problème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 Repérez ensuite ce qu'Oksana dit dans sa première phrase.</a:t>
            </a:r>
          </a:p>
        </p:txBody>
      </p:sp>
      <p:sp>
        <p:nvSpPr>
          <p:cNvPr id="8" name="Rounded Rectangle 7"/>
          <p:cNvSpPr/>
          <p:nvPr/>
        </p:nvSpPr>
        <p:spPr>
          <a:xfrm>
            <a:off x="566928" y="2157984"/>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828800"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10" name="TextBox 9"/>
          <p:cNvSpPr txBox="1"/>
          <p:nvPr/>
        </p:nvSpPr>
        <p:spPr>
          <a:xfrm>
            <a:off x="2761488" y="2322576"/>
            <a:ext cx="8314639"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Bonjour madame Rioux, c'est Oksana Kravets, au 4B. Je vous appelle parce que le calorifère du salon ne chauffe plus depuis avant-hier.</a:t>
            </a:r>
          </a:p>
        </p:txBody>
      </p:sp>
      <p:sp>
        <p:nvSpPr>
          <p:cNvPr id="11" name="TextBox 10"/>
          <p:cNvSpPr txBox="1"/>
          <p:nvPr/>
        </p:nvSpPr>
        <p:spPr>
          <a:xfrm>
            <a:off x="932688" y="3747515"/>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12" name="TextBox 11"/>
          <p:cNvSpPr txBox="1"/>
          <p:nvPr/>
        </p:nvSpPr>
        <p:spPr>
          <a:xfrm>
            <a:off x="2761488" y="3747515"/>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Depuis avant-hier ? Il fallait me prévenir tout de suite, voyons. Il fait combien chez vous ce matin ?</a:t>
            </a:r>
          </a:p>
        </p:txBody>
      </p:sp>
      <p:sp>
        <p:nvSpPr>
          <p:cNvPr id="13" name="Rounded Rectangle 12"/>
          <p:cNvSpPr/>
          <p:nvPr/>
        </p:nvSpPr>
        <p:spPr>
          <a:xfrm>
            <a:off x="566928" y="467004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834636"/>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15" name="TextBox 14"/>
          <p:cNvSpPr txBox="1"/>
          <p:nvPr/>
        </p:nvSpPr>
        <p:spPr>
          <a:xfrm>
            <a:off x="2761488" y="4834636"/>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Quatorze degrés. J'ai vérifié le panneau électrique : le disjoncteur retombe chaque fois que je le remonte.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propriétaire organise la réparation</a:t>
            </a:r>
          </a:p>
        </p:txBody>
      </p:sp>
      <p:sp>
        <p:nvSpPr>
          <p:cNvPr id="7" name="Rounded Rectangle 6"/>
          <p:cNvSpPr/>
          <p:nvPr/>
        </p:nvSpPr>
        <p:spPr>
          <a:xfrm>
            <a:off x="566928" y="1737360"/>
            <a:ext cx="11057839" cy="1680464"/>
          </a:xfrm>
          <a:prstGeom prst="roundRect">
            <a:avLst>
              <a:gd name="adj" fmla="val 870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828800" cy="140614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9" name="TextBox 8"/>
          <p:cNvSpPr txBox="1"/>
          <p:nvPr/>
        </p:nvSpPr>
        <p:spPr>
          <a:xfrm>
            <a:off x="2761488" y="1901952"/>
            <a:ext cx="8314639" cy="140614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Ne le remontez plus, c'est dangereux. Je vais faire venir mon électricien. Il passe déjà chez les locataires du deuxième jeudi matin ; je vais lui demander de monter chez vous après avoir terminé leur installation.</a:t>
            </a:r>
          </a:p>
        </p:txBody>
      </p:sp>
      <p:sp>
        <p:nvSpPr>
          <p:cNvPr id="10" name="Rounded Rectangle 9"/>
          <p:cNvSpPr/>
          <p:nvPr/>
        </p:nvSpPr>
        <p:spPr>
          <a:xfrm>
            <a:off x="566928" y="350011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664711"/>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12" name="TextBox 11"/>
          <p:cNvSpPr txBox="1"/>
          <p:nvPr/>
        </p:nvSpPr>
        <p:spPr>
          <a:xfrm>
            <a:off x="2761488" y="3664711"/>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Jeudi, c'est dans trois jours. Est-ce que je peux avoir un chauffage d'appoint en attendant ?</a:t>
            </a:r>
          </a:p>
        </p:txBody>
      </p:sp>
      <p:sp>
        <p:nvSpPr>
          <p:cNvPr id="13" name="TextBox 12"/>
          <p:cNvSpPr txBox="1"/>
          <p:nvPr/>
        </p:nvSpPr>
        <p:spPr>
          <a:xfrm>
            <a:off x="932688" y="4751832"/>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14" name="TextBox 13"/>
          <p:cNvSpPr txBox="1"/>
          <p:nvPr/>
        </p:nvSpPr>
        <p:spPr>
          <a:xfrm>
            <a:off x="2761488" y="4751832"/>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Bien sûr. J'en garde deux au sous-sol, dans le local d'entretien. Passez en chercher un ce soir, le concierge vous ouvrira.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deuxième problème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9" name="TextBox 8"/>
          <p:cNvSpPr txBox="1"/>
          <p:nvPr/>
        </p:nvSpPr>
        <p:spPr>
          <a:xfrm>
            <a:off x="2761488" y="1901952"/>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Merci beaucoup. Il y a autre chose, aussi. Il y a une tache brune au plafond de la chambre, et elle grossit.</a:t>
            </a:r>
          </a:p>
        </p:txBody>
      </p:sp>
      <p:sp>
        <p:nvSpPr>
          <p:cNvPr id="10" name="TextBox 9"/>
          <p:cNvSpPr txBox="1"/>
          <p:nvPr/>
        </p:nvSpPr>
        <p:spPr>
          <a:xfrm>
            <a:off x="932688" y="2989072"/>
            <a:ext cx="182880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11" name="TextBox 10"/>
          <p:cNvSpPr txBox="1"/>
          <p:nvPr/>
        </p:nvSpPr>
        <p:spPr>
          <a:xfrm>
            <a:off x="2761488" y="2989072"/>
            <a:ext cx="8314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tache brune ? Ça fait combien de temps qu'elle est là ?</a:t>
            </a:r>
          </a:p>
        </p:txBody>
      </p:sp>
      <p:sp>
        <p:nvSpPr>
          <p:cNvPr id="12" name="Rounded Rectangle 11"/>
          <p:cNvSpPr/>
          <p:nvPr/>
        </p:nvSpPr>
        <p:spPr>
          <a:xfrm>
            <a:off x="566928" y="35737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738371"/>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14" name="TextBox 13"/>
          <p:cNvSpPr txBox="1"/>
          <p:nvPr/>
        </p:nvSpPr>
        <p:spPr>
          <a:xfrm>
            <a:off x="2761488" y="3738371"/>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fait deux semaines. Au début, elle était grande comme une pièce de deux dollars ; maintenant, elle fait la taille d'une assiette.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paie ?</a:t>
            </a:r>
          </a:p>
        </p:txBody>
      </p:sp>
      <p:sp>
        <p:nvSpPr>
          <p:cNvPr id="7" name="TextBox 6"/>
          <p:cNvSpPr txBox="1"/>
          <p:nvPr/>
        </p:nvSpPr>
        <p:spPr>
          <a:xfrm>
            <a:off x="932688" y="1901952"/>
            <a:ext cx="1828800"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8" name="TextBox 7"/>
          <p:cNvSpPr txBox="1"/>
          <p:nvPr/>
        </p:nvSpPr>
        <p:spPr>
          <a:xfrm>
            <a:off x="2761488" y="1901952"/>
            <a:ext cx="8314639"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êtes au dernier étage… ça vient probablement de la toiture. Envoyez-moi une photo par courriel : ça me permettra de constater l'ampleur du dégât avant de faire venir le couvreur.</a:t>
            </a:r>
          </a:p>
        </p:txBody>
      </p:sp>
      <p:sp>
        <p:nvSpPr>
          <p:cNvPr id="9" name="Rounded Rectangle 8"/>
          <p:cNvSpPr/>
          <p:nvPr/>
        </p:nvSpPr>
        <p:spPr>
          <a:xfrm>
            <a:off x="566928" y="316229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3326892"/>
            <a:ext cx="182880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11" name="TextBox 10"/>
          <p:cNvSpPr txBox="1"/>
          <p:nvPr/>
        </p:nvSpPr>
        <p:spPr>
          <a:xfrm>
            <a:off x="2761488" y="3326892"/>
            <a:ext cx="8314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vous l'envoie ce midi. Est-ce que ces réparations-là sont à ma charge ?</a:t>
            </a:r>
          </a:p>
        </p:txBody>
      </p:sp>
      <p:sp>
        <p:nvSpPr>
          <p:cNvPr id="12" name="Rounded Rectangle 11"/>
          <p:cNvSpPr/>
          <p:nvPr/>
        </p:nvSpPr>
        <p:spPr>
          <a:xfrm>
            <a:off x="566928" y="424942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4414012"/>
            <a:ext cx="1828800"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MME RIOUX</a:t>
            </a:r>
          </a:p>
        </p:txBody>
      </p:sp>
      <p:sp>
        <p:nvSpPr>
          <p:cNvPr id="14" name="TextBox 13"/>
          <p:cNvSpPr txBox="1"/>
          <p:nvPr/>
        </p:nvSpPr>
        <p:spPr>
          <a:xfrm>
            <a:off x="2761488" y="4414012"/>
            <a:ext cx="8314639"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Pas du tout. Vous payez le loyer ; l'entretien de l'immeuble, c'est ma part du contrat. Vous, tenez-moi seulement au courant si la tache change encore.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moments de l'appel</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1 · Je me présente</a:t>
            </a:r>
          </a:p>
        </p:txBody>
      </p:sp>
      <p:sp>
        <p:nvSpPr>
          <p:cNvPr id="9" name="TextBox 8"/>
          <p:cNvSpPr txBox="1"/>
          <p:nvPr/>
        </p:nvSpPr>
        <p:spPr>
          <a:xfrm>
            <a:off x="886968" y="234950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Mon nom et mon numéro de logement, tout de suite. « C'est Oksana Kravets, au 4B. » La propriétaire a plusieurs locataires : elle doit savoir qui appelle.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2 · Je nomme le problème et sa durée</a:t>
            </a:r>
          </a:p>
        </p:txBody>
      </p:sp>
      <p:sp>
        <p:nvSpPr>
          <p:cNvPr id="12" name="TextBox 11"/>
          <p:cNvSpPr txBox="1"/>
          <p:nvPr/>
        </p:nvSpPr>
        <p:spPr>
          <a:xfrm>
            <a:off x="6498183" y="234950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L'appareil, la pièce, depuis quand. « Le calorifère du salon ne chauffe plus depuis avant-hier.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3 · Je donne un chiffre</a:t>
            </a:r>
          </a:p>
        </p:txBody>
      </p:sp>
      <p:sp>
        <p:nvSpPr>
          <p:cNvPr id="15" name="TextBox 14"/>
          <p:cNvSpPr txBox="1"/>
          <p:nvPr/>
        </p:nvSpPr>
        <p:spPr>
          <a:xfrm>
            <a:off x="886968" y="456692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Quatorze degrés. » « Deux semaines. » Un chiffre dit l'urgence sans avoir à insister.</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4 · Je dis ce que j'ai déjà vérifié</a:t>
            </a:r>
          </a:p>
        </p:txBody>
      </p:sp>
      <p:sp>
        <p:nvSpPr>
          <p:cNvPr id="18" name="TextBox 17"/>
          <p:cNvSpPr txBox="1"/>
          <p:nvPr/>
        </p:nvSpPr>
        <p:spPr>
          <a:xfrm>
            <a:off x="6498183" y="456692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J'ai vérifié le panneau électrique. » Ça évite qu'on vous fasse refaire ce que vous avez déjà fait, et ça montre le sérieux de l'appel.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CINQUIÈME MOMENT</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Je demande une solution temporaire en attendant la réparation.</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Est-ce que je peux avoir un chauffage d'appoint en attendant ? » C'est la question qu'on oublie presque toujours de poser. La réparation prendra le temps qu'elle prendra ; entre-temps, vous avez le droit de demander de quoi vivre normalement dans votre logement.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de nouveau le dialogue, puis répondez.</a:t>
            </a:r>
          </a:p>
        </p:txBody>
      </p:sp>
      <p:sp>
        <p:nvSpPr>
          <p:cNvPr id="8" name="Rounded Rectangle 7"/>
          <p:cNvSpPr/>
          <p:nvPr/>
        </p:nvSpPr>
        <p:spPr>
          <a:xfrm>
            <a:off x="566928" y="2139696"/>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Madame Rioux trouve qu'Oksana a attendu trop longtemps avant de l'appeler.</a:t>
            </a:r>
          </a:p>
        </p:txBody>
      </p:sp>
      <p:sp>
        <p:nvSpPr>
          <p:cNvPr id="12" name="Rounded Rectangle 11"/>
          <p:cNvSpPr/>
          <p:nvPr/>
        </p:nvSpPr>
        <p:spPr>
          <a:xfrm>
            <a:off x="566928" y="2880868"/>
            <a:ext cx="11057839"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556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1970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36316"/>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La propriétaire conseille de remonter le disjoncteur encore une fois.</a:t>
            </a:r>
          </a:p>
        </p:txBody>
      </p:sp>
      <p:sp>
        <p:nvSpPr>
          <p:cNvPr id="16" name="Rounded Rectangle 15"/>
          <p:cNvSpPr/>
          <p:nvPr/>
        </p:nvSpPr>
        <p:spPr>
          <a:xfrm>
            <a:off x="566928" y="3924299"/>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4799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1200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079747"/>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L'électricien doit passer chez d'autres locataires le même jour.</a:t>
            </a:r>
          </a:p>
        </p:txBody>
      </p:sp>
      <p:sp>
        <p:nvSpPr>
          <p:cNvPr id="20" name="Rounded Rectangle 19"/>
          <p:cNvSpPr/>
          <p:nvPr/>
        </p:nvSpPr>
        <p:spPr>
          <a:xfrm>
            <a:off x="566928" y="4665472"/>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91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531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82092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Oksana devra attendre une semaine avant la visite de l'électricien.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Madame Rioux trouve qu'Oksana a attendu trop longtemps avant de l'appeler.   </a:t>
            </a:r>
            <a:r>
              <a:rPr sz="1700" b="1" i="0">
                <a:solidFill>
                  <a:srgbClr val="07734A"/>
                </a:solidFill>
                <a:latin typeface="Verdana"/>
              </a:rPr>
              <a:t>» VRAI</a:t>
            </a:r>
          </a:p>
        </p:txBody>
      </p:sp>
      <p:sp>
        <p:nvSpPr>
          <p:cNvPr id="12" name="Rounded Rectangle 11"/>
          <p:cNvSpPr/>
          <p:nvPr/>
        </p:nvSpPr>
        <p:spPr>
          <a:xfrm>
            <a:off x="566928" y="2880868"/>
            <a:ext cx="11057839"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556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1970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36316"/>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La propriétaire conseille de remonter le disjoncteur encore une fois.   </a:t>
            </a:r>
            <a:r>
              <a:rPr sz="1700" b="1" i="0">
                <a:solidFill>
                  <a:srgbClr val="07734A"/>
                </a:solidFill>
                <a:latin typeface="Verdana"/>
              </a:rPr>
              <a:t>» FAUX — c'est dangereux</a:t>
            </a:r>
          </a:p>
        </p:txBody>
      </p:sp>
      <p:sp>
        <p:nvSpPr>
          <p:cNvPr id="16" name="Rounded Rectangle 15"/>
          <p:cNvSpPr/>
          <p:nvPr/>
        </p:nvSpPr>
        <p:spPr>
          <a:xfrm>
            <a:off x="566928" y="3924299"/>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4799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1200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079747"/>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L'électricien doit passer chez d'autres locataires le même jour.   </a:t>
            </a:r>
            <a:r>
              <a:rPr sz="1700" b="1" i="0">
                <a:solidFill>
                  <a:srgbClr val="07734A"/>
                </a:solidFill>
                <a:latin typeface="Verdana"/>
              </a:rPr>
              <a:t>» VRAI — au deuxième</a:t>
            </a:r>
          </a:p>
        </p:txBody>
      </p:sp>
      <p:sp>
        <p:nvSpPr>
          <p:cNvPr id="20" name="Rounded Rectangle 19"/>
          <p:cNvSpPr/>
          <p:nvPr/>
        </p:nvSpPr>
        <p:spPr>
          <a:xfrm>
            <a:off x="566928" y="4665472"/>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91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531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82092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Oksana devra attendre une semaine avant la visite de l'électricien.   </a:t>
            </a:r>
            <a:r>
              <a:rPr sz="1700" b="1" i="0">
                <a:solidFill>
                  <a:srgbClr val="07734A"/>
                </a:solidFill>
                <a:latin typeface="Verdana"/>
              </a:rPr>
              <a:t>» FAUX — trois jours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Même consigne.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prête un chauffage d'appoint.</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tache du plafond est apparue hier.</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demande une photo avant de faire venir le couvreur.</a:t>
            </a:r>
          </a:p>
        </p:txBody>
      </p:sp>
      <p:sp>
        <p:nvSpPr>
          <p:cNvPr id="20" name="Rounded Rectangle 19"/>
          <p:cNvSpPr/>
          <p:nvPr/>
        </p:nvSpPr>
        <p:spPr>
          <a:xfrm>
            <a:off x="566928" y="4469892"/>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028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4428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Oksana devra payer les réparations.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prête un chauffage d'appoint.   </a:t>
            </a:r>
            <a:r>
              <a:rPr sz="1900" b="1" i="0">
                <a:solidFill>
                  <a:srgbClr val="07734A"/>
                </a:solidFill>
                <a:latin typeface="Verdana"/>
              </a:rPr>
              <a:t>» VRAI</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tache du plafond est apparue hier.   </a:t>
            </a:r>
            <a:r>
              <a:rPr sz="1900" b="1" i="0">
                <a:solidFill>
                  <a:srgbClr val="07734A"/>
                </a:solidFill>
                <a:latin typeface="Verdana"/>
              </a:rPr>
              <a:t>» FAUX — ça fait deux semaines</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propriétaire demande une photo avant de faire venir le couvreur.   </a:t>
            </a:r>
            <a:r>
              <a:rPr sz="1900" b="1" i="0">
                <a:solidFill>
                  <a:srgbClr val="07734A"/>
                </a:solidFill>
                <a:latin typeface="Verdana"/>
              </a:rPr>
              <a:t>» VRAI</a:t>
            </a:r>
          </a:p>
        </p:txBody>
      </p:sp>
      <p:sp>
        <p:nvSpPr>
          <p:cNvPr id="20" name="Rounded Rectangle 19"/>
          <p:cNvSpPr/>
          <p:nvPr/>
        </p:nvSpPr>
        <p:spPr>
          <a:xfrm>
            <a:off x="566928" y="4469892"/>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028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4428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Oksana devra payer les réparations.   </a:t>
            </a:r>
            <a:r>
              <a:rPr sz="1900" b="1" i="0">
                <a:solidFill>
                  <a:srgbClr val="07734A"/>
                </a:solidFill>
                <a:latin typeface="Verdana"/>
              </a:rPr>
              <a:t>» FAUX — l'entretien est à la charge de la propriétaire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expressions du dialogue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413670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constater l'ampleur du dégât</a:t>
            </a:r>
          </a:p>
        </p:txBody>
      </p:sp>
      <p:sp>
        <p:nvSpPr>
          <p:cNvPr id="9" name="TextBox 8"/>
          <p:cNvSpPr txBox="1"/>
          <p:nvPr/>
        </p:nvSpPr>
        <p:spPr>
          <a:xfrm>
            <a:off x="5343715" y="2121408"/>
            <a:ext cx="591529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Voir de ses yeux jusqu'où va le problème.</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413670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me prévenir</a:t>
            </a:r>
          </a:p>
        </p:txBody>
      </p:sp>
      <p:sp>
        <p:nvSpPr>
          <p:cNvPr id="12" name="TextBox 11"/>
          <p:cNvSpPr txBox="1"/>
          <p:nvPr/>
        </p:nvSpPr>
        <p:spPr>
          <a:xfrm>
            <a:off x="5343715" y="2909620"/>
            <a:ext cx="591529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M'avertir à l'avance.</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413670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tenir au courant</a:t>
            </a:r>
          </a:p>
        </p:txBody>
      </p:sp>
      <p:sp>
        <p:nvSpPr>
          <p:cNvPr id="15" name="TextBox 14"/>
          <p:cNvSpPr txBox="1"/>
          <p:nvPr/>
        </p:nvSpPr>
        <p:spPr>
          <a:xfrm>
            <a:off x="5343715" y="3697833"/>
            <a:ext cx="591529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Donner des nouvelles au fur et à mesure.</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413670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à ma charge</a:t>
            </a:r>
          </a:p>
        </p:txBody>
      </p:sp>
      <p:sp>
        <p:nvSpPr>
          <p:cNvPr id="18" name="TextBox 17"/>
          <p:cNvSpPr txBox="1"/>
          <p:nvPr/>
        </p:nvSpPr>
        <p:spPr>
          <a:xfrm>
            <a:off x="5343715" y="4486046"/>
            <a:ext cx="591529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Payé par moi.</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413670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chauffage d'appoint</a:t>
            </a:r>
          </a:p>
        </p:txBody>
      </p:sp>
      <p:sp>
        <p:nvSpPr>
          <p:cNvPr id="21" name="TextBox 20"/>
          <p:cNvSpPr txBox="1"/>
          <p:nvPr/>
        </p:nvSpPr>
        <p:spPr>
          <a:xfrm>
            <a:off x="5343715" y="5274259"/>
            <a:ext cx="591529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appareil ajouté pour dépanner.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AU TÉLÉPHONE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Bonjour, c'est moi, j'ai un problème de chauffage.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Bonjour madame Rioux, c'est Oksana Kravets, au 4B.</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Se présenter par son nom et son numéro de logement prend deux secondes et évite trente secondes de confusion. Une propriétaire qui gère six logements ne reconnaît pas une voix au téléphone — et « j'ai un problème de chauffage » ne lui dit pas dans quel appartement.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première phrase de votre appel à votre propriétaire.</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Quatre informations : votre nom · votre logement · le problème · depuis quand.</a:t>
            </a:r>
          </a:p>
        </p:txBody>
      </p:sp>
      <p:sp>
        <p:nvSpPr>
          <p:cNvPr id="10" name="Rounded Rectangle 9"/>
          <p:cNvSpPr/>
          <p:nvPr/>
        </p:nvSpPr>
        <p:spPr>
          <a:xfrm>
            <a:off x="566928" y="5036311"/>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Bonjour, c'est Ana Lopes, au 2C. Le robinet de la cuisine coule depuis trois jours.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