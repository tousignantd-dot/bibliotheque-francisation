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Demander d'abord au groupe qui a déjà cherché un emploi au Québec, et qui travaille en ce moment. Les réponses donnent le ton : beaucoup ont un emploi qui ne correspond pas à ce qu'ils faisaient avant.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paraît mince. Il ne l'est pas : « permanent » et « temps partiel » décident du revenu réel d'une famille.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sensible : plusieurs élèves occupaient un poste plus qualifié que celui qu'ils ont ici. Accueillir la réponse sans commenter. Le module part de ce qu'ils savent faire, jamais de ce qui leur manque.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Djamila reformule avant de poser sa question : « Et vous aimeriez un poste à temps plein. » C'est ce que fait une bonne conseillère, et c'est ce qu'un élève peut faire aussi pour vérifier qu'il a compris.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Marisol répond par des verbes d'action : je faisais, je vérifiais, je préparais. Faire remarquer qu'elle ne dit pas « je travaillais » tout court — c'est déjà la leçon du Défi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est la phrase-clé du module entier. La faire répéter, puis y revenir en E1.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 quatre questions sont exactement celles que l'élève devra se poser seul.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chercher, pour la prochaine séance, le titre exact du métier de chacun.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Demander qui, dans le groupe, sait si son emploi actuel est permanent. Beaucoup ne le savent pas — et c'est écrit sur leur relevé de paie.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piège revient dans toutes les entrevues du module. Le nommer ici, y revenir en D1 et en E1.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concret. Ces deux lignes serviront de point de départ à toutes les séances suivantes, jusqu'à la lettre de motivation du bloc 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Qu'est-ce que vous cherchez, exactement ?</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recherche d'emploi commence par une phrase, pas par un curriculum vitæ : le titre du poste qu'on vise. Sans elle, on postule partout et on n'est rappelé nulle part.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Chercher un emploi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Chercher un emploi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un poste par son titre exact et son secteur d'activité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ce qu'on faisait avant, avec une durée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mots de base du monde du travail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le temps plein du temps partiel, le permanent du contrat.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Chercher un emploi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 faisiez-vous, dans votre pays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nseillere-bureau.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 était le titre exact de votre poste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Pendant combien de temps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ce métier existe ici ?</a:t>
            </a:r>
          </a:p>
        </p:txBody>
      </p:sp>
      <p:sp>
        <p:nvSpPr>
          <p:cNvPr id="18" name="Rounded Rectangle 17"/>
          <p:cNvSpPr/>
          <p:nvPr/>
        </p:nvSpPr>
        <p:spPr>
          <a:xfrm>
            <a:off x="566928" y="421386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Faites-vous la même chose aujourd'hui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Chercher un emploi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ans, et un temps partiel</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98473"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DJAMILA</a:t>
            </a:r>
          </a:p>
        </p:txBody>
      </p:sp>
      <p:sp>
        <p:nvSpPr>
          <p:cNvPr id="10" name="TextBox 9"/>
          <p:cNvSpPr txBox="1"/>
          <p:nvPr/>
        </p:nvSpPr>
        <p:spPr>
          <a:xfrm>
            <a:off x="2431161" y="2322576"/>
            <a:ext cx="8644966"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Bonjour, madame Aguirre. Asseyez-vous. Alors, vous venez me voir pour une recherche d'emploi ?</a:t>
            </a:r>
          </a:p>
        </p:txBody>
      </p:sp>
      <p:sp>
        <p:nvSpPr>
          <p:cNvPr id="11" name="Rounded Rectangle 10"/>
          <p:cNvSpPr/>
          <p:nvPr/>
        </p:nvSpPr>
        <p:spPr>
          <a:xfrm>
            <a:off x="566928" y="313842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303016"/>
            <a:ext cx="1498473"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MARISOL</a:t>
            </a:r>
          </a:p>
        </p:txBody>
      </p:sp>
      <p:sp>
        <p:nvSpPr>
          <p:cNvPr id="13" name="TextBox 12"/>
          <p:cNvSpPr txBox="1"/>
          <p:nvPr/>
        </p:nvSpPr>
        <p:spPr>
          <a:xfrm>
            <a:off x="2431161" y="3303016"/>
            <a:ext cx="8644966"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Oui. Ça fait deux ans que je suis au Québec. Je travaille trois jours par semaine dans un entrepôt, mais c'est du temps partiel.</a:t>
            </a:r>
          </a:p>
        </p:txBody>
      </p:sp>
      <p:sp>
        <p:nvSpPr>
          <p:cNvPr id="14" name="Rounded Rectangle 13"/>
          <p:cNvSpPr/>
          <p:nvPr/>
        </p:nvSpPr>
        <p:spPr>
          <a:xfrm>
            <a:off x="566928" y="411886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283456"/>
            <a:ext cx="1498473"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DJAMILA</a:t>
            </a:r>
          </a:p>
        </p:txBody>
      </p:sp>
      <p:sp>
        <p:nvSpPr>
          <p:cNvPr id="16" name="TextBox 15"/>
          <p:cNvSpPr txBox="1"/>
          <p:nvPr/>
        </p:nvSpPr>
        <p:spPr>
          <a:xfrm>
            <a:off x="2431161" y="4283456"/>
            <a:ext cx="8644966"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Et vous aimeriez un poste à temps plein. Qu'est-ce que vous faisiez avant d'arriver ici ?</a:t>
            </a:r>
          </a:p>
        </p:txBody>
      </p:sp>
      <p:sp>
        <p:nvSpPr>
          <p:cNvPr id="17" name="Rounded Rectangle 16"/>
          <p:cNvSpPr/>
          <p:nvPr/>
        </p:nvSpPr>
        <p:spPr>
          <a:xfrm>
            <a:off x="566928" y="509930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5263895"/>
            <a:ext cx="1498473"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MARISOL</a:t>
            </a:r>
          </a:p>
        </p:txBody>
      </p:sp>
      <p:sp>
        <p:nvSpPr>
          <p:cNvPr id="19" name="TextBox 18"/>
          <p:cNvSpPr txBox="1"/>
          <p:nvPr/>
        </p:nvSpPr>
        <p:spPr>
          <a:xfrm>
            <a:off x="2431161" y="5263895"/>
            <a:ext cx="8644966"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J'étais responsable des stocks dans une entreprise de meubles, à Medellín. Pendant six ans.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Chercher un emploi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L'expérience se raconte</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DJAMILA</a:t>
            </a:r>
          </a:p>
        </p:txBody>
      </p:sp>
      <p:sp>
        <p:nvSpPr>
          <p:cNvPr id="9" name="TextBox 8"/>
          <p:cNvSpPr txBox="1"/>
          <p:nvPr/>
        </p:nvSpPr>
        <p:spPr>
          <a:xfrm>
            <a:off x="2431161" y="190195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Six ans, c'est une belle expérience. Vous aviez des gens sous votre responsabilité ?</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2" name="TextBox 11"/>
          <p:cNvSpPr txBox="1"/>
          <p:nvPr/>
        </p:nvSpPr>
        <p:spPr>
          <a:xfrm>
            <a:off x="2431161" y="298907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Trois personnes. Je faisais l'inventaire, je vérifiais les commandes, je préparais les bons de livraison.</a:t>
            </a:r>
          </a:p>
        </p:txBody>
      </p:sp>
      <p:sp>
        <p:nvSpPr>
          <p:cNvPr id="13" name="Rounded Rectangle 12"/>
          <p:cNvSpPr/>
          <p:nvPr/>
        </p:nvSpPr>
        <p:spPr>
          <a:xfrm>
            <a:off x="566928" y="39116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DJAMILA</a:t>
            </a:r>
          </a:p>
        </p:txBody>
      </p:sp>
      <p:sp>
        <p:nvSpPr>
          <p:cNvPr id="15" name="TextBox 14"/>
          <p:cNvSpPr txBox="1"/>
          <p:nvPr/>
        </p:nvSpPr>
        <p:spPr>
          <a:xfrm>
            <a:off x="2431161" y="4076191"/>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Donc vous connaissez le domaine. Ce n'est pas rien : beaucoup de gens changent complètement de secteur en arrivant.</a:t>
            </a:r>
          </a:p>
        </p:txBody>
      </p:sp>
      <p:sp>
        <p:nvSpPr>
          <p:cNvPr id="16" name="Rounded Rectangle 15"/>
          <p:cNvSpPr/>
          <p:nvPr/>
        </p:nvSpPr>
        <p:spPr>
          <a:xfrm>
            <a:off x="566928" y="499872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16331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8" name="TextBox 17"/>
          <p:cNvSpPr txBox="1"/>
          <p:nvPr/>
        </p:nvSpPr>
        <p:spPr>
          <a:xfrm>
            <a:off x="2431161" y="516331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ne veux pas changer. Je veux le même travail, mais ici. Le problème, c'est que je ne sais pas comment m'y prendre.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Chercher un emploi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offre, pas ce qui manque</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9" name="TextBox 8"/>
          <p:cNvSpPr txBox="1"/>
          <p:nvPr/>
        </p:nvSpPr>
        <p:spPr>
          <a:xfrm>
            <a:off x="2431161" y="190195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Commis à l'inventaire, je dirais. Ou adjointe à la logistique, si c'est possible.</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DJAMILA</a:t>
            </a:r>
          </a:p>
        </p:txBody>
      </p:sp>
      <p:sp>
        <p:nvSpPr>
          <p:cNvPr id="12" name="TextBox 11"/>
          <p:cNvSpPr txBox="1"/>
          <p:nvPr/>
        </p:nvSpPr>
        <p:spPr>
          <a:xfrm>
            <a:off x="2431161" y="298907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Très bien. Ce sont deux titres qui existent vraiment, et ça, c'est la moitié du travail.</a:t>
            </a:r>
          </a:p>
        </p:txBody>
      </p:sp>
      <p:sp>
        <p:nvSpPr>
          <p:cNvPr id="13" name="Rounded Rectangle 12"/>
          <p:cNvSpPr/>
          <p:nvPr/>
        </p:nvSpPr>
        <p:spPr>
          <a:xfrm>
            <a:off x="566928" y="39116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5" name="TextBox 14"/>
          <p:cNvSpPr txBox="1"/>
          <p:nvPr/>
        </p:nvSpPr>
        <p:spPr>
          <a:xfrm>
            <a:off x="2431161" y="4076191"/>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si l'employeur voit que je viens d'arriver ? Il va prendre quelqu'un d'autre.</a:t>
            </a:r>
          </a:p>
        </p:txBody>
      </p:sp>
      <p:sp>
        <p:nvSpPr>
          <p:cNvPr id="16" name="Rounded Rectangle 15"/>
          <p:cNvSpPr/>
          <p:nvPr/>
        </p:nvSpPr>
        <p:spPr>
          <a:xfrm>
            <a:off x="566928" y="499872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16331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DJAMILA</a:t>
            </a:r>
          </a:p>
        </p:txBody>
      </p:sp>
      <p:sp>
        <p:nvSpPr>
          <p:cNvPr id="18" name="TextBox 17"/>
          <p:cNvSpPr txBox="1"/>
          <p:nvPr/>
        </p:nvSpPr>
        <p:spPr>
          <a:xfrm>
            <a:off x="2431161" y="516331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avez six ans dans le domaine. C'est ce que vous offrez, et c'est ça qu'il faut dire. Pas ce qui vous manque.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Chercher un emploi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300" b="1" i="0">
                <a:solidFill>
                  <a:srgbClr val="17181A"/>
                </a:solidFill>
                <a:latin typeface="Verdana"/>
              </a:rPr>
              <a:t>Ce que Djamila cherche à savoir, et pourquoi</a:t>
            </a:r>
          </a:p>
        </p:txBody>
      </p:sp>
      <p:sp>
        <p:nvSpPr>
          <p:cNvPr id="7" name="Rounded Rectangle 6"/>
          <p:cNvSpPr/>
          <p:nvPr/>
        </p:nvSpPr>
        <p:spPr>
          <a:xfrm>
            <a:off x="566928" y="1810512"/>
            <a:ext cx="11057839" cy="3200400"/>
          </a:xfrm>
          <a:prstGeom prst="roundRect">
            <a:avLst>
              <a:gd name="adj" fmla="val 45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SA QUESTION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EN FAIT</a:t>
            </a:r>
          </a:p>
        </p:txBody>
      </p:sp>
      <p:sp>
        <p:nvSpPr>
          <p:cNvPr id="10" name="TextBox 9"/>
          <p:cNvSpPr txBox="1"/>
          <p:nvPr/>
        </p:nvSpPr>
        <p:spPr>
          <a:xfrm>
            <a:off x="932688" y="2395728"/>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Depuis quand êtes-vous ici ?</a:t>
            </a:r>
          </a:p>
        </p:txBody>
      </p:sp>
      <p:sp>
        <p:nvSpPr>
          <p:cNvPr id="11" name="TextBox 10"/>
          <p:cNvSpPr txBox="1"/>
          <p:nvPr/>
        </p:nvSpPr>
        <p:spPr>
          <a:xfrm>
            <a:off x="4443636" y="2395728"/>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situer le parcours, pas juger</a:t>
            </a:r>
          </a:p>
        </p:txBody>
      </p:sp>
      <p:sp>
        <p:nvSpPr>
          <p:cNvPr id="12" name="Rectangle 11"/>
          <p:cNvSpPr/>
          <p:nvPr/>
        </p:nvSpPr>
        <p:spPr>
          <a:xfrm>
            <a:off x="932688" y="30419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69920"/>
            <a:ext cx="3291492"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Que faisiez-vous avant ?</a:t>
            </a:r>
          </a:p>
        </p:txBody>
      </p:sp>
      <p:sp>
        <p:nvSpPr>
          <p:cNvPr id="14" name="TextBox 13"/>
          <p:cNvSpPr txBox="1"/>
          <p:nvPr/>
        </p:nvSpPr>
        <p:spPr>
          <a:xfrm>
            <a:off x="4443636" y="316992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trouver l'expérience à réutiliser</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Aviez-vous des gens sous votre responsabilité ?</a:t>
            </a:r>
          </a:p>
        </p:txBody>
      </p:sp>
      <p:sp>
        <p:nvSpPr>
          <p:cNvPr id="17" name="TextBox 16"/>
          <p:cNvSpPr txBox="1"/>
          <p:nvPr/>
        </p:nvSpPr>
        <p:spPr>
          <a:xfrm>
            <a:off x="4443636" y="3675887"/>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mesurer le niveau du poste</a:t>
            </a:r>
          </a:p>
        </p:txBody>
      </p:sp>
      <p:sp>
        <p:nvSpPr>
          <p:cNvPr id="18" name="Rectangle 17"/>
          <p:cNvSpPr/>
          <p:nvPr/>
        </p:nvSpPr>
        <p:spPr>
          <a:xfrm>
            <a:off x="932688" y="43220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450080"/>
            <a:ext cx="3291492"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Quel titre visez-vous ?</a:t>
            </a:r>
          </a:p>
        </p:txBody>
      </p:sp>
      <p:sp>
        <p:nvSpPr>
          <p:cNvPr id="20" name="TextBox 19"/>
          <p:cNvSpPr txBox="1"/>
          <p:nvPr/>
        </p:nvSpPr>
        <p:spPr>
          <a:xfrm>
            <a:off x="4443636" y="445008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sans titre, la recherche part dans tous les sens</a:t>
            </a:r>
          </a:p>
        </p:txBody>
      </p:sp>
      <p:sp>
        <p:nvSpPr>
          <p:cNvPr id="21" name="Rounded Rectangle 20"/>
          <p:cNvSpPr/>
          <p:nvPr/>
        </p:nvSpPr>
        <p:spPr>
          <a:xfrm>
            <a:off x="566928" y="524865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50468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Une conseillère pose quatre questions en cinq minutes. Elles suffisent à orienter une recherche.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Chercher un emploi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TITRE DU POSTE</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Une recherche d'emploi commence par un titre exact.</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Je cherche du travail » ne mène nulle part : les offres sont classées par titre. « Commis à l'inventaire », « préposé aux bénéficiaires », « aide-cuisinier » — ce sont ces mots-là qu'on tape dans un site d'emploi, et ce sont eux qu'on écrit dans une lettre.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Chercher un emploi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QUATRE MOTS QUI DÉCIDENT DU REVENU</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bien distinguer</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27152"/>
          </a:xfrm>
          <a:prstGeom prst="rect">
            <a:avLst/>
          </a:prstGeom>
          <a:noFill/>
        </p:spPr>
        <p:txBody>
          <a:bodyPr wrap="square" lIns="0" rIns="0" tIns="0" bIns="0" anchor="t">
            <a:spAutoFit/>
          </a:bodyPr>
          <a:lstStyle/>
          <a:p>
            <a:pPr algn="l">
              <a:lnSpc>
                <a:spcPct val="118000"/>
              </a:lnSpc>
            </a:pPr>
            <a:r>
              <a:rPr sz="2000" b="1" i="0">
                <a:solidFill>
                  <a:srgbClr val="1D6B8F"/>
                </a:solidFill>
                <a:latin typeface="Verdana"/>
              </a:rPr>
              <a:t>Le temps plein</a:t>
            </a:r>
          </a:p>
        </p:txBody>
      </p:sp>
      <p:sp>
        <p:nvSpPr>
          <p:cNvPr id="9" name="TextBox 8"/>
          <p:cNvSpPr txBox="1"/>
          <p:nvPr/>
        </p:nvSpPr>
        <p:spPr>
          <a:xfrm>
            <a:off x="886968" y="2439415"/>
            <a:ext cx="4806543" cy="1149604"/>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De trente-cinq à quarante heures par semaine. C'est ce que la plupart cherchent.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27152"/>
          </a:xfrm>
          <a:prstGeom prst="rect">
            <a:avLst/>
          </a:prstGeom>
          <a:noFill/>
        </p:spPr>
        <p:txBody>
          <a:bodyPr wrap="square" lIns="0" rIns="0" tIns="0" bIns="0" anchor="t">
            <a:spAutoFit/>
          </a:bodyPr>
          <a:lstStyle/>
          <a:p>
            <a:pPr algn="l">
              <a:lnSpc>
                <a:spcPct val="118000"/>
              </a:lnSpc>
            </a:pPr>
            <a:r>
              <a:rPr sz="2000" b="1" i="0">
                <a:solidFill>
                  <a:srgbClr val="1D6B8F"/>
                </a:solidFill>
                <a:latin typeface="Verdana"/>
              </a:rPr>
              <a:t>Le temps partiel</a:t>
            </a:r>
          </a:p>
        </p:txBody>
      </p:sp>
      <p:sp>
        <p:nvSpPr>
          <p:cNvPr id="12" name="TextBox 11"/>
          <p:cNvSpPr txBox="1"/>
          <p:nvPr/>
        </p:nvSpPr>
        <p:spPr>
          <a:xfrm>
            <a:off x="6498183" y="2439415"/>
            <a:ext cx="4806543" cy="1149604"/>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Moins de trente heures. Souvent le premier emploi, rarement le dernier.</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27152"/>
          </a:xfrm>
          <a:prstGeom prst="rect">
            <a:avLst/>
          </a:prstGeom>
          <a:noFill/>
        </p:spPr>
        <p:txBody>
          <a:bodyPr wrap="square" lIns="0" rIns="0" tIns="0" bIns="0" anchor="t">
            <a:spAutoFit/>
          </a:bodyPr>
          <a:lstStyle/>
          <a:p>
            <a:pPr algn="l">
              <a:lnSpc>
                <a:spcPct val="118000"/>
              </a:lnSpc>
            </a:pPr>
            <a:r>
              <a:rPr sz="2000" b="1" i="0">
                <a:solidFill>
                  <a:srgbClr val="1D6B8F"/>
                </a:solidFill>
                <a:latin typeface="Verdana"/>
              </a:rPr>
              <a:t>Un poste permanent</a:t>
            </a:r>
          </a:p>
        </p:txBody>
      </p:sp>
      <p:sp>
        <p:nvSpPr>
          <p:cNvPr id="15" name="TextBox 14"/>
          <p:cNvSpPr txBox="1"/>
          <p:nvPr/>
        </p:nvSpPr>
        <p:spPr>
          <a:xfrm>
            <a:off x="886968" y="4656836"/>
            <a:ext cx="4806543" cy="1149604"/>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Sans date de fin prévue. Ce n'est pas une garantie d'emploi à vie, mais ce n'est pas un contrat.</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27152"/>
          </a:xfrm>
          <a:prstGeom prst="rect">
            <a:avLst/>
          </a:prstGeom>
          <a:noFill/>
        </p:spPr>
        <p:txBody>
          <a:bodyPr wrap="square" lIns="0" rIns="0" tIns="0" bIns="0" anchor="t">
            <a:spAutoFit/>
          </a:bodyPr>
          <a:lstStyle/>
          <a:p>
            <a:pPr algn="l">
              <a:lnSpc>
                <a:spcPct val="118000"/>
              </a:lnSpc>
            </a:pPr>
            <a:r>
              <a:rPr sz="2000" b="1" i="0">
                <a:solidFill>
                  <a:srgbClr val="1D6B8F"/>
                </a:solidFill>
                <a:latin typeface="Verdana"/>
              </a:rPr>
              <a:t>Un contrat ou un remplacement</a:t>
            </a:r>
          </a:p>
        </p:txBody>
      </p:sp>
      <p:sp>
        <p:nvSpPr>
          <p:cNvPr id="18" name="TextBox 17"/>
          <p:cNvSpPr txBox="1"/>
          <p:nvPr/>
        </p:nvSpPr>
        <p:spPr>
          <a:xfrm>
            <a:off x="6498183" y="4656836"/>
            <a:ext cx="4806543" cy="1149604"/>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Avec une date de fin écrite. Utile pour entrer quelque part, à savoir dès le départ.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Chercher un emploi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RÉPONDRE PAR CE QUI MANQUE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viens d'arriver, je ne parle pas bien.</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J'ai six ans d'expérience dans ce domaine.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employeur n'engage pas pour combler un manque : il engage pour un besoin. La phrase qui commence par une excuse place le candidat en position de demandeur ; celle qui commence par l'expérience le place en position d'offrant. Les deux sont vraies — une seule fait avancer.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Chercher un emploi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Marisol est au Québec depuis deux ans.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travaille à temps plein dans un entrepôt.</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était responsable des stocks pendant six ans.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veut changer complètement de secteur.</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Son curriculum vitæ est en français.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Djamila lui conseille de parler de ce qui lui manque.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Chercher un emploi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Marisol est au Québec depuis deux ans.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travaille à temps plein dans un entrepôt.   </a:t>
            </a:r>
            <a:r>
              <a:rPr sz="1400" b="1" i="0">
                <a:solidFill>
                  <a:srgbClr val="07734A"/>
                </a:solidFill>
                <a:latin typeface="Verdana"/>
              </a:rPr>
              <a:t>» faux — trois jours par semaine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était responsable des stocks pendant six ans.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veut changer complètement de secteur.   </a:t>
            </a:r>
            <a:r>
              <a:rPr sz="1400" b="1" i="0">
                <a:solidFill>
                  <a:srgbClr val="07734A"/>
                </a:solidFill>
                <a:latin typeface="Verdana"/>
              </a:rPr>
              <a:t>» faux — elle veut le même métier, ici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Son curriculum vitæ est en français.   </a:t>
            </a:r>
            <a:r>
              <a:rPr sz="1400" b="1" i="0">
                <a:solidFill>
                  <a:srgbClr val="07734A"/>
                </a:solidFill>
                <a:latin typeface="Verdana"/>
              </a:rPr>
              <a:t>» faux — encore en espagnol</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Djamila lui conseille de parler de ce qui lui manque.   </a:t>
            </a:r>
            <a:r>
              <a:rPr sz="1400" b="1" i="0">
                <a:solidFill>
                  <a:srgbClr val="07734A"/>
                </a:solidFill>
                <a:latin typeface="Verdana"/>
              </a:rPr>
              <a:t>» faux — de ce qu'elle offre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Chercher un emploi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 titre exact du poste que vous cherchez.</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Dans quel secteur d'activité se trouve-t-il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Combien d'années avez-vous faites dans ce domaine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Chercher un emploi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