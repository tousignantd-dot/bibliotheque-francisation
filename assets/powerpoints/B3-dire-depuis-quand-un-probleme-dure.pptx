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longue et centrale. Trois marqueurs, un seul sens. Prévoir beaucoup de production orale avant l'écrit.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capital à installer avant les trois marqueurs. Le répéter à chaque exemple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cinq phrases orales avec depuis avant de passer au deuxième marqueur.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c'est le petit mot « que » qui autorise un verbe conjugué après. Sans lui, pas de verbe.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pragmatique important : choisir « ça fait… que » est déjà une façon polie de se plaindre. On y reviendra à la séance D2.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le vrai apprentissage : les trois formes ne sont pas interchangeables au niveau du ton, même si elles le sont au niveau du sens.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ces trois lignes au tableau. C'est la diapo à photographier.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à voix haute : « après, il y a un nom » ou « après, il y a un sujet et un verbe ». C'est le raisonnement qu'il faut automatiser, pas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extrêmement fréquente et très durable. La signaler chaque fois qu'elle apparaît, jusqu'à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pièges symétriques : le que manquant, et le que en trop. Les présenter ensemble aide à les distinguer.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 repérage. Il prépare la production : pour dire depuis quand, il faut d'abord savoir isoler la durée.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phrases, pas une. C'est la reformulation qui prouve la compréhension, pas la production d'une seule forme.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B3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Dire depuis quand un problème dure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Dès que vous signalez un problème, la personne propriétaire va demander « depuis quand ? ». Cette réponse décide souvent de l'urgence de l'intervention. Le français offre trois façons de la donner.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répondre à la question « depuis quand ? » de trois façons différentes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entre depuis, depuis que et ça fait… que en regardant ce qui suit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garder le verbe au présent quand la situation dure encore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mettre la durée en valeur quand je trouve que ça traîne.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POINT COMMUN</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Dans les trois cas, le verbe reste au présent, parce que la situation dure encore.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 robinet coule depuis deux jours » — et il coule toujours en ce moment. C'est la différence la plus importante avec beaucoup d'autres langues, où on emploierait un temps du passé.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depuis + un nom ou une durée</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REMARQUE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situation</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calorifère est froid</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au présent</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marqueur</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depuis</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jamais de verbe après</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nom ou une durée</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avant-hier</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ou : deux jours, lundi</a:t>
            </a:r>
          </a:p>
        </p:txBody>
      </p:sp>
      <p:sp>
        <p:nvSpPr>
          <p:cNvPr id="22" name="Rounded Rectangle 21"/>
          <p:cNvSpPr/>
          <p:nvPr/>
        </p:nvSpPr>
        <p:spPr>
          <a:xfrm>
            <a:off x="566928" y="4306824"/>
            <a:ext cx="11057839" cy="1506474"/>
          </a:xfrm>
          <a:prstGeom prst="roundRect">
            <a:avLst>
              <a:gd name="adj" fmla="val 971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562856"/>
            <a:ext cx="10234879" cy="104927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Deux emplois dans un seul mot : depuis lundi donne le point de départ, depuis deux jours donne la durée. La phrase complète : « Le calorifère est froid depuis avant-hier.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depuis que + une phrase complète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REMARQUE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situation</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porte n'ouvre plus</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au présent</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marqueur</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depuis que</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que change tout</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Sujet + verbe conjugué</a:t>
            </a:r>
          </a:p>
        </p:txBody>
      </p:sp>
      <p:sp>
        <p:nvSpPr>
          <p:cNvPr id="20" name="TextBox 19"/>
          <p:cNvSpPr txBox="1"/>
          <p:nvPr/>
        </p:nvSpPr>
        <p:spPr>
          <a:xfrm>
            <a:off x="4374794" y="3474720"/>
            <a:ext cx="3222650"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vous avez ajouté un vélo</a:t>
            </a:r>
          </a:p>
        </p:txBody>
      </p:sp>
      <p:sp>
        <p:nvSpPr>
          <p:cNvPr id="21" name="TextBox 20"/>
          <p:cNvSpPr txBox="1"/>
          <p:nvPr/>
        </p:nvSpPr>
        <p:spPr>
          <a:xfrm>
            <a:off x="7816900" y="3474720"/>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phrase entière</a:t>
            </a:r>
          </a:p>
        </p:txBody>
      </p:sp>
      <p:sp>
        <p:nvSpPr>
          <p:cNvPr id="22" name="Rounded Rectangle 21"/>
          <p:cNvSpPr/>
          <p:nvPr/>
        </p:nvSpPr>
        <p:spPr>
          <a:xfrm>
            <a:off x="566928" y="4608576"/>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864608"/>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Depuis que relie deux actions : la deuxième dure depuis que la première a eu lieu. C'est le marqueur qui explique une cause dans le temps.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ça fait… que + une phrase complète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REMARQUE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L'ouverture</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Ça fait</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durée passe en premier</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durée</a:t>
            </a:r>
          </a:p>
        </p:txBody>
      </p:sp>
      <p:sp>
        <p:nvSpPr>
          <p:cNvPr id="16" name="TextBox 15"/>
          <p:cNvSpPr txBox="1"/>
          <p:nvPr/>
        </p:nvSpPr>
        <p:spPr>
          <a:xfrm>
            <a:off x="4374794" y="2935224"/>
            <a:ext cx="3222650"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deux semaines</a:t>
            </a:r>
          </a:p>
        </p:txBody>
      </p:sp>
      <p:sp>
        <p:nvSpPr>
          <p:cNvPr id="17" name="TextBox 16"/>
          <p:cNvSpPr txBox="1"/>
          <p:nvPr/>
        </p:nvSpPr>
        <p:spPr>
          <a:xfrm>
            <a:off x="7816900" y="2935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elle qu'on met en valeur</a:t>
            </a:r>
          </a:p>
        </p:txBody>
      </p:sp>
      <p:sp>
        <p:nvSpPr>
          <p:cNvPr id="18" name="Rectangle 17"/>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77647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 + phrase</a:t>
            </a:r>
          </a:p>
        </p:txBody>
      </p:sp>
      <p:sp>
        <p:nvSpPr>
          <p:cNvPr id="20" name="TextBox 19"/>
          <p:cNvSpPr txBox="1"/>
          <p:nvPr/>
        </p:nvSpPr>
        <p:spPr>
          <a:xfrm>
            <a:off x="4374794" y="3776472"/>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que la tache est là</a:t>
            </a:r>
          </a:p>
        </p:txBody>
      </p:sp>
      <p:sp>
        <p:nvSpPr>
          <p:cNvPr id="21" name="TextBox 20"/>
          <p:cNvSpPr txBox="1"/>
          <p:nvPr/>
        </p:nvSpPr>
        <p:spPr>
          <a:xfrm>
            <a:off x="7816900" y="377647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que est obligatoire</a:t>
            </a:r>
          </a:p>
        </p:txBody>
      </p:sp>
      <p:sp>
        <p:nvSpPr>
          <p:cNvPr id="22" name="Rounded Rectangle 21"/>
          <p:cNvSpPr/>
          <p:nvPr/>
        </p:nvSpPr>
        <p:spPr>
          <a:xfrm>
            <a:off x="566928" y="4608576"/>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864608"/>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C'est la forme la plus fréquente à l'oral au Québec. Elle sert souvent à faire sentir que c'est long — donc à insister sans hausser le ton.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COMPARER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idée, trois formulations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depuis + durée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La tache est là depuis deux semaines. » Neutre. On informe, on ne commente pas.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ça fait… que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Ça fait deux semaines que la tache est là. » Le contenu est identique, mais la durée ouvre la phrase : on insiste sur la longueur.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depuis que + phrase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La tache grossit depuis qu'il a plu dimanche. » Ce n'est plus une durée, c'est une cause : on relie le problème à un événement.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Laquelle choisir ?</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Depuis pour informer. Ça fait… que quand on commence à trouver le temps long. Depuis que quand on sait d'où vient le problème.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COMMENT CHOISIR EN DEUX SECONDES</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Regardez ce qui vient après.</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nom ou une durée seule — deux jours, hier, ce matin : depuis. Un verbe conjugué : depuis que. Vous voulez commencer la phrase par la durée : ça fait… 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Avec depuis, depuis que ou ça fait.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calorifère ne chauffe plus ___ avant-hier.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deux semaines que cette tache est au plafond.</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porte n'ouvre plus au complet ___ Jean-Philippe a ajouté un vélo.</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voisins se plaignent ___ un mois.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trois jours qu'Oksana attend l'électricien.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L'escalier reste propre ___ le concierge a posé un tapis.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calorifère ne chauffe plus ___ avant-hier.   </a:t>
            </a:r>
            <a:r>
              <a:rPr sz="1400" b="1" i="0">
                <a:solidFill>
                  <a:srgbClr val="07734A"/>
                </a:solidFill>
                <a:latin typeface="Verdana"/>
              </a:rPr>
              <a:t>» depuis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deux semaines que cette tache est au plafond.   </a:t>
            </a:r>
            <a:r>
              <a:rPr sz="1400" b="1" i="0">
                <a:solidFill>
                  <a:srgbClr val="07734A"/>
                </a:solidFill>
                <a:latin typeface="Verdana"/>
              </a:rPr>
              <a:t>» Ça fait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porte n'ouvre plus au complet ___ Jean-Philippe a ajouté un vélo.   </a:t>
            </a:r>
            <a:r>
              <a:rPr sz="1400" b="1" i="0">
                <a:solidFill>
                  <a:srgbClr val="07734A"/>
                </a:solidFill>
                <a:latin typeface="Verdana"/>
              </a:rPr>
              <a:t>» depuis que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voisins se plaignent ___ un mois.   </a:t>
            </a:r>
            <a:r>
              <a:rPr sz="1400" b="1" i="0">
                <a:solidFill>
                  <a:srgbClr val="07734A"/>
                </a:solidFill>
                <a:latin typeface="Verdana"/>
              </a:rPr>
              <a:t>» depuis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trois jours qu'Oksana attend l'électricien.   </a:t>
            </a:r>
            <a:r>
              <a:rPr sz="1400" b="1" i="0">
                <a:solidFill>
                  <a:srgbClr val="07734A"/>
                </a:solidFill>
                <a:latin typeface="Verdana"/>
              </a:rPr>
              <a:t>» Ça fait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L'escalier reste propre ___ le concierge a posé un tapis.   </a:t>
            </a:r>
            <a:r>
              <a:rPr sz="1400" b="1" i="0">
                <a:solidFill>
                  <a:srgbClr val="07734A"/>
                </a:solidFill>
                <a:latin typeface="Verdana"/>
              </a:rPr>
              <a:t>» depuis que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TEMPS DU VERBE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habité ici depuis deux ans.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J'habite ici depuis deux ans.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 français, une action qui dure encore reste au présent avec depuis. Le passé composé voudrait dire que vous n'y habitez plus. C'est une des différences les plus visibles avec l'anglais et avec plusieurs autres langues, où le temps du passé est obligatoire dans cette phrase.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QUE OUBLIÉ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Ça fait deux semaines la tache est là.</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Ça fait deux semaines que la tache est là.</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que est obligatoire : c'est lui qui relie la durée à la phrase qui suit. C'est l'oubli le plus fréquent des trois. Attention aussi à l'inverse : « depuis que hier » est incorrect, parce que hier n'est pas une phrase — on dit simplement « depuis hier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est la durée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la phrase et écrivez seulement la durée ou le moment de départ.</a:t>
            </a:r>
          </a:p>
        </p:txBody>
      </p:sp>
      <p:sp>
        <p:nvSpPr>
          <p:cNvPr id="8" name="Rounded Rectangle 7"/>
          <p:cNvSpPr/>
          <p:nvPr/>
        </p:nvSpPr>
        <p:spPr>
          <a:xfrm>
            <a:off x="566928" y="2139696"/>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deux semaines que la tache est au plafond.</a:t>
            </a:r>
          </a:p>
        </p:txBody>
      </p:sp>
      <p:sp>
        <p:nvSpPr>
          <p:cNvPr id="12" name="Rounded Rectangle 11"/>
          <p:cNvSpPr/>
          <p:nvPr/>
        </p:nvSpPr>
        <p:spPr>
          <a:xfrm>
            <a:off x="6159855" y="2139696"/>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serrure est brisée depuis samedi passé.</a:t>
            </a:r>
          </a:p>
        </p:txBody>
      </p:sp>
      <p:sp>
        <p:nvSpPr>
          <p:cNvPr id="16" name="Rounded Rectangle 15"/>
          <p:cNvSpPr/>
          <p:nvPr/>
        </p:nvSpPr>
        <p:spPr>
          <a:xfrm>
            <a:off x="566928" y="3218688"/>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robinet de la cuisine coule depuis deux jours.</a:t>
            </a:r>
          </a:p>
        </p:txBody>
      </p:sp>
      <p:sp>
        <p:nvSpPr>
          <p:cNvPr id="20" name="Rounded Rectangle 19"/>
          <p:cNvSpPr/>
          <p:nvPr/>
        </p:nvSpPr>
        <p:spPr>
          <a:xfrm>
            <a:off x="6159855" y="3218688"/>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un mois que les voisins se plaignent.</a:t>
            </a:r>
          </a:p>
        </p:txBody>
      </p:sp>
      <p:sp>
        <p:nvSpPr>
          <p:cNvPr id="24" name="Rounded Rectangle 23"/>
          <p:cNvSpPr/>
          <p:nvPr/>
        </p:nvSpPr>
        <p:spPr>
          <a:xfrm>
            <a:off x="566928" y="4297680"/>
            <a:ext cx="5464911"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902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6542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453128"/>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trois heures que nous attendons le plombier.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est la durée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deux semaines que la tache est au plafond.   </a:t>
            </a:r>
            <a:r>
              <a:rPr sz="1800" b="1" i="0">
                <a:solidFill>
                  <a:srgbClr val="07734A"/>
                </a:solidFill>
                <a:latin typeface="Verdana"/>
              </a:rPr>
              <a:t>» deux semaines</a:t>
            </a:r>
          </a:p>
        </p:txBody>
      </p:sp>
      <p:sp>
        <p:nvSpPr>
          <p:cNvPr id="12" name="Rounded Rectangle 11"/>
          <p:cNvSpPr/>
          <p:nvPr/>
        </p:nvSpPr>
        <p:spPr>
          <a:xfrm>
            <a:off x="6159855" y="2139696"/>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serrure est brisée depuis samedi passé.   </a:t>
            </a:r>
            <a:r>
              <a:rPr sz="1800" b="1" i="0">
                <a:solidFill>
                  <a:srgbClr val="07734A"/>
                </a:solidFill>
                <a:latin typeface="Verdana"/>
              </a:rPr>
              <a:t>» samedi passé</a:t>
            </a:r>
          </a:p>
        </p:txBody>
      </p:sp>
      <p:sp>
        <p:nvSpPr>
          <p:cNvPr id="16" name="Rounded Rectangle 15"/>
          <p:cNvSpPr/>
          <p:nvPr/>
        </p:nvSpPr>
        <p:spPr>
          <a:xfrm>
            <a:off x="566928" y="3218688"/>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robinet de la cuisine coule depuis deux jours.   </a:t>
            </a:r>
            <a:r>
              <a:rPr sz="1800" b="1" i="0">
                <a:solidFill>
                  <a:srgbClr val="07734A"/>
                </a:solidFill>
                <a:latin typeface="Verdana"/>
              </a:rPr>
              <a:t>» deux jours</a:t>
            </a:r>
          </a:p>
        </p:txBody>
      </p:sp>
      <p:sp>
        <p:nvSpPr>
          <p:cNvPr id="20" name="Rounded Rectangle 19"/>
          <p:cNvSpPr/>
          <p:nvPr/>
        </p:nvSpPr>
        <p:spPr>
          <a:xfrm>
            <a:off x="6159855" y="3218688"/>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1129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7530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74136"/>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un mois que les voisins se plaignent.   </a:t>
            </a:r>
            <a:r>
              <a:rPr sz="1800" b="1" i="0">
                <a:solidFill>
                  <a:srgbClr val="07734A"/>
                </a:solidFill>
                <a:latin typeface="Verdana"/>
              </a:rPr>
              <a:t>» un mois</a:t>
            </a:r>
          </a:p>
        </p:txBody>
      </p:sp>
      <p:sp>
        <p:nvSpPr>
          <p:cNvPr id="24" name="Rounded Rectangle 23"/>
          <p:cNvSpPr/>
          <p:nvPr/>
        </p:nvSpPr>
        <p:spPr>
          <a:xfrm>
            <a:off x="566928" y="4297680"/>
            <a:ext cx="5464911"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902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6542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453128"/>
            <a:ext cx="4504791"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fait trois heures que nous attendons le plombier.   </a:t>
            </a:r>
            <a:r>
              <a:rPr sz="1800" b="1" i="0">
                <a:solidFill>
                  <a:srgbClr val="07734A"/>
                </a:solidFill>
                <a:latin typeface="Verdana"/>
              </a:rPr>
              <a:t>» trois heures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VÉRIFICATION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questions rapides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regarder vos notes.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est froid ___ trois jours.</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Tout va mieux ___ le concierge est arrivé.</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un mois que j'attends la réparation.</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temps de verbe emploie-t-on avec depuis ?</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deux jours ___ il pleut.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questions rapides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est froid ___ trois jours.   </a:t>
            </a:r>
            <a:r>
              <a:rPr sz="1900" b="1" i="0">
                <a:solidFill>
                  <a:srgbClr val="07734A"/>
                </a:solidFill>
                <a:latin typeface="Verdana"/>
              </a:rPr>
              <a:t>» depuis — une durée, pas une phrase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Tout va mieux ___ le concierge est arrivé.   </a:t>
            </a:r>
            <a:r>
              <a:rPr sz="1900" b="1" i="0">
                <a:solidFill>
                  <a:srgbClr val="07734A"/>
                </a:solidFill>
                <a:latin typeface="Verdana"/>
              </a:rPr>
              <a:t>» depuis que — un sujet et un verbe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un mois que j'attends la réparation.   </a:t>
            </a:r>
            <a:r>
              <a:rPr sz="1900" b="1" i="0">
                <a:solidFill>
                  <a:srgbClr val="07734A"/>
                </a:solidFill>
                <a:latin typeface="Verdana"/>
              </a:rPr>
              <a:t>» Ça fait</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temps de verbe emploie-t-on avec depuis ?   </a:t>
            </a:r>
            <a:r>
              <a:rPr sz="1900" b="1" i="0">
                <a:solidFill>
                  <a:srgbClr val="07734A"/>
                </a:solidFill>
                <a:latin typeface="Verdana"/>
              </a:rPr>
              <a:t>» le présent</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deux jours ___ il pleut.   </a:t>
            </a:r>
            <a:r>
              <a:rPr sz="1900" b="1" i="0">
                <a:solidFill>
                  <a:srgbClr val="07734A"/>
                </a:solidFill>
                <a:latin typeface="Verdana"/>
              </a:rPr>
              <a:t>» qu' — le que est obligatoire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17</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Dites depuis quand dure un problème de votre logement — de deux façons différentes.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avec depuis, une phrase avec ça fait… que.</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Mon robinet coule depuis trois jours. » / « Ça fait trois jours que mon robinet coule.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