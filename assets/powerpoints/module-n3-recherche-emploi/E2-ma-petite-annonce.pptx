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Prévoir du carton et des crayons feutres : l'annonce se termine à la main, et elle repart avec l'élève.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et à laisser affichée pendant l'écriture.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vérifier deux fois le numéro : un chiffre de travers, et l'annonce ne sert à rien.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Point de sécurité : le dire clairement, une fois, sans dramatiser, et vérifier chaque annonce à la fin.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nommer par le groupe cinq babillards du quartier, avec les rues. La liste vaut plus que l'annonce elle-même.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Même exercice que t3annparts dans le module. Il sert de plan à l'écriture qui suit : ne pas s'y attarder plus de dix minutes.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Trente minutes. Faire vérifier par l'assistant avant de recopier au propre : la correction reste privée, et seul ce que l'élève envoie arrive à l'enseignante.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Même exercice que aComp dans le module. Enchaîner avec les cartes mémoire du rail « Mes outils »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minutes. Lire deux ou trois billets à voix haute, sans nommer personne : c'est la meilleure fin possible pour ce module-là.</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SÉANCE E2  ·  MODULE 10</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Ma petite annonce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Six lignes sur un carton, un numéro en gros en bas, et le quartier sait ce que vous savez faire. C'est le dernier geste du module, et le seul qui travaille pendant que vous dormez.</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On embauche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écrire une petite annonce en six lignes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protéger ses renseignements personnels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réviser le vocabulaire du module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évaluer ce qu'on est maintenant capable de faire.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PLAN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trois premières lignes</a:t>
            </a:r>
          </a:p>
        </p:txBody>
      </p:sp>
      <p:sp>
        <p:nvSpPr>
          <p:cNvPr id="7" name="Rounded Rectangle 6"/>
          <p:cNvSpPr/>
          <p:nvPr/>
        </p:nvSpPr>
        <p:spPr>
          <a:xfrm>
            <a:off x="566928" y="1810512"/>
            <a:ext cx="11057839" cy="2258568"/>
          </a:xfrm>
          <a:prstGeom prst="roundRect">
            <a:avLst>
              <a:gd name="adj" fmla="val 647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LIGNE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QU'ELLE CONTIENT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1. Le titre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MÉNAGE ET GARDE D'ENFANTS, en gros</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2. Qui je suis</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Je m'appelle… et j'habite dans…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3. Ce que je sais faire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J'ai six ans d'expérience en…</a:t>
            </a:r>
          </a:p>
        </p:txBody>
      </p:sp>
      <p:sp>
        <p:nvSpPr>
          <p:cNvPr id="18" name="Rounded Rectangle 17"/>
          <p:cNvSpPr/>
          <p:nvPr/>
        </p:nvSpPr>
        <p:spPr>
          <a:xfrm>
            <a:off x="566928" y="4306824"/>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4562856"/>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 titre nomme le service, jamais la personne.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PLAN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trois dernières lignes</a:t>
            </a:r>
          </a:p>
        </p:txBody>
      </p:sp>
      <p:sp>
        <p:nvSpPr>
          <p:cNvPr id="7" name="Rounded Rectangle 6"/>
          <p:cNvSpPr/>
          <p:nvPr/>
        </p:nvSpPr>
        <p:spPr>
          <a:xfrm>
            <a:off x="566928" y="1810512"/>
            <a:ext cx="11057839" cy="2258568"/>
          </a:xfrm>
          <a:prstGeom prst="roundRect">
            <a:avLst>
              <a:gd name="adj" fmla="val 647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LIGNE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QU'ELLE CONTIENT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4. Quand je suis libre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Du lundi au vendredi, de 8 h à 13 h</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5. Mon prix</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Je demande 20 $ de l'heure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6. Mon numéro</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Appelez-moi au 438 555-0192</a:t>
            </a:r>
          </a:p>
        </p:txBody>
      </p:sp>
      <p:sp>
        <p:nvSpPr>
          <p:cNvPr id="18" name="Rounded Rectangle 17"/>
          <p:cNvSpPr/>
          <p:nvPr/>
        </p:nvSpPr>
        <p:spPr>
          <a:xfrm>
            <a:off x="566928" y="4306824"/>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4562856"/>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 numéro va toujours en dernier, et plus gros que le reste.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JAMAIS SON ADRESSE COMPLÈTE SUR UN BABILLARD</a:t>
            </a:r>
          </a:p>
        </p:txBody>
      </p:sp>
      <p:sp>
        <p:nvSpPr>
          <p:cNvPr id="6" name="Rounded Rectangle 5"/>
          <p:cNvSpPr/>
          <p:nvPr/>
        </p:nvSpPr>
        <p:spPr>
          <a:xfrm>
            <a:off x="566928" y="1225296"/>
            <a:ext cx="11057839" cy="1441196"/>
          </a:xfrm>
          <a:prstGeom prst="roundRect">
            <a:avLst>
              <a:gd name="adj" fmla="val 10151"/>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quartier suffit.</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babillard est public : tout le monde y lit. « J'habite dans Saint-Michel » dit que vous êtes proche sans dire où vous habitez. Le numéro de téléphone suffit pour vous joindre.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TROIS CHOSES QUI FONT LA DIFFÉRENCE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Avant de punaiser</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72110"/>
          </a:xfrm>
          <a:prstGeom prst="rect">
            <a:avLst/>
          </a:prstGeom>
          <a:noFill/>
        </p:spPr>
        <p:txBody>
          <a:bodyPr wrap="square" lIns="0" rIns="0" tIns="0" bIns="0" anchor="t">
            <a:spAutoFit/>
          </a:bodyPr>
          <a:lstStyle/>
          <a:p>
            <a:pPr algn="l">
              <a:lnSpc>
                <a:spcPct val="118000"/>
              </a:lnSpc>
            </a:pPr>
            <a:r>
              <a:rPr sz="2300" b="1" i="0">
                <a:solidFill>
                  <a:srgbClr val="A5335F"/>
                </a:solidFill>
                <a:latin typeface="Verdana"/>
              </a:rPr>
              <a:t>Le titre, pas le nom</a:t>
            </a:r>
          </a:p>
        </p:txBody>
      </p:sp>
      <p:sp>
        <p:nvSpPr>
          <p:cNvPr id="9" name="TextBox 8"/>
          <p:cNvSpPr txBox="1"/>
          <p:nvPr/>
        </p:nvSpPr>
        <p:spPr>
          <a:xfrm>
            <a:off x="886968" y="2484373"/>
            <a:ext cx="4806543" cy="110464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Celui qui cherche quelqu'un pour son ménage cherche le mot « ménage », pas votre prénom. Le titre nomme le service, en gros, tout en haut.</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72110"/>
          </a:xfrm>
          <a:prstGeom prst="rect">
            <a:avLst/>
          </a:prstGeom>
          <a:noFill/>
        </p:spPr>
        <p:txBody>
          <a:bodyPr wrap="square" lIns="0" rIns="0" tIns="0" bIns="0" anchor="t">
            <a:spAutoFit/>
          </a:bodyPr>
          <a:lstStyle/>
          <a:p>
            <a:pPr algn="l">
              <a:lnSpc>
                <a:spcPct val="118000"/>
              </a:lnSpc>
            </a:pPr>
            <a:r>
              <a:rPr sz="2300" b="1" i="0">
                <a:solidFill>
                  <a:srgbClr val="A5335F"/>
                </a:solidFill>
                <a:latin typeface="Verdana"/>
              </a:rPr>
              <a:t>Un prix, même approximatif</a:t>
            </a:r>
          </a:p>
        </p:txBody>
      </p:sp>
      <p:sp>
        <p:nvSpPr>
          <p:cNvPr id="12" name="TextBox 11"/>
          <p:cNvSpPr txBox="1"/>
          <p:nvPr/>
        </p:nvSpPr>
        <p:spPr>
          <a:xfrm>
            <a:off x="6498183" y="2484373"/>
            <a:ext cx="4806543" cy="110464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Sans montant, on vous appelle pour demander le prix — ou on ne vous appelle pas. Écrivez un montant, quitte à ajouter « à discuter ».</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72110"/>
          </a:xfrm>
          <a:prstGeom prst="rect">
            <a:avLst/>
          </a:prstGeom>
          <a:noFill/>
        </p:spPr>
        <p:txBody>
          <a:bodyPr wrap="square" lIns="0" rIns="0" tIns="0" bIns="0" anchor="t">
            <a:spAutoFit/>
          </a:bodyPr>
          <a:lstStyle/>
          <a:p>
            <a:pPr algn="l">
              <a:lnSpc>
                <a:spcPct val="118000"/>
              </a:lnSpc>
            </a:pPr>
            <a:r>
              <a:rPr sz="2300" b="1" i="0">
                <a:solidFill>
                  <a:srgbClr val="A5335F"/>
                </a:solidFill>
                <a:latin typeface="Verdana"/>
              </a:rPr>
              <a:t>Les languettes</a:t>
            </a:r>
          </a:p>
        </p:txBody>
      </p:sp>
      <p:sp>
        <p:nvSpPr>
          <p:cNvPr id="15" name="TextBox 14"/>
          <p:cNvSpPr txBox="1"/>
          <p:nvPr/>
        </p:nvSpPr>
        <p:spPr>
          <a:xfrm>
            <a:off x="886968" y="4701794"/>
            <a:ext cx="4806543" cy="110464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Découpez le bas en languettes, avec votre numéro sur chacune. Celui qui passe en arrache une et l'emporte : il n'a rien à noter.</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72110"/>
          </a:xfrm>
          <a:prstGeom prst="rect">
            <a:avLst/>
          </a:prstGeom>
          <a:noFill/>
        </p:spPr>
        <p:txBody>
          <a:bodyPr wrap="square" lIns="0" rIns="0" tIns="0" bIns="0" anchor="t">
            <a:spAutoFit/>
          </a:bodyPr>
          <a:lstStyle/>
          <a:p>
            <a:pPr algn="l">
              <a:lnSpc>
                <a:spcPct val="118000"/>
              </a:lnSpc>
            </a:pPr>
            <a:r>
              <a:rPr sz="2300" b="1" i="0">
                <a:solidFill>
                  <a:srgbClr val="A5335F"/>
                </a:solidFill>
                <a:latin typeface="Verdana"/>
              </a:rPr>
              <a:t>Où la punaiser</a:t>
            </a:r>
          </a:p>
        </p:txBody>
      </p:sp>
      <p:sp>
        <p:nvSpPr>
          <p:cNvPr id="18" name="TextBox 17"/>
          <p:cNvSpPr txBox="1"/>
          <p:nvPr/>
        </p:nvSpPr>
        <p:spPr>
          <a:xfrm>
            <a:off x="6498183" y="4701794"/>
            <a:ext cx="4806543" cy="110464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Épicerie, buanderie, pharmacie, centre communautaire, entrée d'immeuble. Quatre ou cinq endroits valent mieux qu'un seul très bien choisi.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ÉCRITURE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Complétez le plan de l'annonce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Complétez avec : titre, nom, expérience, libre, demande, numéro.</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En haut, on écrit un ___ en grosses lettres.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Ensuite, je donne mon ___ et mon quartier.</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J'écris que j'ai six ans d'___ en garde d'enfants.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dis que je suis ___ du lundi au vendredi.</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___ 20 $ de l'heure.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Tout en bas, mon ___ de téléphone, en gros.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Complétez le plan de l'annonce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En haut, on écrit un ___ en grosses lettres.   </a:t>
            </a:r>
            <a:r>
              <a:rPr sz="1400" b="1" i="0">
                <a:solidFill>
                  <a:srgbClr val="07734A"/>
                </a:solidFill>
                <a:latin typeface="Verdana"/>
              </a:rPr>
              <a:t>» titre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Ensuite, je donne mon ___ et mon quartier.   </a:t>
            </a:r>
            <a:r>
              <a:rPr sz="1400" b="1" i="0">
                <a:solidFill>
                  <a:srgbClr val="07734A"/>
                </a:solidFill>
                <a:latin typeface="Verdana"/>
              </a:rPr>
              <a:t>» nom</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J'écris que j'ai six ans d'___ en garde d'enfants.   </a:t>
            </a:r>
            <a:r>
              <a:rPr sz="1400" b="1" i="0">
                <a:solidFill>
                  <a:srgbClr val="07734A"/>
                </a:solidFill>
                <a:latin typeface="Verdana"/>
              </a:rPr>
              <a:t>» expérience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dis que je suis ___ du lundi au vendredi.   </a:t>
            </a:r>
            <a:r>
              <a:rPr sz="1400" b="1" i="0">
                <a:solidFill>
                  <a:srgbClr val="07734A"/>
                </a:solidFill>
                <a:latin typeface="Verdana"/>
              </a:rPr>
              <a:t>» libre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___ 20 $ de l'heure.   </a:t>
            </a:r>
            <a:r>
              <a:rPr sz="1400" b="1" i="0">
                <a:solidFill>
                  <a:srgbClr val="07734A"/>
                </a:solidFill>
                <a:latin typeface="Verdana"/>
              </a:rPr>
              <a:t>» demande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Tout en bas, mon ___ de téléphone, en gros.   </a:t>
            </a:r>
            <a:r>
              <a:rPr sz="1400" b="1" i="0">
                <a:solidFill>
                  <a:srgbClr val="07734A"/>
                </a:solidFill>
                <a:latin typeface="Verdana"/>
              </a:rPr>
              <a:t>» numéro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PRODUCTION ÉCRITE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Écrivez votre annonce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Six lignes, de 5 à 8 phrases. Puis recopiez-la sur le carton.</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titre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Votre expérience</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Vos disponibilités</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Votre prix et votre numéro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mot juste, pour finir</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Complétez avec un mot du module.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___ « On embauche » est collée dans la vitrine.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J'ai pris deux annonces sur le ___ de l'épicerie.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___ est de 16,50 $ de l'heure.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Mon ___ va de 9 h à 13 h, du mardi au samedi.</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Hugo me donne un ___ de demande d'emploi.</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J'ai punaisé ma petite ___ à côté de la caisse.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mot juste, pour finir</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___ « On embauche » est collée dans la vitrine.   </a:t>
            </a:r>
            <a:r>
              <a:rPr sz="1400" b="1" i="0">
                <a:solidFill>
                  <a:srgbClr val="07734A"/>
                </a:solidFill>
                <a:latin typeface="Verdana"/>
              </a:rPr>
              <a:t>» affiche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J'ai pris deux annonces sur le ___ de l'épicerie.   </a:t>
            </a:r>
            <a:r>
              <a:rPr sz="1400" b="1" i="0">
                <a:solidFill>
                  <a:srgbClr val="07734A"/>
                </a:solidFill>
                <a:latin typeface="Verdana"/>
              </a:rPr>
              <a:t>» babillard</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___ est de 16,50 $ de l'heure.   </a:t>
            </a:r>
            <a:r>
              <a:rPr sz="1400" b="1" i="0">
                <a:solidFill>
                  <a:srgbClr val="07734A"/>
                </a:solidFill>
                <a:latin typeface="Verdana"/>
              </a:rPr>
              <a:t>» salaire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Mon ___ va de 9 h à 13 h, du mardi au samedi.   </a:t>
            </a:r>
            <a:r>
              <a:rPr sz="1400" b="1" i="0">
                <a:solidFill>
                  <a:srgbClr val="07734A"/>
                </a:solidFill>
                <a:latin typeface="Verdana"/>
              </a:rPr>
              <a:t>» horaire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Hugo me donne un ___ de demande d'emploi.   </a:t>
            </a:r>
            <a:r>
              <a:rPr sz="1400" b="1" i="0">
                <a:solidFill>
                  <a:srgbClr val="07734A"/>
                </a:solidFill>
                <a:latin typeface="Verdana"/>
              </a:rPr>
              <a:t>» formulaire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J'ai punaisé ma petite ___ à côté de la caisse.   </a:t>
            </a:r>
            <a:r>
              <a:rPr sz="1400" b="1" i="0">
                <a:solidFill>
                  <a:srgbClr val="07734A"/>
                </a:solidFill>
                <a:latin typeface="Verdana"/>
              </a:rPr>
              <a:t>» annonce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Qu'est-ce que vous êtes maintenant capable de faire que vous ne saviez pas faire il y a quatre semaines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phrase, la vôtre.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Puis remplissez l'autoévaluation du module.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On embauche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