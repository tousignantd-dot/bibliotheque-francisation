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de vocabulaire et de repérage. Si le quartier de l'école a un babillard ou des vitrines, prévoir dix minutes de marche à la fin : rien ne remplace d'aller voir.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dresser la liste au tableau, avec les noms de rues. Elle servira de devoir en E1 : chacun ira voir un endroit de la liste.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tenir en main, si possible, un exemple de chaque. Sinon les dessiner au tableau : la forme se retient mieux que la définition.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chaque mot avec son article. L'article fait partie du mot.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mots de plus. Les douze de ces deux diapos sont ceux du banc du module : ce sont eux que les cartes mémoire feront réviser.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Insister sur la dernière colonne : le geste change selon l'endroit, et c'est ce que le module enseigne.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gens font ce geste-là. Le nommer sans reproche : le but est de donner une solution de rechange, pas de culpabiliser.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même exercice existe en glisser-déposer dans le module : cette diapo sert à le préparer à l'oral, pas à le remplacer.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 billet devient un engagement. Le relire en E1 : demander qui y est allé, et ce qui était affiché.</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A3  ·  MODULE 10</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Où on cherche du travail</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affiche dans une vitrine, un carton punaisé près des paniers, un bureau de quartier. Trois endroits ordinaires, et c'est là que se trouvent la plupart des premiers emplois.</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60 minutes  ·  On embauche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endroits où le travail s'affiche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distinguer une affiche, une offre d'emploi et une petite annonce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nommer les mots du banc de vocabulaire avec leur article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où l'on cherchera cette semaine.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REPÉRAGE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Sur le chemin de l'école, où pourrait-on voir du travail affiché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Quels commerces vous passez chaque jour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Lesquels ont un babillard à l'entrée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Avez-vous déjà lu ce qui y était punaisé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Qui, dans le groupe, a trouvé du travail par une affiche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TROIS PAPIERS, TROIS CHOSES DIFFÉRENTES</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Ne pas les confondre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L'affiche d'embauche</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Deux ou trois mots, en gros, dans une vitrine : « On embauche ». Elle dit qu'on cherche quelqu'un, et rien d'autre. On entre pour le reste.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L'offre d'emploi</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Six à dix lignes, punaisée ou imprimée : le poste, l'horaire, le salaire, ce qu'il faut, à qui s'adresser. Tout est écrit ; il faut savoir la lire.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La petite annonce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carton écrit à la main, souvent avec des languettes découpées en bas. C'est quelqu'un qui offre ses services — c'est ce que vous écrirez en E2.</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0D7A6F"/>
                </a:solidFill>
                <a:latin typeface="Verdana"/>
              </a:rPr>
              <a:t>Le babillard</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Le panneau de liège où tout cela se punaise, près de l'entrée ou des paniers. Gratuit, et personne ne demande la permission d'y lire.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de l'affiche et du métier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emploi</a:t>
            </a:r>
          </a:p>
        </p:txBody>
      </p:sp>
      <p:sp>
        <p:nvSpPr>
          <p:cNvPr id="9" name="TextBox 8"/>
          <p:cNvSpPr txBox="1"/>
          <p:nvPr/>
        </p:nvSpPr>
        <p:spPr>
          <a:xfrm>
            <a:off x="3803808" y="2121408"/>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travail qu'une personne fait pour recevoir de l'argent.</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embaucher</a:t>
            </a:r>
          </a:p>
        </p:txBody>
      </p:sp>
      <p:sp>
        <p:nvSpPr>
          <p:cNvPr id="12" name="TextBox 11"/>
          <p:cNvSpPr txBox="1"/>
          <p:nvPr/>
        </p:nvSpPr>
        <p:spPr>
          <a:xfrm>
            <a:off x="3803808" y="2778252"/>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Prendre quelqu'un pour travailler dans son commerce.</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métier</a:t>
            </a:r>
          </a:p>
        </p:txBody>
      </p:sp>
      <p:sp>
        <p:nvSpPr>
          <p:cNvPr id="15" name="TextBox 14"/>
          <p:cNvSpPr txBox="1"/>
          <p:nvPr/>
        </p:nvSpPr>
        <p:spPr>
          <a:xfrm>
            <a:off x="3803808" y="3435096"/>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genre de travail qu'on sait faire : cuisinier, concierge.</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patron</a:t>
            </a:r>
          </a:p>
        </p:txBody>
      </p:sp>
      <p:sp>
        <p:nvSpPr>
          <p:cNvPr id="18" name="TextBox 17"/>
          <p:cNvSpPr txBox="1"/>
          <p:nvPr/>
        </p:nvSpPr>
        <p:spPr>
          <a:xfrm>
            <a:off x="3803808" y="4091939"/>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dirige le commerce et qui décide qui travaille.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affiche</a:t>
            </a:r>
          </a:p>
        </p:txBody>
      </p:sp>
      <p:sp>
        <p:nvSpPr>
          <p:cNvPr id="21" name="TextBox 20"/>
          <p:cNvSpPr txBox="1"/>
          <p:nvPr/>
        </p:nvSpPr>
        <p:spPr>
          <a:xfrm>
            <a:off x="3803808" y="4748784"/>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papier collé bien en vue pour annoncer quelque chose.</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596800"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offrir ses services</a:t>
            </a:r>
          </a:p>
        </p:txBody>
      </p:sp>
      <p:sp>
        <p:nvSpPr>
          <p:cNvPr id="24" name="TextBox 23"/>
          <p:cNvSpPr txBox="1"/>
          <p:nvPr/>
        </p:nvSpPr>
        <p:spPr>
          <a:xfrm>
            <a:off x="3803808" y="5405628"/>
            <a:ext cx="7455198"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Aller dire à quelqu'un qu'on est prêt à travailler pour lui.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mots du poste et du papier</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commis</a:t>
            </a:r>
          </a:p>
        </p:txBody>
      </p:sp>
      <p:sp>
        <p:nvSpPr>
          <p:cNvPr id="9" name="TextBox 8"/>
          <p:cNvSpPr txBox="1"/>
          <p:nvPr/>
        </p:nvSpPr>
        <p:spPr>
          <a:xfrm>
            <a:off x="3873436" y="2121408"/>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La personne qui sert les clients et remplit les tablettes.</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l'expérience</a:t>
            </a:r>
          </a:p>
        </p:txBody>
      </p:sp>
      <p:sp>
        <p:nvSpPr>
          <p:cNvPr id="12" name="TextBox 11"/>
          <p:cNvSpPr txBox="1"/>
          <p:nvPr/>
        </p:nvSpPr>
        <p:spPr>
          <a:xfrm>
            <a:off x="3873436" y="2778252"/>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Tout ce qu'une personne a déjà fait comme travail.</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les disponibilités</a:t>
            </a:r>
          </a:p>
        </p:txBody>
      </p:sp>
      <p:sp>
        <p:nvSpPr>
          <p:cNvPr id="15" name="TextBox 14"/>
          <p:cNvSpPr txBox="1"/>
          <p:nvPr/>
        </p:nvSpPr>
        <p:spPr>
          <a:xfrm>
            <a:off x="3873436" y="3435096"/>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Les jours et les heures où on est libre pour travailler.</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une offre d'emploi</a:t>
            </a:r>
          </a:p>
        </p:txBody>
      </p:sp>
      <p:sp>
        <p:nvSpPr>
          <p:cNvPr id="18" name="TextBox 17"/>
          <p:cNvSpPr txBox="1"/>
          <p:nvPr/>
        </p:nvSpPr>
        <p:spPr>
          <a:xfrm>
            <a:off x="3873436" y="4091939"/>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 texte court qui dit qu'un travail est à prendre.</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babillard</a:t>
            </a:r>
          </a:p>
        </p:txBody>
      </p:sp>
      <p:sp>
        <p:nvSpPr>
          <p:cNvPr id="21" name="TextBox 20"/>
          <p:cNvSpPr txBox="1"/>
          <p:nvPr/>
        </p:nvSpPr>
        <p:spPr>
          <a:xfrm>
            <a:off x="3873436" y="4748784"/>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Le panneau où les gens punaisent leurs annonces.</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66642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un formulaire</a:t>
            </a:r>
          </a:p>
        </p:txBody>
      </p:sp>
      <p:sp>
        <p:nvSpPr>
          <p:cNvPr id="24" name="TextBox 23"/>
          <p:cNvSpPr txBox="1"/>
          <p:nvPr/>
        </p:nvSpPr>
        <p:spPr>
          <a:xfrm>
            <a:off x="3873436" y="5405628"/>
            <a:ext cx="738557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Une feuille avec des cases vides qu'il faut remplir.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Chaque endroit, ce qu'on y trouve et ce qu'on y fait</a:t>
            </a:r>
          </a:p>
        </p:txBody>
      </p:sp>
      <p:sp>
        <p:nvSpPr>
          <p:cNvPr id="7" name="Rounded Rectangle 6"/>
          <p:cNvSpPr/>
          <p:nvPr/>
        </p:nvSpPr>
        <p:spPr>
          <a:xfrm>
            <a:off x="566928" y="1810512"/>
            <a:ext cx="11057839" cy="2932176"/>
          </a:xfrm>
          <a:prstGeom prst="roundRect">
            <a:avLst>
              <a:gd name="adj" fmla="val 498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L'ENDROIT</a:t>
            </a:r>
          </a:p>
        </p:txBody>
      </p:sp>
      <p:sp>
        <p:nvSpPr>
          <p:cNvPr id="9" name="TextBox 8"/>
          <p:cNvSpPr txBox="1"/>
          <p:nvPr/>
        </p:nvSpPr>
        <p:spPr>
          <a:xfrm>
            <a:off x="4374794"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TROUVE</a:t>
            </a:r>
          </a:p>
        </p:txBody>
      </p:sp>
      <p:sp>
        <p:nvSpPr>
          <p:cNvPr id="10" name="TextBox 9"/>
          <p:cNvSpPr txBox="1"/>
          <p:nvPr/>
        </p:nvSpPr>
        <p:spPr>
          <a:xfrm>
            <a:off x="7816900" y="1975104"/>
            <a:ext cx="3222650"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Y FAIT</a:t>
            </a:r>
          </a:p>
        </p:txBody>
      </p:sp>
      <p:sp>
        <p:nvSpPr>
          <p:cNvPr id="11" name="TextBox 10"/>
          <p:cNvSpPr txBox="1"/>
          <p:nvPr/>
        </p:nvSpPr>
        <p:spPr>
          <a:xfrm>
            <a:off x="932688" y="2395728"/>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La vitrine d'un commerce</a:t>
            </a:r>
          </a:p>
        </p:txBody>
      </p:sp>
      <p:sp>
        <p:nvSpPr>
          <p:cNvPr id="12" name="TextBox 11"/>
          <p:cNvSpPr txBox="1"/>
          <p:nvPr/>
        </p:nvSpPr>
        <p:spPr>
          <a:xfrm>
            <a:off x="4374794"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une affiche « On embauche »</a:t>
            </a:r>
          </a:p>
        </p:txBody>
      </p:sp>
      <p:sp>
        <p:nvSpPr>
          <p:cNvPr id="13" name="TextBox 12"/>
          <p:cNvSpPr txBox="1"/>
          <p:nvPr/>
        </p:nvSpPr>
        <p:spPr>
          <a:xfrm>
            <a:off x="7816900" y="2395728"/>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entre</a:t>
            </a:r>
          </a:p>
        </p:txBody>
      </p:sp>
      <p:sp>
        <p:nvSpPr>
          <p:cNvPr id="14" name="Rectangle 13"/>
          <p:cNvSpPr/>
          <p:nvPr/>
        </p:nvSpPr>
        <p:spPr>
          <a:xfrm>
            <a:off x="932688" y="27736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2901696"/>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babillard d'une épicerie</a:t>
            </a:r>
          </a:p>
        </p:txBody>
      </p:sp>
      <p:sp>
        <p:nvSpPr>
          <p:cNvPr id="16" name="TextBox 15"/>
          <p:cNvSpPr txBox="1"/>
          <p:nvPr/>
        </p:nvSpPr>
        <p:spPr>
          <a:xfrm>
            <a:off x="4374794"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offres et des annonces</a:t>
            </a:r>
          </a:p>
        </p:txBody>
      </p:sp>
      <p:sp>
        <p:nvSpPr>
          <p:cNvPr id="17" name="TextBox 16"/>
          <p:cNvSpPr txBox="1"/>
          <p:nvPr/>
        </p:nvSpPr>
        <p:spPr>
          <a:xfrm>
            <a:off x="7816900" y="290169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prend en note</a:t>
            </a:r>
          </a:p>
        </p:txBody>
      </p:sp>
      <p:sp>
        <p:nvSpPr>
          <p:cNvPr id="18" name="Rectangle 17"/>
          <p:cNvSpPr/>
          <p:nvPr/>
        </p:nvSpPr>
        <p:spPr>
          <a:xfrm>
            <a:off x="932688" y="32796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407664"/>
            <a:ext cx="3222650" cy="573024"/>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centre communautaire</a:t>
            </a:r>
          </a:p>
        </p:txBody>
      </p:sp>
      <p:sp>
        <p:nvSpPr>
          <p:cNvPr id="20" name="TextBox 19"/>
          <p:cNvSpPr txBox="1"/>
          <p:nvPr/>
        </p:nvSpPr>
        <p:spPr>
          <a:xfrm>
            <a:off x="4374794"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des postes d'entretien, de cuisine</a:t>
            </a:r>
          </a:p>
        </p:txBody>
      </p:sp>
      <p:sp>
        <p:nvSpPr>
          <p:cNvPr id="21" name="TextBox 20"/>
          <p:cNvSpPr txBox="1"/>
          <p:nvPr/>
        </p:nvSpPr>
        <p:spPr>
          <a:xfrm>
            <a:off x="7816900" y="3407664"/>
            <a:ext cx="3222650" cy="573024"/>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demande à qui parler</a:t>
            </a:r>
          </a:p>
        </p:txBody>
      </p:sp>
      <p:sp>
        <p:nvSpPr>
          <p:cNvPr id="22" name="Rectangle 21"/>
          <p:cNvSpPr/>
          <p:nvPr/>
        </p:nvSpPr>
        <p:spPr>
          <a:xfrm>
            <a:off x="932688" y="40538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4181856"/>
            <a:ext cx="3222650" cy="304800"/>
          </a:xfrm>
          <a:prstGeom prst="rect">
            <a:avLst/>
          </a:prstGeom>
          <a:noFill/>
        </p:spPr>
        <p:txBody>
          <a:bodyPr wrap="square" lIns="0" rIns="0" tIns="0" bIns="0" anchor="t">
            <a:spAutoFit/>
          </a:bodyPr>
          <a:lstStyle/>
          <a:p>
            <a:pPr algn="l">
              <a:lnSpc>
                <a:spcPct val="132000"/>
              </a:lnSpc>
            </a:pPr>
            <a:r>
              <a:rPr sz="1600" b="1" i="0">
                <a:solidFill>
                  <a:srgbClr val="0D7A6F"/>
                </a:solidFill>
                <a:latin typeface="Verdana"/>
              </a:rPr>
              <a:t>Le bureau d'aide à l'emploi</a:t>
            </a:r>
          </a:p>
        </p:txBody>
      </p:sp>
      <p:sp>
        <p:nvSpPr>
          <p:cNvPr id="24" name="TextBox 23"/>
          <p:cNvSpPr txBox="1"/>
          <p:nvPr/>
        </p:nvSpPr>
        <p:spPr>
          <a:xfrm>
            <a:off x="4374794"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une personne qui aide</a:t>
            </a:r>
          </a:p>
        </p:txBody>
      </p:sp>
      <p:sp>
        <p:nvSpPr>
          <p:cNvPr id="25" name="TextBox 24"/>
          <p:cNvSpPr txBox="1"/>
          <p:nvPr/>
        </p:nvSpPr>
        <p:spPr>
          <a:xfrm>
            <a:off x="7816900" y="4181856"/>
            <a:ext cx="3222650" cy="304800"/>
          </a:xfrm>
          <a:prstGeom prst="rect">
            <a:avLst/>
          </a:prstGeom>
          <a:noFill/>
        </p:spPr>
        <p:txBody>
          <a:bodyPr wrap="square" lIns="0" rIns="0" tIns="0" bIns="0" anchor="t">
            <a:spAutoFit/>
          </a:bodyPr>
          <a:lstStyle/>
          <a:p>
            <a:pPr algn="l">
              <a:lnSpc>
                <a:spcPct val="132000"/>
              </a:lnSpc>
            </a:pPr>
            <a:r>
              <a:rPr sz="1600" b="0" i="0">
                <a:solidFill>
                  <a:srgbClr val="3A3D40"/>
                </a:solidFill>
                <a:latin typeface="Verdana"/>
              </a:rPr>
              <a:t>on prend rendez-vous</a:t>
            </a:r>
          </a:p>
        </p:txBody>
      </p:sp>
      <p:sp>
        <p:nvSpPr>
          <p:cNvPr id="26" name="Rounded Rectangle 25"/>
          <p:cNvSpPr/>
          <p:nvPr/>
        </p:nvSpPr>
        <p:spPr>
          <a:xfrm>
            <a:off x="566928" y="4980432"/>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969264" y="5236464"/>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Trois de ces quatre endroits n'exigent aucun rendez-vous.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REGARDER L'AFFICHE ET REPARTIR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 reviendrai un autre jour.</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J'entre maintenant, ou je note le nom et l'heure.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affiche reste rarement collée deux semaines. Si l'on ne peut pas entrer tout de suite, on note au moins le nom du commerce et son adresse, et on revient le lendemain matin. Repartir sans rien, c'est n'avoir rien vu.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mot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Complétez avec un mot du banc.</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___ « On embauche » est collée dans la vitrine.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pris deux annonces sur le ___ de l'épicerie.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___ de la boulangerie s'appelle Gilles.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entre à la boulangerie pour ___ ses services.</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Boulanger, c'est un ___ qui commence très tôt.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Hugo lui donne un ___ de demande d'emploi.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 mot manque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Une ___ « On embauche » est collée dans la vitrine.   </a:t>
            </a:r>
            <a:r>
              <a:rPr sz="1400" b="1" i="0">
                <a:solidFill>
                  <a:srgbClr val="07734A"/>
                </a:solidFill>
                <a:latin typeface="Verdana"/>
              </a:rPr>
              <a:t>» affiche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J'ai pris deux annonces sur le ___ de l'épicerie.   </a:t>
            </a:r>
            <a:r>
              <a:rPr sz="1400" b="1" i="0">
                <a:solidFill>
                  <a:srgbClr val="07734A"/>
                </a:solidFill>
                <a:latin typeface="Verdana"/>
              </a:rPr>
              <a:t>» babillard</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___ de la boulangerie s'appelle Gilles.   </a:t>
            </a:r>
            <a:r>
              <a:rPr sz="1400" b="1" i="0">
                <a:solidFill>
                  <a:srgbClr val="07734A"/>
                </a:solidFill>
                <a:latin typeface="Verdana"/>
              </a:rPr>
              <a:t>» patron</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entre à la boulangerie pour ___ ses services.   </a:t>
            </a:r>
            <a:r>
              <a:rPr sz="1400" b="1" i="0">
                <a:solidFill>
                  <a:srgbClr val="07734A"/>
                </a:solidFill>
                <a:latin typeface="Verdana"/>
              </a:rPr>
              <a:t>» offrir</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Boulanger, c'est un ___ qui commence très tôt.   </a:t>
            </a:r>
            <a:r>
              <a:rPr sz="1400" b="1" i="0">
                <a:solidFill>
                  <a:srgbClr val="07734A"/>
                </a:solidFill>
                <a:latin typeface="Verdana"/>
              </a:rPr>
              <a:t>» métier</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Hugo lui donne un ___ de demande d'emploi.   </a:t>
            </a:r>
            <a:r>
              <a:rPr sz="1400" b="1" i="0">
                <a:solidFill>
                  <a:srgbClr val="07734A"/>
                </a:solidFill>
                <a:latin typeface="Verdana"/>
              </a:rPr>
              <a:t>» formulaire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Nommez un endroit de votre quartier où vous irez regarder cette semaine.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nom du commerce et la rue.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Le jour et l'heure où vous comptez y aller.</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A3 · On embauche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