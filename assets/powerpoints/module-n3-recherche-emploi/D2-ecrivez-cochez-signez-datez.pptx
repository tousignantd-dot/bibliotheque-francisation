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séance du défi 3. Distribuer un formulaire vierge à chacun et le faire remplir pour de vrai pendant la séance : c'est ce qui reste.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plus réutilisable du module. Faire chercher ces six verbes dans le formulaire distribué.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Plusieurs élèves lisent ces consignes comme un ordre brutal : le dire une fois suffit à les rassurer.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signer et dater le formulaire distribué avant la fin de la séance : c'est le geste qu'on oublie le plus souvent.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vérifier au voisin, à la fin de la séance, qu'aucune case du formulaire n'est restée vide. La vérification croisée marche mieux que la relecture par soi-même.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t3imper dans le module. Faire relire chaque consigne complète à voix haute, sur le ton neutre d'un formulaire.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Mêmes énoncés que t3annonce dans le module. Lire l'annonce entière à voix haute avant : c'est le modèle de la production écrite de E2.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Vingt-cinq minutes. Passer dans les rangées. La consigne au voisin est simple : vérifier qu'aucune case n'est vide, rien d'autre.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disent où porter l'aide à la prochaine séance de la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D2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Écrivez, cochez, signez, datez</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verbes, et tous les formulaires du Québec s'ouvrent : ceux de l'emploi, de la clinique, de l'école, de la bibliothèque. Ils s'écrivent tous de la même façon.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On embauche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six verbes de consigne d'un formulaire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que l'impératif n'est pas impoli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remplir un formulaire au complet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une petite annonce et en repérer les parties.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verbes des formulaires</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VERBE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DEMANDE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Écrivez</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mettre des mots dans une case, en lettres moulées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Remplissez</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faire toutes les cases, sans en sauter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Cochez</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faire un crochet dans un petit carré : oui ou non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Signez</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écrire son nom à la main, en bas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Datez</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mettre le jour, le mois et l'année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Joignez</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ajouter un papier : une copie, jamais l'original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L'IMPÉRATIF DES FORMULAIRES N'EST PAS IMPOLI</a:t>
            </a:r>
          </a:p>
        </p:txBody>
      </p:sp>
      <p:sp>
        <p:nvSpPr>
          <p:cNvPr id="6" name="Rounded Rectangle 5"/>
          <p:cNvSpPr/>
          <p:nvPr/>
        </p:nvSpPr>
        <p:spPr>
          <a:xfrm>
            <a:off x="566928" y="1225296"/>
            <a:ext cx="11057839" cy="1441196"/>
          </a:xfrm>
          <a:prstGeom prst="roundRect">
            <a:avLst>
              <a:gd name="adj" fmla="val 1015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Écrivez. Cochez. Signez.</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n'y a pas de « vous » devant, et ce n'est pas sec : c'est la langue des papiers officiels, la même pour tout le monde. Un formulaire ne s'adresse à personne en particulier.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DEUX RÈGLES QUI ÉVITENT DES ENNUIS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retenir absolument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Aucune case vide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case vide ne veut pas dire « non » : elle veut dire que la question n'a pas été lue. Cochez « non », ou écrivez « aucun ». La personne qui lit ne devine pas à votre place.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Une copie, jamais l'original</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Carte d'assurance maladie, permis, passeport : on joint une photocopie et on garde l'original sur soi. Un original remis ne revient pas toujours, et il est long à remplacer.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signature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C'est votre nom écrit à la main, toujours de la même façon. Elle n'a pas besoin d'être lisible : elle doit être la vôtre, et la même chaque fois.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date au Québec</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écrit souvent 2026-08-22 : l'année, le mois, le jour. On peut aussi écrire 22 août 2026. Les deux se comprennent.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LAISSER UNE CASE VIDE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Avez-vous un permis de conduire ? (rien de coché)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Cochez « non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Celui qui lit ne sait pas si vous avez répondu non ou si vous n'avez pas compris la question. Dans le doute, il met le formulaire de côté. Une seconde pour cocher, et le formulaire reste dans la pile.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verbe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 écrivez, cochez, signez, datez, remplissez, joignez.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votre nom en lettres moulées.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la case « non » si vous n'avez pas de permis.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au bas de la page, dans le rectangle.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formulaire : le jour, le mois et l'année.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toutes les cases : n'en laissez aucune vide.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une copie de votre carte d'assurance maladie.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verbe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votre nom en lettres moulées.   </a:t>
            </a:r>
            <a:r>
              <a:rPr sz="1400" b="1" i="0">
                <a:solidFill>
                  <a:srgbClr val="07734A"/>
                </a:solidFill>
                <a:latin typeface="Verdana"/>
              </a:rPr>
              <a:t>» Écrivez</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la case « non » si vous n'avez pas de permis.   </a:t>
            </a:r>
            <a:r>
              <a:rPr sz="1400" b="1" i="0">
                <a:solidFill>
                  <a:srgbClr val="07734A"/>
                </a:solidFill>
                <a:latin typeface="Verdana"/>
              </a:rPr>
              <a:t>» Cochez</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au bas de la page, dans le rectangle.   </a:t>
            </a:r>
            <a:r>
              <a:rPr sz="1400" b="1" i="0">
                <a:solidFill>
                  <a:srgbClr val="07734A"/>
                </a:solidFill>
                <a:latin typeface="Verdana"/>
              </a:rPr>
              <a:t>» Signez</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formulaire : le jour, le mois et l'année.   </a:t>
            </a:r>
            <a:r>
              <a:rPr sz="1400" b="1" i="0">
                <a:solidFill>
                  <a:srgbClr val="07734A"/>
                </a:solidFill>
                <a:latin typeface="Verdana"/>
              </a:rPr>
              <a:t>» Datez</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toutes les cases : n'en laissez aucune vide.   </a:t>
            </a:r>
            <a:r>
              <a:rPr sz="1400" b="1" i="0">
                <a:solidFill>
                  <a:srgbClr val="07734A"/>
                </a:solidFill>
                <a:latin typeface="Verdana"/>
              </a:rPr>
              <a:t>» Remplissez</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une copie de votre carte d'assurance maladie.   </a:t>
            </a:r>
            <a:r>
              <a:rPr sz="1400" b="1" i="0">
                <a:solidFill>
                  <a:srgbClr val="07734A"/>
                </a:solidFill>
                <a:latin typeface="Verdana"/>
              </a:rPr>
              <a:t>» Joignez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petite annonce de Fanta</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l'annonce, puis répondez par vrai ou faux.</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L'annonce dit ce que Fanta sait faire.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dit dans quel quartier elle habite.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libre le soir et la fin de semaine.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dit combien elle demande de l'heure.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donne son adresse complète.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la joindre par téléphone.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petite annonce de Fanta</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L'annonce dit ce que Fanta sait faire.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dit dans quel quartier elle habite.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libre le soir et la fin de semaine.   </a:t>
            </a:r>
            <a:r>
              <a:rPr sz="1400" b="1" i="0">
                <a:solidFill>
                  <a:srgbClr val="07734A"/>
                </a:solidFill>
                <a:latin typeface="Verdana"/>
              </a:rPr>
              <a:t>» faux — le matin, en semaine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dit combien elle demande de l'heure.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donne son adresse complète.   </a:t>
            </a:r>
            <a:r>
              <a:rPr sz="1400" b="1" i="0">
                <a:solidFill>
                  <a:srgbClr val="07734A"/>
                </a:solidFill>
                <a:latin typeface="Verdana"/>
              </a:rPr>
              <a:t>» faux — seulement son quartier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la joindre par téléphone.   </a:t>
            </a:r>
            <a:r>
              <a:rPr sz="1400" b="1" i="0">
                <a:solidFill>
                  <a:srgbClr val="07734A"/>
                </a:solidFill>
                <a:latin typeface="Verdana"/>
              </a:rPr>
              <a:t>» vrai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Remplissez le formulaire au complet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remplit le formulaire distribué. Le voisin vérifie.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cases d'identité</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poste demandé</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disponibilités</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Quelle case du formulaire vous a demandé le plus de temps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nom de la case, et pourquoi.</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On embauche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