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Demander d'abord au groupe qui a déjà cherché du travail ici, et comment ça s'est passé. Les réponses ouvrent la séance et donnent des exemples réels pour la semaine.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venir les réponses dans n'importe quelle langue, puis les traduire ensemble au tableau. Beaucoup diront qu'ils ont vu et qu'ils ne sont pas entrés : c'est exactement ce que le module vient corriger.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Fanta lit l'affiche et demande ce qu'elle veut dire. Souligner la question : « Qu'est-ce que ça veut dire ? » sert tout le module.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blocage le plus fréquent de la classe : croire qu'il faut un CV pour tout. Beaucoup de petits commerces n'en demandent pas.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conseil sur l'heure est concret et sera réutilisé en E1. Demander au groupe à quelle heure sont calmes les commerces qu'ils connaissent.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Elle justifie tout le défi 1 : l'affiche est un début de conversation, pas une description de poste.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répéter les deux phrases à voix haute par tout le groupe, deux fois, debout si le local le permet.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nommer chaque famille par un élève différent, avec l'article.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moraliser. Beaucoup ont entendu le contraire dans un cours d'employabilité : préciser que les deux sont vrais, selon le milieu.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du dialogue.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Il prépare le défi 1 et donne à chacun des exemples personnels au lieu de ceux du dialogue.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Un papier rouge dans la vitrine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affiche « On embauche » ne se répond pas par courriel. Elle se répond en poussant la porte. Encore faut-il savoir ce qu'elle dit, et ce qu'on va dire en entrant.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On embauche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affiche d'embauche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mots du travail : un emploi, un métier, un patron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qu'on dit en entrant dans un commerce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 bon moment pour se présenter.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avez-vous vu du travail affiché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une vitrine ? Sur un babillard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quelqu'un vous en a parlé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était écrit sur le papier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êtes entré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On embauche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FANTA</a:t>
            </a:r>
          </a:p>
        </p:txBody>
      </p:sp>
      <p:sp>
        <p:nvSpPr>
          <p:cNvPr id="10" name="TextBox 9"/>
          <p:cNvSpPr txBox="1"/>
          <p:nvPr/>
        </p:nvSpPr>
        <p:spPr>
          <a:xfrm>
            <a:off x="2157507" y="2322576"/>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Sylvie, regardez. Il y a un papier dans la vitrine de la boulangerie.</a:t>
            </a:r>
          </a:p>
        </p:txBody>
      </p:sp>
      <p:sp>
        <p:nvSpPr>
          <p:cNvPr id="11" name="Rounded Rectangle 10"/>
          <p:cNvSpPr/>
          <p:nvPr/>
        </p:nvSpPr>
        <p:spPr>
          <a:xfrm>
            <a:off x="566928" y="29072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22481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SYLVIE</a:t>
            </a:r>
          </a:p>
        </p:txBody>
      </p:sp>
      <p:sp>
        <p:nvSpPr>
          <p:cNvPr id="13" name="TextBox 12"/>
          <p:cNvSpPr txBox="1"/>
          <p:nvPr/>
        </p:nvSpPr>
        <p:spPr>
          <a:xfrm>
            <a:off x="2157507" y="3071876"/>
            <a:ext cx="891861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On embauche. » C'est écrit gros, en rouge. Vous savez ce que ça veut dire ?</a:t>
            </a:r>
          </a:p>
        </p:txBody>
      </p:sp>
      <p:sp>
        <p:nvSpPr>
          <p:cNvPr id="14" name="Rounded Rectangle 13"/>
          <p:cNvSpPr/>
          <p:nvPr/>
        </p:nvSpPr>
        <p:spPr>
          <a:xfrm>
            <a:off x="566928" y="399440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58995"/>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FANTA</a:t>
            </a:r>
          </a:p>
        </p:txBody>
      </p:sp>
      <p:sp>
        <p:nvSpPr>
          <p:cNvPr id="16" name="TextBox 15"/>
          <p:cNvSpPr txBox="1"/>
          <p:nvPr/>
        </p:nvSpPr>
        <p:spPr>
          <a:xfrm>
            <a:off x="2157507" y="4158995"/>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veut dire qu'ils cherchent quelqu'un ?</a:t>
            </a:r>
          </a:p>
        </p:txBody>
      </p:sp>
      <p:sp>
        <p:nvSpPr>
          <p:cNvPr id="17" name="TextBox 16"/>
          <p:cNvSpPr txBox="1"/>
          <p:nvPr/>
        </p:nvSpPr>
        <p:spPr>
          <a:xfrm>
            <a:off x="932688" y="4908296"/>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SYLVIE</a:t>
            </a:r>
          </a:p>
        </p:txBody>
      </p:sp>
      <p:sp>
        <p:nvSpPr>
          <p:cNvPr id="18" name="TextBox 17"/>
          <p:cNvSpPr txBox="1"/>
          <p:nvPr/>
        </p:nvSpPr>
        <p:spPr>
          <a:xfrm>
            <a:off x="2157507" y="4908296"/>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Exactement. Embaucher, c'est engager quelqu'un pour travailler.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Sans curriculum vitæ ?</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FANTA</a:t>
            </a:r>
          </a:p>
        </p:txBody>
      </p:sp>
      <p:sp>
        <p:nvSpPr>
          <p:cNvPr id="9" name="TextBox 8"/>
          <p:cNvSpPr txBox="1"/>
          <p:nvPr/>
        </p:nvSpPr>
        <p:spPr>
          <a:xfrm>
            <a:off x="2157507" y="1901952"/>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Mais moi, je n'ai pas de curriculum vitæ. Je n'ai jamais travaillé ici.</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22481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SYLVIE</a:t>
            </a:r>
          </a:p>
        </p:txBody>
      </p:sp>
      <p:sp>
        <p:nvSpPr>
          <p:cNvPr id="12" name="TextBox 11"/>
          <p:cNvSpPr txBox="1"/>
          <p:nvPr/>
        </p:nvSpPr>
        <p:spPr>
          <a:xfrm>
            <a:off x="2157507" y="2651252"/>
            <a:ext cx="891861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 une affiche comme celle-là, on n'en demande pas toujours. Vous entrez, et vous offrez vos services.</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FANTA</a:t>
            </a:r>
          </a:p>
        </p:txBody>
      </p:sp>
      <p:sp>
        <p:nvSpPr>
          <p:cNvPr id="15" name="TextBox 14"/>
          <p:cNvSpPr txBox="1"/>
          <p:nvPr/>
        </p:nvSpPr>
        <p:spPr>
          <a:xfrm>
            <a:off x="2157507" y="3738371"/>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J'entre comme ça ? Sans rendez-vous ?</a:t>
            </a:r>
          </a:p>
        </p:txBody>
      </p:sp>
      <p:sp>
        <p:nvSpPr>
          <p:cNvPr id="16" name="Rounded Rectangle 15"/>
          <p:cNvSpPr/>
          <p:nvPr/>
        </p:nvSpPr>
        <p:spPr>
          <a:xfrm>
            <a:off x="566928" y="43230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2"/>
            <a:ext cx="122481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SYLVIE</a:t>
            </a:r>
          </a:p>
        </p:txBody>
      </p:sp>
      <p:sp>
        <p:nvSpPr>
          <p:cNvPr id="18" name="TextBox 17"/>
          <p:cNvSpPr txBox="1"/>
          <p:nvPr/>
        </p:nvSpPr>
        <p:spPr>
          <a:xfrm>
            <a:off x="2157507" y="4487672"/>
            <a:ext cx="891861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Sans rendez-vous. Vous saluez, vous dites pourquoi vous venez, et vous laissez votre nom.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Pas à l'heure du dîner</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FANTA</a:t>
            </a:r>
          </a:p>
        </p:txBody>
      </p:sp>
      <p:sp>
        <p:nvSpPr>
          <p:cNvPr id="9" name="TextBox 8"/>
          <p:cNvSpPr txBox="1"/>
          <p:nvPr/>
        </p:nvSpPr>
        <p:spPr>
          <a:xfrm>
            <a:off x="2157507" y="1901952"/>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dis quoi, exactement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22481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SYLVIE</a:t>
            </a:r>
          </a:p>
        </p:txBody>
      </p:sp>
      <p:sp>
        <p:nvSpPr>
          <p:cNvPr id="12" name="TextBox 11"/>
          <p:cNvSpPr txBox="1"/>
          <p:nvPr/>
        </p:nvSpPr>
        <p:spPr>
          <a:xfrm>
            <a:off x="2157507" y="2651252"/>
            <a:ext cx="891861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choses. Ce que vous savez faire. Quand vous êtes libre. Où on peut vous joindre.</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22481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FANTA</a:t>
            </a:r>
          </a:p>
        </p:txBody>
      </p:sp>
      <p:sp>
        <p:nvSpPr>
          <p:cNvPr id="15" name="TextBox 14"/>
          <p:cNvSpPr txBox="1"/>
          <p:nvPr/>
        </p:nvSpPr>
        <p:spPr>
          <a:xfrm>
            <a:off x="2157507" y="3738371"/>
            <a:ext cx="891861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D'accord. Je vais essayer demain matin.</a:t>
            </a:r>
          </a:p>
        </p:txBody>
      </p:sp>
      <p:sp>
        <p:nvSpPr>
          <p:cNvPr id="16" name="Rounded Rectangle 15"/>
          <p:cNvSpPr/>
          <p:nvPr/>
        </p:nvSpPr>
        <p:spPr>
          <a:xfrm>
            <a:off x="566928" y="43230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2"/>
            <a:ext cx="122481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SYLVIE</a:t>
            </a:r>
          </a:p>
        </p:txBody>
      </p:sp>
      <p:sp>
        <p:nvSpPr>
          <p:cNvPr id="18" name="TextBox 17"/>
          <p:cNvSpPr txBox="1"/>
          <p:nvPr/>
        </p:nvSpPr>
        <p:spPr>
          <a:xfrm>
            <a:off x="2157507" y="4487672"/>
            <a:ext cx="891861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matin, c'est bien. Mais pas entre onze heures et deux heures : c'est l'heure du dîner, ils sont débordés.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dit l'affiche, et ce qu'elle ne dit pas</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L'AFFICHE DIT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ELLE NE DIT PAS</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Qu'on cherche quelqu'un</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Quel poste exactement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Que c'est encore ouvert</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Quel horaire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Où se présenter : ici</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Combien de l'heure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Souvent : demandez telle personne</a:t>
            </a:r>
          </a:p>
        </p:txBody>
      </p:sp>
      <p:sp>
        <p:nvSpPr>
          <p:cNvPr id="20" name="TextBox 19"/>
          <p:cNvSpPr txBox="1"/>
          <p:nvPr/>
        </p:nvSpPr>
        <p:spPr>
          <a:xfrm>
            <a:off x="4443636" y="4014215"/>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Si ça engage encore aujourd'hui</a:t>
            </a:r>
          </a:p>
        </p:txBody>
      </p:sp>
      <p:sp>
        <p:nvSpPr>
          <p:cNvPr id="21" name="Rounded Rectangle 20"/>
          <p:cNvSpPr/>
          <p:nvPr/>
        </p:nvSpPr>
        <p:spPr>
          <a:xfrm>
            <a:off x="566928" y="5148072"/>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Tout ce qui manque, c'est ce qu'on va demander en entrant.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QU'ON DIT EN POUSSANT LA PORTE</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Bonjour. J'ai vu votre affiche. Est-ce que vous engagez ?</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phrases, et la conversation est ouverte. La personne à qui on parle est en train de travailler : elle n'a pas trois minutes, mais elle a bien trente secondes.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LES MOTS DE L'AFFICHE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familles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travail lui-même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emploi, un métier, un poste. « Emploi » est le mot général ; « métier » dit ce qu'on sait faire ; « poste » désigne la place à combler.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Les gens</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patron, un gérant, un commis, un employé. Le patron décide ; le gérant s'occupe de la journée ; le commis sert les clients.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Les papiers</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une affiche, une offre d'emploi, un formulaire, un curriculum vitæ. Les trois premiers sont fréquents ; le dernier ne l'est pas toujours.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Les gestes</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embaucher, engager, offrir ses services, se présenter. Les deux premiers veulent dire la même chose et s'entendent tous les deux ici.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CROIRE QU'IL FAUT TOUJOURS UN CURRICULUM VITÆ</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n'ai pas de CV, alors je n'entre pas.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J'entre, et je dis ce que je sais faire.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petit commerce qui affiche « On embauche » veut surtout savoir si vous êtes disponible et si vous pouvez faire le travail. Le CV vient plus tard, quand il vient. Ne pas entrer, c'est se refuser le poste soi-même.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Fanta est arrivée de Conakry il y a un an.</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déjà travaillé au Québec.</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L'affiche de la boulangerie dit « On embauche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Sylvie dit qu'il faut un curriculum vitæ.</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Fanta a gardé des enfants pendant six ans.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y aller entre onze heures et deux heures.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Fanta est arrivée de Conakry il y a un an.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déjà travaillé au Québec.   </a:t>
            </a:r>
            <a:r>
              <a:rPr sz="1400" b="1" i="0">
                <a:solidFill>
                  <a:srgbClr val="07734A"/>
                </a:solidFill>
                <a:latin typeface="Verdana"/>
              </a:rPr>
              <a:t>» faux — jamais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L'affiche de la boulangerie dit « On embauche ».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Sylvie dit qu'il faut un curriculum vitæ.   </a:t>
            </a:r>
            <a:r>
              <a:rPr sz="1400" b="1" i="0">
                <a:solidFill>
                  <a:srgbClr val="07734A"/>
                </a:solidFill>
                <a:latin typeface="Verdana"/>
              </a:rPr>
              <a:t>» faux — pas toujours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Fanta a gardé des enfants pendant six ans.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y aller entre onze heures et deux heures.   </a:t>
            </a:r>
            <a:r>
              <a:rPr sz="1400" b="1" i="0">
                <a:solidFill>
                  <a:srgbClr val="07734A"/>
                </a:solidFill>
                <a:latin typeface="Verdana"/>
              </a:rPr>
              <a:t>» faux — c'est l'heure du dîner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trois choses que vous savez faire.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Avec un verbe : je sais faire le ménage, je sais cuisiner…</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ligne par chose. On les relira à la séance B3.</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On embauche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