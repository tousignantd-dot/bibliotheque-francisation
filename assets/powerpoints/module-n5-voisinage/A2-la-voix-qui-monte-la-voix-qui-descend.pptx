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phonétique, mais elle n'est pas décorative : sans elle, l'élève n'entend pas qu'on lui pose une question, et son silence passe pour de l'impolitesse. Commencer en disant deux fois la même phrase, une fois montante, une fois descendante, sans rien expliquer. Demander ce qui a changé.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servira au défi 3 : une félicitation dite avec une voix montante a l'air d'une mise en doute. Le dire dès maintenant.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les trois phrases par toute la classe en même temps, la main levée qui monte avec la voix. Le geste aide plus que l'explication, et il reste.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découverte qui surprend le plus : une question peut finir en descendant. Ce n'est pas le point d'interrogation qui fait monter la voix, c'est l'absence de mot interrogatif.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carte sert le plus au défi 2 : c'est ce qui rend une invitation facile à noter au téléphone. Chaque montée dit à celui qui écrit qu'il reste une information après.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les cinq versions à voix haute, dans le désordre, et faire deviner. Les trois dernières préparent le défi 3 : la troisième et la cinquième sont deux façons de rater une félicitation.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Reprendre ensuite dans l'activité interactive, exercice prPhon : les dix cartes sont écoutables une à une, ce qui permet de réécouter autant de fois qu'il le faut. C'est un exercice qui se refait en autonomie.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ont appris « est-ce que » comme la seule forme correcte. Les rassurer : elle l'est. Mais l'intonation seule est ce qu'ils entendront quatre fois sur cinq dans la rue.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pratiquer en binôme : l'un annonce une bonne nouvelle inventée, l'autre réagit. Ne corriger que la mélodie, jamais les mots.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billet oblige à produire la paire, pas seulement à la reconnaître. Écouter deux ou trois paires à voix haute avant la sortie.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voix qui monte, la voix qui descend</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Vous venez samedi. » et « Vous venez samedi ? » ont les mêmes mots, dans le même ordre. Seule la voix les sépare. C'est la façon la plus courante de poser une question en français parlé du Québec.</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La ruelle en fête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si une phrase monte ou descend à la fin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une question sans « est-ce que », par la seule intonation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qu'une question en « quand » ou « qui » descend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une exclamation sans qu'elle ressemble à un doute.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LA VOIX MONTE : ON DEMANDE</a:t>
            </a:r>
          </a:p>
        </p:txBody>
      </p:sp>
      <p:sp>
        <p:nvSpPr>
          <p:cNvPr id="6" name="Rounded Rectangle 5"/>
          <p:cNvSpPr/>
          <p:nvPr/>
        </p:nvSpPr>
        <p:spPr>
          <a:xfrm>
            <a:off x="566928" y="1225296"/>
            <a:ext cx="11057839" cy="2494788"/>
          </a:xfrm>
          <a:prstGeom prst="roundRect">
            <a:avLst>
              <a:gd name="adj" fmla="val 586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À la fin d'une question sans mot interrogatif, la voix monte comme une marche qu'on gravit.</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Vous venez samedi ? · Il faut apporter quelque chose ? · C'est dans la ruelle ? Plus la montée est nette, plus la question s'entend. Au téléphone, il faut monter davantage : la ligne mange les nuances.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LA VOIX DESCEND : ON AFFIRME, OU ON DEMANDE AUTREMENT</a:t>
            </a:r>
          </a:p>
        </p:txBody>
      </p:sp>
      <p:sp>
        <p:nvSpPr>
          <p:cNvPr id="6" name="Rounded Rectangle 5"/>
          <p:cNvSpPr/>
          <p:nvPr/>
        </p:nvSpPr>
        <p:spPr>
          <a:xfrm>
            <a:off x="566928" y="1225296"/>
            <a:ext cx="11057839" cy="2897632"/>
          </a:xfrm>
          <a:prstGeom prst="roundRect">
            <a:avLst>
              <a:gd name="adj" fmla="val 5049"/>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074671"/>
          </a:xfrm>
          <a:prstGeom prst="rect">
            <a:avLst/>
          </a:prstGeom>
          <a:noFill/>
        </p:spPr>
        <p:txBody>
          <a:bodyPr wrap="square" lIns="0" rIns="0" tIns="0" bIns="0" anchor="t">
            <a:spAutoFit/>
          </a:bodyPr>
          <a:lstStyle/>
          <a:p>
            <a:pPr algn="l">
              <a:lnSpc>
                <a:spcPct val="122000"/>
              </a:lnSpc>
            </a:pPr>
            <a:r>
              <a:rPr sz="3200" b="1" i="0">
                <a:solidFill>
                  <a:srgbClr val="17181A"/>
                </a:solidFill>
                <a:latin typeface="Verdana"/>
              </a:rPr>
              <a:t>La voix descend à la fin d'une affirmation, et aussi à la fin d'une question qui commence par un mot interrogatif.</a:t>
            </a:r>
          </a:p>
        </p:txBody>
      </p:sp>
      <p:sp>
        <p:nvSpPr>
          <p:cNvPr id="8" name="Rounded Rectangle 7"/>
          <p:cNvSpPr/>
          <p:nvPr/>
        </p:nvSpPr>
        <p:spPr>
          <a:xfrm>
            <a:off x="566928" y="439724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67156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fête est le 7 juin. · Quand est-ce que ça commence ? · Qui organise la fête ? Le mot « quand », « qui » ou « où » a déjà posé la question : la voix n'a plus besoin de monter.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TROIS AUTRES MOUVEMENTS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la voix fait encore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Au milieu d'une phrase longue</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voix monte un peu à chaque virgule : ce n'est pas fini.</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Dans une énumération</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plat, une chaise, et votre bonne humeur : montée, montée, descente.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Dans une exclamation</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voix part haut et redescend, avec force sur la première syllabe.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Dans un ordre</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Répondez-moi avant jeudi. La voix descend, fermement.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À L'OREILLE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phrase, deux intentions</a:t>
            </a:r>
          </a:p>
        </p:txBody>
      </p:sp>
      <p:sp>
        <p:nvSpPr>
          <p:cNvPr id="7" name="Rounded Rectangle 6"/>
          <p:cNvSpPr/>
          <p:nvPr/>
        </p:nvSpPr>
        <p:spPr>
          <a:xfrm>
            <a:off x="566928" y="1810512"/>
            <a:ext cx="11057839" cy="3974592"/>
          </a:xfrm>
          <a:prstGeom prst="roundRect">
            <a:avLst>
              <a:gd name="adj" fmla="val 368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ENTEND</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VEUT DIRE</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Vous venez samedi. (descend)</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1" i="0">
                <a:solidFill>
                  <a:srgbClr val="3B49A0"/>
                </a:solidFill>
                <a:latin typeface="Verdana"/>
              </a:rPr>
              <a:t>On vous informe : c'est prévu</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Vous venez samedi ? (monte)</a:t>
            </a:r>
          </a:p>
        </p:txBody>
      </p:sp>
      <p:sp>
        <p:nvSpPr>
          <p:cNvPr id="14" name="TextBox 13"/>
          <p:cNvSpPr txBox="1"/>
          <p:nvPr/>
        </p:nvSpPr>
        <p:spPr>
          <a:xfrm>
            <a:off x="4443636" y="2901696"/>
            <a:ext cx="6595914" cy="304800"/>
          </a:xfrm>
          <a:prstGeom prst="rect">
            <a:avLst/>
          </a:prstGeom>
          <a:noFill/>
        </p:spPr>
        <p:txBody>
          <a:bodyPr wrap="square" lIns="0" rIns="0" tIns="0" bIns="0" anchor="t">
            <a:spAutoFit/>
          </a:bodyPr>
          <a:lstStyle/>
          <a:p>
            <a:pPr algn="l">
              <a:lnSpc>
                <a:spcPct val="132000"/>
              </a:lnSpc>
            </a:pPr>
            <a:r>
              <a:rPr sz="1600" b="1" i="0">
                <a:solidFill>
                  <a:srgbClr val="3B49A0"/>
                </a:solidFill>
                <a:latin typeface="Verdana"/>
              </a:rPr>
              <a:t>On vous demande : répondez</a:t>
            </a:r>
          </a:p>
        </p:txBody>
      </p:sp>
      <p:sp>
        <p:nvSpPr>
          <p:cNvPr id="15" name="Rectangle 14"/>
          <p:cNvSpPr/>
          <p:nvPr/>
        </p:nvSpPr>
        <p:spPr>
          <a:xfrm>
            <a:off x="932688" y="32796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07664"/>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Quelle bonne nouvelle. (descend)</a:t>
            </a:r>
          </a:p>
        </p:txBody>
      </p:sp>
      <p:sp>
        <p:nvSpPr>
          <p:cNvPr id="17" name="TextBox 16"/>
          <p:cNvSpPr txBox="1"/>
          <p:nvPr/>
        </p:nvSpPr>
        <p:spPr>
          <a:xfrm>
            <a:off x="4443636" y="3407664"/>
            <a:ext cx="6595914" cy="573024"/>
          </a:xfrm>
          <a:prstGeom prst="rect">
            <a:avLst/>
          </a:prstGeom>
          <a:noFill/>
        </p:spPr>
        <p:txBody>
          <a:bodyPr wrap="square" lIns="0" rIns="0" tIns="0" bIns="0" anchor="t">
            <a:spAutoFit/>
          </a:bodyPr>
          <a:lstStyle/>
          <a:p>
            <a:pPr algn="l">
              <a:lnSpc>
                <a:spcPct val="132000"/>
              </a:lnSpc>
            </a:pPr>
            <a:r>
              <a:rPr sz="1600" b="1" i="0">
                <a:solidFill>
                  <a:srgbClr val="3B49A0"/>
                </a:solidFill>
                <a:latin typeface="Verdana"/>
              </a:rPr>
              <a:t>On constate, sans chaleur</a:t>
            </a:r>
          </a:p>
        </p:txBody>
      </p:sp>
      <p:sp>
        <p:nvSpPr>
          <p:cNvPr id="18" name="Rectangle 17"/>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81856"/>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Quelle bonne nouvelle ! (haut puis bas)</a:t>
            </a:r>
          </a:p>
        </p:txBody>
      </p:sp>
      <p:sp>
        <p:nvSpPr>
          <p:cNvPr id="20" name="TextBox 19"/>
          <p:cNvSpPr txBox="1"/>
          <p:nvPr/>
        </p:nvSpPr>
        <p:spPr>
          <a:xfrm>
            <a:off x="4443636" y="4181856"/>
            <a:ext cx="6595914" cy="573024"/>
          </a:xfrm>
          <a:prstGeom prst="rect">
            <a:avLst/>
          </a:prstGeom>
          <a:noFill/>
        </p:spPr>
        <p:txBody>
          <a:bodyPr wrap="square" lIns="0" rIns="0" tIns="0" bIns="0" anchor="t">
            <a:spAutoFit/>
          </a:bodyPr>
          <a:lstStyle/>
          <a:p>
            <a:pPr algn="l">
              <a:lnSpc>
                <a:spcPct val="132000"/>
              </a:lnSpc>
            </a:pPr>
            <a:r>
              <a:rPr sz="1600" b="1" i="0">
                <a:solidFill>
                  <a:srgbClr val="3B49A0"/>
                </a:solidFill>
                <a:latin typeface="Verdana"/>
              </a:rPr>
              <a:t>On se réjouit avec vous</a:t>
            </a:r>
          </a:p>
        </p:txBody>
      </p:sp>
      <p:sp>
        <p:nvSpPr>
          <p:cNvPr id="21" name="Rectangle 20"/>
          <p:cNvSpPr/>
          <p:nvPr/>
        </p:nvSpPr>
        <p:spPr>
          <a:xfrm>
            <a:off x="932688" y="48280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956048"/>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Quelle bonne nouvelle ? (monte)</a:t>
            </a:r>
          </a:p>
        </p:txBody>
      </p:sp>
      <p:sp>
        <p:nvSpPr>
          <p:cNvPr id="23" name="TextBox 22"/>
          <p:cNvSpPr txBox="1"/>
          <p:nvPr/>
        </p:nvSpPr>
        <p:spPr>
          <a:xfrm>
            <a:off x="4443636" y="4956048"/>
            <a:ext cx="6595914" cy="573024"/>
          </a:xfrm>
          <a:prstGeom prst="rect">
            <a:avLst/>
          </a:prstGeom>
          <a:noFill/>
        </p:spPr>
        <p:txBody>
          <a:bodyPr wrap="square" lIns="0" rIns="0" tIns="0" bIns="0" anchor="t">
            <a:spAutoFit/>
          </a:bodyPr>
          <a:lstStyle/>
          <a:p>
            <a:pPr algn="l">
              <a:lnSpc>
                <a:spcPct val="132000"/>
              </a:lnSpc>
            </a:pPr>
            <a:r>
              <a:rPr sz="1600" b="1" i="0">
                <a:solidFill>
                  <a:srgbClr val="3B49A0"/>
                </a:solidFill>
                <a:latin typeface="Verdana"/>
              </a:rPr>
              <a:t>On doute, et ça blesse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voix monte, ou elle descend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chaque phrase et choisissez.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venez samedi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fête est le 7 juin.</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apporter quelque chose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est-ce que ça commence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dans la ruelle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organise la fête ?</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avez changé d'horaire ?</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bonne nouvelle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voix monte, ou elle descend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venez samedi ?   </a:t>
            </a:r>
            <a:r>
              <a:rPr sz="1400" b="1" i="0">
                <a:solidFill>
                  <a:srgbClr val="07734A"/>
                </a:solidFill>
                <a:latin typeface="Verdana"/>
              </a:rPr>
              <a:t>» monte — question sans mot interrogatif</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fête est le 7 juin.   </a:t>
            </a:r>
            <a:r>
              <a:rPr sz="1400" b="1" i="0">
                <a:solidFill>
                  <a:srgbClr val="07734A"/>
                </a:solidFill>
                <a:latin typeface="Verdana"/>
              </a:rPr>
              <a:t>» descend — affirmation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apporter quelque chose ?   </a:t>
            </a:r>
            <a:r>
              <a:rPr sz="1400" b="1" i="0">
                <a:solidFill>
                  <a:srgbClr val="07734A"/>
                </a:solidFill>
                <a:latin typeface="Verdana"/>
              </a:rPr>
              <a:t>» monte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est-ce que ça commence ?   </a:t>
            </a:r>
            <a:r>
              <a:rPr sz="1400" b="1" i="0">
                <a:solidFill>
                  <a:srgbClr val="07734A"/>
                </a:solidFill>
                <a:latin typeface="Verdana"/>
              </a:rPr>
              <a:t>» descend — « quand » a posé la question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dans la ruelle ?   </a:t>
            </a:r>
            <a:r>
              <a:rPr sz="1400" b="1" i="0">
                <a:solidFill>
                  <a:srgbClr val="07734A"/>
                </a:solidFill>
                <a:latin typeface="Verdana"/>
              </a:rPr>
              <a:t>» monte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organise la fête ?   </a:t>
            </a:r>
            <a:r>
              <a:rPr sz="1400" b="1" i="0">
                <a:solidFill>
                  <a:srgbClr val="07734A"/>
                </a:solidFill>
                <a:latin typeface="Verdana"/>
              </a:rPr>
              <a:t>» descend</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avez changé d'horaire ?   </a:t>
            </a:r>
            <a:r>
              <a:rPr sz="1400" b="1" i="0">
                <a:solidFill>
                  <a:srgbClr val="07734A"/>
                </a:solidFill>
                <a:latin typeface="Verdana"/>
              </a:rPr>
              <a:t>» monte</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bonne nouvelle !   </a:t>
            </a:r>
            <a:r>
              <a:rPr sz="1400" b="1" i="0">
                <a:solidFill>
                  <a:srgbClr val="07734A"/>
                </a:solidFill>
                <a:latin typeface="Verdana"/>
              </a:rPr>
              <a:t>» descend — exclamation : haut, puis bas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CROIRE QU'IL FAUT « EST-CE QUE » POUR POSER UNE QUESTION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Est-ce que vous venez samedi ? (à chaque fois)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Vous venez samedi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Est-ce que » est correct, mais lourd à l'oral. Entre voisins, on laisse la voix faire le travail. Gardez « est-ce que » pour l'écrit et pour les situations officielles.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DIRE UNE EXCLAMATION COMME UNE QUESTION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Quelle bonne nouvelle ? (la voix monte)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Quelle bonne nouvelle ! (haut, puis descente)</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Avec la voix qui monte, vous avez l'air de mettre la nouvelle en doute. L'exclamation part haut sur « quelle » et redescend jusqu'au point.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deux phrases identiques : une affirmation et une question.</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Par exemple : Vous travaillez samedi. / Vous travaillez samedi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Dites-les à voix haute à votre voisin de table avant de sortir.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La ruelle en fête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