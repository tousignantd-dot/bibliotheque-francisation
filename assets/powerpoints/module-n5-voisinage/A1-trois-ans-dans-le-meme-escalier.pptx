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combien de personnes habitent votre immeuble, et combien en connaissez-vous par leur nom ? Laisser le silence s'installer : la réponse est presque toujours embarrassante, et c'est exactement le point de départ du module. Ne juger personne — dans un immeuble de six logements, ne connaître personne est la norme, pas une faute.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plus culturel des quatre et il fera parler : ce qui est une marque d'intérêt dans un pays est une intrusion dans un autre. Prévoir dix minutes de discussion, elles serviront en A4.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annoncent tout le module : le voisinage au bloc A, l'invitation au bloc B, le message qu'on laisse au bloc C, le service qu'on demande au bloc E. La dernière fait comprendre l'enjeu : on ne confie pas ses clés à quelqu'un dont on ignore le nom.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deux choses : ils s'appellent par leur nom de famille, et ils se vouvoient. Demander au groupe si c'est froid. La réponse — non, c'est la norme entre voisins — surprend, et elle prépare la séance A4.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ruelle verte » est neuf pour la moitié du groupe. Expliquer en une phrase : une ruelle aménagée avec l'arrondissement par les gens qui habitent autour. Demander qui en a une derrière chez lui.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phrase à retenir de la séance, et c'est tout le défi 1. Beaucoup d'élèves viennent de cultures où un refus direct est impoli et où « peut-être » veut dire non. Le dire explicitement, sans jugement : ici, « peut-être » veut dire « peut-être », et on vous attendra.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reviendra en B2, quand on travaillera les trois réponses possibles à une invitation.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mots ne s'apprennent pas dans un livre : ils s'entendent dans la cour. Faire répéter avec l'article. Demander l'équivalent dans les langues du groupe : la ruelle n'existe pas partout.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par le groupe avant de l'afficher. C'est une conversation de trois minutes qui change tout, et le module montre que ces trois minutes s'apprennent.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est réel et il coûte des années aux élèves. Faire trouver au groupe la phrase la plus courte qui ouvre une conversation. « Il y a longtemps que vous habitez ici ? » suffit.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La dernière prépare toute la séance B2.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Ceux qui n'ont aucun nom à écrire sont exactement le public du module : leur question servira d'exemple en A4.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Trois ans dans le même escalier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Marisol Vergara habite au deuxième du 7412, rue De Normanville, depuis trois ans. Elle monte cet escalier tous les jours et elle ne connaît personne. Un jeudi, son voisin du rez-de-chaussée lui parle enfin d'autre chose que de la météo.</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La ruelle en fête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lieux d'un immeuble et d'une ruelle montréalaise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d'escalier entre deux voisins ;</a:t>
            </a:r>
          </a:p>
        </p:txBody>
      </p:sp>
      <p:sp>
        <p:nvSpPr>
          <p:cNvPr id="15" name="Rounded Rectangle 14"/>
          <p:cNvSpPr/>
          <p:nvPr/>
        </p:nvSpPr>
        <p:spPr>
          <a:xfrm>
            <a:off x="566928" y="35366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8922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9745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ce qui se demande à un voisin et ce qui ne se demande pas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une invitation demande une réponse claire.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escalier que vous montez tous les jours. Qui habite en haut ? Qui habite en bas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scalier-exterieur.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personnes habitent votre immeuble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en connaissez-vous par leur nom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diriez-vous bonjour dans l'escalier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arroserait vos plantes si vous partiez deux semaines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voisins qui se croisent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Madame Vergara ! Vous arrivez du travail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monsieur Deslauriers. Oui, je finis à trois heures maintenant.</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bon ? Vous avez changé d'horaire ?</a:t>
            </a:r>
          </a:p>
        </p:txBody>
      </p:sp>
      <p:sp>
        <p:nvSpPr>
          <p:cNvPr id="17" name="Rounded Rectangle 16"/>
          <p:cNvSpPr/>
          <p:nvPr/>
        </p:nvSpPr>
        <p:spPr>
          <a:xfrm>
            <a:off x="566928" y="44058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9" name="TextBox 18"/>
          <p:cNvSpPr txBox="1"/>
          <p:nvPr/>
        </p:nvSpPr>
        <p:spPr>
          <a:xfrm>
            <a:off x="2431161" y="4570475"/>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le mois de mars. Je commence à six heures, mais mes après-midi sont à moi.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ruelle, et douze ans de tomates</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est belle, votre ruelle. Chez nous, au Chili, on appelait ça un passage.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2" name="TextBox 11"/>
          <p:cNvSpPr txBox="1"/>
          <p:nvPr/>
        </p:nvSpPr>
        <p:spPr>
          <a:xfrm>
            <a:off x="2431161" y="298907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Ici on dit une ruelle verte. C'est l'arrondissement qui a fait ça avec nous, il y a douze ans.</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407619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Douze ans ! Vous étiez déjà là ?</a:t>
            </a:r>
          </a:p>
        </p:txBody>
      </p:sp>
      <p:sp>
        <p:nvSpPr>
          <p:cNvPr id="16" name="Rounded Rectangle 15"/>
          <p:cNvSpPr/>
          <p:nvPr/>
        </p:nvSpPr>
        <p:spPr>
          <a:xfrm>
            <a:off x="566928" y="46609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8" name="TextBox 17"/>
          <p:cNvSpPr txBox="1"/>
          <p:nvPr/>
        </p:nvSpPr>
        <p:spPr>
          <a:xfrm>
            <a:off x="2431161" y="482549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J'habite au rez-de-chaussée depuis trente ans, madame. J'ai vu passer tout le monde.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 peut-être » ne se met pas sur une liste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organise une fête dans la ruelle, au mois de juin. Toutes les portes sont invitées.</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298907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faut que j'y pense. Je vous réponds cette semaine ?</a:t>
            </a:r>
          </a:p>
        </p:txBody>
      </p:sp>
      <p:sp>
        <p:nvSpPr>
          <p:cNvPr id="13" name="TextBox 12"/>
          <p:cNvSpPr txBox="1"/>
          <p:nvPr/>
        </p:nvSpPr>
        <p:spPr>
          <a:xfrm>
            <a:off x="932688" y="373837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4" name="TextBox 13"/>
          <p:cNvSpPr txBox="1"/>
          <p:nvPr/>
        </p:nvSpPr>
        <p:spPr>
          <a:xfrm>
            <a:off x="2431161" y="373837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Prenez votre temps. Mais répondez-moi, hein. Un « peut-être », ça ne se met pas sur une liste.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RÉPONDRE EST DÉJÀ UNE FORME DE POLITESSE</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Entre voisins, un oui ou un non clair rend plus service qu'un « peut-être » qui ne devient jamais rien.</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Celui qui organise doit compter les chaises, les tables et les plats. Un « on verra » l'oblige à revenir vous chercher, et souvent il n'ose pas.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LIEUX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vocabulaire de l'immeuble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 ruelle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passage derrière les immeubles. Verte quand elle est aménagée.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hangar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construction de bois au fond de la cour. Aucune auto dedans.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balcon d'en arrière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Celui qui donne sur la ruelle, pas sur la rue.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 corvée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travail que plusieurs personnes font ensemble, la même journée.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FAÇONS DE VIVRE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Avant, et après la conversation</a:t>
            </a:r>
          </a:p>
        </p:txBody>
      </p:sp>
      <p:sp>
        <p:nvSpPr>
          <p:cNvPr id="7" name="Rounded Rectangle 6"/>
          <p:cNvSpPr/>
          <p:nvPr/>
        </p:nvSpPr>
        <p:spPr>
          <a:xfrm>
            <a:off x="566928" y="1810512"/>
            <a:ext cx="11057839" cy="3941064"/>
          </a:xfrm>
          <a:prstGeom prst="roundRect">
            <a:avLst>
              <a:gd name="adj" fmla="val 371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AVANT LE JEUDI</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APRÈS LE JEUDI</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dis bonjour dans l'escalier</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connais le nom de mon voisin</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J'ignore qui habite en haut</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sais qui travaille de nuit</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ruelle est un passage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ruelle est un lieu commun</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Personne ne m'invite nulle part</a:t>
            </a:r>
          </a:p>
        </p:txBody>
      </p:sp>
      <p:sp>
        <p:nvSpPr>
          <p:cNvPr id="20" name="TextBox 19"/>
          <p:cNvSpPr txBox="1"/>
          <p:nvPr/>
        </p:nvSpPr>
        <p:spPr>
          <a:xfrm>
            <a:off x="4443636" y="4315968"/>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suis invitée le 7 juin</a:t>
            </a:r>
          </a:p>
        </p:txBody>
      </p:sp>
      <p:sp>
        <p:nvSpPr>
          <p:cNvPr id="21" name="Rectangle 20"/>
          <p:cNvSpPr/>
          <p:nvPr/>
        </p:nvSpPr>
        <p:spPr>
          <a:xfrm>
            <a:off x="932688" y="5029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5721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n'ai rien à répondre</a:t>
            </a:r>
          </a:p>
        </p:txBody>
      </p:sp>
      <p:sp>
        <p:nvSpPr>
          <p:cNvPr id="23" name="TextBox 22"/>
          <p:cNvSpPr txBox="1"/>
          <p:nvPr/>
        </p:nvSpPr>
        <p:spPr>
          <a:xfrm>
            <a:off x="4443636" y="5157216"/>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dois donner une réponse claire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QU'IL FAUT BIEN PARLER POUR PARLER À UN VOISIN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attendre de mieux parler français.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dis bonjour, et je pose une question sur l'immeuble.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conversation de voisinage tient en trois phrases, et elle porte sur des choses qu'on partage : la ruelle, le bac brun, les travaux dans la rue. Personne n'attend un discours.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habite l'immeuble depuis trois ans.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habite au troisième étage.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ruelle verte a été aménagée avec l'arrondissement.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connaît très bien madame Faye.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fête aura lieu au mois de juin.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se contente d'un « peut-être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habite l'immeuble depuis trois ans.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habite au troisième étage.   </a:t>
            </a:r>
            <a:r>
              <a:rPr sz="1400" b="1" i="0">
                <a:solidFill>
                  <a:srgbClr val="07734A"/>
                </a:solidFill>
                <a:latin typeface="Verdana"/>
              </a:rPr>
              <a:t>» faux — au rez-de-chaussée, depuis trente ans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ruelle verte a été aménagée avec l'arrondissement.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connaît très bien madame Faye.   </a:t>
            </a:r>
            <a:r>
              <a:rPr sz="1400" b="1" i="0">
                <a:solidFill>
                  <a:srgbClr val="07734A"/>
                </a:solidFill>
                <a:latin typeface="Verdana"/>
              </a:rPr>
              <a:t>» faux — elle travaille de nuit, il la voit peu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fête aura lieu au mois de juin.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se contente d'un « peut-être ».   </a:t>
            </a:r>
            <a:r>
              <a:rPr sz="1400" b="1" i="0">
                <a:solidFill>
                  <a:srgbClr val="07734A"/>
                </a:solidFill>
                <a:latin typeface="Verdana"/>
              </a:rPr>
              <a:t>» faux — il demande une réponse claire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nom d'une personne de votre immeuble, et une chose que vous savez d'elle.</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vous ne connaissez aucun nom, écrivez la question que vous poseriez demain.</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où vous la croisez : l'escalier, l'entrée, la ruelle, la buanderie.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La ruelle en fête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