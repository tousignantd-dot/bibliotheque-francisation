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séance du Défi 1. Le groupe connaît le sujet ; il peut donc écouter pour autre chose. Rappeler la méthode des trois écoutes, affichée depuis B1.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derniers objectifs sont le cœur de la séance. Le premier et le deuxième vont vite ; garder le temps pour les rangs cachés.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le groupe chercher le mot d'ordre pendant une bonne minute. Il n'y en a pas, et c'est la découverte de la séance : l'ordre se déduit du sens, pas d'un mot.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tableau que l'élève devra restituer à l'oral en E1. Le faire recopier au complet.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redire l'ordre par trois élèves différents, sans le tableau sous les yeux.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carte à la fois. Pour les deux dernières, demander un autre exemple au groupe : reprendre, rappeler, réessayer portent tous le même sens de seconde fois.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sans notes. Si le groupe hésite entre les deux dernières, reposer la question autrement : laquelle des deux peut se faire même avant que l'appareil brise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Piège réel, et il coûte cher. Le lier au conseil de Myriam Vaugeois en C1 : une lettre change le ton d'une discussion, donc on ne l'envoie pas en premier.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dernières lignes sont des pièges volontaires : tout ce qui est dit dans une chronique n'est pas une étape. Le groupe a tendance à tout numéroter ; c'est ce qu'il faut corriger ici.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Ce billet est la répétition directe du TEMPS 2 de la production orale de E1. Le dire au groupe.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B2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Suivre une démarche en étapes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D'une chronique pratique, on ne retient pas les mots : on retient l'ordre. Et l'ordre n'est pas toujours annoncé - il se cache parfois dans une condition ou dans un seul verbe.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Suivre un sujet dans les médias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remettre dans l'ordre les trois étapes d'un recours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rang annoncé : premièrement, d'abord, enfin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rang caché dans une condition en « si »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rang caché dans un verbe comme « retourner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Comment sais-tu ce qui vient avant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Si ça ne bouge pas, vous écrivez une mise en demeure.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Vous retournez voir le commerçant.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est le mot qui dit que c'est la deuxième étape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qu'il y en a un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démarche de la chronique, dans l'ordre</a:t>
            </a:r>
          </a:p>
        </p:txBody>
      </p:sp>
      <p:sp>
        <p:nvSpPr>
          <p:cNvPr id="7" name="Rounded Rectangle 6"/>
          <p:cNvSpPr/>
          <p:nvPr/>
        </p:nvSpPr>
        <p:spPr>
          <a:xfrm>
            <a:off x="566928" y="1810512"/>
            <a:ext cx="11057839" cy="3169920"/>
          </a:xfrm>
          <a:prstGeom prst="roundRect">
            <a:avLst>
              <a:gd name="adj" fmla="val 4615"/>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RANG</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FAIT</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Premièrement</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retourner voir le commerçant, en nommant la garantie légale</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Deuxièmement</a:t>
            </a:r>
          </a:p>
        </p:txBody>
      </p:sp>
      <p:sp>
        <p:nvSpPr>
          <p:cNvPr id="14" name="TextBox 13"/>
          <p:cNvSpPr txBox="1"/>
          <p:nvPr/>
        </p:nvSpPr>
        <p:spPr>
          <a:xfrm>
            <a:off x="4443636" y="2901696"/>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écrire une mise en demeure, avec un délai de dix jours</a:t>
            </a:r>
          </a:p>
        </p:txBody>
      </p:sp>
      <p:sp>
        <p:nvSpPr>
          <p:cNvPr id="15" name="Rectangle 14"/>
          <p:cNvSpPr/>
          <p:nvPr/>
        </p:nvSpPr>
        <p:spPr>
          <a:xfrm>
            <a:off x="932688" y="32796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07664"/>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Troisièmement</a:t>
            </a:r>
          </a:p>
        </p:txBody>
      </p:sp>
      <p:sp>
        <p:nvSpPr>
          <p:cNvPr id="17" name="TextBox 16"/>
          <p:cNvSpPr txBox="1"/>
          <p:nvPr/>
        </p:nvSpPr>
        <p:spPr>
          <a:xfrm>
            <a:off x="4443636" y="3407664"/>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les petites créances, seul et sans avocat</a:t>
            </a:r>
          </a:p>
        </p:txBody>
      </p:sp>
      <p:sp>
        <p:nvSpPr>
          <p:cNvPr id="18" name="Rectangle 17"/>
          <p:cNvSpPr/>
          <p:nvPr/>
        </p:nvSpPr>
        <p:spPr>
          <a:xfrm>
            <a:off x="932688" y="378561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13631"/>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Dès l'achat</a:t>
            </a:r>
          </a:p>
        </p:txBody>
      </p:sp>
      <p:sp>
        <p:nvSpPr>
          <p:cNvPr id="20" name="TextBox 19"/>
          <p:cNvSpPr txBox="1"/>
          <p:nvPr/>
        </p:nvSpPr>
        <p:spPr>
          <a:xfrm>
            <a:off x="4443636" y="3913631"/>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garder la facture, ou en prendre une photo</a:t>
            </a:r>
          </a:p>
        </p:txBody>
      </p:sp>
      <p:sp>
        <p:nvSpPr>
          <p:cNvPr id="21" name="Rectangle 20"/>
          <p:cNvSpPr/>
          <p:nvPr/>
        </p:nvSpPr>
        <p:spPr>
          <a:xfrm>
            <a:off x="932688" y="429158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19600"/>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N'importe quand</a:t>
            </a:r>
          </a:p>
        </p:txBody>
      </p:sp>
      <p:sp>
        <p:nvSpPr>
          <p:cNvPr id="23" name="TextBox 22"/>
          <p:cNvSpPr txBox="1"/>
          <p:nvPr/>
        </p:nvSpPr>
        <p:spPr>
          <a:xfrm>
            <a:off x="4443636" y="441960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téléphoner à l'Office pour savoir si on a un recours</a:t>
            </a:r>
          </a:p>
        </p:txBody>
      </p:sp>
      <p:sp>
        <p:nvSpPr>
          <p:cNvPr id="24" name="Rounded Rectangle 23"/>
          <p:cNvSpPr/>
          <p:nvPr/>
        </p:nvSpPr>
        <p:spPr>
          <a:xfrm>
            <a:off x="566928" y="521817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47420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Les deux dernières lignes ne sont pas des étapes : elles se font hors de l'ordre.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L'ORDRE SE RETIENT, LES MOTS S'OUBLIENT</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Sauter une étape fait perdre le recours.</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ne peut pas écrire une mise en demeure sans être retourné voir le commerçant, et on ne peut pas aller aux petites créances sans avoir écrit. Chaque étape suppose que la précédente a échoué. C'est pour cela que la seule chose à retenir d'une chronique pratique, c'est l'ordre.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QUATRE FAÇONS DE MARQUER UN RANG</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Et deux d'entre elles ne se voient pas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rangs annoncés</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premièrement, deuxièmement, troisièmement. Le plus clair, et le plus rare à l'oral.</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Les rangs déguisés en récit</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d'abord, ensuite, enfin. Même chose, mais ça se parle.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rang caché dans une condition</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si ça ne bouge pas, vous écrivez » : cette étape ne se fait que si l'autre a échoué.</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rang caché dans un verbe</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vous retournez voir le commerçant » : retourner suppose qu'on y est déjà allé.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ASSOCIATION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étapes, dans leur ordre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Associez chaque rang à ce qu'on fait.</a:t>
            </a:r>
          </a:p>
        </p:txBody>
      </p:sp>
      <p:sp>
        <p:nvSpPr>
          <p:cNvPr id="8" name="Rounded Rectangle 7"/>
          <p:cNvSpPr/>
          <p:nvPr/>
        </p:nvSpPr>
        <p:spPr>
          <a:xfrm>
            <a:off x="566928" y="2139696"/>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Premièrement</a:t>
            </a:r>
          </a:p>
        </p:txBody>
      </p:sp>
      <p:sp>
        <p:nvSpPr>
          <p:cNvPr id="12" name="Rounded Rectangle 11"/>
          <p:cNvSpPr/>
          <p:nvPr/>
        </p:nvSpPr>
        <p:spPr>
          <a:xfrm>
            <a:off x="566928" y="2880868"/>
            <a:ext cx="11057839"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5569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1970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36316"/>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Deuxièmement, si ça ne bouge pas</a:t>
            </a:r>
          </a:p>
        </p:txBody>
      </p:sp>
      <p:sp>
        <p:nvSpPr>
          <p:cNvPr id="16" name="Rounded Rectangle 15"/>
          <p:cNvSpPr/>
          <p:nvPr/>
        </p:nvSpPr>
        <p:spPr>
          <a:xfrm>
            <a:off x="566928" y="3924299"/>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4799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1200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079747"/>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Troisièmement, en dernier recours</a:t>
            </a:r>
          </a:p>
        </p:txBody>
      </p:sp>
      <p:sp>
        <p:nvSpPr>
          <p:cNvPr id="20" name="Rounded Rectangle 19"/>
          <p:cNvSpPr/>
          <p:nvPr/>
        </p:nvSpPr>
        <p:spPr>
          <a:xfrm>
            <a:off x="566928" y="4665472"/>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91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531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82092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À faire dès le jour de l'achat</a:t>
            </a:r>
          </a:p>
        </p:txBody>
      </p:sp>
      <p:sp>
        <p:nvSpPr>
          <p:cNvPr id="24" name="Rounded Rectangle 23"/>
          <p:cNvSpPr/>
          <p:nvPr/>
        </p:nvSpPr>
        <p:spPr>
          <a:xfrm>
            <a:off x="566928" y="5406644"/>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53034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9435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56209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À faire à n'importe quel moment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étapes, dans leur ordre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Premièrement   </a:t>
            </a:r>
            <a:r>
              <a:rPr sz="1700" b="1" i="0">
                <a:solidFill>
                  <a:srgbClr val="07734A"/>
                </a:solidFill>
                <a:latin typeface="Verdana"/>
              </a:rPr>
              <a:t>» retourner voir le commerçant et nommer la garantie légale</a:t>
            </a:r>
          </a:p>
        </p:txBody>
      </p:sp>
      <p:sp>
        <p:nvSpPr>
          <p:cNvPr id="12" name="Rounded Rectangle 11"/>
          <p:cNvSpPr/>
          <p:nvPr/>
        </p:nvSpPr>
        <p:spPr>
          <a:xfrm>
            <a:off x="566928" y="2880868"/>
            <a:ext cx="11057839"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5569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1970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36316"/>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Deuxièmement, si ça ne bouge pas   </a:t>
            </a:r>
            <a:r>
              <a:rPr sz="1700" b="1" i="0">
                <a:solidFill>
                  <a:srgbClr val="07734A"/>
                </a:solidFill>
                <a:latin typeface="Verdana"/>
              </a:rPr>
              <a:t>» écrire une mise en demeure et donner un délai de dix jours</a:t>
            </a:r>
          </a:p>
        </p:txBody>
      </p:sp>
      <p:sp>
        <p:nvSpPr>
          <p:cNvPr id="16" name="Rounded Rectangle 15"/>
          <p:cNvSpPr/>
          <p:nvPr/>
        </p:nvSpPr>
        <p:spPr>
          <a:xfrm>
            <a:off x="566928" y="3924299"/>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4799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1200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079747"/>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Troisièmement, en dernier recours   </a:t>
            </a:r>
            <a:r>
              <a:rPr sz="1700" b="1" i="0">
                <a:solidFill>
                  <a:srgbClr val="07734A"/>
                </a:solidFill>
                <a:latin typeface="Verdana"/>
              </a:rPr>
              <a:t>» s'adresser à la Division des petites créances, seul</a:t>
            </a:r>
          </a:p>
        </p:txBody>
      </p:sp>
      <p:sp>
        <p:nvSpPr>
          <p:cNvPr id="20" name="Rounded Rectangle 19"/>
          <p:cNvSpPr/>
          <p:nvPr/>
        </p:nvSpPr>
        <p:spPr>
          <a:xfrm>
            <a:off x="566928" y="4665472"/>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91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531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82092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À faire dès le jour de l'achat   </a:t>
            </a:r>
            <a:r>
              <a:rPr sz="1700" b="1" i="0">
                <a:solidFill>
                  <a:srgbClr val="07734A"/>
                </a:solidFill>
                <a:latin typeface="Verdana"/>
              </a:rPr>
              <a:t>» garder la facture, ou en prendre une photo</a:t>
            </a:r>
          </a:p>
        </p:txBody>
      </p:sp>
      <p:sp>
        <p:nvSpPr>
          <p:cNvPr id="24" name="Rounded Rectangle 23"/>
          <p:cNvSpPr/>
          <p:nvPr/>
        </p:nvSpPr>
        <p:spPr>
          <a:xfrm>
            <a:off x="566928" y="5406644"/>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53034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59435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56209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À faire à n'importe quel moment   </a:t>
            </a:r>
            <a:r>
              <a:rPr sz="1700" b="1" i="0">
                <a:solidFill>
                  <a:srgbClr val="07734A"/>
                </a:solidFill>
                <a:latin typeface="Verdana"/>
              </a:rPr>
              <a:t>» téléphoner à l'Office pour savoir si on a un recours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ÉCRIRE AVANT D'ÊTRE ALLÉ VOIR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L'appareil a brisé, alors j'ai envoyé une mise en demeure.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suis retourné voir le marchand ; comme il refusait, j'ai écrit.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mise en demeure envoyée avant toute démarche verbale surprend le commerçant et durcit la discussion pour rien. La chronique le dit : beaucoup de dossiers se règlent à la première étape, simplement parce qu'on a employé le mot « garantie légale ». Sauter cette étape, c'est se compliquer la vie soi-même.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REPÉRAGE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l'ordre dans ces phrases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ce qui marque le rang : un mot, une condition ou un verbe.</a:t>
            </a:r>
          </a:p>
        </p:txBody>
      </p:sp>
      <p:sp>
        <p:nvSpPr>
          <p:cNvPr id="8" name="Rounded Rectangle 7"/>
          <p:cNvSpPr/>
          <p:nvPr/>
        </p:nvSpPr>
        <p:spPr>
          <a:xfrm>
            <a:off x="566928" y="2139696"/>
            <a:ext cx="11057839"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Premièrement, vous retournez voir le commerçant.</a:t>
            </a:r>
          </a:p>
        </p:txBody>
      </p:sp>
      <p:sp>
        <p:nvSpPr>
          <p:cNvPr id="12" name="Rounded Rectangle 11"/>
          <p:cNvSpPr/>
          <p:nvPr/>
        </p:nvSpPr>
        <p:spPr>
          <a:xfrm>
            <a:off x="566928" y="3147568"/>
            <a:ext cx="11057839" cy="595376"/>
          </a:xfrm>
          <a:prstGeom prst="roundRect">
            <a:avLst>
              <a:gd name="adj" fmla="val 245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6237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32638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303016"/>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Si ça ne bouge pas, vous écrivez une mise en demeure.</a:t>
            </a:r>
          </a:p>
        </p:txBody>
      </p:sp>
      <p:sp>
        <p:nvSpPr>
          <p:cNvPr id="16" name="Rounded Rectangle 15"/>
          <p:cNvSpPr/>
          <p:nvPr/>
        </p:nvSpPr>
        <p:spPr>
          <a:xfrm>
            <a:off x="566928" y="3870960"/>
            <a:ext cx="11057839" cy="595376"/>
          </a:xfrm>
          <a:prstGeom prst="roundRect">
            <a:avLst>
              <a:gd name="adj" fmla="val 245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98576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4977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026408"/>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Vous vous représentez vous-même, sans avocat.</a:t>
            </a:r>
          </a:p>
        </p:txBody>
      </p:sp>
      <p:sp>
        <p:nvSpPr>
          <p:cNvPr id="20" name="Rounded Rectangle 19"/>
          <p:cNvSpPr/>
          <p:nvPr/>
        </p:nvSpPr>
        <p:spPr>
          <a:xfrm>
            <a:off x="566928" y="4594352"/>
            <a:ext cx="11057839" cy="595376"/>
          </a:xfrm>
          <a:prstGeom prst="roundRect">
            <a:avLst>
              <a:gd name="adj" fmla="val 245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0916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77316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749800"/>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Gardez vos factures, le jour de l'achat.</a:t>
            </a:r>
          </a:p>
        </p:txBody>
      </p:sp>
      <p:sp>
        <p:nvSpPr>
          <p:cNvPr id="24" name="Rounded Rectangle 23"/>
          <p:cNvSpPr/>
          <p:nvPr/>
        </p:nvSpPr>
        <p:spPr>
          <a:xfrm>
            <a:off x="566928" y="5317744"/>
            <a:ext cx="11057839" cy="595376"/>
          </a:xfrm>
          <a:prstGeom prst="roundRect">
            <a:avLst>
              <a:gd name="adj" fmla="val 245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3255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9656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473192"/>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J'y reviens toujours, parce que c'est là qu'on trouve les modèles.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l'ordre dans ces phrases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Premièrement, vous retournez voir le commerçant.   </a:t>
            </a:r>
            <a:r>
              <a:rPr sz="1600" b="1" i="0">
                <a:solidFill>
                  <a:srgbClr val="07734A"/>
                </a:solidFill>
                <a:latin typeface="Verdana"/>
              </a:rPr>
              <a:t>» un mot de rang, et aussi le verbe retourner</a:t>
            </a:r>
          </a:p>
        </p:txBody>
      </p:sp>
      <p:sp>
        <p:nvSpPr>
          <p:cNvPr id="12" name="Rounded Rectangle 11"/>
          <p:cNvSpPr/>
          <p:nvPr/>
        </p:nvSpPr>
        <p:spPr>
          <a:xfrm>
            <a:off x="566928" y="3147568"/>
            <a:ext cx="11057839" cy="595376"/>
          </a:xfrm>
          <a:prstGeom prst="roundRect">
            <a:avLst>
              <a:gd name="adj" fmla="val 24573"/>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6237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32638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303016"/>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Si ça ne bouge pas, vous écrivez une mise en demeure.   </a:t>
            </a:r>
            <a:r>
              <a:rPr sz="1600" b="1" i="0">
                <a:solidFill>
                  <a:srgbClr val="07734A"/>
                </a:solidFill>
                <a:latin typeface="Verdana"/>
              </a:rPr>
              <a:t>» une condition en « si »</a:t>
            </a:r>
          </a:p>
        </p:txBody>
      </p:sp>
      <p:sp>
        <p:nvSpPr>
          <p:cNvPr id="16" name="Rounded Rectangle 15"/>
          <p:cNvSpPr/>
          <p:nvPr/>
        </p:nvSpPr>
        <p:spPr>
          <a:xfrm>
            <a:off x="566928" y="3870960"/>
            <a:ext cx="11057839" cy="595376"/>
          </a:xfrm>
          <a:prstGeom prst="roundRect">
            <a:avLst>
              <a:gd name="adj" fmla="val 24573"/>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98576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4977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026408"/>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Vous vous représentez vous-même, sans avocat.   </a:t>
            </a:r>
            <a:r>
              <a:rPr sz="1600" b="1" i="0">
                <a:solidFill>
                  <a:srgbClr val="07734A"/>
                </a:solidFill>
                <a:latin typeface="Verdana"/>
              </a:rPr>
              <a:t>» aucun rang : c'est une précision</a:t>
            </a:r>
          </a:p>
        </p:txBody>
      </p:sp>
      <p:sp>
        <p:nvSpPr>
          <p:cNvPr id="20" name="Rounded Rectangle 19"/>
          <p:cNvSpPr/>
          <p:nvPr/>
        </p:nvSpPr>
        <p:spPr>
          <a:xfrm>
            <a:off x="566928" y="4594352"/>
            <a:ext cx="11057839" cy="595376"/>
          </a:xfrm>
          <a:prstGeom prst="roundRect">
            <a:avLst>
              <a:gd name="adj" fmla="val 24573"/>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0916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77316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749800"/>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Gardez vos factures, le jour de l'achat.   </a:t>
            </a:r>
            <a:r>
              <a:rPr sz="1600" b="1" i="0">
                <a:solidFill>
                  <a:srgbClr val="07734A"/>
                </a:solidFill>
                <a:latin typeface="Verdana"/>
              </a:rPr>
              <a:t>» un moment précis, hors de la suite des étapes</a:t>
            </a:r>
          </a:p>
        </p:txBody>
      </p:sp>
      <p:sp>
        <p:nvSpPr>
          <p:cNvPr id="24" name="Rounded Rectangle 23"/>
          <p:cNvSpPr/>
          <p:nvPr/>
        </p:nvSpPr>
        <p:spPr>
          <a:xfrm>
            <a:off x="566928" y="5317744"/>
            <a:ext cx="11057839" cy="595376"/>
          </a:xfrm>
          <a:prstGeom prst="roundRect">
            <a:avLst>
              <a:gd name="adj" fmla="val 24573"/>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3255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9656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473192"/>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J'y reviens toujours, parce que c'est là qu'on trouve les modèles.   </a:t>
            </a:r>
            <a:r>
              <a:rPr sz="1600" b="1" i="0">
                <a:solidFill>
                  <a:srgbClr val="07734A"/>
                </a:solidFill>
                <a:latin typeface="Verdana"/>
              </a:rPr>
              <a:t>» aucun rang : c'est un ajout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Redis les trois étapes dans l'ordre, en une phrase chacune.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Sans regarder tes notes.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Trois phrases courtes valent mieux qu'une longue.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Suivre un sujet dans les médias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