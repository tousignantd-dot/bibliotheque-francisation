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3. Apporter un vrai journal ouvert à la page des lettres : le contraste entre les deux genres se voit avant de se lire, et c'est la meilleure entrée en matière.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plus mal réussi du module : le groupe complète spontanément le fait divers avec ce qu'il imagine. C'est là qu'il faut mettre le temps.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annonce l'encadré du journal, à la fin du dialogue. Laisser le groupe deviner : la réponse le surprend toujours.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la formule d'appel et la signature : ce sont deux des huit exigences du courriel de E2. Le dire maintenant, et le rappeler à chaque lettre 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 commerçant avait d'abord refusé » : un plus-que-parfait, revu en C2. Le faire repérer par le groupe, c'est la meilleure preuve que la grammaire du module sert à lire.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conseil de Raphaël à la fin du dialogue - expliquer d'abord, donner son avis ensuite - est le plan exact du courriel de E2. Le noter au tableau et le laisser jusqu'à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conditionnel est la signature du fait divers, comme le « je » est celle de la lettre. Le faire entourer dans le texte.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l'expérience : demander au groupe ce qui a causé l'incendie. Plusieurs répondront « la sécheuse » - qui n'est nulle part dans le texte.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premiers sont des cartes mémoire de l'activité ; les deux derniers sont des expressions de travail, à écrire au tableau. Faire classer les deux lettres du dialogue dans ces deux cases.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compte double : c'est le plan du courriel de E2. Si le groupe se trompe, reprendre la réplique de Raphaël mot pour mot.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les deux sont permis dans le courrier des lecteurs. On ne juge pas la personne, on observe si l'avis se discute. C'est aussi le critère de la production écrite.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Les réponses partagent presque toujours le groupe en deux : c'est le meilleur départ possible pour la discussion de D2.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Deux lettres, deux points de vue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la même double page, le journal met ce qu'il y a de plus sec et ce qu'il y a de plus personnel : quinze lignes de fait divers d'un côté, des lettres signées de l'autre.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un sujet dans les médias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deux lettres de lecteurs qui s'opposent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 fait divers et ne pas y ajouter ce qui n'y est pas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opinion appuyée d'une opinion nue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mots de l'opinion publiée.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écrire à un journal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eu envie d'écrire à un journal, ou à la radio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te ferait écrire : une colère, une bonne nouvelle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lit ces lettres, à ton avis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le journal dit s'il est d'accord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LECTURE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lettre de Gaëtan Provencher</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13664"/>
          </a:xfrm>
          <a:prstGeom prst="roundRect">
            <a:avLst>
              <a:gd name="adj" fmla="val 2384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5234" cy="33934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RAPHAËL</a:t>
            </a:r>
          </a:p>
        </p:txBody>
      </p:sp>
      <p:sp>
        <p:nvSpPr>
          <p:cNvPr id="10" name="TextBox 9"/>
          <p:cNvSpPr txBox="1"/>
          <p:nvPr/>
        </p:nvSpPr>
        <p:spPr>
          <a:xfrm>
            <a:off x="2427922" y="2322576"/>
            <a:ext cx="8648204" cy="33934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Nadège, le Courrier de la Batture est arrivé. Il y a deux lettres sur ta laveuse.</a:t>
            </a:r>
          </a:p>
        </p:txBody>
      </p:sp>
      <p:sp>
        <p:nvSpPr>
          <p:cNvPr id="11" name="Rounded Rectangle 10"/>
          <p:cNvSpPr/>
          <p:nvPr/>
        </p:nvSpPr>
        <p:spPr>
          <a:xfrm>
            <a:off x="566928" y="2853944"/>
            <a:ext cx="11057839" cy="613664"/>
          </a:xfrm>
          <a:prstGeom prst="roundRect">
            <a:avLst>
              <a:gd name="adj" fmla="val 2384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18536"/>
            <a:ext cx="1495234" cy="33934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NADÈGE</a:t>
            </a:r>
          </a:p>
        </p:txBody>
      </p:sp>
      <p:sp>
        <p:nvSpPr>
          <p:cNvPr id="13" name="TextBox 12"/>
          <p:cNvSpPr txBox="1"/>
          <p:nvPr/>
        </p:nvSpPr>
        <p:spPr>
          <a:xfrm>
            <a:off x="2427922" y="3018536"/>
            <a:ext cx="8648204" cy="33934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Sur ma laveuse ? Personne ne sait que j'ai une laveuse brisée !</a:t>
            </a:r>
          </a:p>
        </p:txBody>
      </p:sp>
      <p:sp>
        <p:nvSpPr>
          <p:cNvPr id="14" name="Rounded Rectangle 13"/>
          <p:cNvSpPr/>
          <p:nvPr/>
        </p:nvSpPr>
        <p:spPr>
          <a:xfrm>
            <a:off x="566928" y="3549904"/>
            <a:ext cx="11057839" cy="1182623"/>
          </a:xfrm>
          <a:prstGeom prst="roundRect">
            <a:avLst>
              <a:gd name="adj" fmla="val 1237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714496"/>
            <a:ext cx="1495234" cy="908303"/>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RAPHAËL</a:t>
            </a:r>
          </a:p>
        </p:txBody>
      </p:sp>
      <p:sp>
        <p:nvSpPr>
          <p:cNvPr id="16" name="TextBox 15"/>
          <p:cNvSpPr txBox="1"/>
          <p:nvPr/>
        </p:nvSpPr>
        <p:spPr>
          <a:xfrm>
            <a:off x="2427922" y="3714496"/>
            <a:ext cx="8648204" cy="908303"/>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Sur le sujet, je veux dire. « Monsieur le rédacteur en chef, j'ai écouté avec intérêt la chronique du 12 août. À mon avis, on demande beaucoup trop aux consommateurs. »</a:t>
            </a:r>
          </a:p>
        </p:txBody>
      </p:sp>
      <p:sp>
        <p:nvSpPr>
          <p:cNvPr id="17" name="Rounded Rectangle 16"/>
          <p:cNvSpPr/>
          <p:nvPr/>
        </p:nvSpPr>
        <p:spPr>
          <a:xfrm>
            <a:off x="566928" y="481482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979415"/>
            <a:ext cx="1495234"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RAPHAËL</a:t>
            </a:r>
          </a:p>
        </p:txBody>
      </p:sp>
      <p:sp>
        <p:nvSpPr>
          <p:cNvPr id="19" name="TextBox 18"/>
          <p:cNvSpPr txBox="1"/>
          <p:nvPr/>
        </p:nvSpPr>
        <p:spPr>
          <a:xfrm>
            <a:off x="2427922" y="4979415"/>
            <a:ext cx="8648204"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 Si je dois écrire une mise en demeure chaque fois qu'un appareil brise, je vais y passer mes soirées. Ce n'est pas au client de faire le travail du commerçant.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LECTURE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lettre de Louise Berthiaume</a:t>
            </a:r>
          </a:p>
        </p:txBody>
      </p:sp>
      <p:sp>
        <p:nvSpPr>
          <p:cNvPr id="7" name="Rounded Rectangle 6"/>
          <p:cNvSpPr/>
          <p:nvPr/>
        </p:nvSpPr>
        <p:spPr>
          <a:xfrm>
            <a:off x="566928" y="1737360"/>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5234"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RAPHAËL</a:t>
            </a:r>
          </a:p>
        </p:txBody>
      </p:sp>
      <p:sp>
        <p:nvSpPr>
          <p:cNvPr id="9" name="TextBox 8"/>
          <p:cNvSpPr txBox="1"/>
          <p:nvPr/>
        </p:nvSpPr>
        <p:spPr>
          <a:xfrm>
            <a:off x="2427922" y="1901952"/>
            <a:ext cx="8648204"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 Pour ma part, je ne partage pas l'avis exprimé la semaine dernière. J'ai suivi les trois étapes en février dernier, pour un lave-vaisselle. »</a:t>
            </a:r>
          </a:p>
        </p:txBody>
      </p:sp>
      <p:sp>
        <p:nvSpPr>
          <p:cNvPr id="10" name="Rounded Rectangle 9"/>
          <p:cNvSpPr/>
          <p:nvPr/>
        </p:nvSpPr>
        <p:spPr>
          <a:xfrm>
            <a:off x="566928" y="2788920"/>
            <a:ext cx="11057839" cy="969264"/>
          </a:xfrm>
          <a:prstGeom prst="roundRect">
            <a:avLst>
              <a:gd name="adj" fmla="val 1509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53512"/>
            <a:ext cx="1495234"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RAPHAËL</a:t>
            </a:r>
          </a:p>
        </p:txBody>
      </p:sp>
      <p:sp>
        <p:nvSpPr>
          <p:cNvPr id="12" name="TextBox 11"/>
          <p:cNvSpPr txBox="1"/>
          <p:nvPr/>
        </p:nvSpPr>
        <p:spPr>
          <a:xfrm>
            <a:off x="2427922" y="2953512"/>
            <a:ext cx="8648204"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 Le commerçant avait d'abord refusé ; il a rappelé six jours après avoir reçu ma lettre. Si les gens savaient que ça marche, ils écriraient. »</a:t>
            </a:r>
          </a:p>
        </p:txBody>
      </p:sp>
      <p:sp>
        <p:nvSpPr>
          <p:cNvPr id="13" name="Rounded Rectangle 12"/>
          <p:cNvSpPr/>
          <p:nvPr/>
        </p:nvSpPr>
        <p:spPr>
          <a:xfrm>
            <a:off x="566928" y="3840480"/>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05072"/>
            <a:ext cx="1495234"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NADÈGE</a:t>
            </a:r>
          </a:p>
        </p:txBody>
      </p:sp>
      <p:sp>
        <p:nvSpPr>
          <p:cNvPr id="15" name="TextBox 14"/>
          <p:cNvSpPr txBox="1"/>
          <p:nvPr/>
        </p:nvSpPr>
        <p:spPr>
          <a:xfrm>
            <a:off x="2427922" y="4005072"/>
            <a:ext cx="8648204"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Six jours. Elle donne une date, un appareil et un résultat.</a:t>
            </a:r>
          </a:p>
        </p:txBody>
      </p:sp>
      <p:sp>
        <p:nvSpPr>
          <p:cNvPr id="16" name="Rounded Rectangle 15"/>
          <p:cNvSpPr/>
          <p:nvPr/>
        </p:nvSpPr>
        <p:spPr>
          <a:xfrm>
            <a:off x="566928" y="4572000"/>
            <a:ext cx="11057839" cy="1289303"/>
          </a:xfrm>
          <a:prstGeom prst="roundRect">
            <a:avLst>
              <a:gd name="adj" fmla="val 1134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736592"/>
            <a:ext cx="1495234" cy="1014983"/>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RAPHAËL</a:t>
            </a:r>
          </a:p>
        </p:txBody>
      </p:sp>
      <p:sp>
        <p:nvSpPr>
          <p:cNvPr id="18" name="TextBox 17"/>
          <p:cNvSpPr txBox="1"/>
          <p:nvPr/>
        </p:nvSpPr>
        <p:spPr>
          <a:xfrm>
            <a:off x="2427922" y="4736592"/>
            <a:ext cx="8648204" cy="1014983"/>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C'est ce qui fait la différence entre les deux. Ils écrivent tous les deux ce qu'ils pensent, mais elle appuie son point de vue sur un cas qu'elle a vécu.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LECTURE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L'encadré du journal</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52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9" name="TextBox 8"/>
          <p:cNvSpPr txBox="1"/>
          <p:nvPr/>
        </p:nvSpPr>
        <p:spPr>
          <a:xfrm>
            <a:off x="2427922" y="1901952"/>
            <a:ext cx="864820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une troisième lettre en dessous ?</a:t>
            </a:r>
          </a:p>
        </p:txBody>
      </p:sp>
      <p:sp>
        <p:nvSpPr>
          <p:cNvPr id="10" name="Rounded Rectangle 9"/>
          <p:cNvSpPr/>
          <p:nvPr/>
        </p:nvSpPr>
        <p:spPr>
          <a:xfrm>
            <a:off x="566928" y="248665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523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2" name="TextBox 11"/>
          <p:cNvSpPr txBox="1"/>
          <p:nvPr/>
        </p:nvSpPr>
        <p:spPr>
          <a:xfrm>
            <a:off x="2427922" y="2651252"/>
            <a:ext cx="8648204"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encadré du journal, plutôt. « Le Courrier publie les lettres signées de leur auteur et n'en corrige que l'orthographe. Les opinions exprimées n'engagent que ceux qui les signent. »</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52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5" name="TextBox 14"/>
          <p:cNvSpPr txBox="1"/>
          <p:nvPr/>
        </p:nvSpPr>
        <p:spPr>
          <a:xfrm>
            <a:off x="2427922" y="4076191"/>
            <a:ext cx="864820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Autrement dit, le journal ne dit pas s'il est d'accord.</a:t>
            </a:r>
          </a:p>
        </p:txBody>
      </p:sp>
      <p:sp>
        <p:nvSpPr>
          <p:cNvPr id="16" name="Rounded Rectangle 15"/>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8" name="TextBox 17"/>
          <p:cNvSpPr txBox="1"/>
          <p:nvPr/>
        </p:nvSpPr>
        <p:spPr>
          <a:xfrm>
            <a:off x="2427922" y="482549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ne le dit jamais dans cette page-là. C'est justement pour ça qu'elle existe.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fait divers de la page cinq</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LE TEXTE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NE DIT PAS</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Deux logements détruits</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cause certaine de l'incendie</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Quatorze occupants évacués</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s'il y a un responsable</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 blessure rapportée</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ce que le journal en pense</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Dommages de cent quarante mille dollars</a:t>
            </a:r>
          </a:p>
        </p:txBody>
      </p:sp>
      <p:sp>
        <p:nvSpPr>
          <p:cNvPr id="20" name="TextBox 19"/>
          <p:cNvSpPr txBox="1"/>
          <p:nvPr/>
        </p:nvSpPr>
        <p:spPr>
          <a:xfrm>
            <a:off x="4443636" y="418185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si l'enquête est terminée</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Le feu se serait déclaré » : ce conditionnel dit que l'enquête n'est pas finie.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FAIT DIVERS NE DIT QUE CE QU'IL DIT</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Si tu y lis un avis, c'est que tu l'y as mis toi-même.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Cinq phrases, aucun « je », aucun adjectif de jugement, et un conditionnel. Il ne cherche pas de coupable, il ne tire aucune leçon, et il ne dit pas ce que le journal en pense. C'est le genre le plus court du journal, et c'est aussi celui qu'on complète le plus spontanément dans sa tête.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de l'opinion publiée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64213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lettre ouverte</a:t>
            </a:r>
          </a:p>
        </p:txBody>
      </p:sp>
      <p:sp>
        <p:nvSpPr>
          <p:cNvPr id="9" name="TextBox 8"/>
          <p:cNvSpPr txBox="1"/>
          <p:nvPr/>
        </p:nvSpPr>
        <p:spPr>
          <a:xfrm>
            <a:off x="3849147" y="2121408"/>
            <a:ext cx="740985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texte qu'on écrit à un journal pour être lu de tout le monde.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64213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point de vue</a:t>
            </a:r>
          </a:p>
        </p:txBody>
      </p:sp>
      <p:sp>
        <p:nvSpPr>
          <p:cNvPr id="12" name="TextBox 11"/>
          <p:cNvSpPr txBox="1"/>
          <p:nvPr/>
        </p:nvSpPr>
        <p:spPr>
          <a:xfrm>
            <a:off x="3849147" y="3106674"/>
            <a:ext cx="740985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façon dont une personne voit une question, qu'une autre voit autrement.</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64213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appuyé</a:t>
            </a:r>
          </a:p>
        </p:txBody>
      </p:sp>
      <p:sp>
        <p:nvSpPr>
          <p:cNvPr id="15" name="TextBox 14"/>
          <p:cNvSpPr txBox="1"/>
          <p:nvPr/>
        </p:nvSpPr>
        <p:spPr>
          <a:xfrm>
            <a:off x="3849147" y="4091939"/>
            <a:ext cx="740985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opinion accompagnée d'une raison qu'on peut vérifier.</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64213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nu</a:t>
            </a:r>
          </a:p>
        </p:txBody>
      </p:sp>
      <p:sp>
        <p:nvSpPr>
          <p:cNvPr id="18" name="TextBox 17"/>
          <p:cNvSpPr txBox="1"/>
          <p:nvPr/>
        </p:nvSpPr>
        <p:spPr>
          <a:xfrm>
            <a:off x="3849147" y="5077205"/>
            <a:ext cx="740985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opinion donnée sans raison vérifiable. C'est permis, mais ça ne se discute pas.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les deux lettres et l'encadré.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Louise Berthiaume raconte une démarche qu'elle a faite elle-même.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Son commerçant avait accepté dès le premier jour.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rappelé six jours après avoir reçu la lettre.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L'appareil de madame Berthiaume était une laveuse.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journal indique dans cette page s'il est d'accord.</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Raphaël conseille de donner son avis avant d'expliquer la chronique.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Louise Berthiaume raconte une démarche qu'elle a faite elle-même.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Son commerçant avait accepté dès le premier jour.   </a:t>
            </a:r>
            <a:r>
              <a:rPr sz="1400" b="1" i="0">
                <a:solidFill>
                  <a:srgbClr val="07734A"/>
                </a:solidFill>
                <a:latin typeface="Verdana"/>
              </a:rPr>
              <a:t>» faux - il avait d'abord refusé</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rappelé six jours après avoir reçu la lettre.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L'appareil de madame Berthiaume était une laveuse.   </a:t>
            </a:r>
            <a:r>
              <a:rPr sz="1400" b="1" i="0">
                <a:solidFill>
                  <a:srgbClr val="07734A"/>
                </a:solidFill>
                <a:latin typeface="Verdana"/>
              </a:rPr>
              <a:t>» faux - un lave-vaisselle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journal indique dans cette page s'il est d'accord.   </a:t>
            </a:r>
            <a:r>
              <a:rPr sz="1400" b="1" i="0">
                <a:solidFill>
                  <a:srgbClr val="07734A"/>
                </a:solidFill>
                <a:latin typeface="Verdana"/>
              </a:rPr>
              <a:t>» faux - jamais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Raphaël conseille de donner son avis avant d'expliquer la chronique.   </a:t>
            </a:r>
            <a:r>
              <a:rPr sz="1400" b="1" i="0">
                <a:solidFill>
                  <a:srgbClr val="07734A"/>
                </a:solidFill>
                <a:latin typeface="Verdana"/>
              </a:rPr>
              <a:t>» faux - l'inverse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avis appuyé, ou un avis nu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seule question : est-ce qu'on donne une raison vérifiable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J'ai suivi les trois étapes en février dernier, pour un lave-vaisselle.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Ce n'est pas au client de faire le travail du commerçant.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La laveuse m'a coûté 780 dollars et elle a tenu trois ans.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Tout le monde sait que les appareils ne durent plus.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technicien attend une pièce depuis cinq semaines : j'ai les courriels.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Franchement, c'est décourageant.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avis appuyé, ou un avis nu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J'ai suivi les trois étapes en février dernier, pour un lave-vaisselle. »   </a:t>
            </a:r>
            <a:r>
              <a:rPr sz="1400" b="1" i="0">
                <a:solidFill>
                  <a:srgbClr val="07734A"/>
                </a:solidFill>
                <a:latin typeface="Verdana"/>
              </a:rPr>
              <a:t>» appuyé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Ce n'est pas au client de faire le travail du commerçant. »   </a:t>
            </a:r>
            <a:r>
              <a:rPr sz="1400" b="1" i="0">
                <a:solidFill>
                  <a:srgbClr val="07734A"/>
                </a:solidFill>
                <a:latin typeface="Verdana"/>
              </a:rPr>
              <a:t>» non appuyé</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La laveuse m'a coûté 780 dollars et elle a tenu trois ans. »   </a:t>
            </a:r>
            <a:r>
              <a:rPr sz="1400" b="1" i="0">
                <a:solidFill>
                  <a:srgbClr val="07734A"/>
                </a:solidFill>
                <a:latin typeface="Verdana"/>
              </a:rPr>
              <a:t>» appuyé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Tout le monde sait que les appareils ne durent plus. »   </a:t>
            </a:r>
            <a:r>
              <a:rPr sz="1400" b="1" i="0">
                <a:solidFill>
                  <a:srgbClr val="07734A"/>
                </a:solidFill>
                <a:latin typeface="Verdana"/>
              </a:rPr>
              <a:t>» non appuyé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technicien attend une pièce depuis cinq semaines : j'ai les courriels. »   </a:t>
            </a:r>
            <a:r>
              <a:rPr sz="1400" b="1" i="0">
                <a:solidFill>
                  <a:srgbClr val="07734A"/>
                </a:solidFill>
                <a:latin typeface="Verdana"/>
              </a:rPr>
              <a:t>» appuyé</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Franchement, c'est décourageant. »   </a:t>
            </a:r>
            <a:r>
              <a:rPr sz="1400" b="1" i="0">
                <a:solidFill>
                  <a:srgbClr val="07734A"/>
                </a:solidFill>
                <a:latin typeface="Verdana"/>
              </a:rPr>
              <a:t>» non appuyé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Choisis une des deux lettres et dis laquelle t'a convaincu, et pourquoi.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Il n'y a pas de bonne réponse.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Dis surtout ce qui, dans la lettre, t'a fait pencher.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Suivre un sujet dans les médias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