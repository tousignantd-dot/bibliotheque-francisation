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Dernière séance du Défi 1. Deux notions en une séance, c'est beaucoup : prévoir quarante minutes pour les relatives et trente pour les connecteurs, et ne pas hésiter à reporter les connecteurs en C1 si le groupe peine.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deuxième objectif surprend toujours et il est très fréquent dans les journaux : le jour où, l'année où, le moment où.</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Laisser le groupe proposer. Beaucoup mettront « que » partout : c'est le point de départ de la leçon, pas une faute à corriger tout de suite.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le test à voix haute sur les trois phrases du déclencheur, une par une, avant de passer à l'exercice.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Dire au groupe que c'est le signe le plus visible du passage au niveau 6, à l'écrit comme à l'oral.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sixième prépare le documentaire de C3. Le faire remarquer : c'est l'année dont parlera la narratrice, au passé simple.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La note est la stratégie d'écoute la plus payante du module : dès qu'un exemple s'annonce, l'élève peut cesser de chercher une information nouvelle et respirer.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cinquième est le plus difficile : « ainsi » veut aussi dire « de cette façon », et c'est la virgule qui distingue les deux emplois. Le dire avant la correction.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le lien avec A3 explicitement : la ponctuation n'est pas décorative. C'est le fil du bloc A qui se referme ici.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minutes. Le Défi 1 se termine ici : annoncer l'entrevue et le documentaire du Défi 2, et prévenir que le passé simple arrive.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SÉANCE B4  ·  MODULE 2</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Qui, que, où - et les mots qui annoncent un exemple</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Deux outils pour dire long sans s'essouffler : la phrase qui complète un nom, et le connecteur qui avertit qu'un exemple arrive. Les deux sont partout dans une chronique.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Suivre un sujet dans les médias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Suivre un sujet dans les médias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réunir deux phrases en une avec « qui », « que » ou « où »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employer « où » pour un moment, et pas seulement pour un lieu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à l'oral le mot qui annonce un exemple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employer par exemple, ainsi, notamment, comme et prenons.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Suivre un sujet dans les médias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200" b="1" i="0">
                <a:solidFill>
                  <a:srgbClr val="17181A"/>
                </a:solidFill>
                <a:latin typeface="Verdana"/>
              </a:rPr>
              <a:t>Comment dire les deux phrases en une seule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C'est une chronique. Elle passe le mardi.</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Voici la lettre. Elle a écrit cette lettre.</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Je me souviens du jour. Le commerçant a rappelé ce jour-là.</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Quel mot faut-il, et pourquoi pas le même dans les trois cas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Suivre un sujet dans les médias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Qui, que, où : le test qui tranche</a:t>
            </a:r>
          </a:p>
        </p:txBody>
      </p:sp>
      <p:sp>
        <p:nvSpPr>
          <p:cNvPr id="7" name="Rounded Rectangle 6"/>
          <p:cNvSpPr/>
          <p:nvPr/>
        </p:nvSpPr>
        <p:spPr>
          <a:xfrm>
            <a:off x="566928" y="1810512"/>
            <a:ext cx="11057839" cy="2932176"/>
          </a:xfrm>
          <a:prstGeom prst="roundRect">
            <a:avLst>
              <a:gd name="adj" fmla="val 498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MOT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QUAND L'EMPLOYER</a:t>
            </a:r>
          </a:p>
        </p:txBody>
      </p:sp>
      <p:sp>
        <p:nvSpPr>
          <p:cNvPr id="10" name="TextBox 9"/>
          <p:cNvSpPr txBox="1"/>
          <p:nvPr/>
        </p:nvSpPr>
        <p:spPr>
          <a:xfrm>
            <a:off x="932688" y="2395728"/>
            <a:ext cx="3291492" cy="304800"/>
          </a:xfrm>
          <a:prstGeom prst="rect">
            <a:avLst/>
          </a:prstGeom>
          <a:noFill/>
        </p:spPr>
        <p:txBody>
          <a:bodyPr wrap="square" lIns="0" rIns="0" tIns="0" bIns="0" anchor="t">
            <a:spAutoFit/>
          </a:bodyPr>
          <a:lstStyle/>
          <a:p>
            <a:pPr algn="l">
              <a:lnSpc>
                <a:spcPct val="132000"/>
              </a:lnSpc>
            </a:pPr>
            <a:r>
              <a:rPr sz="1600" b="1" i="0">
                <a:solidFill>
                  <a:srgbClr val="B45309"/>
                </a:solidFill>
                <a:latin typeface="Verdana"/>
              </a:rPr>
              <a:t>qui</a:t>
            </a:r>
          </a:p>
        </p:txBody>
      </p:sp>
      <p:sp>
        <p:nvSpPr>
          <p:cNvPr id="11" name="TextBox 10"/>
          <p:cNvSpPr txBox="1"/>
          <p:nvPr/>
        </p:nvSpPr>
        <p:spPr>
          <a:xfrm>
            <a:off x="4443636" y="2395728"/>
            <a:ext cx="6595914"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le verbe qui suit n'a pas de sujet : le technicien qui est venu</a:t>
            </a:r>
          </a:p>
        </p:txBody>
      </p:sp>
      <p:sp>
        <p:nvSpPr>
          <p:cNvPr id="12" name="Rectangle 11"/>
          <p:cNvSpPr/>
          <p:nvPr/>
        </p:nvSpPr>
        <p:spPr>
          <a:xfrm>
            <a:off x="932688" y="277368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01696"/>
            <a:ext cx="3291492" cy="573024"/>
          </a:xfrm>
          <a:prstGeom prst="rect">
            <a:avLst/>
          </a:prstGeom>
          <a:noFill/>
        </p:spPr>
        <p:txBody>
          <a:bodyPr wrap="square" lIns="0" rIns="0" tIns="0" bIns="0" anchor="t">
            <a:spAutoFit/>
          </a:bodyPr>
          <a:lstStyle/>
          <a:p>
            <a:pPr algn="l">
              <a:lnSpc>
                <a:spcPct val="132000"/>
              </a:lnSpc>
            </a:pPr>
            <a:r>
              <a:rPr sz="1600" b="1" i="0">
                <a:solidFill>
                  <a:srgbClr val="B45309"/>
                </a:solidFill>
                <a:latin typeface="Verdana"/>
              </a:rPr>
              <a:t>que</a:t>
            </a:r>
          </a:p>
        </p:txBody>
      </p:sp>
      <p:sp>
        <p:nvSpPr>
          <p:cNvPr id="14" name="TextBox 13"/>
          <p:cNvSpPr txBox="1"/>
          <p:nvPr/>
        </p:nvSpPr>
        <p:spPr>
          <a:xfrm>
            <a:off x="4443636" y="2901696"/>
            <a:ext cx="6595914"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le verbe qui suit a son sujet, mais pas d'objet : la pièce qu'il a commandée</a:t>
            </a:r>
          </a:p>
        </p:txBody>
      </p:sp>
      <p:sp>
        <p:nvSpPr>
          <p:cNvPr id="15" name="Rectangle 14"/>
          <p:cNvSpPr/>
          <p:nvPr/>
        </p:nvSpPr>
        <p:spPr>
          <a:xfrm>
            <a:off x="932688" y="354787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675887"/>
            <a:ext cx="3291492" cy="304800"/>
          </a:xfrm>
          <a:prstGeom prst="rect">
            <a:avLst/>
          </a:prstGeom>
          <a:noFill/>
        </p:spPr>
        <p:txBody>
          <a:bodyPr wrap="square" lIns="0" rIns="0" tIns="0" bIns="0" anchor="t">
            <a:spAutoFit/>
          </a:bodyPr>
          <a:lstStyle/>
          <a:p>
            <a:pPr algn="l">
              <a:lnSpc>
                <a:spcPct val="132000"/>
              </a:lnSpc>
            </a:pPr>
            <a:r>
              <a:rPr sz="1600" b="1" i="0">
                <a:solidFill>
                  <a:srgbClr val="B45309"/>
                </a:solidFill>
                <a:latin typeface="Verdana"/>
              </a:rPr>
              <a:t>où</a:t>
            </a:r>
          </a:p>
        </p:txBody>
      </p:sp>
      <p:sp>
        <p:nvSpPr>
          <p:cNvPr id="17" name="TextBox 16"/>
          <p:cNvSpPr txBox="1"/>
          <p:nvPr/>
        </p:nvSpPr>
        <p:spPr>
          <a:xfrm>
            <a:off x="4443636" y="3675887"/>
            <a:ext cx="6595914"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un lieu : l'endroit où on trouve les modèles</a:t>
            </a:r>
          </a:p>
        </p:txBody>
      </p:sp>
      <p:sp>
        <p:nvSpPr>
          <p:cNvPr id="18" name="Rectangle 17"/>
          <p:cNvSpPr/>
          <p:nvPr/>
        </p:nvSpPr>
        <p:spPr>
          <a:xfrm>
            <a:off x="932688" y="405384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181856"/>
            <a:ext cx="3291492" cy="304800"/>
          </a:xfrm>
          <a:prstGeom prst="rect">
            <a:avLst/>
          </a:prstGeom>
          <a:noFill/>
        </p:spPr>
        <p:txBody>
          <a:bodyPr wrap="square" lIns="0" rIns="0" tIns="0" bIns="0" anchor="t">
            <a:spAutoFit/>
          </a:bodyPr>
          <a:lstStyle/>
          <a:p>
            <a:pPr algn="l">
              <a:lnSpc>
                <a:spcPct val="132000"/>
              </a:lnSpc>
            </a:pPr>
            <a:r>
              <a:rPr sz="1600" b="1" i="0">
                <a:solidFill>
                  <a:srgbClr val="B45309"/>
                </a:solidFill>
                <a:latin typeface="Verdana"/>
              </a:rPr>
              <a:t>où</a:t>
            </a:r>
          </a:p>
        </p:txBody>
      </p:sp>
      <p:sp>
        <p:nvSpPr>
          <p:cNvPr id="20" name="TextBox 19"/>
          <p:cNvSpPr txBox="1"/>
          <p:nvPr/>
        </p:nvSpPr>
        <p:spPr>
          <a:xfrm>
            <a:off x="4443636" y="4181856"/>
            <a:ext cx="6595914"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un moment : le jour où elle a téléphoné</a:t>
            </a:r>
          </a:p>
        </p:txBody>
      </p:sp>
      <p:sp>
        <p:nvSpPr>
          <p:cNvPr id="21" name="Rounded Rectangle 20"/>
          <p:cNvSpPr/>
          <p:nvPr/>
        </p:nvSpPr>
        <p:spPr>
          <a:xfrm>
            <a:off x="566928" y="4980432"/>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236464"/>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Enlève le mot et remets les deux phrases droites : ce qui manque te donne la réponse.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Suivre un sujet dans les médias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DÉTERMINANT, NOM, PUIS LA PHRASE QUI LE COMPLÈTE</a:t>
            </a:r>
          </a:p>
        </p:txBody>
      </p:sp>
      <p:sp>
        <p:nvSpPr>
          <p:cNvPr id="6" name="Rounded Rectangle 5"/>
          <p:cNvSpPr/>
          <p:nvPr/>
        </p:nvSpPr>
        <p:spPr>
          <a:xfrm>
            <a:off x="566928" y="1225296"/>
            <a:ext cx="11057839" cy="1967991"/>
          </a:xfrm>
          <a:prstGeom prst="roundRect">
            <a:avLst>
              <a:gd name="adj" fmla="val 743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La lettre que j'ai écrite. Le jour où il a rappelé.</a:t>
            </a:r>
          </a:p>
        </p:txBody>
      </p:sp>
      <p:sp>
        <p:nvSpPr>
          <p:cNvPr id="8" name="Rounded Rectangle 7"/>
          <p:cNvSpPr/>
          <p:nvPr/>
        </p:nvSpPr>
        <p:spPr>
          <a:xfrm>
            <a:off x="566928" y="3467607"/>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C'est la structure que le programme du niveau 6 demande, et c'est ce qui permet de dire long sans faire deux phrases courtes. Un texte d'adulte tient debout par ces phrases-là ; sans elles, on écrit comme au niveau 3, correctement mais par petits morceaux.</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Suivre un sujet dans les médias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GRAMMAIRE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Une seule phrase au lieu de deux</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Complétez avec qui, que ou où.</a:t>
            </a:r>
          </a:p>
        </p:txBody>
      </p:sp>
      <p:sp>
        <p:nvSpPr>
          <p:cNvPr id="8" name="Rounded Rectangle 7"/>
          <p:cNvSpPr/>
          <p:nvPr/>
        </p:nvSpPr>
        <p:spPr>
          <a:xfrm>
            <a:off x="566928" y="2139696"/>
            <a:ext cx="5464911" cy="915416"/>
          </a:xfrm>
          <a:prstGeom prst="roundRect">
            <a:avLst>
              <a:gd name="adj" fmla="val 1598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145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47853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4504791" cy="64109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C'est une chronique ... passe le mardi.</a:t>
            </a:r>
          </a:p>
        </p:txBody>
      </p:sp>
      <p:sp>
        <p:nvSpPr>
          <p:cNvPr id="12" name="Rounded Rectangle 11"/>
          <p:cNvSpPr/>
          <p:nvPr/>
        </p:nvSpPr>
        <p:spPr>
          <a:xfrm>
            <a:off x="6159855" y="2139696"/>
            <a:ext cx="5464911" cy="915416"/>
          </a:xfrm>
          <a:prstGeom prst="roundRect">
            <a:avLst>
              <a:gd name="adj" fmla="val 1598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4145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47853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6937095" y="2295144"/>
            <a:ext cx="4504791" cy="64109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Voici la lettre ... elle a écrite.</a:t>
            </a:r>
          </a:p>
        </p:txBody>
      </p:sp>
      <p:sp>
        <p:nvSpPr>
          <p:cNvPr id="16" name="Rounded Rectangle 15"/>
          <p:cNvSpPr/>
          <p:nvPr/>
        </p:nvSpPr>
        <p:spPr>
          <a:xfrm>
            <a:off x="566928" y="3183127"/>
            <a:ext cx="5464911" cy="915416"/>
          </a:xfrm>
          <a:prstGeom prst="roundRect">
            <a:avLst>
              <a:gd name="adj" fmla="val 1598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45795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52196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338575"/>
            <a:ext cx="4504791" cy="64109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Je me souviens du jour ... le commerçant a rappelé.</a:t>
            </a:r>
          </a:p>
        </p:txBody>
      </p:sp>
      <p:sp>
        <p:nvSpPr>
          <p:cNvPr id="20" name="Rounded Rectangle 19"/>
          <p:cNvSpPr/>
          <p:nvPr/>
        </p:nvSpPr>
        <p:spPr>
          <a:xfrm>
            <a:off x="6159855" y="3183127"/>
            <a:ext cx="5464911" cy="915416"/>
          </a:xfrm>
          <a:prstGeom prst="roundRect">
            <a:avLst>
              <a:gd name="adj" fmla="val 1598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45795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52196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6937095" y="3338575"/>
            <a:ext cx="4504791" cy="64109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L'Office est un organisme ... ne prend pas ton dossier en main.</a:t>
            </a:r>
          </a:p>
        </p:txBody>
      </p:sp>
      <p:sp>
        <p:nvSpPr>
          <p:cNvPr id="24" name="Rounded Rectangle 23"/>
          <p:cNvSpPr/>
          <p:nvPr/>
        </p:nvSpPr>
        <p:spPr>
          <a:xfrm>
            <a:off x="566928" y="4226560"/>
            <a:ext cx="5464911" cy="915416"/>
          </a:xfrm>
          <a:prstGeom prst="roundRect">
            <a:avLst>
              <a:gd name="adj" fmla="val 1598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501387"/>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456539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4382008"/>
            <a:ext cx="4504791" cy="64109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C'est le site ... on trouve les modèles.</a:t>
            </a:r>
          </a:p>
        </p:txBody>
      </p:sp>
      <p:sp>
        <p:nvSpPr>
          <p:cNvPr id="28" name="Rounded Rectangle 27"/>
          <p:cNvSpPr/>
          <p:nvPr/>
        </p:nvSpPr>
        <p:spPr>
          <a:xfrm>
            <a:off x="6159855" y="4226560"/>
            <a:ext cx="5464911" cy="915416"/>
          </a:xfrm>
          <a:prstGeom prst="roundRect">
            <a:avLst>
              <a:gd name="adj" fmla="val 1598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434175" y="4501387"/>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34175" y="456539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6937095" y="4382008"/>
            <a:ext cx="4504791" cy="64109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Mille neuf cent vingt-quatre est l'année ... les fabricants se sont entendus.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Suivre un sujet dans les médias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Une seule phrase au lieu de deux</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5464911" cy="915416"/>
          </a:xfrm>
          <a:prstGeom prst="roundRect">
            <a:avLst>
              <a:gd name="adj" fmla="val 1598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145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47853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4504791" cy="64109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C'est une chronique ... passe le mardi.   </a:t>
            </a:r>
            <a:r>
              <a:rPr sz="1700" b="1" i="0">
                <a:solidFill>
                  <a:srgbClr val="07734A"/>
                </a:solidFill>
                <a:latin typeface="Verdana"/>
              </a:rPr>
              <a:t>» qui</a:t>
            </a:r>
          </a:p>
        </p:txBody>
      </p:sp>
      <p:sp>
        <p:nvSpPr>
          <p:cNvPr id="12" name="Rounded Rectangle 11"/>
          <p:cNvSpPr/>
          <p:nvPr/>
        </p:nvSpPr>
        <p:spPr>
          <a:xfrm>
            <a:off x="6159855" y="2139696"/>
            <a:ext cx="5464911" cy="915416"/>
          </a:xfrm>
          <a:prstGeom prst="roundRect">
            <a:avLst>
              <a:gd name="adj" fmla="val 1598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4145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47853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6937095" y="2295144"/>
            <a:ext cx="4504791" cy="64109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Voici la lettre ... elle a écrite.   </a:t>
            </a:r>
            <a:r>
              <a:rPr sz="1700" b="1" i="0">
                <a:solidFill>
                  <a:srgbClr val="07734A"/>
                </a:solidFill>
                <a:latin typeface="Verdana"/>
              </a:rPr>
              <a:t>» qu'</a:t>
            </a:r>
          </a:p>
        </p:txBody>
      </p:sp>
      <p:sp>
        <p:nvSpPr>
          <p:cNvPr id="16" name="Rounded Rectangle 15"/>
          <p:cNvSpPr/>
          <p:nvPr/>
        </p:nvSpPr>
        <p:spPr>
          <a:xfrm>
            <a:off x="566928" y="3183127"/>
            <a:ext cx="5464911" cy="915416"/>
          </a:xfrm>
          <a:prstGeom prst="roundRect">
            <a:avLst>
              <a:gd name="adj" fmla="val 1598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45795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52196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338575"/>
            <a:ext cx="4504791" cy="64109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Je me souviens du jour ... le commerçant a rappelé.   </a:t>
            </a:r>
            <a:r>
              <a:rPr sz="1700" b="1" i="0">
                <a:solidFill>
                  <a:srgbClr val="07734A"/>
                </a:solidFill>
                <a:latin typeface="Verdana"/>
              </a:rPr>
              <a:t>» où</a:t>
            </a:r>
          </a:p>
        </p:txBody>
      </p:sp>
      <p:sp>
        <p:nvSpPr>
          <p:cNvPr id="20" name="Rounded Rectangle 19"/>
          <p:cNvSpPr/>
          <p:nvPr/>
        </p:nvSpPr>
        <p:spPr>
          <a:xfrm>
            <a:off x="6159855" y="3183127"/>
            <a:ext cx="5464911" cy="915416"/>
          </a:xfrm>
          <a:prstGeom prst="roundRect">
            <a:avLst>
              <a:gd name="adj" fmla="val 1598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45795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52196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6937095" y="3338575"/>
            <a:ext cx="4504791" cy="64109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L'Office est un organisme ... ne prend pas ton dossier en main.   </a:t>
            </a:r>
            <a:r>
              <a:rPr sz="1700" b="1" i="0">
                <a:solidFill>
                  <a:srgbClr val="07734A"/>
                </a:solidFill>
                <a:latin typeface="Verdana"/>
              </a:rPr>
              <a:t>» qui</a:t>
            </a:r>
          </a:p>
        </p:txBody>
      </p:sp>
      <p:sp>
        <p:nvSpPr>
          <p:cNvPr id="24" name="Rounded Rectangle 23"/>
          <p:cNvSpPr/>
          <p:nvPr/>
        </p:nvSpPr>
        <p:spPr>
          <a:xfrm>
            <a:off x="566928" y="4226560"/>
            <a:ext cx="5464911" cy="915416"/>
          </a:xfrm>
          <a:prstGeom prst="roundRect">
            <a:avLst>
              <a:gd name="adj" fmla="val 1598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501387"/>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456539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4382008"/>
            <a:ext cx="4504791" cy="64109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C'est le site ... on trouve les modèles.   </a:t>
            </a:r>
            <a:r>
              <a:rPr sz="1700" b="1" i="0">
                <a:solidFill>
                  <a:srgbClr val="07734A"/>
                </a:solidFill>
                <a:latin typeface="Verdana"/>
              </a:rPr>
              <a:t>» où</a:t>
            </a:r>
          </a:p>
        </p:txBody>
      </p:sp>
      <p:sp>
        <p:nvSpPr>
          <p:cNvPr id="28" name="Rounded Rectangle 27"/>
          <p:cNvSpPr/>
          <p:nvPr/>
        </p:nvSpPr>
        <p:spPr>
          <a:xfrm>
            <a:off x="6159855" y="4226560"/>
            <a:ext cx="5464911" cy="915416"/>
          </a:xfrm>
          <a:prstGeom prst="roundRect">
            <a:avLst>
              <a:gd name="adj" fmla="val 1598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434175" y="4501387"/>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34175" y="456539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6937095" y="4382008"/>
            <a:ext cx="4504791" cy="64109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Mille neuf cent vingt-quatre est l'année ... les fabricants se sont entendus.   </a:t>
            </a:r>
            <a:r>
              <a:rPr sz="1700" b="1" i="0">
                <a:solidFill>
                  <a:srgbClr val="07734A"/>
                </a:solidFill>
                <a:latin typeface="Verdana"/>
              </a:rPr>
              <a:t>» où</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Suivre un sujet dans les médias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Cinq façons d'annoncer un exemple</a:t>
            </a:r>
          </a:p>
        </p:txBody>
      </p:sp>
      <p:sp>
        <p:nvSpPr>
          <p:cNvPr id="7" name="Rounded Rectangle 6"/>
          <p:cNvSpPr/>
          <p:nvPr/>
        </p:nvSpPr>
        <p:spPr>
          <a:xfrm>
            <a:off x="566928" y="1810512"/>
            <a:ext cx="11057839" cy="3253740"/>
          </a:xfrm>
          <a:prstGeom prst="roundRect">
            <a:avLst>
              <a:gd name="adj" fmla="val 449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CONNECTEUR</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QU'IL FAIT</a:t>
            </a:r>
          </a:p>
        </p:txBody>
      </p:sp>
      <p:sp>
        <p:nvSpPr>
          <p:cNvPr id="10" name="TextBox 9"/>
          <p:cNvSpPr txBox="1"/>
          <p:nvPr/>
        </p:nvSpPr>
        <p:spPr>
          <a:xfrm>
            <a:off x="932688" y="2395728"/>
            <a:ext cx="3291492"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par exemple</a:t>
            </a:r>
          </a:p>
        </p:txBody>
      </p:sp>
      <p:sp>
        <p:nvSpPr>
          <p:cNvPr id="11" name="TextBox 10"/>
          <p:cNvSpPr txBox="1"/>
          <p:nvPr/>
        </p:nvSpPr>
        <p:spPr>
          <a:xfrm>
            <a:off x="4443636" y="2395728"/>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le plus simple, après une virgule, n'importe où</a:t>
            </a:r>
          </a:p>
        </p:txBody>
      </p:sp>
      <p:sp>
        <p:nvSpPr>
          <p:cNvPr id="12" name="Rectangle 11"/>
          <p:cNvSpPr/>
          <p:nvPr/>
        </p:nvSpPr>
        <p:spPr>
          <a:xfrm>
            <a:off x="932688" y="279044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18460"/>
            <a:ext cx="3291492"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ainsi</a:t>
            </a:r>
          </a:p>
        </p:txBody>
      </p:sp>
      <p:sp>
        <p:nvSpPr>
          <p:cNvPr id="14" name="TextBox 13"/>
          <p:cNvSpPr txBox="1"/>
          <p:nvPr/>
        </p:nvSpPr>
        <p:spPr>
          <a:xfrm>
            <a:off x="4443636" y="2918460"/>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le plus écrit : un cas qui démontre ce qu'on vient de dire</a:t>
            </a:r>
          </a:p>
        </p:txBody>
      </p:sp>
      <p:sp>
        <p:nvSpPr>
          <p:cNvPr id="15" name="Rectangle 14"/>
          <p:cNvSpPr/>
          <p:nvPr/>
        </p:nvSpPr>
        <p:spPr>
          <a:xfrm>
            <a:off x="932688" y="331317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41192"/>
            <a:ext cx="3291492"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notamment</a:t>
            </a:r>
          </a:p>
        </p:txBody>
      </p:sp>
      <p:sp>
        <p:nvSpPr>
          <p:cNvPr id="17" name="TextBox 16"/>
          <p:cNvSpPr txBox="1"/>
          <p:nvPr/>
        </p:nvSpPr>
        <p:spPr>
          <a:xfrm>
            <a:off x="4443636" y="3441192"/>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il y en a d'autres, je n'en nomme qu'un</a:t>
            </a:r>
          </a:p>
        </p:txBody>
      </p:sp>
      <p:sp>
        <p:nvSpPr>
          <p:cNvPr id="18" name="Rectangle 17"/>
          <p:cNvSpPr/>
          <p:nvPr/>
        </p:nvSpPr>
        <p:spPr>
          <a:xfrm>
            <a:off x="932688" y="38359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963924"/>
            <a:ext cx="3291492"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comme</a:t>
            </a:r>
          </a:p>
        </p:txBody>
      </p:sp>
      <p:sp>
        <p:nvSpPr>
          <p:cNvPr id="20" name="TextBox 19"/>
          <p:cNvSpPr txBox="1"/>
          <p:nvPr/>
        </p:nvSpPr>
        <p:spPr>
          <a:xfrm>
            <a:off x="4443636" y="3963924"/>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il rapproche de quelque chose de connu</a:t>
            </a:r>
          </a:p>
        </p:txBody>
      </p:sp>
      <p:sp>
        <p:nvSpPr>
          <p:cNvPr id="21" name="Rectangle 20"/>
          <p:cNvSpPr/>
          <p:nvPr/>
        </p:nvSpPr>
        <p:spPr>
          <a:xfrm>
            <a:off x="932688" y="435864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486656"/>
            <a:ext cx="3291492"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prenons, c'est le cas de</a:t>
            </a:r>
          </a:p>
        </p:txBody>
      </p:sp>
      <p:sp>
        <p:nvSpPr>
          <p:cNvPr id="23" name="TextBox 22"/>
          <p:cNvSpPr txBox="1"/>
          <p:nvPr/>
        </p:nvSpPr>
        <p:spPr>
          <a:xfrm>
            <a:off x="4443636" y="4486656"/>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on s'arrête et on raconte un cas entier</a:t>
            </a:r>
          </a:p>
        </p:txBody>
      </p:sp>
      <p:sp>
        <p:nvSpPr>
          <p:cNvPr id="24" name="Rounded Rectangle 23"/>
          <p:cNvSpPr/>
          <p:nvPr/>
        </p:nvSpPr>
        <p:spPr>
          <a:xfrm>
            <a:off x="566928" y="5301996"/>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69264" y="5558028"/>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À l'oral, le connecteur t'avertit : ce qui vient ne fait que répéter autrement.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Suivre un sujet dans les médias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GRAMMAIRE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mot qui annonce l'exemple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Complétez. Chaque connecteur ne sert qu'une fois.</a:t>
            </a:r>
          </a:p>
        </p:txBody>
      </p:sp>
      <p:sp>
        <p:nvSpPr>
          <p:cNvPr id="8" name="Rounded Rectangle 7"/>
          <p:cNvSpPr/>
          <p:nvPr/>
        </p:nvSpPr>
        <p:spPr>
          <a:xfrm>
            <a:off x="566928" y="2139696"/>
            <a:ext cx="5464911" cy="1217676"/>
          </a:xfrm>
          <a:prstGeom prst="roundRect">
            <a:avLst>
              <a:gd name="adj" fmla="val 12015"/>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56565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62966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4504791" cy="94335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Un appareil peut briser pour trois raisons. ... , il peut avoir été mal conçu.</a:t>
            </a:r>
          </a:p>
        </p:txBody>
      </p:sp>
      <p:sp>
        <p:nvSpPr>
          <p:cNvPr id="12" name="Rounded Rectangle 11"/>
          <p:cNvSpPr/>
          <p:nvPr/>
        </p:nvSpPr>
        <p:spPr>
          <a:xfrm>
            <a:off x="6159855" y="2139696"/>
            <a:ext cx="5464911" cy="1217676"/>
          </a:xfrm>
          <a:prstGeom prst="roundRect">
            <a:avLst>
              <a:gd name="adj" fmla="val 12015"/>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56565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62966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6937095" y="2295144"/>
            <a:ext cx="4504791" cy="94335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 une laveuse de sept cent quatre-vingts dollars qui cesse de vidanger.</a:t>
            </a:r>
          </a:p>
        </p:txBody>
      </p:sp>
      <p:sp>
        <p:nvSpPr>
          <p:cNvPr id="16" name="Rounded Rectangle 15"/>
          <p:cNvSpPr/>
          <p:nvPr/>
        </p:nvSpPr>
        <p:spPr>
          <a:xfrm>
            <a:off x="566928" y="3485388"/>
            <a:ext cx="5464911" cy="1217676"/>
          </a:xfrm>
          <a:prstGeom prst="roundRect">
            <a:avLst>
              <a:gd name="adj" fmla="val 12015"/>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91134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97535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40836"/>
            <a:ext cx="4504791" cy="94335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Certains recours, ... les petites créances, ne demandent pas d'avocat.</a:t>
            </a:r>
          </a:p>
        </p:txBody>
      </p:sp>
      <p:sp>
        <p:nvSpPr>
          <p:cNvPr id="20" name="Rounded Rectangle 19"/>
          <p:cNvSpPr/>
          <p:nvPr/>
        </p:nvSpPr>
        <p:spPr>
          <a:xfrm>
            <a:off x="6159855" y="3485388"/>
            <a:ext cx="5464911" cy="1217676"/>
          </a:xfrm>
          <a:prstGeom prst="roundRect">
            <a:avLst>
              <a:gd name="adj" fmla="val 12015"/>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91134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97535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6937095" y="3640836"/>
            <a:ext cx="4504791" cy="94335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Un organisme public ... l'Office répond gratuitement au téléphone.</a:t>
            </a:r>
          </a:p>
        </p:txBody>
      </p:sp>
      <p:sp>
        <p:nvSpPr>
          <p:cNvPr id="24" name="Rounded Rectangle 23"/>
          <p:cNvSpPr/>
          <p:nvPr/>
        </p:nvSpPr>
        <p:spPr>
          <a:xfrm>
            <a:off x="566928" y="4831080"/>
            <a:ext cx="5464911" cy="1217676"/>
          </a:xfrm>
          <a:prstGeom prst="roundRect">
            <a:avLst>
              <a:gd name="adj" fmla="val 12015"/>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25703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32104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4986528"/>
            <a:ext cx="4504791" cy="94335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 , une photo de la facture prend trente secondes et peut tout changer.</a:t>
            </a:r>
          </a:p>
        </p:txBody>
      </p:sp>
      <p:sp>
        <p:nvSpPr>
          <p:cNvPr id="28" name="Rounded Rectangle 27"/>
          <p:cNvSpPr/>
          <p:nvPr/>
        </p:nvSpPr>
        <p:spPr>
          <a:xfrm>
            <a:off x="6159855" y="4831080"/>
            <a:ext cx="5464911" cy="1217676"/>
          </a:xfrm>
          <a:prstGeom prst="roundRect">
            <a:avLst>
              <a:gd name="adj" fmla="val 12015"/>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434175" y="525703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34175" y="532104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6937095" y="4986528"/>
            <a:ext cx="4504791" cy="94335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Beaucoup de dossiers se règlent avant l'audience. ... celui de madame Berthiaume.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Suivre un sujet dans les médias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mot qui annonce l'exemple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5464911" cy="1217676"/>
          </a:xfrm>
          <a:prstGeom prst="roundRect">
            <a:avLst>
              <a:gd name="adj" fmla="val 12015"/>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56565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62966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4504791" cy="94335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Un appareil peut briser pour trois raisons. ... , il peut avoir été mal conçu.   </a:t>
            </a:r>
            <a:r>
              <a:rPr sz="1700" b="1" i="0">
                <a:solidFill>
                  <a:srgbClr val="07734A"/>
                </a:solidFill>
                <a:latin typeface="Verdana"/>
              </a:rPr>
              <a:t>» par exemple</a:t>
            </a:r>
          </a:p>
        </p:txBody>
      </p:sp>
      <p:sp>
        <p:nvSpPr>
          <p:cNvPr id="12" name="Rounded Rectangle 11"/>
          <p:cNvSpPr/>
          <p:nvPr/>
        </p:nvSpPr>
        <p:spPr>
          <a:xfrm>
            <a:off x="6159855" y="2139696"/>
            <a:ext cx="5464911" cy="1217676"/>
          </a:xfrm>
          <a:prstGeom prst="roundRect">
            <a:avLst>
              <a:gd name="adj" fmla="val 12015"/>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56565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62966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6937095" y="2295144"/>
            <a:ext cx="4504791" cy="94335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 une laveuse de sept cent quatre-vingts dollars qui cesse de vidanger.   </a:t>
            </a:r>
            <a:r>
              <a:rPr sz="1700" b="1" i="0">
                <a:solidFill>
                  <a:srgbClr val="07734A"/>
                </a:solidFill>
                <a:latin typeface="Verdana"/>
              </a:rPr>
              <a:t>» prenons</a:t>
            </a:r>
          </a:p>
        </p:txBody>
      </p:sp>
      <p:sp>
        <p:nvSpPr>
          <p:cNvPr id="16" name="Rounded Rectangle 15"/>
          <p:cNvSpPr/>
          <p:nvPr/>
        </p:nvSpPr>
        <p:spPr>
          <a:xfrm>
            <a:off x="566928" y="3485388"/>
            <a:ext cx="5464911" cy="1217676"/>
          </a:xfrm>
          <a:prstGeom prst="roundRect">
            <a:avLst>
              <a:gd name="adj" fmla="val 12015"/>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91134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97535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40836"/>
            <a:ext cx="4504791" cy="94335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Certains recours, ... les petites créances, ne demandent pas d'avocat.   </a:t>
            </a:r>
            <a:r>
              <a:rPr sz="1700" b="1" i="0">
                <a:solidFill>
                  <a:srgbClr val="07734A"/>
                </a:solidFill>
                <a:latin typeface="Verdana"/>
              </a:rPr>
              <a:t>» notamment</a:t>
            </a:r>
          </a:p>
        </p:txBody>
      </p:sp>
      <p:sp>
        <p:nvSpPr>
          <p:cNvPr id="20" name="Rounded Rectangle 19"/>
          <p:cNvSpPr/>
          <p:nvPr/>
        </p:nvSpPr>
        <p:spPr>
          <a:xfrm>
            <a:off x="6159855" y="3485388"/>
            <a:ext cx="5464911" cy="1217676"/>
          </a:xfrm>
          <a:prstGeom prst="roundRect">
            <a:avLst>
              <a:gd name="adj" fmla="val 12015"/>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91134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97535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6937095" y="3640836"/>
            <a:ext cx="4504791" cy="94335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Un organisme public ... l'Office répond gratuitement au téléphone.   </a:t>
            </a:r>
            <a:r>
              <a:rPr sz="1700" b="1" i="0">
                <a:solidFill>
                  <a:srgbClr val="07734A"/>
                </a:solidFill>
                <a:latin typeface="Verdana"/>
              </a:rPr>
              <a:t>» comme</a:t>
            </a:r>
          </a:p>
        </p:txBody>
      </p:sp>
      <p:sp>
        <p:nvSpPr>
          <p:cNvPr id="24" name="Rounded Rectangle 23"/>
          <p:cNvSpPr/>
          <p:nvPr/>
        </p:nvSpPr>
        <p:spPr>
          <a:xfrm>
            <a:off x="566928" y="4831080"/>
            <a:ext cx="5464911" cy="1217676"/>
          </a:xfrm>
          <a:prstGeom prst="roundRect">
            <a:avLst>
              <a:gd name="adj" fmla="val 12015"/>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25703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32104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4986528"/>
            <a:ext cx="4504791" cy="94335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 , une photo de la facture prend trente secondes et peut tout changer.   </a:t>
            </a:r>
            <a:r>
              <a:rPr sz="1700" b="1" i="0">
                <a:solidFill>
                  <a:srgbClr val="07734A"/>
                </a:solidFill>
                <a:latin typeface="Verdana"/>
              </a:rPr>
              <a:t>» ainsi</a:t>
            </a:r>
          </a:p>
        </p:txBody>
      </p:sp>
      <p:sp>
        <p:nvSpPr>
          <p:cNvPr id="28" name="Rounded Rectangle 27"/>
          <p:cNvSpPr/>
          <p:nvPr/>
        </p:nvSpPr>
        <p:spPr>
          <a:xfrm>
            <a:off x="6159855" y="4831080"/>
            <a:ext cx="5464911" cy="1217676"/>
          </a:xfrm>
          <a:prstGeom prst="roundRect">
            <a:avLst>
              <a:gd name="adj" fmla="val 12015"/>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434175" y="525703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34175" y="532104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6937095" y="4986528"/>
            <a:ext cx="4504791" cy="94335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Beaucoup de dossiers se règlent avant l'audience. ... celui de madame Berthiaume.   </a:t>
            </a:r>
            <a:r>
              <a:rPr sz="1700" b="1" i="0">
                <a:solidFill>
                  <a:srgbClr val="07734A"/>
                </a:solidFill>
                <a:latin typeface="Verdana"/>
              </a:rPr>
              <a:t>» c'est le cas de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Suivre un sujet dans les médias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CONFONDRE LES DEUX « AINSI »</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Ainsi il a rempli le formulaire et il l'a envoyé.</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Ainsi, une photo de la facture peut valoir des centaines de dollars.</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Sans virgule, « ainsi » veut dire « de cette façon » et décrit une manière. Avec la virgule et en tête de phrase, il annonce un exemple qui démontre. C'est le seul cas du module où un signe de ponctuation change le sens d'un mot - et c'est aussi ce qu'on a vu en A3 avec les guillemets.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Suivre un sujet dans les médias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Écris une phrase avec « qui », « que » ou « où », sur ta propre semaine.</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Par exemple : « le jour où j'ai reçu ma facture ».</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seule phrase, mais longue.</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Suivre un sujet dans les médias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