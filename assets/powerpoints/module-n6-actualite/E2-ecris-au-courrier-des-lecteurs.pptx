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Dernière séance du module. Reprendre en cinq minutes les objections restées sans réponse en E1, puis entrer dans la rédaction. Rendre les premières phrases corrigées du billet de D2.</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C'est l'attente de fin de cours du niveau 6, mot pour mot : rédiger un courriel pour informer son destinataire du contenu d'un article d'intérêt général, en organisant ses idées à l'aide de paragraphes.</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La deuxième piste a une seule bonne réponse, et le groupe la connaît depuis D1 : l'information d'abord. La quatrième est nouvelle : un courriel formel se termine sur une demande ou une proposition.</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Diapositive à photographier. Écrire le plan au tableau et l'y laisser pendant toute la rédaction. C'est aussi le plan de la lettre de madame Berthiaume, en D1 : le faire remarquer.</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Ces huit exigences sont affichées dans l'activité, sous la zone de rédaction. L'assistant les vérifie une à une et donne une rétroaction immédiate ; elle n'est pas conservée.</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Diapositive à photographier. C'est le savoir de grammaire du texte du niveau 6 : découper, disposer, formuler et présenter le contenu d'un courriel formel.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Faire proposer trois objets au tableau et voter. L'exercice prend cinq minutes et améliore tous les courriels du groupe.</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Révision par les cartes mémoire dans l'activité, puis autoévaluation. Seize énoncés à évaluer : pas encore, un peu, oui.</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Rédaction dans l'activité, avec vérification par l'assistant, puis envoi à l'enseignante. Les élèves rapides peuvent lire le courriel d'un camarade et lui dire laquelle des huit exigences manque.</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Dernier billet du module. Le lire à voix haute en groupe si l'ambiance s'y prête. Rappeler que le premier geste, la prochaine fois, tient en trois mots : garder la facture.</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EDF6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TextBox 2"/>
          <p:cNvSpPr txBox="1"/>
          <p:nvPr/>
        </p:nvSpPr>
        <p:spPr>
          <a:xfrm>
            <a:off x="566928" y="1234440"/>
            <a:ext cx="11057839" cy="274320"/>
          </a:xfrm>
          <a:prstGeom prst="rect">
            <a:avLst/>
          </a:prstGeom>
          <a:noFill/>
        </p:spPr>
        <p:txBody>
          <a:bodyPr wrap="square" lIns="0" rIns="0" tIns="0" bIns="0" anchor="t">
            <a:spAutoFit/>
          </a:bodyPr>
          <a:lstStyle/>
          <a:p>
            <a:pPr algn="l">
              <a:lnSpc>
                <a:spcPct val="135000"/>
              </a:lnSpc>
            </a:pPr>
            <a:r>
              <a:rPr sz="1300" b="1" i="0" spc="156">
                <a:solidFill>
                  <a:srgbClr val="A5335F"/>
                </a:solidFill>
                <a:latin typeface="Verdana"/>
              </a:rPr>
              <a:t>SÉANCE E2  ·  MODULE 2</a:t>
            </a:r>
          </a:p>
        </p:txBody>
      </p:sp>
      <p:sp>
        <p:nvSpPr>
          <p:cNvPr id="4" name="TextBox 3"/>
          <p:cNvSpPr txBox="1"/>
          <p:nvPr/>
        </p:nvSpPr>
        <p:spPr>
          <a:xfrm>
            <a:off x="566928" y="1691640"/>
            <a:ext cx="9960559" cy="1874519"/>
          </a:xfrm>
          <a:prstGeom prst="rect">
            <a:avLst/>
          </a:prstGeom>
          <a:noFill/>
        </p:spPr>
        <p:txBody>
          <a:bodyPr wrap="square" lIns="0" rIns="0" tIns="0" bIns="0" anchor="t">
            <a:spAutoFit/>
          </a:bodyPr>
          <a:lstStyle/>
          <a:p>
            <a:pPr algn="l">
              <a:lnSpc>
                <a:spcPct val="105000"/>
              </a:lnSpc>
            </a:pPr>
            <a:r>
              <a:rPr sz="4000" b="1" i="0">
                <a:solidFill>
                  <a:srgbClr val="17181A"/>
                </a:solidFill>
                <a:latin typeface="Verdana"/>
              </a:rPr>
              <a:t>Écris au courrier des lecteurs</a:t>
            </a:r>
          </a:p>
        </p:txBody>
      </p:sp>
      <p:sp>
        <p:nvSpPr>
          <p:cNvPr id="5" name="Rounded Rectangle 4"/>
          <p:cNvSpPr/>
          <p:nvPr/>
        </p:nvSpPr>
        <p:spPr>
          <a:xfrm>
            <a:off x="566928" y="3794760"/>
            <a:ext cx="9960559" cy="1763268"/>
          </a:xfrm>
          <a:prstGeom prst="roundRect">
            <a:avLst>
              <a:gd name="adj" fmla="val 8297"/>
            </a:avLst>
          </a:prstGeom>
          <a:solidFill>
            <a:srgbClr val="FFFFFF"/>
          </a:solidFill>
          <a:ln w="12700">
            <a:solidFill>
              <a:srgbClr val="EAEA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6" name="TextBox 5"/>
          <p:cNvSpPr txBox="1"/>
          <p:nvPr/>
        </p:nvSpPr>
        <p:spPr>
          <a:xfrm>
            <a:off x="896112" y="4123944"/>
            <a:ext cx="9302191" cy="1150620"/>
          </a:xfrm>
          <a:prstGeom prst="rect">
            <a:avLst/>
          </a:prstGeom>
          <a:noFill/>
        </p:spPr>
        <p:txBody>
          <a:bodyPr wrap="square" lIns="0" rIns="0" tIns="0" bIns="0" anchor="t">
            <a:spAutoFit/>
          </a:bodyPr>
          <a:lstStyle/>
          <a:p>
            <a:pPr algn="l">
              <a:lnSpc>
                <a:spcPct val="145000"/>
              </a:lnSpc>
            </a:pPr>
            <a:r>
              <a:rPr sz="2000" b="0" i="0">
                <a:solidFill>
                  <a:srgbClr val="4B4F52"/>
                </a:solidFill>
                <a:latin typeface="Verdana"/>
              </a:rPr>
              <a:t>Dernière séance : tu passes de lecteur à auteur. Un courriel de huit à douze phrases au Courrier de la Batture - ce que la chronique disait, puis ce que tu en penses, et jamais l'inverse.</a:t>
            </a:r>
          </a:p>
        </p:txBody>
      </p:sp>
      <p:sp>
        <p:nvSpPr>
          <p:cNvPr id="7" name="TextBox 6"/>
          <p:cNvSpPr txBox="1"/>
          <p:nvPr/>
        </p:nvSpPr>
        <p:spPr>
          <a:xfrm>
            <a:off x="566928" y="6035040"/>
            <a:ext cx="11057839" cy="274320"/>
          </a:xfrm>
          <a:prstGeom prst="rect">
            <a:avLst/>
          </a:prstGeom>
          <a:noFill/>
        </p:spPr>
        <p:txBody>
          <a:bodyPr wrap="square" lIns="0" rIns="0" tIns="0" bIns="0" anchor="t">
            <a:spAutoFit/>
          </a:bodyPr>
          <a:lstStyle/>
          <a:p>
            <a:pPr algn="l">
              <a:lnSpc>
                <a:spcPct val="135000"/>
              </a:lnSpc>
            </a:pPr>
            <a:r>
              <a:rPr sz="1500" b="0" i="0">
                <a:solidFill>
                  <a:srgbClr val="6E7175"/>
                </a:solidFill>
                <a:latin typeface="Verdana"/>
              </a:rPr>
              <a:t>75 minutes  ·  Suivre un sujet dans les médias</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7F7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TextBox 2"/>
          <p:cNvSpPr txBox="1"/>
          <p:nvPr/>
        </p:nvSpPr>
        <p:spPr>
          <a:xfrm>
            <a:off x="566928" y="6355080"/>
            <a:ext cx="6400800" cy="219456"/>
          </a:xfrm>
          <a:prstGeom prst="rect">
            <a:avLst/>
          </a:prstGeom>
          <a:noFill/>
        </p:spPr>
        <p:txBody>
          <a:bodyPr wrap="square" lIns="0" rIns="0" tIns="0" bIns="0" anchor="t">
            <a:spAutoFit/>
          </a:bodyPr>
          <a:lstStyle/>
          <a:p>
            <a:pPr algn="l">
              <a:lnSpc>
                <a:spcPct val="135000"/>
              </a:lnSpc>
            </a:pPr>
            <a:r>
              <a:rPr sz="1200" b="0" i="0">
                <a:solidFill>
                  <a:srgbClr val="6E7175"/>
                </a:solidFill>
                <a:latin typeface="Verdana"/>
              </a:rPr>
              <a:t>E2 · Suivre un sujet dans les médias</a:t>
            </a:r>
          </a:p>
        </p:txBody>
      </p:sp>
      <p:sp>
        <p:nvSpPr>
          <p:cNvPr id="4" name="TextBox 3"/>
          <p:cNvSpPr txBox="1"/>
          <p:nvPr/>
        </p:nvSpPr>
        <p:spPr>
          <a:xfrm>
            <a:off x="10710367" y="6355080"/>
            <a:ext cx="914400" cy="219456"/>
          </a:xfrm>
          <a:prstGeom prst="rect">
            <a:avLst/>
          </a:prstGeom>
          <a:noFill/>
        </p:spPr>
        <p:txBody>
          <a:bodyPr wrap="square" lIns="0" rIns="0" tIns="0" bIns="0" anchor="t">
            <a:spAutoFit/>
          </a:bodyPr>
          <a:lstStyle/>
          <a:p>
            <a:pPr algn="r">
              <a:lnSpc>
                <a:spcPct val="135000"/>
              </a:lnSpc>
            </a:pPr>
            <a:r>
              <a:rPr sz="1200" b="0" i="0">
                <a:solidFill>
                  <a:srgbClr val="6E7175"/>
                </a:solidFill>
                <a:latin typeface="Verdana"/>
              </a:rPr>
              <a:t>2</a:t>
            </a:r>
          </a:p>
        </p:txBody>
      </p:sp>
      <p:sp>
        <p:nvSpPr>
          <p:cNvPr id="5" name="TextBox 4"/>
          <p:cNvSpPr txBox="1"/>
          <p:nvPr/>
        </p:nvSpPr>
        <p:spPr>
          <a:xfrm>
            <a:off x="566928" y="420624"/>
            <a:ext cx="11057839" cy="237744"/>
          </a:xfrm>
          <a:prstGeom prst="rect">
            <a:avLst/>
          </a:prstGeom>
          <a:noFill/>
        </p:spPr>
        <p:txBody>
          <a:bodyPr wrap="square" lIns="0" rIns="0" tIns="0" bIns="0" anchor="t">
            <a:spAutoFit/>
          </a:bodyPr>
          <a:lstStyle/>
          <a:p>
            <a:pPr algn="l">
              <a:lnSpc>
                <a:spcPct val="135000"/>
              </a:lnSpc>
            </a:pPr>
            <a:r>
              <a:rPr sz="1300" b="1" i="0" spc="156">
                <a:solidFill>
                  <a:srgbClr val="A5335F"/>
                </a:solidFill>
                <a:latin typeface="Verdana"/>
              </a:rPr>
              <a:t>OBJECTIFS DE LA SÉANCE</a:t>
            </a:r>
          </a:p>
        </p:txBody>
      </p:sp>
      <p:sp>
        <p:nvSpPr>
          <p:cNvPr id="6" name="TextBox 5"/>
          <p:cNvSpPr txBox="1"/>
          <p:nvPr/>
        </p:nvSpPr>
        <p:spPr>
          <a:xfrm>
            <a:off x="566928" y="749808"/>
            <a:ext cx="11057839" cy="877824"/>
          </a:xfrm>
          <a:prstGeom prst="rect">
            <a:avLst/>
          </a:prstGeom>
          <a:noFill/>
        </p:spPr>
        <p:txBody>
          <a:bodyPr wrap="square" lIns="0" rIns="0" tIns="0" bIns="0" anchor="t">
            <a:spAutoFit/>
          </a:bodyPr>
          <a:lstStyle/>
          <a:p>
            <a:pPr algn="l">
              <a:lnSpc>
                <a:spcPct val="115000"/>
              </a:lnSpc>
            </a:pPr>
            <a:r>
              <a:rPr sz="3400" b="1" i="0">
                <a:solidFill>
                  <a:srgbClr val="17181A"/>
                </a:solidFill>
                <a:latin typeface="Verdana"/>
              </a:rPr>
              <a:t>À la fin, je serai capable de…</a:t>
            </a:r>
          </a:p>
        </p:txBody>
      </p:sp>
      <p:sp>
        <p:nvSpPr>
          <p:cNvPr id="7" name="Rounded Rectangle 6"/>
          <p:cNvSpPr/>
          <p:nvPr/>
        </p:nvSpPr>
        <p:spPr>
          <a:xfrm>
            <a:off x="566928" y="1764792"/>
            <a:ext cx="11057839" cy="757936"/>
          </a:xfrm>
          <a:prstGeom prst="roundRect">
            <a:avLst>
              <a:gd name="adj" fmla="val 19302"/>
            </a:avLst>
          </a:prstGeom>
          <a:solidFill>
            <a:srgbClr val="FFFFFF"/>
          </a:solidFill>
          <a:ln w="12700">
            <a:solidFill>
              <a:srgbClr val="EAEA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Rounded Rectangle 7"/>
          <p:cNvSpPr/>
          <p:nvPr/>
        </p:nvSpPr>
        <p:spPr>
          <a:xfrm>
            <a:off x="804672" y="1942592"/>
            <a:ext cx="402336" cy="402336"/>
          </a:xfrm>
          <a:prstGeom prst="roundRect">
            <a:avLst>
              <a:gd name="adj" fmla="val 31818"/>
            </a:avLst>
          </a:prstGeom>
          <a:solidFill>
            <a:srgbClr val="FCE9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TextBox 8"/>
          <p:cNvSpPr txBox="1"/>
          <p:nvPr/>
        </p:nvSpPr>
        <p:spPr>
          <a:xfrm>
            <a:off x="804672" y="2024887"/>
            <a:ext cx="402336" cy="274320"/>
          </a:xfrm>
          <a:prstGeom prst="rect">
            <a:avLst/>
          </a:prstGeom>
          <a:noFill/>
        </p:spPr>
        <p:txBody>
          <a:bodyPr wrap="square" lIns="0" rIns="0" tIns="0" bIns="0" anchor="t">
            <a:spAutoFit/>
          </a:bodyPr>
          <a:lstStyle/>
          <a:p>
            <a:pPr algn="ctr">
              <a:lnSpc>
                <a:spcPct val="135000"/>
              </a:lnSpc>
            </a:pPr>
            <a:r>
              <a:rPr sz="1500" b="1" i="0">
                <a:solidFill>
                  <a:srgbClr val="A5335F"/>
                </a:solidFill>
                <a:latin typeface="Verdana"/>
              </a:rPr>
              <a:t>1</a:t>
            </a:r>
          </a:p>
        </p:txBody>
      </p:sp>
      <p:sp>
        <p:nvSpPr>
          <p:cNvPr id="10" name="TextBox 9"/>
          <p:cNvSpPr txBox="1"/>
          <p:nvPr/>
        </p:nvSpPr>
        <p:spPr>
          <a:xfrm>
            <a:off x="1408176" y="1965960"/>
            <a:ext cx="9549079" cy="392176"/>
          </a:xfrm>
          <a:prstGeom prst="rect">
            <a:avLst/>
          </a:prstGeom>
          <a:noFill/>
        </p:spPr>
        <p:txBody>
          <a:bodyPr wrap="square" lIns="0" rIns="0" tIns="0" bIns="0" anchor="t">
            <a:spAutoFit/>
          </a:bodyPr>
          <a:lstStyle/>
          <a:p>
            <a:pPr algn="l">
              <a:lnSpc>
                <a:spcPct val="140000"/>
              </a:lnSpc>
            </a:pPr>
            <a:r>
              <a:rPr sz="2000" b="0" i="0">
                <a:solidFill>
                  <a:srgbClr val="3A3D40"/>
                </a:solidFill>
                <a:latin typeface="Verdana"/>
              </a:rPr>
              <a:t>écrire un courriel formel de huit à douze phrases ;</a:t>
            </a:r>
          </a:p>
        </p:txBody>
      </p:sp>
      <p:sp>
        <p:nvSpPr>
          <p:cNvPr id="11" name="Rounded Rectangle 10"/>
          <p:cNvSpPr/>
          <p:nvPr/>
        </p:nvSpPr>
        <p:spPr>
          <a:xfrm>
            <a:off x="566928" y="2650744"/>
            <a:ext cx="11057839" cy="757936"/>
          </a:xfrm>
          <a:prstGeom prst="roundRect">
            <a:avLst>
              <a:gd name="adj" fmla="val 19302"/>
            </a:avLst>
          </a:prstGeom>
          <a:solidFill>
            <a:srgbClr val="FFFFFF"/>
          </a:solidFill>
          <a:ln w="12700">
            <a:solidFill>
              <a:srgbClr val="EAEA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2" name="Rounded Rectangle 11"/>
          <p:cNvSpPr/>
          <p:nvPr/>
        </p:nvSpPr>
        <p:spPr>
          <a:xfrm>
            <a:off x="804672" y="2828544"/>
            <a:ext cx="402336" cy="402336"/>
          </a:xfrm>
          <a:prstGeom prst="roundRect">
            <a:avLst>
              <a:gd name="adj" fmla="val 31818"/>
            </a:avLst>
          </a:prstGeom>
          <a:solidFill>
            <a:srgbClr val="FCE9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3" name="TextBox 12"/>
          <p:cNvSpPr txBox="1"/>
          <p:nvPr/>
        </p:nvSpPr>
        <p:spPr>
          <a:xfrm>
            <a:off x="804672" y="2910840"/>
            <a:ext cx="402336" cy="274320"/>
          </a:xfrm>
          <a:prstGeom prst="rect">
            <a:avLst/>
          </a:prstGeom>
          <a:noFill/>
        </p:spPr>
        <p:txBody>
          <a:bodyPr wrap="square" lIns="0" rIns="0" tIns="0" bIns="0" anchor="t">
            <a:spAutoFit/>
          </a:bodyPr>
          <a:lstStyle/>
          <a:p>
            <a:pPr algn="ctr">
              <a:lnSpc>
                <a:spcPct val="135000"/>
              </a:lnSpc>
            </a:pPr>
            <a:r>
              <a:rPr sz="1500" b="1" i="0">
                <a:solidFill>
                  <a:srgbClr val="A5335F"/>
                </a:solidFill>
                <a:latin typeface="Verdana"/>
              </a:rPr>
              <a:t>2</a:t>
            </a:r>
          </a:p>
        </p:txBody>
      </p:sp>
      <p:sp>
        <p:nvSpPr>
          <p:cNvPr id="14" name="TextBox 13"/>
          <p:cNvSpPr txBox="1"/>
          <p:nvPr/>
        </p:nvSpPr>
        <p:spPr>
          <a:xfrm>
            <a:off x="1408176" y="2851912"/>
            <a:ext cx="9549079" cy="392176"/>
          </a:xfrm>
          <a:prstGeom prst="rect">
            <a:avLst/>
          </a:prstGeom>
          <a:noFill/>
        </p:spPr>
        <p:txBody>
          <a:bodyPr wrap="square" lIns="0" rIns="0" tIns="0" bIns="0" anchor="t">
            <a:spAutoFit/>
          </a:bodyPr>
          <a:lstStyle/>
          <a:p>
            <a:pPr algn="l">
              <a:lnSpc>
                <a:spcPct val="140000"/>
              </a:lnSpc>
            </a:pPr>
            <a:r>
              <a:rPr sz="2000" b="0" i="0">
                <a:solidFill>
                  <a:srgbClr val="3A3D40"/>
                </a:solidFill>
                <a:latin typeface="Verdana"/>
              </a:rPr>
              <a:t>organiser le texte en deux ou trois paragraphes, un par idée ;</a:t>
            </a:r>
          </a:p>
        </p:txBody>
      </p:sp>
      <p:sp>
        <p:nvSpPr>
          <p:cNvPr id="15" name="Rounded Rectangle 14"/>
          <p:cNvSpPr/>
          <p:nvPr/>
        </p:nvSpPr>
        <p:spPr>
          <a:xfrm>
            <a:off x="566928" y="3536696"/>
            <a:ext cx="11057839" cy="757936"/>
          </a:xfrm>
          <a:prstGeom prst="roundRect">
            <a:avLst>
              <a:gd name="adj" fmla="val 19302"/>
            </a:avLst>
          </a:prstGeom>
          <a:solidFill>
            <a:srgbClr val="FFFFFF"/>
          </a:solidFill>
          <a:ln w="12700">
            <a:solidFill>
              <a:srgbClr val="EAEA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6" name="Rounded Rectangle 15"/>
          <p:cNvSpPr/>
          <p:nvPr/>
        </p:nvSpPr>
        <p:spPr>
          <a:xfrm>
            <a:off x="804672" y="3714496"/>
            <a:ext cx="402336" cy="402336"/>
          </a:xfrm>
          <a:prstGeom prst="roundRect">
            <a:avLst>
              <a:gd name="adj" fmla="val 31818"/>
            </a:avLst>
          </a:prstGeom>
          <a:solidFill>
            <a:srgbClr val="FCE9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7" name="TextBox 16"/>
          <p:cNvSpPr txBox="1"/>
          <p:nvPr/>
        </p:nvSpPr>
        <p:spPr>
          <a:xfrm>
            <a:off x="804672" y="3796792"/>
            <a:ext cx="402336" cy="274320"/>
          </a:xfrm>
          <a:prstGeom prst="rect">
            <a:avLst/>
          </a:prstGeom>
          <a:noFill/>
        </p:spPr>
        <p:txBody>
          <a:bodyPr wrap="square" lIns="0" rIns="0" tIns="0" bIns="0" anchor="t">
            <a:spAutoFit/>
          </a:bodyPr>
          <a:lstStyle/>
          <a:p>
            <a:pPr algn="ctr">
              <a:lnSpc>
                <a:spcPct val="135000"/>
              </a:lnSpc>
            </a:pPr>
            <a:r>
              <a:rPr sz="1500" b="1" i="0">
                <a:solidFill>
                  <a:srgbClr val="A5335F"/>
                </a:solidFill>
                <a:latin typeface="Verdana"/>
              </a:rPr>
              <a:t>3</a:t>
            </a:r>
          </a:p>
        </p:txBody>
      </p:sp>
      <p:sp>
        <p:nvSpPr>
          <p:cNvPr id="18" name="TextBox 17"/>
          <p:cNvSpPr txBox="1"/>
          <p:nvPr/>
        </p:nvSpPr>
        <p:spPr>
          <a:xfrm>
            <a:off x="1408176" y="3737864"/>
            <a:ext cx="9549079" cy="392176"/>
          </a:xfrm>
          <a:prstGeom prst="rect">
            <a:avLst/>
          </a:prstGeom>
          <a:noFill/>
        </p:spPr>
        <p:txBody>
          <a:bodyPr wrap="square" lIns="0" rIns="0" tIns="0" bIns="0" anchor="t">
            <a:spAutoFit/>
          </a:bodyPr>
          <a:lstStyle/>
          <a:p>
            <a:pPr algn="l">
              <a:lnSpc>
                <a:spcPct val="140000"/>
              </a:lnSpc>
            </a:pPr>
            <a:r>
              <a:rPr sz="2000" b="0" i="0">
                <a:solidFill>
                  <a:srgbClr val="3A3D40"/>
                </a:solidFill>
                <a:latin typeface="Verdana"/>
              </a:rPr>
              <a:t>séparer ce que la chronique disait de ce qu'on en pense ;</a:t>
            </a:r>
          </a:p>
        </p:txBody>
      </p:sp>
      <p:sp>
        <p:nvSpPr>
          <p:cNvPr id="19" name="Rounded Rectangle 18"/>
          <p:cNvSpPr/>
          <p:nvPr/>
        </p:nvSpPr>
        <p:spPr>
          <a:xfrm>
            <a:off x="566928" y="4422648"/>
            <a:ext cx="11057839" cy="757936"/>
          </a:xfrm>
          <a:prstGeom prst="roundRect">
            <a:avLst>
              <a:gd name="adj" fmla="val 19302"/>
            </a:avLst>
          </a:prstGeom>
          <a:solidFill>
            <a:srgbClr val="FFFFFF"/>
          </a:solidFill>
          <a:ln w="12700">
            <a:solidFill>
              <a:srgbClr val="EAEA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0" name="Rounded Rectangle 19"/>
          <p:cNvSpPr/>
          <p:nvPr/>
        </p:nvSpPr>
        <p:spPr>
          <a:xfrm>
            <a:off x="804672" y="4600448"/>
            <a:ext cx="402336" cy="402336"/>
          </a:xfrm>
          <a:prstGeom prst="roundRect">
            <a:avLst>
              <a:gd name="adj" fmla="val 31818"/>
            </a:avLst>
          </a:prstGeom>
          <a:solidFill>
            <a:srgbClr val="FCE9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1" name="TextBox 20"/>
          <p:cNvSpPr txBox="1"/>
          <p:nvPr/>
        </p:nvSpPr>
        <p:spPr>
          <a:xfrm>
            <a:off x="804672" y="4682744"/>
            <a:ext cx="402336" cy="274320"/>
          </a:xfrm>
          <a:prstGeom prst="rect">
            <a:avLst/>
          </a:prstGeom>
          <a:noFill/>
        </p:spPr>
        <p:txBody>
          <a:bodyPr wrap="square" lIns="0" rIns="0" tIns="0" bIns="0" anchor="t">
            <a:spAutoFit/>
          </a:bodyPr>
          <a:lstStyle/>
          <a:p>
            <a:pPr algn="ctr">
              <a:lnSpc>
                <a:spcPct val="135000"/>
              </a:lnSpc>
            </a:pPr>
            <a:r>
              <a:rPr sz="1500" b="1" i="0">
                <a:solidFill>
                  <a:srgbClr val="A5335F"/>
                </a:solidFill>
                <a:latin typeface="Verdana"/>
              </a:rPr>
              <a:t>4</a:t>
            </a:r>
          </a:p>
        </p:txBody>
      </p:sp>
      <p:sp>
        <p:nvSpPr>
          <p:cNvPr id="22" name="TextBox 21"/>
          <p:cNvSpPr txBox="1"/>
          <p:nvPr/>
        </p:nvSpPr>
        <p:spPr>
          <a:xfrm>
            <a:off x="1408176" y="4623816"/>
            <a:ext cx="9549079" cy="392176"/>
          </a:xfrm>
          <a:prstGeom prst="rect">
            <a:avLst/>
          </a:prstGeom>
          <a:noFill/>
        </p:spPr>
        <p:txBody>
          <a:bodyPr wrap="square" lIns="0" rIns="0" tIns="0" bIns="0" anchor="t">
            <a:spAutoFit/>
          </a:bodyPr>
          <a:lstStyle/>
          <a:p>
            <a:pPr algn="l">
              <a:lnSpc>
                <a:spcPct val="140000"/>
              </a:lnSpc>
            </a:pPr>
            <a:r>
              <a:rPr sz="2000" b="0" i="0">
                <a:solidFill>
                  <a:srgbClr val="3A3D40"/>
                </a:solidFill>
                <a:latin typeface="Verdana"/>
              </a:rPr>
              <a:t>évaluer ce qu'on est maintenant capable de faire.</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7F7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TextBox 2"/>
          <p:cNvSpPr txBox="1"/>
          <p:nvPr/>
        </p:nvSpPr>
        <p:spPr>
          <a:xfrm>
            <a:off x="566928" y="6355080"/>
            <a:ext cx="6400800" cy="219456"/>
          </a:xfrm>
          <a:prstGeom prst="rect">
            <a:avLst/>
          </a:prstGeom>
          <a:noFill/>
        </p:spPr>
        <p:txBody>
          <a:bodyPr wrap="square" lIns="0" rIns="0" tIns="0" bIns="0" anchor="t">
            <a:spAutoFit/>
          </a:bodyPr>
          <a:lstStyle/>
          <a:p>
            <a:pPr algn="l">
              <a:lnSpc>
                <a:spcPct val="135000"/>
              </a:lnSpc>
            </a:pPr>
            <a:r>
              <a:rPr sz="1200" b="0" i="0">
                <a:solidFill>
                  <a:srgbClr val="6E7175"/>
                </a:solidFill>
                <a:latin typeface="Verdana"/>
              </a:rPr>
              <a:t>E2 · Suivre un sujet dans les médias</a:t>
            </a:r>
          </a:p>
        </p:txBody>
      </p:sp>
      <p:sp>
        <p:nvSpPr>
          <p:cNvPr id="4" name="TextBox 3"/>
          <p:cNvSpPr txBox="1"/>
          <p:nvPr/>
        </p:nvSpPr>
        <p:spPr>
          <a:xfrm>
            <a:off x="10710367" y="6355080"/>
            <a:ext cx="914400" cy="219456"/>
          </a:xfrm>
          <a:prstGeom prst="rect">
            <a:avLst/>
          </a:prstGeom>
          <a:noFill/>
        </p:spPr>
        <p:txBody>
          <a:bodyPr wrap="square" lIns="0" rIns="0" tIns="0" bIns="0" anchor="t">
            <a:spAutoFit/>
          </a:bodyPr>
          <a:lstStyle/>
          <a:p>
            <a:pPr algn="r">
              <a:lnSpc>
                <a:spcPct val="135000"/>
              </a:lnSpc>
            </a:pPr>
            <a:r>
              <a:rPr sz="1200" b="0" i="0">
                <a:solidFill>
                  <a:srgbClr val="6E7175"/>
                </a:solidFill>
                <a:latin typeface="Verdana"/>
              </a:rPr>
              <a:t>3</a:t>
            </a:r>
          </a:p>
        </p:txBody>
      </p:sp>
      <p:sp>
        <p:nvSpPr>
          <p:cNvPr id="5" name="TextBox 4"/>
          <p:cNvSpPr txBox="1"/>
          <p:nvPr/>
        </p:nvSpPr>
        <p:spPr>
          <a:xfrm>
            <a:off x="566928" y="420624"/>
            <a:ext cx="11057839" cy="237744"/>
          </a:xfrm>
          <a:prstGeom prst="rect">
            <a:avLst/>
          </a:prstGeom>
          <a:noFill/>
        </p:spPr>
        <p:txBody>
          <a:bodyPr wrap="square" lIns="0" rIns="0" tIns="0" bIns="0" anchor="t">
            <a:spAutoFit/>
          </a:bodyPr>
          <a:lstStyle/>
          <a:p>
            <a:pPr algn="l">
              <a:lnSpc>
                <a:spcPct val="135000"/>
              </a:lnSpc>
            </a:pPr>
            <a:r>
              <a:rPr sz="1300" b="1" i="0" spc="156">
                <a:solidFill>
                  <a:srgbClr val="A5335F"/>
                </a:solidFill>
                <a:latin typeface="Verdana"/>
              </a:rPr>
              <a:t>MISE EN SITUATION</a:t>
            </a:r>
          </a:p>
        </p:txBody>
      </p:sp>
      <p:sp>
        <p:nvSpPr>
          <p:cNvPr id="6" name="TextBox 5"/>
          <p:cNvSpPr txBox="1"/>
          <p:nvPr/>
        </p:nvSpPr>
        <p:spPr>
          <a:xfrm>
            <a:off x="566928" y="749808"/>
            <a:ext cx="11057839" cy="877824"/>
          </a:xfrm>
          <a:prstGeom prst="rect">
            <a:avLst/>
          </a:prstGeom>
          <a:noFill/>
        </p:spPr>
        <p:txBody>
          <a:bodyPr wrap="square" lIns="0" rIns="0" tIns="0" bIns="0" anchor="t">
            <a:spAutoFit/>
          </a:bodyPr>
          <a:lstStyle/>
          <a:p>
            <a:pPr algn="l">
              <a:lnSpc>
                <a:spcPct val="115000"/>
              </a:lnSpc>
            </a:pPr>
            <a:r>
              <a:rPr sz="3000" b="1" i="0">
                <a:solidFill>
                  <a:srgbClr val="17181A"/>
                </a:solidFill>
                <a:latin typeface="Verdana"/>
              </a:rPr>
              <a:t>Le Courrier de la Batture publie les lettres signées</a:t>
            </a:r>
          </a:p>
        </p:txBody>
      </p:sp>
      <p:sp>
        <p:nvSpPr>
          <p:cNvPr id="7" name="Rounded Rectangle 6"/>
          <p:cNvSpPr/>
          <p:nvPr/>
        </p:nvSpPr>
        <p:spPr>
          <a:xfrm>
            <a:off x="566928" y="1856232"/>
            <a:ext cx="11057839" cy="703579"/>
          </a:xfrm>
          <a:prstGeom prst="roundRect">
            <a:avLst>
              <a:gd name="adj" fmla="val 20794"/>
            </a:avLst>
          </a:prstGeom>
          <a:solidFill>
            <a:srgbClr val="FFFFFF"/>
          </a:solidFill>
          <a:ln w="12700">
            <a:solidFill>
              <a:srgbClr val="EAEA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Rectangle 7"/>
          <p:cNvSpPr/>
          <p:nvPr/>
        </p:nvSpPr>
        <p:spPr>
          <a:xfrm>
            <a:off x="566928" y="1965960"/>
            <a:ext cx="50292" cy="484123"/>
          </a:xfrm>
          <a:prstGeom prst="rect">
            <a:avLst/>
          </a:prstGeom>
          <a:solidFill>
            <a:srgbClr val="A5335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TextBox 8"/>
          <p:cNvSpPr txBox="1"/>
          <p:nvPr/>
        </p:nvSpPr>
        <p:spPr>
          <a:xfrm>
            <a:off x="950976" y="2039112"/>
            <a:ext cx="10372039" cy="374395"/>
          </a:xfrm>
          <a:prstGeom prst="rect">
            <a:avLst/>
          </a:prstGeom>
          <a:noFill/>
        </p:spPr>
        <p:txBody>
          <a:bodyPr wrap="square" lIns="0" rIns="0" tIns="0" bIns="0" anchor="t">
            <a:spAutoFit/>
          </a:bodyPr>
          <a:lstStyle/>
          <a:p>
            <a:pPr algn="l">
              <a:lnSpc>
                <a:spcPct val="140000"/>
              </a:lnSpc>
            </a:pPr>
            <a:r>
              <a:rPr sz="1900" b="0" i="0">
                <a:solidFill>
                  <a:srgbClr val="3A3D40"/>
                </a:solidFill>
                <a:latin typeface="Verdana"/>
              </a:rPr>
              <a:t>Qui va te lire ? Des voisins, pas des spécialistes.</a:t>
            </a:r>
          </a:p>
        </p:txBody>
      </p:sp>
      <p:sp>
        <p:nvSpPr>
          <p:cNvPr id="10" name="Rounded Rectangle 9"/>
          <p:cNvSpPr/>
          <p:nvPr/>
        </p:nvSpPr>
        <p:spPr>
          <a:xfrm>
            <a:off x="566928" y="2642108"/>
            <a:ext cx="11057839" cy="703579"/>
          </a:xfrm>
          <a:prstGeom prst="roundRect">
            <a:avLst>
              <a:gd name="adj" fmla="val 20794"/>
            </a:avLst>
          </a:prstGeom>
          <a:solidFill>
            <a:srgbClr val="FFFFFF"/>
          </a:solidFill>
          <a:ln w="12700">
            <a:solidFill>
              <a:srgbClr val="EAEA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1" name="Rectangle 10"/>
          <p:cNvSpPr/>
          <p:nvPr/>
        </p:nvSpPr>
        <p:spPr>
          <a:xfrm>
            <a:off x="566928" y="2751836"/>
            <a:ext cx="50292" cy="484123"/>
          </a:xfrm>
          <a:prstGeom prst="rect">
            <a:avLst/>
          </a:prstGeom>
          <a:solidFill>
            <a:srgbClr val="A5335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2" name="TextBox 11"/>
          <p:cNvSpPr txBox="1"/>
          <p:nvPr/>
        </p:nvSpPr>
        <p:spPr>
          <a:xfrm>
            <a:off x="950976" y="2824988"/>
            <a:ext cx="10372039" cy="374395"/>
          </a:xfrm>
          <a:prstGeom prst="rect">
            <a:avLst/>
          </a:prstGeom>
          <a:noFill/>
        </p:spPr>
        <p:txBody>
          <a:bodyPr wrap="square" lIns="0" rIns="0" tIns="0" bIns="0" anchor="t">
            <a:spAutoFit/>
          </a:bodyPr>
          <a:lstStyle/>
          <a:p>
            <a:pPr algn="l">
              <a:lnSpc>
                <a:spcPct val="140000"/>
              </a:lnSpc>
            </a:pPr>
            <a:r>
              <a:rPr sz="1900" b="0" i="0">
                <a:solidFill>
                  <a:srgbClr val="3A3D40"/>
                </a:solidFill>
                <a:latin typeface="Verdana"/>
              </a:rPr>
              <a:t>Par quoi commences-tu : l'information ou ton avis ?</a:t>
            </a:r>
          </a:p>
        </p:txBody>
      </p:sp>
      <p:sp>
        <p:nvSpPr>
          <p:cNvPr id="13" name="Rounded Rectangle 12"/>
          <p:cNvSpPr/>
          <p:nvPr/>
        </p:nvSpPr>
        <p:spPr>
          <a:xfrm>
            <a:off x="566928" y="3427984"/>
            <a:ext cx="11057839" cy="703579"/>
          </a:xfrm>
          <a:prstGeom prst="roundRect">
            <a:avLst>
              <a:gd name="adj" fmla="val 20794"/>
            </a:avLst>
          </a:prstGeom>
          <a:solidFill>
            <a:srgbClr val="FFFFFF"/>
          </a:solidFill>
          <a:ln w="12700">
            <a:solidFill>
              <a:srgbClr val="EAEA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4" name="Rectangle 13"/>
          <p:cNvSpPr/>
          <p:nvPr/>
        </p:nvSpPr>
        <p:spPr>
          <a:xfrm>
            <a:off x="566928" y="3537712"/>
            <a:ext cx="50292" cy="484123"/>
          </a:xfrm>
          <a:prstGeom prst="rect">
            <a:avLst/>
          </a:prstGeom>
          <a:solidFill>
            <a:srgbClr val="A5335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5" name="TextBox 14"/>
          <p:cNvSpPr txBox="1"/>
          <p:nvPr/>
        </p:nvSpPr>
        <p:spPr>
          <a:xfrm>
            <a:off x="950976" y="3610864"/>
            <a:ext cx="10372039" cy="374395"/>
          </a:xfrm>
          <a:prstGeom prst="rect">
            <a:avLst/>
          </a:prstGeom>
          <a:noFill/>
        </p:spPr>
        <p:txBody>
          <a:bodyPr wrap="square" lIns="0" rIns="0" tIns="0" bIns="0" anchor="t">
            <a:spAutoFit/>
          </a:bodyPr>
          <a:lstStyle/>
          <a:p>
            <a:pPr algn="l">
              <a:lnSpc>
                <a:spcPct val="140000"/>
              </a:lnSpc>
            </a:pPr>
            <a:r>
              <a:rPr sz="1900" b="0" i="0">
                <a:solidFill>
                  <a:srgbClr val="3A3D40"/>
                </a:solidFill>
                <a:latin typeface="Verdana"/>
              </a:rPr>
              <a:t>Comment montres-tu que tu as bien compris la chronique ?</a:t>
            </a:r>
          </a:p>
        </p:txBody>
      </p:sp>
      <p:sp>
        <p:nvSpPr>
          <p:cNvPr id="16" name="Rounded Rectangle 15"/>
          <p:cNvSpPr/>
          <p:nvPr/>
        </p:nvSpPr>
        <p:spPr>
          <a:xfrm>
            <a:off x="566928" y="4213860"/>
            <a:ext cx="11057839" cy="703579"/>
          </a:xfrm>
          <a:prstGeom prst="roundRect">
            <a:avLst>
              <a:gd name="adj" fmla="val 20794"/>
            </a:avLst>
          </a:prstGeom>
          <a:solidFill>
            <a:srgbClr val="FFFFFF"/>
          </a:solidFill>
          <a:ln w="12700">
            <a:solidFill>
              <a:srgbClr val="EAEA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7" name="Rectangle 16"/>
          <p:cNvSpPr/>
          <p:nvPr/>
        </p:nvSpPr>
        <p:spPr>
          <a:xfrm>
            <a:off x="566928" y="4323588"/>
            <a:ext cx="50292" cy="484123"/>
          </a:xfrm>
          <a:prstGeom prst="rect">
            <a:avLst/>
          </a:prstGeom>
          <a:solidFill>
            <a:srgbClr val="A5335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8" name="TextBox 17"/>
          <p:cNvSpPr txBox="1"/>
          <p:nvPr/>
        </p:nvSpPr>
        <p:spPr>
          <a:xfrm>
            <a:off x="950976" y="4396740"/>
            <a:ext cx="10372039" cy="374395"/>
          </a:xfrm>
          <a:prstGeom prst="rect">
            <a:avLst/>
          </a:prstGeom>
          <a:noFill/>
        </p:spPr>
        <p:txBody>
          <a:bodyPr wrap="square" lIns="0" rIns="0" tIns="0" bIns="0" anchor="t">
            <a:spAutoFit/>
          </a:bodyPr>
          <a:lstStyle/>
          <a:p>
            <a:pPr algn="l">
              <a:lnSpc>
                <a:spcPct val="140000"/>
              </a:lnSpc>
            </a:pPr>
            <a:r>
              <a:rPr sz="1900" b="0" i="0">
                <a:solidFill>
                  <a:srgbClr val="3A3D40"/>
                </a:solidFill>
                <a:latin typeface="Verdana"/>
              </a:rPr>
              <a:t>Qu'est-ce que tu demandes, à la fin ?</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7F7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TextBox 2"/>
          <p:cNvSpPr txBox="1"/>
          <p:nvPr/>
        </p:nvSpPr>
        <p:spPr>
          <a:xfrm>
            <a:off x="566928" y="6355080"/>
            <a:ext cx="6400800" cy="219456"/>
          </a:xfrm>
          <a:prstGeom prst="rect">
            <a:avLst/>
          </a:prstGeom>
          <a:noFill/>
        </p:spPr>
        <p:txBody>
          <a:bodyPr wrap="square" lIns="0" rIns="0" tIns="0" bIns="0" anchor="t">
            <a:spAutoFit/>
          </a:bodyPr>
          <a:lstStyle/>
          <a:p>
            <a:pPr algn="l">
              <a:lnSpc>
                <a:spcPct val="135000"/>
              </a:lnSpc>
            </a:pPr>
            <a:r>
              <a:rPr sz="1200" b="0" i="0">
                <a:solidFill>
                  <a:srgbClr val="6E7175"/>
                </a:solidFill>
                <a:latin typeface="Verdana"/>
              </a:rPr>
              <a:t>E2 · Suivre un sujet dans les médias</a:t>
            </a:r>
          </a:p>
        </p:txBody>
      </p:sp>
      <p:sp>
        <p:nvSpPr>
          <p:cNvPr id="4" name="TextBox 3"/>
          <p:cNvSpPr txBox="1"/>
          <p:nvPr/>
        </p:nvSpPr>
        <p:spPr>
          <a:xfrm>
            <a:off x="10710367" y="6355080"/>
            <a:ext cx="914400" cy="219456"/>
          </a:xfrm>
          <a:prstGeom prst="rect">
            <a:avLst/>
          </a:prstGeom>
          <a:noFill/>
        </p:spPr>
        <p:txBody>
          <a:bodyPr wrap="square" lIns="0" rIns="0" tIns="0" bIns="0" anchor="t">
            <a:spAutoFit/>
          </a:bodyPr>
          <a:lstStyle/>
          <a:p>
            <a:pPr algn="r">
              <a:lnSpc>
                <a:spcPct val="135000"/>
              </a:lnSpc>
            </a:pPr>
            <a:r>
              <a:rPr sz="1200" b="0" i="0">
                <a:solidFill>
                  <a:srgbClr val="6E7175"/>
                </a:solidFill>
                <a:latin typeface="Verdana"/>
              </a:rPr>
              <a:t>4</a:t>
            </a:r>
          </a:p>
        </p:txBody>
      </p:sp>
      <p:sp>
        <p:nvSpPr>
          <p:cNvPr id="5" name="TextBox 4"/>
          <p:cNvSpPr txBox="1"/>
          <p:nvPr/>
        </p:nvSpPr>
        <p:spPr>
          <a:xfrm>
            <a:off x="566928" y="420624"/>
            <a:ext cx="11057839" cy="237744"/>
          </a:xfrm>
          <a:prstGeom prst="rect">
            <a:avLst/>
          </a:prstGeom>
          <a:noFill/>
        </p:spPr>
        <p:txBody>
          <a:bodyPr wrap="square" lIns="0" rIns="0" tIns="0" bIns="0" anchor="t">
            <a:spAutoFit/>
          </a:bodyPr>
          <a:lstStyle/>
          <a:p>
            <a:pPr algn="l">
              <a:lnSpc>
                <a:spcPct val="135000"/>
              </a:lnSpc>
            </a:pPr>
            <a:r>
              <a:rPr sz="1300" b="1" i="0" spc="156">
                <a:solidFill>
                  <a:srgbClr val="A5335F"/>
                </a:solidFill>
                <a:latin typeface="Verdana"/>
              </a:rPr>
              <a:t>ANALYSE</a:t>
            </a:r>
          </a:p>
        </p:txBody>
      </p:sp>
      <p:sp>
        <p:nvSpPr>
          <p:cNvPr id="6" name="TextBox 5"/>
          <p:cNvSpPr txBox="1"/>
          <p:nvPr/>
        </p:nvSpPr>
        <p:spPr>
          <a:xfrm>
            <a:off x="566928" y="749808"/>
            <a:ext cx="11057839" cy="877824"/>
          </a:xfrm>
          <a:prstGeom prst="rect">
            <a:avLst/>
          </a:prstGeom>
          <a:noFill/>
        </p:spPr>
        <p:txBody>
          <a:bodyPr wrap="square" lIns="0" rIns="0" tIns="0" bIns="0" anchor="t">
            <a:spAutoFit/>
          </a:bodyPr>
          <a:lstStyle/>
          <a:p>
            <a:pPr algn="l">
              <a:lnSpc>
                <a:spcPct val="115000"/>
              </a:lnSpc>
            </a:pPr>
            <a:r>
              <a:rPr sz="3400" b="1" i="0">
                <a:solidFill>
                  <a:srgbClr val="17181A"/>
                </a:solidFill>
                <a:latin typeface="Verdana"/>
              </a:rPr>
              <a:t>Le plan en trois paragraphes</a:t>
            </a:r>
          </a:p>
        </p:txBody>
      </p:sp>
      <p:sp>
        <p:nvSpPr>
          <p:cNvPr id="7" name="Rounded Rectangle 6"/>
          <p:cNvSpPr/>
          <p:nvPr/>
        </p:nvSpPr>
        <p:spPr>
          <a:xfrm>
            <a:off x="566928" y="1810512"/>
            <a:ext cx="11057839" cy="2560320"/>
          </a:xfrm>
          <a:prstGeom prst="roundRect">
            <a:avLst>
              <a:gd name="adj" fmla="val 5714"/>
            </a:avLst>
          </a:prstGeom>
          <a:solidFill>
            <a:srgbClr val="FFFFFF"/>
          </a:solidFill>
          <a:ln w="12700">
            <a:solidFill>
              <a:srgbClr val="EAEA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TextBox 7"/>
          <p:cNvSpPr txBox="1"/>
          <p:nvPr/>
        </p:nvSpPr>
        <p:spPr>
          <a:xfrm>
            <a:off x="932688" y="1975104"/>
            <a:ext cx="3291492" cy="237744"/>
          </a:xfrm>
          <a:prstGeom prst="rect">
            <a:avLst/>
          </a:prstGeom>
          <a:noFill/>
        </p:spPr>
        <p:txBody>
          <a:bodyPr wrap="square" lIns="0" rIns="0" tIns="0" bIns="0" anchor="t">
            <a:spAutoFit/>
          </a:bodyPr>
          <a:lstStyle/>
          <a:p>
            <a:pPr algn="l">
              <a:lnSpc>
                <a:spcPct val="135000"/>
              </a:lnSpc>
            </a:pPr>
            <a:r>
              <a:rPr sz="1300" b="1" i="0" spc="156">
                <a:solidFill>
                  <a:srgbClr val="6E7175"/>
                </a:solidFill>
                <a:latin typeface="Verdana"/>
              </a:rPr>
              <a:t>LE PARAGRAPHE</a:t>
            </a:r>
          </a:p>
        </p:txBody>
      </p:sp>
      <p:sp>
        <p:nvSpPr>
          <p:cNvPr id="9" name="TextBox 8"/>
          <p:cNvSpPr txBox="1"/>
          <p:nvPr/>
        </p:nvSpPr>
        <p:spPr>
          <a:xfrm>
            <a:off x="4443636" y="1975104"/>
            <a:ext cx="6595914" cy="237744"/>
          </a:xfrm>
          <a:prstGeom prst="rect">
            <a:avLst/>
          </a:prstGeom>
          <a:noFill/>
        </p:spPr>
        <p:txBody>
          <a:bodyPr wrap="square" lIns="0" rIns="0" tIns="0" bIns="0" anchor="t">
            <a:spAutoFit/>
          </a:bodyPr>
          <a:lstStyle/>
          <a:p>
            <a:pPr algn="l">
              <a:lnSpc>
                <a:spcPct val="135000"/>
              </a:lnSpc>
            </a:pPr>
            <a:r>
              <a:rPr sz="1300" b="1" i="0" spc="156">
                <a:solidFill>
                  <a:srgbClr val="6E7175"/>
                </a:solidFill>
                <a:latin typeface="Verdana"/>
              </a:rPr>
              <a:t>CE QU'ON Y MET</a:t>
            </a:r>
          </a:p>
        </p:txBody>
      </p:sp>
      <p:sp>
        <p:nvSpPr>
          <p:cNvPr id="10" name="TextBox 9"/>
          <p:cNvSpPr txBox="1"/>
          <p:nvPr/>
        </p:nvSpPr>
        <p:spPr>
          <a:xfrm>
            <a:off x="932688" y="2395728"/>
            <a:ext cx="3291492" cy="640080"/>
          </a:xfrm>
          <a:prstGeom prst="rect">
            <a:avLst/>
          </a:prstGeom>
          <a:noFill/>
        </p:spPr>
        <p:txBody>
          <a:bodyPr wrap="square" lIns="0" rIns="0" tIns="0" bIns="0" anchor="t">
            <a:spAutoFit/>
          </a:bodyPr>
          <a:lstStyle/>
          <a:p>
            <a:pPr algn="l">
              <a:lnSpc>
                <a:spcPct val="132000"/>
              </a:lnSpc>
            </a:pPr>
            <a:r>
              <a:rPr sz="1800" b="1" i="0">
                <a:solidFill>
                  <a:srgbClr val="A5335F"/>
                </a:solidFill>
                <a:latin typeface="Verdana"/>
              </a:rPr>
              <a:t>1. Ce que la chronique disait</a:t>
            </a:r>
          </a:p>
        </p:txBody>
      </p:sp>
      <p:sp>
        <p:nvSpPr>
          <p:cNvPr id="11" name="TextBox 10"/>
          <p:cNvSpPr txBox="1"/>
          <p:nvPr/>
        </p:nvSpPr>
        <p:spPr>
          <a:xfrm>
            <a:off x="4443636" y="2395728"/>
            <a:ext cx="6595914" cy="640080"/>
          </a:xfrm>
          <a:prstGeom prst="rect">
            <a:avLst/>
          </a:prstGeom>
          <a:noFill/>
        </p:spPr>
        <p:txBody>
          <a:bodyPr wrap="square" lIns="0" rIns="0" tIns="0" bIns="0" anchor="t">
            <a:spAutoFit/>
          </a:bodyPr>
          <a:lstStyle/>
          <a:p>
            <a:pPr algn="l">
              <a:lnSpc>
                <a:spcPct val="132000"/>
              </a:lnSpc>
            </a:pPr>
            <a:r>
              <a:rPr sz="1800" b="0" i="0">
                <a:solidFill>
                  <a:srgbClr val="3A3D40"/>
                </a:solidFill>
                <a:latin typeface="Verdana"/>
              </a:rPr>
              <a:t>les étapes dans l'ordre, avec au moins un chiffre</a:t>
            </a:r>
          </a:p>
        </p:txBody>
      </p:sp>
      <p:sp>
        <p:nvSpPr>
          <p:cNvPr id="12" name="Rectangle 11"/>
          <p:cNvSpPr/>
          <p:nvPr/>
        </p:nvSpPr>
        <p:spPr>
          <a:xfrm>
            <a:off x="932688" y="3108960"/>
            <a:ext cx="10326319" cy="10058"/>
          </a:xfrm>
          <a:prstGeom prst="rect">
            <a:avLst/>
          </a:prstGeom>
          <a:solidFill>
            <a:srgbClr val="EAEAE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3" name="TextBox 12"/>
          <p:cNvSpPr txBox="1"/>
          <p:nvPr/>
        </p:nvSpPr>
        <p:spPr>
          <a:xfrm>
            <a:off x="932688" y="3236976"/>
            <a:ext cx="3291492" cy="338328"/>
          </a:xfrm>
          <a:prstGeom prst="rect">
            <a:avLst/>
          </a:prstGeom>
          <a:noFill/>
        </p:spPr>
        <p:txBody>
          <a:bodyPr wrap="square" lIns="0" rIns="0" tIns="0" bIns="0" anchor="t">
            <a:spAutoFit/>
          </a:bodyPr>
          <a:lstStyle/>
          <a:p>
            <a:pPr algn="l">
              <a:lnSpc>
                <a:spcPct val="132000"/>
              </a:lnSpc>
            </a:pPr>
            <a:r>
              <a:rPr sz="1800" b="1" i="0">
                <a:solidFill>
                  <a:srgbClr val="A5335F"/>
                </a:solidFill>
                <a:latin typeface="Verdana"/>
              </a:rPr>
              <a:t>2. Ce que j'en pense</a:t>
            </a:r>
          </a:p>
        </p:txBody>
      </p:sp>
      <p:sp>
        <p:nvSpPr>
          <p:cNvPr id="14" name="TextBox 13"/>
          <p:cNvSpPr txBox="1"/>
          <p:nvPr/>
        </p:nvSpPr>
        <p:spPr>
          <a:xfrm>
            <a:off x="4443636" y="3236976"/>
            <a:ext cx="6595914" cy="338328"/>
          </a:xfrm>
          <a:prstGeom prst="rect">
            <a:avLst/>
          </a:prstGeom>
          <a:noFill/>
        </p:spPr>
        <p:txBody>
          <a:bodyPr wrap="square" lIns="0" rIns="0" tIns="0" bIns="0" anchor="t">
            <a:spAutoFit/>
          </a:bodyPr>
          <a:lstStyle/>
          <a:p>
            <a:pPr algn="l">
              <a:lnSpc>
                <a:spcPct val="132000"/>
              </a:lnSpc>
            </a:pPr>
            <a:r>
              <a:rPr sz="1800" b="0" i="0">
                <a:solidFill>
                  <a:srgbClr val="3A3D40"/>
                </a:solidFill>
                <a:latin typeface="Verdana"/>
              </a:rPr>
              <a:t>un connecteur de point de vue, et une raison</a:t>
            </a:r>
          </a:p>
        </p:txBody>
      </p:sp>
      <p:sp>
        <p:nvSpPr>
          <p:cNvPr id="15" name="Rectangle 14"/>
          <p:cNvSpPr/>
          <p:nvPr/>
        </p:nvSpPr>
        <p:spPr>
          <a:xfrm>
            <a:off x="932688" y="3648456"/>
            <a:ext cx="10326319" cy="10058"/>
          </a:xfrm>
          <a:prstGeom prst="rect">
            <a:avLst/>
          </a:prstGeom>
          <a:solidFill>
            <a:srgbClr val="EAEAE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6" name="TextBox 15"/>
          <p:cNvSpPr txBox="1"/>
          <p:nvPr/>
        </p:nvSpPr>
        <p:spPr>
          <a:xfrm>
            <a:off x="932688" y="3776472"/>
            <a:ext cx="3291492" cy="338328"/>
          </a:xfrm>
          <a:prstGeom prst="rect">
            <a:avLst/>
          </a:prstGeom>
          <a:noFill/>
        </p:spPr>
        <p:txBody>
          <a:bodyPr wrap="square" lIns="0" rIns="0" tIns="0" bIns="0" anchor="t">
            <a:spAutoFit/>
          </a:bodyPr>
          <a:lstStyle/>
          <a:p>
            <a:pPr algn="l">
              <a:lnSpc>
                <a:spcPct val="132000"/>
              </a:lnSpc>
            </a:pPr>
            <a:r>
              <a:rPr sz="1800" b="1" i="0">
                <a:solidFill>
                  <a:srgbClr val="A5335F"/>
                </a:solidFill>
                <a:latin typeface="Verdana"/>
              </a:rPr>
              <a:t>3. Ce que je demande</a:t>
            </a:r>
          </a:p>
        </p:txBody>
      </p:sp>
      <p:sp>
        <p:nvSpPr>
          <p:cNvPr id="17" name="TextBox 16"/>
          <p:cNvSpPr txBox="1"/>
          <p:nvPr/>
        </p:nvSpPr>
        <p:spPr>
          <a:xfrm>
            <a:off x="4443636" y="3776472"/>
            <a:ext cx="6595914" cy="338328"/>
          </a:xfrm>
          <a:prstGeom prst="rect">
            <a:avLst/>
          </a:prstGeom>
          <a:noFill/>
        </p:spPr>
        <p:txBody>
          <a:bodyPr wrap="square" lIns="0" rIns="0" tIns="0" bIns="0" anchor="t">
            <a:spAutoFit/>
          </a:bodyPr>
          <a:lstStyle/>
          <a:p>
            <a:pPr algn="l">
              <a:lnSpc>
                <a:spcPct val="132000"/>
              </a:lnSpc>
            </a:pPr>
            <a:r>
              <a:rPr sz="1800" b="0" i="0">
                <a:solidFill>
                  <a:srgbClr val="3A3D40"/>
                </a:solidFill>
                <a:latin typeface="Verdana"/>
              </a:rPr>
              <a:t>une proposition, ou une question au journal</a:t>
            </a:r>
          </a:p>
        </p:txBody>
      </p:sp>
      <p:sp>
        <p:nvSpPr>
          <p:cNvPr id="18" name="Rounded Rectangle 17"/>
          <p:cNvSpPr/>
          <p:nvPr/>
        </p:nvSpPr>
        <p:spPr>
          <a:xfrm>
            <a:off x="566928" y="4608576"/>
            <a:ext cx="11057839" cy="843534"/>
          </a:xfrm>
          <a:prstGeom prst="roundRect">
            <a:avLst>
              <a:gd name="adj" fmla="val 17344"/>
            </a:avLst>
          </a:prstGeom>
          <a:solidFill>
            <a:srgbClr val="FBFBFA"/>
          </a:solidFill>
          <a:ln w="12700">
            <a:solidFill>
              <a:srgbClr val="EAEA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9" name="TextBox 18"/>
          <p:cNvSpPr txBox="1"/>
          <p:nvPr/>
        </p:nvSpPr>
        <p:spPr>
          <a:xfrm>
            <a:off x="969264" y="4864608"/>
            <a:ext cx="10234879" cy="386334"/>
          </a:xfrm>
          <a:prstGeom prst="rect">
            <a:avLst/>
          </a:prstGeom>
          <a:noFill/>
        </p:spPr>
        <p:txBody>
          <a:bodyPr wrap="square" lIns="0" rIns="0" tIns="0" bIns="0" anchor="t">
            <a:spAutoFit/>
          </a:bodyPr>
          <a:lstStyle/>
          <a:p>
            <a:pPr algn="l">
              <a:lnSpc>
                <a:spcPct val="145000"/>
              </a:lnSpc>
            </a:pPr>
            <a:r>
              <a:rPr sz="1800" b="0" i="0">
                <a:solidFill>
                  <a:srgbClr val="4B4F52"/>
                </a:solidFill>
                <a:latin typeface="Verdana"/>
              </a:rPr>
              <a:t>Huit à douze phrases en tout. Une formule d'appel au début, une salutation à la fin.</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7F7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TextBox 2"/>
          <p:cNvSpPr txBox="1"/>
          <p:nvPr/>
        </p:nvSpPr>
        <p:spPr>
          <a:xfrm>
            <a:off x="566928" y="6355080"/>
            <a:ext cx="6400800" cy="219456"/>
          </a:xfrm>
          <a:prstGeom prst="rect">
            <a:avLst/>
          </a:prstGeom>
          <a:noFill/>
        </p:spPr>
        <p:txBody>
          <a:bodyPr wrap="square" lIns="0" rIns="0" tIns="0" bIns="0" anchor="t">
            <a:spAutoFit/>
          </a:bodyPr>
          <a:lstStyle/>
          <a:p>
            <a:pPr algn="l">
              <a:lnSpc>
                <a:spcPct val="135000"/>
              </a:lnSpc>
            </a:pPr>
            <a:r>
              <a:rPr sz="1200" b="0" i="0">
                <a:solidFill>
                  <a:srgbClr val="6E7175"/>
                </a:solidFill>
                <a:latin typeface="Verdana"/>
              </a:rPr>
              <a:t>E2 · Suivre un sujet dans les médias</a:t>
            </a:r>
          </a:p>
        </p:txBody>
      </p:sp>
      <p:sp>
        <p:nvSpPr>
          <p:cNvPr id="4" name="TextBox 3"/>
          <p:cNvSpPr txBox="1"/>
          <p:nvPr/>
        </p:nvSpPr>
        <p:spPr>
          <a:xfrm>
            <a:off x="10710367" y="6355080"/>
            <a:ext cx="914400" cy="219456"/>
          </a:xfrm>
          <a:prstGeom prst="rect">
            <a:avLst/>
          </a:prstGeom>
          <a:noFill/>
        </p:spPr>
        <p:txBody>
          <a:bodyPr wrap="square" lIns="0" rIns="0" tIns="0" bIns="0" anchor="t">
            <a:spAutoFit/>
          </a:bodyPr>
          <a:lstStyle/>
          <a:p>
            <a:pPr algn="r">
              <a:lnSpc>
                <a:spcPct val="135000"/>
              </a:lnSpc>
            </a:pPr>
            <a:r>
              <a:rPr sz="1200" b="0" i="0">
                <a:solidFill>
                  <a:srgbClr val="6E7175"/>
                </a:solidFill>
                <a:latin typeface="Verdana"/>
              </a:rPr>
              <a:t>5</a:t>
            </a:r>
          </a:p>
        </p:txBody>
      </p:sp>
      <p:sp>
        <p:nvSpPr>
          <p:cNvPr id="5" name="TextBox 4"/>
          <p:cNvSpPr txBox="1"/>
          <p:nvPr/>
        </p:nvSpPr>
        <p:spPr>
          <a:xfrm>
            <a:off x="566928" y="420624"/>
            <a:ext cx="11057839" cy="237744"/>
          </a:xfrm>
          <a:prstGeom prst="rect">
            <a:avLst/>
          </a:prstGeom>
          <a:noFill/>
        </p:spPr>
        <p:txBody>
          <a:bodyPr wrap="square" lIns="0" rIns="0" tIns="0" bIns="0" anchor="t">
            <a:spAutoFit/>
          </a:bodyPr>
          <a:lstStyle/>
          <a:p>
            <a:pPr algn="l">
              <a:lnSpc>
                <a:spcPct val="135000"/>
              </a:lnSpc>
            </a:pPr>
            <a:r>
              <a:rPr sz="1300" b="1" i="0" spc="156">
                <a:solidFill>
                  <a:srgbClr val="A5335F"/>
                </a:solidFill>
                <a:latin typeface="Verdana"/>
              </a:rPr>
              <a:t>LES HUIT EXIGENCES DU COURRIEL</a:t>
            </a:r>
          </a:p>
        </p:txBody>
      </p:sp>
      <p:sp>
        <p:nvSpPr>
          <p:cNvPr id="6" name="TextBox 5"/>
          <p:cNvSpPr txBox="1"/>
          <p:nvPr/>
        </p:nvSpPr>
        <p:spPr>
          <a:xfrm>
            <a:off x="566928" y="749808"/>
            <a:ext cx="11057839" cy="877824"/>
          </a:xfrm>
          <a:prstGeom prst="rect">
            <a:avLst/>
          </a:prstGeom>
          <a:noFill/>
        </p:spPr>
        <p:txBody>
          <a:bodyPr wrap="square" lIns="0" rIns="0" tIns="0" bIns="0" anchor="t">
            <a:spAutoFit/>
          </a:bodyPr>
          <a:lstStyle/>
          <a:p>
            <a:pPr algn="l">
              <a:lnSpc>
                <a:spcPct val="115000"/>
              </a:lnSpc>
            </a:pPr>
            <a:r>
              <a:rPr sz="3400" b="1" i="0">
                <a:solidFill>
                  <a:srgbClr val="17181A"/>
                </a:solidFill>
                <a:latin typeface="Verdana"/>
              </a:rPr>
              <a:t>À cocher avant d'envoyer</a:t>
            </a:r>
          </a:p>
        </p:txBody>
      </p:sp>
      <p:sp>
        <p:nvSpPr>
          <p:cNvPr id="7" name="Rounded Rectangle 6"/>
          <p:cNvSpPr/>
          <p:nvPr/>
        </p:nvSpPr>
        <p:spPr>
          <a:xfrm>
            <a:off x="566928" y="1810512"/>
            <a:ext cx="5446623" cy="944118"/>
          </a:xfrm>
          <a:prstGeom prst="roundRect">
            <a:avLst>
              <a:gd name="adj" fmla="val 15496"/>
            </a:avLst>
          </a:prstGeom>
          <a:solidFill>
            <a:srgbClr val="FFFFFF"/>
          </a:solidFill>
          <a:ln w="12700">
            <a:solidFill>
              <a:srgbClr val="EAEA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TextBox 7"/>
          <p:cNvSpPr txBox="1"/>
          <p:nvPr/>
        </p:nvSpPr>
        <p:spPr>
          <a:xfrm>
            <a:off x="886968" y="2084831"/>
            <a:ext cx="4806543" cy="237236"/>
          </a:xfrm>
          <a:prstGeom prst="rect">
            <a:avLst/>
          </a:prstGeom>
          <a:noFill/>
        </p:spPr>
        <p:txBody>
          <a:bodyPr wrap="square" lIns="0" rIns="0" tIns="0" bIns="0" anchor="t">
            <a:spAutoFit/>
          </a:bodyPr>
          <a:lstStyle/>
          <a:p>
            <a:pPr algn="l">
              <a:lnSpc>
                <a:spcPct val="118000"/>
              </a:lnSpc>
            </a:pPr>
            <a:r>
              <a:rPr sz="1400" b="1" i="0">
                <a:solidFill>
                  <a:srgbClr val="A5335F"/>
                </a:solidFill>
                <a:latin typeface="Verdana"/>
              </a:rPr>
              <a:t>Une formule d'appel et une salutation</a:t>
            </a:r>
          </a:p>
        </p:txBody>
      </p:sp>
      <p:sp>
        <p:nvSpPr>
          <p:cNvPr id="9" name="TextBox 8"/>
          <p:cNvSpPr txBox="1"/>
          <p:nvPr/>
        </p:nvSpPr>
        <p:spPr>
          <a:xfrm>
            <a:off x="886968" y="2349500"/>
            <a:ext cx="4806543" cy="130809"/>
          </a:xfrm>
          <a:prstGeom prst="rect">
            <a:avLst/>
          </a:prstGeom>
          <a:noFill/>
        </p:spPr>
        <p:txBody>
          <a:bodyPr wrap="square" lIns="0" rIns="0" tIns="0" bIns="0" anchor="t">
            <a:spAutoFit/>
          </a:bodyPr>
          <a:lstStyle/>
          <a:p>
            <a:pPr algn="l">
              <a:lnSpc>
                <a:spcPct val="142000"/>
              </a:lnSpc>
            </a:pPr>
            <a:r>
              <a:rPr sz="1400" b="0" i="0">
                <a:solidFill>
                  <a:srgbClr val="3A3D40"/>
                </a:solidFill>
                <a:latin typeface="Verdana"/>
              </a:rPr>
              <a:t>« Monsieur le rédacteur en chef, » au début, une salutation à la fin.</a:t>
            </a:r>
          </a:p>
        </p:txBody>
      </p:sp>
      <p:sp>
        <p:nvSpPr>
          <p:cNvPr id="10" name="Rounded Rectangle 9"/>
          <p:cNvSpPr/>
          <p:nvPr/>
        </p:nvSpPr>
        <p:spPr>
          <a:xfrm>
            <a:off x="6178143" y="1810512"/>
            <a:ext cx="5446623" cy="944118"/>
          </a:xfrm>
          <a:prstGeom prst="roundRect">
            <a:avLst>
              <a:gd name="adj" fmla="val 15496"/>
            </a:avLst>
          </a:prstGeom>
          <a:solidFill>
            <a:srgbClr val="FFFFFF"/>
          </a:solidFill>
          <a:ln w="12700">
            <a:solidFill>
              <a:srgbClr val="EAEA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1" name="TextBox 10"/>
          <p:cNvSpPr txBox="1"/>
          <p:nvPr/>
        </p:nvSpPr>
        <p:spPr>
          <a:xfrm>
            <a:off x="6498183" y="2084831"/>
            <a:ext cx="4806543" cy="237236"/>
          </a:xfrm>
          <a:prstGeom prst="rect">
            <a:avLst/>
          </a:prstGeom>
          <a:noFill/>
        </p:spPr>
        <p:txBody>
          <a:bodyPr wrap="square" lIns="0" rIns="0" tIns="0" bIns="0" anchor="t">
            <a:spAutoFit/>
          </a:bodyPr>
          <a:lstStyle/>
          <a:p>
            <a:pPr algn="l">
              <a:lnSpc>
                <a:spcPct val="118000"/>
              </a:lnSpc>
            </a:pPr>
            <a:r>
              <a:rPr sz="1400" b="1" i="0">
                <a:solidFill>
                  <a:srgbClr val="A5335F"/>
                </a:solidFill>
                <a:latin typeface="Verdana"/>
              </a:rPr>
              <a:t>Deux ou trois paragraphes séparés</a:t>
            </a:r>
          </a:p>
        </p:txBody>
      </p:sp>
      <p:sp>
        <p:nvSpPr>
          <p:cNvPr id="12" name="TextBox 11"/>
          <p:cNvSpPr txBox="1"/>
          <p:nvPr/>
        </p:nvSpPr>
        <p:spPr>
          <a:xfrm>
            <a:off x="6498183" y="2349500"/>
            <a:ext cx="4806543" cy="130809"/>
          </a:xfrm>
          <a:prstGeom prst="rect">
            <a:avLst/>
          </a:prstGeom>
          <a:noFill/>
        </p:spPr>
        <p:txBody>
          <a:bodyPr wrap="square" lIns="0" rIns="0" tIns="0" bIns="0" anchor="t">
            <a:spAutoFit/>
          </a:bodyPr>
          <a:lstStyle/>
          <a:p>
            <a:pPr algn="l">
              <a:lnSpc>
                <a:spcPct val="142000"/>
              </a:lnSpc>
            </a:pPr>
            <a:r>
              <a:rPr sz="1400" b="0" i="0">
                <a:solidFill>
                  <a:srgbClr val="3A3D40"/>
                </a:solidFill>
                <a:latin typeface="Verdana"/>
              </a:rPr>
              <a:t>un par idée principale, pas un bloc de douze phrases.</a:t>
            </a:r>
          </a:p>
        </p:txBody>
      </p:sp>
      <p:sp>
        <p:nvSpPr>
          <p:cNvPr id="13" name="Rounded Rectangle 12"/>
          <p:cNvSpPr/>
          <p:nvPr/>
        </p:nvSpPr>
        <p:spPr>
          <a:xfrm>
            <a:off x="566928" y="2919222"/>
            <a:ext cx="5446623" cy="944118"/>
          </a:xfrm>
          <a:prstGeom prst="roundRect">
            <a:avLst>
              <a:gd name="adj" fmla="val 15496"/>
            </a:avLst>
          </a:prstGeom>
          <a:solidFill>
            <a:srgbClr val="FFFFFF"/>
          </a:solidFill>
          <a:ln w="12700">
            <a:solidFill>
              <a:srgbClr val="EAEA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4" name="TextBox 13"/>
          <p:cNvSpPr txBox="1"/>
          <p:nvPr/>
        </p:nvSpPr>
        <p:spPr>
          <a:xfrm>
            <a:off x="886968" y="3193541"/>
            <a:ext cx="4806543" cy="237236"/>
          </a:xfrm>
          <a:prstGeom prst="rect">
            <a:avLst/>
          </a:prstGeom>
          <a:noFill/>
        </p:spPr>
        <p:txBody>
          <a:bodyPr wrap="square" lIns="0" rIns="0" tIns="0" bIns="0" anchor="t">
            <a:spAutoFit/>
          </a:bodyPr>
          <a:lstStyle/>
          <a:p>
            <a:pPr algn="l">
              <a:lnSpc>
                <a:spcPct val="118000"/>
              </a:lnSpc>
            </a:pPr>
            <a:r>
              <a:rPr sz="1400" b="1" i="0">
                <a:solidFill>
                  <a:srgbClr val="A5335F"/>
                </a:solidFill>
                <a:latin typeface="Verdana"/>
              </a:rPr>
              <a:t>Les étapes dans l'ordre, avec un chiffre</a:t>
            </a:r>
          </a:p>
        </p:txBody>
      </p:sp>
      <p:sp>
        <p:nvSpPr>
          <p:cNvPr id="15" name="TextBox 14"/>
          <p:cNvSpPr txBox="1"/>
          <p:nvPr/>
        </p:nvSpPr>
        <p:spPr>
          <a:xfrm>
            <a:off x="886968" y="3458209"/>
            <a:ext cx="4806543" cy="130809"/>
          </a:xfrm>
          <a:prstGeom prst="rect">
            <a:avLst/>
          </a:prstGeom>
          <a:noFill/>
        </p:spPr>
        <p:txBody>
          <a:bodyPr wrap="square" lIns="0" rIns="0" tIns="0" bIns="0" anchor="t">
            <a:spAutoFit/>
          </a:bodyPr>
          <a:lstStyle/>
          <a:p>
            <a:pPr algn="l">
              <a:lnSpc>
                <a:spcPct val="142000"/>
              </a:lnSpc>
            </a:pPr>
            <a:r>
              <a:rPr sz="1400" b="0" i="0">
                <a:solidFill>
                  <a:srgbClr val="3A3D40"/>
                </a:solidFill>
                <a:latin typeface="Verdana"/>
              </a:rPr>
              <a:t>dix jours, trois ans, 780 dollars, quinze mille.</a:t>
            </a:r>
          </a:p>
        </p:txBody>
      </p:sp>
      <p:sp>
        <p:nvSpPr>
          <p:cNvPr id="16" name="Rounded Rectangle 15"/>
          <p:cNvSpPr/>
          <p:nvPr/>
        </p:nvSpPr>
        <p:spPr>
          <a:xfrm>
            <a:off x="6178143" y="2919222"/>
            <a:ext cx="5446623" cy="944118"/>
          </a:xfrm>
          <a:prstGeom prst="roundRect">
            <a:avLst>
              <a:gd name="adj" fmla="val 15496"/>
            </a:avLst>
          </a:prstGeom>
          <a:solidFill>
            <a:srgbClr val="FFFFFF"/>
          </a:solidFill>
          <a:ln w="12700">
            <a:solidFill>
              <a:srgbClr val="EAEA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7" name="TextBox 16"/>
          <p:cNvSpPr txBox="1"/>
          <p:nvPr/>
        </p:nvSpPr>
        <p:spPr>
          <a:xfrm>
            <a:off x="6498183" y="3193541"/>
            <a:ext cx="4806543" cy="237236"/>
          </a:xfrm>
          <a:prstGeom prst="rect">
            <a:avLst/>
          </a:prstGeom>
          <a:noFill/>
        </p:spPr>
        <p:txBody>
          <a:bodyPr wrap="square" lIns="0" rIns="0" tIns="0" bIns="0" anchor="t">
            <a:spAutoFit/>
          </a:bodyPr>
          <a:lstStyle/>
          <a:p>
            <a:pPr algn="l">
              <a:lnSpc>
                <a:spcPct val="118000"/>
              </a:lnSpc>
            </a:pPr>
            <a:r>
              <a:rPr sz="1400" b="1" i="0">
                <a:solidFill>
                  <a:srgbClr val="A5335F"/>
                </a:solidFill>
                <a:latin typeface="Verdana"/>
              </a:rPr>
              <a:t>Un connecteur d'exemplification</a:t>
            </a:r>
          </a:p>
        </p:txBody>
      </p:sp>
      <p:sp>
        <p:nvSpPr>
          <p:cNvPr id="18" name="TextBox 17"/>
          <p:cNvSpPr txBox="1"/>
          <p:nvPr/>
        </p:nvSpPr>
        <p:spPr>
          <a:xfrm>
            <a:off x="6498183" y="3458209"/>
            <a:ext cx="4806543" cy="130809"/>
          </a:xfrm>
          <a:prstGeom prst="rect">
            <a:avLst/>
          </a:prstGeom>
          <a:noFill/>
        </p:spPr>
        <p:txBody>
          <a:bodyPr wrap="square" lIns="0" rIns="0" tIns="0" bIns="0" anchor="t">
            <a:spAutoFit/>
          </a:bodyPr>
          <a:lstStyle/>
          <a:p>
            <a:pPr algn="l">
              <a:lnSpc>
                <a:spcPct val="142000"/>
              </a:lnSpc>
            </a:pPr>
            <a:r>
              <a:rPr sz="1400" b="0" i="0">
                <a:solidFill>
                  <a:srgbClr val="3A3D40"/>
                </a:solidFill>
                <a:latin typeface="Verdana"/>
              </a:rPr>
              <a:t>par exemple, notamment, ainsi.</a:t>
            </a:r>
          </a:p>
        </p:txBody>
      </p:sp>
      <p:sp>
        <p:nvSpPr>
          <p:cNvPr id="19" name="Rounded Rectangle 18"/>
          <p:cNvSpPr/>
          <p:nvPr/>
        </p:nvSpPr>
        <p:spPr>
          <a:xfrm>
            <a:off x="566928" y="4027931"/>
            <a:ext cx="5446623" cy="944118"/>
          </a:xfrm>
          <a:prstGeom prst="roundRect">
            <a:avLst>
              <a:gd name="adj" fmla="val 15496"/>
            </a:avLst>
          </a:prstGeom>
          <a:solidFill>
            <a:srgbClr val="FFFFFF"/>
          </a:solidFill>
          <a:ln w="12700">
            <a:solidFill>
              <a:srgbClr val="EAEA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0" name="TextBox 19"/>
          <p:cNvSpPr txBox="1"/>
          <p:nvPr/>
        </p:nvSpPr>
        <p:spPr>
          <a:xfrm>
            <a:off x="886968" y="4302251"/>
            <a:ext cx="4806543" cy="237236"/>
          </a:xfrm>
          <a:prstGeom prst="rect">
            <a:avLst/>
          </a:prstGeom>
          <a:noFill/>
        </p:spPr>
        <p:txBody>
          <a:bodyPr wrap="square" lIns="0" rIns="0" tIns="0" bIns="0" anchor="t">
            <a:spAutoFit/>
          </a:bodyPr>
          <a:lstStyle/>
          <a:p>
            <a:pPr algn="l">
              <a:lnSpc>
                <a:spcPct val="118000"/>
              </a:lnSpc>
            </a:pPr>
            <a:r>
              <a:rPr sz="1400" b="1" i="0">
                <a:solidFill>
                  <a:srgbClr val="A5335F"/>
                </a:solidFill>
                <a:latin typeface="Verdana"/>
              </a:rPr>
              <a:t>Une hypothèse en « si »</a:t>
            </a:r>
          </a:p>
        </p:txBody>
      </p:sp>
      <p:sp>
        <p:nvSpPr>
          <p:cNvPr id="21" name="TextBox 20"/>
          <p:cNvSpPr txBox="1"/>
          <p:nvPr/>
        </p:nvSpPr>
        <p:spPr>
          <a:xfrm>
            <a:off x="886968" y="4566920"/>
            <a:ext cx="4806543" cy="130809"/>
          </a:xfrm>
          <a:prstGeom prst="rect">
            <a:avLst/>
          </a:prstGeom>
          <a:noFill/>
        </p:spPr>
        <p:txBody>
          <a:bodyPr wrap="square" lIns="0" rIns="0" tIns="0" bIns="0" anchor="t">
            <a:spAutoFit/>
          </a:bodyPr>
          <a:lstStyle/>
          <a:p>
            <a:pPr algn="l">
              <a:lnSpc>
                <a:spcPct val="142000"/>
              </a:lnSpc>
            </a:pPr>
            <a:r>
              <a:rPr sz="1400" b="0" i="0">
                <a:solidFill>
                  <a:srgbClr val="3A3D40"/>
                </a:solidFill>
                <a:latin typeface="Verdana"/>
              </a:rPr>
              <a:t>et jamais de futur après le « si ».</a:t>
            </a:r>
          </a:p>
        </p:txBody>
      </p:sp>
      <p:sp>
        <p:nvSpPr>
          <p:cNvPr id="22" name="Rounded Rectangle 21"/>
          <p:cNvSpPr/>
          <p:nvPr/>
        </p:nvSpPr>
        <p:spPr>
          <a:xfrm>
            <a:off x="6178143" y="4027931"/>
            <a:ext cx="5446623" cy="944118"/>
          </a:xfrm>
          <a:prstGeom prst="roundRect">
            <a:avLst>
              <a:gd name="adj" fmla="val 15496"/>
            </a:avLst>
          </a:prstGeom>
          <a:solidFill>
            <a:srgbClr val="FFFFFF"/>
          </a:solidFill>
          <a:ln w="12700">
            <a:solidFill>
              <a:srgbClr val="EAEA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3" name="TextBox 22"/>
          <p:cNvSpPr txBox="1"/>
          <p:nvPr/>
        </p:nvSpPr>
        <p:spPr>
          <a:xfrm>
            <a:off x="6498183" y="4302251"/>
            <a:ext cx="4806543" cy="237236"/>
          </a:xfrm>
          <a:prstGeom prst="rect">
            <a:avLst/>
          </a:prstGeom>
          <a:noFill/>
        </p:spPr>
        <p:txBody>
          <a:bodyPr wrap="square" lIns="0" rIns="0" tIns="0" bIns="0" anchor="t">
            <a:spAutoFit/>
          </a:bodyPr>
          <a:lstStyle/>
          <a:p>
            <a:pPr algn="l">
              <a:lnSpc>
                <a:spcPct val="118000"/>
              </a:lnSpc>
            </a:pPr>
            <a:r>
              <a:rPr sz="1400" b="1" i="0">
                <a:solidFill>
                  <a:srgbClr val="A5335F"/>
                </a:solidFill>
                <a:latin typeface="Verdana"/>
              </a:rPr>
              <a:t>Un connecteur de point de vue</a:t>
            </a:r>
          </a:p>
        </p:txBody>
      </p:sp>
      <p:sp>
        <p:nvSpPr>
          <p:cNvPr id="24" name="TextBox 23"/>
          <p:cNvSpPr txBox="1"/>
          <p:nvPr/>
        </p:nvSpPr>
        <p:spPr>
          <a:xfrm>
            <a:off x="6498183" y="4566920"/>
            <a:ext cx="4806543" cy="130809"/>
          </a:xfrm>
          <a:prstGeom prst="rect">
            <a:avLst/>
          </a:prstGeom>
          <a:noFill/>
        </p:spPr>
        <p:txBody>
          <a:bodyPr wrap="square" lIns="0" rIns="0" tIns="0" bIns="0" anchor="t">
            <a:spAutoFit/>
          </a:bodyPr>
          <a:lstStyle/>
          <a:p>
            <a:pPr algn="l">
              <a:lnSpc>
                <a:spcPct val="142000"/>
              </a:lnSpc>
            </a:pPr>
            <a:r>
              <a:rPr sz="1400" b="0" i="0">
                <a:solidFill>
                  <a:srgbClr val="3A3D40"/>
                </a:solidFill>
                <a:latin typeface="Verdana"/>
              </a:rPr>
              <a:t>à mon avis, pour ma part, selon moi.</a:t>
            </a:r>
          </a:p>
        </p:txBody>
      </p:sp>
      <p:sp>
        <p:nvSpPr>
          <p:cNvPr id="25" name="Rounded Rectangle 24"/>
          <p:cNvSpPr/>
          <p:nvPr/>
        </p:nvSpPr>
        <p:spPr>
          <a:xfrm>
            <a:off x="566928" y="5136642"/>
            <a:ext cx="5446623" cy="944118"/>
          </a:xfrm>
          <a:prstGeom prst="roundRect">
            <a:avLst>
              <a:gd name="adj" fmla="val 15496"/>
            </a:avLst>
          </a:prstGeom>
          <a:solidFill>
            <a:srgbClr val="FFFFFF"/>
          </a:solidFill>
          <a:ln w="12700">
            <a:solidFill>
              <a:srgbClr val="EAEA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6" name="TextBox 25"/>
          <p:cNvSpPr txBox="1"/>
          <p:nvPr/>
        </p:nvSpPr>
        <p:spPr>
          <a:xfrm>
            <a:off x="886968" y="5410962"/>
            <a:ext cx="4806543" cy="237236"/>
          </a:xfrm>
          <a:prstGeom prst="rect">
            <a:avLst/>
          </a:prstGeom>
          <a:noFill/>
        </p:spPr>
        <p:txBody>
          <a:bodyPr wrap="square" lIns="0" rIns="0" tIns="0" bIns="0" anchor="t">
            <a:spAutoFit/>
          </a:bodyPr>
          <a:lstStyle/>
          <a:p>
            <a:pPr algn="l">
              <a:lnSpc>
                <a:spcPct val="118000"/>
              </a:lnSpc>
            </a:pPr>
            <a:r>
              <a:rPr sz="1400" b="1" i="0">
                <a:solidFill>
                  <a:srgbClr val="A5335F"/>
                </a:solidFill>
                <a:latin typeface="Verdana"/>
              </a:rPr>
              <a:t>Une reprise sans répétition</a:t>
            </a:r>
          </a:p>
        </p:txBody>
      </p:sp>
      <p:sp>
        <p:nvSpPr>
          <p:cNvPr id="27" name="TextBox 26"/>
          <p:cNvSpPr txBox="1"/>
          <p:nvPr/>
        </p:nvSpPr>
        <p:spPr>
          <a:xfrm>
            <a:off x="886968" y="5675630"/>
            <a:ext cx="4806543" cy="130809"/>
          </a:xfrm>
          <a:prstGeom prst="rect">
            <a:avLst/>
          </a:prstGeom>
          <a:noFill/>
        </p:spPr>
        <p:txBody>
          <a:bodyPr wrap="square" lIns="0" rIns="0" tIns="0" bIns="0" anchor="t">
            <a:spAutoFit/>
          </a:bodyPr>
          <a:lstStyle/>
          <a:p>
            <a:pPr algn="l">
              <a:lnSpc>
                <a:spcPct val="142000"/>
              </a:lnSpc>
            </a:pPr>
            <a:r>
              <a:rPr sz="1400" b="0" i="0">
                <a:solidFill>
                  <a:srgbClr val="3A3D40"/>
                </a:solidFill>
                <a:latin typeface="Verdana"/>
              </a:rPr>
              <a:t>cette machine, ce refus, cet incendie.</a:t>
            </a:r>
          </a:p>
        </p:txBody>
      </p:sp>
      <p:sp>
        <p:nvSpPr>
          <p:cNvPr id="28" name="Rounded Rectangle 27"/>
          <p:cNvSpPr/>
          <p:nvPr/>
        </p:nvSpPr>
        <p:spPr>
          <a:xfrm>
            <a:off x="6178143" y="5136642"/>
            <a:ext cx="5446623" cy="944118"/>
          </a:xfrm>
          <a:prstGeom prst="roundRect">
            <a:avLst>
              <a:gd name="adj" fmla="val 15496"/>
            </a:avLst>
          </a:prstGeom>
          <a:solidFill>
            <a:srgbClr val="FFFFFF"/>
          </a:solidFill>
          <a:ln w="12700">
            <a:solidFill>
              <a:srgbClr val="EAEA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9" name="TextBox 28"/>
          <p:cNvSpPr txBox="1"/>
          <p:nvPr/>
        </p:nvSpPr>
        <p:spPr>
          <a:xfrm>
            <a:off x="6498183" y="5410962"/>
            <a:ext cx="4806543" cy="237236"/>
          </a:xfrm>
          <a:prstGeom prst="rect">
            <a:avLst/>
          </a:prstGeom>
          <a:noFill/>
        </p:spPr>
        <p:txBody>
          <a:bodyPr wrap="square" lIns="0" rIns="0" tIns="0" bIns="0" anchor="t">
            <a:spAutoFit/>
          </a:bodyPr>
          <a:lstStyle/>
          <a:p>
            <a:pPr algn="l">
              <a:lnSpc>
                <a:spcPct val="118000"/>
              </a:lnSpc>
            </a:pPr>
            <a:r>
              <a:rPr sz="1400" b="1" i="0">
                <a:solidFill>
                  <a:srgbClr val="A5335F"/>
                </a:solidFill>
                <a:latin typeface="Verdana"/>
              </a:rPr>
              <a:t>Un « il faut que » et un subjonctif</a:t>
            </a:r>
          </a:p>
        </p:txBody>
      </p:sp>
      <p:sp>
        <p:nvSpPr>
          <p:cNvPr id="30" name="TextBox 29"/>
          <p:cNvSpPr txBox="1"/>
          <p:nvPr/>
        </p:nvSpPr>
        <p:spPr>
          <a:xfrm>
            <a:off x="6498183" y="5675630"/>
            <a:ext cx="4806543" cy="130809"/>
          </a:xfrm>
          <a:prstGeom prst="rect">
            <a:avLst/>
          </a:prstGeom>
          <a:noFill/>
        </p:spPr>
        <p:txBody>
          <a:bodyPr wrap="square" lIns="0" rIns="0" tIns="0" bIns="0" anchor="t">
            <a:spAutoFit/>
          </a:bodyPr>
          <a:lstStyle/>
          <a:p>
            <a:pPr algn="l">
              <a:lnSpc>
                <a:spcPct val="142000"/>
              </a:lnSpc>
            </a:pPr>
            <a:r>
              <a:rPr sz="1400" b="0" i="0">
                <a:solidFill>
                  <a:srgbClr val="3A3D40"/>
                </a:solidFill>
                <a:latin typeface="Verdana"/>
              </a:rPr>
              <a:t>il faut que les pièces existent.</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7F7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TextBox 2"/>
          <p:cNvSpPr txBox="1"/>
          <p:nvPr/>
        </p:nvSpPr>
        <p:spPr>
          <a:xfrm>
            <a:off x="566928" y="6355080"/>
            <a:ext cx="6400800" cy="219456"/>
          </a:xfrm>
          <a:prstGeom prst="rect">
            <a:avLst/>
          </a:prstGeom>
          <a:noFill/>
        </p:spPr>
        <p:txBody>
          <a:bodyPr wrap="square" lIns="0" rIns="0" tIns="0" bIns="0" anchor="t">
            <a:spAutoFit/>
          </a:bodyPr>
          <a:lstStyle/>
          <a:p>
            <a:pPr algn="l">
              <a:lnSpc>
                <a:spcPct val="135000"/>
              </a:lnSpc>
            </a:pPr>
            <a:r>
              <a:rPr sz="1200" b="0" i="0">
                <a:solidFill>
                  <a:srgbClr val="6E7175"/>
                </a:solidFill>
                <a:latin typeface="Verdana"/>
              </a:rPr>
              <a:t>E2 · Suivre un sujet dans les médias</a:t>
            </a:r>
          </a:p>
        </p:txBody>
      </p:sp>
      <p:sp>
        <p:nvSpPr>
          <p:cNvPr id="4" name="TextBox 3"/>
          <p:cNvSpPr txBox="1"/>
          <p:nvPr/>
        </p:nvSpPr>
        <p:spPr>
          <a:xfrm>
            <a:off x="10710367" y="6355080"/>
            <a:ext cx="914400" cy="219456"/>
          </a:xfrm>
          <a:prstGeom prst="rect">
            <a:avLst/>
          </a:prstGeom>
          <a:noFill/>
        </p:spPr>
        <p:txBody>
          <a:bodyPr wrap="square" lIns="0" rIns="0" tIns="0" bIns="0" anchor="t">
            <a:spAutoFit/>
          </a:bodyPr>
          <a:lstStyle/>
          <a:p>
            <a:pPr algn="r">
              <a:lnSpc>
                <a:spcPct val="135000"/>
              </a:lnSpc>
            </a:pPr>
            <a:r>
              <a:rPr sz="1200" b="0" i="0">
                <a:solidFill>
                  <a:srgbClr val="6E7175"/>
                </a:solidFill>
                <a:latin typeface="Verdana"/>
              </a:rPr>
              <a:t>6</a:t>
            </a:r>
          </a:p>
        </p:txBody>
      </p:sp>
      <p:sp>
        <p:nvSpPr>
          <p:cNvPr id="5" name="TextBox 4"/>
          <p:cNvSpPr txBox="1"/>
          <p:nvPr/>
        </p:nvSpPr>
        <p:spPr>
          <a:xfrm>
            <a:off x="566928" y="420624"/>
            <a:ext cx="11057839" cy="237744"/>
          </a:xfrm>
          <a:prstGeom prst="rect">
            <a:avLst/>
          </a:prstGeom>
          <a:noFill/>
        </p:spPr>
        <p:txBody>
          <a:bodyPr wrap="square" lIns="0" rIns="0" tIns="0" bIns="0" anchor="t">
            <a:spAutoFit/>
          </a:bodyPr>
          <a:lstStyle/>
          <a:p>
            <a:pPr algn="l">
              <a:lnSpc>
                <a:spcPct val="135000"/>
              </a:lnSpc>
            </a:pPr>
            <a:r>
              <a:rPr sz="1300" b="1" i="0" spc="156">
                <a:solidFill>
                  <a:srgbClr val="A5335F"/>
                </a:solidFill>
                <a:latin typeface="Verdana"/>
              </a:rPr>
              <a:t>SÉPARER, C'EST SE FAIRE PUBLIER</a:t>
            </a:r>
          </a:p>
        </p:txBody>
      </p:sp>
      <p:sp>
        <p:nvSpPr>
          <p:cNvPr id="6" name="Rounded Rectangle 5"/>
          <p:cNvSpPr/>
          <p:nvPr/>
        </p:nvSpPr>
        <p:spPr>
          <a:xfrm>
            <a:off x="566928" y="1225296"/>
            <a:ext cx="11057839" cy="1967991"/>
          </a:xfrm>
          <a:prstGeom prst="roundRect">
            <a:avLst>
              <a:gd name="adj" fmla="val 7434"/>
            </a:avLst>
          </a:prstGeom>
          <a:solidFill>
            <a:srgbClr val="FCE9F0"/>
          </a:solidFill>
          <a:ln w="12700">
            <a:solidFill>
              <a:srgbClr val="EAEA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 name="TextBox 6"/>
          <p:cNvSpPr txBox="1"/>
          <p:nvPr/>
        </p:nvSpPr>
        <p:spPr>
          <a:xfrm>
            <a:off x="1298448" y="1682496"/>
            <a:ext cx="9594799" cy="1145032"/>
          </a:xfrm>
          <a:prstGeom prst="rect">
            <a:avLst/>
          </a:prstGeom>
          <a:noFill/>
        </p:spPr>
        <p:txBody>
          <a:bodyPr wrap="square" lIns="0" rIns="0" tIns="0" bIns="0" anchor="t">
            <a:spAutoFit/>
          </a:bodyPr>
          <a:lstStyle/>
          <a:p>
            <a:pPr algn="l">
              <a:lnSpc>
                <a:spcPct val="122000"/>
              </a:lnSpc>
            </a:pPr>
            <a:r>
              <a:rPr sz="3400" b="1" i="0">
                <a:solidFill>
                  <a:srgbClr val="17181A"/>
                </a:solidFill>
                <a:latin typeface="Verdana"/>
              </a:rPr>
              <a:t>Une lettre qui mêle l'information et l'avis se lit comme une plainte.</a:t>
            </a:r>
          </a:p>
        </p:txBody>
      </p:sp>
      <p:sp>
        <p:nvSpPr>
          <p:cNvPr id="8" name="Rounded Rectangle 7"/>
          <p:cNvSpPr/>
          <p:nvPr/>
        </p:nvSpPr>
        <p:spPr>
          <a:xfrm>
            <a:off x="566928" y="3467607"/>
            <a:ext cx="11057839" cy="2408428"/>
          </a:xfrm>
          <a:prstGeom prst="roundRect">
            <a:avLst>
              <a:gd name="adj" fmla="val 6074"/>
            </a:avLst>
          </a:prstGeom>
          <a:solidFill>
            <a:srgbClr val="FFFFFF"/>
          </a:solidFill>
          <a:ln w="12700">
            <a:solidFill>
              <a:srgbClr val="EAEA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TextBox 8"/>
          <p:cNvSpPr txBox="1"/>
          <p:nvPr/>
        </p:nvSpPr>
        <p:spPr>
          <a:xfrm>
            <a:off x="969264" y="3741927"/>
            <a:ext cx="10234879" cy="1951228"/>
          </a:xfrm>
          <a:prstGeom prst="rect">
            <a:avLst/>
          </a:prstGeom>
          <a:noFill/>
        </p:spPr>
        <p:txBody>
          <a:bodyPr wrap="square" lIns="0" rIns="0" tIns="0" bIns="0" anchor="t">
            <a:spAutoFit/>
          </a:bodyPr>
          <a:lstStyle/>
          <a:p>
            <a:pPr algn="l">
              <a:lnSpc>
                <a:spcPct val="145000"/>
              </a:lnSpc>
            </a:pPr>
            <a:r>
              <a:rPr sz="2000" b="0" i="0">
                <a:solidFill>
                  <a:srgbClr val="4B4F52"/>
                </a:solidFill>
                <a:latin typeface="Verdana"/>
              </a:rPr>
              <a:t>Une lettre qui les sépare se lit comme un point de vue - et c'est celle-là que le journal publie. Le lecteur doit pouvoir s'arrêter après ton premier paragraphe en ayant appris quelque chose, même s'il n'est pas d'accord avec la suite. C'est le conseil que Raphaël donne à Nadège, et c'est aussi ce qui distingue les deux lettres de la page du courrier.</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7F7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TextBox 2"/>
          <p:cNvSpPr txBox="1"/>
          <p:nvPr/>
        </p:nvSpPr>
        <p:spPr>
          <a:xfrm>
            <a:off x="566928" y="6355080"/>
            <a:ext cx="6400800" cy="219456"/>
          </a:xfrm>
          <a:prstGeom prst="rect">
            <a:avLst/>
          </a:prstGeom>
          <a:noFill/>
        </p:spPr>
        <p:txBody>
          <a:bodyPr wrap="square" lIns="0" rIns="0" tIns="0" bIns="0" anchor="t">
            <a:spAutoFit/>
          </a:bodyPr>
          <a:lstStyle/>
          <a:p>
            <a:pPr algn="l">
              <a:lnSpc>
                <a:spcPct val="135000"/>
              </a:lnSpc>
            </a:pPr>
            <a:r>
              <a:rPr sz="1200" b="0" i="0">
                <a:solidFill>
                  <a:srgbClr val="6E7175"/>
                </a:solidFill>
                <a:latin typeface="Verdana"/>
              </a:rPr>
              <a:t>E2 · Suivre un sujet dans les médias</a:t>
            </a:r>
          </a:p>
        </p:txBody>
      </p:sp>
      <p:sp>
        <p:nvSpPr>
          <p:cNvPr id="4" name="TextBox 3"/>
          <p:cNvSpPr txBox="1"/>
          <p:nvPr/>
        </p:nvSpPr>
        <p:spPr>
          <a:xfrm>
            <a:off x="10710367" y="6355080"/>
            <a:ext cx="914400" cy="219456"/>
          </a:xfrm>
          <a:prstGeom prst="rect">
            <a:avLst/>
          </a:prstGeom>
          <a:noFill/>
        </p:spPr>
        <p:txBody>
          <a:bodyPr wrap="square" lIns="0" rIns="0" tIns="0" bIns="0" anchor="t">
            <a:spAutoFit/>
          </a:bodyPr>
          <a:lstStyle/>
          <a:p>
            <a:pPr algn="r">
              <a:lnSpc>
                <a:spcPct val="135000"/>
              </a:lnSpc>
            </a:pPr>
            <a:r>
              <a:rPr sz="1200" b="0" i="0">
                <a:solidFill>
                  <a:srgbClr val="6E7175"/>
                </a:solidFill>
                <a:latin typeface="Verdana"/>
              </a:rPr>
              <a:t>7</a:t>
            </a:r>
          </a:p>
        </p:txBody>
      </p:sp>
      <p:sp>
        <p:nvSpPr>
          <p:cNvPr id="5" name="TextBox 4"/>
          <p:cNvSpPr txBox="1"/>
          <p:nvPr/>
        </p:nvSpPr>
        <p:spPr>
          <a:xfrm>
            <a:off x="566928" y="420624"/>
            <a:ext cx="11057839" cy="237744"/>
          </a:xfrm>
          <a:prstGeom prst="rect">
            <a:avLst/>
          </a:prstGeom>
          <a:noFill/>
        </p:spPr>
        <p:txBody>
          <a:bodyPr wrap="square" lIns="0" rIns="0" tIns="0" bIns="0" anchor="t">
            <a:spAutoFit/>
          </a:bodyPr>
          <a:lstStyle/>
          <a:p>
            <a:pPr algn="l">
              <a:lnSpc>
                <a:spcPct val="135000"/>
              </a:lnSpc>
            </a:pPr>
            <a:r>
              <a:rPr sz="1300" b="1" i="0" spc="156">
                <a:solidFill>
                  <a:srgbClr val="A5335F"/>
                </a:solidFill>
                <a:latin typeface="Verdana"/>
              </a:rPr>
              <a:t>UN OBJET QUI JUGE</a:t>
            </a:r>
          </a:p>
        </p:txBody>
      </p:sp>
      <p:sp>
        <p:nvSpPr>
          <p:cNvPr id="6" name="TextBox 5"/>
          <p:cNvSpPr txBox="1"/>
          <p:nvPr/>
        </p:nvSpPr>
        <p:spPr>
          <a:xfrm>
            <a:off x="566928" y="749808"/>
            <a:ext cx="11057839" cy="877824"/>
          </a:xfrm>
          <a:prstGeom prst="rect">
            <a:avLst/>
          </a:prstGeom>
          <a:noFill/>
        </p:spPr>
        <p:txBody>
          <a:bodyPr wrap="square" lIns="0" rIns="0" tIns="0" bIns="0" anchor="t">
            <a:spAutoFit/>
          </a:bodyPr>
          <a:lstStyle/>
          <a:p>
            <a:pPr algn="l">
              <a:lnSpc>
                <a:spcPct val="115000"/>
              </a:lnSpc>
            </a:pPr>
            <a:r>
              <a:rPr sz="3400" b="1" i="0">
                <a:solidFill>
                  <a:srgbClr val="17181A"/>
                </a:solidFill>
                <a:latin typeface="Verdana"/>
              </a:rPr>
              <a:t>Le piège le plus fréquent</a:t>
            </a:r>
          </a:p>
        </p:txBody>
      </p:sp>
      <p:sp>
        <p:nvSpPr>
          <p:cNvPr id="7" name="Rounded Rectangle 6"/>
          <p:cNvSpPr/>
          <p:nvPr/>
        </p:nvSpPr>
        <p:spPr>
          <a:xfrm>
            <a:off x="566928" y="1856232"/>
            <a:ext cx="5428335" cy="2331720"/>
          </a:xfrm>
          <a:prstGeom prst="roundRect">
            <a:avLst>
              <a:gd name="adj" fmla="val 6274"/>
            </a:avLst>
          </a:prstGeom>
          <a:solidFill>
            <a:srgbClr val="FFF6F5"/>
          </a:solidFill>
          <a:ln w="12700">
            <a:solidFill>
              <a:srgbClr val="DC2626"/>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TextBox 7"/>
          <p:cNvSpPr txBox="1"/>
          <p:nvPr/>
        </p:nvSpPr>
        <p:spPr>
          <a:xfrm>
            <a:off x="932688" y="2130552"/>
            <a:ext cx="4696815" cy="274320"/>
          </a:xfrm>
          <a:prstGeom prst="rect">
            <a:avLst/>
          </a:prstGeom>
          <a:noFill/>
        </p:spPr>
        <p:txBody>
          <a:bodyPr wrap="square" lIns="0" rIns="0" tIns="0" bIns="0" anchor="t">
            <a:spAutoFit/>
          </a:bodyPr>
          <a:lstStyle/>
          <a:p>
            <a:pPr algn="l">
              <a:lnSpc>
                <a:spcPct val="135000"/>
              </a:lnSpc>
            </a:pPr>
            <a:r>
              <a:rPr sz="1300" b="1" i="0" spc="156">
                <a:solidFill>
                  <a:srgbClr val="B91C1C"/>
                </a:solidFill>
                <a:latin typeface="Verdana"/>
              </a:rPr>
              <a:t>ON ENTEND SOUVENT</a:t>
            </a:r>
          </a:p>
        </p:txBody>
      </p:sp>
      <p:sp>
        <p:nvSpPr>
          <p:cNvPr id="9" name="TextBox 8"/>
          <p:cNvSpPr txBox="1"/>
          <p:nvPr/>
        </p:nvSpPr>
        <p:spPr>
          <a:xfrm>
            <a:off x="932688" y="2569464"/>
            <a:ext cx="4696815" cy="1417320"/>
          </a:xfrm>
          <a:prstGeom prst="rect">
            <a:avLst/>
          </a:prstGeom>
          <a:noFill/>
        </p:spPr>
        <p:txBody>
          <a:bodyPr wrap="square" lIns="0" rIns="0" tIns="0" bIns="0" anchor="t">
            <a:spAutoFit/>
          </a:bodyPr>
          <a:lstStyle/>
          <a:p>
            <a:pPr algn="l">
              <a:lnSpc>
                <a:spcPct val="130000"/>
              </a:lnSpc>
            </a:pPr>
            <a:r>
              <a:rPr sz="2500" b="1" i="0">
                <a:solidFill>
                  <a:srgbClr val="17181A"/>
                </a:solidFill>
                <a:latin typeface="Verdana"/>
              </a:rPr>
              <a:t>Scandale des garanties : les consommateurs abandonnés</a:t>
            </a:r>
          </a:p>
        </p:txBody>
      </p:sp>
      <p:sp>
        <p:nvSpPr>
          <p:cNvPr id="10" name="Rounded Rectangle 9"/>
          <p:cNvSpPr/>
          <p:nvPr/>
        </p:nvSpPr>
        <p:spPr>
          <a:xfrm>
            <a:off x="6196431" y="1856232"/>
            <a:ext cx="5428335" cy="2331720"/>
          </a:xfrm>
          <a:prstGeom prst="roundRect">
            <a:avLst>
              <a:gd name="adj" fmla="val 6274"/>
            </a:avLst>
          </a:prstGeom>
          <a:solidFill>
            <a:srgbClr val="E6F5EE"/>
          </a:solidFill>
          <a:ln w="12700">
            <a:solidFill>
              <a:srgbClr val="0A8F5B"/>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1" name="TextBox 10"/>
          <p:cNvSpPr txBox="1"/>
          <p:nvPr/>
        </p:nvSpPr>
        <p:spPr>
          <a:xfrm>
            <a:off x="6562191" y="2130552"/>
            <a:ext cx="4696815" cy="274320"/>
          </a:xfrm>
          <a:prstGeom prst="rect">
            <a:avLst/>
          </a:prstGeom>
          <a:noFill/>
        </p:spPr>
        <p:txBody>
          <a:bodyPr wrap="square" lIns="0" rIns="0" tIns="0" bIns="0" anchor="t">
            <a:spAutoFit/>
          </a:bodyPr>
          <a:lstStyle/>
          <a:p>
            <a:pPr algn="l">
              <a:lnSpc>
                <a:spcPct val="135000"/>
              </a:lnSpc>
            </a:pPr>
            <a:r>
              <a:rPr sz="1300" b="1" i="0" spc="156">
                <a:solidFill>
                  <a:srgbClr val="07734A"/>
                </a:solidFill>
                <a:latin typeface="Verdana"/>
              </a:rPr>
              <a:t>IL FAUT DIRE PLUTÔT</a:t>
            </a:r>
          </a:p>
        </p:txBody>
      </p:sp>
      <p:sp>
        <p:nvSpPr>
          <p:cNvPr id="12" name="TextBox 11"/>
          <p:cNvSpPr txBox="1"/>
          <p:nvPr/>
        </p:nvSpPr>
        <p:spPr>
          <a:xfrm>
            <a:off x="6562191" y="2569464"/>
            <a:ext cx="4696815" cy="1417320"/>
          </a:xfrm>
          <a:prstGeom prst="rect">
            <a:avLst/>
          </a:prstGeom>
          <a:noFill/>
        </p:spPr>
        <p:txBody>
          <a:bodyPr wrap="square" lIns="0" rIns="0" tIns="0" bIns="0" anchor="t">
            <a:spAutoFit/>
          </a:bodyPr>
          <a:lstStyle/>
          <a:p>
            <a:pPr algn="l">
              <a:lnSpc>
                <a:spcPct val="130000"/>
              </a:lnSpc>
            </a:pPr>
            <a:r>
              <a:rPr sz="2500" b="1" i="0">
                <a:solidFill>
                  <a:srgbClr val="17181A"/>
                </a:solidFill>
                <a:latin typeface="Verdana"/>
              </a:rPr>
              <a:t>Garantie légale : ce que la chronique du 12 août rappelait</a:t>
            </a:r>
          </a:p>
        </p:txBody>
      </p:sp>
      <p:sp>
        <p:nvSpPr>
          <p:cNvPr id="13" name="Rounded Rectangle 12"/>
          <p:cNvSpPr/>
          <p:nvPr/>
        </p:nvSpPr>
        <p:spPr>
          <a:xfrm>
            <a:off x="566928" y="4462272"/>
            <a:ext cx="11057839" cy="1618487"/>
          </a:xfrm>
          <a:prstGeom prst="roundRect">
            <a:avLst>
              <a:gd name="adj" fmla="val 9039"/>
            </a:avLst>
          </a:prstGeom>
          <a:solidFill>
            <a:srgbClr val="FFFFFF"/>
          </a:solidFill>
          <a:ln w="12700">
            <a:solidFill>
              <a:srgbClr val="EAEA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4" name="TextBox 13"/>
          <p:cNvSpPr txBox="1"/>
          <p:nvPr/>
        </p:nvSpPr>
        <p:spPr>
          <a:xfrm>
            <a:off x="969264" y="4736592"/>
            <a:ext cx="10234879" cy="1518920"/>
          </a:xfrm>
          <a:prstGeom prst="rect">
            <a:avLst/>
          </a:prstGeom>
          <a:noFill/>
        </p:spPr>
        <p:txBody>
          <a:bodyPr wrap="square" lIns="0" rIns="0" tIns="0" bIns="0" anchor="t">
            <a:spAutoFit/>
          </a:bodyPr>
          <a:lstStyle/>
          <a:p>
            <a:pPr algn="l">
              <a:lnSpc>
                <a:spcPct val="145000"/>
              </a:lnSpc>
            </a:pPr>
            <a:r>
              <a:rPr sz="2000" b="0" i="0">
                <a:solidFill>
                  <a:srgbClr val="4B4F52"/>
                </a:solidFill>
                <a:latin typeface="Verdana"/>
              </a:rPr>
              <a:t>L'objet d'un courriel annonce de quoi on parle, pas ce qu'on en pense. Un objet qui juge fait fuir exactement les lecteurs qu'on voulait convaincre, et il affaiblit le texte : celui qui a besoin d'un titre fort a souvent des arguments faibles.</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7F7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TextBox 2"/>
          <p:cNvSpPr txBox="1"/>
          <p:nvPr/>
        </p:nvSpPr>
        <p:spPr>
          <a:xfrm>
            <a:off x="566928" y="6355080"/>
            <a:ext cx="6400800" cy="219456"/>
          </a:xfrm>
          <a:prstGeom prst="rect">
            <a:avLst/>
          </a:prstGeom>
          <a:noFill/>
        </p:spPr>
        <p:txBody>
          <a:bodyPr wrap="square" lIns="0" rIns="0" tIns="0" bIns="0" anchor="t">
            <a:spAutoFit/>
          </a:bodyPr>
          <a:lstStyle/>
          <a:p>
            <a:pPr algn="l">
              <a:lnSpc>
                <a:spcPct val="135000"/>
              </a:lnSpc>
            </a:pPr>
            <a:r>
              <a:rPr sz="1200" b="0" i="0">
                <a:solidFill>
                  <a:srgbClr val="6E7175"/>
                </a:solidFill>
                <a:latin typeface="Verdana"/>
              </a:rPr>
              <a:t>E2 · Suivre un sujet dans les médias</a:t>
            </a:r>
          </a:p>
        </p:txBody>
      </p:sp>
      <p:sp>
        <p:nvSpPr>
          <p:cNvPr id="4" name="TextBox 3"/>
          <p:cNvSpPr txBox="1"/>
          <p:nvPr/>
        </p:nvSpPr>
        <p:spPr>
          <a:xfrm>
            <a:off x="10710367" y="6355080"/>
            <a:ext cx="914400" cy="219456"/>
          </a:xfrm>
          <a:prstGeom prst="rect">
            <a:avLst/>
          </a:prstGeom>
          <a:noFill/>
        </p:spPr>
        <p:txBody>
          <a:bodyPr wrap="square" lIns="0" rIns="0" tIns="0" bIns="0" anchor="t">
            <a:spAutoFit/>
          </a:bodyPr>
          <a:lstStyle/>
          <a:p>
            <a:pPr algn="r">
              <a:lnSpc>
                <a:spcPct val="135000"/>
              </a:lnSpc>
            </a:pPr>
            <a:r>
              <a:rPr sz="1200" b="0" i="0">
                <a:solidFill>
                  <a:srgbClr val="6E7175"/>
                </a:solidFill>
                <a:latin typeface="Verdana"/>
              </a:rPr>
              <a:t>8</a:t>
            </a:r>
          </a:p>
        </p:txBody>
      </p:sp>
      <p:sp>
        <p:nvSpPr>
          <p:cNvPr id="5" name="TextBox 4"/>
          <p:cNvSpPr txBox="1"/>
          <p:nvPr/>
        </p:nvSpPr>
        <p:spPr>
          <a:xfrm>
            <a:off x="566928" y="420624"/>
            <a:ext cx="11057839" cy="237744"/>
          </a:xfrm>
          <a:prstGeom prst="rect">
            <a:avLst/>
          </a:prstGeom>
          <a:noFill/>
        </p:spPr>
        <p:txBody>
          <a:bodyPr wrap="square" lIns="0" rIns="0" tIns="0" bIns="0" anchor="t">
            <a:spAutoFit/>
          </a:bodyPr>
          <a:lstStyle/>
          <a:p>
            <a:pPr algn="l">
              <a:lnSpc>
                <a:spcPct val="135000"/>
              </a:lnSpc>
            </a:pPr>
            <a:r>
              <a:rPr sz="1300" b="1" i="0" spc="156">
                <a:solidFill>
                  <a:srgbClr val="A5335F"/>
                </a:solidFill>
                <a:latin typeface="Verdana"/>
              </a:rPr>
              <a:t>BILAN</a:t>
            </a:r>
          </a:p>
        </p:txBody>
      </p:sp>
      <p:sp>
        <p:nvSpPr>
          <p:cNvPr id="6" name="TextBox 5"/>
          <p:cNvSpPr txBox="1"/>
          <p:nvPr/>
        </p:nvSpPr>
        <p:spPr>
          <a:xfrm>
            <a:off x="566928" y="749808"/>
            <a:ext cx="11057839" cy="877824"/>
          </a:xfrm>
          <a:prstGeom prst="rect">
            <a:avLst/>
          </a:prstGeom>
          <a:noFill/>
        </p:spPr>
        <p:txBody>
          <a:bodyPr wrap="square" lIns="0" rIns="0" tIns="0" bIns="0" anchor="t">
            <a:spAutoFit/>
          </a:bodyPr>
          <a:lstStyle/>
          <a:p>
            <a:pPr algn="l">
              <a:lnSpc>
                <a:spcPct val="115000"/>
              </a:lnSpc>
            </a:pPr>
            <a:r>
              <a:rPr sz="3400" b="1" i="0">
                <a:solidFill>
                  <a:srgbClr val="17181A"/>
                </a:solidFill>
                <a:latin typeface="Verdana"/>
              </a:rPr>
              <a:t>Les mots du module, une dernière fois</a:t>
            </a:r>
          </a:p>
        </p:txBody>
      </p:sp>
      <p:sp>
        <p:nvSpPr>
          <p:cNvPr id="7" name="Rounded Rectangle 6"/>
          <p:cNvSpPr/>
          <p:nvPr/>
        </p:nvSpPr>
        <p:spPr>
          <a:xfrm>
            <a:off x="566928" y="1810512"/>
            <a:ext cx="11057839" cy="4270248"/>
          </a:xfrm>
          <a:prstGeom prst="roundRect">
            <a:avLst>
              <a:gd name="adj" fmla="val 3426"/>
            </a:avLst>
          </a:prstGeom>
          <a:solidFill>
            <a:srgbClr val="FFFFFF"/>
          </a:solidFill>
          <a:ln w="12700">
            <a:solidFill>
              <a:srgbClr val="EAEA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TextBox 7"/>
          <p:cNvSpPr txBox="1"/>
          <p:nvPr/>
        </p:nvSpPr>
        <p:spPr>
          <a:xfrm>
            <a:off x="932688" y="2121408"/>
            <a:ext cx="3364325" cy="273176"/>
          </a:xfrm>
          <a:prstGeom prst="rect">
            <a:avLst/>
          </a:prstGeom>
          <a:noFill/>
        </p:spPr>
        <p:txBody>
          <a:bodyPr wrap="square" lIns="0" rIns="0" tIns="0" bIns="0" anchor="t">
            <a:spAutoFit/>
          </a:bodyPr>
          <a:lstStyle/>
          <a:p>
            <a:pPr algn="l">
              <a:lnSpc>
                <a:spcPct val="128000"/>
              </a:lnSpc>
            </a:pPr>
            <a:r>
              <a:rPr sz="1900" b="1" i="0">
                <a:solidFill>
                  <a:srgbClr val="17181A"/>
                </a:solidFill>
                <a:latin typeface="Verdana"/>
              </a:rPr>
              <a:t>une chronique pratique</a:t>
            </a:r>
          </a:p>
        </p:txBody>
      </p:sp>
      <p:sp>
        <p:nvSpPr>
          <p:cNvPr id="9" name="TextBox 8"/>
          <p:cNvSpPr txBox="1"/>
          <p:nvPr/>
        </p:nvSpPr>
        <p:spPr>
          <a:xfrm>
            <a:off x="4571333" y="2121408"/>
            <a:ext cx="6687673" cy="273176"/>
          </a:xfrm>
          <a:prstGeom prst="rect">
            <a:avLst/>
          </a:prstGeom>
          <a:noFill/>
        </p:spPr>
        <p:txBody>
          <a:bodyPr wrap="square" lIns="0" rIns="0" tIns="0" bIns="0" anchor="t">
            <a:spAutoFit/>
          </a:bodyPr>
          <a:lstStyle/>
          <a:p>
            <a:pPr algn="l">
              <a:lnSpc>
                <a:spcPct val="135000"/>
              </a:lnSpc>
            </a:pPr>
            <a:r>
              <a:rPr sz="1800" b="0" i="0">
                <a:solidFill>
                  <a:srgbClr val="4B4F52"/>
                </a:solidFill>
                <a:latin typeface="Verdana"/>
              </a:rPr>
              <a:t>Elle t'apprend quoi faire, étape par étape.</a:t>
            </a:r>
          </a:p>
        </p:txBody>
      </p:sp>
      <p:sp>
        <p:nvSpPr>
          <p:cNvPr id="10" name="Rectangle 9"/>
          <p:cNvSpPr/>
          <p:nvPr/>
        </p:nvSpPr>
        <p:spPr>
          <a:xfrm>
            <a:off x="932688" y="2467737"/>
            <a:ext cx="10326319" cy="10058"/>
          </a:xfrm>
          <a:prstGeom prst="rect">
            <a:avLst/>
          </a:prstGeom>
          <a:solidFill>
            <a:srgbClr val="EAEAE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1" name="TextBox 10"/>
          <p:cNvSpPr txBox="1"/>
          <p:nvPr/>
        </p:nvSpPr>
        <p:spPr>
          <a:xfrm>
            <a:off x="932688" y="2614041"/>
            <a:ext cx="3364325" cy="273176"/>
          </a:xfrm>
          <a:prstGeom prst="rect">
            <a:avLst/>
          </a:prstGeom>
          <a:noFill/>
        </p:spPr>
        <p:txBody>
          <a:bodyPr wrap="square" lIns="0" rIns="0" tIns="0" bIns="0" anchor="t">
            <a:spAutoFit/>
          </a:bodyPr>
          <a:lstStyle/>
          <a:p>
            <a:pPr algn="l">
              <a:lnSpc>
                <a:spcPct val="128000"/>
              </a:lnSpc>
            </a:pPr>
            <a:r>
              <a:rPr sz="1900" b="1" i="0">
                <a:solidFill>
                  <a:srgbClr val="17181A"/>
                </a:solidFill>
                <a:latin typeface="Verdana"/>
              </a:rPr>
              <a:t>le courrier des lecteurs</a:t>
            </a:r>
          </a:p>
        </p:txBody>
      </p:sp>
      <p:sp>
        <p:nvSpPr>
          <p:cNvPr id="12" name="TextBox 11"/>
          <p:cNvSpPr txBox="1"/>
          <p:nvPr/>
        </p:nvSpPr>
        <p:spPr>
          <a:xfrm>
            <a:off x="4571333" y="2614041"/>
            <a:ext cx="6687673" cy="273176"/>
          </a:xfrm>
          <a:prstGeom prst="rect">
            <a:avLst/>
          </a:prstGeom>
          <a:noFill/>
        </p:spPr>
        <p:txBody>
          <a:bodyPr wrap="square" lIns="0" rIns="0" tIns="0" bIns="0" anchor="t">
            <a:spAutoFit/>
          </a:bodyPr>
          <a:lstStyle/>
          <a:p>
            <a:pPr algn="l">
              <a:lnSpc>
                <a:spcPct val="135000"/>
              </a:lnSpc>
            </a:pPr>
            <a:r>
              <a:rPr sz="1800" b="0" i="0">
                <a:solidFill>
                  <a:srgbClr val="4B4F52"/>
                </a:solidFill>
                <a:latin typeface="Verdana"/>
              </a:rPr>
              <a:t>Des lettres signées par des gens ordinaires.</a:t>
            </a:r>
          </a:p>
        </p:txBody>
      </p:sp>
      <p:sp>
        <p:nvSpPr>
          <p:cNvPr id="13" name="Rectangle 12"/>
          <p:cNvSpPr/>
          <p:nvPr/>
        </p:nvSpPr>
        <p:spPr>
          <a:xfrm>
            <a:off x="932688" y="2960370"/>
            <a:ext cx="10326319" cy="10058"/>
          </a:xfrm>
          <a:prstGeom prst="rect">
            <a:avLst/>
          </a:prstGeom>
          <a:solidFill>
            <a:srgbClr val="EAEAE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4" name="TextBox 13"/>
          <p:cNvSpPr txBox="1"/>
          <p:nvPr/>
        </p:nvSpPr>
        <p:spPr>
          <a:xfrm>
            <a:off x="932688" y="3106674"/>
            <a:ext cx="3364325" cy="273176"/>
          </a:xfrm>
          <a:prstGeom prst="rect">
            <a:avLst/>
          </a:prstGeom>
          <a:noFill/>
        </p:spPr>
        <p:txBody>
          <a:bodyPr wrap="square" lIns="0" rIns="0" tIns="0" bIns="0" anchor="t">
            <a:spAutoFit/>
          </a:bodyPr>
          <a:lstStyle/>
          <a:p>
            <a:pPr algn="l">
              <a:lnSpc>
                <a:spcPct val="128000"/>
              </a:lnSpc>
            </a:pPr>
            <a:r>
              <a:rPr sz="1900" b="1" i="0">
                <a:solidFill>
                  <a:srgbClr val="17181A"/>
                </a:solidFill>
                <a:latin typeface="Verdana"/>
              </a:rPr>
              <a:t>la garantie légale</a:t>
            </a:r>
          </a:p>
        </p:txBody>
      </p:sp>
      <p:sp>
        <p:nvSpPr>
          <p:cNvPr id="15" name="TextBox 14"/>
          <p:cNvSpPr txBox="1"/>
          <p:nvPr/>
        </p:nvSpPr>
        <p:spPr>
          <a:xfrm>
            <a:off x="4571333" y="3106674"/>
            <a:ext cx="6687673" cy="273176"/>
          </a:xfrm>
          <a:prstGeom prst="rect">
            <a:avLst/>
          </a:prstGeom>
          <a:noFill/>
        </p:spPr>
        <p:txBody>
          <a:bodyPr wrap="square" lIns="0" rIns="0" tIns="0" bIns="0" anchor="t">
            <a:spAutoFit/>
          </a:bodyPr>
          <a:lstStyle/>
          <a:p>
            <a:pPr algn="l">
              <a:lnSpc>
                <a:spcPct val="135000"/>
              </a:lnSpc>
            </a:pPr>
            <a:r>
              <a:rPr sz="1800" b="0" i="0">
                <a:solidFill>
                  <a:srgbClr val="4B4F52"/>
                </a:solidFill>
                <a:latin typeface="Verdana"/>
              </a:rPr>
              <a:t>Elle existe même quand celle du fabricant est finie.</a:t>
            </a:r>
          </a:p>
        </p:txBody>
      </p:sp>
      <p:sp>
        <p:nvSpPr>
          <p:cNvPr id="16" name="Rectangle 15"/>
          <p:cNvSpPr/>
          <p:nvPr/>
        </p:nvSpPr>
        <p:spPr>
          <a:xfrm>
            <a:off x="932688" y="3453002"/>
            <a:ext cx="10326319" cy="10058"/>
          </a:xfrm>
          <a:prstGeom prst="rect">
            <a:avLst/>
          </a:prstGeom>
          <a:solidFill>
            <a:srgbClr val="EAEAE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7" name="TextBox 16"/>
          <p:cNvSpPr txBox="1"/>
          <p:nvPr/>
        </p:nvSpPr>
        <p:spPr>
          <a:xfrm>
            <a:off x="932688" y="3599307"/>
            <a:ext cx="3364325" cy="273176"/>
          </a:xfrm>
          <a:prstGeom prst="rect">
            <a:avLst/>
          </a:prstGeom>
          <a:noFill/>
        </p:spPr>
        <p:txBody>
          <a:bodyPr wrap="square" lIns="0" rIns="0" tIns="0" bIns="0" anchor="t">
            <a:spAutoFit/>
          </a:bodyPr>
          <a:lstStyle/>
          <a:p>
            <a:pPr algn="l">
              <a:lnSpc>
                <a:spcPct val="128000"/>
              </a:lnSpc>
            </a:pPr>
            <a:r>
              <a:rPr sz="1900" b="1" i="0">
                <a:solidFill>
                  <a:srgbClr val="17181A"/>
                </a:solidFill>
                <a:latin typeface="Verdana"/>
              </a:rPr>
              <a:t>une durée raisonnable</a:t>
            </a:r>
          </a:p>
        </p:txBody>
      </p:sp>
      <p:sp>
        <p:nvSpPr>
          <p:cNvPr id="18" name="TextBox 17"/>
          <p:cNvSpPr txBox="1"/>
          <p:nvPr/>
        </p:nvSpPr>
        <p:spPr>
          <a:xfrm>
            <a:off x="4571333" y="3599307"/>
            <a:ext cx="6687673" cy="273176"/>
          </a:xfrm>
          <a:prstGeom prst="rect">
            <a:avLst/>
          </a:prstGeom>
          <a:noFill/>
        </p:spPr>
        <p:txBody>
          <a:bodyPr wrap="square" lIns="0" rIns="0" tIns="0" bIns="0" anchor="t">
            <a:spAutoFit/>
          </a:bodyPr>
          <a:lstStyle/>
          <a:p>
            <a:pPr algn="l">
              <a:lnSpc>
                <a:spcPct val="135000"/>
              </a:lnSpc>
            </a:pPr>
            <a:r>
              <a:rPr sz="1800" b="0" i="0">
                <a:solidFill>
                  <a:srgbClr val="4B4F52"/>
                </a:solidFill>
                <a:latin typeface="Verdana"/>
              </a:rPr>
              <a:t>Elle dépend du prix payé, du contrat et de l'usage.</a:t>
            </a:r>
          </a:p>
        </p:txBody>
      </p:sp>
      <p:sp>
        <p:nvSpPr>
          <p:cNvPr id="19" name="Rectangle 18"/>
          <p:cNvSpPr/>
          <p:nvPr/>
        </p:nvSpPr>
        <p:spPr>
          <a:xfrm>
            <a:off x="932688" y="3945635"/>
            <a:ext cx="10326319" cy="10058"/>
          </a:xfrm>
          <a:prstGeom prst="rect">
            <a:avLst/>
          </a:prstGeom>
          <a:solidFill>
            <a:srgbClr val="EAEAE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0" name="TextBox 19"/>
          <p:cNvSpPr txBox="1"/>
          <p:nvPr/>
        </p:nvSpPr>
        <p:spPr>
          <a:xfrm>
            <a:off x="932688" y="4091939"/>
            <a:ext cx="3364325" cy="273176"/>
          </a:xfrm>
          <a:prstGeom prst="rect">
            <a:avLst/>
          </a:prstGeom>
          <a:noFill/>
        </p:spPr>
        <p:txBody>
          <a:bodyPr wrap="square" lIns="0" rIns="0" tIns="0" bIns="0" anchor="t">
            <a:spAutoFit/>
          </a:bodyPr>
          <a:lstStyle/>
          <a:p>
            <a:pPr algn="l">
              <a:lnSpc>
                <a:spcPct val="128000"/>
              </a:lnSpc>
            </a:pPr>
            <a:r>
              <a:rPr sz="1900" b="1" i="0">
                <a:solidFill>
                  <a:srgbClr val="17181A"/>
                </a:solidFill>
                <a:latin typeface="Verdana"/>
              </a:rPr>
              <a:t>une mise en demeure</a:t>
            </a:r>
          </a:p>
        </p:txBody>
      </p:sp>
      <p:sp>
        <p:nvSpPr>
          <p:cNvPr id="21" name="TextBox 20"/>
          <p:cNvSpPr txBox="1"/>
          <p:nvPr/>
        </p:nvSpPr>
        <p:spPr>
          <a:xfrm>
            <a:off x="4571333" y="4091939"/>
            <a:ext cx="6687673" cy="273176"/>
          </a:xfrm>
          <a:prstGeom prst="rect">
            <a:avLst/>
          </a:prstGeom>
          <a:noFill/>
        </p:spPr>
        <p:txBody>
          <a:bodyPr wrap="square" lIns="0" rIns="0" tIns="0" bIns="0" anchor="t">
            <a:spAutoFit/>
          </a:bodyPr>
          <a:lstStyle/>
          <a:p>
            <a:pPr algn="l">
              <a:lnSpc>
                <a:spcPct val="135000"/>
              </a:lnSpc>
            </a:pPr>
            <a:r>
              <a:rPr sz="1800" b="0" i="0">
                <a:solidFill>
                  <a:srgbClr val="4B4F52"/>
                </a:solidFill>
                <a:latin typeface="Verdana"/>
              </a:rPr>
              <a:t>Les faits, la demande, un délai. Une page suffit.</a:t>
            </a:r>
          </a:p>
        </p:txBody>
      </p:sp>
      <p:sp>
        <p:nvSpPr>
          <p:cNvPr id="22" name="Rectangle 21"/>
          <p:cNvSpPr/>
          <p:nvPr/>
        </p:nvSpPr>
        <p:spPr>
          <a:xfrm>
            <a:off x="932688" y="4438269"/>
            <a:ext cx="10326319" cy="10058"/>
          </a:xfrm>
          <a:prstGeom prst="rect">
            <a:avLst/>
          </a:prstGeom>
          <a:solidFill>
            <a:srgbClr val="EAEAE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3" name="TextBox 22"/>
          <p:cNvSpPr txBox="1"/>
          <p:nvPr/>
        </p:nvSpPr>
        <p:spPr>
          <a:xfrm>
            <a:off x="932688" y="4584573"/>
            <a:ext cx="3364325" cy="273176"/>
          </a:xfrm>
          <a:prstGeom prst="rect">
            <a:avLst/>
          </a:prstGeom>
          <a:noFill/>
        </p:spPr>
        <p:txBody>
          <a:bodyPr wrap="square" lIns="0" rIns="0" tIns="0" bIns="0" anchor="t">
            <a:spAutoFit/>
          </a:bodyPr>
          <a:lstStyle/>
          <a:p>
            <a:pPr algn="l">
              <a:lnSpc>
                <a:spcPct val="128000"/>
              </a:lnSpc>
            </a:pPr>
            <a:r>
              <a:rPr sz="1900" b="1" i="0">
                <a:solidFill>
                  <a:srgbClr val="17181A"/>
                </a:solidFill>
                <a:latin typeface="Verdana"/>
              </a:rPr>
              <a:t>un recours</a:t>
            </a:r>
          </a:p>
        </p:txBody>
      </p:sp>
      <p:sp>
        <p:nvSpPr>
          <p:cNvPr id="24" name="TextBox 23"/>
          <p:cNvSpPr txBox="1"/>
          <p:nvPr/>
        </p:nvSpPr>
        <p:spPr>
          <a:xfrm>
            <a:off x="4571333" y="4584573"/>
            <a:ext cx="6687673" cy="273176"/>
          </a:xfrm>
          <a:prstGeom prst="rect">
            <a:avLst/>
          </a:prstGeom>
          <a:noFill/>
        </p:spPr>
        <p:txBody>
          <a:bodyPr wrap="square" lIns="0" rIns="0" tIns="0" bIns="0" anchor="t">
            <a:spAutoFit/>
          </a:bodyPr>
          <a:lstStyle/>
          <a:p>
            <a:pPr algn="l">
              <a:lnSpc>
                <a:spcPct val="135000"/>
              </a:lnSpc>
            </a:pPr>
            <a:r>
              <a:rPr sz="1600" b="0" i="0">
                <a:solidFill>
                  <a:srgbClr val="4B4F52"/>
                </a:solidFill>
                <a:latin typeface="Verdana"/>
              </a:rPr>
              <a:t>Le moyen prévu par la loi quand on n'obtient rien autrement.</a:t>
            </a:r>
          </a:p>
        </p:txBody>
      </p:sp>
      <p:sp>
        <p:nvSpPr>
          <p:cNvPr id="25" name="Rectangle 24"/>
          <p:cNvSpPr/>
          <p:nvPr/>
        </p:nvSpPr>
        <p:spPr>
          <a:xfrm>
            <a:off x="932688" y="4930902"/>
            <a:ext cx="10326319" cy="10058"/>
          </a:xfrm>
          <a:prstGeom prst="rect">
            <a:avLst/>
          </a:prstGeom>
          <a:solidFill>
            <a:srgbClr val="EAEAE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6" name="TextBox 25"/>
          <p:cNvSpPr txBox="1"/>
          <p:nvPr/>
        </p:nvSpPr>
        <p:spPr>
          <a:xfrm>
            <a:off x="932688" y="5077206"/>
            <a:ext cx="3364325" cy="273176"/>
          </a:xfrm>
          <a:prstGeom prst="rect">
            <a:avLst/>
          </a:prstGeom>
          <a:noFill/>
        </p:spPr>
        <p:txBody>
          <a:bodyPr wrap="square" lIns="0" rIns="0" tIns="0" bIns="0" anchor="t">
            <a:spAutoFit/>
          </a:bodyPr>
          <a:lstStyle/>
          <a:p>
            <a:pPr algn="l">
              <a:lnSpc>
                <a:spcPct val="128000"/>
              </a:lnSpc>
            </a:pPr>
            <a:r>
              <a:rPr sz="1900" b="1" i="0">
                <a:solidFill>
                  <a:srgbClr val="17181A"/>
                </a:solidFill>
                <a:latin typeface="Verdana"/>
              </a:rPr>
              <a:t>un organisme public</a:t>
            </a:r>
          </a:p>
        </p:txBody>
      </p:sp>
      <p:sp>
        <p:nvSpPr>
          <p:cNvPr id="27" name="TextBox 26"/>
          <p:cNvSpPr txBox="1"/>
          <p:nvPr/>
        </p:nvSpPr>
        <p:spPr>
          <a:xfrm>
            <a:off x="4571333" y="5077206"/>
            <a:ext cx="6687673" cy="273176"/>
          </a:xfrm>
          <a:prstGeom prst="rect">
            <a:avLst/>
          </a:prstGeom>
          <a:noFill/>
        </p:spPr>
        <p:txBody>
          <a:bodyPr wrap="square" lIns="0" rIns="0" tIns="0" bIns="0" anchor="t">
            <a:spAutoFit/>
          </a:bodyPr>
          <a:lstStyle/>
          <a:p>
            <a:pPr algn="l">
              <a:lnSpc>
                <a:spcPct val="135000"/>
              </a:lnSpc>
            </a:pPr>
            <a:r>
              <a:rPr sz="1800" b="0" i="0">
                <a:solidFill>
                  <a:srgbClr val="4B4F52"/>
                </a:solidFill>
                <a:latin typeface="Verdana"/>
              </a:rPr>
              <a:t>L'Office : on appelle, ça ne coûte rien.</a:t>
            </a:r>
          </a:p>
        </p:txBody>
      </p:sp>
      <p:sp>
        <p:nvSpPr>
          <p:cNvPr id="28" name="Rectangle 27"/>
          <p:cNvSpPr/>
          <p:nvPr/>
        </p:nvSpPr>
        <p:spPr>
          <a:xfrm>
            <a:off x="932688" y="5423535"/>
            <a:ext cx="10326319" cy="10058"/>
          </a:xfrm>
          <a:prstGeom prst="rect">
            <a:avLst/>
          </a:prstGeom>
          <a:solidFill>
            <a:srgbClr val="EAEAE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9" name="TextBox 28"/>
          <p:cNvSpPr txBox="1"/>
          <p:nvPr/>
        </p:nvSpPr>
        <p:spPr>
          <a:xfrm>
            <a:off x="932688" y="5569839"/>
            <a:ext cx="3364325" cy="273176"/>
          </a:xfrm>
          <a:prstGeom prst="rect">
            <a:avLst/>
          </a:prstGeom>
          <a:noFill/>
        </p:spPr>
        <p:txBody>
          <a:bodyPr wrap="square" lIns="0" rIns="0" tIns="0" bIns="0" anchor="t">
            <a:spAutoFit/>
          </a:bodyPr>
          <a:lstStyle/>
          <a:p>
            <a:pPr algn="l">
              <a:lnSpc>
                <a:spcPct val="128000"/>
              </a:lnSpc>
            </a:pPr>
            <a:r>
              <a:rPr sz="1900" b="1" i="0">
                <a:solidFill>
                  <a:srgbClr val="17181A"/>
                </a:solidFill>
                <a:latin typeface="Verdana"/>
              </a:rPr>
              <a:t>un point de vue</a:t>
            </a:r>
          </a:p>
        </p:txBody>
      </p:sp>
      <p:sp>
        <p:nvSpPr>
          <p:cNvPr id="30" name="TextBox 29"/>
          <p:cNvSpPr txBox="1"/>
          <p:nvPr/>
        </p:nvSpPr>
        <p:spPr>
          <a:xfrm>
            <a:off x="4571333" y="5569839"/>
            <a:ext cx="6687673" cy="273176"/>
          </a:xfrm>
          <a:prstGeom prst="rect">
            <a:avLst/>
          </a:prstGeom>
          <a:noFill/>
        </p:spPr>
        <p:txBody>
          <a:bodyPr wrap="square" lIns="0" rIns="0" tIns="0" bIns="0" anchor="t">
            <a:spAutoFit/>
          </a:bodyPr>
          <a:lstStyle/>
          <a:p>
            <a:pPr algn="l">
              <a:lnSpc>
                <a:spcPct val="135000"/>
              </a:lnSpc>
            </a:pPr>
            <a:r>
              <a:rPr sz="1500" b="0" i="0">
                <a:solidFill>
                  <a:srgbClr val="4B4F52"/>
                </a:solidFill>
                <a:latin typeface="Verdana"/>
              </a:rPr>
              <a:t>Ce qu'une personne pense, et qu'une autre peut voir autrement.</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7F7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TextBox 2"/>
          <p:cNvSpPr txBox="1"/>
          <p:nvPr/>
        </p:nvSpPr>
        <p:spPr>
          <a:xfrm>
            <a:off x="566928" y="6355080"/>
            <a:ext cx="6400800" cy="219456"/>
          </a:xfrm>
          <a:prstGeom prst="rect">
            <a:avLst/>
          </a:prstGeom>
          <a:noFill/>
        </p:spPr>
        <p:txBody>
          <a:bodyPr wrap="square" lIns="0" rIns="0" tIns="0" bIns="0" anchor="t">
            <a:spAutoFit/>
          </a:bodyPr>
          <a:lstStyle/>
          <a:p>
            <a:pPr algn="l">
              <a:lnSpc>
                <a:spcPct val="135000"/>
              </a:lnSpc>
            </a:pPr>
            <a:r>
              <a:rPr sz="1200" b="0" i="0">
                <a:solidFill>
                  <a:srgbClr val="6E7175"/>
                </a:solidFill>
                <a:latin typeface="Verdana"/>
              </a:rPr>
              <a:t>E2 · Suivre un sujet dans les médias</a:t>
            </a:r>
          </a:p>
        </p:txBody>
      </p:sp>
      <p:sp>
        <p:nvSpPr>
          <p:cNvPr id="4" name="TextBox 3"/>
          <p:cNvSpPr txBox="1"/>
          <p:nvPr/>
        </p:nvSpPr>
        <p:spPr>
          <a:xfrm>
            <a:off x="10710367" y="6355080"/>
            <a:ext cx="914400" cy="219456"/>
          </a:xfrm>
          <a:prstGeom prst="rect">
            <a:avLst/>
          </a:prstGeom>
          <a:noFill/>
        </p:spPr>
        <p:txBody>
          <a:bodyPr wrap="square" lIns="0" rIns="0" tIns="0" bIns="0" anchor="t">
            <a:spAutoFit/>
          </a:bodyPr>
          <a:lstStyle/>
          <a:p>
            <a:pPr algn="r">
              <a:lnSpc>
                <a:spcPct val="135000"/>
              </a:lnSpc>
            </a:pPr>
            <a:r>
              <a:rPr sz="1200" b="0" i="0">
                <a:solidFill>
                  <a:srgbClr val="6E7175"/>
                </a:solidFill>
                <a:latin typeface="Verdana"/>
              </a:rPr>
              <a:t>9</a:t>
            </a:r>
          </a:p>
        </p:txBody>
      </p:sp>
      <p:sp>
        <p:nvSpPr>
          <p:cNvPr id="5" name="TextBox 4"/>
          <p:cNvSpPr txBox="1"/>
          <p:nvPr/>
        </p:nvSpPr>
        <p:spPr>
          <a:xfrm>
            <a:off x="566928" y="420624"/>
            <a:ext cx="11057839" cy="237744"/>
          </a:xfrm>
          <a:prstGeom prst="rect">
            <a:avLst/>
          </a:prstGeom>
          <a:noFill/>
        </p:spPr>
        <p:txBody>
          <a:bodyPr wrap="square" lIns="0" rIns="0" tIns="0" bIns="0" anchor="t">
            <a:spAutoFit/>
          </a:bodyPr>
          <a:lstStyle/>
          <a:p>
            <a:pPr algn="l">
              <a:lnSpc>
                <a:spcPct val="135000"/>
              </a:lnSpc>
            </a:pPr>
            <a:r>
              <a:rPr sz="1300" b="1" i="0" spc="156">
                <a:solidFill>
                  <a:srgbClr val="A5335F"/>
                </a:solidFill>
                <a:latin typeface="Verdana"/>
              </a:rPr>
              <a:t>PRODUCTION ÉCRITE</a:t>
            </a:r>
          </a:p>
        </p:txBody>
      </p:sp>
      <p:sp>
        <p:nvSpPr>
          <p:cNvPr id="6" name="TextBox 5"/>
          <p:cNvSpPr txBox="1"/>
          <p:nvPr/>
        </p:nvSpPr>
        <p:spPr>
          <a:xfrm>
            <a:off x="566928" y="749808"/>
            <a:ext cx="11057839" cy="877824"/>
          </a:xfrm>
          <a:prstGeom prst="rect">
            <a:avLst/>
          </a:prstGeom>
          <a:noFill/>
        </p:spPr>
        <p:txBody>
          <a:bodyPr wrap="square" lIns="0" rIns="0" tIns="0" bIns="0" anchor="t">
            <a:spAutoFit/>
          </a:bodyPr>
          <a:lstStyle/>
          <a:p>
            <a:pPr algn="l">
              <a:lnSpc>
                <a:spcPct val="115000"/>
              </a:lnSpc>
            </a:pPr>
            <a:r>
              <a:rPr sz="3400" b="1" i="0">
                <a:solidFill>
                  <a:srgbClr val="17181A"/>
                </a:solidFill>
                <a:latin typeface="Verdana"/>
              </a:rPr>
              <a:t>Ton courriel, huit à douze phrases</a:t>
            </a:r>
          </a:p>
        </p:txBody>
      </p:sp>
      <p:sp>
        <p:nvSpPr>
          <p:cNvPr id="7" name="TextBox 6"/>
          <p:cNvSpPr txBox="1"/>
          <p:nvPr/>
        </p:nvSpPr>
        <p:spPr>
          <a:xfrm>
            <a:off x="566928" y="1645920"/>
            <a:ext cx="11057839" cy="329184"/>
          </a:xfrm>
          <a:prstGeom prst="rect">
            <a:avLst/>
          </a:prstGeom>
          <a:noFill/>
        </p:spPr>
        <p:txBody>
          <a:bodyPr wrap="square" lIns="0" rIns="0" tIns="0" bIns="0" anchor="t">
            <a:spAutoFit/>
          </a:bodyPr>
          <a:lstStyle/>
          <a:p>
            <a:pPr algn="l">
              <a:lnSpc>
                <a:spcPct val="135000"/>
              </a:lnSpc>
            </a:pPr>
            <a:r>
              <a:rPr sz="1800" b="0" i="0">
                <a:solidFill>
                  <a:srgbClr val="6E7175"/>
                </a:solidFill>
                <a:latin typeface="Verdana"/>
              </a:rPr>
              <a:t>À : courrier@lecourrierdelabatture.example</a:t>
            </a:r>
          </a:p>
        </p:txBody>
      </p:sp>
      <p:sp>
        <p:nvSpPr>
          <p:cNvPr id="8" name="Rounded Rectangle 7"/>
          <p:cNvSpPr/>
          <p:nvPr/>
        </p:nvSpPr>
        <p:spPr>
          <a:xfrm>
            <a:off x="566928" y="2139696"/>
            <a:ext cx="11057839" cy="559816"/>
          </a:xfrm>
          <a:prstGeom prst="roundRect">
            <a:avLst>
              <a:gd name="adj" fmla="val 26134"/>
            </a:avLst>
          </a:prstGeom>
          <a:solidFill>
            <a:srgbClr val="FFFFFF"/>
          </a:solidFill>
          <a:ln w="12700">
            <a:solidFill>
              <a:srgbClr val="EAEA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Rounded Rectangle 8"/>
          <p:cNvSpPr/>
          <p:nvPr/>
        </p:nvSpPr>
        <p:spPr>
          <a:xfrm>
            <a:off x="841247" y="2236724"/>
            <a:ext cx="365760" cy="365760"/>
          </a:xfrm>
          <a:prstGeom prst="roundRect">
            <a:avLst>
              <a:gd name="adj" fmla="val 32500"/>
            </a:avLst>
          </a:prstGeom>
          <a:solidFill>
            <a:srgbClr val="FCE9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0" name="TextBox 9"/>
          <p:cNvSpPr txBox="1"/>
          <p:nvPr/>
        </p:nvSpPr>
        <p:spPr>
          <a:xfrm>
            <a:off x="841247" y="2300732"/>
            <a:ext cx="365760" cy="256032"/>
          </a:xfrm>
          <a:prstGeom prst="rect">
            <a:avLst/>
          </a:prstGeom>
          <a:noFill/>
        </p:spPr>
        <p:txBody>
          <a:bodyPr wrap="square" lIns="0" rIns="0" tIns="0" bIns="0" anchor="t">
            <a:spAutoFit/>
          </a:bodyPr>
          <a:lstStyle/>
          <a:p>
            <a:pPr algn="ctr">
              <a:lnSpc>
                <a:spcPct val="135000"/>
              </a:lnSpc>
            </a:pPr>
            <a:r>
              <a:rPr sz="1500" b="1" i="0">
                <a:solidFill>
                  <a:srgbClr val="A5335F"/>
                </a:solidFill>
                <a:latin typeface="Verdana"/>
              </a:rPr>
              <a:t>1</a:t>
            </a:r>
          </a:p>
        </p:txBody>
      </p:sp>
      <p:sp>
        <p:nvSpPr>
          <p:cNvPr id="11" name="TextBox 10"/>
          <p:cNvSpPr txBox="1"/>
          <p:nvPr/>
        </p:nvSpPr>
        <p:spPr>
          <a:xfrm>
            <a:off x="1344168" y="2295144"/>
            <a:ext cx="10097719" cy="285496"/>
          </a:xfrm>
          <a:prstGeom prst="rect">
            <a:avLst/>
          </a:prstGeom>
          <a:noFill/>
        </p:spPr>
        <p:txBody>
          <a:bodyPr wrap="square" lIns="0" rIns="0" tIns="0" bIns="0" anchor="t">
            <a:spAutoFit/>
          </a:bodyPr>
          <a:lstStyle/>
          <a:p>
            <a:pPr algn="l">
              <a:lnSpc>
                <a:spcPct val="140000"/>
              </a:lnSpc>
            </a:pPr>
            <a:r>
              <a:rPr sz="1400" b="0" i="0">
                <a:solidFill>
                  <a:srgbClr val="3A3D40"/>
                </a:solidFill>
                <a:latin typeface="Verdana"/>
              </a:rPr>
              <a:t>L'objet</a:t>
            </a:r>
          </a:p>
        </p:txBody>
      </p:sp>
      <p:sp>
        <p:nvSpPr>
          <p:cNvPr id="12" name="Rounded Rectangle 11"/>
          <p:cNvSpPr/>
          <p:nvPr/>
        </p:nvSpPr>
        <p:spPr>
          <a:xfrm>
            <a:off x="566928" y="2827528"/>
            <a:ext cx="11057839" cy="559816"/>
          </a:xfrm>
          <a:prstGeom prst="roundRect">
            <a:avLst>
              <a:gd name="adj" fmla="val 26134"/>
            </a:avLst>
          </a:prstGeom>
          <a:solidFill>
            <a:srgbClr val="FFFFFF"/>
          </a:solidFill>
          <a:ln w="12700">
            <a:solidFill>
              <a:srgbClr val="EAEA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3" name="Rounded Rectangle 12"/>
          <p:cNvSpPr/>
          <p:nvPr/>
        </p:nvSpPr>
        <p:spPr>
          <a:xfrm>
            <a:off x="841247" y="2924556"/>
            <a:ext cx="365760" cy="365760"/>
          </a:xfrm>
          <a:prstGeom prst="roundRect">
            <a:avLst>
              <a:gd name="adj" fmla="val 32500"/>
            </a:avLst>
          </a:prstGeom>
          <a:solidFill>
            <a:srgbClr val="FCE9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4" name="TextBox 13"/>
          <p:cNvSpPr txBox="1"/>
          <p:nvPr/>
        </p:nvSpPr>
        <p:spPr>
          <a:xfrm>
            <a:off x="841247" y="2988564"/>
            <a:ext cx="365760" cy="256032"/>
          </a:xfrm>
          <a:prstGeom prst="rect">
            <a:avLst/>
          </a:prstGeom>
          <a:noFill/>
        </p:spPr>
        <p:txBody>
          <a:bodyPr wrap="square" lIns="0" rIns="0" tIns="0" bIns="0" anchor="t">
            <a:spAutoFit/>
          </a:bodyPr>
          <a:lstStyle/>
          <a:p>
            <a:pPr algn="ctr">
              <a:lnSpc>
                <a:spcPct val="135000"/>
              </a:lnSpc>
            </a:pPr>
            <a:r>
              <a:rPr sz="1500" b="1" i="0">
                <a:solidFill>
                  <a:srgbClr val="A5335F"/>
                </a:solidFill>
                <a:latin typeface="Verdana"/>
              </a:rPr>
              <a:t>2</a:t>
            </a:r>
          </a:p>
        </p:txBody>
      </p:sp>
      <p:sp>
        <p:nvSpPr>
          <p:cNvPr id="15" name="TextBox 14"/>
          <p:cNvSpPr txBox="1"/>
          <p:nvPr/>
        </p:nvSpPr>
        <p:spPr>
          <a:xfrm>
            <a:off x="1344168" y="2982975"/>
            <a:ext cx="10097719" cy="285496"/>
          </a:xfrm>
          <a:prstGeom prst="rect">
            <a:avLst/>
          </a:prstGeom>
          <a:noFill/>
        </p:spPr>
        <p:txBody>
          <a:bodyPr wrap="square" lIns="0" rIns="0" tIns="0" bIns="0" anchor="t">
            <a:spAutoFit/>
          </a:bodyPr>
          <a:lstStyle/>
          <a:p>
            <a:pPr algn="l">
              <a:lnSpc>
                <a:spcPct val="140000"/>
              </a:lnSpc>
            </a:pPr>
            <a:r>
              <a:rPr sz="1400" b="0" i="0">
                <a:solidFill>
                  <a:srgbClr val="3A3D40"/>
                </a:solidFill>
                <a:latin typeface="Verdana"/>
              </a:rPr>
              <a:t>Paragraphe 1</a:t>
            </a:r>
          </a:p>
        </p:txBody>
      </p:sp>
      <p:sp>
        <p:nvSpPr>
          <p:cNvPr id="16" name="Rounded Rectangle 15"/>
          <p:cNvSpPr/>
          <p:nvPr/>
        </p:nvSpPr>
        <p:spPr>
          <a:xfrm>
            <a:off x="566928" y="3515359"/>
            <a:ext cx="11057839" cy="559816"/>
          </a:xfrm>
          <a:prstGeom prst="roundRect">
            <a:avLst>
              <a:gd name="adj" fmla="val 26134"/>
            </a:avLst>
          </a:prstGeom>
          <a:solidFill>
            <a:srgbClr val="FFFFFF"/>
          </a:solidFill>
          <a:ln w="12700">
            <a:solidFill>
              <a:srgbClr val="EAEA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7" name="Rounded Rectangle 16"/>
          <p:cNvSpPr/>
          <p:nvPr/>
        </p:nvSpPr>
        <p:spPr>
          <a:xfrm>
            <a:off x="841247" y="3612388"/>
            <a:ext cx="365760" cy="365760"/>
          </a:xfrm>
          <a:prstGeom prst="roundRect">
            <a:avLst>
              <a:gd name="adj" fmla="val 32500"/>
            </a:avLst>
          </a:prstGeom>
          <a:solidFill>
            <a:srgbClr val="FCE9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8" name="TextBox 17"/>
          <p:cNvSpPr txBox="1"/>
          <p:nvPr/>
        </p:nvSpPr>
        <p:spPr>
          <a:xfrm>
            <a:off x="841247" y="3676395"/>
            <a:ext cx="365760" cy="256032"/>
          </a:xfrm>
          <a:prstGeom prst="rect">
            <a:avLst/>
          </a:prstGeom>
          <a:noFill/>
        </p:spPr>
        <p:txBody>
          <a:bodyPr wrap="square" lIns="0" rIns="0" tIns="0" bIns="0" anchor="t">
            <a:spAutoFit/>
          </a:bodyPr>
          <a:lstStyle/>
          <a:p>
            <a:pPr algn="ctr">
              <a:lnSpc>
                <a:spcPct val="135000"/>
              </a:lnSpc>
            </a:pPr>
            <a:r>
              <a:rPr sz="1500" b="1" i="0">
                <a:solidFill>
                  <a:srgbClr val="A5335F"/>
                </a:solidFill>
                <a:latin typeface="Verdana"/>
              </a:rPr>
              <a:t>3</a:t>
            </a:r>
          </a:p>
        </p:txBody>
      </p:sp>
      <p:sp>
        <p:nvSpPr>
          <p:cNvPr id="19" name="TextBox 18"/>
          <p:cNvSpPr txBox="1"/>
          <p:nvPr/>
        </p:nvSpPr>
        <p:spPr>
          <a:xfrm>
            <a:off x="1344168" y="3670807"/>
            <a:ext cx="10097719" cy="285496"/>
          </a:xfrm>
          <a:prstGeom prst="rect">
            <a:avLst/>
          </a:prstGeom>
          <a:noFill/>
        </p:spPr>
        <p:txBody>
          <a:bodyPr wrap="square" lIns="0" rIns="0" tIns="0" bIns="0" anchor="t">
            <a:spAutoFit/>
          </a:bodyPr>
          <a:lstStyle/>
          <a:p>
            <a:pPr algn="l">
              <a:lnSpc>
                <a:spcPct val="140000"/>
              </a:lnSpc>
            </a:pPr>
            <a:r>
              <a:rPr sz="1400" b="0" i="0">
                <a:solidFill>
                  <a:srgbClr val="3A3D40"/>
                </a:solidFill>
                <a:latin typeface="Verdana"/>
              </a:rPr>
              <a:t>Paragraphe 2</a:t>
            </a:r>
          </a:p>
        </p:txBody>
      </p:sp>
      <p:sp>
        <p:nvSpPr>
          <p:cNvPr id="20" name="Rounded Rectangle 19"/>
          <p:cNvSpPr/>
          <p:nvPr/>
        </p:nvSpPr>
        <p:spPr>
          <a:xfrm>
            <a:off x="566928" y="4203192"/>
            <a:ext cx="11057839" cy="559816"/>
          </a:xfrm>
          <a:prstGeom prst="roundRect">
            <a:avLst>
              <a:gd name="adj" fmla="val 26134"/>
            </a:avLst>
          </a:prstGeom>
          <a:solidFill>
            <a:srgbClr val="FFFFFF"/>
          </a:solidFill>
          <a:ln w="12700">
            <a:solidFill>
              <a:srgbClr val="EAEA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1" name="Rounded Rectangle 20"/>
          <p:cNvSpPr/>
          <p:nvPr/>
        </p:nvSpPr>
        <p:spPr>
          <a:xfrm>
            <a:off x="841247" y="4300220"/>
            <a:ext cx="365760" cy="365760"/>
          </a:xfrm>
          <a:prstGeom prst="roundRect">
            <a:avLst>
              <a:gd name="adj" fmla="val 32500"/>
            </a:avLst>
          </a:prstGeom>
          <a:solidFill>
            <a:srgbClr val="FCE9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2" name="TextBox 21"/>
          <p:cNvSpPr txBox="1"/>
          <p:nvPr/>
        </p:nvSpPr>
        <p:spPr>
          <a:xfrm>
            <a:off x="841247" y="4364228"/>
            <a:ext cx="365760" cy="256032"/>
          </a:xfrm>
          <a:prstGeom prst="rect">
            <a:avLst/>
          </a:prstGeom>
          <a:noFill/>
        </p:spPr>
        <p:txBody>
          <a:bodyPr wrap="square" lIns="0" rIns="0" tIns="0" bIns="0" anchor="t">
            <a:spAutoFit/>
          </a:bodyPr>
          <a:lstStyle/>
          <a:p>
            <a:pPr algn="ctr">
              <a:lnSpc>
                <a:spcPct val="135000"/>
              </a:lnSpc>
            </a:pPr>
            <a:r>
              <a:rPr sz="1500" b="1" i="0">
                <a:solidFill>
                  <a:srgbClr val="A5335F"/>
                </a:solidFill>
                <a:latin typeface="Verdana"/>
              </a:rPr>
              <a:t>4</a:t>
            </a:r>
          </a:p>
        </p:txBody>
      </p:sp>
      <p:sp>
        <p:nvSpPr>
          <p:cNvPr id="23" name="TextBox 22"/>
          <p:cNvSpPr txBox="1"/>
          <p:nvPr/>
        </p:nvSpPr>
        <p:spPr>
          <a:xfrm>
            <a:off x="1344168" y="4358640"/>
            <a:ext cx="10097719" cy="285496"/>
          </a:xfrm>
          <a:prstGeom prst="rect">
            <a:avLst/>
          </a:prstGeom>
          <a:noFill/>
        </p:spPr>
        <p:txBody>
          <a:bodyPr wrap="square" lIns="0" rIns="0" tIns="0" bIns="0" anchor="t">
            <a:spAutoFit/>
          </a:bodyPr>
          <a:lstStyle/>
          <a:p>
            <a:pPr algn="l">
              <a:lnSpc>
                <a:spcPct val="140000"/>
              </a:lnSpc>
            </a:pPr>
            <a:r>
              <a:rPr sz="1400" b="0" i="0">
                <a:solidFill>
                  <a:srgbClr val="3A3D40"/>
                </a:solidFill>
                <a:latin typeface="Verdana"/>
              </a:rPr>
              <a:t>Paragraphe 3</a:t>
            </a:r>
          </a:p>
        </p:txBody>
      </p:sp>
      <p:sp>
        <p:nvSpPr>
          <p:cNvPr id="24" name="Rounded Rectangle 23"/>
          <p:cNvSpPr/>
          <p:nvPr/>
        </p:nvSpPr>
        <p:spPr>
          <a:xfrm>
            <a:off x="566928" y="4891023"/>
            <a:ext cx="11057839" cy="559816"/>
          </a:xfrm>
          <a:prstGeom prst="roundRect">
            <a:avLst>
              <a:gd name="adj" fmla="val 26134"/>
            </a:avLst>
          </a:prstGeom>
          <a:solidFill>
            <a:srgbClr val="FFFFFF"/>
          </a:solidFill>
          <a:ln w="12700">
            <a:solidFill>
              <a:srgbClr val="EAEA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5" name="Rounded Rectangle 24"/>
          <p:cNvSpPr/>
          <p:nvPr/>
        </p:nvSpPr>
        <p:spPr>
          <a:xfrm>
            <a:off x="841247" y="4988051"/>
            <a:ext cx="365760" cy="365760"/>
          </a:xfrm>
          <a:prstGeom prst="roundRect">
            <a:avLst>
              <a:gd name="adj" fmla="val 32500"/>
            </a:avLst>
          </a:prstGeom>
          <a:solidFill>
            <a:srgbClr val="FCE9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6" name="TextBox 25"/>
          <p:cNvSpPr txBox="1"/>
          <p:nvPr/>
        </p:nvSpPr>
        <p:spPr>
          <a:xfrm>
            <a:off x="841247" y="5052059"/>
            <a:ext cx="365760" cy="256032"/>
          </a:xfrm>
          <a:prstGeom prst="rect">
            <a:avLst/>
          </a:prstGeom>
          <a:noFill/>
        </p:spPr>
        <p:txBody>
          <a:bodyPr wrap="square" lIns="0" rIns="0" tIns="0" bIns="0" anchor="t">
            <a:spAutoFit/>
          </a:bodyPr>
          <a:lstStyle/>
          <a:p>
            <a:pPr algn="ctr">
              <a:lnSpc>
                <a:spcPct val="135000"/>
              </a:lnSpc>
            </a:pPr>
            <a:r>
              <a:rPr sz="1500" b="1" i="0">
                <a:solidFill>
                  <a:srgbClr val="A5335F"/>
                </a:solidFill>
                <a:latin typeface="Verdana"/>
              </a:rPr>
              <a:t>5</a:t>
            </a:r>
          </a:p>
        </p:txBody>
      </p:sp>
      <p:sp>
        <p:nvSpPr>
          <p:cNvPr id="27" name="TextBox 26"/>
          <p:cNvSpPr txBox="1"/>
          <p:nvPr/>
        </p:nvSpPr>
        <p:spPr>
          <a:xfrm>
            <a:off x="1344168" y="5046471"/>
            <a:ext cx="10097719" cy="285496"/>
          </a:xfrm>
          <a:prstGeom prst="rect">
            <a:avLst/>
          </a:prstGeom>
          <a:noFill/>
        </p:spPr>
        <p:txBody>
          <a:bodyPr wrap="square" lIns="0" rIns="0" tIns="0" bIns="0" anchor="t">
            <a:spAutoFit/>
          </a:bodyPr>
          <a:lstStyle/>
          <a:p>
            <a:pPr algn="l">
              <a:lnSpc>
                <a:spcPct val="140000"/>
              </a:lnSpc>
            </a:pPr>
            <a:r>
              <a:rPr sz="1400" b="0" i="0">
                <a:solidFill>
                  <a:srgbClr val="3A3D40"/>
                </a:solidFill>
                <a:latin typeface="Verdana"/>
              </a:rPr>
              <a:t>La liste des huit</a:t>
            </a:r>
          </a:p>
        </p:txBody>
      </p:sp>
      <p:sp>
        <p:nvSpPr>
          <p:cNvPr id="28" name="Rounded Rectangle 27"/>
          <p:cNvSpPr/>
          <p:nvPr/>
        </p:nvSpPr>
        <p:spPr>
          <a:xfrm>
            <a:off x="566928" y="5578856"/>
            <a:ext cx="11057839" cy="559816"/>
          </a:xfrm>
          <a:prstGeom prst="roundRect">
            <a:avLst>
              <a:gd name="adj" fmla="val 26134"/>
            </a:avLst>
          </a:prstGeom>
          <a:solidFill>
            <a:srgbClr val="FFFFFF"/>
          </a:solidFill>
          <a:ln w="12700">
            <a:solidFill>
              <a:srgbClr val="EAEA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9" name="Rounded Rectangle 28"/>
          <p:cNvSpPr/>
          <p:nvPr/>
        </p:nvSpPr>
        <p:spPr>
          <a:xfrm>
            <a:off x="841247" y="5675884"/>
            <a:ext cx="365760" cy="365760"/>
          </a:xfrm>
          <a:prstGeom prst="roundRect">
            <a:avLst>
              <a:gd name="adj" fmla="val 32500"/>
            </a:avLst>
          </a:prstGeom>
          <a:solidFill>
            <a:srgbClr val="FCE9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0" name="TextBox 29"/>
          <p:cNvSpPr txBox="1"/>
          <p:nvPr/>
        </p:nvSpPr>
        <p:spPr>
          <a:xfrm>
            <a:off x="841247" y="5739892"/>
            <a:ext cx="365760" cy="256032"/>
          </a:xfrm>
          <a:prstGeom prst="rect">
            <a:avLst/>
          </a:prstGeom>
          <a:noFill/>
        </p:spPr>
        <p:txBody>
          <a:bodyPr wrap="square" lIns="0" rIns="0" tIns="0" bIns="0" anchor="t">
            <a:spAutoFit/>
          </a:bodyPr>
          <a:lstStyle/>
          <a:p>
            <a:pPr algn="ctr">
              <a:lnSpc>
                <a:spcPct val="135000"/>
              </a:lnSpc>
            </a:pPr>
            <a:r>
              <a:rPr sz="1500" b="1" i="0">
                <a:solidFill>
                  <a:srgbClr val="A5335F"/>
                </a:solidFill>
                <a:latin typeface="Verdana"/>
              </a:rPr>
              <a:t>6</a:t>
            </a:r>
          </a:p>
        </p:txBody>
      </p:sp>
      <p:sp>
        <p:nvSpPr>
          <p:cNvPr id="31" name="TextBox 30"/>
          <p:cNvSpPr txBox="1"/>
          <p:nvPr/>
        </p:nvSpPr>
        <p:spPr>
          <a:xfrm>
            <a:off x="1344168" y="5734304"/>
            <a:ext cx="10097719" cy="285496"/>
          </a:xfrm>
          <a:prstGeom prst="rect">
            <a:avLst/>
          </a:prstGeom>
          <a:noFill/>
        </p:spPr>
        <p:txBody>
          <a:bodyPr wrap="square" lIns="0" rIns="0" tIns="0" bIns="0" anchor="t">
            <a:spAutoFit/>
          </a:bodyPr>
          <a:lstStyle/>
          <a:p>
            <a:pPr algn="l">
              <a:lnSpc>
                <a:spcPct val="140000"/>
              </a:lnSpc>
            </a:pPr>
            <a:r>
              <a:rPr sz="1400" b="0" i="0">
                <a:solidFill>
                  <a:srgbClr val="3A3D40"/>
                </a:solidFill>
                <a:latin typeface="Verdana"/>
              </a:rPr>
              <a:t>Avant d'envoyer</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7F7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TextBox 2"/>
          <p:cNvSpPr txBox="1"/>
          <p:nvPr/>
        </p:nvSpPr>
        <p:spPr>
          <a:xfrm>
            <a:off x="566928" y="6355080"/>
            <a:ext cx="6400800" cy="219456"/>
          </a:xfrm>
          <a:prstGeom prst="rect">
            <a:avLst/>
          </a:prstGeom>
          <a:noFill/>
        </p:spPr>
        <p:txBody>
          <a:bodyPr wrap="square" lIns="0" rIns="0" tIns="0" bIns="0" anchor="t">
            <a:spAutoFit/>
          </a:bodyPr>
          <a:lstStyle/>
          <a:p>
            <a:pPr algn="l">
              <a:lnSpc>
                <a:spcPct val="135000"/>
              </a:lnSpc>
            </a:pPr>
            <a:r>
              <a:rPr sz="1200" b="0" i="0">
                <a:solidFill>
                  <a:srgbClr val="6E7175"/>
                </a:solidFill>
                <a:latin typeface="Verdana"/>
              </a:rPr>
              <a:t>E2 · Suivre un sujet dans les médias</a:t>
            </a:r>
          </a:p>
        </p:txBody>
      </p:sp>
      <p:sp>
        <p:nvSpPr>
          <p:cNvPr id="4" name="TextBox 3"/>
          <p:cNvSpPr txBox="1"/>
          <p:nvPr/>
        </p:nvSpPr>
        <p:spPr>
          <a:xfrm>
            <a:off x="10710367" y="6355080"/>
            <a:ext cx="914400" cy="219456"/>
          </a:xfrm>
          <a:prstGeom prst="rect">
            <a:avLst/>
          </a:prstGeom>
          <a:noFill/>
        </p:spPr>
        <p:txBody>
          <a:bodyPr wrap="square" lIns="0" rIns="0" tIns="0" bIns="0" anchor="t">
            <a:spAutoFit/>
          </a:bodyPr>
          <a:lstStyle/>
          <a:p>
            <a:pPr algn="r">
              <a:lnSpc>
                <a:spcPct val="135000"/>
              </a:lnSpc>
            </a:pPr>
            <a:r>
              <a:rPr sz="1200" b="0" i="0">
                <a:solidFill>
                  <a:srgbClr val="6E7175"/>
                </a:solidFill>
                <a:latin typeface="Verdana"/>
              </a:rPr>
              <a:t>10</a:t>
            </a:r>
          </a:p>
        </p:txBody>
      </p:sp>
      <p:sp>
        <p:nvSpPr>
          <p:cNvPr id="5" name="Rectangle 4"/>
          <p:cNvSpPr/>
          <p:nvPr/>
        </p:nvSpPr>
        <p:spPr>
          <a:xfrm>
            <a:off x="0" y="0"/>
            <a:ext cx="12191695" cy="6858000"/>
          </a:xfrm>
          <a:prstGeom prst="rect">
            <a:avLst/>
          </a:prstGeom>
          <a:solidFill>
            <a:srgbClr val="17181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6" name="TextBox 5"/>
          <p:cNvSpPr txBox="1"/>
          <p:nvPr/>
        </p:nvSpPr>
        <p:spPr>
          <a:xfrm>
            <a:off x="566928" y="1051560"/>
            <a:ext cx="11057839" cy="274320"/>
          </a:xfrm>
          <a:prstGeom prst="rect">
            <a:avLst/>
          </a:prstGeom>
          <a:noFill/>
        </p:spPr>
        <p:txBody>
          <a:bodyPr wrap="square" lIns="0" rIns="0" tIns="0" bIns="0" anchor="t">
            <a:spAutoFit/>
          </a:bodyPr>
          <a:lstStyle/>
          <a:p>
            <a:pPr algn="l">
              <a:lnSpc>
                <a:spcPct val="135000"/>
              </a:lnSpc>
            </a:pPr>
            <a:r>
              <a:rPr sz="1300" b="1" i="0" spc="156">
                <a:solidFill>
                  <a:srgbClr val="FFFFFF"/>
                </a:solidFill>
                <a:latin typeface="Verdana"/>
              </a:rPr>
              <a:t>BILLET DE SORTIE</a:t>
            </a:r>
          </a:p>
        </p:txBody>
      </p:sp>
      <p:sp>
        <p:nvSpPr>
          <p:cNvPr id="7" name="TextBox 6"/>
          <p:cNvSpPr txBox="1"/>
          <p:nvPr/>
        </p:nvSpPr>
        <p:spPr>
          <a:xfrm>
            <a:off x="566928" y="1572768"/>
            <a:ext cx="9777679" cy="2103120"/>
          </a:xfrm>
          <a:prstGeom prst="rect">
            <a:avLst/>
          </a:prstGeom>
          <a:noFill/>
        </p:spPr>
        <p:txBody>
          <a:bodyPr wrap="square" lIns="0" rIns="0" tIns="0" bIns="0" anchor="t">
            <a:spAutoFit/>
          </a:bodyPr>
          <a:lstStyle/>
          <a:p>
            <a:pPr algn="l">
              <a:lnSpc>
                <a:spcPct val="125000"/>
              </a:lnSpc>
            </a:pPr>
            <a:r>
              <a:rPr sz="3400" b="1" i="0">
                <a:solidFill>
                  <a:srgbClr val="FFFFFF"/>
                </a:solidFill>
                <a:latin typeface="Verdana"/>
              </a:rPr>
              <a:t>Qu'est-ce que tu sauras faire lundi que tu ne savais pas faire il y a quatre semaines ?</a:t>
            </a:r>
          </a:p>
        </p:txBody>
      </p:sp>
      <p:sp>
        <p:nvSpPr>
          <p:cNvPr id="8" name="Rounded Rectangle 7"/>
          <p:cNvSpPr/>
          <p:nvPr/>
        </p:nvSpPr>
        <p:spPr>
          <a:xfrm>
            <a:off x="566928" y="3931920"/>
            <a:ext cx="11057839" cy="666496"/>
          </a:xfrm>
          <a:prstGeom prst="roundRect">
            <a:avLst>
              <a:gd name="adj" fmla="val 13719"/>
            </a:avLst>
          </a:prstGeom>
          <a:solidFill>
            <a:srgbClr val="2A2C2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TextBox 8"/>
          <p:cNvSpPr txBox="1"/>
          <p:nvPr/>
        </p:nvSpPr>
        <p:spPr>
          <a:xfrm>
            <a:off x="932688" y="4087368"/>
            <a:ext cx="10051999" cy="392176"/>
          </a:xfrm>
          <a:prstGeom prst="rect">
            <a:avLst/>
          </a:prstGeom>
          <a:noFill/>
        </p:spPr>
        <p:txBody>
          <a:bodyPr wrap="square" lIns="0" rIns="0" tIns="0" bIns="0" anchor="t">
            <a:spAutoFit/>
          </a:bodyPr>
          <a:lstStyle/>
          <a:p>
            <a:pPr algn="l">
              <a:lnSpc>
                <a:spcPct val="140000"/>
              </a:lnSpc>
            </a:pPr>
            <a:r>
              <a:rPr sz="2000" b="0" i="0">
                <a:solidFill>
                  <a:srgbClr val="FFFFFF"/>
                </a:solidFill>
                <a:latin typeface="Verdana"/>
              </a:rPr>
              <a:t>Une phrase, la tienne.</a:t>
            </a:r>
          </a:p>
        </p:txBody>
      </p:sp>
      <p:sp>
        <p:nvSpPr>
          <p:cNvPr id="10" name="Rounded Rectangle 9"/>
          <p:cNvSpPr/>
          <p:nvPr/>
        </p:nvSpPr>
        <p:spPr>
          <a:xfrm>
            <a:off x="566928" y="4680712"/>
            <a:ext cx="11057839" cy="666496"/>
          </a:xfrm>
          <a:prstGeom prst="roundRect">
            <a:avLst>
              <a:gd name="adj" fmla="val 13719"/>
            </a:avLst>
          </a:prstGeom>
          <a:solidFill>
            <a:srgbClr val="2A2C2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1" name="TextBox 10"/>
          <p:cNvSpPr txBox="1"/>
          <p:nvPr/>
        </p:nvSpPr>
        <p:spPr>
          <a:xfrm>
            <a:off x="932688" y="4836160"/>
            <a:ext cx="10051999" cy="392176"/>
          </a:xfrm>
          <a:prstGeom prst="rect">
            <a:avLst/>
          </a:prstGeom>
          <a:noFill/>
        </p:spPr>
        <p:txBody>
          <a:bodyPr wrap="square" lIns="0" rIns="0" tIns="0" bIns="0" anchor="t">
            <a:spAutoFit/>
          </a:bodyPr>
          <a:lstStyle/>
          <a:p>
            <a:pPr algn="l">
              <a:lnSpc>
                <a:spcPct val="140000"/>
              </a:lnSpc>
            </a:pPr>
            <a:r>
              <a:rPr sz="2000" b="0" i="0">
                <a:solidFill>
                  <a:srgbClr val="FFFFFF"/>
                </a:solidFill>
                <a:latin typeface="Verdana"/>
              </a:rPr>
              <a:t>Pense au prochain appareil qui brisera chez toi.</a:t>
            </a:r>
          </a:p>
        </p:txBody>
      </p:sp>
      <p:sp>
        <p:nvSpPr>
          <p:cNvPr id="12" name="TextBox 11"/>
          <p:cNvSpPr txBox="1"/>
          <p:nvPr/>
        </p:nvSpPr>
        <p:spPr>
          <a:xfrm>
            <a:off x="566928" y="6355080"/>
            <a:ext cx="6400800" cy="219456"/>
          </a:xfrm>
          <a:prstGeom prst="rect">
            <a:avLst/>
          </a:prstGeom>
          <a:noFill/>
        </p:spPr>
        <p:txBody>
          <a:bodyPr wrap="square" lIns="0" rIns="0" tIns="0" bIns="0" anchor="t">
            <a:spAutoFit/>
          </a:bodyPr>
          <a:lstStyle/>
          <a:p>
            <a:pPr algn="l">
              <a:lnSpc>
                <a:spcPct val="135000"/>
              </a:lnSpc>
            </a:pPr>
            <a:r>
              <a:rPr sz="1200" b="0" i="0">
                <a:solidFill>
                  <a:srgbClr val="6E7175"/>
                </a:solidFill>
                <a:latin typeface="Verdana"/>
              </a:rPr>
              <a:t>E2 · Suivre un sujet dans les médias</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