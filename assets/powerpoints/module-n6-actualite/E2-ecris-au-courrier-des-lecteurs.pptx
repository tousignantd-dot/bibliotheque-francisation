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Reprendre en cinq minutes les objections restées sans réponse en E1, puis entrer dans la rédaction. Rendre les premières phrases corrigées du billet de D2.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l'attente de fin de cours du niveau 6, mot pour mot : rédiger un courriel pour informer son destinataire du contenu d'un article d'intérêt général, en organisant ses idées à l'aide de paragraphes.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piste a une seule bonne réponse, et le groupe la connaît depuis D1 : l'information d'abord. La quatrième est nouvelle : un courriel formel se termine sur une demande ou une proposition.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Écrire le plan au tableau et l'y laisser pendant toute la rédaction. C'est aussi le plan de la lettre de madame Berthiaume, en D1 : le faire remarquer.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huit exigences sont affichées dans l'activité, sous la zone de rédaction. L'assistant les vérifie une à une et donne une rétroaction immédiate ; elle n'est pas conservée.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savoir de grammaire du texte du niveau 6 : découper, disposer, formuler et présenter le contenu d'un courriel formel.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proposer trois objets au tableau et voter. L'exercice prend cinq minutes et améliore tous les courriels du groupe.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Révision par les cartes mémoire dans l'activité, puis autoévaluation. Seize énoncés à évaluer : pas encore, un peu, oui.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Rédaction dans l'activité, avec vérification par l'assistant, puis envoi à l'enseignante. Les élèves rapides peuvent lire le courriel d'un camarade et lui dire laquelle des huit exigences manque.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Dernier billet du module. Le lire à voix haute en groupe si l'ambiance s'y prête. Rappeler que le premier geste, la prochaine fois, tient en trois mots : garder la facture.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Écris au courrier des lecteurs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 tu passes de lecteur à auteur. Un courriel de huit à douze phrases au Courrier de la Batture - ce que la chronique disait, puis ce que tu en penses, et jamais l'inverse.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un sujet dans les médias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formel de huit à douze phrases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organiser le texte en deux ou trois paragraphes, un par idée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séparer ce que la chronique disait de ce qu'on en pense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évaluer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000" b="1" i="0">
                <a:solidFill>
                  <a:srgbClr val="17181A"/>
                </a:solidFill>
                <a:latin typeface="Verdana"/>
              </a:rPr>
              <a:t>Le Courrier de la Batture publie les lettres signées</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va te lire ? Des voisins, pas des spécialistes.</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 quoi commences-tu : l'information ou ton avis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montres-tu que tu as bien compris la chronique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tu demandes, à la fin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plan en trois paragraphes</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PARAGRAPHE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MET</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1. Ce que la chronique disait</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étapes dans l'ordre, avec au moins un chiffre</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2. Ce que j'en pense</a:t>
            </a:r>
          </a:p>
        </p:txBody>
      </p:sp>
      <p:sp>
        <p:nvSpPr>
          <p:cNvPr id="14" name="TextBox 13"/>
          <p:cNvSpPr txBox="1"/>
          <p:nvPr/>
        </p:nvSpPr>
        <p:spPr>
          <a:xfrm>
            <a:off x="4443636" y="3236976"/>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connecteur de point de vue, et une raison</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3. Ce que je demande</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proposition, ou une question au journal</a:t>
            </a:r>
          </a:p>
        </p:txBody>
      </p:sp>
      <p:sp>
        <p:nvSpPr>
          <p:cNvPr id="18" name="Rounded Rectangle 17"/>
          <p:cNvSpPr/>
          <p:nvPr/>
        </p:nvSpPr>
        <p:spPr>
          <a:xfrm>
            <a:off x="566928" y="4608576"/>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864608"/>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Huit à douze phrases en tout. Une formule d'appel au début, une salutation à la fin.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HUIT EXIGENCES DU COURRIEL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cocher avant d'envoyer</a:t>
            </a:r>
          </a:p>
        </p:txBody>
      </p:sp>
      <p:sp>
        <p:nvSpPr>
          <p:cNvPr id="7" name="Rounded Rectangle 6"/>
          <p:cNvSpPr/>
          <p:nvPr/>
        </p:nvSpPr>
        <p:spPr>
          <a:xfrm>
            <a:off x="566928" y="1810512"/>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Une formule d'appel et une salutation</a:t>
            </a:r>
          </a:p>
        </p:txBody>
      </p:sp>
      <p:sp>
        <p:nvSpPr>
          <p:cNvPr id="9" name="TextBox 8"/>
          <p:cNvSpPr txBox="1"/>
          <p:nvPr/>
        </p:nvSpPr>
        <p:spPr>
          <a:xfrm>
            <a:off x="886968" y="2349500"/>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 Monsieur le rédacteur en chef, » au début, une salutation à la fin.</a:t>
            </a:r>
          </a:p>
        </p:txBody>
      </p:sp>
      <p:sp>
        <p:nvSpPr>
          <p:cNvPr id="10" name="Rounded Rectangle 9"/>
          <p:cNvSpPr/>
          <p:nvPr/>
        </p:nvSpPr>
        <p:spPr>
          <a:xfrm>
            <a:off x="6178143" y="1810512"/>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Deux ou trois paragraphes séparés</a:t>
            </a:r>
          </a:p>
        </p:txBody>
      </p:sp>
      <p:sp>
        <p:nvSpPr>
          <p:cNvPr id="12" name="TextBox 11"/>
          <p:cNvSpPr txBox="1"/>
          <p:nvPr/>
        </p:nvSpPr>
        <p:spPr>
          <a:xfrm>
            <a:off x="6498183" y="2349500"/>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un par idée principale, pas un bloc de douze phrases.</a:t>
            </a:r>
          </a:p>
        </p:txBody>
      </p:sp>
      <p:sp>
        <p:nvSpPr>
          <p:cNvPr id="13" name="Rounded Rectangle 12"/>
          <p:cNvSpPr/>
          <p:nvPr/>
        </p:nvSpPr>
        <p:spPr>
          <a:xfrm>
            <a:off x="566928" y="2919222"/>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3193541"/>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Les étapes dans l'ordre, avec un chiffre</a:t>
            </a:r>
          </a:p>
        </p:txBody>
      </p:sp>
      <p:sp>
        <p:nvSpPr>
          <p:cNvPr id="15" name="TextBox 14"/>
          <p:cNvSpPr txBox="1"/>
          <p:nvPr/>
        </p:nvSpPr>
        <p:spPr>
          <a:xfrm>
            <a:off x="886968" y="3458209"/>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dix jours, trois ans, 780 dollars, quinze mille.</a:t>
            </a:r>
          </a:p>
        </p:txBody>
      </p:sp>
      <p:sp>
        <p:nvSpPr>
          <p:cNvPr id="16" name="Rounded Rectangle 15"/>
          <p:cNvSpPr/>
          <p:nvPr/>
        </p:nvSpPr>
        <p:spPr>
          <a:xfrm>
            <a:off x="6178143" y="2919222"/>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3193541"/>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Un connecteur d'exemplification</a:t>
            </a:r>
          </a:p>
        </p:txBody>
      </p:sp>
      <p:sp>
        <p:nvSpPr>
          <p:cNvPr id="18" name="TextBox 17"/>
          <p:cNvSpPr txBox="1"/>
          <p:nvPr/>
        </p:nvSpPr>
        <p:spPr>
          <a:xfrm>
            <a:off x="6498183" y="3458209"/>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par exemple, notamment, ainsi.</a:t>
            </a:r>
          </a:p>
        </p:txBody>
      </p:sp>
      <p:sp>
        <p:nvSpPr>
          <p:cNvPr id="19" name="Rounded Rectangle 18"/>
          <p:cNvSpPr/>
          <p:nvPr/>
        </p:nvSpPr>
        <p:spPr>
          <a:xfrm>
            <a:off x="566928" y="4027931"/>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4302251"/>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Une hypothèse en « si »</a:t>
            </a:r>
          </a:p>
        </p:txBody>
      </p:sp>
      <p:sp>
        <p:nvSpPr>
          <p:cNvPr id="21" name="TextBox 20"/>
          <p:cNvSpPr txBox="1"/>
          <p:nvPr/>
        </p:nvSpPr>
        <p:spPr>
          <a:xfrm>
            <a:off x="886968" y="4566920"/>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et jamais de futur après le « si ».</a:t>
            </a:r>
          </a:p>
        </p:txBody>
      </p:sp>
      <p:sp>
        <p:nvSpPr>
          <p:cNvPr id="22" name="Rounded Rectangle 21"/>
          <p:cNvSpPr/>
          <p:nvPr/>
        </p:nvSpPr>
        <p:spPr>
          <a:xfrm>
            <a:off x="6178143" y="4027931"/>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98183" y="4302251"/>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Un connecteur de point de vue</a:t>
            </a:r>
          </a:p>
        </p:txBody>
      </p:sp>
      <p:sp>
        <p:nvSpPr>
          <p:cNvPr id="24" name="TextBox 23"/>
          <p:cNvSpPr txBox="1"/>
          <p:nvPr/>
        </p:nvSpPr>
        <p:spPr>
          <a:xfrm>
            <a:off x="6498183" y="4566920"/>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à mon avis, pour ma part, selon moi.</a:t>
            </a:r>
          </a:p>
        </p:txBody>
      </p:sp>
      <p:sp>
        <p:nvSpPr>
          <p:cNvPr id="25" name="Rounded Rectangle 24"/>
          <p:cNvSpPr/>
          <p:nvPr/>
        </p:nvSpPr>
        <p:spPr>
          <a:xfrm>
            <a:off x="566928" y="5136642"/>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6968" y="5410962"/>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Une reprise sans répétition</a:t>
            </a:r>
          </a:p>
        </p:txBody>
      </p:sp>
      <p:sp>
        <p:nvSpPr>
          <p:cNvPr id="27" name="TextBox 26"/>
          <p:cNvSpPr txBox="1"/>
          <p:nvPr/>
        </p:nvSpPr>
        <p:spPr>
          <a:xfrm>
            <a:off x="886968" y="5675630"/>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cette machine, ce refus, cet incendie.</a:t>
            </a:r>
          </a:p>
        </p:txBody>
      </p:sp>
      <p:sp>
        <p:nvSpPr>
          <p:cNvPr id="28" name="Rounded Rectangle 27"/>
          <p:cNvSpPr/>
          <p:nvPr/>
        </p:nvSpPr>
        <p:spPr>
          <a:xfrm>
            <a:off x="6178143" y="5136642"/>
            <a:ext cx="5446623" cy="944118"/>
          </a:xfrm>
          <a:prstGeom prst="roundRect">
            <a:avLst>
              <a:gd name="adj" fmla="val 15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98183" y="5410962"/>
            <a:ext cx="4806543" cy="237236"/>
          </a:xfrm>
          <a:prstGeom prst="rect">
            <a:avLst/>
          </a:prstGeom>
          <a:noFill/>
        </p:spPr>
        <p:txBody>
          <a:bodyPr wrap="square" lIns="0" rIns="0" tIns="0" bIns="0" anchor="t">
            <a:spAutoFit/>
          </a:bodyPr>
          <a:lstStyle/>
          <a:p>
            <a:pPr algn="l">
              <a:lnSpc>
                <a:spcPct val="118000"/>
              </a:lnSpc>
            </a:pPr>
            <a:r>
              <a:rPr sz="1400" b="1" i="0">
                <a:solidFill>
                  <a:srgbClr val="A5335F"/>
                </a:solidFill>
                <a:latin typeface="Verdana"/>
              </a:rPr>
              <a:t>Un « il faut que » et un subjonctif</a:t>
            </a:r>
          </a:p>
        </p:txBody>
      </p:sp>
      <p:sp>
        <p:nvSpPr>
          <p:cNvPr id="30" name="TextBox 29"/>
          <p:cNvSpPr txBox="1"/>
          <p:nvPr/>
        </p:nvSpPr>
        <p:spPr>
          <a:xfrm>
            <a:off x="6498183" y="5675630"/>
            <a:ext cx="4806543" cy="13080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il faut que les pièces existent.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SÉPARER, C'EST SE FAIRE PUBLIER</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lettre qui mêle l'information et l'avis se lit comme une plainte.</a:t>
            </a:r>
          </a:p>
        </p:txBody>
      </p:sp>
      <p:sp>
        <p:nvSpPr>
          <p:cNvPr id="8" name="Rounded Rectangle 7"/>
          <p:cNvSpPr/>
          <p:nvPr/>
        </p:nvSpPr>
        <p:spPr>
          <a:xfrm>
            <a:off x="566928" y="3467607"/>
            <a:ext cx="11057839" cy="2408428"/>
          </a:xfrm>
          <a:prstGeom prst="roundRect">
            <a:avLst>
              <a:gd name="adj" fmla="val 60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9512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lettre qui les sépare se lit comme un point de vue - et c'est celle-là que le journal publie. Le lecteur doit pouvoir s'arrêter après ton premier paragraphe en ayant appris quelque chose, même s'il n'est pas d'accord avec la suite. C'est le conseil que Raphaël donne à Nadège, et c'est aussi ce qui distingue les deux lettres de la page du courrier.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 OBJET QUI JUGE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Scandale des garanties : les consommateurs abandonnés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Garantie légale : ce que la chronique du 12 août rappelait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L'objet d'un courriel annonce de quoi on parle, pas ce qu'on en pense. Un objet qui juge fait fuir exactement les lecteurs qu'on voulait convaincre, et il affaiblit le texte : celui qui a besoin d'un titre fort a souvent des arguments faibles.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du module, une dernière fois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chronique pratique</a:t>
            </a:r>
          </a:p>
        </p:txBody>
      </p:sp>
      <p:sp>
        <p:nvSpPr>
          <p:cNvPr id="9" name="TextBox 8"/>
          <p:cNvSpPr txBox="1"/>
          <p:nvPr/>
        </p:nvSpPr>
        <p:spPr>
          <a:xfrm>
            <a:off x="4571333" y="2121408"/>
            <a:ext cx="668767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Elle t'apprend quoi faire, étape par étape.</a:t>
            </a:r>
          </a:p>
        </p:txBody>
      </p:sp>
      <p:sp>
        <p:nvSpPr>
          <p:cNvPr id="10" name="Rectangle 9"/>
          <p:cNvSpPr/>
          <p:nvPr/>
        </p:nvSpPr>
        <p:spPr>
          <a:xfrm>
            <a:off x="932688" y="2467737"/>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14041"/>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courrier des lecteurs</a:t>
            </a:r>
          </a:p>
        </p:txBody>
      </p:sp>
      <p:sp>
        <p:nvSpPr>
          <p:cNvPr id="12" name="TextBox 11"/>
          <p:cNvSpPr txBox="1"/>
          <p:nvPr/>
        </p:nvSpPr>
        <p:spPr>
          <a:xfrm>
            <a:off x="4571333" y="2614041"/>
            <a:ext cx="668767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Des lettres signées par des gens ordinaires.</a:t>
            </a:r>
          </a:p>
        </p:txBody>
      </p:sp>
      <p:sp>
        <p:nvSpPr>
          <p:cNvPr id="13" name="Rectangle 12"/>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106674"/>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garantie légale</a:t>
            </a:r>
          </a:p>
        </p:txBody>
      </p:sp>
      <p:sp>
        <p:nvSpPr>
          <p:cNvPr id="15" name="TextBox 14"/>
          <p:cNvSpPr txBox="1"/>
          <p:nvPr/>
        </p:nvSpPr>
        <p:spPr>
          <a:xfrm>
            <a:off x="4571333" y="3106674"/>
            <a:ext cx="668767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Elle existe même quand celle du fabricant est finie.</a:t>
            </a:r>
          </a:p>
        </p:txBody>
      </p:sp>
      <p:sp>
        <p:nvSpPr>
          <p:cNvPr id="16" name="Rectangle 15"/>
          <p:cNvSpPr/>
          <p:nvPr/>
        </p:nvSpPr>
        <p:spPr>
          <a:xfrm>
            <a:off x="932688" y="34530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599307"/>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durée raisonnable</a:t>
            </a:r>
          </a:p>
        </p:txBody>
      </p:sp>
      <p:sp>
        <p:nvSpPr>
          <p:cNvPr id="18" name="TextBox 17"/>
          <p:cNvSpPr txBox="1"/>
          <p:nvPr/>
        </p:nvSpPr>
        <p:spPr>
          <a:xfrm>
            <a:off x="4571333" y="3599307"/>
            <a:ext cx="668767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Elle dépend du prix payé, du contrat et de l'usage.</a:t>
            </a:r>
          </a:p>
        </p:txBody>
      </p:sp>
      <p:sp>
        <p:nvSpPr>
          <p:cNvPr id="19" name="Rectangle 18"/>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091939"/>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mise en demeure</a:t>
            </a:r>
          </a:p>
        </p:txBody>
      </p:sp>
      <p:sp>
        <p:nvSpPr>
          <p:cNvPr id="21" name="TextBox 20"/>
          <p:cNvSpPr txBox="1"/>
          <p:nvPr/>
        </p:nvSpPr>
        <p:spPr>
          <a:xfrm>
            <a:off x="4571333" y="4091939"/>
            <a:ext cx="668767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Les faits, la demande, un délai. Une page suffit.</a:t>
            </a:r>
          </a:p>
        </p:txBody>
      </p:sp>
      <p:sp>
        <p:nvSpPr>
          <p:cNvPr id="22" name="Rectangle 21"/>
          <p:cNvSpPr/>
          <p:nvPr/>
        </p:nvSpPr>
        <p:spPr>
          <a:xfrm>
            <a:off x="932688" y="443826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584573"/>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recours</a:t>
            </a:r>
          </a:p>
        </p:txBody>
      </p:sp>
      <p:sp>
        <p:nvSpPr>
          <p:cNvPr id="24" name="TextBox 23"/>
          <p:cNvSpPr txBox="1"/>
          <p:nvPr/>
        </p:nvSpPr>
        <p:spPr>
          <a:xfrm>
            <a:off x="4571333" y="4584573"/>
            <a:ext cx="6687673" cy="273176"/>
          </a:xfrm>
          <a:prstGeom prst="rect">
            <a:avLst/>
          </a:prstGeom>
          <a:noFill/>
        </p:spPr>
        <p:txBody>
          <a:bodyPr wrap="square" lIns="0" rIns="0" tIns="0" bIns="0" anchor="t">
            <a:spAutoFit/>
          </a:bodyPr>
          <a:lstStyle/>
          <a:p>
            <a:pPr algn="l">
              <a:lnSpc>
                <a:spcPct val="135000"/>
              </a:lnSpc>
            </a:pPr>
            <a:r>
              <a:rPr sz="1600" b="0" i="0">
                <a:solidFill>
                  <a:srgbClr val="4B4F52"/>
                </a:solidFill>
                <a:latin typeface="Verdana"/>
              </a:rPr>
              <a:t>Le moyen prévu par la loi quand on n'obtient rien autrement.</a:t>
            </a:r>
          </a:p>
        </p:txBody>
      </p:sp>
      <p:sp>
        <p:nvSpPr>
          <p:cNvPr id="25" name="Rectangle 24"/>
          <p:cNvSpPr/>
          <p:nvPr/>
        </p:nvSpPr>
        <p:spPr>
          <a:xfrm>
            <a:off x="932688" y="49309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5077206"/>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organisme public</a:t>
            </a:r>
          </a:p>
        </p:txBody>
      </p:sp>
      <p:sp>
        <p:nvSpPr>
          <p:cNvPr id="27" name="TextBox 26"/>
          <p:cNvSpPr txBox="1"/>
          <p:nvPr/>
        </p:nvSpPr>
        <p:spPr>
          <a:xfrm>
            <a:off x="4571333" y="5077206"/>
            <a:ext cx="6687673"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L'Office : on appelle, ça ne coûte rien.</a:t>
            </a:r>
          </a:p>
        </p:txBody>
      </p:sp>
      <p:sp>
        <p:nvSpPr>
          <p:cNvPr id="28" name="Rectangle 27"/>
          <p:cNvSpPr/>
          <p:nvPr/>
        </p:nvSpPr>
        <p:spPr>
          <a:xfrm>
            <a:off x="932688" y="54235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2688" y="5569839"/>
            <a:ext cx="3364325"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point de vue</a:t>
            </a:r>
          </a:p>
        </p:txBody>
      </p:sp>
      <p:sp>
        <p:nvSpPr>
          <p:cNvPr id="30" name="TextBox 29"/>
          <p:cNvSpPr txBox="1"/>
          <p:nvPr/>
        </p:nvSpPr>
        <p:spPr>
          <a:xfrm>
            <a:off x="4571333" y="5569839"/>
            <a:ext cx="6687673" cy="273176"/>
          </a:xfrm>
          <a:prstGeom prst="rect">
            <a:avLst/>
          </a:prstGeom>
          <a:noFill/>
        </p:spPr>
        <p:txBody>
          <a:bodyPr wrap="square" lIns="0" rIns="0" tIns="0" bIns="0" anchor="t">
            <a:spAutoFit/>
          </a:bodyPr>
          <a:lstStyle/>
          <a:p>
            <a:pPr algn="l">
              <a:lnSpc>
                <a:spcPct val="135000"/>
              </a:lnSpc>
            </a:pPr>
            <a:r>
              <a:rPr sz="1500" b="0" i="0">
                <a:solidFill>
                  <a:srgbClr val="4B4F52"/>
                </a:solidFill>
                <a:latin typeface="Verdana"/>
              </a:rPr>
              <a:t>Ce qu'une personne pense, et qu'une autre peut voir autrement.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PRODUCTION ÉCRITE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Ton courriel, huit à douze phrases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À : courrier@lecourrierdelabatture.example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Paragraphe 1</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Paragraphe 2</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Paragraphe 3</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liste des huit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Avant d'envoyer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tu sauras faire lundi que tu ne savais pas faire il y a quatre semaines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la tienne.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 au prochain appareil qui brisera chez toi.</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Suivre un sujet dans les médias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