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pur. Beaucoup d'élèves connaissent le phénomène sans connaître le mot français. Partir de ce qu'ils voient.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La deuxième question donne la réponse : la neige ne tombe pas, elle est soulevée. C'est la définition de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distinguer les deux derniers : la pluie verglaçante tombe, le verglas est ce qu'elle laisse. C'est la confusion la plus fréquente.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Cette distinction est essentielle pour comprendre les avertissements routiers du défi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facteur éolien n'est pas une curiosité : c'est ce qui décide du temps d'exposition sécuritaire au travail. Le dire.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l'exercice avec les images du module. Cette diapo sert de correction et de trace écrite.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le plus révélateur : soleil et visibilité nulle en même temps. C'est propre à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pratique important pour ceux qui conduisent. Le relier au dialogue du défi 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sous moins vingt-sept ressenti, la peau exposée gèle en une trentaine de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reformulation du module 5, appliqué ici. Le signaler à ceux qui l'ont fait.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trois phrases sur la vraie météo du jour. C'est plus motivant et cela ancre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descriptions serviront en E1, où chacun écrira un vrai bulletin météo.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A3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vocabulaire de l'hiver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Poudrerie, grésil, redoux, facteur éolien. Quatre mots qu'aucune méthode de français ne contient, et qu'on entend tous les matins de janvier à la radio.</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Quelles sont les prévisions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six formes de précipitations de l'hiver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la poudrerie de la neige qui tombe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 facteur éolien et pourquoi il compte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temps qu'il fait à partir d'une description.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voyez-vous, et comment ça s'appelle en français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udreri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neige sur cette photo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D'où vient la neige qu'on voit dans l'air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conduire là-dedans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ça s'appelle, dans votre langue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formes de précipitations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084966"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237110" y="1975104"/>
            <a:ext cx="680244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10" name="TextBox 9"/>
          <p:cNvSpPr txBox="1"/>
          <p:nvPr/>
        </p:nvSpPr>
        <p:spPr>
          <a:xfrm>
            <a:off x="932688" y="2395728"/>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neige</a:t>
            </a:r>
          </a:p>
        </p:txBody>
      </p:sp>
      <p:sp>
        <p:nvSpPr>
          <p:cNvPr id="11" name="TextBox 10"/>
          <p:cNvSpPr txBox="1"/>
          <p:nvPr/>
        </p:nvSpPr>
        <p:spPr>
          <a:xfrm>
            <a:off x="4237110" y="2395728"/>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flocons qui tombent du ciel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poudrerie</a:t>
            </a:r>
          </a:p>
        </p:txBody>
      </p:sp>
      <p:sp>
        <p:nvSpPr>
          <p:cNvPr id="14" name="TextBox 13"/>
          <p:cNvSpPr txBox="1"/>
          <p:nvPr/>
        </p:nvSpPr>
        <p:spPr>
          <a:xfrm>
            <a:off x="4237110" y="2935224"/>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la neige déjà tombée que le vent soulève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grésil</a:t>
            </a:r>
          </a:p>
        </p:txBody>
      </p:sp>
      <p:sp>
        <p:nvSpPr>
          <p:cNvPr id="17" name="TextBox 16"/>
          <p:cNvSpPr txBox="1"/>
          <p:nvPr/>
        </p:nvSpPr>
        <p:spPr>
          <a:xfrm>
            <a:off x="4237110" y="3474720"/>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petits grains de glace qui tombent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pluie verglaçante</a:t>
            </a:r>
          </a:p>
        </p:txBody>
      </p:sp>
      <p:sp>
        <p:nvSpPr>
          <p:cNvPr id="20" name="TextBox 19"/>
          <p:cNvSpPr txBox="1"/>
          <p:nvPr/>
        </p:nvSpPr>
        <p:spPr>
          <a:xfrm>
            <a:off x="4237110" y="4014215"/>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pluie qui gèle en touchant une surface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grêle</a:t>
            </a:r>
          </a:p>
        </p:txBody>
      </p:sp>
      <p:sp>
        <p:nvSpPr>
          <p:cNvPr id="23" name="TextBox 22"/>
          <p:cNvSpPr txBox="1"/>
          <p:nvPr/>
        </p:nvSpPr>
        <p:spPr>
          <a:xfrm>
            <a:off x="4237110" y="4553712"/>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billes de glace, surtout en été</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084966"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verglas</a:t>
            </a:r>
          </a:p>
        </p:txBody>
      </p:sp>
      <p:sp>
        <p:nvSpPr>
          <p:cNvPr id="26" name="TextBox 25"/>
          <p:cNvSpPr txBox="1"/>
          <p:nvPr/>
        </p:nvSpPr>
        <p:spPr>
          <a:xfrm>
            <a:off x="4237110" y="5093207"/>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couche de glace qui reste sur les surfaces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DISTINCTION LA PLUS UTILE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neige tombe. La poudrerie est soulevée.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peut y avoir de la poudrerie sans qu'un seul flocon tombe : il suffit de vent et de neige au sol. C'est pour ça qu'une journée ensoleillée peut avoir une visibilité nulle sur l'autoroute.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qui décrivent la journée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redoux</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réchauffement court au milieu de l'hiver. La neige fond, l'eau coule, puis elle regèle la nuit : c'est ce qui fabrique le verglas au sol.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éclaircie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moment où les nuages s'ouvrent. Ce n'est pas la fin de la tempête, c'est une pause.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facteur éolien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L'effet du vent sur le froid ressenti. Moins quinze avec du vent peut se ressentir comme moins vingt-huit : la peau gèle plus vite.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mercure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autre façon de dire la température. « Le mercure descendra à moins six » veut dire « il fera moins six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la description.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   </a:t>
            </a:r>
            <a:r>
              <a:rPr sz="1900" b="1" i="0">
                <a:solidFill>
                  <a:srgbClr val="07734A"/>
                </a:solidFill>
                <a:latin typeface="Verdana"/>
              </a:rPr>
              <a:t>» la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   </a:t>
            </a:r>
            <a:r>
              <a:rPr sz="1900" b="1" i="0">
                <a:solidFill>
                  <a:srgbClr val="07734A"/>
                </a:solidFill>
                <a:latin typeface="Verdana"/>
              </a:rPr>
              <a:t>» la pluie verglaçante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   </a:t>
            </a:r>
            <a:r>
              <a:rPr sz="1900" b="1" i="0">
                <a:solidFill>
                  <a:srgbClr val="07734A"/>
                </a:solidFill>
                <a:latin typeface="Verdana"/>
              </a:rPr>
              <a:t>» un redoux</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   </a:t>
            </a:r>
            <a:r>
              <a:rPr sz="1900" b="1" i="0">
                <a:solidFill>
                  <a:srgbClr val="07734A"/>
                </a:solidFill>
                <a:latin typeface="Verdana"/>
              </a:rPr>
              <a:t>» une éclaircie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   </a:t>
            </a:r>
            <a:r>
              <a:rPr sz="1900" b="1" i="0">
                <a:solidFill>
                  <a:srgbClr val="07734A"/>
                </a:solidFill>
                <a:latin typeface="Verdana"/>
              </a:rPr>
              <a:t>» le grésil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Est-ce que ça tombe, ou est-ce que c'est soulevé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   </a:t>
            </a:r>
            <a:r>
              <a:rPr sz="1900" b="1" i="0">
                <a:solidFill>
                  <a:srgbClr val="07734A"/>
                </a:solidFill>
                <a:latin typeface="Verdana"/>
              </a:rPr>
              <a:t>»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   </a:t>
            </a:r>
            <a:r>
              <a:rPr sz="1900" b="1" i="0">
                <a:solidFill>
                  <a:srgbClr val="07734A"/>
                </a:solidFill>
                <a:latin typeface="Verdana"/>
              </a:rPr>
              <a:t>» neige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   </a:t>
            </a:r>
            <a:r>
              <a:rPr sz="1900" b="1" i="0">
                <a:solidFill>
                  <a:srgbClr val="07734A"/>
                </a:solidFill>
                <a:latin typeface="Verdana"/>
              </a:rPr>
              <a:t>» poudrerie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   </a:t>
            </a:r>
            <a:r>
              <a:rPr sz="1900" b="1" i="0">
                <a:solidFill>
                  <a:srgbClr val="07734A"/>
                </a:solidFill>
                <a:latin typeface="Verdana"/>
              </a:rPr>
              <a:t>» neige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   </a:t>
            </a:r>
            <a:r>
              <a:rPr sz="1900" b="1" i="0">
                <a:solidFill>
                  <a:srgbClr val="07734A"/>
                </a:solidFill>
                <a:latin typeface="Verdana"/>
              </a:rPr>
              <a:t>» poudrerie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LA JOURNÉE ENSOLEILLÉE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beau, donc la route est bonne.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peut faire soleil et y avoir de la poudrerie.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poudrerie n'a besoin que de vent et de neige au sol. Un ciel parfaitement dégagé n'empêche rien. C'est pour cela qu'on consulte les avertissements routiers avant de partir, même par beau temps.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FACTEUR ÉOLIEN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moins quinze, ça va, je sors sans tuque.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Avec le vent, ça se ressent comme moins vingt-huit.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température seule ne dit pas le risque. Le facteur éolien peut doubler la sensation de froid et faire geler la peau exposée en quelques minutes. Les bulletins le donnent toujours : il faut l'écouter.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Dans vos propres mots, sans employer le mot lui-même.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   </a:t>
            </a:r>
            <a:r>
              <a:rPr sz="1900" b="1" i="0">
                <a:solidFill>
                  <a:srgbClr val="07734A"/>
                </a:solidFill>
                <a:latin typeface="Verdana"/>
              </a:rPr>
              <a:t>» de la neige déjà tombée que le vent soulève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   </a:t>
            </a:r>
            <a:r>
              <a:rPr sz="1900" b="1" i="0">
                <a:solidFill>
                  <a:srgbClr val="07734A"/>
                </a:solidFill>
                <a:latin typeface="Verdana"/>
              </a:rPr>
              <a:t>» un réchauffement court au milieu de l'hiver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   </a:t>
            </a:r>
            <a:r>
              <a:rPr sz="1900" b="1" i="0">
                <a:solidFill>
                  <a:srgbClr val="07734A"/>
                </a:solidFill>
                <a:latin typeface="Verdana"/>
              </a:rPr>
              <a:t>» l'effet du vent, qui fait ressentir un froid plus intense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   </a:t>
            </a:r>
            <a:r>
              <a:rPr sz="1900" b="1" i="0">
                <a:solidFill>
                  <a:srgbClr val="07734A"/>
                </a:solidFill>
                <a:latin typeface="Verdana"/>
              </a:rPr>
              <a:t>» la partie de la route où roulent les véhicules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   </a:t>
            </a:r>
            <a:r>
              <a:rPr sz="1900" b="1" i="0">
                <a:solidFill>
                  <a:srgbClr val="07734A"/>
                </a:solidFill>
                <a:latin typeface="Verdana"/>
              </a:rPr>
              <a:t>» un moment où les nuages s'ouvrent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phrases avec trois mots différents du module.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   </a:t>
            </a:r>
            <a:r>
              <a:rPr sz="1900" b="1" i="0">
                <a:solidFill>
                  <a:srgbClr val="07734A"/>
                </a:solidFill>
                <a:latin typeface="Verdana"/>
              </a:rPr>
              <a:t>» Il y a de la poudrerie et la visibilité est mauvaise.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   </a:t>
            </a:r>
            <a:r>
              <a:rPr sz="1900" b="1" i="0">
                <a:solidFill>
                  <a:srgbClr val="07734A"/>
                </a:solidFill>
                <a:latin typeface="Verdana"/>
              </a:rPr>
              <a:t>» Une éclaircie est prévue, mais le facteur éolien restera fort.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   </a:t>
            </a:r>
            <a:r>
              <a:rPr sz="1900" b="1" i="0">
                <a:solidFill>
                  <a:srgbClr val="07734A"/>
                </a:solidFill>
                <a:latin typeface="Verdana"/>
              </a:rPr>
              <a:t>» Le mercure descendra et la chaussée deviendra glissante.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Décrivez la météo d'aujourd'hui en trois phrases.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au moins trois mots du module.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pour le ciel, une pour le vent, une pour la température.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