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pur. Beaucoup d'élèves connaissent le phénomène sans connaître le mot français. Partir de ce qu'ils voient.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La deuxième question donne la réponse : la neige ne tombe pas, elle est soulevée. C'est la définition de la poudrerie.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distinguer les deux derniers : la pluie verglaçante tombe, le verglas est ce qu'elle laisse. C'est la confusion la plus fréquente.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de la séance. Cette distinction est essentielle pour comprendre les avertissements routiers du défi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facteur éolien n'est pas une curiosité : c'est ce qui décide du temps d'exposition sécuritaire au travail. Le dire.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l'exercice avec les images du module. Cette diapo sert de correction et de trace écrite.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item est le plus révélateur : soleil et visibilité nulle en même temps. C'est propre à la poudrerie.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pratique important pour ceux qui conduisent. Le relier au dialogue du défi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Donner le repère pratique : sous moins vingt-sept ressenti, la peau exposée gèle en une trentaine de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de reformulation du module 5, appliqué ici. Le signaler à ceux qui l'ont fait.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trois phrases sur la vraie météo du jour. C'est plus motivant et cela ancre le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Ces descriptions serviront en E1, où chacun écrira un vrai bulletin météo.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A3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vocabulaire de l'hiver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Poudrerie, grésil, redoux, facteur éolien. Quatre mots qu'aucune méthode de français ne contient, et qu'on entend tous les matins de janvier à la radio.</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Quelles sont les prévisions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six formes de précipitations de l'hiver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la poudrerie de la neige qui tombe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 facteur éolien et pourquoi il compte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temps qu'il fait à partir d'une description.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 voyez-vous, et comment ça s'appelle en français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oudrerie.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neige sur cette photo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D'où vient la neige qu'on voit dans l'air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peut conduire là-dedans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ça s'appelle, dans votre langue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formes de précipitations</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084966"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237110" y="1975104"/>
            <a:ext cx="6802441"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C'EST</a:t>
            </a:r>
          </a:p>
        </p:txBody>
      </p:sp>
      <p:sp>
        <p:nvSpPr>
          <p:cNvPr id="10" name="TextBox 9"/>
          <p:cNvSpPr txBox="1"/>
          <p:nvPr/>
        </p:nvSpPr>
        <p:spPr>
          <a:xfrm>
            <a:off x="932688" y="2395728"/>
            <a:ext cx="3084966"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neige</a:t>
            </a:r>
          </a:p>
        </p:txBody>
      </p:sp>
      <p:sp>
        <p:nvSpPr>
          <p:cNvPr id="11" name="TextBox 10"/>
          <p:cNvSpPr txBox="1"/>
          <p:nvPr/>
        </p:nvSpPr>
        <p:spPr>
          <a:xfrm>
            <a:off x="4237110" y="2395728"/>
            <a:ext cx="680244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flocons qui tombent du ciel</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084966"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poudrerie</a:t>
            </a:r>
          </a:p>
        </p:txBody>
      </p:sp>
      <p:sp>
        <p:nvSpPr>
          <p:cNvPr id="14" name="TextBox 13"/>
          <p:cNvSpPr txBox="1"/>
          <p:nvPr/>
        </p:nvSpPr>
        <p:spPr>
          <a:xfrm>
            <a:off x="4237110" y="2935224"/>
            <a:ext cx="680244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la neige déjà tombée que le vent soulève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084966"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grésil</a:t>
            </a:r>
          </a:p>
        </p:txBody>
      </p:sp>
      <p:sp>
        <p:nvSpPr>
          <p:cNvPr id="17" name="TextBox 16"/>
          <p:cNvSpPr txBox="1"/>
          <p:nvPr/>
        </p:nvSpPr>
        <p:spPr>
          <a:xfrm>
            <a:off x="4237110" y="3474720"/>
            <a:ext cx="680244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petits grains de glace qui tombent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084966"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pluie verglaçante</a:t>
            </a:r>
          </a:p>
        </p:txBody>
      </p:sp>
      <p:sp>
        <p:nvSpPr>
          <p:cNvPr id="20" name="TextBox 19"/>
          <p:cNvSpPr txBox="1"/>
          <p:nvPr/>
        </p:nvSpPr>
        <p:spPr>
          <a:xfrm>
            <a:off x="4237110" y="4014215"/>
            <a:ext cx="680244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pluie qui gèle en touchant une surface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084966"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grêle</a:t>
            </a:r>
          </a:p>
        </p:txBody>
      </p:sp>
      <p:sp>
        <p:nvSpPr>
          <p:cNvPr id="23" name="TextBox 22"/>
          <p:cNvSpPr txBox="1"/>
          <p:nvPr/>
        </p:nvSpPr>
        <p:spPr>
          <a:xfrm>
            <a:off x="4237110" y="4553712"/>
            <a:ext cx="680244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billes de glace, surtout en été</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084966"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verglas</a:t>
            </a:r>
          </a:p>
        </p:txBody>
      </p:sp>
      <p:sp>
        <p:nvSpPr>
          <p:cNvPr id="26" name="TextBox 25"/>
          <p:cNvSpPr txBox="1"/>
          <p:nvPr/>
        </p:nvSpPr>
        <p:spPr>
          <a:xfrm>
            <a:off x="4237110" y="5093207"/>
            <a:ext cx="680244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couche de glace qui reste sur les surfaces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DISTINCTION LA PLUS UTILE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neige tombe. La poudrerie est soulevée.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Il peut y avoir de la poudrerie sans qu'un seul flocon tombe : il suffit de vent et de neige au sol. C'est pour ça qu'une journée ensoleillée peut avoir une visibilité nulle sur l'autoroute.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 qui décrivent la journée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 redoux</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 réchauffement court au milieu de l'hiver. La neige fond, l'eau coule, puis elle regèle la nuit : c'est ce qui fabrique le verglas au sol.</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éclaircie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 moment où les nuages s'ouvrent. Ce n'est pas la fin de la tempête, c'est une pause.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facteur éolien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L'effet du vent sur le froid ressenti. Moins quinze avec du vent peut se ressentir comme moins vingt-huit : la peau gèle plus vite.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mercure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Une autre façon de dire la température. « Le mercure descendra à moins six » veut dire « il fera moins six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Reconnaissez le temps qu'il fait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D'après la description.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vent soulève la neige et efface les lignes de la route.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pluie a gelé sur les branches et l'escalier.</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neige fond et l'eau coule dans le stationnement.</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ciel s'ouvre entre les nuages et le soleil revient.</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petits grains de glace frappent les fenêtres.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Reconnaissez le temps qu'il fait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vent soulève la neige et efface les lignes de la route.   </a:t>
            </a:r>
            <a:r>
              <a:rPr sz="1900" b="1" i="0">
                <a:solidFill>
                  <a:srgbClr val="07734A"/>
                </a:solidFill>
                <a:latin typeface="Verdana"/>
              </a:rPr>
              <a:t>» la poudrerie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pluie a gelé sur les branches et l'escalier.   </a:t>
            </a:r>
            <a:r>
              <a:rPr sz="1900" b="1" i="0">
                <a:solidFill>
                  <a:srgbClr val="07734A"/>
                </a:solidFill>
                <a:latin typeface="Verdana"/>
              </a:rPr>
              <a:t>» la pluie verglaçante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neige fond et l'eau coule dans le stationnement.   </a:t>
            </a:r>
            <a:r>
              <a:rPr sz="1900" b="1" i="0">
                <a:solidFill>
                  <a:srgbClr val="07734A"/>
                </a:solidFill>
                <a:latin typeface="Verdana"/>
              </a:rPr>
              <a:t>» un redoux</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ciel s'ouvre entre les nuages et le soleil revient.   </a:t>
            </a:r>
            <a:r>
              <a:rPr sz="1900" b="1" i="0">
                <a:solidFill>
                  <a:srgbClr val="07734A"/>
                </a:solidFill>
                <a:latin typeface="Verdana"/>
              </a:rPr>
              <a:t>» une éclaircie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petits grains de glace frappent les fenêtres.   </a:t>
            </a:r>
            <a:r>
              <a:rPr sz="1900" b="1" i="0">
                <a:solidFill>
                  <a:srgbClr val="07734A"/>
                </a:solidFill>
                <a:latin typeface="Verdana"/>
              </a:rPr>
              <a:t>» le grésil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Neige ou poudrerie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Est-ce que ça tombe, ou est-ce que c'est soulevé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fait soleil, mais on ne voit pas la route.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à quatre centimètres sont attendus ce soir.</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vent du nord-est réduit la visibilité.</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flocons tombent depuis le matin.</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chasse-neige circulent, mais la route se recouvre aussitôt.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Neige ou poudrerie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fait soleil, mais on ne voit pas la route.   </a:t>
            </a:r>
            <a:r>
              <a:rPr sz="1900" b="1" i="0">
                <a:solidFill>
                  <a:srgbClr val="07734A"/>
                </a:solidFill>
                <a:latin typeface="Verdana"/>
              </a:rPr>
              <a:t>» poudrerie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à quatre centimètres sont attendus ce soir.   </a:t>
            </a:r>
            <a:r>
              <a:rPr sz="1900" b="1" i="0">
                <a:solidFill>
                  <a:srgbClr val="07734A"/>
                </a:solidFill>
                <a:latin typeface="Verdana"/>
              </a:rPr>
              <a:t>» neige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vent du nord-est réduit la visibilité.   </a:t>
            </a:r>
            <a:r>
              <a:rPr sz="1900" b="1" i="0">
                <a:solidFill>
                  <a:srgbClr val="07734A"/>
                </a:solidFill>
                <a:latin typeface="Verdana"/>
              </a:rPr>
              <a:t>» poudrerie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flocons tombent depuis le matin.   </a:t>
            </a:r>
            <a:r>
              <a:rPr sz="1900" b="1" i="0">
                <a:solidFill>
                  <a:srgbClr val="07734A"/>
                </a:solidFill>
                <a:latin typeface="Verdana"/>
              </a:rPr>
              <a:t>» neige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chasse-neige circulent, mais la route se recouvre aussitôt.   </a:t>
            </a:r>
            <a:r>
              <a:rPr sz="1900" b="1" i="0">
                <a:solidFill>
                  <a:srgbClr val="07734A"/>
                </a:solidFill>
                <a:latin typeface="Verdana"/>
              </a:rPr>
              <a:t>» poudrerie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DE LA JOURNÉE ENSOLEILLÉE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fait beau, donc la route est bonne.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peut faire soleil et y avoir de la poudrerie.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poudrerie n'a besoin que de vent et de neige au sol. Un ciel parfaitement dégagé n'empêche rien. C'est pour cela qu'on consulte les avertissements routiers avant de partir, même par beau temps.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DU FACTEUR ÉOLIEN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fait moins quinze, ça va, je sors sans tuque.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Avec le vent, ça se ressent comme moins vingt-huit.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température seule ne dit pas le risque. Le facteur éolien peut doubler la sensation de froid et faire geler la peau exposée en quelques minutes. Les bulletins le donnent toujours : il faut l'écouter.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Expliquez le mot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Dans vos propres mots, sans employer le mot lui-même.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poudrerie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redoux</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facteur éolien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chaussée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éclaircie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Expliquez le mot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poudrerie   </a:t>
            </a:r>
            <a:r>
              <a:rPr sz="1900" b="1" i="0">
                <a:solidFill>
                  <a:srgbClr val="07734A"/>
                </a:solidFill>
                <a:latin typeface="Verdana"/>
              </a:rPr>
              <a:t>» de la neige déjà tombée que le vent soulève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redoux   </a:t>
            </a:r>
            <a:r>
              <a:rPr sz="1900" b="1" i="0">
                <a:solidFill>
                  <a:srgbClr val="07734A"/>
                </a:solidFill>
                <a:latin typeface="Verdana"/>
              </a:rPr>
              <a:t>» un réchauffement court au milieu de l'hiver</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facteur éolien   </a:t>
            </a:r>
            <a:r>
              <a:rPr sz="1900" b="1" i="0">
                <a:solidFill>
                  <a:srgbClr val="07734A"/>
                </a:solidFill>
                <a:latin typeface="Verdana"/>
              </a:rPr>
              <a:t>» l'effet du vent, qui fait ressentir un froid plus intense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chaussée   </a:t>
            </a:r>
            <a:r>
              <a:rPr sz="1900" b="1" i="0">
                <a:solidFill>
                  <a:srgbClr val="07734A"/>
                </a:solidFill>
                <a:latin typeface="Verdana"/>
              </a:rPr>
              <a:t>» la partie de la route où roulent les véhicules</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éclaircie   </a:t>
            </a:r>
            <a:r>
              <a:rPr sz="1900" b="1" i="0">
                <a:solidFill>
                  <a:srgbClr val="07734A"/>
                </a:solidFill>
                <a:latin typeface="Verdana"/>
              </a:rPr>
              <a:t>» un moment où les nuages s'ouvrent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journée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Trois phrases avec trois mots différents du module.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matin</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Cet après-midi</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soir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journée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matin   </a:t>
            </a:r>
            <a:r>
              <a:rPr sz="1900" b="1" i="0">
                <a:solidFill>
                  <a:srgbClr val="07734A"/>
                </a:solidFill>
                <a:latin typeface="Verdana"/>
              </a:rPr>
              <a:t>» Il y a de la poudrerie et la visibilité est mauvaise.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Cet après-midi   </a:t>
            </a:r>
            <a:r>
              <a:rPr sz="1900" b="1" i="0">
                <a:solidFill>
                  <a:srgbClr val="07734A"/>
                </a:solidFill>
                <a:latin typeface="Verdana"/>
              </a:rPr>
              <a:t>» Une éclaircie est prévue, mais le facteur éolien restera fort.</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soir   </a:t>
            </a:r>
            <a:r>
              <a:rPr sz="1900" b="1" i="0">
                <a:solidFill>
                  <a:srgbClr val="07734A"/>
                </a:solidFill>
                <a:latin typeface="Verdana"/>
              </a:rPr>
              <a:t>» Le mercure descendra et la chaussée deviendra glissante.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17</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Décrivez la météo d'aujourd'hui en trois phrases.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au moins trois mots du module.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pour le ciel, une pour le vent, une pour la température.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Quelles sont les prévisions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