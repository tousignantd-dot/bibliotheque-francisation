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Écrire les deux phrases du chapeau au tableau et demander pourquoi le pronom n'est pas au même endroit. Personne ne trouvera : c'est le sujet de la séance.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Lire les objectifs à voix haute. Y revenir au billet de sortie.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Écrire la règle en deux lignes au tableau. C'est la seule chose à retenir de toute la séance.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C'est ce qui rend « à » particulier. Le dire ainsi : « à » fait monter le pronom devant le verbe.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Erreur fréquente : croire que « lui » est masculin et « elle » féminin. Devant le verbe, c'est « lui » dans les deux cas.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 quatrième carte relie au module 2, séance C2. Le signaler à ceux qui l'ont fait : « y » pour une chose, « lui » pour une personne.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Faire compter les personnes avant de choisir. C'est le seul critère : singulier ou pluriel.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Corriger en groupe. Donner la bonne réponse, sans revenir sur qui s'est trompé.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 troisième item est le piège : « se fier à » emploie « à » mais garde le pronom après. Quelques verbes font ainsi ; les signaler sans en faire une liste.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Corriger en groupe. Donner la bonne réponse, sans revenir sur qui s'est trompé.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Erreur d'écriture très fréquente. Le repère « nom après ou verbe après » est mécanique et fiable.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Faire répéter cinq phrases à voix haute, pronom devant. L'oreille finit par accepter ce que la règle explique.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Faire nommer la préposition à voix haute avant chaque réponse. C'est elle qui décide, jamais le sens.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Corriger en groupe. Donner la bonne réponse, sans revenir sur qui s'est trompé.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Faire relire les trois phrases en vérifiant la place du pronom. C'est le seul point à corriger.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Corriger en groupe. Donner la bonne réponse, sans revenir sur qui s'est trompé.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Corriger la place du pronom avant le choix. La préposition soulignée montre si la méthode est acquise, même quand la réponse est fausse.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D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12344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SÉANCE C3  ·  MODULE 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691640"/>
            <a:ext cx="9960559" cy="18745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 i="0">
                <a:solidFill>
                  <a:srgbClr val="17181A"/>
                </a:solidFill>
                <a:latin typeface="Verdana"/>
              </a:rPr>
              <a:t>Lui, leur, eux, elles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3794760"/>
            <a:ext cx="9960559" cy="1394968"/>
          </a:xfrm>
          <a:prstGeom prst="roundRect">
            <a:avLst>
              <a:gd name="adj" fmla="val 10487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896112" y="4123944"/>
            <a:ext cx="9302191" cy="782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« Je leur envoie un message. » « Je compte sur elle. » Deux pronoms, deux places différentes — et c'est la préposition qui décide de tout.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0350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0" i="0">
                <a:solidFill>
                  <a:srgbClr val="6E7175"/>
                </a:solidFill>
                <a:latin typeface="Verdana"/>
              </a:rPr>
              <a:t>75 minutes  ·  Quelles sont les prévisions ?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C3 · Quelles sont les prévisions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OBJECTIFS DE LA SÉANCE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À la fin, je serai capable de…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764792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ounded Rectangle 7"/>
          <p:cNvSpPr/>
          <p:nvPr/>
        </p:nvSpPr>
        <p:spPr>
          <a:xfrm>
            <a:off x="804672" y="1942592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804672" y="2024887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8176" y="1965960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remplacer un complément avec « à » par lui ou leur ;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2650744"/>
            <a:ext cx="11057839" cy="1113536"/>
          </a:xfrm>
          <a:prstGeom prst="roundRect">
            <a:avLst>
              <a:gd name="adj" fmla="val 13138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ounded Rectangle 11"/>
          <p:cNvSpPr/>
          <p:nvPr/>
        </p:nvSpPr>
        <p:spPr>
          <a:xfrm>
            <a:off x="804672" y="3006344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804672" y="3088640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08176" y="2851912"/>
            <a:ext cx="9549079" cy="7477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remplacer un complément avec une autre préposition par lui, elle, eux, elles ;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3892296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ounded Rectangle 15"/>
          <p:cNvSpPr/>
          <p:nvPr/>
        </p:nvSpPr>
        <p:spPr>
          <a:xfrm>
            <a:off x="804672" y="4070096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804672" y="4152392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08176" y="4093464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placer le pronom au bon endroit ;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6928" y="4778248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ounded Rectangle 19"/>
          <p:cNvSpPr/>
          <p:nvPr/>
        </p:nvSpPr>
        <p:spPr>
          <a:xfrm>
            <a:off x="804672" y="4956048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804672" y="5038344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08176" y="4979415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éviter la répétition d'un nom dans un message.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C3 · Quelles sont les prévisions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LA RÈGLE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225296"/>
            <a:ext cx="11057839" cy="3021583"/>
          </a:xfrm>
          <a:prstGeom prst="roundRect">
            <a:avLst>
              <a:gd name="adj" fmla="val 4841"/>
            </a:avLst>
          </a:prstGeom>
          <a:solidFill>
            <a:srgbClr val="FBEEDC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1298448" y="1682496"/>
            <a:ext cx="9594799" cy="219862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Après « à », c'est lui ou leur, devant le verbe. Après une autre préposition, c'est lui, elle, eux ou elles, après le verbe.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4521199"/>
            <a:ext cx="11057839" cy="1303528"/>
          </a:xfrm>
          <a:prstGeom prst="roundRect">
            <a:avLst>
              <a:gd name="adj" fmla="val 11223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69264" y="4795519"/>
            <a:ext cx="10234879" cy="84632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« Je parle à Josée » devient « je lui parle ». « Je compte sur Josée » devient « je compte sur elle ». La préposition décide du pronom ET de sa place.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C3 · Quelles sont les prévisions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ANALYSE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Deux familles de pronoms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11057839" cy="1719072"/>
          </a:xfrm>
          <a:prstGeom prst="roundRect">
            <a:avLst>
              <a:gd name="adj" fmla="val 8510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75104"/>
            <a:ext cx="322265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LA PRÉPOSITION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74794" y="1975104"/>
            <a:ext cx="322265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LE PRONOM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816900" y="1975104"/>
            <a:ext cx="322265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LA PLACE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" y="2395728"/>
            <a:ext cx="3222650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à + une personne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74794" y="2395728"/>
            <a:ext cx="3222650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B45309"/>
                </a:solidFill>
                <a:latin typeface="Verdana"/>
              </a:rPr>
              <a:t>lui, leur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816900" y="2395728"/>
            <a:ext cx="3222650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avant le verbe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32688" y="2807208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932688" y="2935224"/>
            <a:ext cx="3222650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sur, avec, de, chez…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374794" y="2935224"/>
            <a:ext cx="3222650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B45309"/>
                </a:solidFill>
                <a:latin typeface="Verdana"/>
              </a:rPr>
              <a:t>lui, elle, eux, elles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816900" y="2935224"/>
            <a:ext cx="3222650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après la préposition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66928" y="3767328"/>
            <a:ext cx="11057839" cy="1175004"/>
          </a:xfrm>
          <a:prstGeom prst="roundRect">
            <a:avLst>
              <a:gd name="adj" fmla="val 12451"/>
            </a:avLst>
          </a:prstGeom>
          <a:solidFill>
            <a:srgbClr val="FBFBFA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969264" y="4023360"/>
            <a:ext cx="10234879" cy="7178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Une seule préposition change de comportement : « à ». Toutes les autres gardent le pronom après elles.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C3 · Quelles sont les prévisions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ANALYSE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Lui et leur : singulier et pluriel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11057839" cy="3099816"/>
          </a:xfrm>
          <a:prstGeom prst="roundRect">
            <a:avLst>
              <a:gd name="adj" fmla="val 4719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75104"/>
            <a:ext cx="322265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LE COMPLÉMENT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74794" y="1975104"/>
            <a:ext cx="322265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LE PRONOM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816900" y="1975104"/>
            <a:ext cx="322265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UN EXEMPLE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" y="2395728"/>
            <a:ext cx="3222650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à Josée (une personne)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74794" y="2395728"/>
            <a:ext cx="3222650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B45309"/>
                </a:solidFill>
                <a:latin typeface="Verdana"/>
              </a:rPr>
              <a:t>lui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816900" y="2395728"/>
            <a:ext cx="3222650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Je lui parle.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32688" y="2807208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932688" y="2935224"/>
            <a:ext cx="3222650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à Diego (une personne)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374794" y="2935224"/>
            <a:ext cx="3222650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B45309"/>
                </a:solidFill>
                <a:latin typeface="Verdana"/>
              </a:rPr>
              <a:t>lui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816900" y="2935224"/>
            <a:ext cx="3222650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Je lui téléphone.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32688" y="3346704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932688" y="3474720"/>
            <a:ext cx="3222650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aux apprentis (plusieurs)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374794" y="3474720"/>
            <a:ext cx="3222650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B45309"/>
                </a:solidFill>
                <a:latin typeface="Verdana"/>
              </a:rPr>
              <a:t>leur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816900" y="3474720"/>
            <a:ext cx="3222650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Je leur souris.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32688" y="3886200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932688" y="4014215"/>
            <a:ext cx="322265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aux fournisseurs (plusieurs)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374794" y="4014215"/>
            <a:ext cx="322265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B45309"/>
                </a:solidFill>
                <a:latin typeface="Verdana"/>
              </a:rPr>
              <a:t>leur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816900" y="4014215"/>
            <a:ext cx="322265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Je leur écris.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66928" y="5148072"/>
            <a:ext cx="11057839" cy="788289"/>
          </a:xfrm>
          <a:prstGeom prst="roundRect">
            <a:avLst>
              <a:gd name="adj" fmla="val 18559"/>
            </a:avLst>
          </a:prstGeom>
          <a:solidFill>
            <a:srgbClr val="FBFBFA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969264" y="5404104"/>
            <a:ext cx="10234879" cy="33108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500" b="0" i="0">
                <a:solidFill>
                  <a:srgbClr val="4B4F52"/>
                </a:solidFill>
                <a:latin typeface="Verdana"/>
              </a:rPr>
              <a:t>« Lui » ne dit rien du genre : il vaut pour un homme comme pour une femme. Seul le nombre change.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C3 · Quelles sont les prévisions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EN APPRENDRE PLUS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Quatre choses à savoir en plus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886968" y="2084831"/>
            <a:ext cx="4806543" cy="65684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100" b="1" i="0">
                <a:solidFill>
                  <a:srgbClr val="B45309"/>
                </a:solidFill>
                <a:latin typeface="Verdana"/>
              </a:rPr>
              <a:t>« Leur » sans s devant un verbe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6968" y="2769108"/>
            <a:ext cx="4806543" cy="819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500" b="0" i="0">
                <a:solidFill>
                  <a:srgbClr val="3A3D40"/>
                </a:solidFill>
                <a:latin typeface="Verdana"/>
              </a:rPr>
              <a:t>« Je leur écris » — jamais de s. Le « leurs » avec s est un déterminant : « leurs outils ». Devant un verbe, jamais.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78143" y="181051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498183" y="2084831"/>
            <a:ext cx="4806543" cy="65684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100" b="1" i="0">
                <a:solidFill>
                  <a:srgbClr val="B45309"/>
                </a:solidFill>
                <a:latin typeface="Verdana"/>
              </a:rPr>
              <a:t>Au passé composé, devant l'auxiliaire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8183" y="2769108"/>
            <a:ext cx="4806543" cy="819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500" b="0" i="0">
                <a:solidFill>
                  <a:srgbClr val="3A3D40"/>
                </a:solidFill>
                <a:latin typeface="Verdana"/>
              </a:rPr>
              <a:t>« Je lui ai parlé. » Le pronom se place devant « ai », comme tous les pronoms compléments.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02793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86968" y="4302252"/>
            <a:ext cx="4806543" cy="65684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100" b="1" i="0">
                <a:solidFill>
                  <a:srgbClr val="B45309"/>
                </a:solidFill>
                <a:latin typeface="Verdana"/>
              </a:rPr>
              <a:t>À la négative, entre ne et le verbe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86968" y="4986528"/>
            <a:ext cx="4806543" cy="819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500" b="0" i="0">
                <a:solidFill>
                  <a:srgbClr val="3A3D40"/>
                </a:solidFill>
                <a:latin typeface="Verdana"/>
              </a:rPr>
              <a:t>« Je ne lui parle pas. » « Je ne compte pas sur elle. » Les deux familles gardent leur place.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78143" y="402793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6498183" y="4302252"/>
            <a:ext cx="4806543" cy="65684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100" b="1" i="0">
                <a:solidFill>
                  <a:srgbClr val="B45309"/>
                </a:solidFill>
                <a:latin typeface="Verdana"/>
              </a:rPr>
              <a:t>Après « à » pour une chose, c'est « y »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98183" y="4986528"/>
            <a:ext cx="4806543" cy="819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500" b="0" i="0">
                <a:solidFill>
                  <a:srgbClr val="3A3D40"/>
                </a:solidFill>
                <a:latin typeface="Verdana"/>
              </a:rPr>
              <a:t>« Je pense à mon travail » devient « j'y pense ». « Lui » et « leur » ne valent que pour des personnes.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C3 · Quelles sont les prévisions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PRATIQUE · 1 DE 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Lui ou leur 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Une personne, ou plusieurs 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3672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0073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Je téléphone à Josée avant six heures.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2752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292455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298856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2982975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Diego demande à Mado de vérifier la route.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515359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6123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76395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670807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Josée offrira une prime aux apprentis.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203192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30022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36422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358640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J'écris un courriel aux fournisseurs.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891023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988051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052059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046471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Nous allons demander au client de patienter.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557885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841247" y="567588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41247" y="573989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44168" y="573430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Elle répond aux automobilistes avec patience.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C3 · Quelles sont les prévisions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CORRECTION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Lui ou leur 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Correction — on lit la réponse, on ne commente pas l'erreur.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3672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0073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Je téléphone à Josée avant six heures.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Je lui téléphone avant six heures.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2752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292455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298856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2982975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Diego demande à Mado de vérifier la route.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Diego lui demande de vérifier la route.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515359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6123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76395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670807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Josée offrira une prime aux apprentis.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Josée leur offrira une prime.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203192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30022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36422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358640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J'écris un courriel aux fournisseurs.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Je leur écris un courriel.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891023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988051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052059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046471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Nous allons demander au client de patienter.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Nous allons lui demander de patienter.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557885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841247" y="567588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41247" y="573989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44168" y="573430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Elle répond aux automobilistes avec patience.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Elle leur répond avec patience.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C3 · Quelles sont les prévisions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PRATIQUE · 2 DE 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Lui, elle, eux ou elles 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Après une préposition autre que « à ».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613156"/>
          </a:xfrm>
          <a:prstGeom prst="roundRect">
            <a:avLst>
              <a:gd name="adj" fmla="val 23860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63393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27401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3388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Diego compte sur Josée pour la sécurité.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80868"/>
            <a:ext cx="11057839" cy="613156"/>
          </a:xfrm>
          <a:prstGeom prst="roundRect">
            <a:avLst>
              <a:gd name="adj" fmla="val 23860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300456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306857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3036316"/>
            <a:ext cx="10097719" cy="3388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Prisca part avec ses deux collègues.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622040"/>
            <a:ext cx="11057839" cy="915416"/>
          </a:xfrm>
          <a:prstGeom prst="roundRect">
            <a:avLst>
              <a:gd name="adj" fmla="val 1598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89686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96087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777488"/>
            <a:ext cx="10097719" cy="6410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Je me fie à mes coéquipiers pour les échafaudages.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665472"/>
            <a:ext cx="11057839" cy="613156"/>
          </a:xfrm>
          <a:prstGeom prst="roundRect">
            <a:avLst>
              <a:gd name="adj" fmla="val 23860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78917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85317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820920"/>
            <a:ext cx="10097719" cy="3388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Te souviens-tu des couvreurs de l'an dernier ?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5406644"/>
            <a:ext cx="11057839" cy="613156"/>
          </a:xfrm>
          <a:prstGeom prst="roundRect">
            <a:avLst>
              <a:gd name="adj" fmla="val 23860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5530342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594350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562092"/>
            <a:ext cx="10097719" cy="3388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Mado discute avec la répartitrice de nuit.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C3 · Quelles sont les prévisions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CORRECTION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Lui, elle, eux ou elles 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Correction — on lit la réponse, on ne commente pas l'erreur.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613156"/>
          </a:xfrm>
          <a:prstGeom prst="roundRect">
            <a:avLst>
              <a:gd name="adj" fmla="val 23860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63393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27401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3388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Diego compte sur Josée pour la sécurité.   </a:t>
            </a:r>
            <a:r>
              <a:rPr sz="1700" b="1" i="0">
                <a:solidFill>
                  <a:srgbClr val="07734A"/>
                </a:solidFill>
                <a:latin typeface="Verdana"/>
              </a:rPr>
              <a:t>» Diego compte sur elle.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80868"/>
            <a:ext cx="11057839" cy="613156"/>
          </a:xfrm>
          <a:prstGeom prst="roundRect">
            <a:avLst>
              <a:gd name="adj" fmla="val 23860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300456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306857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3036316"/>
            <a:ext cx="10097719" cy="3388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Prisca part avec ses deux collègues.   </a:t>
            </a:r>
            <a:r>
              <a:rPr sz="1700" b="1" i="0">
                <a:solidFill>
                  <a:srgbClr val="07734A"/>
                </a:solidFill>
                <a:latin typeface="Verdana"/>
              </a:rPr>
              <a:t>» Prisca part avec eux.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622040"/>
            <a:ext cx="11057839" cy="915416"/>
          </a:xfrm>
          <a:prstGeom prst="roundRect">
            <a:avLst>
              <a:gd name="adj" fmla="val 1598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89686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96087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777488"/>
            <a:ext cx="10097719" cy="6410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Je me fie à mes coéquipiers pour les échafaudages.   </a:t>
            </a:r>
            <a:r>
              <a:rPr sz="1700" b="1" i="0">
                <a:solidFill>
                  <a:srgbClr val="07734A"/>
                </a:solidFill>
                <a:latin typeface="Verdana"/>
              </a:rPr>
              <a:t>» Je me fie à eux — « se fier à » garde la préposition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665472"/>
            <a:ext cx="11057839" cy="613156"/>
          </a:xfrm>
          <a:prstGeom prst="roundRect">
            <a:avLst>
              <a:gd name="adj" fmla="val 23860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78917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85317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820920"/>
            <a:ext cx="10097719" cy="3388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Te souviens-tu des couvreurs de l'an dernier ?   </a:t>
            </a:r>
            <a:r>
              <a:rPr sz="1700" b="1" i="0">
                <a:solidFill>
                  <a:srgbClr val="07734A"/>
                </a:solidFill>
                <a:latin typeface="Verdana"/>
              </a:rPr>
              <a:t>» Te souviens-tu d'eux ?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5406644"/>
            <a:ext cx="11057839" cy="613156"/>
          </a:xfrm>
          <a:prstGeom prst="roundRect">
            <a:avLst>
              <a:gd name="adj" fmla="val 23860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5530342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594350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562092"/>
            <a:ext cx="10097719" cy="3388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Mado discute avec la répartitrice de nuit.   </a:t>
            </a:r>
            <a:r>
              <a:rPr sz="1700" b="1" i="0">
                <a:solidFill>
                  <a:srgbClr val="07734A"/>
                </a:solidFill>
                <a:latin typeface="Verdana"/>
              </a:rPr>
              <a:t>» Mado discute avec elle.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C3 · Quelles sont les prévisions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LE PIÈGE DU « LEURS » AVEC UN 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 piège le plus fréquent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56232"/>
            <a:ext cx="5428335" cy="2331720"/>
          </a:xfrm>
          <a:prstGeom prst="roundRect">
            <a:avLst>
              <a:gd name="adj" fmla="val 6274"/>
            </a:avLst>
          </a:prstGeom>
          <a:solidFill>
            <a:srgbClr val="FFF6F5"/>
          </a:solidFill>
          <a:ln w="12700">
            <a:solidFill>
              <a:srgbClr val="DC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2130552"/>
            <a:ext cx="4696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91C1C"/>
                </a:solidFill>
                <a:latin typeface="Verdana"/>
              </a:rPr>
              <a:t>ON ENTEND SOUVENT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2569464"/>
            <a:ext cx="4696815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00" b="1" i="0">
                <a:solidFill>
                  <a:srgbClr val="17181A"/>
                </a:solidFill>
                <a:latin typeface="Verdana"/>
              </a:rPr>
              <a:t>Je leurs ai envoyé un message.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96431" y="1856232"/>
            <a:ext cx="5428335" cy="2331720"/>
          </a:xfrm>
          <a:prstGeom prst="roundRect">
            <a:avLst>
              <a:gd name="adj" fmla="val 6274"/>
            </a:avLst>
          </a:prstGeom>
          <a:solidFill>
            <a:srgbClr val="E6F5EE"/>
          </a:solidFill>
          <a:ln w="12700">
            <a:solidFill>
              <a:srgbClr val="0A8F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562191" y="2130552"/>
            <a:ext cx="4696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7734A"/>
                </a:solidFill>
                <a:latin typeface="Verdana"/>
              </a:rPr>
              <a:t>IL FAUT DIRE PLUTÔT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62191" y="2569464"/>
            <a:ext cx="4696815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00" b="1" i="0">
                <a:solidFill>
                  <a:srgbClr val="17181A"/>
                </a:solidFill>
                <a:latin typeface="Verdana"/>
              </a:rPr>
              <a:t>Je leur ai envoyé un message.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462272"/>
            <a:ext cx="11057839" cy="1618487"/>
          </a:xfrm>
          <a:prstGeom prst="roundRect">
            <a:avLst>
              <a:gd name="adj" fmla="val 9039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69264" y="4736592"/>
            <a:ext cx="10234879" cy="11506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Devant un verbe, « leur » est un pronom et ne prend jamais de s. Le « leurs » avec s est un déterminant, et il est suivi d'un nom : « leurs outils », « leurs feuilles de temps ». Regardez ce qui suit.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C3 · Quelles sont les prévisions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LE PIÈGE DE LA PLACE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 piège le plus fréquent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56232"/>
            <a:ext cx="5428335" cy="2331720"/>
          </a:xfrm>
          <a:prstGeom prst="roundRect">
            <a:avLst>
              <a:gd name="adj" fmla="val 6274"/>
            </a:avLst>
          </a:prstGeom>
          <a:solidFill>
            <a:srgbClr val="FFF6F5"/>
          </a:solidFill>
          <a:ln w="12700">
            <a:solidFill>
              <a:srgbClr val="DC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2130552"/>
            <a:ext cx="4696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91C1C"/>
                </a:solidFill>
                <a:latin typeface="Verdana"/>
              </a:rPr>
              <a:t>ON ENTEND SOUVENT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2569464"/>
            <a:ext cx="4696815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00" b="1" i="0">
                <a:solidFill>
                  <a:srgbClr val="17181A"/>
                </a:solidFill>
                <a:latin typeface="Verdana"/>
              </a:rPr>
              <a:t>Je parle lui.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96431" y="1856232"/>
            <a:ext cx="5428335" cy="2331720"/>
          </a:xfrm>
          <a:prstGeom prst="roundRect">
            <a:avLst>
              <a:gd name="adj" fmla="val 6274"/>
            </a:avLst>
          </a:prstGeom>
          <a:solidFill>
            <a:srgbClr val="E6F5EE"/>
          </a:solidFill>
          <a:ln w="12700">
            <a:solidFill>
              <a:srgbClr val="0A8F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562191" y="2130552"/>
            <a:ext cx="4696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7734A"/>
                </a:solidFill>
                <a:latin typeface="Verdana"/>
              </a:rPr>
              <a:t>IL FAUT DIRE PLUTÔT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62191" y="2569464"/>
            <a:ext cx="4696815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00" b="1" i="0">
                <a:solidFill>
                  <a:srgbClr val="17181A"/>
                </a:solidFill>
                <a:latin typeface="Verdana"/>
              </a:rPr>
              <a:t>Je lui parle.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462272"/>
            <a:ext cx="11057839" cy="1618487"/>
          </a:xfrm>
          <a:prstGeom prst="roundRect">
            <a:avLst>
              <a:gd name="adj" fmla="val 9039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69264" y="4736592"/>
            <a:ext cx="10234879" cy="11506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Avec « à », le pronom passe devant le verbe. C'est l'inverse de l'ordre habituel, et l'inverse de beaucoup de langues. Il n'y a pas d'exception : lui et leur sont toujours devant le verbe conjugué.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C3 · Quelles sont les prévisions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PRATIQUE · 3 DE 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Devant ou après 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Cherchez la préposition.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8117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4518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Je parle ___ (à Josée).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916428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3057905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312191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3071876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Je compte ___ (sur Josée).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693160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83463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89864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848608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J'écris ___ (aux fournisseurs).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469892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61137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67537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625340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Je pars ___ (avec les apprentis).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5246624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5388102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452110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402072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Je téléphone ___ (au client).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C3 · Quelles sont les prévisions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CORRECTION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Devant ou après 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Correction — on lit la réponse, on ne commente pas l'erreur.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8117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4518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Je parle ___ (à Josée).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je lui parle — devant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916428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3057905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312191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3071876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Je compte ___ (sur Josée).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je compte sur elle — après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693160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83463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89864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848608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J'écris ___ (aux fournisseurs).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je leur écris — devant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469892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61137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67537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625340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Je pars ___ (avec les apprentis).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je pars avec eux — après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5246624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5388102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452110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402072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Je téléphone ___ (au client).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je lui téléphone — devant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C3 · Quelles sont les prévisions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PRATIQUE · 4 DE 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Écrivez le message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Trois phrases avec un pronom, sans répéter les noms.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986535"/>
          </a:xfrm>
          <a:prstGeom prst="roundRect">
            <a:avLst>
              <a:gd name="adj" fmla="val 14830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450083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514091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7122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Vous prévenez l'équipe que l'avertissement est levé.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3254248"/>
            <a:ext cx="11057839" cy="986535"/>
          </a:xfrm>
          <a:prstGeom prst="roundRect">
            <a:avLst>
              <a:gd name="adj" fmla="val 14830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3564635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362864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3409696"/>
            <a:ext cx="10097719" cy="7122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Vous demandez à Mado de vérifier la route.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4368800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451027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457428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4524248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Vous partez avec vos deux collègues.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C3 · Quelles sont les prévisions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CORRECTION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Écrivez le message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Correction — on lit la réponse, on ne commente pas l'erreur.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986535"/>
          </a:xfrm>
          <a:prstGeom prst="roundRect">
            <a:avLst>
              <a:gd name="adj" fmla="val 14830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450083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514091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7122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Vous prévenez l'équipe que l'avertissement est levé.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Je leur envoie un message dès que l'avertissement est levé.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3254248"/>
            <a:ext cx="11057839" cy="986535"/>
          </a:xfrm>
          <a:prstGeom prst="roundRect">
            <a:avLst>
              <a:gd name="adj" fmla="val 14830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3564635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362864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3409696"/>
            <a:ext cx="10097719" cy="7122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Vous demandez à Mado de vérifier la route.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Je lui demande de vérifier l'état de la route.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4368800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451027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457428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4524248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Vous partez avec vos deux collègues.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Je pars avec eux vers huit heures.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C3 · Quelles sont les prévisions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17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18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66928" y="105156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FFFFFF"/>
                </a:solidFill>
                <a:latin typeface="Verdana"/>
              </a:rPr>
              <a:t>BILLET DE SORTIE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572768"/>
            <a:ext cx="9777679" cy="2103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400" b="1" i="0">
                <a:solidFill>
                  <a:srgbClr val="FFFFFF"/>
                </a:solidFill>
                <a:latin typeface="Verdana"/>
              </a:rPr>
              <a:t>Écrivez quatre phrases, deux avec lui ou leur, deux avec eux ou elles.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931920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32688" y="4087368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Toutes doivent parler d'une équipe de travail.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4680712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4836160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Soulignez la préposition dans chacune.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C3 · Quelles sont les prévisions 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