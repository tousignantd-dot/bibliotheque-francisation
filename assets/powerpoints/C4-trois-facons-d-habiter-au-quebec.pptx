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culture québécoise. Beaucoup d'élèves cherchent activement un logement : c'est une séance qui sert immédiatement. Prévoir des questions personnelles.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Tour de table rapide. Ne pas insister si quelqu'un ne veut pas répondre : le type de logement touche au revenu, et c'est une information privée.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au module : madame Rioux décide et paie. C'est pour ça qu'Oksana n'a pas à choisir l'électricien elle-même.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double qualité — locataire ET copropriétaire — est le point le plus difficile. Le faire reformuler par deux élèves.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s'étendre sur les critères d'admissibilité : ils changent, et ce n'est pas l'objet du cours. Renvoyer à l'office d'habitation de la ville.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 à photographier. La dernière phrase relie la séance à tout le reste du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la phrase à dire reste identique dans les trois cas. Seul le destinataire change.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 sociale » est le mot le plus important de la séance : il explique toute la différence avec un condo.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coûteuse dans la vie réelle. La dire clairement, sans dramatiser : la coopérative reste un excellent modèle, ce n'est simplement pas un placement.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donner le critère par le groupe : « qui décide ? ». C'est la question qui sépare les deux.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existe plus de mille coopératives d'habitation au Québec. Le mentionner : ce n'est pas un modèle marginal.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bloc C. Rappeler que la séance D1 portera sur les situations qu'on ne tolère plus — et reprendre les billets de la séance C1.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SÉANCE C4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Trois façons d'habiter au Québec</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on cherche un logement, on rencontre trois modèles très différents. Vos droits, vos coûts et vos obligations ne sont pas les mêmes dans les trois. Une coopérative n'est ni un logement privé, ni un HLM.</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55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logement locatif privé, la coopérative d'habitation et le HLM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qui décide et qui paie dans chacun des trois modèles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à qui s'adresser quand un problème survient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ce qu'on obtient — et ce qu'on doit donner — en coopérative.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MISE EN ROUTE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quel type de logement habitez-vous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y a un propriétaire, une compagnie, ou un organisme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participez à des réunions ou à l'entretien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votre loyer dépend de votre revenu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665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 trois questions suffisent à distinguer les trois modèles.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MODÈLE 1</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logement locatif privé</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QUESTION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RÉPONSE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décide ?</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la personne propriétaire</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seule</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paie les réparations ?</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la personne propriétaire</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son immeuble</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 fait le locataire ?</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payer le loyer, signaler</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de plus</a:t>
            </a:r>
          </a:p>
        </p:txBody>
      </p:sp>
      <p:sp>
        <p:nvSpPr>
          <p:cNvPr id="22" name="Rounded Rectangle 21"/>
          <p:cNvSpPr/>
          <p:nvPr/>
        </p:nvSpPr>
        <p:spPr>
          <a:xfrm>
            <a:off x="566928" y="4306824"/>
            <a:ext cx="11057839" cy="1506474"/>
          </a:xfrm>
          <a:prstGeom prst="roundRect">
            <a:avLst>
              <a:gd name="adj" fmla="val 971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562856"/>
            <a:ext cx="10234879" cy="104927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C'est le modèle le plus courant, et aussi celui où le loyer est le plus élevé, parce que la personne propriétaire cherche un rendement. L'immeuble d'Oksana est un immeuble privé.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MODÈLE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coopérative d'habitation</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QUESTION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RÉPONSE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décide ?</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les membres, par vote</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ensemble</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paie ?</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la coopérative</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sans profit</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 fait le membre ?</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payer, participer, siéger</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du temps en plus</a:t>
            </a:r>
          </a:p>
        </p:txBody>
      </p:sp>
      <p:sp>
        <p:nvSpPr>
          <p:cNvPr id="22" name="Rounded Rectangle 21"/>
          <p:cNvSpPr/>
          <p:nvPr/>
        </p:nvSpPr>
        <p:spPr>
          <a:xfrm>
            <a:off x="566928" y="4306824"/>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562856"/>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L'immeuble appartient collectivement à celles et ceux qui y habitent. Chaque membre est à la fois locataire de son logement et copropriétaire de l'immeuble.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MODÈLE 3 · LE HLM</a:t>
            </a:r>
          </a:p>
        </p:txBody>
      </p:sp>
      <p:sp>
        <p:nvSpPr>
          <p:cNvPr id="6" name="Rounded Rectangle 5"/>
          <p:cNvSpPr/>
          <p:nvPr/>
        </p:nvSpPr>
        <p:spPr>
          <a:xfrm>
            <a:off x="566928" y="1225296"/>
            <a:ext cx="11057839" cy="2494788"/>
          </a:xfrm>
          <a:prstGeom prst="roundRect">
            <a:avLst>
              <a:gd name="adj" fmla="val 5864"/>
            </a:avLst>
          </a:prstGeom>
          <a:solidFill>
            <a:srgbClr val="E3F1E7"/>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habitation à loyer modique est un logement social géré par un office public.</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loyer y est calculé selon le revenu — souvent autour de 25 % du revenu du ménage — et l'accès se fait par une liste d'attente, selon des critères précis. Ce n'est ni un immeuble privé ni un groupe qui se gère lui-même : c'est un programme public.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LE RÉSUMÉ EN UNE LIGNE</a:t>
            </a:r>
          </a:p>
        </p:txBody>
      </p:sp>
      <p:sp>
        <p:nvSpPr>
          <p:cNvPr id="6" name="Rounded Rectangle 5"/>
          <p:cNvSpPr/>
          <p:nvPr/>
        </p:nvSpPr>
        <p:spPr>
          <a:xfrm>
            <a:off x="566928" y="1225296"/>
            <a:ext cx="11057839" cy="2494788"/>
          </a:xfrm>
          <a:prstGeom prst="roundRect">
            <a:avLst>
              <a:gd name="adj" fmla="val 5864"/>
            </a:avLst>
          </a:prstGeom>
          <a:solidFill>
            <a:srgbClr val="E3F1E7"/>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Privé : le marché. Coopérative : un groupe qui se gère lui-même. HLM : un programme public selon le revenu.</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logiques différentes, trois interlocuteurs différents quand un problème survient. Mais dans les trois cas, le réflexe reste exactement le même : signaler tôt, et garder une trace écrite.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règle le problème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calorifère ne chauffe plus. À qui vous adressez-vous ?</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logement privé</a:t>
            </a:r>
          </a:p>
        </p:txBody>
      </p:sp>
      <p:sp>
        <p:nvSpPr>
          <p:cNvPr id="12" name="Rounded Rectangle 11"/>
          <p:cNvSpPr/>
          <p:nvPr/>
        </p:nvSpPr>
        <p:spPr>
          <a:xfrm>
            <a:off x="566928" y="291642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une coopérative</a:t>
            </a:r>
          </a:p>
        </p:txBody>
      </p:sp>
      <p:sp>
        <p:nvSpPr>
          <p:cNvPr id="16" name="Rounded Rectangle 15"/>
          <p:cNvSpPr/>
          <p:nvPr/>
        </p:nvSpPr>
        <p:spPr>
          <a:xfrm>
            <a:off x="566928" y="403098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4136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0537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418642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HLM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règle le problème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logement privé   </a:t>
            </a:r>
            <a:r>
              <a:rPr sz="1900" b="1" i="0">
                <a:solidFill>
                  <a:srgbClr val="07734A"/>
                </a:solidFill>
                <a:latin typeface="Verdana"/>
              </a:rPr>
              <a:t>» on prévient la propriétaire — elle décide et elle paie</a:t>
            </a:r>
          </a:p>
        </p:txBody>
      </p:sp>
      <p:sp>
        <p:nvSpPr>
          <p:cNvPr id="12" name="Rounded Rectangle 11"/>
          <p:cNvSpPr/>
          <p:nvPr/>
        </p:nvSpPr>
        <p:spPr>
          <a:xfrm>
            <a:off x="566928" y="291642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une coopérative   </a:t>
            </a:r>
            <a:r>
              <a:rPr sz="1900" b="1" i="0">
                <a:solidFill>
                  <a:srgbClr val="07734A"/>
                </a:solidFill>
                <a:latin typeface="Verdana"/>
              </a:rPr>
              <a:t>» on prévient le comité d'entretien — les membres s'en occupent</a:t>
            </a:r>
          </a:p>
        </p:txBody>
      </p:sp>
      <p:sp>
        <p:nvSpPr>
          <p:cNvPr id="16" name="Rounded Rectangle 15"/>
          <p:cNvSpPr/>
          <p:nvPr/>
        </p:nvSpPr>
        <p:spPr>
          <a:xfrm>
            <a:off x="566928" y="403098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4136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05376"/>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418642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HLM   </a:t>
            </a:r>
            <a:r>
              <a:rPr sz="1900" b="1" i="0">
                <a:solidFill>
                  <a:srgbClr val="07734A"/>
                </a:solidFill>
                <a:latin typeface="Verdana"/>
              </a:rPr>
              <a:t>» on prévient l'office d'habitation — un organisme public gère l'immeuble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à retenir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part sociale</a:t>
            </a:r>
          </a:p>
        </p:txBody>
      </p:sp>
      <p:sp>
        <p:nvSpPr>
          <p:cNvPr id="9" name="TextBox 8"/>
          <p:cNvSpPr txBox="1"/>
          <p:nvPr/>
        </p:nvSpPr>
        <p:spPr>
          <a:xfrm>
            <a:off x="4294441" y="2121408"/>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achète pour devenir membre d'une coopérative.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membre</a:t>
            </a:r>
          </a:p>
        </p:txBody>
      </p:sp>
      <p:sp>
        <p:nvSpPr>
          <p:cNvPr id="12" name="TextBox 11"/>
          <p:cNvSpPr txBox="1"/>
          <p:nvPr/>
        </p:nvSpPr>
        <p:spPr>
          <a:xfrm>
            <a:off x="4294441" y="2909620"/>
            <a:ext cx="6964565"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personne qui habite la coopérative et participe à sa gestion.</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comité d'entretien</a:t>
            </a:r>
          </a:p>
        </p:txBody>
      </p:sp>
      <p:sp>
        <p:nvSpPr>
          <p:cNvPr id="15" name="TextBox 14"/>
          <p:cNvSpPr txBox="1"/>
          <p:nvPr/>
        </p:nvSpPr>
        <p:spPr>
          <a:xfrm>
            <a:off x="4294441" y="3697833"/>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groupe de membres qui s'occupe des réparations.</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office d'habitation</a:t>
            </a:r>
          </a:p>
        </p:txBody>
      </p:sp>
      <p:sp>
        <p:nvSpPr>
          <p:cNvPr id="18" name="TextBox 17"/>
          <p:cNvSpPr txBox="1"/>
          <p:nvPr/>
        </p:nvSpPr>
        <p:spPr>
          <a:xfrm>
            <a:off x="4294441" y="4486046"/>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L'organisme public qui gère les HLM d'une ville.</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logement social</a:t>
            </a:r>
          </a:p>
        </p:txBody>
      </p:sp>
      <p:sp>
        <p:nvSpPr>
          <p:cNvPr id="21" name="TextBox 20"/>
          <p:cNvSpPr txBox="1"/>
          <p:nvPr/>
        </p:nvSpPr>
        <p:spPr>
          <a:xfrm>
            <a:off x="4294441" y="5274259"/>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logement dont le loyer est adapté au revenu.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LA PREMIÈRE CONFUSION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En coopérative, j'achète mon logement.</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En coopérative, je deviens membre.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n'achète pas un logement : on achète une part sociale de la coopérative. En partant, on récupère sa part — pas la valeur du logement. La coopérative reste propriétaire. C'est la différence essentielle avec un condo, et elle surprend beaucoup de gens au moment de déménager.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LA DEUXIÈME CONFUSION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Coopérative et HLM, c'est la même chose.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coopérative se gère elle-même ; le HLM est géré par un office public.</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deux offrent des loyers plus bas que le marché, ce qui explique la confusion. Mais le fonctionnement n'a rien à voir : dans un cas, ce sont les résidents qui décident et qui donnent du temps ; dans l'autre, c'est un organisme public qui gère, et le loyer suit le revenu.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VÉRIFICATION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regarder vos notes.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une coopérative, les membres sont locataires et copropriétaires.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loyer y est généralement plus cher que sur le marché privé.</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membres participent à la gestion de l'immeuble.</a:t>
            </a:r>
          </a:p>
        </p:txBody>
      </p:sp>
      <p:sp>
        <p:nvSpPr>
          <p:cNvPr id="20" name="Rounded Rectangle 19"/>
          <p:cNvSpPr/>
          <p:nvPr/>
        </p:nvSpPr>
        <p:spPr>
          <a:xfrm>
            <a:off x="566928" y="4203192"/>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2468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8868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358640"/>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un membre quitte son logement, il revend sa part comme un condo.</a:t>
            </a:r>
          </a:p>
        </p:txBody>
      </p:sp>
      <p:sp>
        <p:nvSpPr>
          <p:cNvPr id="24" name="Rounded Rectangle 23"/>
          <p:cNvSpPr/>
          <p:nvPr/>
        </p:nvSpPr>
        <p:spPr>
          <a:xfrm>
            <a:off x="566928" y="513994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premières coopératives québécoises datent des années 1970.</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Être membre n'exige aucune participation personnelle.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une coopérative, les membres sont locataires et copropriétaires.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loyer y est généralement plus cher que sur le marché privé.   </a:t>
            </a:r>
            <a:r>
              <a:rPr sz="1400" b="1" i="0">
                <a:solidFill>
                  <a:srgbClr val="07734A"/>
                </a:solidFill>
                <a:latin typeface="Verdana"/>
              </a:rPr>
              <a:t>» FAUX — moins cher, sans profit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membres participent à la gestion de l'immeuble.   </a:t>
            </a:r>
            <a:r>
              <a:rPr sz="1400" b="1" i="0">
                <a:solidFill>
                  <a:srgbClr val="07734A"/>
                </a:solidFill>
                <a:latin typeface="Verdana"/>
              </a:rPr>
              <a:t>» VRAI</a:t>
            </a:r>
          </a:p>
        </p:txBody>
      </p:sp>
      <p:sp>
        <p:nvSpPr>
          <p:cNvPr id="20" name="Rounded Rectangle 19"/>
          <p:cNvSpPr/>
          <p:nvPr/>
        </p:nvSpPr>
        <p:spPr>
          <a:xfrm>
            <a:off x="566928" y="4203192"/>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24680"/>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88688"/>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3" name="TextBox 22"/>
          <p:cNvSpPr txBox="1"/>
          <p:nvPr/>
        </p:nvSpPr>
        <p:spPr>
          <a:xfrm>
            <a:off x="1344168" y="4358640"/>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un membre quitte son logement, il revend sa part comme un condo.   </a:t>
            </a:r>
            <a:r>
              <a:rPr sz="1400" b="1" i="0">
                <a:solidFill>
                  <a:srgbClr val="07734A"/>
                </a:solidFill>
                <a:latin typeface="Verdana"/>
              </a:rPr>
              <a:t>» FAUX — il récupère sa part sociale</a:t>
            </a:r>
          </a:p>
        </p:txBody>
      </p:sp>
      <p:sp>
        <p:nvSpPr>
          <p:cNvPr id="24" name="Rounded Rectangle 23"/>
          <p:cNvSpPr/>
          <p:nvPr/>
        </p:nvSpPr>
        <p:spPr>
          <a:xfrm>
            <a:off x="566928" y="513994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premières coopératives québécoises datent des années 1970.   </a:t>
            </a:r>
            <a:r>
              <a:rPr sz="1400" b="1" i="0">
                <a:solidFill>
                  <a:srgbClr val="07734A"/>
                </a:solidFill>
                <a:latin typeface="Verdana"/>
              </a:rPr>
              <a:t>» VRAI</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Être membre n'exige aucune participation personnelle.   </a:t>
            </a:r>
            <a:r>
              <a:rPr sz="1400" b="1" i="0">
                <a:solidFill>
                  <a:srgbClr val="07734A"/>
                </a:solidFill>
                <a:latin typeface="Verdana"/>
              </a:rPr>
              <a:t>» FAUX — du temps est exigé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Dans quel type de logement habitez-vous, et à qui vous adressez-vous en cas de problème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Vous n'avez pas à écrire votre adresse.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J'habite un logement privé ; je m'adresse à mon propriétaire.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