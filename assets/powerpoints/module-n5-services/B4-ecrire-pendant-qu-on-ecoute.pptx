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défi 1, et la plus pratique. Prévoir des feuilles de prise de notes vierges, et deux téléphones si le groupe accepte de faire un appel réel en classe.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la ligne une seule fois, au rythme normal du téléphone. L'échec est le but : il ouvre la séance mieux que n'importe quelle explication. Presque personne ne demandera de répéter — le relever.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dessiner la feuille tout de suite, avant de continuer : elle servira pendant le reste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l'outil que les élèves emporteront hors du cours ; le dire explicitement.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carte règle le vrai problème : le silence pendant qu'on écrit. Répéter à voix haute le remplit utilement et vérifie en même temps.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Nommer la honte ouvertement : c'est le vrai obstacle de cette séance, bien plus que la langue. Beaucoup d'élèves seront soulagés qu'on le dise.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Refaire écouter l'appel une fois pendant qu'ils remplissent, puis une seconde fois pour vérifier. La deuxième écoute est celle qui apprend.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à dos : c'est la seule façon de reproduire le téléphone en classe. Circuler et noter les questions oubliées sans interrompre. Bilan collectif à la fin, au tableau, sans nommer personne.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Dix minutes au casque. Les élèves qui ont échoué au déclencheur réussissent presque toujours ici : le dire, ça se voit sur les visages.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devoir le plus exigeant du module. Prévenir que certains n'oseront pas, et offrir de faire l'appel en classe, à côté de vous, à ceux qui le demandent. Plusieurs le demanderont.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B4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Écrire pendant qu'on écoute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Comprendre et écrire en même temps, dans une langue qu'on apprend : beaucoup choisissent de tout comprendre et de ne rien noter. La solution n'est pas d'écrire plus vite, c'est d'écrire moins.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Les services de ma ville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préparer une feuille d'appel avant de composer le numéro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noter cinq renseignements et pas davantage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répéter un numéro à voix haute pour le confirmer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formules qui font ralentir sans gêner personne.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EXPÉRIENCE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200" b="1" i="0">
                <a:solidFill>
                  <a:srgbClr val="17181A"/>
                </a:solidFill>
                <a:latin typeface="Verdana"/>
              </a:rPr>
              <a:t>Je vous dicte un numéro de requête. Notez-le.</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24-118-7690, trois jours ouvrables, madame Micheline, jeudi.</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choses avez-vous notées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avez perdu en écrivant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a osé demander de répéter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CINQ CHOSES, JAMAIS PLUS</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numéro, le délai, la date, le nom de la personne, ce qu'il faut faire ensuite.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feuille se prépare avant l'appel, avec ces cinq lignes déjà écrites : il ne reste qu'à remplir des trous. Le reste, on s'en souvient — ou ça ne comptait pas.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FEUILLE D'APPEL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lignes, préparées d'avance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LIGNE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POURQUOI ELLE Y EST</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Date de l'appel</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sans elle, « trois jours ouvrables » ne veut rien dire</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Numéro de requête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seule chose qu'on ne peut pas reconstituer</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Délai annoncé</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en jours ouvrables, pas en jours de calendrier</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Nom de la personne</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au deuxième appel, il fait gagner cinq minutes</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Ce qu'il faut faire ensuite</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rappeler, se déplacer, attendre</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 numéro s'écrit pendant qu'il se dit, jamais de mémoire après coup.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SIX FORMULES POUR RALENTIR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Sans gêner personne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Avant de commencer</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Un instant, je prends une feuille. » — cinq secondes gagnées.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La plus utile de toutes</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Pouvez-vous répéter plus lentement, s'il vous plaît ?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Pendant qu'on écrit</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Je vous répète le numéro : … C'est bien ça ? »</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Pour vérifier qu'on a compris</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Trois jours ouvrables. Donc pas avant vendredi, si je comprends bien ?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NE PAS OSER FAIRE RÉPÉTER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va trouver que je comprends mal le français.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Pouvez-vous répéter plus lentement, s'il vous plaît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préposé répète vingt fois par jour, à des gens de toutes les langues. Faire répéter est le signe qu'on prend la démarche au sérieux. Ne pas le faire, c'est repartir avec un numéro faux — ce qui coûte un deuxième appel.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PRISE DE NOTES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Remplissez la fiche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D'après l'appel de la séance B1.</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Service appelé</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Motif</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Personne rencontrée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Jour de collecte du secteur</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Heure limite pour sortir le bac</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Numéro de requête</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Délai annoncé</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rien n'arrive d'ici vendredi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Remplissez la fiche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Service appelé   </a:t>
            </a:r>
            <a:r>
              <a:rPr sz="1400" b="1" i="0">
                <a:solidFill>
                  <a:srgbClr val="07734A"/>
                </a:solidFill>
                <a:latin typeface="Verdana"/>
              </a:rPr>
              <a:t>» le 311 de la Ville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Motif   </a:t>
            </a:r>
            <a:r>
              <a:rPr sz="1400" b="1" i="0">
                <a:solidFill>
                  <a:srgbClr val="07734A"/>
                </a:solidFill>
                <a:latin typeface="Verdana"/>
              </a:rPr>
              <a:t>» le bac brun n'a pas été ramassé depuis deux semaines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Personne rencontrée   </a:t>
            </a:r>
            <a:r>
              <a:rPr sz="1400" b="1" i="0">
                <a:solidFill>
                  <a:srgbClr val="07734A"/>
                </a:solidFill>
                <a:latin typeface="Verdana"/>
              </a:rPr>
              <a:t>» madame Micheline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Jour de collecte du secteur   </a:t>
            </a:r>
            <a:r>
              <a:rPr sz="1400" b="1" i="0">
                <a:solidFill>
                  <a:srgbClr val="07734A"/>
                </a:solidFill>
                <a:latin typeface="Verdana"/>
              </a:rPr>
              <a:t>» le mardi matin</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Heure limite pour sortir le bac   </a:t>
            </a:r>
            <a:r>
              <a:rPr sz="1400" b="1" i="0">
                <a:solidFill>
                  <a:srgbClr val="07734A"/>
                </a:solidFill>
                <a:latin typeface="Verdana"/>
              </a:rPr>
              <a:t>» avant sept heures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Numéro de requête   </a:t>
            </a:r>
            <a:r>
              <a:rPr sz="1400" b="1" i="0">
                <a:solidFill>
                  <a:srgbClr val="07734A"/>
                </a:solidFill>
                <a:latin typeface="Verdana"/>
              </a:rPr>
              <a:t>» 24-118-7690</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Délai annoncé   </a:t>
            </a:r>
            <a:r>
              <a:rPr sz="1400" b="1" i="0">
                <a:solidFill>
                  <a:srgbClr val="07734A"/>
                </a:solidFill>
                <a:latin typeface="Verdana"/>
              </a:rPr>
              <a:t>» trois jours ouvrables</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rien n'arrive d'ici vendredi   </a:t>
            </a:r>
            <a:r>
              <a:rPr sz="1400" b="1" i="0">
                <a:solidFill>
                  <a:srgbClr val="07734A"/>
                </a:solidFill>
                <a:latin typeface="Verdana"/>
              </a:rPr>
              <a:t>» rappeler avec le numéro de requête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JEU DE RÔLE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par deux, dos à dos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L'un appelle, l'autre est le préposé. Cinq minutes, puis on inverse.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bac brun n'est plus ramassé</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vieux réfrigérateur à jeter</a:t>
            </a:r>
          </a:p>
        </p:txBody>
      </p:sp>
      <p:sp>
        <p:nvSpPr>
          <p:cNvPr id="16" name="Rounded Rectangle 15"/>
          <p:cNvSpPr/>
          <p:nvPr/>
        </p:nvSpPr>
        <p:spPr>
          <a:xfrm>
            <a:off x="566928" y="3693160"/>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0354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755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demande bloquée en ligne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DANS L'ACTIVITÉ INTERACTIVE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L'exercice à l'écran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À quel moment de l'appel dit-on chaque phrase ?</a:t>
            </a:r>
          </a:p>
        </p:txBody>
      </p:sp>
      <p:sp>
        <p:nvSpPr>
          <p:cNvPr id="8" name="Rounded Rectangle 7"/>
          <p:cNvSpPr/>
          <p:nvPr/>
        </p:nvSpPr>
        <p:spPr>
          <a:xfrm>
            <a:off x="3297263" y="2084831"/>
            <a:ext cx="5597169" cy="4087368"/>
          </a:xfrm>
          <a:prstGeom prst="roundRect">
            <a:avLst>
              <a:gd name="adj" fmla="val 2237"/>
            </a:avLst>
          </a:prstGeom>
          <a:solidFill>
            <a:srgbClr val="FFFFFF"/>
          </a:solidFill>
          <a:ln w="12700">
            <a:solidFill>
              <a:srgbClr val="D6D6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1phrases.png"/>
          <p:cNvPicPr>
            <a:picLocks noChangeAspect="1"/>
          </p:cNvPicPr>
          <p:nvPr/>
        </p:nvPicPr>
        <p:blipFill>
          <a:blip r:embed="rId2"/>
          <a:stretch>
            <a:fillRect/>
          </a:stretch>
        </p:blipFill>
        <p:spPr>
          <a:xfrm>
            <a:off x="3315551" y="2103120"/>
            <a:ext cx="5560593" cy="405079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Faites un vrai appel cette semaine, avec votre feuille préparée.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Ville, école, clinique, assurance — n'importe quelle démarche réelle.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Apportez votre feuille remplie. Nous les regarderons ensemble.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Les services de ma ville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