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Ramasser le devoir A3 et en lire trois phrases à voix haute, sans nommer les auteurs. Elles servent d'échauffement et montrent où en est le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celle qui compte. Beaucoup d'élèves croient qu'on leur demande d'adopter ce registre. Dire tout de suite que non : il s'agit de le comprendre, et de l'employer seulement quand on s'adresse au service.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clé de toute la séance : la précision, jamais l'élégance.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trois mots du téléphone : ce sont ceux du défi 1, et « requête » est le plus important des trois.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la note : plusieurs élèves croient qu'on leur reproche leur façon de parler.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carte surprend et fait rire, ce qui la rend mémorable. Beaucoup d'élèves pensent que plus c'est compliqué, mieux c'est.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Nommer l'inquiétude : plusieurs élèves n'osent pas téléphoner de peur de « mal parler ». Or l'obstacle réel est le vocabulaire, pas le style.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Accepter toute reformulation claire et polie. L'important est le mot juste et le « vous », pas la tournure exacte.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annonce le bloc E : l'appel en E1, le courriel en E2. Le dire au groupe pour qu'il voie où va le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de repérage. Il transforme le courrier que les élèves reçoivent déjà en matériel de cours, et prépare le défi 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langue de l'administration</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Les vidanges » et « les matières résiduelles » désignent la même chose. Un seul des deux se trouve dans un règlement — et c'est celui-là qui décide de ce que le camion ramasse.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Les services de ma ville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mots officiels des services publics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passer du mot courant au mot officiel et retour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que reconnaître ne veut pas dire imiter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 bon registre selon qu'on écrit ou qu'on parle.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Pourquoi un règlement n'écrit-il pas « les vidanges »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pour faire savant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pour être poli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se passe-t-il si deux mots ne veulent pas dire exactement la même chose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devez parler comme ça, vous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MOT OFFICIEL EST UN MOT PRÉCIS, PAS UN MOT CHIC</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Il a une valeur légale : c'est lui qui est écrit dans le règlement.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Une demande » peut rester sans trace ; « une requête » porte un numéro. Ce n'est pas la même chose, et c'est pour cela que les deux mots existent. Employer le mot du service, c'est parler de la même chose que lui.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MOTS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démarche elle-même</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QUOTIDIEN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SERVICE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demande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requête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temps que ça prend</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délai</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jours de semaine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les jours ouvrables</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On dit la gauche à son voisin, la droite au service.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MOTS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choses et les gens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QUOTIDIEN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SERVICE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vidanges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les matières résiduelles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personne au comptoir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préposé</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prix d'astheure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les tarifs en vigueur</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La colonne de gauche n'est pas fautive : elle est d'un autre usage.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QUATRE FORMULES D'OUVERTURE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Répondre dans le même registre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On vous dit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Comment puis-je vous aider ? » — poli, neutre, professionnel.</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Vous répondez</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Bonjour, je vous appelle parce que… » — et non « ouais, c'est parce que…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À l'écrit, on commence par</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Bonjour, » et on emploie « vous » du début à la fin.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On ne dit jamais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Je sollicite votre bienveillante attention. » Trop, c'est aussi une erreur.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CROIRE QU'IL FAUT PARLER COMME UN RÈGLEMENT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sollicite l'ouverture d'une requête auprès de vos services.</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je voudrais ouvrir une requête, s'il vous plaît.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service public parle un français clair et courant. Le registre soutenu n'ajoute rien et rend la demande moins facile à traiter. Ce qu'il faut, c'est le mot juste dans une phrase simple.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REGISTRE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au service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Reformulez chaque phrase comme vous la diriez à un préposé.</a:t>
            </a:r>
          </a:p>
        </p:txBody>
      </p:sp>
      <p:sp>
        <p:nvSpPr>
          <p:cNvPr id="8" name="Rounded Rectangle 7"/>
          <p:cNvSpPr/>
          <p:nvPr/>
        </p:nvSpPr>
        <p:spPr>
          <a:xfrm>
            <a:off x="566928" y="2139696"/>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fait deux semaines que mes vidanges sont pas ramassées.</a:t>
            </a:r>
          </a:p>
        </p:txBody>
      </p:sp>
      <p:sp>
        <p:nvSpPr>
          <p:cNvPr id="12" name="Rounded Rectangle 11"/>
          <p:cNvSpPr/>
          <p:nvPr/>
        </p:nvSpPr>
        <p:spPr>
          <a:xfrm>
            <a:off x="566928" y="3076447"/>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734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3748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23189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prend combien de temps, votre affaire ?</a:t>
            </a:r>
          </a:p>
        </p:txBody>
      </p:sp>
      <p:sp>
        <p:nvSpPr>
          <p:cNvPr id="16" name="Rounded Rectangle 15"/>
          <p:cNvSpPr/>
          <p:nvPr/>
        </p:nvSpPr>
        <p:spPr>
          <a:xfrm>
            <a:off x="566928" y="376427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veux que vous notiez ma demande quelque part.</a:t>
            </a:r>
          </a:p>
        </p:txBody>
      </p:sp>
      <p:sp>
        <p:nvSpPr>
          <p:cNvPr id="20" name="Rounded Rectangle 19"/>
          <p:cNvSpPr/>
          <p:nvPr/>
        </p:nvSpPr>
        <p:spPr>
          <a:xfrm>
            <a:off x="566928" y="4452111"/>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C'est-tu les prix d'astheure ou les vieux ?</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vais passer un de ces jours.</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Faut-tu que j'apporte des papiers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au service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3611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251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fait deux semaines que mes vidanges sont pas ramassées.   </a:t>
            </a:r>
            <a:r>
              <a:rPr sz="1400" b="1" i="0">
                <a:solidFill>
                  <a:srgbClr val="07734A"/>
                </a:solidFill>
                <a:latin typeface="Verdana"/>
              </a:rPr>
              <a:t>» Mon bac n'a pas été ramassé depuis deux semaines.</a:t>
            </a:r>
          </a:p>
        </p:txBody>
      </p:sp>
      <p:sp>
        <p:nvSpPr>
          <p:cNvPr id="12" name="Rounded Rectangle 11"/>
          <p:cNvSpPr/>
          <p:nvPr/>
        </p:nvSpPr>
        <p:spPr>
          <a:xfrm>
            <a:off x="566928" y="3076447"/>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734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3748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23189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prend combien de temps, votre affaire ?   </a:t>
            </a:r>
            <a:r>
              <a:rPr sz="1400" b="1" i="0">
                <a:solidFill>
                  <a:srgbClr val="07734A"/>
                </a:solidFill>
                <a:latin typeface="Verdana"/>
              </a:rPr>
              <a:t>» Quel est le délai de traitement, s'il vous plaît ?</a:t>
            </a:r>
          </a:p>
        </p:txBody>
      </p:sp>
      <p:sp>
        <p:nvSpPr>
          <p:cNvPr id="16" name="Rounded Rectangle 15"/>
          <p:cNvSpPr/>
          <p:nvPr/>
        </p:nvSpPr>
        <p:spPr>
          <a:xfrm>
            <a:off x="566928" y="376427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61307"/>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92531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91972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veux que vous notiez ma demande quelque part.   </a:t>
            </a:r>
            <a:r>
              <a:rPr sz="1400" b="1" i="0">
                <a:solidFill>
                  <a:srgbClr val="07734A"/>
                </a:solidFill>
                <a:latin typeface="Verdana"/>
              </a:rPr>
              <a:t>» Est-ce que vous pouvez ouvrir une requête ?</a:t>
            </a:r>
          </a:p>
        </p:txBody>
      </p:sp>
      <p:sp>
        <p:nvSpPr>
          <p:cNvPr id="20" name="Rounded Rectangle 19"/>
          <p:cNvSpPr/>
          <p:nvPr/>
        </p:nvSpPr>
        <p:spPr>
          <a:xfrm>
            <a:off x="566928" y="4452111"/>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549139"/>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13147"/>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07559"/>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C'est-tu les prix d'astheure ou les vieux ?   </a:t>
            </a:r>
            <a:r>
              <a:rPr sz="1400" b="1" i="0">
                <a:solidFill>
                  <a:srgbClr val="07734A"/>
                </a:solidFill>
                <a:latin typeface="Verdana"/>
              </a:rPr>
              <a:t>» Est-ce que ce sont les tarifs en vigueur ?</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vais passer un de ces jours.   </a:t>
            </a:r>
            <a:r>
              <a:rPr sz="1400" b="1" i="0">
                <a:solidFill>
                  <a:srgbClr val="07734A"/>
                </a:solidFill>
                <a:latin typeface="Verdana"/>
              </a:rPr>
              <a:t>» Je me présenterai au comptoir cette semaine.</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Faut-tu que j'apporte des papiers ?   </a:t>
            </a:r>
            <a:r>
              <a:rPr sz="1400" b="1" i="0">
                <a:solidFill>
                  <a:srgbClr val="07734A"/>
                </a:solidFill>
                <a:latin typeface="Verdana"/>
              </a:rPr>
              <a:t>» Est-ce qu'il faut apporter des pièces justificatives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QUI CHANGE ENTRE PARLER ET ÉCRIRE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registres, une même démarche</a:t>
            </a:r>
          </a:p>
        </p:txBody>
      </p:sp>
      <p:sp>
        <p:nvSpPr>
          <p:cNvPr id="7" name="Rounded Rectangle 6"/>
          <p:cNvSpPr/>
          <p:nvPr/>
        </p:nvSpPr>
        <p:spPr>
          <a:xfrm>
            <a:off x="566928" y="1810512"/>
            <a:ext cx="11057839" cy="2932176"/>
          </a:xfrm>
          <a:prstGeom prst="roundRect">
            <a:avLst>
              <a:gd name="adj" fmla="val 49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TÉLÉPHONE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UN COURRIEL</a:t>
            </a:r>
          </a:p>
        </p:txBody>
      </p:sp>
      <p:sp>
        <p:nvSpPr>
          <p:cNvPr id="10" name="TextBox 9"/>
          <p:cNvSpPr txBox="1"/>
          <p:nvPr/>
        </p:nvSpPr>
        <p:spPr>
          <a:xfrm>
            <a:off x="932688" y="2395728"/>
            <a:ext cx="3291492" cy="573024"/>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 Bonjour, je vous appelle parce que… »</a:t>
            </a:r>
          </a:p>
        </p:txBody>
      </p:sp>
      <p:sp>
        <p:nvSpPr>
          <p:cNvPr id="11" name="TextBox 10"/>
          <p:cNvSpPr txBox="1"/>
          <p:nvPr/>
        </p:nvSpPr>
        <p:spPr>
          <a:xfrm>
            <a:off x="4443636" y="2395728"/>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 Bonjour, Je vous écris au sujet de… »</a:t>
            </a:r>
          </a:p>
        </p:txBody>
      </p:sp>
      <p:sp>
        <p:nvSpPr>
          <p:cNvPr id="12" name="Rectangle 11"/>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69920"/>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on peut hésiter, reprendre</a:t>
            </a:r>
          </a:p>
        </p:txBody>
      </p:sp>
      <p:sp>
        <p:nvSpPr>
          <p:cNvPr id="14" name="TextBox 13"/>
          <p:cNvSpPr txBox="1"/>
          <p:nvPr/>
        </p:nvSpPr>
        <p:spPr>
          <a:xfrm>
            <a:off x="4443636" y="316992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relit avant d'envoyer</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on fait répéter</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cite le numéro de requête</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304800"/>
          </a:xfrm>
          <a:prstGeom prst="rect">
            <a:avLst/>
          </a:prstGeom>
          <a:noFill/>
        </p:spPr>
        <p:txBody>
          <a:bodyPr wrap="square" lIns="0" rIns="0" tIns="0" bIns="0" anchor="t">
            <a:spAutoFit/>
          </a:bodyPr>
          <a:lstStyle/>
          <a:p>
            <a:pPr algn="l">
              <a:lnSpc>
                <a:spcPct val="132000"/>
              </a:lnSpc>
            </a:pPr>
            <a:r>
              <a:rPr sz="1600" b="1" i="0">
                <a:solidFill>
                  <a:srgbClr val="B45309"/>
                </a:solidFill>
                <a:latin typeface="Verdana"/>
              </a:rPr>
              <a:t>on remercie et on raccroche</a:t>
            </a:r>
          </a:p>
        </p:txBody>
      </p:sp>
      <p:sp>
        <p:nvSpPr>
          <p:cNvPr id="20" name="TextBox 19"/>
          <p:cNvSpPr txBox="1"/>
          <p:nvPr/>
        </p:nvSpPr>
        <p:spPr>
          <a:xfrm>
            <a:off x="4443636" y="418185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termine par une formule de salutation</a:t>
            </a:r>
          </a:p>
        </p:txBody>
      </p:sp>
      <p:sp>
        <p:nvSpPr>
          <p:cNvPr id="21" name="Rounded Rectangle 20"/>
          <p:cNvSpPr/>
          <p:nvPr/>
        </p:nvSpPr>
        <p:spPr>
          <a:xfrm>
            <a:off x="566928" y="498043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23646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La même personne, la même demande — deux façons de la porter.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Relevez trois mots officiels dans un papier reçu chez vous.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 avis, une facture, une lettre d'un ministère, un courriel d'école.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Pour chacun, écrivez comment vous diriez la même chose à un ami.</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Les services de ma ville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