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au groupe qui est déjà allé au secrétariat depuis son inscription, et pourquoi. Les réponses donnent des exemples réels pour toute la semaine — et révèlent souvent que plusieurs n'y sont jamais entrés.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répondre sans corriger. Les usages varient beaucoup d'un pays à l'autre : dans plusieurs systèmes, on ne prévient personne. Noter les réponses au tableau, on y reviendra à la fin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 la logique du module est dans la quatrième réplique. La faire reformuler par un élève avant d'aller plus loin : pourquoi jeudi matin, c'est trop tard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Remplacer « en bas, à côté de la porte d'entrée » par le vrai chemin dans votre centre, et le faire répéter. Si possible, y descendre en groupe à la fin de la séance : cinq minutes qui valent une heure d'explication.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Ton nom, ton prénom, ton groupe » est la formule à mémoriser du module. La faire dire à voix haute par chaque élève, avec ses vraies données.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dire à chacun son propre numéro de groupe : c'est le renseignement qu'ils oublieront au comptoir.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Ne pas dramatiser : il n'y a pas de punition. Ce qui se joue, c'est la confiance et la trace écrite.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trente secondes, et pourtant le plus utile du bloc A. Vérifier à l'entrée de A2 que chacun sait dire sa ligne sans regarder.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Il faut le dire au secrétariat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Manquer un cours arrive à tout le monde. Ce qui change tout, c'est de le dire — au bon endroit, à la bonne personne, avant plutôt qu'après.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L'absence de Nawel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 secrétariat, le comptoir, le groupe et le dossier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camarades de classe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à qui s'adresse une absence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la différence entre prévenir et ne rien dire.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ne pouvez pas venir demain. Vous faites quoi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le dites-vous : à l'enseignante, au secrétariat, à personne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 avant ou en revenant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faut un papier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arrive si on ne dit rien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Je ne serai pas là jeudi</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10" name="TextBox 9"/>
          <p:cNvSpPr txBox="1"/>
          <p:nvPr/>
        </p:nvSpPr>
        <p:spPr>
          <a:xfrm>
            <a:off x="2157507" y="2322576"/>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Tariq, je ne serai pas là jeudi. Ma fille a un rendez-vous à la clinique.</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3" name="TextBox 12"/>
          <p:cNvSpPr txBox="1"/>
          <p:nvPr/>
        </p:nvSpPr>
        <p:spPr>
          <a:xfrm>
            <a:off x="2157507" y="3071876"/>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l'as dit à l'enseignante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16" name="TextBox 15"/>
          <p:cNvSpPr txBox="1"/>
          <p:nvPr/>
        </p:nvSpPr>
        <p:spPr>
          <a:xfrm>
            <a:off x="2157507" y="3821175"/>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pas encore. Je vais lui dire jeudi matin, en arrivant.</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9" name="TextBox 18"/>
          <p:cNvSpPr txBox="1"/>
          <p:nvPr/>
        </p:nvSpPr>
        <p:spPr>
          <a:xfrm>
            <a:off x="2157507" y="4570475"/>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Jeudi matin, tu ne seras pas là ! Il faut le dire avant.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bureau en bas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9" name="TextBox 8"/>
          <p:cNvSpPr txBox="1"/>
          <p:nvPr/>
        </p:nvSpPr>
        <p:spPr>
          <a:xfrm>
            <a:off x="2157507" y="19019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Avant ? À qui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2" name="TextBox 11"/>
          <p:cNvSpPr txBox="1"/>
          <p:nvPr/>
        </p:nvSpPr>
        <p:spPr>
          <a:xfrm>
            <a:off x="2157507" y="26512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 secrétariat. C'est le bureau en bas, à côté de la porte d'entrée.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15" name="TextBox 14"/>
          <p:cNvSpPr txBox="1"/>
          <p:nvPr/>
        </p:nvSpPr>
        <p:spPr>
          <a:xfrm>
            <a:off x="2157507" y="340055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grand comptoir avec la dame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8" name="TextBox 17"/>
          <p:cNvSpPr txBox="1"/>
          <p:nvPr/>
        </p:nvSpPr>
        <p:spPr>
          <a:xfrm>
            <a:off x="2157507" y="414985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La secrétaire s'appelle madame Cloutier. Elle est très gentille.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je dis quoi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9" name="TextBox 8"/>
          <p:cNvSpPr txBox="1"/>
          <p:nvPr/>
        </p:nvSpPr>
        <p:spPr>
          <a:xfrm>
            <a:off x="2157507" y="19019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je dis quoi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2" name="TextBox 11"/>
          <p:cNvSpPr txBox="1"/>
          <p:nvPr/>
        </p:nvSpPr>
        <p:spPr>
          <a:xfrm>
            <a:off x="2157507" y="26512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Ton nom, ton prénom, ton groupe, et le jour où tu vas être absente.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NAWEL</a:t>
            </a:r>
          </a:p>
        </p:txBody>
      </p:sp>
      <p:sp>
        <p:nvSpPr>
          <p:cNvPr id="15" name="TextBox 14"/>
          <p:cNvSpPr txBox="1"/>
          <p:nvPr/>
        </p:nvSpPr>
        <p:spPr>
          <a:xfrm>
            <a:off x="2157507" y="340055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 groupe… je suis dans le groupe 12, l'avant-midi.</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TARIQ</a:t>
            </a:r>
          </a:p>
        </p:txBody>
      </p:sp>
      <p:sp>
        <p:nvSpPr>
          <p:cNvPr id="18" name="TextBox 17"/>
          <p:cNvSpPr txBox="1"/>
          <p:nvPr/>
        </p:nvSpPr>
        <p:spPr>
          <a:xfrm>
            <a:off x="2157507" y="414985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écrit ton absence dans ton dossier et elle prévient l'enseignante.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du centre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C'EST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secrétariat</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bureau où on donne et où on demande les papiers</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comptoir</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meuble haut derrière lequel on est reçu</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secrétaire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personne qui écrit dans les dossiers</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groupe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numéro de votre classe : 12, 14, 21…</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dossier</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vos papiers au centre : absences, résultats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Ces cinq mots reviennent dans les quatre séances du 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PRÉVENIR, C'EST PARLER AVANT</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Jeudi, je vais être absente.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absence annoncée d'avance est notée comme prévenue. Une absence sans nouvelle reste inscrite, mais sans raison. Ce n'est pas la même chose au dossier, et ce n'est pas la même chose pour l'enseignante.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Nawel ne pourra pas venir au cours jeudi.</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Tariq dit que c'est une bonne idée d'attendre jeudi.</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secrétariat est en bas, à côté de la porte d'entrée.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Nawel est dans le groupe 12, l'avant-midi.</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absence sans nouvelle est la même chose qu'une absence annoncée.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Nawel ne pourra pas venir au cours jeudi.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Tariq dit que c'est une bonne idée d'attendre jeudi.   </a:t>
            </a:r>
            <a:r>
              <a:rPr sz="1900" b="1" i="0">
                <a:solidFill>
                  <a:srgbClr val="07734A"/>
                </a:solidFill>
                <a:latin typeface="Verdana"/>
              </a:rPr>
              <a:t>» faux — il faut le dire avant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secrétariat est en bas, à côté de la porte d'entrée.   </a:t>
            </a:r>
            <a:r>
              <a:rPr sz="1900" b="1" i="0">
                <a:solidFill>
                  <a:srgbClr val="07734A"/>
                </a:solidFill>
                <a:latin typeface="Verdana"/>
              </a:rPr>
              <a:t>» vrai</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Nawel est dans le groupe 12, l'avant-midi.   </a:t>
            </a:r>
            <a:r>
              <a:rPr sz="1900" b="1" i="0">
                <a:solidFill>
                  <a:srgbClr val="07734A"/>
                </a:solidFill>
                <a:latin typeface="Verdana"/>
              </a:rPr>
              <a:t>» vrai</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absence sans nouvelle est la même chose qu'une absence annoncée.   </a:t>
            </a:r>
            <a:r>
              <a:rPr sz="1900" b="1" i="0">
                <a:solidFill>
                  <a:srgbClr val="07734A"/>
                </a:solidFill>
                <a:latin typeface="Verdana"/>
              </a:rPr>
              <a:t>» faux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nom, votre prénom et votre groupe sur une ligne.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Comme vous le direz au comptoir : « Nawel Belkacem, groupe 12.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Apprenez-la par cœur : elle sert à chaque séance du module.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L'absence de Nawel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