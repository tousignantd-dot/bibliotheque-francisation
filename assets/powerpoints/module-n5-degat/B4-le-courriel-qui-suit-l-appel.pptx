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défi 1. Elle réunit tout le bloc : le récit au passé, le gérondif, la description précise. Prévoir vingt minutes d'écriture individuelle à la fin.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Insister : ce n'est pas de la méfiance, c'est de la méthode — et ça vaut pour toutes les démarches, pas seulement le logement.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qu'aucune des quatre ne demande de raconter à nouveau : le récit a été fait au téléphone.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question est celle qui pose problème : une photo dans un téléphone n'est pas une preuve transmise. C'est le courriel qui la rend utile.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Formulation utile : « le courriel est le reçu de l'appel ». Elle évite les courriels de deux pages.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lire le courriel complet à voix haute une fois corrigé : l'entendre d'un bloc montre à quel point il est court.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de stratégie autant que de langue. Il vaut la peine d'être dit explicitement : beaucoup d'élèves écrivent leur colère dans le premier courriel et n'ont plus rien à jouer ensuite.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un élève tient à raconter, lui proposer de le faire dans un document à part, joint au courriel. La forme courte est préservée.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Vérifier une seule chose dans l'objet : est-ce qu'il permet de retrouver le courriel dans six mois ?</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B4  ·  MODULE 2</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courriel qui suit l'appel</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appel ne laisse pas de trace. Un courriel, oui — et c'est la date de ce courriel qui comptera si la réparation traîne.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Un dégât d'eau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pourquoi on écrit après avoir téléphoné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résumer une entente en deux lignes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annoncer et nommer ses pièces jointes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garder un ton courtois dans un courriel de constat.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ÉCRIRE APRÈS AVOIR TÉLÉPHONÉ</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courriel prouve la date à laquelle le propriétaire a su.</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appel se conteste : « je ne me souviens pas », « vous m'avez dit autre chose ». Un courriel affiche une date, et cette date ne se discute pas. C'est elle qui compte si la réparation traîne, et c'est elle que regardera un juge administratif s'il faut aller jusque-là.</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LES QUATRE PARTIES D'UN COURRIEL DE CONSTAT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Court, et complet</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72110"/>
          </a:xfrm>
          <a:prstGeom prst="rect">
            <a:avLst/>
          </a:prstGeom>
          <a:noFill/>
        </p:spPr>
        <p:txBody>
          <a:bodyPr wrap="square" lIns="0" rIns="0" tIns="0" bIns="0" anchor="t">
            <a:spAutoFit/>
          </a:bodyPr>
          <a:lstStyle/>
          <a:p>
            <a:pPr algn="l">
              <a:lnSpc>
                <a:spcPct val="118000"/>
              </a:lnSpc>
            </a:pPr>
            <a:r>
              <a:rPr sz="2300" b="1" i="0">
                <a:solidFill>
                  <a:srgbClr val="B45309"/>
                </a:solidFill>
                <a:latin typeface="Verdana"/>
              </a:rPr>
              <a:t>L'objet, précis</a:t>
            </a:r>
          </a:p>
        </p:txBody>
      </p:sp>
      <p:sp>
        <p:nvSpPr>
          <p:cNvPr id="9" name="TextBox 8"/>
          <p:cNvSpPr txBox="1"/>
          <p:nvPr/>
        </p:nvSpPr>
        <p:spPr>
          <a:xfrm>
            <a:off x="886968" y="2484373"/>
            <a:ext cx="4806543" cy="110464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Dégât d'eau — logement 4, 118 rue Sainte-Hélène. » On le retrouve dans six mois.</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72110"/>
          </a:xfrm>
          <a:prstGeom prst="rect">
            <a:avLst/>
          </a:prstGeom>
          <a:noFill/>
        </p:spPr>
        <p:txBody>
          <a:bodyPr wrap="square" lIns="0" rIns="0" tIns="0" bIns="0" anchor="t">
            <a:spAutoFit/>
          </a:bodyPr>
          <a:lstStyle/>
          <a:p>
            <a:pPr algn="l">
              <a:lnSpc>
                <a:spcPct val="118000"/>
              </a:lnSpc>
            </a:pPr>
            <a:r>
              <a:rPr sz="2300" b="1" i="0">
                <a:solidFill>
                  <a:srgbClr val="B45309"/>
                </a:solidFill>
                <a:latin typeface="Verdana"/>
              </a:rPr>
              <a:t>Le rappel de l'appel</a:t>
            </a:r>
          </a:p>
        </p:txBody>
      </p:sp>
      <p:sp>
        <p:nvSpPr>
          <p:cNvPr id="12" name="TextBox 11"/>
          <p:cNvSpPr txBox="1"/>
          <p:nvPr/>
        </p:nvSpPr>
        <p:spPr>
          <a:xfrm>
            <a:off x="6498183" y="2484373"/>
            <a:ext cx="4806543" cy="110464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Je fais suite à notre conversation téléphonique de ce matin.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72110"/>
          </a:xfrm>
          <a:prstGeom prst="rect">
            <a:avLst/>
          </a:prstGeom>
          <a:noFill/>
        </p:spPr>
        <p:txBody>
          <a:bodyPr wrap="square" lIns="0" rIns="0" tIns="0" bIns="0" anchor="t">
            <a:spAutoFit/>
          </a:bodyPr>
          <a:lstStyle/>
          <a:p>
            <a:pPr algn="l">
              <a:lnSpc>
                <a:spcPct val="118000"/>
              </a:lnSpc>
            </a:pPr>
            <a:r>
              <a:rPr sz="2300" b="1" i="0">
                <a:solidFill>
                  <a:srgbClr val="B45309"/>
                </a:solidFill>
                <a:latin typeface="Verdana"/>
              </a:rPr>
              <a:t>Le résumé de l'entente</a:t>
            </a:r>
          </a:p>
        </p:txBody>
      </p:sp>
      <p:sp>
        <p:nvSpPr>
          <p:cNvPr id="15" name="TextBox 14"/>
          <p:cNvSpPr txBox="1"/>
          <p:nvPr/>
        </p:nvSpPr>
        <p:spPr>
          <a:xfrm>
            <a:off x="886968" y="4701794"/>
            <a:ext cx="4806543" cy="110464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La date, l'entreprise, ce qu'on attend de vous. Deux lignes.</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72110"/>
          </a:xfrm>
          <a:prstGeom prst="rect">
            <a:avLst/>
          </a:prstGeom>
          <a:noFill/>
        </p:spPr>
        <p:txBody>
          <a:bodyPr wrap="square" lIns="0" rIns="0" tIns="0" bIns="0" anchor="t">
            <a:spAutoFit/>
          </a:bodyPr>
          <a:lstStyle/>
          <a:p>
            <a:pPr algn="l">
              <a:lnSpc>
                <a:spcPct val="118000"/>
              </a:lnSpc>
            </a:pPr>
            <a:r>
              <a:rPr sz="2300" b="1" i="0">
                <a:solidFill>
                  <a:srgbClr val="B45309"/>
                </a:solidFill>
                <a:latin typeface="Verdana"/>
              </a:rPr>
              <a:t>Les pièces jointes, nommées</a:t>
            </a:r>
          </a:p>
        </p:txBody>
      </p:sp>
      <p:sp>
        <p:nvSpPr>
          <p:cNvPr id="18" name="TextBox 17"/>
          <p:cNvSpPr txBox="1"/>
          <p:nvPr/>
        </p:nvSpPr>
        <p:spPr>
          <a:xfrm>
            <a:off x="6498183" y="4701794"/>
            <a:ext cx="4806543" cy="1104646"/>
          </a:xfrm>
          <a:prstGeom prst="rect">
            <a:avLst/>
          </a:prstGeom>
          <a:noFill/>
        </p:spPr>
        <p:txBody>
          <a:bodyPr wrap="square" lIns="0" rIns="0" tIns="0" bIns="0" anchor="t">
            <a:spAutoFit/>
          </a:bodyPr>
          <a:lstStyle/>
          <a:p>
            <a:pPr algn="l">
              <a:lnSpc>
                <a:spcPct val="142000"/>
              </a:lnSpc>
            </a:pPr>
            <a:r>
              <a:rPr sz="1800" b="0" i="0">
                <a:solidFill>
                  <a:srgbClr val="3A3D40"/>
                </a:solidFill>
                <a:latin typeface="Verdana"/>
              </a:rPr>
              <a:t>« Ci-joint 22 photos prises le 10 novembre au matin.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Ces photos-là valent quelque chose. À quelles conditions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boite-documents-trempee.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Quand ont-elles été prises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qu'on voit la pièce et le détail ?</a:t>
            </a:r>
          </a:p>
        </p:txBody>
      </p:sp>
      <p:sp>
        <p:nvSpPr>
          <p:cNvPr id="15" name="Rounded Rectangle 14"/>
          <p:cNvSpPr/>
          <p:nvPr/>
        </p:nvSpPr>
        <p:spPr>
          <a:xfrm>
            <a:off x="566928" y="3427984"/>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y en a-t-il ?</a:t>
            </a:r>
          </a:p>
        </p:txBody>
      </p:sp>
      <p:sp>
        <p:nvSpPr>
          <p:cNvPr id="18" name="Rounded Rectangle 17"/>
          <p:cNvSpPr/>
          <p:nvPr/>
        </p:nvSpPr>
        <p:spPr>
          <a:xfrm>
            <a:off x="566928" y="421386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39674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sont-elles maintenant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CE QUI SE DIT, ET CE QUI S'ÉCRIT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registres, deux moments</a:t>
            </a:r>
          </a:p>
        </p:txBody>
      </p:sp>
      <p:sp>
        <p:nvSpPr>
          <p:cNvPr id="7" name="Rounded Rectangle 6"/>
          <p:cNvSpPr/>
          <p:nvPr/>
        </p:nvSpPr>
        <p:spPr>
          <a:xfrm>
            <a:off x="566928" y="1810512"/>
            <a:ext cx="11057839" cy="2596896"/>
          </a:xfrm>
          <a:prstGeom prst="roundRect">
            <a:avLst>
              <a:gd name="adj" fmla="val 563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AU TÉLÉPHONE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DANS LE COURRIEL</a:t>
            </a:r>
          </a:p>
        </p:txBody>
      </p:sp>
      <p:sp>
        <p:nvSpPr>
          <p:cNvPr id="10" name="TextBox 9"/>
          <p:cNvSpPr txBox="1"/>
          <p:nvPr/>
        </p:nvSpPr>
        <p:spPr>
          <a:xfrm>
            <a:off x="932688" y="2395728"/>
            <a:ext cx="3291492"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le récit complet, avec les détails</a:t>
            </a:r>
          </a:p>
        </p:txBody>
      </p:sp>
      <p:sp>
        <p:nvSpPr>
          <p:cNvPr id="11" name="TextBox 10"/>
          <p:cNvSpPr txBox="1"/>
          <p:nvPr/>
        </p:nvSpPr>
        <p:spPr>
          <a:xfrm>
            <a:off x="4443636" y="2395728"/>
            <a:ext cx="6595914" cy="28803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deux lignes de rappel, pas plus</a:t>
            </a:r>
          </a:p>
        </p:txBody>
      </p:sp>
      <p:sp>
        <p:nvSpPr>
          <p:cNvPr id="12" name="Rectangle 11"/>
          <p:cNvSpPr/>
          <p:nvPr/>
        </p:nvSpPr>
        <p:spPr>
          <a:xfrm>
            <a:off x="932688" y="27569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884932"/>
            <a:ext cx="3291492"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les questions et les réponses</a:t>
            </a:r>
          </a:p>
        </p:txBody>
      </p:sp>
      <p:sp>
        <p:nvSpPr>
          <p:cNvPr id="14" name="TextBox 13"/>
          <p:cNvSpPr txBox="1"/>
          <p:nvPr/>
        </p:nvSpPr>
        <p:spPr>
          <a:xfrm>
            <a:off x="4443636" y="2884932"/>
            <a:ext cx="6595914" cy="28803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le résumé de ce qui a été convenu</a:t>
            </a:r>
          </a:p>
        </p:txBody>
      </p:sp>
      <p:sp>
        <p:nvSpPr>
          <p:cNvPr id="15" name="Rectangle 14"/>
          <p:cNvSpPr/>
          <p:nvPr/>
        </p:nvSpPr>
        <p:spPr>
          <a:xfrm>
            <a:off x="932688" y="324612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374136"/>
            <a:ext cx="3291492"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 je vous envoie ça aujourd'hui »</a:t>
            </a:r>
          </a:p>
        </p:txBody>
      </p:sp>
      <p:sp>
        <p:nvSpPr>
          <p:cNvPr id="17" name="TextBox 16"/>
          <p:cNvSpPr txBox="1"/>
          <p:nvPr/>
        </p:nvSpPr>
        <p:spPr>
          <a:xfrm>
            <a:off x="4443636" y="3374136"/>
            <a:ext cx="6595914" cy="28803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les photos réellement jointes, et nommées</a:t>
            </a:r>
          </a:p>
        </p:txBody>
      </p:sp>
      <p:sp>
        <p:nvSpPr>
          <p:cNvPr id="18" name="Rectangle 17"/>
          <p:cNvSpPr/>
          <p:nvPr/>
        </p:nvSpPr>
        <p:spPr>
          <a:xfrm>
            <a:off x="932688" y="3735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863339"/>
            <a:ext cx="3291492"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le ton de la conversation</a:t>
            </a:r>
          </a:p>
        </p:txBody>
      </p:sp>
      <p:sp>
        <p:nvSpPr>
          <p:cNvPr id="20" name="TextBox 19"/>
          <p:cNvSpPr txBox="1"/>
          <p:nvPr/>
        </p:nvSpPr>
        <p:spPr>
          <a:xfrm>
            <a:off x="4443636" y="3863339"/>
            <a:ext cx="6595914" cy="288036"/>
          </a:xfrm>
          <a:prstGeom prst="rect">
            <a:avLst/>
          </a:prstGeom>
          <a:noFill/>
        </p:spPr>
        <p:txBody>
          <a:bodyPr wrap="square" lIns="0" rIns="0" tIns="0" bIns="0" anchor="t">
            <a:spAutoFit/>
          </a:bodyPr>
          <a:lstStyle/>
          <a:p>
            <a:pPr algn="l">
              <a:lnSpc>
                <a:spcPct val="132000"/>
              </a:lnSpc>
            </a:pPr>
            <a:r>
              <a:rPr sz="1500" b="1" i="0">
                <a:solidFill>
                  <a:srgbClr val="B45309"/>
                </a:solidFill>
                <a:latin typeface="Verdana"/>
              </a:rPr>
              <a:t>le ton courtois d'un écrit : on rapporte, on ne se plaint pas</a:t>
            </a:r>
          </a:p>
        </p:txBody>
      </p:sp>
      <p:sp>
        <p:nvSpPr>
          <p:cNvPr id="21" name="Rounded Rectangle 20"/>
          <p:cNvSpPr/>
          <p:nvPr/>
        </p:nvSpPr>
        <p:spPr>
          <a:xfrm>
            <a:off x="566928" y="4645152"/>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4901184"/>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Le courriel n'est pas la transcription de l'appel : il en est le reçu.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PRATIQUE · EXERCICE T1COURRIEL</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le courriel de Mariama</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 mot ou un groupe de mots par trou.</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Objet : Dégât d'eau — logement 4, 118 rue ___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Bonjour monsieur Cloutier, je fais suite à notre ___ téléphonique.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 convenu, je vous envoie les ___ prises le 10 novembre.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m'avez confirmé qu'une compagnie d' ___ passerait demain.</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travaux devraient durer ___ ou quatre jours.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vous remercie de votre diligence et je reste ___ votre disposition.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le courriel de Mariama</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Objet : Dégât d'eau — logement 4, 118 rue ___ .   </a:t>
            </a:r>
            <a:r>
              <a:rPr sz="1400" b="1" i="0">
                <a:solidFill>
                  <a:srgbClr val="07734A"/>
                </a:solidFill>
                <a:latin typeface="Verdana"/>
              </a:rPr>
              <a:t>» Sainte-Hélène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Bonjour monsieur Cloutier, je fais suite à notre ___ téléphonique.   </a:t>
            </a:r>
            <a:r>
              <a:rPr sz="1400" b="1" i="0">
                <a:solidFill>
                  <a:srgbClr val="07734A"/>
                </a:solidFill>
                <a:latin typeface="Verdana"/>
              </a:rPr>
              <a:t>» conversation</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 convenu, je vous envoie les ___ prises le 10 novembre.   </a:t>
            </a:r>
            <a:r>
              <a:rPr sz="1400" b="1" i="0">
                <a:solidFill>
                  <a:srgbClr val="07734A"/>
                </a:solidFill>
                <a:latin typeface="Verdana"/>
              </a:rPr>
              <a:t>» photos</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Vous m'avez confirmé qu'une compagnie d' ___ passerait demain.   </a:t>
            </a:r>
            <a:r>
              <a:rPr sz="1400" b="1" i="0">
                <a:solidFill>
                  <a:srgbClr val="07734A"/>
                </a:solidFill>
                <a:latin typeface="Verdana"/>
              </a:rPr>
              <a:t>» assèchement</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Les travaux devraient durer ___ ou quatre jours.   </a:t>
            </a:r>
            <a:r>
              <a:rPr sz="1400" b="1" i="0">
                <a:solidFill>
                  <a:srgbClr val="07734A"/>
                </a:solidFill>
                <a:latin typeface="Verdana"/>
              </a:rPr>
              <a:t>» trois</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vous remercie de votre diligence et je reste ___ votre disposition.   </a:t>
            </a:r>
            <a:r>
              <a:rPr sz="1400" b="1" i="0">
                <a:solidFill>
                  <a:srgbClr val="07734A"/>
                </a:solidFill>
                <a:latin typeface="Verdana"/>
              </a:rPr>
              <a:t>» à</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TON D'UN CONSTAT N'EST PAS CELUI D'UNE PLAINTE</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On rapporte, on remercie, et on garde la demande pour plus tard.</a:t>
            </a:r>
          </a:p>
        </p:txBody>
      </p:sp>
      <p:sp>
        <p:nvSpPr>
          <p:cNvPr id="8" name="Rounded Rectangle 7"/>
          <p:cNvSpPr/>
          <p:nvPr/>
        </p:nvSpPr>
        <p:spPr>
          <a:xfrm>
            <a:off x="566928" y="3467607"/>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Au moment du constat, rien n'est encore refusé : le propriétaire a promis une intervention. Se plaindre maintenant durcit une discussion qui n'a pas encore eu lieu. La demande de compensation viendra au défi 3, une fois qu'on saura ce que les travaux ont réellement coûté en confort.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ÉCRIRE TROIS PARAGRAPHES DE RÉCIT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raconte tout depuis le début, pour être sûr.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Deux lignes de rappel, et les photos jointes.</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destinataire vient de vous parler : il connaît l'histoire. Un courriel long est un courriel qu'on remet à plus tard, puis qu'on oublie. La seule chose qui doit sauter aux yeux, c'est la date et ce qui a été convenu.</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 dégât d'eau</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l'objet et la première phrase de votre courriel.</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 Objet : Dégât d'eau — logement 2, 45 rue Provencher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 Je fais suite à notre conversation de ce matin.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B4 · Un dégât d'eau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