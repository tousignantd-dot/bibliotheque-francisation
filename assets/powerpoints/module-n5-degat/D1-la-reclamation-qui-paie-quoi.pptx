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Ouverture du défi 3. Demander d'abord qui, dans le groupe, a une assurance habitation. Au Québec, un locataire sur trois n'en a pas — et la séance prend un autre sens selon la réponse.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les objectifs à voix haute. Y revenir au billet de sortie.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Presque personne ne sépare spontanément les trois. C'est exactement le contenu de la séance : trois choses, trois portes.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Dans l'ordre » : c'est tout le défi 1 qui revient. Faire remarquer que Mariama emploie l'imparfait et le passé composé sans y penser.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Ce qui m'appartient, c'est… » est une phrase emphatique : elle sera le point de grammaire de D2. La signaler en passant.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dernière réplique est la charnière du module : elle envoie vers la lettre de D2 et la production écrite de E2.</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Elle a déjà été annoncée en A4 : la reprendre ici avec les mots de l'assurance.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dernière ligne est utile et peu connue : on peut téléphoner pour savoir, sans que ça compte comme une réclamation.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deux dernières lignes forment l'escalier des recours. Le dessiner au tableau : lettre, mise en demeure, Tribunal.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Répétition volontaire de la règle de A1. Elle vaut d'être dite deux fois : c'est celle qui coûte le plus cher quand elle est ignorée.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Deux minutes. C'est la vérification la plus utile de la séance.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SÉANCE D1  ·  MODULE 2</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La réclamation : qui paie quoi</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Deux assurances, deux démarches, et une réduction de loyer qui ne relève ni de l'une ni de l'autre. Se tromper de porte coûte des semaines.</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Un dégât d'eau</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Un dégât d'eau</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distinguer ce que couvre chaque assurance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comprendre à quoi sert une franchise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savoir à qui s'adresser selon la situation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connaître l'ordre des étapes si rien ne bouge.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Un dégât d'eau</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MISE EN SITUATION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2800" b="1" i="0">
                <a:solidFill>
                  <a:srgbClr val="17181A"/>
                </a:solidFill>
                <a:latin typeface="Verdana"/>
              </a:rPr>
              <a:t>Votre matelas est trempé et votre plafond est taché. Vous appelez qui, pour quoi ?</a:t>
            </a:r>
          </a:p>
        </p:txBody>
      </p:sp>
      <p:sp>
        <p:nvSpPr>
          <p:cNvPr id="7" name="Rounded Rectangle 6"/>
          <p:cNvSpPr/>
          <p:nvPr/>
        </p:nvSpPr>
        <p:spPr>
          <a:xfrm>
            <a:off x="7424927" y="1719072"/>
            <a:ext cx="4199839" cy="4361688"/>
          </a:xfrm>
          <a:prstGeom prst="roundRect">
            <a:avLst>
              <a:gd name="adj" fmla="val 348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assecheur-chambre.jpg"/>
          <p:cNvPicPr>
            <a:picLocks noChangeAspect="1"/>
          </p:cNvPicPr>
          <p:nvPr/>
        </p:nvPicPr>
        <p:blipFill>
          <a:blip r:embed="rId2"/>
          <a:stretch>
            <a:fillRect/>
          </a:stretch>
        </p:blipFill>
        <p:spPr>
          <a:xfrm>
            <a:off x="7644383" y="2638339"/>
            <a:ext cx="3760927" cy="2523153"/>
          </a:xfrm>
          <a:prstGeom prst="rect">
            <a:avLst/>
          </a:prstGeom>
        </p:spPr>
      </p:pic>
      <p:sp>
        <p:nvSpPr>
          <p:cNvPr id="9" name="Rounded Rectangle 8"/>
          <p:cNvSpPr/>
          <p:nvPr/>
        </p:nvSpPr>
        <p:spPr>
          <a:xfrm>
            <a:off x="566928" y="1856232"/>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66928" y="1965960"/>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50976" y="2039112"/>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plafond, c'est à qui ?</a:t>
            </a:r>
          </a:p>
        </p:txBody>
      </p:sp>
      <p:sp>
        <p:nvSpPr>
          <p:cNvPr id="12" name="Rounded Rectangle 11"/>
          <p:cNvSpPr/>
          <p:nvPr/>
        </p:nvSpPr>
        <p:spPr>
          <a:xfrm>
            <a:off x="566928" y="2642108"/>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66928" y="2751836"/>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50976" y="2824988"/>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matelas, c'est à qui ?</a:t>
            </a:r>
          </a:p>
        </p:txBody>
      </p:sp>
      <p:sp>
        <p:nvSpPr>
          <p:cNvPr id="15" name="Rounded Rectangle 14"/>
          <p:cNvSpPr/>
          <p:nvPr/>
        </p:nvSpPr>
        <p:spPr>
          <a:xfrm>
            <a:off x="566928" y="3427984"/>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66928" y="3537712"/>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50976" y="3610864"/>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Et les trois nuits sur le divan ?</a:t>
            </a:r>
          </a:p>
        </p:txBody>
      </p:sp>
      <p:sp>
        <p:nvSpPr>
          <p:cNvPr id="18" name="Rounded Rectangle 17"/>
          <p:cNvSpPr/>
          <p:nvPr/>
        </p:nvSpPr>
        <p:spPr>
          <a:xfrm>
            <a:off x="566928" y="4213860"/>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66928" y="4323588"/>
            <a:ext cx="50292" cy="821944"/>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50976" y="4396740"/>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Est-ce que ça se demande à la même personne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Un dégât d'eau</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1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Raconter dans l'ordre</a:t>
            </a:r>
          </a:p>
        </p:txBody>
      </p:sp>
      <p:sp>
        <p:nvSpPr>
          <p:cNvPr id="7" name="TextBox 6"/>
          <p:cNvSpPr txBox="1"/>
          <p:nvPr/>
        </p:nvSpPr>
        <p:spPr>
          <a:xfrm>
            <a:off x="566928" y="173736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Écoutez d'abord, diapositive masquée.</a:t>
            </a:r>
          </a:p>
        </p:txBody>
      </p:sp>
      <p:sp>
        <p:nvSpPr>
          <p:cNvPr id="8" name="Rounded Rectangle 7"/>
          <p:cNvSpPr/>
          <p:nvPr/>
        </p:nvSpPr>
        <p:spPr>
          <a:xfrm>
            <a:off x="566928" y="2157984"/>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2322576"/>
            <a:ext cx="1569720"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SYLVIE</a:t>
            </a:r>
          </a:p>
        </p:txBody>
      </p:sp>
      <p:sp>
        <p:nvSpPr>
          <p:cNvPr id="10" name="TextBox 9"/>
          <p:cNvSpPr txBox="1"/>
          <p:nvPr/>
        </p:nvSpPr>
        <p:spPr>
          <a:xfrm>
            <a:off x="2502408" y="2322576"/>
            <a:ext cx="8573719"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Assurances Bellerive, Sylvie Painchaud à l'appareil.</a:t>
            </a:r>
          </a:p>
        </p:txBody>
      </p:sp>
      <p:sp>
        <p:nvSpPr>
          <p:cNvPr id="11" name="Rounded Rectangle 10"/>
          <p:cNvSpPr/>
          <p:nvPr/>
        </p:nvSpPr>
        <p:spPr>
          <a:xfrm>
            <a:off x="566928" y="2907283"/>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32688" y="3071876"/>
            <a:ext cx="1569720"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MARIAMA</a:t>
            </a:r>
          </a:p>
        </p:txBody>
      </p:sp>
      <p:sp>
        <p:nvSpPr>
          <p:cNvPr id="13" name="TextBox 12"/>
          <p:cNvSpPr txBox="1"/>
          <p:nvPr/>
        </p:nvSpPr>
        <p:spPr>
          <a:xfrm>
            <a:off x="2502408" y="3071876"/>
            <a:ext cx="8573719"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Bonjour. Je voudrais ouvrir une réclamation. J'ai eu un dégât d'eau chez moi le 10 novembre.</a:t>
            </a:r>
          </a:p>
        </p:txBody>
      </p:sp>
      <p:sp>
        <p:nvSpPr>
          <p:cNvPr id="14" name="Rounded Rectangle 13"/>
          <p:cNvSpPr/>
          <p:nvPr/>
        </p:nvSpPr>
        <p:spPr>
          <a:xfrm>
            <a:off x="566928" y="3994404"/>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32688" y="4158995"/>
            <a:ext cx="1569720"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SYLVIE</a:t>
            </a:r>
          </a:p>
        </p:txBody>
      </p:sp>
      <p:sp>
        <p:nvSpPr>
          <p:cNvPr id="16" name="TextBox 15"/>
          <p:cNvSpPr txBox="1"/>
          <p:nvPr/>
        </p:nvSpPr>
        <p:spPr>
          <a:xfrm>
            <a:off x="2502408" y="4158995"/>
            <a:ext cx="8573719"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Je vous écoute. Racontez-moi ce qui est arrivé, dans l'ordre.</a:t>
            </a:r>
          </a:p>
        </p:txBody>
      </p:sp>
      <p:sp>
        <p:nvSpPr>
          <p:cNvPr id="17" name="TextBox 16"/>
          <p:cNvSpPr txBox="1"/>
          <p:nvPr/>
        </p:nvSpPr>
        <p:spPr>
          <a:xfrm>
            <a:off x="932688" y="4908296"/>
            <a:ext cx="1569720"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MARIAMA</a:t>
            </a:r>
          </a:p>
        </p:txBody>
      </p:sp>
      <p:sp>
        <p:nvSpPr>
          <p:cNvPr id="18" name="TextBox 17"/>
          <p:cNvSpPr txBox="1"/>
          <p:nvPr/>
        </p:nvSpPr>
        <p:spPr>
          <a:xfrm>
            <a:off x="2502408" y="4908296"/>
            <a:ext cx="8573719"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chauffe-eau du logement du dessus a lâché pendant la nuit. Quand je me suis levée, l'eau coulait du plafond.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Un dégât d'eau</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2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Ce qui vous appartient</a:t>
            </a:r>
          </a:p>
        </p:txBody>
      </p:sp>
      <p:sp>
        <p:nvSpPr>
          <p:cNvPr id="7" name="Rounded Rectangle 6"/>
          <p:cNvSpPr/>
          <p:nvPr/>
        </p:nvSpPr>
        <p:spPr>
          <a:xfrm>
            <a:off x="566928" y="1737360"/>
            <a:ext cx="11057839" cy="969264"/>
          </a:xfrm>
          <a:prstGeom prst="roundRect">
            <a:avLst>
              <a:gd name="adj" fmla="val 1509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01952"/>
            <a:ext cx="1569720" cy="694944"/>
          </a:xfrm>
          <a:prstGeom prst="rect">
            <a:avLst/>
          </a:prstGeom>
          <a:noFill/>
        </p:spPr>
        <p:txBody>
          <a:bodyPr wrap="square" lIns="0" rIns="0" tIns="0" bIns="0" anchor="t">
            <a:spAutoFit/>
          </a:bodyPr>
          <a:lstStyle/>
          <a:p>
            <a:pPr algn="l">
              <a:lnSpc>
                <a:spcPct val="135000"/>
              </a:lnSpc>
            </a:pPr>
            <a:r>
              <a:rPr sz="1800" b="1" i="0">
                <a:solidFill>
                  <a:srgbClr val="1D6B8F"/>
                </a:solidFill>
                <a:latin typeface="Verdana"/>
              </a:rPr>
              <a:t>SYLVIE</a:t>
            </a:r>
          </a:p>
        </p:txBody>
      </p:sp>
      <p:sp>
        <p:nvSpPr>
          <p:cNvPr id="9" name="TextBox 8"/>
          <p:cNvSpPr txBox="1"/>
          <p:nvPr/>
        </p:nvSpPr>
        <p:spPr>
          <a:xfrm>
            <a:off x="2502408" y="1901952"/>
            <a:ext cx="8573719" cy="694944"/>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Maintenant, ce qui est endommagé chez vous : qu'est-ce qui vous appartient ?</a:t>
            </a:r>
          </a:p>
        </p:txBody>
      </p:sp>
      <p:sp>
        <p:nvSpPr>
          <p:cNvPr id="10" name="Rounded Rectangle 9"/>
          <p:cNvSpPr/>
          <p:nvPr/>
        </p:nvSpPr>
        <p:spPr>
          <a:xfrm>
            <a:off x="566928" y="2788920"/>
            <a:ext cx="11057839" cy="969264"/>
          </a:xfrm>
          <a:prstGeom prst="roundRect">
            <a:avLst>
              <a:gd name="adj" fmla="val 1509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953512"/>
            <a:ext cx="1569720" cy="694944"/>
          </a:xfrm>
          <a:prstGeom prst="rect">
            <a:avLst/>
          </a:prstGeom>
          <a:noFill/>
        </p:spPr>
        <p:txBody>
          <a:bodyPr wrap="square" lIns="0" rIns="0" tIns="0" bIns="0" anchor="t">
            <a:spAutoFit/>
          </a:bodyPr>
          <a:lstStyle/>
          <a:p>
            <a:pPr algn="l">
              <a:lnSpc>
                <a:spcPct val="135000"/>
              </a:lnSpc>
            </a:pPr>
            <a:r>
              <a:rPr sz="1800" b="1" i="0">
                <a:solidFill>
                  <a:srgbClr val="1D6B8F"/>
                </a:solidFill>
                <a:latin typeface="Verdana"/>
              </a:rPr>
              <a:t>MARIAMA</a:t>
            </a:r>
          </a:p>
        </p:txBody>
      </p:sp>
      <p:sp>
        <p:nvSpPr>
          <p:cNvPr id="12" name="TextBox 11"/>
          <p:cNvSpPr txBox="1"/>
          <p:nvPr/>
        </p:nvSpPr>
        <p:spPr>
          <a:xfrm>
            <a:off x="2502408" y="2953512"/>
            <a:ext cx="8573719" cy="694944"/>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Ce qui m'appartient, c'est le matelas, une commode et une boîte de documents. Le plafond et le plancher, eux, appartiennent à l'immeuble.</a:t>
            </a:r>
          </a:p>
        </p:txBody>
      </p:sp>
      <p:sp>
        <p:nvSpPr>
          <p:cNvPr id="13" name="Rounded Rectangle 12"/>
          <p:cNvSpPr/>
          <p:nvPr/>
        </p:nvSpPr>
        <p:spPr>
          <a:xfrm>
            <a:off x="566928" y="3840480"/>
            <a:ext cx="11057839" cy="969264"/>
          </a:xfrm>
          <a:prstGeom prst="roundRect">
            <a:avLst>
              <a:gd name="adj" fmla="val 1509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4005072"/>
            <a:ext cx="1569720" cy="694944"/>
          </a:xfrm>
          <a:prstGeom prst="rect">
            <a:avLst/>
          </a:prstGeom>
          <a:noFill/>
        </p:spPr>
        <p:txBody>
          <a:bodyPr wrap="square" lIns="0" rIns="0" tIns="0" bIns="0" anchor="t">
            <a:spAutoFit/>
          </a:bodyPr>
          <a:lstStyle/>
          <a:p>
            <a:pPr algn="l">
              <a:lnSpc>
                <a:spcPct val="135000"/>
              </a:lnSpc>
            </a:pPr>
            <a:r>
              <a:rPr sz="1800" b="1" i="0">
                <a:solidFill>
                  <a:srgbClr val="1D6B8F"/>
                </a:solidFill>
                <a:latin typeface="Verdana"/>
              </a:rPr>
              <a:t>SYLVIE</a:t>
            </a:r>
          </a:p>
        </p:txBody>
      </p:sp>
      <p:sp>
        <p:nvSpPr>
          <p:cNvPr id="15" name="TextBox 14"/>
          <p:cNvSpPr txBox="1"/>
          <p:nvPr/>
        </p:nvSpPr>
        <p:spPr>
          <a:xfrm>
            <a:off x="2502408" y="4005072"/>
            <a:ext cx="8573719" cy="694944"/>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Exactement. Le bâtiment, c'est l'assurance du propriétaire ; vos biens, c'est la vôtre. Vous avez des photos ?</a:t>
            </a:r>
          </a:p>
        </p:txBody>
      </p:sp>
      <p:sp>
        <p:nvSpPr>
          <p:cNvPr id="16" name="Rounded Rectangle 15"/>
          <p:cNvSpPr/>
          <p:nvPr/>
        </p:nvSpPr>
        <p:spPr>
          <a:xfrm>
            <a:off x="566928" y="4892040"/>
            <a:ext cx="11057839" cy="969264"/>
          </a:xfrm>
          <a:prstGeom prst="roundRect">
            <a:avLst>
              <a:gd name="adj" fmla="val 1509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5056632"/>
            <a:ext cx="1569720" cy="694944"/>
          </a:xfrm>
          <a:prstGeom prst="rect">
            <a:avLst/>
          </a:prstGeom>
          <a:noFill/>
        </p:spPr>
        <p:txBody>
          <a:bodyPr wrap="square" lIns="0" rIns="0" tIns="0" bIns="0" anchor="t">
            <a:spAutoFit/>
          </a:bodyPr>
          <a:lstStyle/>
          <a:p>
            <a:pPr algn="l">
              <a:lnSpc>
                <a:spcPct val="135000"/>
              </a:lnSpc>
            </a:pPr>
            <a:r>
              <a:rPr sz="1800" b="1" i="0">
                <a:solidFill>
                  <a:srgbClr val="1D6B8F"/>
                </a:solidFill>
                <a:latin typeface="Verdana"/>
              </a:rPr>
              <a:t>MARIAMA</a:t>
            </a:r>
          </a:p>
        </p:txBody>
      </p:sp>
      <p:sp>
        <p:nvSpPr>
          <p:cNvPr id="18" name="TextBox 17"/>
          <p:cNvSpPr txBox="1"/>
          <p:nvPr/>
        </p:nvSpPr>
        <p:spPr>
          <a:xfrm>
            <a:off x="2502408" y="5056632"/>
            <a:ext cx="8573719" cy="694944"/>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J'en ai vingt-deux, prises le matin même, avec la date. Et j'ai gardé le matelas : je ne l'ai pas jeté.</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Un dégât d'eau</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3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La franchise, et ce qui n'en relève pas</a:t>
            </a:r>
          </a:p>
        </p:txBody>
      </p:sp>
      <p:sp>
        <p:nvSpPr>
          <p:cNvPr id="7" name="Rounded Rectangle 6"/>
          <p:cNvSpPr/>
          <p:nvPr/>
        </p:nvSpPr>
        <p:spPr>
          <a:xfrm>
            <a:off x="566928" y="1737360"/>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01952"/>
            <a:ext cx="1569720"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MARIAMA</a:t>
            </a:r>
          </a:p>
        </p:txBody>
      </p:sp>
      <p:sp>
        <p:nvSpPr>
          <p:cNvPr id="9" name="TextBox 8"/>
          <p:cNvSpPr txBox="1"/>
          <p:nvPr/>
        </p:nvSpPr>
        <p:spPr>
          <a:xfrm>
            <a:off x="2502408" y="1901952"/>
            <a:ext cx="8573719"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Il y a une franchise, je pense ?</a:t>
            </a:r>
          </a:p>
        </p:txBody>
      </p:sp>
      <p:sp>
        <p:nvSpPr>
          <p:cNvPr id="10" name="Rounded Rectangle 9"/>
          <p:cNvSpPr/>
          <p:nvPr/>
        </p:nvSpPr>
        <p:spPr>
          <a:xfrm>
            <a:off x="566928" y="2486659"/>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651252"/>
            <a:ext cx="1569720"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SYLVIE</a:t>
            </a:r>
          </a:p>
        </p:txBody>
      </p:sp>
      <p:sp>
        <p:nvSpPr>
          <p:cNvPr id="12" name="TextBox 11"/>
          <p:cNvSpPr txBox="1"/>
          <p:nvPr/>
        </p:nvSpPr>
        <p:spPr>
          <a:xfrm>
            <a:off x="2502408" y="2651252"/>
            <a:ext cx="8573719"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Cinq cents dollars à votre contrat. En dessous de ce montant-là, ça ne vaut pas la peine de réclamer.</a:t>
            </a:r>
          </a:p>
        </p:txBody>
      </p:sp>
      <p:sp>
        <p:nvSpPr>
          <p:cNvPr id="13" name="Rounded Rectangle 12"/>
          <p:cNvSpPr/>
          <p:nvPr/>
        </p:nvSpPr>
        <p:spPr>
          <a:xfrm>
            <a:off x="566928" y="3573780"/>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3738371"/>
            <a:ext cx="1569720"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MARIAMA</a:t>
            </a:r>
          </a:p>
        </p:txBody>
      </p:sp>
      <p:sp>
        <p:nvSpPr>
          <p:cNvPr id="15" name="TextBox 14"/>
          <p:cNvSpPr txBox="1"/>
          <p:nvPr/>
        </p:nvSpPr>
        <p:spPr>
          <a:xfrm>
            <a:off x="2502408" y="3738371"/>
            <a:ext cx="8573719"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Et pour les trois nuits où je n'ai pas pu dormir dans ma chambre ?</a:t>
            </a:r>
          </a:p>
        </p:txBody>
      </p:sp>
      <p:sp>
        <p:nvSpPr>
          <p:cNvPr id="16" name="Rounded Rectangle 15"/>
          <p:cNvSpPr/>
          <p:nvPr/>
        </p:nvSpPr>
        <p:spPr>
          <a:xfrm>
            <a:off x="566928" y="4323080"/>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4487672"/>
            <a:ext cx="1569720"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SYLVIE</a:t>
            </a:r>
          </a:p>
        </p:txBody>
      </p:sp>
      <p:sp>
        <p:nvSpPr>
          <p:cNvPr id="18" name="TextBox 17"/>
          <p:cNvSpPr txBox="1"/>
          <p:nvPr/>
        </p:nvSpPr>
        <p:spPr>
          <a:xfrm>
            <a:off x="2502408" y="4487672"/>
            <a:ext cx="8573719"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Ça, c'est une autre démarche : c'est au propriétaire que vous demandez une réduction de loyer, par écrit.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Un dégât d'eau</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DEUX ASSURANCES, DEUX PÉRIMÈTRES</a:t>
            </a:r>
          </a:p>
        </p:txBody>
      </p:sp>
      <p:sp>
        <p:nvSpPr>
          <p:cNvPr id="6" name="Rounded Rectangle 5"/>
          <p:cNvSpPr/>
          <p:nvPr/>
        </p:nvSpPr>
        <p:spPr>
          <a:xfrm>
            <a:off x="566928" y="1225296"/>
            <a:ext cx="11057839" cy="1967991"/>
          </a:xfrm>
          <a:prstGeom prst="roundRect">
            <a:avLst>
              <a:gd name="adj" fmla="val 74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Le bâtiment est au propriétaire ; vos biens sont à vous.</a:t>
            </a:r>
          </a:p>
        </p:txBody>
      </p:sp>
      <p:sp>
        <p:nvSpPr>
          <p:cNvPr id="8" name="Rounded Rectangle 7"/>
          <p:cNvSpPr/>
          <p:nvPr/>
        </p:nvSpPr>
        <p:spPr>
          <a:xfrm>
            <a:off x="566928" y="3467607"/>
            <a:ext cx="11057839" cy="2408428"/>
          </a:xfrm>
          <a:prstGeom prst="roundRect">
            <a:avLst>
              <a:gd name="adj" fmla="val 607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1951228"/>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Le plafond, le plancher, les murs et la plomberie relèvent de l'assurance du propriétaire : c'est lui qui fait la démarche et lui qui fait réparer. Le matelas, les meubles, les vêtements et les papiers relèvent de la vôtre. Faire cette séparation dès le premier appel évite d'être renvoyé d'une porte à l'autre pendant deux semaines.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Un dégât d'eau</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LA FRANCHISE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montant qui reste à votre charge</a:t>
            </a:r>
          </a:p>
        </p:txBody>
      </p:sp>
      <p:sp>
        <p:nvSpPr>
          <p:cNvPr id="7" name="Rounded Rectangle 6"/>
          <p:cNvSpPr/>
          <p:nvPr/>
        </p:nvSpPr>
        <p:spPr>
          <a:xfrm>
            <a:off x="566928" y="1810512"/>
            <a:ext cx="11057839" cy="2999232"/>
          </a:xfrm>
          <a:prstGeom prst="roundRect">
            <a:avLst>
              <a:gd name="adj" fmla="val 487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LA SITUATION</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QU'IL FAUT EN CONCLURE</a:t>
            </a:r>
          </a:p>
        </p:txBody>
      </p:sp>
      <p:sp>
        <p:nvSpPr>
          <p:cNvPr id="10" name="TextBox 9"/>
          <p:cNvSpPr txBox="1"/>
          <p:nvPr/>
        </p:nvSpPr>
        <p:spPr>
          <a:xfrm>
            <a:off x="932688" y="2395728"/>
            <a:ext cx="3291492" cy="505968"/>
          </a:xfrm>
          <a:prstGeom prst="rect">
            <a:avLst/>
          </a:prstGeom>
          <a:noFill/>
        </p:spPr>
        <p:txBody>
          <a:bodyPr wrap="square" lIns="0" rIns="0" tIns="0" bIns="0" anchor="t">
            <a:spAutoFit/>
          </a:bodyPr>
          <a:lstStyle/>
          <a:p>
            <a:pPr algn="l">
              <a:lnSpc>
                <a:spcPct val="132000"/>
              </a:lnSpc>
            </a:pPr>
            <a:r>
              <a:rPr sz="1400" b="1" i="0">
                <a:solidFill>
                  <a:srgbClr val="1D6B8F"/>
                </a:solidFill>
                <a:latin typeface="Verdana"/>
              </a:rPr>
              <a:t>franchise de 500 $, perte de 300 $</a:t>
            </a:r>
          </a:p>
        </p:txBody>
      </p:sp>
      <p:sp>
        <p:nvSpPr>
          <p:cNvPr id="11" name="TextBox 10"/>
          <p:cNvSpPr txBox="1"/>
          <p:nvPr/>
        </p:nvSpPr>
        <p:spPr>
          <a:xfrm>
            <a:off x="4443636" y="2395728"/>
            <a:ext cx="6595914" cy="505968"/>
          </a:xfrm>
          <a:prstGeom prst="rect">
            <a:avLst/>
          </a:prstGeom>
          <a:noFill/>
        </p:spPr>
        <p:txBody>
          <a:bodyPr wrap="square" lIns="0" rIns="0" tIns="0" bIns="0" anchor="t">
            <a:spAutoFit/>
          </a:bodyPr>
          <a:lstStyle/>
          <a:p>
            <a:pPr algn="l">
              <a:lnSpc>
                <a:spcPct val="132000"/>
              </a:lnSpc>
            </a:pPr>
            <a:r>
              <a:rPr sz="1400" b="0" i="0">
                <a:solidFill>
                  <a:srgbClr val="3A3D40"/>
                </a:solidFill>
                <a:latin typeface="Verdana"/>
              </a:rPr>
              <a:t>on ne réclame pas</a:t>
            </a:r>
          </a:p>
        </p:txBody>
      </p:sp>
      <p:sp>
        <p:nvSpPr>
          <p:cNvPr id="12" name="Rectangle 11"/>
          <p:cNvSpPr/>
          <p:nvPr/>
        </p:nvSpPr>
        <p:spPr>
          <a:xfrm>
            <a:off x="932688" y="297484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3102864"/>
            <a:ext cx="3291492" cy="505968"/>
          </a:xfrm>
          <a:prstGeom prst="rect">
            <a:avLst/>
          </a:prstGeom>
          <a:noFill/>
        </p:spPr>
        <p:txBody>
          <a:bodyPr wrap="square" lIns="0" rIns="0" tIns="0" bIns="0" anchor="t">
            <a:spAutoFit/>
          </a:bodyPr>
          <a:lstStyle/>
          <a:p>
            <a:pPr algn="l">
              <a:lnSpc>
                <a:spcPct val="132000"/>
              </a:lnSpc>
            </a:pPr>
            <a:r>
              <a:rPr sz="1400" b="1" i="0">
                <a:solidFill>
                  <a:srgbClr val="1D6B8F"/>
                </a:solidFill>
                <a:latin typeface="Verdana"/>
              </a:rPr>
              <a:t>franchise de 500 $, perte de 1 400 $</a:t>
            </a:r>
          </a:p>
        </p:txBody>
      </p:sp>
      <p:sp>
        <p:nvSpPr>
          <p:cNvPr id="14" name="TextBox 13"/>
          <p:cNvSpPr txBox="1"/>
          <p:nvPr/>
        </p:nvSpPr>
        <p:spPr>
          <a:xfrm>
            <a:off x="4443636" y="3102864"/>
            <a:ext cx="6595914" cy="505968"/>
          </a:xfrm>
          <a:prstGeom prst="rect">
            <a:avLst/>
          </a:prstGeom>
          <a:noFill/>
        </p:spPr>
        <p:txBody>
          <a:bodyPr wrap="square" lIns="0" rIns="0" tIns="0" bIns="0" anchor="t">
            <a:spAutoFit/>
          </a:bodyPr>
          <a:lstStyle/>
          <a:p>
            <a:pPr algn="l">
              <a:lnSpc>
                <a:spcPct val="132000"/>
              </a:lnSpc>
            </a:pPr>
            <a:r>
              <a:rPr sz="1400" b="0" i="0">
                <a:solidFill>
                  <a:srgbClr val="3A3D40"/>
                </a:solidFill>
                <a:latin typeface="Verdana"/>
              </a:rPr>
              <a:t>on réclame, et on reçoit 900 $</a:t>
            </a:r>
          </a:p>
        </p:txBody>
      </p:sp>
      <p:sp>
        <p:nvSpPr>
          <p:cNvPr id="15" name="Rectangle 14"/>
          <p:cNvSpPr/>
          <p:nvPr/>
        </p:nvSpPr>
        <p:spPr>
          <a:xfrm>
            <a:off x="932688" y="3681983"/>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809999"/>
            <a:ext cx="3291492" cy="271271"/>
          </a:xfrm>
          <a:prstGeom prst="rect">
            <a:avLst/>
          </a:prstGeom>
          <a:noFill/>
        </p:spPr>
        <p:txBody>
          <a:bodyPr wrap="square" lIns="0" rIns="0" tIns="0" bIns="0" anchor="t">
            <a:spAutoFit/>
          </a:bodyPr>
          <a:lstStyle/>
          <a:p>
            <a:pPr algn="l">
              <a:lnSpc>
                <a:spcPct val="132000"/>
              </a:lnSpc>
            </a:pPr>
            <a:r>
              <a:rPr sz="1400" b="1" i="0">
                <a:solidFill>
                  <a:srgbClr val="1D6B8F"/>
                </a:solidFill>
                <a:latin typeface="Verdana"/>
              </a:rPr>
              <a:t>plusieurs petites réclamations</a:t>
            </a:r>
          </a:p>
        </p:txBody>
      </p:sp>
      <p:sp>
        <p:nvSpPr>
          <p:cNvPr id="17" name="TextBox 16"/>
          <p:cNvSpPr txBox="1"/>
          <p:nvPr/>
        </p:nvSpPr>
        <p:spPr>
          <a:xfrm>
            <a:off x="4443636" y="3809999"/>
            <a:ext cx="6595914" cy="271271"/>
          </a:xfrm>
          <a:prstGeom prst="rect">
            <a:avLst/>
          </a:prstGeom>
          <a:noFill/>
        </p:spPr>
        <p:txBody>
          <a:bodyPr wrap="square" lIns="0" rIns="0" tIns="0" bIns="0" anchor="t">
            <a:spAutoFit/>
          </a:bodyPr>
          <a:lstStyle/>
          <a:p>
            <a:pPr algn="l">
              <a:lnSpc>
                <a:spcPct val="132000"/>
              </a:lnSpc>
            </a:pPr>
            <a:r>
              <a:rPr sz="1400" b="0" i="0">
                <a:solidFill>
                  <a:srgbClr val="3A3D40"/>
                </a:solidFill>
                <a:latin typeface="Verdana"/>
              </a:rPr>
              <a:t>elles restent au dossier, et la prime monte</a:t>
            </a:r>
          </a:p>
        </p:txBody>
      </p:sp>
      <p:sp>
        <p:nvSpPr>
          <p:cNvPr id="18" name="Rectangle 17"/>
          <p:cNvSpPr/>
          <p:nvPr/>
        </p:nvSpPr>
        <p:spPr>
          <a:xfrm>
            <a:off x="932688" y="4154423"/>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282439"/>
            <a:ext cx="3291492" cy="271271"/>
          </a:xfrm>
          <a:prstGeom prst="rect">
            <a:avLst/>
          </a:prstGeom>
          <a:noFill/>
        </p:spPr>
        <p:txBody>
          <a:bodyPr wrap="square" lIns="0" rIns="0" tIns="0" bIns="0" anchor="t">
            <a:spAutoFit/>
          </a:bodyPr>
          <a:lstStyle/>
          <a:p>
            <a:pPr algn="l">
              <a:lnSpc>
                <a:spcPct val="132000"/>
              </a:lnSpc>
            </a:pPr>
            <a:r>
              <a:rPr sz="1400" b="1" i="0">
                <a:solidFill>
                  <a:srgbClr val="1D6B8F"/>
                </a:solidFill>
                <a:latin typeface="Verdana"/>
              </a:rPr>
              <a:t>le doute</a:t>
            </a:r>
          </a:p>
        </p:txBody>
      </p:sp>
      <p:sp>
        <p:nvSpPr>
          <p:cNvPr id="20" name="TextBox 19"/>
          <p:cNvSpPr txBox="1"/>
          <p:nvPr/>
        </p:nvSpPr>
        <p:spPr>
          <a:xfrm>
            <a:off x="4443636" y="4282439"/>
            <a:ext cx="6595914" cy="271271"/>
          </a:xfrm>
          <a:prstGeom prst="rect">
            <a:avLst/>
          </a:prstGeom>
          <a:noFill/>
        </p:spPr>
        <p:txBody>
          <a:bodyPr wrap="square" lIns="0" rIns="0" tIns="0" bIns="0" anchor="t">
            <a:spAutoFit/>
          </a:bodyPr>
          <a:lstStyle/>
          <a:p>
            <a:pPr algn="l">
              <a:lnSpc>
                <a:spcPct val="132000"/>
              </a:lnSpc>
            </a:pPr>
            <a:r>
              <a:rPr sz="1400" b="0" i="0">
                <a:solidFill>
                  <a:srgbClr val="3A3D40"/>
                </a:solidFill>
                <a:latin typeface="Verdana"/>
              </a:rPr>
              <a:t>on appelle et on demande sans ouvrir de dossier</a:t>
            </a:r>
          </a:p>
        </p:txBody>
      </p:sp>
      <p:sp>
        <p:nvSpPr>
          <p:cNvPr id="21" name="Rounded Rectangle 20"/>
          <p:cNvSpPr/>
          <p:nvPr/>
        </p:nvSpPr>
        <p:spPr>
          <a:xfrm>
            <a:off x="566928" y="5047488"/>
            <a:ext cx="11057839" cy="769874"/>
          </a:xfrm>
          <a:prstGeom prst="roundRect">
            <a:avLst>
              <a:gd name="adj" fmla="val 19003"/>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69264" y="5303520"/>
            <a:ext cx="10234879" cy="312674"/>
          </a:xfrm>
          <a:prstGeom prst="rect">
            <a:avLst/>
          </a:prstGeom>
          <a:noFill/>
        </p:spPr>
        <p:txBody>
          <a:bodyPr wrap="square" lIns="0" rIns="0" tIns="0" bIns="0" anchor="t">
            <a:spAutoFit/>
          </a:bodyPr>
          <a:lstStyle/>
          <a:p>
            <a:pPr algn="l">
              <a:lnSpc>
                <a:spcPct val="145000"/>
              </a:lnSpc>
            </a:pPr>
            <a:r>
              <a:rPr sz="1400" b="0" i="0">
                <a:solidFill>
                  <a:srgbClr val="4B4F52"/>
                </a:solidFill>
                <a:latin typeface="Verdana"/>
              </a:rPr>
              <a:t>Un assureur répond volontiers à une question sans ouvrir de dossier.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Un dégât d'eau</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PRATIQUE · EXERCICE T3QUI</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qui s'adresse-t-on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Pour chaque situation, la bonne démarche.</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plafond est taché et le plancher gondole.</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Mon matelas et ma commode sont abîmés.</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Je n'ai pas pu coucher dans ma chambre pendant trois nuits.</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propriétaire ne répond pas depuis trois semaines.</a:t>
            </a:r>
          </a:p>
        </p:txBody>
      </p:sp>
      <p:sp>
        <p:nvSpPr>
          <p:cNvPr id="24" name="Rounded Rectangle 23"/>
          <p:cNvSpPr/>
          <p:nvPr/>
        </p:nvSpPr>
        <p:spPr>
          <a:xfrm>
            <a:off x="566928" y="4891023"/>
            <a:ext cx="11057839" cy="808735"/>
          </a:xfrm>
          <a:prstGeom prst="roundRect">
            <a:avLst>
              <a:gd name="adj" fmla="val 1809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112511"/>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176519"/>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046471"/>
            <a:ext cx="10097719" cy="534415"/>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mise en demeure est restée sans réponse.</a:t>
            </a:r>
          </a:p>
        </p:txBody>
      </p:sp>
      <p:sp>
        <p:nvSpPr>
          <p:cNvPr id="28" name="Rounded Rectangle 27"/>
          <p:cNvSpPr/>
          <p:nvPr/>
        </p:nvSpPr>
        <p:spPr>
          <a:xfrm>
            <a:off x="566928" y="582777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924803"/>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98881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6</a:t>
            </a:r>
          </a:p>
        </p:txBody>
      </p:sp>
      <p:sp>
        <p:nvSpPr>
          <p:cNvPr id="31" name="TextBox 30"/>
          <p:cNvSpPr txBox="1"/>
          <p:nvPr/>
        </p:nvSpPr>
        <p:spPr>
          <a:xfrm>
            <a:off x="1344168" y="598322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L'eau coule maintenant et personne ne répond.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Un dégât d'eau</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qui s'adresse-t-on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plafond est taché et le plancher gondole.   </a:t>
            </a:r>
            <a:r>
              <a:rPr sz="1400" b="1" i="0">
                <a:solidFill>
                  <a:srgbClr val="07734A"/>
                </a:solidFill>
                <a:latin typeface="Verdana"/>
              </a:rPr>
              <a:t>» j'avertis le propriétaire</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Mon matelas et ma commode sont abîmés.   </a:t>
            </a:r>
            <a:r>
              <a:rPr sz="1400" b="1" i="0">
                <a:solidFill>
                  <a:srgbClr val="07734A"/>
                </a:solidFill>
                <a:latin typeface="Verdana"/>
              </a:rPr>
              <a:t>» j'ouvre une réclamation à mon assureur</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Je n'ai pas pu coucher dans ma chambre pendant trois nuits.   </a:t>
            </a:r>
            <a:r>
              <a:rPr sz="1400" b="1" i="0">
                <a:solidFill>
                  <a:srgbClr val="07734A"/>
                </a:solidFill>
                <a:latin typeface="Verdana"/>
              </a:rPr>
              <a:t>» je demande une réduction de loyer, par écrit</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propriétaire ne répond pas depuis trois semaines.   </a:t>
            </a:r>
            <a:r>
              <a:rPr sz="1400" b="1" i="0">
                <a:solidFill>
                  <a:srgbClr val="07734A"/>
                </a:solidFill>
                <a:latin typeface="Verdana"/>
              </a:rPr>
              <a:t>» je lui envoie une mise en demeure</a:t>
            </a:r>
          </a:p>
        </p:txBody>
      </p:sp>
      <p:sp>
        <p:nvSpPr>
          <p:cNvPr id="24" name="Rounded Rectangle 23"/>
          <p:cNvSpPr/>
          <p:nvPr/>
        </p:nvSpPr>
        <p:spPr>
          <a:xfrm>
            <a:off x="566928" y="4891023"/>
            <a:ext cx="11057839" cy="808735"/>
          </a:xfrm>
          <a:prstGeom prst="roundRect">
            <a:avLst>
              <a:gd name="adj" fmla="val 1809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112511"/>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176519"/>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046471"/>
            <a:ext cx="10097719" cy="534415"/>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mise en demeure est restée sans réponse.   </a:t>
            </a:r>
            <a:r>
              <a:rPr sz="1400" b="1" i="0">
                <a:solidFill>
                  <a:srgbClr val="07734A"/>
                </a:solidFill>
                <a:latin typeface="Verdana"/>
              </a:rPr>
              <a:t>» je dépose une demande au Tribunal administratif du logement</a:t>
            </a:r>
          </a:p>
        </p:txBody>
      </p:sp>
      <p:sp>
        <p:nvSpPr>
          <p:cNvPr id="28" name="Rounded Rectangle 27"/>
          <p:cNvSpPr/>
          <p:nvPr/>
        </p:nvSpPr>
        <p:spPr>
          <a:xfrm>
            <a:off x="566928" y="582777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924803"/>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98881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6</a:t>
            </a:r>
          </a:p>
        </p:txBody>
      </p:sp>
      <p:sp>
        <p:nvSpPr>
          <p:cNvPr id="31" name="TextBox 30"/>
          <p:cNvSpPr txBox="1"/>
          <p:nvPr/>
        </p:nvSpPr>
        <p:spPr>
          <a:xfrm>
            <a:off x="1344168" y="598322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L'eau coule maintenant et personne ne répond.   </a:t>
            </a:r>
            <a:r>
              <a:rPr sz="1400" b="1" i="0">
                <a:solidFill>
                  <a:srgbClr val="07734A"/>
                </a:solidFill>
                <a:latin typeface="Verdana"/>
              </a:rPr>
              <a:t>» j'appelle un plombier d'urgence et je garde la facture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Un dégât d'eau</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JETER AVANT DE FAIRE CONSTATER</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Le matelas était fini, je l'ai mis au chemin.</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Je l'ai sorti de la chambre et je l'ai gardé.</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5189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C'est la première cause de refus d'une réclamation. Un bien jeté est un bien qui n'a jamais existé du point de vue du dossier. Personne ne vous demande de dormir à côté : on le sort de la pièce, on le met sur le balcon ou dans la remise, et on attend le passage de l'expert.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Un dégât d'eau</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Trois lignes : ce qui est au propriétaire, ce qui est à vous, ce qui se demande.</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 Le plafond et le plancher : au propriétaire. »</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 Le matelas : à moi. Les trois nuits : une réduction de loyer. »</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Un dégât d'eau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