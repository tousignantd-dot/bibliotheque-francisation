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séance retourne l'exercice de C2 : là on traduisait de l'administratif vers l'ordinaire, ici on fait l'inverse. C'est ce renversement qui rend le point utile pour les lettres du défi 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Répondre d'avance à la question qui vient toujours : « pourquoi ils n'écrivent pas simplement ? ». Parce qu'un avis s'adresse à six logements à la fois.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retrouver chacune des quatre dans l'avis de C1. Elles y sont toutes, ce qui n'est pas un hasard.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deuxième carte annonce la séance C4 : le subjonctif. Ne pas le traiter ici, seulement le signaler.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phrase est l'argument qui convainc le groupe : la tournure administrative n'est pas seulement à subir, elle est à utiliser.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vérifier l'accord du participe dans les deux phrases au passif. C'est là que se fait l'erreur.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écrire trois demandes avec « veuillez » adressées à trois destinataires différents : un propriétaire, une école, un assureur.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diapositive que les élèves photographient le plus dans cette séance. Prévoir le temps de la laisser affichée.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Corriger l'accord du participe si la phrase est au passif.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C3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Il est nécessaire de : la langue des avis</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Trois tournures tiennent tout document administratif. Savoir les lire vous protège ; savoir les écrire vous ouvre des portes.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Un dégât d'eau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et former la phrase impersonnelle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former le passif et accorder son participe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 veuillez » + infinitif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réutiliser ces tournures dans ses propres lettres.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UN AVIS NE DIT JAMAIS « VOUS DEVEZ »</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L'obligation paraît venir de la situation, pas d'une personne.</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Il est nécessaire de libérer l'accès » : personne ne s'adresse à personne, et pourtant vous êtes tenu de faire quelque chose. Ce n'est pas de la politesse et ce n'est pas de la lâcheté : c'est une langue faite pour s'appliquer à tout le monde de la même façon.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LES TROIS TOURNURES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charpente de tout document officiel</a:t>
            </a:r>
          </a:p>
        </p:txBody>
      </p:sp>
      <p:sp>
        <p:nvSpPr>
          <p:cNvPr id="7" name="Rounded Rectangle 6"/>
          <p:cNvSpPr/>
          <p:nvPr/>
        </p:nvSpPr>
        <p:spPr>
          <a:xfrm>
            <a:off x="566928" y="1810512"/>
            <a:ext cx="11057839" cy="3099816"/>
          </a:xfrm>
          <a:prstGeom prst="roundRect">
            <a:avLst>
              <a:gd name="adj" fmla="val 471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TOURNURE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COMMENT ELLE SE FAIT</a:t>
            </a:r>
          </a:p>
        </p:txBody>
      </p:sp>
      <p:sp>
        <p:nvSpPr>
          <p:cNvPr id="10" name="TextBox 9"/>
          <p:cNvSpPr txBox="1"/>
          <p:nvPr/>
        </p:nvSpPr>
        <p:spPr>
          <a:xfrm>
            <a:off x="932688" y="2395728"/>
            <a:ext cx="3291492" cy="539496"/>
          </a:xfrm>
          <a:prstGeom prst="rect">
            <a:avLst/>
          </a:prstGeom>
          <a:noFill/>
        </p:spPr>
        <p:txBody>
          <a:bodyPr wrap="square" lIns="0" rIns="0" tIns="0" bIns="0" anchor="t">
            <a:spAutoFit/>
          </a:bodyPr>
          <a:lstStyle/>
          <a:p>
            <a:pPr algn="l">
              <a:lnSpc>
                <a:spcPct val="132000"/>
              </a:lnSpc>
            </a:pPr>
            <a:r>
              <a:rPr sz="1500" b="1" i="0">
                <a:solidFill>
                  <a:srgbClr val="B45309"/>
                </a:solidFill>
                <a:latin typeface="Verdana"/>
              </a:rPr>
              <a:t>la phrase impersonnelle</a:t>
            </a:r>
          </a:p>
        </p:txBody>
      </p:sp>
      <p:sp>
        <p:nvSpPr>
          <p:cNvPr id="11" name="TextBox 10"/>
          <p:cNvSpPr txBox="1"/>
          <p:nvPr/>
        </p:nvSpPr>
        <p:spPr>
          <a:xfrm>
            <a:off x="4443636" y="2395728"/>
            <a:ext cx="6595914" cy="53949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 il » qui ne désigne personne : il est nécessaire de, il est interdit de</a:t>
            </a:r>
          </a:p>
        </p:txBody>
      </p:sp>
      <p:sp>
        <p:nvSpPr>
          <p:cNvPr id="12" name="Rectangle 11"/>
          <p:cNvSpPr/>
          <p:nvPr/>
        </p:nvSpPr>
        <p:spPr>
          <a:xfrm>
            <a:off x="932688" y="30083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136392"/>
            <a:ext cx="3291492" cy="539496"/>
          </a:xfrm>
          <a:prstGeom prst="rect">
            <a:avLst/>
          </a:prstGeom>
          <a:noFill/>
        </p:spPr>
        <p:txBody>
          <a:bodyPr wrap="square" lIns="0" rIns="0" tIns="0" bIns="0" anchor="t">
            <a:spAutoFit/>
          </a:bodyPr>
          <a:lstStyle/>
          <a:p>
            <a:pPr algn="l">
              <a:lnSpc>
                <a:spcPct val="132000"/>
              </a:lnSpc>
            </a:pPr>
            <a:r>
              <a:rPr sz="1500" b="1" i="0">
                <a:solidFill>
                  <a:srgbClr val="B45309"/>
                </a:solidFill>
                <a:latin typeface="Verdana"/>
              </a:rPr>
              <a:t>le passif</a:t>
            </a:r>
          </a:p>
        </p:txBody>
      </p:sp>
      <p:sp>
        <p:nvSpPr>
          <p:cNvPr id="14" name="TextBox 13"/>
          <p:cNvSpPr txBox="1"/>
          <p:nvPr/>
        </p:nvSpPr>
        <p:spPr>
          <a:xfrm>
            <a:off x="4443636" y="3136392"/>
            <a:ext cx="6595914" cy="53949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être au temps voulu + participe passé : les travaux seront effectués</a:t>
            </a:r>
          </a:p>
        </p:txBody>
      </p:sp>
      <p:sp>
        <p:nvSpPr>
          <p:cNvPr id="15" name="Rectangle 14"/>
          <p:cNvSpPr/>
          <p:nvPr/>
        </p:nvSpPr>
        <p:spPr>
          <a:xfrm>
            <a:off x="932688" y="374903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877055"/>
            <a:ext cx="3291492" cy="288036"/>
          </a:xfrm>
          <a:prstGeom prst="rect">
            <a:avLst/>
          </a:prstGeom>
          <a:noFill/>
        </p:spPr>
        <p:txBody>
          <a:bodyPr wrap="square" lIns="0" rIns="0" tIns="0" bIns="0" anchor="t">
            <a:spAutoFit/>
          </a:bodyPr>
          <a:lstStyle/>
          <a:p>
            <a:pPr algn="l">
              <a:lnSpc>
                <a:spcPct val="132000"/>
              </a:lnSpc>
            </a:pPr>
            <a:r>
              <a:rPr sz="1500" b="1" i="0">
                <a:solidFill>
                  <a:srgbClr val="B45309"/>
                </a:solidFill>
                <a:latin typeface="Verdana"/>
              </a:rPr>
              <a:t>« veuillez » + infinitif</a:t>
            </a:r>
          </a:p>
        </p:txBody>
      </p:sp>
      <p:sp>
        <p:nvSpPr>
          <p:cNvPr id="17" name="TextBox 16"/>
          <p:cNvSpPr txBox="1"/>
          <p:nvPr/>
        </p:nvSpPr>
        <p:spPr>
          <a:xfrm>
            <a:off x="4443636" y="3877055"/>
            <a:ext cx="6595914"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l'impératif poli des écrits : veuillez prévoir, veuillez nous aviser</a:t>
            </a:r>
          </a:p>
        </p:txBody>
      </p:sp>
      <p:sp>
        <p:nvSpPr>
          <p:cNvPr id="18" name="Rectangle 17"/>
          <p:cNvSpPr/>
          <p:nvPr/>
        </p:nvSpPr>
        <p:spPr>
          <a:xfrm>
            <a:off x="932688" y="42382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366259"/>
            <a:ext cx="3291492" cy="288036"/>
          </a:xfrm>
          <a:prstGeom prst="rect">
            <a:avLst/>
          </a:prstGeom>
          <a:noFill/>
        </p:spPr>
        <p:txBody>
          <a:bodyPr wrap="square" lIns="0" rIns="0" tIns="0" bIns="0" anchor="t">
            <a:spAutoFit/>
          </a:bodyPr>
          <a:lstStyle/>
          <a:p>
            <a:pPr algn="l">
              <a:lnSpc>
                <a:spcPct val="132000"/>
              </a:lnSpc>
            </a:pPr>
            <a:r>
              <a:rPr sz="1500" b="1" i="0">
                <a:solidFill>
                  <a:srgbClr val="B45309"/>
                </a:solidFill>
                <a:latin typeface="Verdana"/>
              </a:rPr>
              <a:t>les formules de conséquence</a:t>
            </a:r>
          </a:p>
        </p:txBody>
      </p:sp>
      <p:sp>
        <p:nvSpPr>
          <p:cNvPr id="20" name="TextBox 19"/>
          <p:cNvSpPr txBox="1"/>
          <p:nvPr/>
        </p:nvSpPr>
        <p:spPr>
          <a:xfrm>
            <a:off x="4443636" y="4366259"/>
            <a:ext cx="6595914"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à défaut, faute de quoi, le cas échéant</a:t>
            </a:r>
          </a:p>
        </p:txBody>
      </p:sp>
      <p:sp>
        <p:nvSpPr>
          <p:cNvPr id="21" name="Rounded Rectangle 20"/>
          <p:cNvSpPr/>
          <p:nvPr/>
        </p:nvSpPr>
        <p:spPr>
          <a:xfrm>
            <a:off x="566928" y="5148072"/>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404104"/>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Quatre lignes, et vous lisez n'importe quel avis du Québec.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LA PHRASE IMPERSONNELLE DE PRÈS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constructions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746760"/>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il est nécessaire DE + infinitif</a:t>
            </a:r>
          </a:p>
        </p:txBody>
      </p:sp>
      <p:sp>
        <p:nvSpPr>
          <p:cNvPr id="9" name="TextBox 8"/>
          <p:cNvSpPr txBox="1"/>
          <p:nvPr/>
        </p:nvSpPr>
        <p:spPr>
          <a:xfrm>
            <a:off x="886968" y="285902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Quand personne n'est visé en particulier : « il est nécessaire de libérer l'accès ».</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746760"/>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il est nécessaire QUE + subjonctif</a:t>
            </a:r>
          </a:p>
        </p:txBody>
      </p:sp>
      <p:sp>
        <p:nvSpPr>
          <p:cNvPr id="12" name="TextBox 11"/>
          <p:cNvSpPr txBox="1"/>
          <p:nvPr/>
        </p:nvSpPr>
        <p:spPr>
          <a:xfrm>
            <a:off x="6498183" y="285902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Quand on précise qui : « il est nécessaire que vous libériez l'accès ».</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746760"/>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Les autres tournures du même type</a:t>
            </a:r>
          </a:p>
        </p:txBody>
      </p:sp>
      <p:sp>
        <p:nvSpPr>
          <p:cNvPr id="15" name="TextBox 14"/>
          <p:cNvSpPr txBox="1"/>
          <p:nvPr/>
        </p:nvSpPr>
        <p:spPr>
          <a:xfrm>
            <a:off x="886968" y="507644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il est interdit de, il est important de, il est possible de, il y aura.</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746760"/>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Ce qu'elle n'est pas</a:t>
            </a:r>
          </a:p>
        </p:txBody>
      </p:sp>
      <p:sp>
        <p:nvSpPr>
          <p:cNvPr id="18" name="TextBox 17"/>
          <p:cNvSpPr txBox="1"/>
          <p:nvPr/>
        </p:nvSpPr>
        <p:spPr>
          <a:xfrm>
            <a:off x="6498183" y="507644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Elle n'est pas plus faible qu'un ordre. « Il est interdit de » a la même force.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PASSIF, ET SON ACCORD</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Être + participe passé, accordé avec le sujet.</a:t>
            </a:r>
          </a:p>
        </p:txBody>
      </p:sp>
      <p:sp>
        <p:nvSpPr>
          <p:cNvPr id="8" name="Rounded Rectangle 7"/>
          <p:cNvSpPr/>
          <p:nvPr/>
        </p:nvSpPr>
        <p:spPr>
          <a:xfrm>
            <a:off x="566928" y="3467607"/>
            <a:ext cx="11057839" cy="2408428"/>
          </a:xfrm>
          <a:prstGeom prst="roundRect">
            <a:avLst>
              <a:gd name="adj" fmla="val 607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9512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Les travaux seront effectués. » « Vous serez avisés. » « La porte sera ouverte. » Le participe s'accorde toujours avec le sujet, ce qui distingue immédiatement un écrit soigné. Et le passif sert aussi dans vos lettres : « aucune réponse ne m'a été transmise » est plus ferme et moins accusateur que « vous ne m'avez pas répondu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 EXERCICE T2IMPERSO</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Récrivez comme le ferait un avis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Employez la tournure demandée entre parenthèses.</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devez libérer l'accès au mur. (impersonnel)</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fera les travaux du 12 au 14 novembre. (passif)</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Ne fumez pas dans les corridors. (impersonnel)</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Prévoyez un accès, s'il vous plaît. (veuillez)</a:t>
            </a:r>
          </a:p>
        </p:txBody>
      </p:sp>
      <p:sp>
        <p:nvSpPr>
          <p:cNvPr id="24" name="Rounded Rectangle 23"/>
          <p:cNvSpPr/>
          <p:nvPr/>
        </p:nvSpPr>
        <p:spPr>
          <a:xfrm>
            <a:off x="566928" y="4891023"/>
            <a:ext cx="11057839"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11251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17651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vous ne le faites pas, nous appellerons. (conséquence)</a:t>
            </a:r>
          </a:p>
        </p:txBody>
      </p:sp>
      <p:sp>
        <p:nvSpPr>
          <p:cNvPr id="28" name="Rounded Rectangle 27"/>
          <p:cNvSpPr/>
          <p:nvPr/>
        </p:nvSpPr>
        <p:spPr>
          <a:xfrm>
            <a:off x="566928" y="582777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92480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98881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98322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vous préviendra la veille. (passif)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Récrivez comme le ferait un avis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devez libérer l'accès au mur. (impersonnel)   </a:t>
            </a:r>
            <a:r>
              <a:rPr sz="1400" b="1" i="0">
                <a:solidFill>
                  <a:srgbClr val="07734A"/>
                </a:solidFill>
                <a:latin typeface="Verdana"/>
              </a:rPr>
              <a:t>» Il est nécessaire de libérer l'accès au mur.</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fera les travaux du 12 au 14 novembre. (passif)   </a:t>
            </a:r>
            <a:r>
              <a:rPr sz="1400" b="1" i="0">
                <a:solidFill>
                  <a:srgbClr val="07734A"/>
                </a:solidFill>
                <a:latin typeface="Verdana"/>
              </a:rPr>
              <a:t>» Les travaux seront effectués du 12 au 14 novembre.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Ne fumez pas dans les corridors. (impersonnel)   </a:t>
            </a:r>
            <a:r>
              <a:rPr sz="1400" b="1" i="0">
                <a:solidFill>
                  <a:srgbClr val="07734A"/>
                </a:solidFill>
                <a:latin typeface="Verdana"/>
              </a:rPr>
              <a:t>» Il est interdit de fumer dans les corridors.</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Prévoyez un accès, s'il vous plaît. (veuillez)   </a:t>
            </a:r>
            <a:r>
              <a:rPr sz="1400" b="1" i="0">
                <a:solidFill>
                  <a:srgbClr val="07734A"/>
                </a:solidFill>
                <a:latin typeface="Verdana"/>
              </a:rPr>
              <a:t>» Veuillez prévoir un accès au logement.</a:t>
            </a:r>
          </a:p>
        </p:txBody>
      </p:sp>
      <p:sp>
        <p:nvSpPr>
          <p:cNvPr id="24" name="Rounded Rectangle 23"/>
          <p:cNvSpPr/>
          <p:nvPr/>
        </p:nvSpPr>
        <p:spPr>
          <a:xfrm>
            <a:off x="566928" y="4891023"/>
            <a:ext cx="11057839"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11251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17651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vous ne le faites pas, nous appellerons. (conséquence)   </a:t>
            </a:r>
            <a:r>
              <a:rPr sz="1400" b="1" i="0">
                <a:solidFill>
                  <a:srgbClr val="07734A"/>
                </a:solidFill>
                <a:latin typeface="Verdana"/>
              </a:rPr>
              <a:t>» À défaut, nous communiquerons avec le propriétaire.</a:t>
            </a:r>
          </a:p>
        </p:txBody>
      </p:sp>
      <p:sp>
        <p:nvSpPr>
          <p:cNvPr id="28" name="Rounded Rectangle 27"/>
          <p:cNvSpPr/>
          <p:nvPr/>
        </p:nvSpPr>
        <p:spPr>
          <a:xfrm>
            <a:off x="566928" y="582777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92480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98881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98322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vous préviendra la veille. (passif)   </a:t>
            </a:r>
            <a:r>
              <a:rPr sz="1400" b="1" i="0">
                <a:solidFill>
                  <a:srgbClr val="07734A"/>
                </a:solidFill>
                <a:latin typeface="Verdana"/>
              </a:rPr>
              <a:t>» Vous serez avisés vingt-quatre heures d'avance.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CONJUGUER « VEUILLEZ »</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Veux-tu prévoir un accès ? / Veuilles nous aviser.</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Veuillez prévoir un accès. Veuillez nous aviser.</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forme est figée : « veuillez », et rien d'autre. C'est la façon la plus courtoise et la plus neutre de demander quelque chose par écrit. Elle ne vieillit pas et ne choque personne, ce qui en fait un outil précieux quand on écrit à quelqu'un qu'on ne connaît pas.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À RÉUTILISER DANS VOS LETTRES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passif au service du locataire</a:t>
            </a:r>
          </a:p>
        </p:txBody>
      </p:sp>
      <p:sp>
        <p:nvSpPr>
          <p:cNvPr id="7" name="Rounded Rectangle 6"/>
          <p:cNvSpPr/>
          <p:nvPr/>
        </p:nvSpPr>
        <p:spPr>
          <a:xfrm>
            <a:off x="566928" y="1810512"/>
            <a:ext cx="11057839" cy="3163824"/>
          </a:xfrm>
          <a:prstGeom prst="roundRect">
            <a:avLst>
              <a:gd name="adj" fmla="val 462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DIRAIT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ÉCRIT</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Vous ne m'avez pas répondu.</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Aucune réponse ne m'a été transmise à ce jour.</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Vous n'avez rien réparé.</a:t>
            </a:r>
          </a:p>
        </p:txBody>
      </p:sp>
      <p:sp>
        <p:nvSpPr>
          <p:cNvPr id="14" name="TextBox 13"/>
          <p:cNvSpPr txBox="1"/>
          <p:nvPr/>
        </p:nvSpPr>
        <p:spPr>
          <a:xfrm>
            <a:off x="4443636" y="3236976"/>
            <a:ext cx="6595914"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Aucun travail n'a été effectué depuis le 10 novembre.</a:t>
            </a:r>
          </a:p>
        </p:txBody>
      </p:sp>
      <p:sp>
        <p:nvSpPr>
          <p:cNvPr id="15" name="Rectangle 14"/>
          <p:cNvSpPr/>
          <p:nvPr/>
        </p:nvSpPr>
        <p:spPr>
          <a:xfrm>
            <a:off x="932688" y="3950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078224"/>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Vous m'aviez promis mercredi.</a:t>
            </a:r>
          </a:p>
        </p:txBody>
      </p:sp>
      <p:sp>
        <p:nvSpPr>
          <p:cNvPr id="17" name="TextBox 16"/>
          <p:cNvSpPr txBox="1"/>
          <p:nvPr/>
        </p:nvSpPr>
        <p:spPr>
          <a:xfrm>
            <a:off x="4443636" y="4078224"/>
            <a:ext cx="6595914"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Une intervention m'avait été confirmée pour le mercredi 12.</a:t>
            </a:r>
          </a:p>
        </p:txBody>
      </p:sp>
      <p:sp>
        <p:nvSpPr>
          <p:cNvPr id="18" name="Rounded Rectangle 17"/>
          <p:cNvSpPr/>
          <p:nvPr/>
        </p:nvSpPr>
        <p:spPr>
          <a:xfrm>
            <a:off x="566928" y="521208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546811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Même contenu, aucune accusation — et rien n'est perdu.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une phrase de votre choix dans une tournure d'avis.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 Il est nécessaire de libérer le corridor avant vendredi.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 Vous serez avisés vingt-quatre heures d'avance.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Un dégât d'eau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