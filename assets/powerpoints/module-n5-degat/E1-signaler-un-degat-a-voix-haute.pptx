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Avant-dernière séance. Ouvrir le module interactif dès le début : la séance se passe surtout dedans. Les diapositives servent de cadre et de rappel, pas de contenu neuf.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ouvrir la liste dans le module et cocher au fur et à mesure : c'est ce qui empêche les appels qui s'arrêtent au troisième sujet.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appel qui s'arrête avant ces trois-là n'a obtenu qu'une promesse de réparation — la moitié de ce à quoi le locataire a droit.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élèves qui ont déjà vécu un dégât peuvent raconter le leur : c'est toujours meilleur. Les autres prennent une des trois.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pour que chacun fasse les deux. La tentation est de rester du côté du locataire, qui est plus confortable.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Le rappeler avant que le premier binôme se lance : un appel qui finit sans suite est un appel à refaire.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cette diapositive affichée pendant les jeux de rôle. Elle sert de béquille, et c'est très bien ainsi.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Prévenir avant le premier essai : sinon la moitié du groupe termine l'appel sans avoir rien demandé, et il faut tout recommencer.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L'enregistrement se dépose à l'enseignant depuis le module. Rappeler que la rétroaction de l'IA reste privée tant que l'élève n'envoie rien.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E1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Signaler un dégât, à voix haute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jeu de rôle sert de répétition, l'enregistrement sert de preuve. On joue les deux rôles : au niveau 5, il faut savoir exposer et savoir questionner.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 dégât d'eau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mener un appel de signalement du début à la fin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tenir les deux rôles, locataire et propriétaire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raconter un dégât en mêlant l'imparfait et le passé composé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terminer par une demande justifiée.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LES SEPT SUJETS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Raconter et décrire</a:t>
            </a:r>
          </a:p>
        </p:txBody>
      </p:sp>
      <p:sp>
        <p:nvSpPr>
          <p:cNvPr id="7" name="Rounded Rectangle 6"/>
          <p:cNvSpPr/>
          <p:nvPr/>
        </p:nvSpPr>
        <p:spPr>
          <a:xfrm>
            <a:off x="566928" y="1810512"/>
            <a:ext cx="11057839" cy="3099816"/>
          </a:xfrm>
          <a:prstGeom prst="roundRect">
            <a:avLst>
              <a:gd name="adj" fmla="val 471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SUJET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ATTEND</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ce qui est arrivé, et quand</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imparfait puis passé composé</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ce qu'on voit aujourd'hui</a:t>
            </a:r>
          </a:p>
        </p:txBody>
      </p:sp>
      <p:sp>
        <p:nvSpPr>
          <p:cNvPr id="14" name="TextBox 13"/>
          <p:cNvSpPr txBox="1"/>
          <p:nvPr/>
        </p:nvSpPr>
        <p:spPr>
          <a:xfrm>
            <a:off x="4443636" y="3236976"/>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pièce par pièce, le verbe juste</a:t>
            </a:r>
          </a:p>
        </p:txBody>
      </p:sp>
      <p:sp>
        <p:nvSpPr>
          <p:cNvPr id="15" name="Rectangle 14"/>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76472"/>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ce qu'on a déjà fait</a:t>
            </a:r>
          </a:p>
        </p:txBody>
      </p:sp>
      <p:sp>
        <p:nvSpPr>
          <p:cNvPr id="17" name="TextBox 16"/>
          <p:cNvSpPr txBox="1"/>
          <p:nvPr/>
        </p:nvSpPr>
        <p:spPr>
          <a:xfrm>
            <a:off x="4443636" y="3776472"/>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photos, chaudière, rien de jeté</a:t>
            </a:r>
          </a:p>
        </p:txBody>
      </p:sp>
      <p:sp>
        <p:nvSpPr>
          <p:cNvPr id="18" name="Rectangle 17"/>
          <p:cNvSpPr/>
          <p:nvPr/>
        </p:nvSpPr>
        <p:spPr>
          <a:xfrm>
            <a:off x="932688" y="41879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15968"/>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la cause, si on la connaît</a:t>
            </a:r>
          </a:p>
        </p:txBody>
      </p:sp>
      <p:sp>
        <p:nvSpPr>
          <p:cNvPr id="20" name="TextBox 19"/>
          <p:cNvSpPr txBox="1"/>
          <p:nvPr/>
        </p:nvSpPr>
        <p:spPr>
          <a:xfrm>
            <a:off x="4443636" y="431596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sans accuser personne</a:t>
            </a:r>
          </a:p>
        </p:txBody>
      </p:sp>
      <p:sp>
        <p:nvSpPr>
          <p:cNvPr id="21" name="Rounded Rectangle 20"/>
          <p:cNvSpPr/>
          <p:nvPr/>
        </p:nvSpPr>
        <p:spPr>
          <a:xfrm>
            <a:off x="566928" y="5148072"/>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404104"/>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Les sept sont cochables dans le module, un à un.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LES SEPT SUJETS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Obtenir quelque chose</a:t>
            </a:r>
          </a:p>
        </p:txBody>
      </p:sp>
      <p:sp>
        <p:nvSpPr>
          <p:cNvPr id="7" name="Rounded Rectangle 6"/>
          <p:cNvSpPr/>
          <p:nvPr/>
        </p:nvSpPr>
        <p:spPr>
          <a:xfrm>
            <a:off x="566928" y="1810512"/>
            <a:ext cx="11057839" cy="2560320"/>
          </a:xfrm>
          <a:prstGeom prst="roundRect">
            <a:avLst>
              <a:gd name="adj" fmla="val 571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SUJET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ATTEND</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ce que ça empêche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ligne qui fonde la demande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la date de l'intervention</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et ce qui se passe en attendant</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640080"/>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la compensation demandée</a:t>
            </a:r>
          </a:p>
        </p:txBody>
      </p:sp>
      <p:sp>
        <p:nvSpPr>
          <p:cNvPr id="17" name="TextBox 16"/>
          <p:cNvSpPr txBox="1"/>
          <p:nvPr/>
        </p:nvSpPr>
        <p:spPr>
          <a:xfrm>
            <a:off x="4443636" y="3474720"/>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avec sa raison</a:t>
            </a:r>
          </a:p>
        </p:txBody>
      </p:sp>
      <p:sp>
        <p:nvSpPr>
          <p:cNvPr id="18" name="Rounded Rectangle 17"/>
          <p:cNvSpPr/>
          <p:nvPr/>
        </p:nvSpPr>
        <p:spPr>
          <a:xfrm>
            <a:off x="566928" y="4608576"/>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864608"/>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Les trois derniers sont ceux qu'on oublie.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TROIS SITUATIONS AU CHOIX</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même démarche, trois dégâts</a:t>
            </a:r>
          </a:p>
        </p:txBody>
      </p:sp>
      <p:sp>
        <p:nvSpPr>
          <p:cNvPr id="7" name="Rounded Rectangle 6"/>
          <p:cNvSpPr/>
          <p:nvPr/>
        </p:nvSpPr>
        <p:spPr>
          <a:xfrm>
            <a:off x="566928" y="1810512"/>
            <a:ext cx="11057839"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10417759"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Le plafond de la chambre</a:t>
            </a:r>
          </a:p>
        </p:txBody>
      </p:sp>
      <p:sp>
        <p:nvSpPr>
          <p:cNvPr id="9" name="TextBox 8"/>
          <p:cNvSpPr txBox="1"/>
          <p:nvPr/>
        </p:nvSpPr>
        <p:spPr>
          <a:xfrm>
            <a:off x="886968" y="2499360"/>
            <a:ext cx="10417759" cy="35051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Un cerne d'un mètre, le plancher qui gondole, un matelas humide. La fuite venait du chauffe-eau du dessus.</a:t>
            </a:r>
          </a:p>
        </p:txBody>
      </p:sp>
      <p:sp>
        <p:nvSpPr>
          <p:cNvPr id="10" name="Rounded Rectangle 9"/>
          <p:cNvSpPr/>
          <p:nvPr/>
        </p:nvSpPr>
        <p:spPr>
          <a:xfrm>
            <a:off x="566928" y="3288792"/>
            <a:ext cx="11057839"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86968" y="3563112"/>
            <a:ext cx="10417759"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Le refoulement au sous-sol</a:t>
            </a:r>
          </a:p>
        </p:txBody>
      </p:sp>
      <p:sp>
        <p:nvSpPr>
          <p:cNvPr id="12" name="TextBox 11"/>
          <p:cNvSpPr txBox="1"/>
          <p:nvPr/>
        </p:nvSpPr>
        <p:spPr>
          <a:xfrm>
            <a:off x="886968" y="3977639"/>
            <a:ext cx="10417759" cy="35051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Cinq centimètres d'eau sale après un orage, un tapis à jeter, une odeur qui ne part pas.</a:t>
            </a:r>
          </a:p>
        </p:txBody>
      </p:sp>
      <p:sp>
        <p:nvSpPr>
          <p:cNvPr id="13" name="Rounded Rectangle 12"/>
          <p:cNvSpPr/>
          <p:nvPr/>
        </p:nvSpPr>
        <p:spPr>
          <a:xfrm>
            <a:off x="566928" y="4767072"/>
            <a:ext cx="11057839"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5041391"/>
            <a:ext cx="10417759"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Le boyau de la laveuse</a:t>
            </a:r>
          </a:p>
        </p:txBody>
      </p:sp>
      <p:sp>
        <p:nvSpPr>
          <p:cNvPr id="15" name="TextBox 14"/>
          <p:cNvSpPr txBox="1"/>
          <p:nvPr/>
        </p:nvSpPr>
        <p:spPr>
          <a:xfrm>
            <a:off x="886968" y="5455920"/>
            <a:ext cx="10417759" cy="35051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L'eau a traversé le plancher : la peinture cloque, l'armoire du bas est gonflée.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ON JOUE LES DEUX RÔLES</a:t>
            </a:r>
          </a:p>
        </p:txBody>
      </p:sp>
      <p:sp>
        <p:nvSpPr>
          <p:cNvPr id="6" name="Rounded Rectangle 5"/>
          <p:cNvSpPr/>
          <p:nvPr/>
        </p:nvSpPr>
        <p:spPr>
          <a:xfrm>
            <a:off x="566928" y="1225296"/>
            <a:ext cx="11057839" cy="1441196"/>
          </a:xfrm>
          <a:prstGeom prst="roundRect">
            <a:avLst>
              <a:gd name="adj" fmla="val 10151"/>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Savoir exposer, et savoir questionner.</a:t>
            </a:r>
          </a:p>
        </p:txBody>
      </p:sp>
      <p:sp>
        <p:nvSpPr>
          <p:cNvPr id="8" name="Rounded Rectangle 7"/>
          <p:cNvSpPr/>
          <p:nvPr/>
        </p:nvSpPr>
        <p:spPr>
          <a:xfrm>
            <a:off x="566928" y="2940812"/>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Côté locataire, on raconte, on décrit, on demande. Côté propriétaire, on écoute, on relance sur ce qui manque, on ne propose rien avant qu'on ait demandé. Le second rôle est le plus formateur : il oblige à repérer ce qu'un récit ne dit pas.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AVANT DE COMMENCER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Votre appel doit finir par quoi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audiere-sous-fuite.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date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nom d'entreprise ?</a:t>
            </a:r>
          </a:p>
        </p:txBody>
      </p:sp>
      <p:sp>
        <p:nvSpPr>
          <p:cNvPr id="15" name="Rounded Rectangle 14"/>
          <p:cNvSpPr/>
          <p:nvPr/>
        </p:nvSpPr>
        <p:spPr>
          <a:xfrm>
            <a:off x="566928" y="342798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geste de votre part ?</a:t>
            </a:r>
          </a:p>
        </p:txBody>
      </p:sp>
      <p:sp>
        <p:nvSpPr>
          <p:cNvPr id="18" name="Rounded Rectangle 17"/>
          <p:cNvSpPr/>
          <p:nvPr/>
        </p:nvSpPr>
        <p:spPr>
          <a:xfrm>
            <a:off x="566928" y="421386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23588"/>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39674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demande de compensation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LES PHRASES À RÉUTILISER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Elles viennent des quatre blocs</a:t>
            </a:r>
          </a:p>
        </p:txBody>
      </p:sp>
      <p:sp>
        <p:nvSpPr>
          <p:cNvPr id="7" name="Rounded Rectangle 6"/>
          <p:cNvSpPr/>
          <p:nvPr/>
        </p:nvSpPr>
        <p:spPr>
          <a:xfrm>
            <a:off x="566928" y="1810512"/>
            <a:ext cx="11057839" cy="3002280"/>
          </a:xfrm>
          <a:prstGeom prst="roundRect">
            <a:avLst>
              <a:gd name="adj" fmla="val 48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MOMENT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PHRASE</a:t>
            </a:r>
          </a:p>
        </p:txBody>
      </p:sp>
      <p:sp>
        <p:nvSpPr>
          <p:cNvPr id="10" name="TextBox 9"/>
          <p:cNvSpPr txBox="1"/>
          <p:nvPr/>
        </p:nvSpPr>
        <p:spPr>
          <a:xfrm>
            <a:off x="932688" y="2395728"/>
            <a:ext cx="3291492" cy="271271"/>
          </a:xfrm>
          <a:prstGeom prst="rect">
            <a:avLst/>
          </a:prstGeom>
          <a:noFill/>
        </p:spPr>
        <p:txBody>
          <a:bodyPr wrap="square" lIns="0" rIns="0" tIns="0" bIns="0" anchor="t">
            <a:spAutoFit/>
          </a:bodyPr>
          <a:lstStyle/>
          <a:p>
            <a:pPr algn="l">
              <a:lnSpc>
                <a:spcPct val="132000"/>
              </a:lnSpc>
            </a:pPr>
            <a:r>
              <a:rPr sz="1400" b="1" i="0">
                <a:solidFill>
                  <a:srgbClr val="A5335F"/>
                </a:solidFill>
                <a:latin typeface="Verdana"/>
              </a:rPr>
              <a:t>le décor</a:t>
            </a:r>
          </a:p>
        </p:txBody>
      </p:sp>
      <p:sp>
        <p:nvSpPr>
          <p:cNvPr id="11" name="TextBox 10"/>
          <p:cNvSpPr txBox="1"/>
          <p:nvPr/>
        </p:nvSpPr>
        <p:spPr>
          <a:xfrm>
            <a:off x="4443636" y="2395728"/>
            <a:ext cx="6595914"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Il faisait encore noir et l'eau coulait déjà.</a:t>
            </a:r>
          </a:p>
        </p:txBody>
      </p:sp>
      <p:sp>
        <p:nvSpPr>
          <p:cNvPr id="12" name="Rectangle 11"/>
          <p:cNvSpPr/>
          <p:nvPr/>
        </p:nvSpPr>
        <p:spPr>
          <a:xfrm>
            <a:off x="932688" y="27401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868168"/>
            <a:ext cx="3291492" cy="271271"/>
          </a:xfrm>
          <a:prstGeom prst="rect">
            <a:avLst/>
          </a:prstGeom>
          <a:noFill/>
        </p:spPr>
        <p:txBody>
          <a:bodyPr wrap="square" lIns="0" rIns="0" tIns="0" bIns="0" anchor="t">
            <a:spAutoFit/>
          </a:bodyPr>
          <a:lstStyle/>
          <a:p>
            <a:pPr algn="l">
              <a:lnSpc>
                <a:spcPct val="132000"/>
              </a:lnSpc>
            </a:pPr>
            <a:r>
              <a:rPr sz="1400" b="1" i="0">
                <a:solidFill>
                  <a:srgbClr val="A5335F"/>
                </a:solidFill>
                <a:latin typeface="Verdana"/>
              </a:rPr>
              <a:t>l'événement</a:t>
            </a:r>
          </a:p>
        </p:txBody>
      </p:sp>
      <p:sp>
        <p:nvSpPr>
          <p:cNvPr id="14" name="TextBox 13"/>
          <p:cNvSpPr txBox="1"/>
          <p:nvPr/>
        </p:nvSpPr>
        <p:spPr>
          <a:xfrm>
            <a:off x="4443636" y="2868168"/>
            <a:ext cx="6595914"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Je me suis levée à six heures et j'ai mis une chaudière.</a:t>
            </a:r>
          </a:p>
        </p:txBody>
      </p:sp>
      <p:sp>
        <p:nvSpPr>
          <p:cNvPr id="15" name="Rectangle 14"/>
          <p:cNvSpPr/>
          <p:nvPr/>
        </p:nvSpPr>
        <p:spPr>
          <a:xfrm>
            <a:off x="932688" y="32125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340608"/>
            <a:ext cx="3291492" cy="271271"/>
          </a:xfrm>
          <a:prstGeom prst="rect">
            <a:avLst/>
          </a:prstGeom>
          <a:noFill/>
        </p:spPr>
        <p:txBody>
          <a:bodyPr wrap="square" lIns="0" rIns="0" tIns="0" bIns="0" anchor="t">
            <a:spAutoFit/>
          </a:bodyPr>
          <a:lstStyle/>
          <a:p>
            <a:pPr algn="l">
              <a:lnSpc>
                <a:spcPct val="132000"/>
              </a:lnSpc>
            </a:pPr>
            <a:r>
              <a:rPr sz="1400" b="1" i="0">
                <a:solidFill>
                  <a:srgbClr val="A5335F"/>
                </a:solidFill>
                <a:latin typeface="Verdana"/>
              </a:rPr>
              <a:t>la simultanéité</a:t>
            </a:r>
          </a:p>
        </p:txBody>
      </p:sp>
      <p:sp>
        <p:nvSpPr>
          <p:cNvPr id="17" name="TextBox 16"/>
          <p:cNvSpPr txBox="1"/>
          <p:nvPr/>
        </p:nvSpPr>
        <p:spPr>
          <a:xfrm>
            <a:off x="4443636" y="3340608"/>
            <a:ext cx="6595914"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En rentrant du travail, j'ai vu que la tache avait doublé.</a:t>
            </a:r>
          </a:p>
        </p:txBody>
      </p:sp>
      <p:sp>
        <p:nvSpPr>
          <p:cNvPr id="18" name="Rectangle 17"/>
          <p:cNvSpPr/>
          <p:nvPr/>
        </p:nvSpPr>
        <p:spPr>
          <a:xfrm>
            <a:off x="932688" y="368503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813047"/>
            <a:ext cx="3291492" cy="271271"/>
          </a:xfrm>
          <a:prstGeom prst="rect">
            <a:avLst/>
          </a:prstGeom>
          <a:noFill/>
        </p:spPr>
        <p:txBody>
          <a:bodyPr wrap="square" lIns="0" rIns="0" tIns="0" bIns="0" anchor="t">
            <a:spAutoFit/>
          </a:bodyPr>
          <a:lstStyle/>
          <a:p>
            <a:pPr algn="l">
              <a:lnSpc>
                <a:spcPct val="132000"/>
              </a:lnSpc>
            </a:pPr>
            <a:r>
              <a:rPr sz="1400" b="1" i="0">
                <a:solidFill>
                  <a:srgbClr val="A5335F"/>
                </a:solidFill>
                <a:latin typeface="Verdana"/>
              </a:rPr>
              <a:t>ce qui compte</a:t>
            </a:r>
          </a:p>
        </p:txBody>
      </p:sp>
      <p:sp>
        <p:nvSpPr>
          <p:cNvPr id="20" name="TextBox 19"/>
          <p:cNvSpPr txBox="1"/>
          <p:nvPr/>
        </p:nvSpPr>
        <p:spPr>
          <a:xfrm>
            <a:off x="4443636" y="3813047"/>
            <a:ext cx="6595914"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Ce qui m'inquiète, c'est l'humidité dans le matelas.</a:t>
            </a:r>
          </a:p>
        </p:txBody>
      </p:sp>
      <p:sp>
        <p:nvSpPr>
          <p:cNvPr id="21" name="Rectangle 20"/>
          <p:cNvSpPr/>
          <p:nvPr/>
        </p:nvSpPr>
        <p:spPr>
          <a:xfrm>
            <a:off x="932688" y="415747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285487"/>
            <a:ext cx="3291492" cy="271271"/>
          </a:xfrm>
          <a:prstGeom prst="rect">
            <a:avLst/>
          </a:prstGeom>
          <a:noFill/>
        </p:spPr>
        <p:txBody>
          <a:bodyPr wrap="square" lIns="0" rIns="0" tIns="0" bIns="0" anchor="t">
            <a:spAutoFit/>
          </a:bodyPr>
          <a:lstStyle/>
          <a:p>
            <a:pPr algn="l">
              <a:lnSpc>
                <a:spcPct val="132000"/>
              </a:lnSpc>
            </a:pPr>
            <a:r>
              <a:rPr sz="1400" b="1" i="0">
                <a:solidFill>
                  <a:srgbClr val="A5335F"/>
                </a:solidFill>
                <a:latin typeface="Verdana"/>
              </a:rPr>
              <a:t>la demande</a:t>
            </a:r>
          </a:p>
        </p:txBody>
      </p:sp>
      <p:sp>
        <p:nvSpPr>
          <p:cNvPr id="23" name="TextBox 22"/>
          <p:cNvSpPr txBox="1"/>
          <p:nvPr/>
        </p:nvSpPr>
        <p:spPr>
          <a:xfrm>
            <a:off x="4443636" y="4285487"/>
            <a:ext cx="6595914"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Trois nuits sans chambre : par conséquent, je demande une réduction.</a:t>
            </a:r>
          </a:p>
        </p:txBody>
      </p:sp>
      <p:sp>
        <p:nvSpPr>
          <p:cNvPr id="24" name="Rounded Rectangle 23"/>
          <p:cNvSpPr/>
          <p:nvPr/>
        </p:nvSpPr>
        <p:spPr>
          <a:xfrm>
            <a:off x="566928" y="505053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30656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Cinq phrases, cinq points de langue du module.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ATTENDRE QU'ON VOUS PROPOSE QUELQUE CHOSE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Il va bien me dire ce qu'il compte faire.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demande une date, et je demande une compensation.</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propriétaire du jeu de rôle ne propose jamais d'argent le premier — et c'est fidèle à la réalité. Une compensation se demande, avec une raison et un chiffre. Sans demande, la conversation se termine sur une promesse de réparation, ce qui n'est que la moitié de ce à quoi vous avez droit.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Enregistrez votre récit dans le module, écoutez-vous, recommencez une fois.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Environ une minute : le décor, l'événement, les dommages, la demande.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La deuxième version est toujours meilleure que la première.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Un dégât d'eau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