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Prévoir une bonne moitié du temps pour l'écriture et la correction dans le module. Le bilan vient à la fin, quand les lettres sont envoyées.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Ouvrir la séance là-dessus. C'est l'idée qui organise toute la lettre et qui vaut bien au-delà du logement.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la date en tête : c'est la première chose que cherche celui qui lit.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lire les cinq d'un trait par un élève. Entendre la lettre entière en vingt secondes convainc mieux que n'importe quel commentaire sur la concision.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faire cocher un à un sur la lettre écrite dans le module, avant de demander la correction.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reformuler chaque ligne par un élève différent avant d'afficher la colonne de droite.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révision la plus efficace de la séance : reformuler avant de lire.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lignes, dix-sept mots. Faire réviser les cartes mémoire dans le module avant l'autoévaluation.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Fermer le module là-dessus. Pour beaucoup d'élèves, c'est le vrai apprentissage — plus que la grammaire.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Dernier billet du module. Faire l'autoévaluation dans le module interactif avant de partir : dix énoncés, trois choix.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lettre, et le bilan du module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Cinq lignes bien choisies valent trois pages. Puis on ferme le module en reprenant ce qu'on sait faire — et ce qu'on a le droit de demander.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 dégât d'eau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une demande de réduction de loyer complète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chiffrer sa demande et fixer un délai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reprendre les points de langue des quatre blocs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qu'on a le droit de demander à un propriétaire.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UNE DEMANDE FACILE À TRAITER OBTIENT UNE RÉPONSE</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destinataire doit pouvoir dire oui en trente secondes.</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Vous avez raison, et ça ne suffit pas. Ce qui décide, c'est la facilité de traitement : des faits datés, un montant, une date limite. Tout ce qui oblige le destinataire à chercher, à reconstituer ou à se défendre travaille contre vous.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 LETTRE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s'est passé</a:t>
            </a:r>
          </a:p>
        </p:txBody>
      </p:sp>
      <p:sp>
        <p:nvSpPr>
          <p:cNvPr id="7" name="Rounded Rectangle 6"/>
          <p:cNvSpPr/>
          <p:nvPr/>
        </p:nvSpPr>
        <p:spPr>
          <a:xfrm>
            <a:off x="566928" y="1810512"/>
            <a:ext cx="11057839" cy="2322576"/>
          </a:xfrm>
          <a:prstGeom prst="roundRect">
            <a:avLst>
              <a:gd name="adj" fmla="val 629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PARTIE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PHRASE MODÈLE</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les faits, datés</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10 novembre, un dégât d'eau est survenu dans ma chambre.</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ce que j'ai perdu</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travaux ont duré trois jours, pendant lesquels je n'ai pas pu occuper ma chambre.</a:t>
            </a:r>
          </a:p>
        </p:txBody>
      </p:sp>
      <p:sp>
        <p:nvSpPr>
          <p:cNvPr id="15" name="Rounded Rectangle 14"/>
          <p:cNvSpPr/>
          <p:nvPr/>
        </p:nvSpPr>
        <p:spPr>
          <a:xfrm>
            <a:off x="566928" y="4370831"/>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69264" y="4626864"/>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Deux phrases, pas trois.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 LETTRE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je demande</a:t>
            </a:r>
          </a:p>
        </p:txBody>
      </p:sp>
      <p:sp>
        <p:nvSpPr>
          <p:cNvPr id="7" name="Rounded Rectangle 6"/>
          <p:cNvSpPr/>
          <p:nvPr/>
        </p:nvSpPr>
        <p:spPr>
          <a:xfrm>
            <a:off x="566928" y="1810512"/>
            <a:ext cx="11057839" cy="3163824"/>
          </a:xfrm>
          <a:prstGeom prst="roundRect">
            <a:avLst>
              <a:gd name="adj" fmla="val 462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PARTIE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PHRASE MODÈLE</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cause</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Étant donné que la cause était dans un autre logement, je ne suis pas responsable.</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demande</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Par conséquent, je demande une réduction de trois jours, soit 90 $.</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délai</a:t>
            </a:r>
          </a:p>
        </p:txBody>
      </p:sp>
      <p:sp>
        <p:nvSpPr>
          <p:cNvPr id="17" name="TextBox 16"/>
          <p:cNvSpPr txBox="1"/>
          <p:nvPr/>
        </p:nvSpPr>
        <p:spPr>
          <a:xfrm>
            <a:off x="4443636" y="4078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vous saurais gré de me répondre avant le 30 novembre.</a:t>
            </a:r>
          </a:p>
        </p:txBody>
      </p:sp>
      <p:sp>
        <p:nvSpPr>
          <p:cNvPr id="18" name="Rounded Rectangle 17"/>
          <p:cNvSpPr/>
          <p:nvPr/>
        </p:nvSpPr>
        <p:spPr>
          <a:xfrm>
            <a:off x="566928" y="521208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46811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Lues à la suite, les cinq font une lettre complète.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CE QU'IL FAUT VÉRIFIER AVANT D'ENVOYER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contrôles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Une date dans la première phrase</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C'est la première chose que cherche celui qui lit.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 chiffre dans la demande</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Loyer ÷ 30 × nombre de jours. Sans chiffre : « on verra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Une date limite de réponse</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Elle vous donne le droit de relancer sans avoir l'air pressant.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Aucune accusation</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La cause se trouvait ailleurs », pas « vous avez négligé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LES POINTS DE LANGUE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Raconter et décrire</a:t>
            </a:r>
          </a:p>
        </p:txBody>
      </p:sp>
      <p:sp>
        <p:nvSpPr>
          <p:cNvPr id="7" name="Rounded Rectangle 6"/>
          <p:cNvSpPr/>
          <p:nvPr/>
        </p:nvSpPr>
        <p:spPr>
          <a:xfrm>
            <a:off x="566928" y="1810512"/>
            <a:ext cx="11057839" cy="3163824"/>
          </a:xfrm>
          <a:prstGeom prst="roundRect">
            <a:avLst>
              <a:gd name="adj" fmla="val 462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POINT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EN UNE PHRASE</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son o</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eau à la fin des mots longs, au devant d, t, s, o dans les mots courts</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imparfait / passé composé</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décor dure, l'événement fait avancer</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gérondif</a:t>
            </a:r>
          </a:p>
        </p:txBody>
      </p:sp>
      <p:sp>
        <p:nvSpPr>
          <p:cNvPr id="17" name="TextBox 16"/>
          <p:cNvSpPr txBox="1"/>
          <p:nvPr/>
        </p:nvSpPr>
        <p:spPr>
          <a:xfrm>
            <a:off x="4443636" y="4078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en + le radical de nous + -ant, même sujet pour les deux</a:t>
            </a:r>
          </a:p>
        </p:txBody>
      </p:sp>
      <p:sp>
        <p:nvSpPr>
          <p:cNvPr id="18" name="Rounded Rectangle 17"/>
          <p:cNvSpPr/>
          <p:nvPr/>
        </p:nvSpPr>
        <p:spPr>
          <a:xfrm>
            <a:off x="566928" y="521208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46811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trois points des blocs A et 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LES POINTS DE LANGUE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Lire un avis et demander</a:t>
            </a:r>
          </a:p>
        </p:txBody>
      </p:sp>
      <p:sp>
        <p:nvSpPr>
          <p:cNvPr id="7" name="Rounded Rectangle 6"/>
          <p:cNvSpPr/>
          <p:nvPr/>
        </p:nvSpPr>
        <p:spPr>
          <a:xfrm>
            <a:off x="566928" y="1810512"/>
            <a:ext cx="11057839" cy="3163824"/>
          </a:xfrm>
          <a:prstGeom prst="roundRect">
            <a:avLst>
              <a:gd name="adj" fmla="val 462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POINT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EN UNE PHRASE</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les tournures d'avis</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 il » qui ne désigne personne, un passif, « veuillez »</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subjonctif</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après il faut que, il est nécessaire que, pour que, avant que</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l'emphase et les connecteurs</a:t>
            </a:r>
          </a:p>
        </p:txBody>
      </p:sp>
      <p:sp>
        <p:nvSpPr>
          <p:cNvPr id="17" name="TextBox 16"/>
          <p:cNvSpPr txBox="1"/>
          <p:nvPr/>
        </p:nvSpPr>
        <p:spPr>
          <a:xfrm>
            <a:off x="4443636" y="4078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c'est … qui, ce que …, c'est ; étant donné que, par conséquent</a:t>
            </a:r>
          </a:p>
        </p:txBody>
      </p:sp>
      <p:sp>
        <p:nvSpPr>
          <p:cNvPr id="18" name="Rounded Rectangle 17"/>
          <p:cNvSpPr/>
          <p:nvPr/>
        </p:nvSpPr>
        <p:spPr>
          <a:xfrm>
            <a:off x="566928" y="521208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46811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trois points des blocs C et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 DU 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à garder</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4372523"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cerne · gondoler · cloquer</a:t>
            </a:r>
          </a:p>
        </p:txBody>
      </p:sp>
      <p:sp>
        <p:nvSpPr>
          <p:cNvPr id="9" name="TextBox 8"/>
          <p:cNvSpPr txBox="1"/>
          <p:nvPr/>
        </p:nvSpPr>
        <p:spPr>
          <a:xfrm>
            <a:off x="5579531" y="2121408"/>
            <a:ext cx="5679475"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qu'on voit, avec le verbe juste</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4372523"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fuite · une infiltration</a:t>
            </a:r>
          </a:p>
        </p:txBody>
      </p:sp>
      <p:sp>
        <p:nvSpPr>
          <p:cNvPr id="12" name="TextBox 11"/>
          <p:cNvSpPr txBox="1"/>
          <p:nvPr/>
        </p:nvSpPr>
        <p:spPr>
          <a:xfrm>
            <a:off x="5579531" y="2778252"/>
            <a:ext cx="5679475"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d'où ça vient, et par où ça passe</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4372523"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l'assèchement · un asséchateur</a:t>
            </a:r>
          </a:p>
        </p:txBody>
      </p:sp>
      <p:sp>
        <p:nvSpPr>
          <p:cNvPr id="15" name="TextBox 14"/>
          <p:cNvSpPr txBox="1"/>
          <p:nvPr/>
        </p:nvSpPr>
        <p:spPr>
          <a:xfrm>
            <a:off x="5579531" y="3435096"/>
            <a:ext cx="5679475"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qui répare, et ce qui fait du bruit</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4372523"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avis · à défaut</a:t>
            </a:r>
          </a:p>
        </p:txBody>
      </p:sp>
      <p:sp>
        <p:nvSpPr>
          <p:cNvPr id="18" name="TextBox 17"/>
          <p:cNvSpPr txBox="1"/>
          <p:nvPr/>
        </p:nvSpPr>
        <p:spPr>
          <a:xfrm>
            <a:off x="5579531" y="4091939"/>
            <a:ext cx="5679475"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qu'on lit, et le mot qui vous engage</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4372523" cy="437387"/>
          </a:xfrm>
          <a:prstGeom prst="rect">
            <a:avLst/>
          </a:prstGeom>
          <a:noFill/>
        </p:spPr>
        <p:txBody>
          <a:bodyPr wrap="square" lIns="0" rIns="0" tIns="0" bIns="0" anchor="t">
            <a:spAutoFit/>
          </a:bodyPr>
          <a:lstStyle/>
          <a:p>
            <a:pPr algn="l">
              <a:lnSpc>
                <a:spcPct val="128000"/>
              </a:lnSpc>
            </a:pPr>
            <a:r>
              <a:rPr sz="1800" b="1" i="0">
                <a:solidFill>
                  <a:srgbClr val="17181A"/>
                </a:solidFill>
                <a:latin typeface="Verdana"/>
              </a:rPr>
              <a:t>une réclamation · une franchise</a:t>
            </a:r>
          </a:p>
        </p:txBody>
      </p:sp>
      <p:sp>
        <p:nvSpPr>
          <p:cNvPr id="21" name="TextBox 20"/>
          <p:cNvSpPr txBox="1"/>
          <p:nvPr/>
        </p:nvSpPr>
        <p:spPr>
          <a:xfrm>
            <a:off x="5579531" y="4748784"/>
            <a:ext cx="5679475"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qu'on demande à son assureur</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4372523"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réduction de loyer</a:t>
            </a:r>
          </a:p>
        </p:txBody>
      </p:sp>
      <p:sp>
        <p:nvSpPr>
          <p:cNvPr id="24" name="TextBox 23"/>
          <p:cNvSpPr txBox="1"/>
          <p:nvPr/>
        </p:nvSpPr>
        <p:spPr>
          <a:xfrm>
            <a:off x="5579531" y="5405628"/>
            <a:ext cx="5679475"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qu'on demande à son propriétaire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CROIRE QU'ON N'A RIEN À DEMANDER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a fait réparer, c'est déjà ça.</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Le logement était inutilisable trois jours : je demande une réduction.</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le fil de tout le module. Faire réparer est l'obligation du propriétaire, pas une faveur. Une pièce dont on ne peut pas se servir pendant trois jours est un loyer payé pour rien, et le demander n'est ni impoli ni exagéré : c'est une démarche ordinaire, prévue, que des milliers de locataires font chaque année.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Gardez la fiche des cinq lignes d'une demande écrite.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Elle sert pour un logement, une école, une compagnie d'assurance.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Les faits, la perte, la cause, la demande, le délai.</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dégât d'eau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