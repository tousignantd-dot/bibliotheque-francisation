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par une question au groupe : y a-t-il un babillard à votre travail, et qui le lit ? Presque tout le monde en a vu un, presque personne ne s'arrête devant. C'est exactement le sujet du module.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celui du module entier : savoir d'avance ce qu'on va trouver dans un papier, c'est déjà la moitié de la lecture.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sans mauvaise réponse. Beaucoup d'élèves ont connu un marché du travail où tout passe par la relation personnelle. Ne rien dévaloriser : s'en servir pour comparer, et pour faire sentir ce qu'une procédure écrite change — elle est lente, mais elle est la même pour tout le monde.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Dix jours ouvrables » et « vendredi 25 septembre, 16 h » : ces deux repères reviennent dans les quatre blocs. Les écrire au tableau dès maintenant et les y laisser toute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porte la distinction du bloc. La faire répéter par deux élèves, puis demander si le mot « mutation » existe dans leur langue et ce qu'il y recouvre.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Annoncer ici les deux productions de E1 et E2 : dans quatre semaines, chacun décrira la démarche à voix haute et écrira son courriel aux ressources humaines. Le dire tôt donne un but à tout le reste.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tableau de référence de tout le module ; il revient en A4 sous forme d'exercice, puis à chaque ouverture de défi.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 on ne demande pas de tout comprendre, on demande de savoir quoi chercher.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chaque mot avec son article. « Un babillard » est un mot du Québec : ailleurs on dit « un tableau d'affichage ». Le signaler, c'est utile.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Le quatrième surprend toujours : beaucoup croient qu'il faut la permission du chef, et c'est la croyance qui empêche le plus de gens de se présenter.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Les réponses servent en A4 : elles disent quel écrit intimide le plus le groupe, et c'est celui-là qu'il faudra travailler le plus lentement.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Un papier neuf sur le babillard</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poste se libère chez Emballages Bocage. Le même dossier va revenir quatre fois cette session, dans quatre écrits différents, et jamais de la même manière.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poste affiché à l'interne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quatre écrits du travail : l'affichage, la note de service, la politique, le compte rendu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d'avance ce que chaque écrit va donner, et ce qu'il ne donnera pas ;</a:t>
            </a:r>
          </a:p>
        </p:txBody>
      </p:sp>
      <p:sp>
        <p:nvSpPr>
          <p:cNvPr id="15" name="Rounded Rectangle 14"/>
          <p:cNvSpPr/>
          <p:nvPr/>
        </p:nvSpPr>
        <p:spPr>
          <a:xfrm>
            <a:off x="566928" y="3892295"/>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5"/>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1"/>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40934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une mutation d'une promotion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quatre premiers mots du dossier avec leur article.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Comment apprend-on qu'un poste se libère, là où tu travailles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Par un papier au mur, par un courriel, ou par la rumeur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As-tu déjà vu quelqu'un changer de poste dans la même entreprise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Faut-il demander la permission à son chef d'équipe, selon toi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t'a le plus étonné du monde du travail d'ici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affichage interne, c'est quoi ?</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Écouter d'abord, diapositive masquée.</a:t>
            </a:r>
          </a:p>
        </p:txBody>
      </p:sp>
      <p:sp>
        <p:nvSpPr>
          <p:cNvPr id="8" name="Rounded Rectangle 7"/>
          <p:cNvSpPr/>
          <p:nvPr/>
        </p:nvSpPr>
        <p:spPr>
          <a:xfrm>
            <a:off x="566928" y="2157984"/>
            <a:ext cx="11057839" cy="969264"/>
          </a:xfrm>
          <a:prstGeom prst="roundRect">
            <a:avLst>
              <a:gd name="adj" fmla="val 1509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608582" cy="69494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YANETH</a:t>
            </a:r>
          </a:p>
        </p:txBody>
      </p:sp>
      <p:sp>
        <p:nvSpPr>
          <p:cNvPr id="10" name="TextBox 9"/>
          <p:cNvSpPr txBox="1"/>
          <p:nvPr/>
        </p:nvSpPr>
        <p:spPr>
          <a:xfrm>
            <a:off x="2541270" y="2322576"/>
            <a:ext cx="8534857" cy="69494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Ghislain, il y a un papier neuf sur le babillard, à côté de la porte du vestiaire.</a:t>
            </a:r>
          </a:p>
        </p:txBody>
      </p:sp>
      <p:sp>
        <p:nvSpPr>
          <p:cNvPr id="11" name="Rounded Rectangle 10"/>
          <p:cNvSpPr/>
          <p:nvPr/>
        </p:nvSpPr>
        <p:spPr>
          <a:xfrm>
            <a:off x="566928" y="3209544"/>
            <a:ext cx="11057839" cy="969264"/>
          </a:xfrm>
          <a:prstGeom prst="roundRect">
            <a:avLst>
              <a:gd name="adj" fmla="val 1509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374136"/>
            <a:ext cx="1608582" cy="69494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GHISLAIN</a:t>
            </a:r>
          </a:p>
        </p:txBody>
      </p:sp>
      <p:sp>
        <p:nvSpPr>
          <p:cNvPr id="13" name="TextBox 12"/>
          <p:cNvSpPr txBox="1"/>
          <p:nvPr/>
        </p:nvSpPr>
        <p:spPr>
          <a:xfrm>
            <a:off x="2541270" y="3374136"/>
            <a:ext cx="8534857" cy="69494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Ça, c'est un affichage interne. Quand un poste se libère, l'entreprise le montre d'abord à ceux qui travaillent déjà ici.</a:t>
            </a:r>
          </a:p>
        </p:txBody>
      </p:sp>
      <p:sp>
        <p:nvSpPr>
          <p:cNvPr id="14" name="Rounded Rectangle 13"/>
          <p:cNvSpPr/>
          <p:nvPr/>
        </p:nvSpPr>
        <p:spPr>
          <a:xfrm>
            <a:off x="566928" y="4261104"/>
            <a:ext cx="11057839" cy="649224"/>
          </a:xfrm>
          <a:prstGeom prst="roundRect">
            <a:avLst>
              <a:gd name="adj" fmla="val 22535"/>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425696"/>
            <a:ext cx="1608582" cy="37490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YANETH</a:t>
            </a:r>
          </a:p>
        </p:txBody>
      </p:sp>
      <p:sp>
        <p:nvSpPr>
          <p:cNvPr id="16" name="TextBox 15"/>
          <p:cNvSpPr txBox="1"/>
          <p:nvPr/>
        </p:nvSpPr>
        <p:spPr>
          <a:xfrm>
            <a:off x="2541270" y="4425696"/>
            <a:ext cx="8534857" cy="37490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Alors ce n'est pas une annonce comme celles qu'on voit sur Internet.</a:t>
            </a:r>
          </a:p>
        </p:txBody>
      </p:sp>
      <p:sp>
        <p:nvSpPr>
          <p:cNvPr id="17" name="Rounded Rectangle 16"/>
          <p:cNvSpPr/>
          <p:nvPr/>
        </p:nvSpPr>
        <p:spPr>
          <a:xfrm>
            <a:off x="566928" y="4992624"/>
            <a:ext cx="11057839" cy="969264"/>
          </a:xfrm>
          <a:prstGeom prst="roundRect">
            <a:avLst>
              <a:gd name="adj" fmla="val 1509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157216"/>
            <a:ext cx="1608582" cy="69494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GHISLAIN</a:t>
            </a:r>
          </a:p>
        </p:txBody>
      </p:sp>
      <p:sp>
        <p:nvSpPr>
          <p:cNvPr id="19" name="TextBox 18"/>
          <p:cNvSpPr txBox="1"/>
          <p:nvPr/>
        </p:nvSpPr>
        <p:spPr>
          <a:xfrm>
            <a:off x="2541270" y="5157216"/>
            <a:ext cx="8534857" cy="69494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Non. Un affichage interne, c'est pour nous autres. Et il y a un délai : dix jours ouvrables, puis il descend.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poste, et qui peut se présenter</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60858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YANETH</a:t>
            </a:r>
          </a:p>
        </p:txBody>
      </p:sp>
      <p:sp>
        <p:nvSpPr>
          <p:cNvPr id="9" name="TextBox 8"/>
          <p:cNvSpPr txBox="1"/>
          <p:nvPr/>
        </p:nvSpPr>
        <p:spPr>
          <a:xfrm>
            <a:off x="2541270" y="1901952"/>
            <a:ext cx="8534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 poste, c'est lequel ?</a:t>
            </a:r>
          </a:p>
        </p:txBody>
      </p:sp>
      <p:sp>
        <p:nvSpPr>
          <p:cNvPr id="10" name="Rounded Rectangle 9"/>
          <p:cNvSpPr/>
          <p:nvPr/>
        </p:nvSpPr>
        <p:spPr>
          <a:xfrm>
            <a:off x="566928" y="2486659"/>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608582"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GHISLAIN</a:t>
            </a:r>
          </a:p>
        </p:txBody>
      </p:sp>
      <p:sp>
        <p:nvSpPr>
          <p:cNvPr id="12" name="TextBox 11"/>
          <p:cNvSpPr txBox="1"/>
          <p:nvPr/>
        </p:nvSpPr>
        <p:spPr>
          <a:xfrm>
            <a:off x="2541270" y="2651252"/>
            <a:ext cx="8534857"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Vérificatrice à la qualité, à l'atelier de conditionnement. Quart de jour. C'est la personne qui prend les échantillons et qui remplit les feuilles de contrôle.</a:t>
            </a:r>
          </a:p>
        </p:txBody>
      </p:sp>
      <p:sp>
        <p:nvSpPr>
          <p:cNvPr id="13" name="Rounded Rectangle 12"/>
          <p:cNvSpPr/>
          <p:nvPr/>
        </p:nvSpPr>
        <p:spPr>
          <a:xfrm>
            <a:off x="566928" y="39116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60858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YANETH</a:t>
            </a:r>
          </a:p>
        </p:txBody>
      </p:sp>
      <p:sp>
        <p:nvSpPr>
          <p:cNvPr id="15" name="TextBox 14"/>
          <p:cNvSpPr txBox="1"/>
          <p:nvPr/>
        </p:nvSpPr>
        <p:spPr>
          <a:xfrm>
            <a:off x="2541270" y="4076191"/>
            <a:ext cx="853485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m'intéresse. J'ai fait deux ans à l'expédition et je connais le plancher par cœur.</a:t>
            </a:r>
          </a:p>
        </p:txBody>
      </p:sp>
      <p:sp>
        <p:nvSpPr>
          <p:cNvPr id="16" name="Rounded Rectangle 15"/>
          <p:cNvSpPr/>
          <p:nvPr/>
        </p:nvSpPr>
        <p:spPr>
          <a:xfrm>
            <a:off x="566928" y="499872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2"/>
            <a:ext cx="160858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GHISLAIN</a:t>
            </a:r>
          </a:p>
        </p:txBody>
      </p:sp>
      <p:sp>
        <p:nvSpPr>
          <p:cNvPr id="18" name="TextBox 17"/>
          <p:cNvSpPr txBox="1"/>
          <p:nvPr/>
        </p:nvSpPr>
        <p:spPr>
          <a:xfrm>
            <a:off x="2541270" y="5163312"/>
            <a:ext cx="853485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Tu as le droit de te présenter. Ce n'est pas une promotion, c'est une mutation : tu changes de poste, tu restes dans la même entreprise.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papiers pour un seul poste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60858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YANETH</a:t>
            </a:r>
          </a:p>
        </p:txBody>
      </p:sp>
      <p:sp>
        <p:nvSpPr>
          <p:cNvPr id="9" name="TextBox 8"/>
          <p:cNvSpPr txBox="1"/>
          <p:nvPr/>
        </p:nvSpPr>
        <p:spPr>
          <a:xfrm>
            <a:off x="2541270" y="1901952"/>
            <a:ext cx="8534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il faut que je te demande la permission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60858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GHISLAIN</a:t>
            </a:r>
          </a:p>
        </p:txBody>
      </p:sp>
      <p:sp>
        <p:nvSpPr>
          <p:cNvPr id="12" name="TextBox 11"/>
          <p:cNvSpPr txBox="1"/>
          <p:nvPr/>
        </p:nvSpPr>
        <p:spPr>
          <a:xfrm>
            <a:off x="2541270" y="2651252"/>
            <a:ext cx="853485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Non, et c'est là que bien du monde se trompe. Ton chef d'équipe est avisé, il n'a rien à signer.</a:t>
            </a:r>
          </a:p>
        </p:txBody>
      </p:sp>
      <p:sp>
        <p:nvSpPr>
          <p:cNvPr id="13" name="Rounded Rectangle 12"/>
          <p:cNvSpPr/>
          <p:nvPr/>
        </p:nvSpPr>
        <p:spPr>
          <a:xfrm>
            <a:off x="566928" y="357378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60858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YANETH</a:t>
            </a:r>
          </a:p>
        </p:txBody>
      </p:sp>
      <p:sp>
        <p:nvSpPr>
          <p:cNvPr id="15" name="TextBox 14"/>
          <p:cNvSpPr txBox="1"/>
          <p:nvPr/>
        </p:nvSpPr>
        <p:spPr>
          <a:xfrm>
            <a:off x="2541270" y="3738371"/>
            <a:ext cx="853485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note de service, une politique, un affichage… Ça fait bien des papiers pour un seul poste.</a:t>
            </a:r>
          </a:p>
        </p:txBody>
      </p:sp>
      <p:sp>
        <p:nvSpPr>
          <p:cNvPr id="16" name="Rounded Rectangle 15"/>
          <p:cNvSpPr/>
          <p:nvPr/>
        </p:nvSpPr>
        <p:spPr>
          <a:xfrm>
            <a:off x="566928" y="466090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2"/>
            <a:ext cx="1608582"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GHISLAIN</a:t>
            </a:r>
          </a:p>
        </p:txBody>
      </p:sp>
      <p:sp>
        <p:nvSpPr>
          <p:cNvPr id="18" name="TextBox 17"/>
          <p:cNvSpPr txBox="1"/>
          <p:nvPr/>
        </p:nvSpPr>
        <p:spPr>
          <a:xfrm>
            <a:off x="2541270" y="4825492"/>
            <a:ext cx="8534857"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y en aura un quatrième : le compte rendu. Chacun a son travail. L'affichage annonce, la note explique, la politique fixe les règles, le compte rendu raconte.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écrits, et ce que chacun te donne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TU Y TROUVES</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L'affichage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poste, le quart, les exigences, la date limite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note de service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explication au personnel, avec la marche à suivre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politique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règles écrites, numérotées article par article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 compte rendu</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qui a été dit et décidé à une rencontre</a:t>
            </a:r>
          </a:p>
        </p:txBody>
      </p:sp>
      <p:sp>
        <p:nvSpPr>
          <p:cNvPr id="21" name="Rounded Rectangle 20"/>
          <p:cNvSpPr/>
          <p:nvPr/>
        </p:nvSpPr>
        <p:spPr>
          <a:xfrm>
            <a:off x="566928" y="4846320"/>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quatre peuvent parler du même poste la même semaine, sans dire la même chose.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SAVOIR D'AVANCE CE QU'ON VA TROUVER</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Reconnaître la sorte de papier, c'est déjà avoir compris la moitié du texte.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Devant un affichage, tu cherches une date limite. Devant une note de service, tu cherches des gestes à poser. Devant une politique, tu cherches une règle et son numéro. Devant un compte rendu, tu cherches une décision. Ce n'est pas le même travail, et ce n'est pas la même lecture.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premiers mots, avec leur article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464718"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babillard</a:t>
            </a:r>
          </a:p>
        </p:txBody>
      </p:sp>
      <p:sp>
        <p:nvSpPr>
          <p:cNvPr id="9" name="TextBox 8"/>
          <p:cNvSpPr txBox="1"/>
          <p:nvPr/>
        </p:nvSpPr>
        <p:spPr>
          <a:xfrm>
            <a:off x="4671726" y="2121408"/>
            <a:ext cx="6587280"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tableau du mur où l'employeur pose les papiers que tout le personnel doit voir.</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3464718"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affichage interne</a:t>
            </a:r>
          </a:p>
        </p:txBody>
      </p:sp>
      <p:sp>
        <p:nvSpPr>
          <p:cNvPr id="12" name="TextBox 11"/>
          <p:cNvSpPr txBox="1"/>
          <p:nvPr/>
        </p:nvSpPr>
        <p:spPr>
          <a:xfrm>
            <a:off x="4671726" y="3106674"/>
            <a:ext cx="6587280"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L'annonce d'un poste libre, montrée d'abord aux personnes déjà employées.</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3464718"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mutation</a:t>
            </a:r>
          </a:p>
        </p:txBody>
      </p:sp>
      <p:sp>
        <p:nvSpPr>
          <p:cNvPr id="15" name="TextBox 14"/>
          <p:cNvSpPr txBox="1"/>
          <p:nvPr/>
        </p:nvSpPr>
        <p:spPr>
          <a:xfrm>
            <a:off x="4671726" y="4091939"/>
            <a:ext cx="6587280"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passage d'un poste à un autre sans changer d'employeur.</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3464718"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candidature interne</a:t>
            </a:r>
          </a:p>
        </p:txBody>
      </p:sp>
      <p:sp>
        <p:nvSpPr>
          <p:cNvPr id="18" name="TextBox 17"/>
          <p:cNvSpPr txBox="1"/>
          <p:nvPr/>
        </p:nvSpPr>
        <p:spPr>
          <a:xfrm>
            <a:off x="4671726" y="5077205"/>
            <a:ext cx="6587280"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demande écrite d'une personne déjà employée qui veut un autre poste.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la conversation de Yaneth et de Ghislain.</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L'affichage interne s'adresse d'abord à ceux qui travaillent déjà là.</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Dix jours ouvrables, ce sont dix jours de calendrier.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poste affiché est celui de vérificatrice à la qualité.</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Yaneth doit obtenir la permission de son chef d'équipe.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formulaires se déposent aux ressources humaines, au bureau douze.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Selon Ghislain, l'affichage dit la démarche au complet.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L'affichage interne s'adresse d'abord à ceux qui travaillent déjà là.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Dix jours ouvrables, ce sont dix jours de calendrier.   </a:t>
            </a:r>
            <a:r>
              <a:rPr sz="1400" b="1" i="0">
                <a:solidFill>
                  <a:srgbClr val="07734A"/>
                </a:solidFill>
                <a:latin typeface="Verdana"/>
              </a:rPr>
              <a:t>» faux - les fins de semaine ne comptent pas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poste affiché est celui de vérificatrice à la qualité.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Yaneth doit obtenir la permission de son chef d'équipe.   </a:t>
            </a:r>
            <a:r>
              <a:rPr sz="1400" b="1" i="0">
                <a:solidFill>
                  <a:srgbClr val="07734A"/>
                </a:solidFill>
                <a:latin typeface="Verdana"/>
              </a:rPr>
              <a:t>» faux - il est avisé, rien de plus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formulaires se déposent aux ressources humaines, au bureau douze.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Selon Ghislain, l'affichage dit la démarche au complet.   </a:t>
            </a:r>
            <a:r>
              <a:rPr sz="1400" b="1" i="0">
                <a:solidFill>
                  <a:srgbClr val="07734A"/>
                </a:solidFill>
                <a:latin typeface="Verdana"/>
              </a:rPr>
              <a:t>» faux - il dit le poste et la date, pas la démarche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Quel papier voudrais-tu savoir lire en premier, et pourquoi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suffit.</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Pense à un papier que tu as déjà reçu au travail et que tu n'as pas lu.</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poste affiché à l'interne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