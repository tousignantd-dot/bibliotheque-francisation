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d'écoute et de lecture fine. C'est la difficulté la plus coûteuse du bloc : on fait les choses dans l'ordre où on les a lues, et une étape saute.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troisième objectif est le geste à installer : trois lignes reformulées en 1, 2, 3 valent dix relectures.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Laisser le groupe se tromper : la moitié répondra « signer », parce que c'est le premier verbe lu. C'est le meilleur départ possible.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Insister sur « après avoir » : c'est le plus trompeur des quatre, parce que « après » fait penser à une suite alors qu'il annonce une antériorité.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 Tant que » est le plus difficile des quatre ; y revenir en fin de séance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la règle du bloc, et elle resservira au bloc C : une politique est écrite exactement ainsi.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dire la réponse à voix haute avant de corriger. La quatrième surprend : « sans » ne ressemble pas à un mot de temps, et c'en est un.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L'écrire au tableau côte à côte, les deux phrases, et faire entourer « avoir ». C'est le moment de la séance à ne pas presser.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Exercice central de la séance. Accepter toute formulation qui met les actions dans le bon ordre ; ne pas corriger le style ici. C'est exactement le geste qu'on demandera en E1, à voix haute.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minutes. Les exemples rapportés du milieu de travail des élèves sont meilleurs que ceux du module : les reprendre au tableau en B3.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B2  ·  MODULE 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L'ordre quand « ensuite » n'est pas là</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Remettez votre demande après avoir obtenu votre attestation. » La demande est écrite en premier ; l'attestation se fait en premier.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 poste affiché à l'interne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mots qui annoncent une action antérieure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ceux qui annoncent une suite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réécrire une consigne en étapes numérotées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poser la question du délai quand il manque.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 Avant de signer, lisez la politique. » Que fait-on en premier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Quelle action est écrite en premier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Quelle action se fait en premier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 petit mot fait toute la différence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200" b="1" i="0">
                <a:solidFill>
                  <a:srgbClr val="17181A"/>
                </a:solidFill>
                <a:latin typeface="Verdana"/>
              </a:rPr>
              <a:t>Les mots qui reculent : ce qui suit vient AVANT</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MOT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UN EXEMPLE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avant de + infinitif</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Avant de rencontrer le comité, remplissez le formulaire.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après avoir + participe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Remettez la demande après avoir obtenu l'attestation.</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une fois + participe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fois le formulaire rempli, apportez-le au bureau 12.</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sans + nom</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Sans attestation, la demande n'est pas reçue.</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 test : mettez la phrase au passé et demandez-vous ce qui s'est passé en premier.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100" b="1" i="0">
                <a:solidFill>
                  <a:srgbClr val="17181A"/>
                </a:solidFill>
                <a:latin typeface="Verdana"/>
              </a:rPr>
              <a:t>Les mots qui avancent : ce qui suit vient APRÈS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MOT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UN EXEMPLE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dès que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Dès que le comité a terminé, la réponse est envoyée.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tant que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Tant que l'affichage est là, on peut se présenter.</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alors, par la suite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poste vous sera alors confirmé.</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le futur simple</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Vous ferez trente jours d'essai ; le poste sera confirmé.</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 Tant que » dit une durée qui se termine : ce qui arrive à la fin vient après.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L'ORDRE DES MOTS N'EST PAS L'ORDRE DES CHOSES</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Ce qui est écrit en premier n'est pas toujours ce qui se fait en premier.</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consigne écrite met souvent l'action principale en tête et sa condition en second. Les mots avant, après avoir, une fois, sans, dès que, tant que sont là pour rétablir l'ordre réel. Quand aucun « ensuite » n'apparaît, ce sont eux qu'il faut chercher.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Qu'est-ce qui vient en premier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Lisez la consigne, puis nommez l'action qui se fait d'abord.</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Avant de rencontrer le comité, remplissez le formulaire.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Remettez la demande après avoir obtenu l'attestation.</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fois le formulaire reçu, votre chef est avisé.</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Sans six mois d'ancienneté, la candidature n'est pas admissible.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Dès que le comité a terminé, la réponse est envoyée.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formulaire se remplit après la lecture de la note.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Qu'est-ce qui vient en premier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Avant de rencontrer le comité, remplissez le formulaire.   </a:t>
            </a:r>
            <a:r>
              <a:rPr sz="1400" b="1" i="0">
                <a:solidFill>
                  <a:srgbClr val="07734A"/>
                </a:solidFill>
                <a:latin typeface="Verdana"/>
              </a:rPr>
              <a:t>» remplir le formulaire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Remettez la demande après avoir obtenu l'attestation.   </a:t>
            </a:r>
            <a:r>
              <a:rPr sz="1400" b="1" i="0">
                <a:solidFill>
                  <a:srgbClr val="07734A"/>
                </a:solidFill>
                <a:latin typeface="Verdana"/>
              </a:rPr>
              <a:t>» obtenir l'attestation</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fois le formulaire reçu, votre chef est avisé.   </a:t>
            </a:r>
            <a:r>
              <a:rPr sz="1400" b="1" i="0">
                <a:solidFill>
                  <a:srgbClr val="07734A"/>
                </a:solidFill>
                <a:latin typeface="Verdana"/>
              </a:rPr>
              <a:t>» recevoir le formulaire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Sans six mois d'ancienneté, la candidature n'est pas admissible.   </a:t>
            </a:r>
            <a:r>
              <a:rPr sz="1400" b="1" i="0">
                <a:solidFill>
                  <a:srgbClr val="07734A"/>
                </a:solidFill>
                <a:latin typeface="Verdana"/>
              </a:rPr>
              <a:t>» avoir six mois d'ancienneté</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Dès que le comité a terminé, la réponse est envoyée.   </a:t>
            </a:r>
            <a:r>
              <a:rPr sz="1400" b="1" i="0">
                <a:solidFill>
                  <a:srgbClr val="07734A"/>
                </a:solidFill>
                <a:latin typeface="Verdana"/>
              </a:rPr>
              <a:t>» la fin du comité</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formulaire se remplit après la lecture de la note.   </a:t>
            </a:r>
            <a:r>
              <a:rPr sz="1400" b="1" i="0">
                <a:solidFill>
                  <a:srgbClr val="07734A"/>
                </a:solidFill>
                <a:latin typeface="Verdana"/>
              </a:rPr>
              <a:t>» lire la note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PIÈGE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lire « après » comme « ensuite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regarder s'il y a « avoir » derrière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Après avoir rempli » veut dire « une fois que c'est rempli » : ça vient AVANT le reste de la phrase. « Après, remplissez » veut dire le contraire. Le petit mot « avoir » change tout, et il passe inaperçu à l'écoute comme à la lecture.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ÉCRITURE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Réécrire en étapes numérotées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Transformez chaque consigne en une liste 1, 2, 3.</a:t>
            </a:r>
          </a:p>
        </p:txBody>
      </p:sp>
      <p:sp>
        <p:nvSpPr>
          <p:cNvPr id="8" name="Rounded Rectangle 7"/>
          <p:cNvSpPr/>
          <p:nvPr/>
        </p:nvSpPr>
        <p:spPr>
          <a:xfrm>
            <a:off x="566928" y="2139696"/>
            <a:ext cx="11057839"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9674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6075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Avant de remettre le RH-04, vérifiez votre ancienneté et joignez votre attestation.</a:t>
            </a:r>
          </a:p>
        </p:txBody>
      </p:sp>
      <p:sp>
        <p:nvSpPr>
          <p:cNvPr id="12" name="Rounded Rectangle 11"/>
          <p:cNvSpPr/>
          <p:nvPr/>
        </p:nvSpPr>
        <p:spPr>
          <a:xfrm>
            <a:off x="566928" y="3147568"/>
            <a:ext cx="11057839"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40461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6862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303016"/>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fois la demande reçue, le chef est avisé et le comité est convoqué.</a:t>
            </a:r>
          </a:p>
        </p:txBody>
      </p:sp>
      <p:sp>
        <p:nvSpPr>
          <p:cNvPr id="16" name="Rounded Rectangle 15"/>
          <p:cNvSpPr/>
          <p:nvPr/>
        </p:nvSpPr>
        <p:spPr>
          <a:xfrm>
            <a:off x="566928" y="4155440"/>
            <a:ext cx="11057839"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4124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764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4310888"/>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Dès que la rencontre est terminée, la réponse est rédigée puis envoyée.</a:t>
            </a:r>
          </a:p>
        </p:txBody>
      </p:sp>
      <p:sp>
        <p:nvSpPr>
          <p:cNvPr id="20" name="Rounded Rectangle 19"/>
          <p:cNvSpPr/>
          <p:nvPr/>
        </p:nvSpPr>
        <p:spPr>
          <a:xfrm>
            <a:off x="566928" y="5163312"/>
            <a:ext cx="11057839"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42036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8436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5318760"/>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Sans réponse écrite, la mutation ne prend pas effet ; le poste reste affiché.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Réécrire en étapes numérotées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9674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6075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Avant de remettre le RH-04, vérifiez votre ancienneté et joignez votre attestation.   </a:t>
            </a:r>
            <a:r>
              <a:rPr sz="1600" b="1" i="0">
                <a:solidFill>
                  <a:srgbClr val="07734A"/>
                </a:solidFill>
                <a:latin typeface="Verdana"/>
              </a:rPr>
              <a:t>» 1. vérifier l'ancienneté 2. joindre l'attestation 3. remettre le RH-04</a:t>
            </a:r>
          </a:p>
        </p:txBody>
      </p:sp>
      <p:sp>
        <p:nvSpPr>
          <p:cNvPr id="12" name="Rounded Rectangle 11"/>
          <p:cNvSpPr/>
          <p:nvPr/>
        </p:nvSpPr>
        <p:spPr>
          <a:xfrm>
            <a:off x="566928" y="3147568"/>
            <a:ext cx="11057839"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40461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6862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303016"/>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fois la demande reçue, le chef est avisé et le comité est convoqué.   </a:t>
            </a:r>
            <a:r>
              <a:rPr sz="1600" b="1" i="0">
                <a:solidFill>
                  <a:srgbClr val="07734A"/>
                </a:solidFill>
                <a:latin typeface="Verdana"/>
              </a:rPr>
              <a:t>» 1. recevoir la demande 2. aviser le chef 3. convoquer le comité</a:t>
            </a:r>
          </a:p>
        </p:txBody>
      </p:sp>
      <p:sp>
        <p:nvSpPr>
          <p:cNvPr id="16" name="Rounded Rectangle 15"/>
          <p:cNvSpPr/>
          <p:nvPr/>
        </p:nvSpPr>
        <p:spPr>
          <a:xfrm>
            <a:off x="566928" y="4155440"/>
            <a:ext cx="11057839"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4124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764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4310888"/>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Dès que la rencontre est terminée, la réponse est rédigée puis envoyée.   </a:t>
            </a:r>
            <a:r>
              <a:rPr sz="1600" b="1" i="0">
                <a:solidFill>
                  <a:srgbClr val="07734A"/>
                </a:solidFill>
                <a:latin typeface="Verdana"/>
              </a:rPr>
              <a:t>» 1. terminer la rencontre 2. rédiger la réponse 3. envoyer la réponse</a:t>
            </a:r>
          </a:p>
        </p:txBody>
      </p:sp>
      <p:sp>
        <p:nvSpPr>
          <p:cNvPr id="20" name="Rounded Rectangle 19"/>
          <p:cNvSpPr/>
          <p:nvPr/>
        </p:nvSpPr>
        <p:spPr>
          <a:xfrm>
            <a:off x="566928" y="5163312"/>
            <a:ext cx="11057839"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42036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8436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5318760"/>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Sans réponse écrite, la mutation ne prend pas effet ; le poste reste affiché.   </a:t>
            </a:r>
            <a:r>
              <a:rPr sz="1600" b="1" i="0">
                <a:solidFill>
                  <a:srgbClr val="07734A"/>
                </a:solidFill>
                <a:latin typeface="Verdana"/>
              </a:rPr>
              <a:t>» 1. envoyer la réponse écrite 2. la mutation prend effet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Écris une consigne de ton travail où l'ordre n'est pas celui des mots.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 suffit.</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Souligne le mot qui donne l'ordre réel.</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Le poste affiché à l'interne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