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Séance d'écoute et de lecture fine. C'est la difficulté la plus coûteuse du bloc : on fait les choses dans l'ordre où on les a lues, et une étape saute.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troisième objectif est le geste à installer : trois lignes reformulées en 1, 2, 3 valent dix relectures.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Laisser le groupe se tromper : la moitié répondra « signer », parce que c'est le premier verbe lu. C'est le meilleur départ possible.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à photographier. Insister sur « après avoir » : c'est le plus trompeur des quatre, parce que « après » fait penser à une suite alors qu'il annonce une antériorité.</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à photographier. « Tant que » est le plus difficile des quatre ; y revenir en fin de séance si le temps le permet.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à photographier. C'est la règle du bloc, et elle resservira au bloc C : une politique est écrite exactement ainsi.</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dire la réponse à voix haute avant de corriger. La quatrième surprend : « sans » ne ressemble pas à un mot de temps, et c'en est un.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L'écrire au tableau côte à côte, les deux phrases, et faire entourer « avoir ». C'est le moment de la séance à ne pas presser.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Exercice central de la séance. Accepter toute formulation qui met les actions dans le bon ordre ; ne pas corriger le style ici. C'est exactement le geste qu'on demandera en E1, à voix haute.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Trois minutes. Les exemples rapportés du milieu de travail des élèves sont meilleurs que ceux du module : les reprendre au tableau en B3.</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1234440"/>
            <a:ext cx="11057839" cy="274320"/>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SÉANCE B2  ·  MODULE 3</a:t>
            </a:r>
          </a:p>
        </p:txBody>
      </p:sp>
      <p:sp>
        <p:nvSpPr>
          <p:cNvPr id="4" name="TextBox 3"/>
          <p:cNvSpPr txBox="1"/>
          <p:nvPr/>
        </p:nvSpPr>
        <p:spPr>
          <a:xfrm>
            <a:off x="566928" y="1691640"/>
            <a:ext cx="9960559" cy="1874519"/>
          </a:xfrm>
          <a:prstGeom prst="rect">
            <a:avLst/>
          </a:prstGeom>
          <a:noFill/>
        </p:spPr>
        <p:txBody>
          <a:bodyPr wrap="square" lIns="0" rIns="0" tIns="0" bIns="0" anchor="t">
            <a:spAutoFit/>
          </a:bodyPr>
          <a:lstStyle/>
          <a:p>
            <a:pPr algn="l">
              <a:lnSpc>
                <a:spcPct val="105000"/>
              </a:lnSpc>
            </a:pPr>
            <a:r>
              <a:rPr sz="4000" b="1" i="0">
                <a:solidFill>
                  <a:srgbClr val="17181A"/>
                </a:solidFill>
                <a:latin typeface="Verdana"/>
              </a:rPr>
              <a:t>L'ordre quand « ensuite » n'est pas là</a:t>
            </a:r>
          </a:p>
        </p:txBody>
      </p:sp>
      <p:sp>
        <p:nvSpPr>
          <p:cNvPr id="5" name="Rounded Rectangle 4"/>
          <p:cNvSpPr/>
          <p:nvPr/>
        </p:nvSpPr>
        <p:spPr>
          <a:xfrm>
            <a:off x="566928" y="3794760"/>
            <a:ext cx="9960559" cy="1394968"/>
          </a:xfrm>
          <a:prstGeom prst="roundRect">
            <a:avLst>
              <a:gd name="adj" fmla="val 10487"/>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96112" y="4123944"/>
            <a:ext cx="9302191" cy="7823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 Remettez votre demande après avoir obtenu votre attestation. » La demande est écrite en premier ; l'attestation se fait en premier.</a:t>
            </a:r>
          </a:p>
        </p:txBody>
      </p:sp>
      <p:sp>
        <p:nvSpPr>
          <p:cNvPr id="7" name="TextBox 6"/>
          <p:cNvSpPr txBox="1"/>
          <p:nvPr/>
        </p:nvSpPr>
        <p:spPr>
          <a:xfrm>
            <a:off x="566928" y="6035040"/>
            <a:ext cx="11057839" cy="274320"/>
          </a:xfrm>
          <a:prstGeom prst="rect">
            <a:avLst/>
          </a:prstGeom>
          <a:noFill/>
        </p:spPr>
        <p:txBody>
          <a:bodyPr wrap="square" lIns="0" rIns="0" tIns="0" bIns="0" anchor="t">
            <a:spAutoFit/>
          </a:bodyPr>
          <a:lstStyle/>
          <a:p>
            <a:pPr algn="l">
              <a:lnSpc>
                <a:spcPct val="135000"/>
              </a:lnSpc>
            </a:pPr>
            <a:r>
              <a:rPr sz="1500" b="0" i="0">
                <a:solidFill>
                  <a:srgbClr val="6E7175"/>
                </a:solidFill>
                <a:latin typeface="Verdana"/>
              </a:rPr>
              <a:t>75 minutes  ·  Le poste affiché à l'interne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B2 · Le poste affiché à l'interne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2</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OBJECTIFS DE LA SÉANCE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À la fin, je serai capable de…</a:t>
            </a:r>
          </a:p>
        </p:txBody>
      </p:sp>
      <p:sp>
        <p:nvSpPr>
          <p:cNvPr id="7" name="Rounded Rectangle 6"/>
          <p:cNvSpPr/>
          <p:nvPr/>
        </p:nvSpPr>
        <p:spPr>
          <a:xfrm>
            <a:off x="566928" y="1764792"/>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804672" y="1942592"/>
            <a:ext cx="402336" cy="402336"/>
          </a:xfrm>
          <a:prstGeom prst="roundRect">
            <a:avLst>
              <a:gd name="adj" fmla="val 31818"/>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04672" y="2024887"/>
            <a:ext cx="402336" cy="274320"/>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1</a:t>
            </a:r>
          </a:p>
        </p:txBody>
      </p:sp>
      <p:sp>
        <p:nvSpPr>
          <p:cNvPr id="10" name="TextBox 9"/>
          <p:cNvSpPr txBox="1"/>
          <p:nvPr/>
        </p:nvSpPr>
        <p:spPr>
          <a:xfrm>
            <a:off x="1408176" y="1965960"/>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reconnaître les mots qui annoncent une action antérieure ;</a:t>
            </a:r>
          </a:p>
        </p:txBody>
      </p:sp>
      <p:sp>
        <p:nvSpPr>
          <p:cNvPr id="11" name="Rounded Rectangle 10"/>
          <p:cNvSpPr/>
          <p:nvPr/>
        </p:nvSpPr>
        <p:spPr>
          <a:xfrm>
            <a:off x="566928" y="2650744"/>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804672" y="2828544"/>
            <a:ext cx="402336" cy="402336"/>
          </a:xfrm>
          <a:prstGeom prst="roundRect">
            <a:avLst>
              <a:gd name="adj" fmla="val 31818"/>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04672" y="2910840"/>
            <a:ext cx="402336" cy="274320"/>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2</a:t>
            </a:r>
          </a:p>
        </p:txBody>
      </p:sp>
      <p:sp>
        <p:nvSpPr>
          <p:cNvPr id="14" name="TextBox 13"/>
          <p:cNvSpPr txBox="1"/>
          <p:nvPr/>
        </p:nvSpPr>
        <p:spPr>
          <a:xfrm>
            <a:off x="1408176" y="2851912"/>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reconnaître ceux qui annoncent une suite ;</a:t>
            </a:r>
          </a:p>
        </p:txBody>
      </p:sp>
      <p:sp>
        <p:nvSpPr>
          <p:cNvPr id="15" name="Rounded Rectangle 14"/>
          <p:cNvSpPr/>
          <p:nvPr/>
        </p:nvSpPr>
        <p:spPr>
          <a:xfrm>
            <a:off x="566928" y="3536696"/>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804672" y="3714496"/>
            <a:ext cx="402336" cy="402336"/>
          </a:xfrm>
          <a:prstGeom prst="roundRect">
            <a:avLst>
              <a:gd name="adj" fmla="val 31818"/>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04672" y="3796792"/>
            <a:ext cx="402336" cy="274320"/>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3</a:t>
            </a:r>
          </a:p>
        </p:txBody>
      </p:sp>
      <p:sp>
        <p:nvSpPr>
          <p:cNvPr id="18" name="TextBox 17"/>
          <p:cNvSpPr txBox="1"/>
          <p:nvPr/>
        </p:nvSpPr>
        <p:spPr>
          <a:xfrm>
            <a:off x="1408176" y="3737864"/>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réécrire une consigne en étapes numérotées ;</a:t>
            </a:r>
          </a:p>
        </p:txBody>
      </p:sp>
      <p:sp>
        <p:nvSpPr>
          <p:cNvPr id="19" name="Rounded Rectangle 18"/>
          <p:cNvSpPr/>
          <p:nvPr/>
        </p:nvSpPr>
        <p:spPr>
          <a:xfrm>
            <a:off x="566928" y="4422648"/>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804672" y="4600448"/>
            <a:ext cx="402336" cy="402336"/>
          </a:xfrm>
          <a:prstGeom prst="roundRect">
            <a:avLst>
              <a:gd name="adj" fmla="val 31818"/>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04672" y="4682744"/>
            <a:ext cx="402336" cy="274320"/>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4</a:t>
            </a:r>
          </a:p>
        </p:txBody>
      </p:sp>
      <p:sp>
        <p:nvSpPr>
          <p:cNvPr id="22" name="TextBox 21"/>
          <p:cNvSpPr txBox="1"/>
          <p:nvPr/>
        </p:nvSpPr>
        <p:spPr>
          <a:xfrm>
            <a:off x="1408176" y="4623816"/>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poser la question du délai quand il manque.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B2 · Le poste affiché à l'interne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3</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OBSERVATION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2800" b="1" i="0">
                <a:solidFill>
                  <a:srgbClr val="17181A"/>
                </a:solidFill>
                <a:latin typeface="Verdana"/>
              </a:rPr>
              <a:t>« Avant de signer, lisez la politique. » Que fait-on en premier ?</a:t>
            </a:r>
          </a:p>
        </p:txBody>
      </p:sp>
      <p:sp>
        <p:nvSpPr>
          <p:cNvPr id="7" name="Rounded Rectangle 6"/>
          <p:cNvSpPr/>
          <p:nvPr/>
        </p:nvSpPr>
        <p:spPr>
          <a:xfrm>
            <a:off x="566928" y="1856232"/>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566928" y="1965960"/>
            <a:ext cx="50292" cy="484123"/>
          </a:xfrm>
          <a:prstGeom prst="rect">
            <a:avLst/>
          </a:prstGeom>
          <a:solidFill>
            <a:srgbClr val="0D7A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50976" y="2039112"/>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Quelle action est écrite en premier ?</a:t>
            </a:r>
          </a:p>
        </p:txBody>
      </p:sp>
      <p:sp>
        <p:nvSpPr>
          <p:cNvPr id="10" name="Rounded Rectangle 9"/>
          <p:cNvSpPr/>
          <p:nvPr/>
        </p:nvSpPr>
        <p:spPr>
          <a:xfrm>
            <a:off x="566928" y="2642108"/>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566928" y="2751836"/>
            <a:ext cx="50292" cy="484123"/>
          </a:xfrm>
          <a:prstGeom prst="rect">
            <a:avLst/>
          </a:prstGeom>
          <a:solidFill>
            <a:srgbClr val="0D7A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950976" y="2824988"/>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Quelle action se fait en premier ?</a:t>
            </a:r>
          </a:p>
        </p:txBody>
      </p:sp>
      <p:sp>
        <p:nvSpPr>
          <p:cNvPr id="13" name="Rounded Rectangle 12"/>
          <p:cNvSpPr/>
          <p:nvPr/>
        </p:nvSpPr>
        <p:spPr>
          <a:xfrm>
            <a:off x="566928" y="3427984"/>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566928" y="3537712"/>
            <a:ext cx="50292" cy="484123"/>
          </a:xfrm>
          <a:prstGeom prst="rect">
            <a:avLst/>
          </a:prstGeom>
          <a:solidFill>
            <a:srgbClr val="0D7A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950976" y="3610864"/>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Quel petit mot fait toute la différence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B2 · Le poste affiché à l'interne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4</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ANALYSE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200" b="1" i="0">
                <a:solidFill>
                  <a:srgbClr val="17181A"/>
                </a:solidFill>
                <a:latin typeface="Verdana"/>
              </a:rPr>
              <a:t>Les mots qui reculent : ce qui suit vient AVANT</a:t>
            </a:r>
          </a:p>
        </p:txBody>
      </p:sp>
      <p:sp>
        <p:nvSpPr>
          <p:cNvPr id="7" name="Rounded Rectangle 6"/>
          <p:cNvSpPr/>
          <p:nvPr/>
        </p:nvSpPr>
        <p:spPr>
          <a:xfrm>
            <a:off x="566928" y="1810512"/>
            <a:ext cx="11057839" cy="2798064"/>
          </a:xfrm>
          <a:prstGeom prst="roundRect">
            <a:avLst>
              <a:gd name="adj" fmla="val 522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75104"/>
            <a:ext cx="3291492"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LE MOT</a:t>
            </a:r>
          </a:p>
        </p:txBody>
      </p:sp>
      <p:sp>
        <p:nvSpPr>
          <p:cNvPr id="9" name="TextBox 8"/>
          <p:cNvSpPr txBox="1"/>
          <p:nvPr/>
        </p:nvSpPr>
        <p:spPr>
          <a:xfrm>
            <a:off x="4443636" y="1975104"/>
            <a:ext cx="6595914"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UN EXEMPLE</a:t>
            </a:r>
          </a:p>
        </p:txBody>
      </p:sp>
      <p:sp>
        <p:nvSpPr>
          <p:cNvPr id="10" name="TextBox 9"/>
          <p:cNvSpPr txBox="1"/>
          <p:nvPr/>
        </p:nvSpPr>
        <p:spPr>
          <a:xfrm>
            <a:off x="932688" y="2395728"/>
            <a:ext cx="3291492" cy="338328"/>
          </a:xfrm>
          <a:prstGeom prst="rect">
            <a:avLst/>
          </a:prstGeom>
          <a:noFill/>
        </p:spPr>
        <p:txBody>
          <a:bodyPr wrap="square" lIns="0" rIns="0" tIns="0" bIns="0" anchor="t">
            <a:spAutoFit/>
          </a:bodyPr>
          <a:lstStyle/>
          <a:p>
            <a:pPr algn="l">
              <a:lnSpc>
                <a:spcPct val="132000"/>
              </a:lnSpc>
            </a:pPr>
            <a:r>
              <a:rPr sz="1800" b="1" i="0">
                <a:solidFill>
                  <a:srgbClr val="0D7A6F"/>
                </a:solidFill>
                <a:latin typeface="Verdana"/>
              </a:rPr>
              <a:t>avant de + infinitif</a:t>
            </a:r>
          </a:p>
        </p:txBody>
      </p:sp>
      <p:sp>
        <p:nvSpPr>
          <p:cNvPr id="11" name="TextBox 10"/>
          <p:cNvSpPr txBox="1"/>
          <p:nvPr/>
        </p:nvSpPr>
        <p:spPr>
          <a:xfrm>
            <a:off x="4443636" y="2395728"/>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Avant de rencontrer le comité, remplissez le formulaire.</a:t>
            </a:r>
          </a:p>
        </p:txBody>
      </p:sp>
      <p:sp>
        <p:nvSpPr>
          <p:cNvPr id="12" name="Rectangle 11"/>
          <p:cNvSpPr/>
          <p:nvPr/>
        </p:nvSpPr>
        <p:spPr>
          <a:xfrm>
            <a:off x="932688" y="2807208"/>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32688" y="2935224"/>
            <a:ext cx="3291492" cy="338328"/>
          </a:xfrm>
          <a:prstGeom prst="rect">
            <a:avLst/>
          </a:prstGeom>
          <a:noFill/>
        </p:spPr>
        <p:txBody>
          <a:bodyPr wrap="square" lIns="0" rIns="0" tIns="0" bIns="0" anchor="t">
            <a:spAutoFit/>
          </a:bodyPr>
          <a:lstStyle/>
          <a:p>
            <a:pPr algn="l">
              <a:lnSpc>
                <a:spcPct val="132000"/>
              </a:lnSpc>
            </a:pPr>
            <a:r>
              <a:rPr sz="1800" b="1" i="0">
                <a:solidFill>
                  <a:srgbClr val="0D7A6F"/>
                </a:solidFill>
                <a:latin typeface="Verdana"/>
              </a:rPr>
              <a:t>après avoir + participe</a:t>
            </a:r>
          </a:p>
        </p:txBody>
      </p:sp>
      <p:sp>
        <p:nvSpPr>
          <p:cNvPr id="14" name="TextBox 13"/>
          <p:cNvSpPr txBox="1"/>
          <p:nvPr/>
        </p:nvSpPr>
        <p:spPr>
          <a:xfrm>
            <a:off x="4443636" y="2935224"/>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Remettez la demande après avoir obtenu l'attestation.</a:t>
            </a:r>
          </a:p>
        </p:txBody>
      </p:sp>
      <p:sp>
        <p:nvSpPr>
          <p:cNvPr id="15" name="Rectangle 14"/>
          <p:cNvSpPr/>
          <p:nvPr/>
        </p:nvSpPr>
        <p:spPr>
          <a:xfrm>
            <a:off x="932688" y="3346704"/>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32688" y="3474720"/>
            <a:ext cx="3291492" cy="338328"/>
          </a:xfrm>
          <a:prstGeom prst="rect">
            <a:avLst/>
          </a:prstGeom>
          <a:noFill/>
        </p:spPr>
        <p:txBody>
          <a:bodyPr wrap="square" lIns="0" rIns="0" tIns="0" bIns="0" anchor="t">
            <a:spAutoFit/>
          </a:bodyPr>
          <a:lstStyle/>
          <a:p>
            <a:pPr algn="l">
              <a:lnSpc>
                <a:spcPct val="132000"/>
              </a:lnSpc>
            </a:pPr>
            <a:r>
              <a:rPr sz="1800" b="1" i="0">
                <a:solidFill>
                  <a:srgbClr val="0D7A6F"/>
                </a:solidFill>
                <a:latin typeface="Verdana"/>
              </a:rPr>
              <a:t>une fois + participe</a:t>
            </a:r>
          </a:p>
        </p:txBody>
      </p:sp>
      <p:sp>
        <p:nvSpPr>
          <p:cNvPr id="17" name="TextBox 16"/>
          <p:cNvSpPr txBox="1"/>
          <p:nvPr/>
        </p:nvSpPr>
        <p:spPr>
          <a:xfrm>
            <a:off x="4443636" y="3474720"/>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Une fois le formulaire rempli, apportez-le au bureau 12.</a:t>
            </a:r>
          </a:p>
        </p:txBody>
      </p:sp>
      <p:sp>
        <p:nvSpPr>
          <p:cNvPr id="18" name="Rectangle 17"/>
          <p:cNvSpPr/>
          <p:nvPr/>
        </p:nvSpPr>
        <p:spPr>
          <a:xfrm>
            <a:off x="932688" y="3886200"/>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32688" y="4014215"/>
            <a:ext cx="3291492" cy="338328"/>
          </a:xfrm>
          <a:prstGeom prst="rect">
            <a:avLst/>
          </a:prstGeom>
          <a:noFill/>
        </p:spPr>
        <p:txBody>
          <a:bodyPr wrap="square" lIns="0" rIns="0" tIns="0" bIns="0" anchor="t">
            <a:spAutoFit/>
          </a:bodyPr>
          <a:lstStyle/>
          <a:p>
            <a:pPr algn="l">
              <a:lnSpc>
                <a:spcPct val="132000"/>
              </a:lnSpc>
            </a:pPr>
            <a:r>
              <a:rPr sz="1800" b="1" i="0">
                <a:solidFill>
                  <a:srgbClr val="0D7A6F"/>
                </a:solidFill>
                <a:latin typeface="Verdana"/>
              </a:rPr>
              <a:t>sans + nom</a:t>
            </a:r>
          </a:p>
        </p:txBody>
      </p:sp>
      <p:sp>
        <p:nvSpPr>
          <p:cNvPr id="20" name="TextBox 19"/>
          <p:cNvSpPr txBox="1"/>
          <p:nvPr/>
        </p:nvSpPr>
        <p:spPr>
          <a:xfrm>
            <a:off x="4443636" y="4014215"/>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Sans attestation, la demande n'est pas reçue.</a:t>
            </a:r>
          </a:p>
        </p:txBody>
      </p:sp>
      <p:sp>
        <p:nvSpPr>
          <p:cNvPr id="21" name="Rounded Rectangle 20"/>
          <p:cNvSpPr/>
          <p:nvPr/>
        </p:nvSpPr>
        <p:spPr>
          <a:xfrm>
            <a:off x="566928" y="4846320"/>
            <a:ext cx="11057839" cy="843534"/>
          </a:xfrm>
          <a:prstGeom prst="roundRect">
            <a:avLst>
              <a:gd name="adj" fmla="val 17344"/>
            </a:avLst>
          </a:prstGeom>
          <a:solidFill>
            <a:srgbClr val="FBFBFA"/>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69264" y="5102352"/>
            <a:ext cx="10234879" cy="386334"/>
          </a:xfrm>
          <a:prstGeom prst="rect">
            <a:avLst/>
          </a:prstGeom>
          <a:noFill/>
        </p:spPr>
        <p:txBody>
          <a:bodyPr wrap="square" lIns="0" rIns="0" tIns="0" bIns="0" anchor="t">
            <a:spAutoFit/>
          </a:bodyPr>
          <a:lstStyle/>
          <a:p>
            <a:pPr algn="l">
              <a:lnSpc>
                <a:spcPct val="145000"/>
              </a:lnSpc>
            </a:pPr>
            <a:r>
              <a:rPr sz="1800" b="0" i="0">
                <a:solidFill>
                  <a:srgbClr val="4B4F52"/>
                </a:solidFill>
                <a:latin typeface="Verdana"/>
              </a:rPr>
              <a:t>Le test : mettez la phrase au passé et demandez-vous ce qui s'est passé en premier.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B2 · Le poste affiché à l'interne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5</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ANALYSE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100" b="1" i="0">
                <a:solidFill>
                  <a:srgbClr val="17181A"/>
                </a:solidFill>
                <a:latin typeface="Verdana"/>
              </a:rPr>
              <a:t>Les mots qui avancent : ce qui suit vient APRÈS</a:t>
            </a:r>
          </a:p>
        </p:txBody>
      </p:sp>
      <p:sp>
        <p:nvSpPr>
          <p:cNvPr id="7" name="Rounded Rectangle 6"/>
          <p:cNvSpPr/>
          <p:nvPr/>
        </p:nvSpPr>
        <p:spPr>
          <a:xfrm>
            <a:off x="566928" y="1810512"/>
            <a:ext cx="11057839" cy="2798064"/>
          </a:xfrm>
          <a:prstGeom prst="roundRect">
            <a:avLst>
              <a:gd name="adj" fmla="val 522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75104"/>
            <a:ext cx="3291492"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LE MOT</a:t>
            </a:r>
          </a:p>
        </p:txBody>
      </p:sp>
      <p:sp>
        <p:nvSpPr>
          <p:cNvPr id="9" name="TextBox 8"/>
          <p:cNvSpPr txBox="1"/>
          <p:nvPr/>
        </p:nvSpPr>
        <p:spPr>
          <a:xfrm>
            <a:off x="4443636" y="1975104"/>
            <a:ext cx="6595914"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UN EXEMPLE</a:t>
            </a:r>
          </a:p>
        </p:txBody>
      </p:sp>
      <p:sp>
        <p:nvSpPr>
          <p:cNvPr id="10" name="TextBox 9"/>
          <p:cNvSpPr txBox="1"/>
          <p:nvPr/>
        </p:nvSpPr>
        <p:spPr>
          <a:xfrm>
            <a:off x="932688" y="2395728"/>
            <a:ext cx="3291492" cy="338328"/>
          </a:xfrm>
          <a:prstGeom prst="rect">
            <a:avLst/>
          </a:prstGeom>
          <a:noFill/>
        </p:spPr>
        <p:txBody>
          <a:bodyPr wrap="square" lIns="0" rIns="0" tIns="0" bIns="0" anchor="t">
            <a:spAutoFit/>
          </a:bodyPr>
          <a:lstStyle/>
          <a:p>
            <a:pPr algn="l">
              <a:lnSpc>
                <a:spcPct val="132000"/>
              </a:lnSpc>
            </a:pPr>
            <a:r>
              <a:rPr sz="1800" b="1" i="0">
                <a:solidFill>
                  <a:srgbClr val="0D7A6F"/>
                </a:solidFill>
                <a:latin typeface="Verdana"/>
              </a:rPr>
              <a:t>dès que</a:t>
            </a:r>
          </a:p>
        </p:txBody>
      </p:sp>
      <p:sp>
        <p:nvSpPr>
          <p:cNvPr id="11" name="TextBox 10"/>
          <p:cNvSpPr txBox="1"/>
          <p:nvPr/>
        </p:nvSpPr>
        <p:spPr>
          <a:xfrm>
            <a:off x="4443636" y="2395728"/>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Dès que le comité a terminé, la réponse est envoyée.</a:t>
            </a:r>
          </a:p>
        </p:txBody>
      </p:sp>
      <p:sp>
        <p:nvSpPr>
          <p:cNvPr id="12" name="Rectangle 11"/>
          <p:cNvSpPr/>
          <p:nvPr/>
        </p:nvSpPr>
        <p:spPr>
          <a:xfrm>
            <a:off x="932688" y="2807208"/>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32688" y="2935224"/>
            <a:ext cx="3291492" cy="338328"/>
          </a:xfrm>
          <a:prstGeom prst="rect">
            <a:avLst/>
          </a:prstGeom>
          <a:noFill/>
        </p:spPr>
        <p:txBody>
          <a:bodyPr wrap="square" lIns="0" rIns="0" tIns="0" bIns="0" anchor="t">
            <a:spAutoFit/>
          </a:bodyPr>
          <a:lstStyle/>
          <a:p>
            <a:pPr algn="l">
              <a:lnSpc>
                <a:spcPct val="132000"/>
              </a:lnSpc>
            </a:pPr>
            <a:r>
              <a:rPr sz="1800" b="1" i="0">
                <a:solidFill>
                  <a:srgbClr val="0D7A6F"/>
                </a:solidFill>
                <a:latin typeface="Verdana"/>
              </a:rPr>
              <a:t>tant que</a:t>
            </a:r>
          </a:p>
        </p:txBody>
      </p:sp>
      <p:sp>
        <p:nvSpPr>
          <p:cNvPr id="14" name="TextBox 13"/>
          <p:cNvSpPr txBox="1"/>
          <p:nvPr/>
        </p:nvSpPr>
        <p:spPr>
          <a:xfrm>
            <a:off x="4443636" y="2935224"/>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Tant que l'affichage est là, on peut se présenter.</a:t>
            </a:r>
          </a:p>
        </p:txBody>
      </p:sp>
      <p:sp>
        <p:nvSpPr>
          <p:cNvPr id="15" name="Rectangle 14"/>
          <p:cNvSpPr/>
          <p:nvPr/>
        </p:nvSpPr>
        <p:spPr>
          <a:xfrm>
            <a:off x="932688" y="3346704"/>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32688" y="3474720"/>
            <a:ext cx="3291492" cy="338328"/>
          </a:xfrm>
          <a:prstGeom prst="rect">
            <a:avLst/>
          </a:prstGeom>
          <a:noFill/>
        </p:spPr>
        <p:txBody>
          <a:bodyPr wrap="square" lIns="0" rIns="0" tIns="0" bIns="0" anchor="t">
            <a:spAutoFit/>
          </a:bodyPr>
          <a:lstStyle/>
          <a:p>
            <a:pPr algn="l">
              <a:lnSpc>
                <a:spcPct val="132000"/>
              </a:lnSpc>
            </a:pPr>
            <a:r>
              <a:rPr sz="1800" b="1" i="0">
                <a:solidFill>
                  <a:srgbClr val="0D7A6F"/>
                </a:solidFill>
                <a:latin typeface="Verdana"/>
              </a:rPr>
              <a:t>alors, par la suite</a:t>
            </a:r>
          </a:p>
        </p:txBody>
      </p:sp>
      <p:sp>
        <p:nvSpPr>
          <p:cNvPr id="17" name="TextBox 16"/>
          <p:cNvSpPr txBox="1"/>
          <p:nvPr/>
        </p:nvSpPr>
        <p:spPr>
          <a:xfrm>
            <a:off x="4443636" y="3474720"/>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Le poste vous sera alors confirmé.</a:t>
            </a:r>
          </a:p>
        </p:txBody>
      </p:sp>
      <p:sp>
        <p:nvSpPr>
          <p:cNvPr id="18" name="Rectangle 17"/>
          <p:cNvSpPr/>
          <p:nvPr/>
        </p:nvSpPr>
        <p:spPr>
          <a:xfrm>
            <a:off x="932688" y="3886200"/>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32688" y="4014215"/>
            <a:ext cx="3291492" cy="338328"/>
          </a:xfrm>
          <a:prstGeom prst="rect">
            <a:avLst/>
          </a:prstGeom>
          <a:noFill/>
        </p:spPr>
        <p:txBody>
          <a:bodyPr wrap="square" lIns="0" rIns="0" tIns="0" bIns="0" anchor="t">
            <a:spAutoFit/>
          </a:bodyPr>
          <a:lstStyle/>
          <a:p>
            <a:pPr algn="l">
              <a:lnSpc>
                <a:spcPct val="132000"/>
              </a:lnSpc>
            </a:pPr>
            <a:r>
              <a:rPr sz="1800" b="1" i="0">
                <a:solidFill>
                  <a:srgbClr val="0D7A6F"/>
                </a:solidFill>
                <a:latin typeface="Verdana"/>
              </a:rPr>
              <a:t>le futur simple</a:t>
            </a:r>
          </a:p>
        </p:txBody>
      </p:sp>
      <p:sp>
        <p:nvSpPr>
          <p:cNvPr id="20" name="TextBox 19"/>
          <p:cNvSpPr txBox="1"/>
          <p:nvPr/>
        </p:nvSpPr>
        <p:spPr>
          <a:xfrm>
            <a:off x="4443636" y="4014215"/>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Vous ferez trente jours d'essai ; le poste sera confirmé.</a:t>
            </a:r>
          </a:p>
        </p:txBody>
      </p:sp>
      <p:sp>
        <p:nvSpPr>
          <p:cNvPr id="21" name="Rounded Rectangle 20"/>
          <p:cNvSpPr/>
          <p:nvPr/>
        </p:nvSpPr>
        <p:spPr>
          <a:xfrm>
            <a:off x="566928" y="4846320"/>
            <a:ext cx="11057839" cy="843534"/>
          </a:xfrm>
          <a:prstGeom prst="roundRect">
            <a:avLst>
              <a:gd name="adj" fmla="val 17344"/>
            </a:avLst>
          </a:prstGeom>
          <a:solidFill>
            <a:srgbClr val="FBFBFA"/>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69264" y="5102352"/>
            <a:ext cx="10234879" cy="386334"/>
          </a:xfrm>
          <a:prstGeom prst="rect">
            <a:avLst/>
          </a:prstGeom>
          <a:noFill/>
        </p:spPr>
        <p:txBody>
          <a:bodyPr wrap="square" lIns="0" rIns="0" tIns="0" bIns="0" anchor="t">
            <a:spAutoFit/>
          </a:bodyPr>
          <a:lstStyle/>
          <a:p>
            <a:pPr algn="l">
              <a:lnSpc>
                <a:spcPct val="145000"/>
              </a:lnSpc>
            </a:pPr>
            <a:r>
              <a:rPr sz="1800" b="0" i="0">
                <a:solidFill>
                  <a:srgbClr val="4B4F52"/>
                </a:solidFill>
                <a:latin typeface="Verdana"/>
              </a:rPr>
              <a:t>« Tant que » dit une durée qui se termine : ce qui arrive à la fin vient après.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B2 · Le poste affiché à l'interne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6</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L'ORDRE DES MOTS N'EST PAS L'ORDRE DES CHOSES</a:t>
            </a:r>
          </a:p>
        </p:txBody>
      </p:sp>
      <p:sp>
        <p:nvSpPr>
          <p:cNvPr id="6" name="Rounded Rectangle 5"/>
          <p:cNvSpPr/>
          <p:nvPr/>
        </p:nvSpPr>
        <p:spPr>
          <a:xfrm>
            <a:off x="566928" y="1225296"/>
            <a:ext cx="11057839" cy="1967991"/>
          </a:xfrm>
          <a:prstGeom prst="roundRect">
            <a:avLst>
              <a:gd name="adj" fmla="val 7434"/>
            </a:avLst>
          </a:prstGeom>
          <a:solidFill>
            <a:srgbClr val="DCF2E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98448" y="1682496"/>
            <a:ext cx="9594799" cy="1145032"/>
          </a:xfrm>
          <a:prstGeom prst="rect">
            <a:avLst/>
          </a:prstGeom>
          <a:noFill/>
        </p:spPr>
        <p:txBody>
          <a:bodyPr wrap="square" lIns="0" rIns="0" tIns="0" bIns="0" anchor="t">
            <a:spAutoFit/>
          </a:bodyPr>
          <a:lstStyle/>
          <a:p>
            <a:pPr algn="l">
              <a:lnSpc>
                <a:spcPct val="122000"/>
              </a:lnSpc>
            </a:pPr>
            <a:r>
              <a:rPr sz="3400" b="1" i="0">
                <a:solidFill>
                  <a:srgbClr val="17181A"/>
                </a:solidFill>
                <a:latin typeface="Verdana"/>
              </a:rPr>
              <a:t>Ce qui est écrit en premier n'est pas toujours ce qui se fait en premier.</a:t>
            </a:r>
          </a:p>
        </p:txBody>
      </p:sp>
      <p:sp>
        <p:nvSpPr>
          <p:cNvPr id="8" name="Rounded Rectangle 7"/>
          <p:cNvSpPr/>
          <p:nvPr/>
        </p:nvSpPr>
        <p:spPr>
          <a:xfrm>
            <a:off x="566928" y="3467607"/>
            <a:ext cx="11057839" cy="2040128"/>
          </a:xfrm>
          <a:prstGeom prst="roundRect">
            <a:avLst>
              <a:gd name="adj" fmla="val 7171"/>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69264" y="3741927"/>
            <a:ext cx="10234879" cy="1582928"/>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Une consigne écrite met souvent l'action principale en tête et sa condition en second. Les mots avant, après avoir, une fois, sans, dès que, tant que sont là pour rétablir l'ordre réel. Quand aucun « ensuite » n'apparaît, ce sont eux qu'il faut chercher.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B2 · Le poste affiché à l'interne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7</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PRATIQUE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Qu'est-ce qui vient en premier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Lisez la consigne, puis nommez l'action qui se fait d'abord.</a:t>
            </a:r>
          </a:p>
        </p:txBody>
      </p:sp>
      <p:sp>
        <p:nvSpPr>
          <p:cNvPr id="8" name="Rounded Rectangle 7"/>
          <p:cNvSpPr/>
          <p:nvPr/>
        </p:nvSpPr>
        <p:spPr>
          <a:xfrm>
            <a:off x="566928" y="213969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Avant de rencontrer le comité, remplissez le formulaire.</a:t>
            </a:r>
          </a:p>
        </p:txBody>
      </p:sp>
      <p:sp>
        <p:nvSpPr>
          <p:cNvPr id="12" name="Rounded Rectangle 11"/>
          <p:cNvSpPr/>
          <p:nvPr/>
        </p:nvSpPr>
        <p:spPr>
          <a:xfrm>
            <a:off x="566928" y="2827528"/>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Remettez la demande après avoir obtenu l'attestation.</a:t>
            </a:r>
          </a:p>
        </p:txBody>
      </p:sp>
      <p:sp>
        <p:nvSpPr>
          <p:cNvPr id="16" name="Rounded Rectangle 15"/>
          <p:cNvSpPr/>
          <p:nvPr/>
        </p:nvSpPr>
        <p:spPr>
          <a:xfrm>
            <a:off x="566928" y="3515359"/>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Une fois le formulaire reçu, votre chef est avisé.</a:t>
            </a:r>
          </a:p>
        </p:txBody>
      </p:sp>
      <p:sp>
        <p:nvSpPr>
          <p:cNvPr id="20" name="Rounded Rectangle 19"/>
          <p:cNvSpPr/>
          <p:nvPr/>
        </p:nvSpPr>
        <p:spPr>
          <a:xfrm>
            <a:off x="566928" y="4203192"/>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Sans six mois d'ancienneté, la candidature n'est pas admissible.</a:t>
            </a:r>
          </a:p>
        </p:txBody>
      </p:sp>
      <p:sp>
        <p:nvSpPr>
          <p:cNvPr id="24" name="Rounded Rectangle 23"/>
          <p:cNvSpPr/>
          <p:nvPr/>
        </p:nvSpPr>
        <p:spPr>
          <a:xfrm>
            <a:off x="566928" y="4891023"/>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Dès que le comité a terminé, la réponse est envoyée.</a:t>
            </a:r>
          </a:p>
        </p:txBody>
      </p:sp>
      <p:sp>
        <p:nvSpPr>
          <p:cNvPr id="28" name="Rounded Rectangle 27"/>
          <p:cNvSpPr/>
          <p:nvPr/>
        </p:nvSpPr>
        <p:spPr>
          <a:xfrm>
            <a:off x="566928" y="557885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 formulaire se remplit après la lecture de la note.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B2 · Le poste affiché à l'interne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8</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Qu'est-ce qui vient en premier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Avant de rencontrer le comité, remplissez le formulaire.   </a:t>
            </a:r>
            <a:r>
              <a:rPr sz="1400" b="1" i="0">
                <a:solidFill>
                  <a:srgbClr val="07734A"/>
                </a:solidFill>
                <a:latin typeface="Verdana"/>
              </a:rPr>
              <a:t>» remplir le formulaire</a:t>
            </a:r>
          </a:p>
        </p:txBody>
      </p:sp>
      <p:sp>
        <p:nvSpPr>
          <p:cNvPr id="12" name="Rounded Rectangle 11"/>
          <p:cNvSpPr/>
          <p:nvPr/>
        </p:nvSpPr>
        <p:spPr>
          <a:xfrm>
            <a:off x="566928" y="2827528"/>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Remettez la demande après avoir obtenu l'attestation.   </a:t>
            </a:r>
            <a:r>
              <a:rPr sz="1400" b="1" i="0">
                <a:solidFill>
                  <a:srgbClr val="07734A"/>
                </a:solidFill>
                <a:latin typeface="Verdana"/>
              </a:rPr>
              <a:t>» obtenir l'attestation</a:t>
            </a:r>
          </a:p>
        </p:txBody>
      </p:sp>
      <p:sp>
        <p:nvSpPr>
          <p:cNvPr id="16" name="Rounded Rectangle 15"/>
          <p:cNvSpPr/>
          <p:nvPr/>
        </p:nvSpPr>
        <p:spPr>
          <a:xfrm>
            <a:off x="566928" y="3515359"/>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Une fois le formulaire reçu, votre chef est avisé.   </a:t>
            </a:r>
            <a:r>
              <a:rPr sz="1400" b="1" i="0">
                <a:solidFill>
                  <a:srgbClr val="07734A"/>
                </a:solidFill>
                <a:latin typeface="Verdana"/>
              </a:rPr>
              <a:t>» recevoir le formulaire</a:t>
            </a:r>
          </a:p>
        </p:txBody>
      </p:sp>
      <p:sp>
        <p:nvSpPr>
          <p:cNvPr id="20" name="Rounded Rectangle 19"/>
          <p:cNvSpPr/>
          <p:nvPr/>
        </p:nvSpPr>
        <p:spPr>
          <a:xfrm>
            <a:off x="566928" y="4203192"/>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Sans six mois d'ancienneté, la candidature n'est pas admissible.   </a:t>
            </a:r>
            <a:r>
              <a:rPr sz="1400" b="1" i="0">
                <a:solidFill>
                  <a:srgbClr val="07734A"/>
                </a:solidFill>
                <a:latin typeface="Verdana"/>
              </a:rPr>
              <a:t>» avoir six mois d'ancienneté</a:t>
            </a:r>
          </a:p>
        </p:txBody>
      </p:sp>
      <p:sp>
        <p:nvSpPr>
          <p:cNvPr id="24" name="Rounded Rectangle 23"/>
          <p:cNvSpPr/>
          <p:nvPr/>
        </p:nvSpPr>
        <p:spPr>
          <a:xfrm>
            <a:off x="566928" y="4891023"/>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Dès que le comité a terminé, la réponse est envoyée.   </a:t>
            </a:r>
            <a:r>
              <a:rPr sz="1400" b="1" i="0">
                <a:solidFill>
                  <a:srgbClr val="07734A"/>
                </a:solidFill>
                <a:latin typeface="Verdana"/>
              </a:rPr>
              <a:t>» la fin du comité</a:t>
            </a:r>
          </a:p>
        </p:txBody>
      </p:sp>
      <p:sp>
        <p:nvSpPr>
          <p:cNvPr id="28" name="Rounded Rectangle 27"/>
          <p:cNvSpPr/>
          <p:nvPr/>
        </p:nvSpPr>
        <p:spPr>
          <a:xfrm>
            <a:off x="566928" y="557885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 formulaire se remplit après la lecture de la note.   </a:t>
            </a:r>
            <a:r>
              <a:rPr sz="1400" b="1" i="0">
                <a:solidFill>
                  <a:srgbClr val="07734A"/>
                </a:solidFill>
                <a:latin typeface="Verdana"/>
              </a:rPr>
              <a:t>» lire la note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B2 · Le poste affiché à l'interne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9</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PIÈGE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 piège le plus fréquent</a:t>
            </a:r>
          </a:p>
        </p:txBody>
      </p:sp>
      <p:sp>
        <p:nvSpPr>
          <p:cNvPr id="7" name="Rounded Rectangle 6"/>
          <p:cNvSpPr/>
          <p:nvPr/>
        </p:nvSpPr>
        <p:spPr>
          <a:xfrm>
            <a:off x="566928" y="1856232"/>
            <a:ext cx="5428335" cy="2331720"/>
          </a:xfrm>
          <a:prstGeom prst="roundRect">
            <a:avLst>
              <a:gd name="adj" fmla="val 6274"/>
            </a:avLst>
          </a:prstGeom>
          <a:solidFill>
            <a:srgbClr val="FFF6F5"/>
          </a:solidFill>
          <a:ln w="1270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B91C1C"/>
                </a:solidFill>
                <a:latin typeface="Verdana"/>
              </a:rPr>
              <a:t>ON ENTEND SOUVENT</a:t>
            </a:r>
          </a:p>
        </p:txBody>
      </p:sp>
      <p:sp>
        <p:nvSpPr>
          <p:cNvPr id="9" name="TextBox 8"/>
          <p:cNvSpPr txBox="1"/>
          <p:nvPr/>
        </p:nvSpPr>
        <p:spPr>
          <a:xfrm>
            <a:off x="932688"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lire « après » comme « ensuite »</a:t>
            </a:r>
          </a:p>
        </p:txBody>
      </p:sp>
      <p:sp>
        <p:nvSpPr>
          <p:cNvPr id="10" name="Rounded Rectangle 9"/>
          <p:cNvSpPr/>
          <p:nvPr/>
        </p:nvSpPr>
        <p:spPr>
          <a:xfrm>
            <a:off x="6196431" y="1856232"/>
            <a:ext cx="5428335" cy="2331720"/>
          </a:xfrm>
          <a:prstGeom prst="roundRect">
            <a:avLst>
              <a:gd name="adj" fmla="val 6274"/>
            </a:avLst>
          </a:prstGeom>
          <a:solidFill>
            <a:srgbClr val="E6F5EE"/>
          </a:solidFill>
          <a:ln w="12700">
            <a:solidFill>
              <a:srgbClr val="0A8F5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562191"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07734A"/>
                </a:solidFill>
                <a:latin typeface="Verdana"/>
              </a:rPr>
              <a:t>IL FAUT DIRE PLUTÔT</a:t>
            </a:r>
          </a:p>
        </p:txBody>
      </p:sp>
      <p:sp>
        <p:nvSpPr>
          <p:cNvPr id="12" name="TextBox 11"/>
          <p:cNvSpPr txBox="1"/>
          <p:nvPr/>
        </p:nvSpPr>
        <p:spPr>
          <a:xfrm>
            <a:off x="6562191"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regarder s'il y a « avoir » derrière</a:t>
            </a:r>
          </a:p>
        </p:txBody>
      </p:sp>
      <p:sp>
        <p:nvSpPr>
          <p:cNvPr id="13" name="Rounded Rectangle 12"/>
          <p:cNvSpPr/>
          <p:nvPr/>
        </p:nvSpPr>
        <p:spPr>
          <a:xfrm>
            <a:off x="566928" y="4462272"/>
            <a:ext cx="11057839" cy="1618487"/>
          </a:xfrm>
          <a:prstGeom prst="roundRect">
            <a:avLst>
              <a:gd name="adj" fmla="val 9039"/>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69264" y="4736592"/>
            <a:ext cx="10234879" cy="15189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 Après avoir rempli » veut dire « une fois que c'est rempli » : ça vient AVANT le reste de la phrase. « Après, remplissez » veut dire le contraire. Le petit mot « avoir » change tout, et il passe inaperçu à l'écoute comme à la lecture.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B2 · Le poste affiché à l'interne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10</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ÉCRITURE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Réécrire en étapes numérotées</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Transformez chaque consigne en une liste 1, 2, 3.</a:t>
            </a:r>
          </a:p>
        </p:txBody>
      </p:sp>
      <p:sp>
        <p:nvSpPr>
          <p:cNvPr id="8" name="Rounded Rectangle 7"/>
          <p:cNvSpPr/>
          <p:nvPr/>
        </p:nvSpPr>
        <p:spPr>
          <a:xfrm>
            <a:off x="566928" y="2139696"/>
            <a:ext cx="11057839" cy="879856"/>
          </a:xfrm>
          <a:prstGeom prst="roundRect">
            <a:avLst>
              <a:gd name="adj" fmla="val 1662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396744"/>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460751"/>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1</a:t>
            </a:r>
          </a:p>
        </p:txBody>
      </p:sp>
      <p:sp>
        <p:nvSpPr>
          <p:cNvPr id="11" name="TextBox 10"/>
          <p:cNvSpPr txBox="1"/>
          <p:nvPr/>
        </p:nvSpPr>
        <p:spPr>
          <a:xfrm>
            <a:off x="1344168" y="2295144"/>
            <a:ext cx="10097719" cy="605536"/>
          </a:xfrm>
          <a:prstGeom prst="rect">
            <a:avLst/>
          </a:prstGeom>
          <a:noFill/>
        </p:spPr>
        <p:txBody>
          <a:bodyPr wrap="square" lIns="0" rIns="0" tIns="0" bIns="0" anchor="t">
            <a:spAutoFit/>
          </a:bodyPr>
          <a:lstStyle/>
          <a:p>
            <a:pPr algn="l">
              <a:lnSpc>
                <a:spcPct val="140000"/>
              </a:lnSpc>
            </a:pPr>
            <a:r>
              <a:rPr sz="1600" b="0" i="0">
                <a:solidFill>
                  <a:srgbClr val="3A3D40"/>
                </a:solidFill>
                <a:latin typeface="Verdana"/>
              </a:rPr>
              <a:t>Avant de remettre le RH-04, vérifiez votre ancienneté et joignez votre attestation.</a:t>
            </a:r>
          </a:p>
        </p:txBody>
      </p:sp>
      <p:sp>
        <p:nvSpPr>
          <p:cNvPr id="12" name="Rounded Rectangle 11"/>
          <p:cNvSpPr/>
          <p:nvPr/>
        </p:nvSpPr>
        <p:spPr>
          <a:xfrm>
            <a:off x="566928" y="3147568"/>
            <a:ext cx="11057839" cy="879856"/>
          </a:xfrm>
          <a:prstGeom prst="roundRect">
            <a:avLst>
              <a:gd name="adj" fmla="val 1662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3404616"/>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3468623"/>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2</a:t>
            </a:r>
          </a:p>
        </p:txBody>
      </p:sp>
      <p:sp>
        <p:nvSpPr>
          <p:cNvPr id="15" name="TextBox 14"/>
          <p:cNvSpPr txBox="1"/>
          <p:nvPr/>
        </p:nvSpPr>
        <p:spPr>
          <a:xfrm>
            <a:off x="1344168" y="3303016"/>
            <a:ext cx="10097719" cy="605536"/>
          </a:xfrm>
          <a:prstGeom prst="rect">
            <a:avLst/>
          </a:prstGeom>
          <a:noFill/>
        </p:spPr>
        <p:txBody>
          <a:bodyPr wrap="square" lIns="0" rIns="0" tIns="0" bIns="0" anchor="t">
            <a:spAutoFit/>
          </a:bodyPr>
          <a:lstStyle/>
          <a:p>
            <a:pPr algn="l">
              <a:lnSpc>
                <a:spcPct val="140000"/>
              </a:lnSpc>
            </a:pPr>
            <a:r>
              <a:rPr sz="1600" b="0" i="0">
                <a:solidFill>
                  <a:srgbClr val="3A3D40"/>
                </a:solidFill>
                <a:latin typeface="Verdana"/>
              </a:rPr>
              <a:t>Une fois la demande reçue, le chef est avisé et le comité est convoqué.</a:t>
            </a:r>
          </a:p>
        </p:txBody>
      </p:sp>
      <p:sp>
        <p:nvSpPr>
          <p:cNvPr id="16" name="Rounded Rectangle 15"/>
          <p:cNvSpPr/>
          <p:nvPr/>
        </p:nvSpPr>
        <p:spPr>
          <a:xfrm>
            <a:off x="566928" y="4155440"/>
            <a:ext cx="11057839" cy="879856"/>
          </a:xfrm>
          <a:prstGeom prst="roundRect">
            <a:avLst>
              <a:gd name="adj" fmla="val 1662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4412488"/>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4476496"/>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3</a:t>
            </a:r>
          </a:p>
        </p:txBody>
      </p:sp>
      <p:sp>
        <p:nvSpPr>
          <p:cNvPr id="19" name="TextBox 18"/>
          <p:cNvSpPr txBox="1"/>
          <p:nvPr/>
        </p:nvSpPr>
        <p:spPr>
          <a:xfrm>
            <a:off x="1344168" y="4310888"/>
            <a:ext cx="10097719" cy="605536"/>
          </a:xfrm>
          <a:prstGeom prst="rect">
            <a:avLst/>
          </a:prstGeom>
          <a:noFill/>
        </p:spPr>
        <p:txBody>
          <a:bodyPr wrap="square" lIns="0" rIns="0" tIns="0" bIns="0" anchor="t">
            <a:spAutoFit/>
          </a:bodyPr>
          <a:lstStyle/>
          <a:p>
            <a:pPr algn="l">
              <a:lnSpc>
                <a:spcPct val="140000"/>
              </a:lnSpc>
            </a:pPr>
            <a:r>
              <a:rPr sz="1600" b="0" i="0">
                <a:solidFill>
                  <a:srgbClr val="3A3D40"/>
                </a:solidFill>
                <a:latin typeface="Verdana"/>
              </a:rPr>
              <a:t>Dès que la rencontre est terminée, la réponse est rédigée puis envoyée.</a:t>
            </a:r>
          </a:p>
        </p:txBody>
      </p:sp>
      <p:sp>
        <p:nvSpPr>
          <p:cNvPr id="20" name="Rounded Rectangle 19"/>
          <p:cNvSpPr/>
          <p:nvPr/>
        </p:nvSpPr>
        <p:spPr>
          <a:xfrm>
            <a:off x="566928" y="5163312"/>
            <a:ext cx="11057839" cy="879856"/>
          </a:xfrm>
          <a:prstGeom prst="roundRect">
            <a:avLst>
              <a:gd name="adj" fmla="val 1662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5420360"/>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5484368"/>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4</a:t>
            </a:r>
          </a:p>
        </p:txBody>
      </p:sp>
      <p:sp>
        <p:nvSpPr>
          <p:cNvPr id="23" name="TextBox 22"/>
          <p:cNvSpPr txBox="1"/>
          <p:nvPr/>
        </p:nvSpPr>
        <p:spPr>
          <a:xfrm>
            <a:off x="1344168" y="5318760"/>
            <a:ext cx="10097719" cy="605536"/>
          </a:xfrm>
          <a:prstGeom prst="rect">
            <a:avLst/>
          </a:prstGeom>
          <a:noFill/>
        </p:spPr>
        <p:txBody>
          <a:bodyPr wrap="square" lIns="0" rIns="0" tIns="0" bIns="0" anchor="t">
            <a:spAutoFit/>
          </a:bodyPr>
          <a:lstStyle/>
          <a:p>
            <a:pPr algn="l">
              <a:lnSpc>
                <a:spcPct val="140000"/>
              </a:lnSpc>
            </a:pPr>
            <a:r>
              <a:rPr sz="1600" b="0" i="0">
                <a:solidFill>
                  <a:srgbClr val="3A3D40"/>
                </a:solidFill>
                <a:latin typeface="Verdana"/>
              </a:rPr>
              <a:t>Sans réponse écrite, la mutation ne prend pas effet ; le poste reste affiché.</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B2 · Le poste affiché à l'interne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11</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Réécrire en étapes numérotées</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11057839" cy="879856"/>
          </a:xfrm>
          <a:prstGeom prst="roundRect">
            <a:avLst>
              <a:gd name="adj" fmla="val 16628"/>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396744"/>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460751"/>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1</a:t>
            </a:r>
          </a:p>
        </p:txBody>
      </p:sp>
      <p:sp>
        <p:nvSpPr>
          <p:cNvPr id="11" name="TextBox 10"/>
          <p:cNvSpPr txBox="1"/>
          <p:nvPr/>
        </p:nvSpPr>
        <p:spPr>
          <a:xfrm>
            <a:off x="1344168" y="2295144"/>
            <a:ext cx="10097719" cy="605536"/>
          </a:xfrm>
          <a:prstGeom prst="rect">
            <a:avLst/>
          </a:prstGeom>
          <a:noFill/>
        </p:spPr>
        <p:txBody>
          <a:bodyPr wrap="square" lIns="0" rIns="0" tIns="0" bIns="0" anchor="t">
            <a:spAutoFit/>
          </a:bodyPr>
          <a:lstStyle/>
          <a:p>
            <a:pPr algn="l">
              <a:lnSpc>
                <a:spcPct val="140000"/>
              </a:lnSpc>
            </a:pPr>
            <a:r>
              <a:rPr sz="1600" b="0" i="0">
                <a:solidFill>
                  <a:srgbClr val="3A3D40"/>
                </a:solidFill>
                <a:latin typeface="Verdana"/>
              </a:rPr>
              <a:t>Avant de remettre le RH-04, vérifiez votre ancienneté et joignez votre attestation.   </a:t>
            </a:r>
            <a:r>
              <a:rPr sz="1600" b="1" i="0">
                <a:solidFill>
                  <a:srgbClr val="07734A"/>
                </a:solidFill>
                <a:latin typeface="Verdana"/>
              </a:rPr>
              <a:t>» 1. vérifier l'ancienneté 2. joindre l'attestation 3. remettre le RH-04</a:t>
            </a:r>
          </a:p>
        </p:txBody>
      </p:sp>
      <p:sp>
        <p:nvSpPr>
          <p:cNvPr id="12" name="Rounded Rectangle 11"/>
          <p:cNvSpPr/>
          <p:nvPr/>
        </p:nvSpPr>
        <p:spPr>
          <a:xfrm>
            <a:off x="566928" y="3147568"/>
            <a:ext cx="11057839" cy="879856"/>
          </a:xfrm>
          <a:prstGeom prst="roundRect">
            <a:avLst>
              <a:gd name="adj" fmla="val 16628"/>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3404616"/>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3468623"/>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2</a:t>
            </a:r>
          </a:p>
        </p:txBody>
      </p:sp>
      <p:sp>
        <p:nvSpPr>
          <p:cNvPr id="15" name="TextBox 14"/>
          <p:cNvSpPr txBox="1"/>
          <p:nvPr/>
        </p:nvSpPr>
        <p:spPr>
          <a:xfrm>
            <a:off x="1344168" y="3303016"/>
            <a:ext cx="10097719" cy="605536"/>
          </a:xfrm>
          <a:prstGeom prst="rect">
            <a:avLst/>
          </a:prstGeom>
          <a:noFill/>
        </p:spPr>
        <p:txBody>
          <a:bodyPr wrap="square" lIns="0" rIns="0" tIns="0" bIns="0" anchor="t">
            <a:spAutoFit/>
          </a:bodyPr>
          <a:lstStyle/>
          <a:p>
            <a:pPr algn="l">
              <a:lnSpc>
                <a:spcPct val="140000"/>
              </a:lnSpc>
            </a:pPr>
            <a:r>
              <a:rPr sz="1600" b="0" i="0">
                <a:solidFill>
                  <a:srgbClr val="3A3D40"/>
                </a:solidFill>
                <a:latin typeface="Verdana"/>
              </a:rPr>
              <a:t>Une fois la demande reçue, le chef est avisé et le comité est convoqué.   </a:t>
            </a:r>
            <a:r>
              <a:rPr sz="1600" b="1" i="0">
                <a:solidFill>
                  <a:srgbClr val="07734A"/>
                </a:solidFill>
                <a:latin typeface="Verdana"/>
              </a:rPr>
              <a:t>» 1. recevoir la demande 2. aviser le chef 3. convoquer le comité</a:t>
            </a:r>
          </a:p>
        </p:txBody>
      </p:sp>
      <p:sp>
        <p:nvSpPr>
          <p:cNvPr id="16" name="Rounded Rectangle 15"/>
          <p:cNvSpPr/>
          <p:nvPr/>
        </p:nvSpPr>
        <p:spPr>
          <a:xfrm>
            <a:off x="566928" y="4155440"/>
            <a:ext cx="11057839" cy="879856"/>
          </a:xfrm>
          <a:prstGeom prst="roundRect">
            <a:avLst>
              <a:gd name="adj" fmla="val 16628"/>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4412488"/>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4476496"/>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3</a:t>
            </a:r>
          </a:p>
        </p:txBody>
      </p:sp>
      <p:sp>
        <p:nvSpPr>
          <p:cNvPr id="19" name="TextBox 18"/>
          <p:cNvSpPr txBox="1"/>
          <p:nvPr/>
        </p:nvSpPr>
        <p:spPr>
          <a:xfrm>
            <a:off x="1344168" y="4310888"/>
            <a:ext cx="10097719" cy="605536"/>
          </a:xfrm>
          <a:prstGeom prst="rect">
            <a:avLst/>
          </a:prstGeom>
          <a:noFill/>
        </p:spPr>
        <p:txBody>
          <a:bodyPr wrap="square" lIns="0" rIns="0" tIns="0" bIns="0" anchor="t">
            <a:spAutoFit/>
          </a:bodyPr>
          <a:lstStyle/>
          <a:p>
            <a:pPr algn="l">
              <a:lnSpc>
                <a:spcPct val="140000"/>
              </a:lnSpc>
            </a:pPr>
            <a:r>
              <a:rPr sz="1600" b="0" i="0">
                <a:solidFill>
                  <a:srgbClr val="3A3D40"/>
                </a:solidFill>
                <a:latin typeface="Verdana"/>
              </a:rPr>
              <a:t>Dès que la rencontre est terminée, la réponse est rédigée puis envoyée.   </a:t>
            </a:r>
            <a:r>
              <a:rPr sz="1600" b="1" i="0">
                <a:solidFill>
                  <a:srgbClr val="07734A"/>
                </a:solidFill>
                <a:latin typeface="Verdana"/>
              </a:rPr>
              <a:t>» 1. terminer la rencontre 2. rédiger la réponse 3. envoyer la réponse</a:t>
            </a:r>
          </a:p>
        </p:txBody>
      </p:sp>
      <p:sp>
        <p:nvSpPr>
          <p:cNvPr id="20" name="Rounded Rectangle 19"/>
          <p:cNvSpPr/>
          <p:nvPr/>
        </p:nvSpPr>
        <p:spPr>
          <a:xfrm>
            <a:off x="566928" y="5163312"/>
            <a:ext cx="11057839" cy="879856"/>
          </a:xfrm>
          <a:prstGeom prst="roundRect">
            <a:avLst>
              <a:gd name="adj" fmla="val 16628"/>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5420360"/>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5484368"/>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4</a:t>
            </a:r>
          </a:p>
        </p:txBody>
      </p:sp>
      <p:sp>
        <p:nvSpPr>
          <p:cNvPr id="23" name="TextBox 22"/>
          <p:cNvSpPr txBox="1"/>
          <p:nvPr/>
        </p:nvSpPr>
        <p:spPr>
          <a:xfrm>
            <a:off x="1344168" y="5318760"/>
            <a:ext cx="10097719" cy="605536"/>
          </a:xfrm>
          <a:prstGeom prst="rect">
            <a:avLst/>
          </a:prstGeom>
          <a:noFill/>
        </p:spPr>
        <p:txBody>
          <a:bodyPr wrap="square" lIns="0" rIns="0" tIns="0" bIns="0" anchor="t">
            <a:spAutoFit/>
          </a:bodyPr>
          <a:lstStyle/>
          <a:p>
            <a:pPr algn="l">
              <a:lnSpc>
                <a:spcPct val="140000"/>
              </a:lnSpc>
            </a:pPr>
            <a:r>
              <a:rPr sz="1600" b="0" i="0">
                <a:solidFill>
                  <a:srgbClr val="3A3D40"/>
                </a:solidFill>
                <a:latin typeface="Verdana"/>
              </a:rPr>
              <a:t>Sans réponse écrite, la mutation ne prend pas effet ; le poste reste affiché.   </a:t>
            </a:r>
            <a:r>
              <a:rPr sz="1600" b="1" i="0">
                <a:solidFill>
                  <a:srgbClr val="07734A"/>
                </a:solidFill>
                <a:latin typeface="Verdana"/>
              </a:rPr>
              <a:t>» 1. envoyer la réponse écrite 2. la mutation prend effet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B2 · Le poste affiché à l'interne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12</a:t>
            </a:r>
          </a:p>
        </p:txBody>
      </p:sp>
      <p:sp>
        <p:nvSpPr>
          <p:cNvPr id="5" name="Rectangle 4"/>
          <p:cNvSpPr/>
          <p:nvPr/>
        </p:nvSpPr>
        <p:spPr>
          <a:xfrm>
            <a:off x="0" y="0"/>
            <a:ext cx="12191695" cy="6858000"/>
          </a:xfrm>
          <a:prstGeom prst="rect">
            <a:avLst/>
          </a:prstGeom>
          <a:solidFill>
            <a:srgbClr val="17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1051560"/>
            <a:ext cx="11057839" cy="274320"/>
          </a:xfrm>
          <a:prstGeom prst="rect">
            <a:avLst/>
          </a:prstGeom>
          <a:noFill/>
        </p:spPr>
        <p:txBody>
          <a:bodyPr wrap="square" lIns="0" rIns="0" tIns="0" bIns="0" anchor="t">
            <a:spAutoFit/>
          </a:bodyPr>
          <a:lstStyle/>
          <a:p>
            <a:pPr algn="l">
              <a:lnSpc>
                <a:spcPct val="135000"/>
              </a:lnSpc>
            </a:pPr>
            <a:r>
              <a:rPr sz="1300" b="1" i="0" spc="156">
                <a:solidFill>
                  <a:srgbClr val="FFFFFF"/>
                </a:solidFill>
                <a:latin typeface="Verdana"/>
              </a:rPr>
              <a:t>BILLET DE SORTIE</a:t>
            </a:r>
          </a:p>
        </p:txBody>
      </p:sp>
      <p:sp>
        <p:nvSpPr>
          <p:cNvPr id="7" name="TextBox 6"/>
          <p:cNvSpPr txBox="1"/>
          <p:nvPr/>
        </p:nvSpPr>
        <p:spPr>
          <a:xfrm>
            <a:off x="566928" y="1572768"/>
            <a:ext cx="9777679" cy="2103120"/>
          </a:xfrm>
          <a:prstGeom prst="rect">
            <a:avLst/>
          </a:prstGeom>
          <a:noFill/>
        </p:spPr>
        <p:txBody>
          <a:bodyPr wrap="square" lIns="0" rIns="0" tIns="0" bIns="0" anchor="t">
            <a:spAutoFit/>
          </a:bodyPr>
          <a:lstStyle/>
          <a:p>
            <a:pPr algn="l">
              <a:lnSpc>
                <a:spcPct val="125000"/>
              </a:lnSpc>
            </a:pPr>
            <a:r>
              <a:rPr sz="3400" b="1" i="0">
                <a:solidFill>
                  <a:srgbClr val="FFFFFF"/>
                </a:solidFill>
                <a:latin typeface="Verdana"/>
              </a:rPr>
              <a:t>Écris une consigne de ton travail où l'ordre n'est pas celui des mots.</a:t>
            </a:r>
          </a:p>
        </p:txBody>
      </p:sp>
      <p:sp>
        <p:nvSpPr>
          <p:cNvPr id="8" name="Rounded Rectangle 7"/>
          <p:cNvSpPr/>
          <p:nvPr/>
        </p:nvSpPr>
        <p:spPr>
          <a:xfrm>
            <a:off x="566928" y="3931920"/>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32688" y="4087368"/>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Une phrase suffit.</a:t>
            </a:r>
          </a:p>
        </p:txBody>
      </p:sp>
      <p:sp>
        <p:nvSpPr>
          <p:cNvPr id="10" name="Rounded Rectangle 9"/>
          <p:cNvSpPr/>
          <p:nvPr/>
        </p:nvSpPr>
        <p:spPr>
          <a:xfrm>
            <a:off x="566928" y="4680712"/>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4836160"/>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Souligne le mot qui donne l'ordre réel.</a:t>
            </a:r>
          </a:p>
        </p:txBody>
      </p:sp>
      <p:sp>
        <p:nvSpPr>
          <p:cNvPr id="12" name="TextBox 11"/>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B2 · Le poste affiché à l'interne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