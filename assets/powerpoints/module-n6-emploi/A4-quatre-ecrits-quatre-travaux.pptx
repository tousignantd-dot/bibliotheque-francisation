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révision. Reprendre les billets d'A1 et d'A2 : ils disent quel écrit intimide le groupe et quels mots reprendre. Commencer par là plutôt que par le programme prévu.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celui qui se mesure : donner une question, faire nommer le papier. C'est le geste que le module veut installer.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minutes, pas plus. Le premier point est celui qui revient le plus souvent, et c'est celui qui décide qui osera se présenter.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version utile du tableau d'A1 : celui-là partait du papier, celui-ci part de la question. C'est ainsi qu'on s'en sert dans la vraie vie.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réponses sont défendables pour la dernière : la note l'annonce, le compte rendu la rapporte après. Accepter les deux si l'élève explique.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Les quatre phrases sont les quatre confusions les plus fréquentes. Les faire reformuler par le groupe, chacune en une phrase à soi.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Rappeler aussi ce que le module dira au bloc C : une politique interne vient de l'employeur, pas de la loi. Ce n'est ni plus ni moins qu'un engagement d'entreprise.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quatre mots ouvrent le bloc B. Les donner à la fin d'A4 plutôt qu'au début de B1 : le groupe arrive alors en terrain déjà nommé.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La réponse attendue : la politique, parce qu'elle fixe la règle ; la note, parce qu'elle l'explique. Accepter les deux et faire nommer la différence. C'est le pont vers le bloc B, où c'est une personne qui explique de vive voix.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A4  ·  MODULE 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Quatre écrits, quatre travaux</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Dernière séance du bloc. On rassemble ce que le bloc a montré, et on s'entraîne à choisir le bon papier avant de lire une seule phrase.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poste affiché à l'interne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associer chaque écrit du travail à son travail propre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trouver le bon papier à partir d'une question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réemployer les quatre mots du bloc et les trois cas de graphie-phonie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annoncer ce qui vient au Défi 1 : une démarche en cinq étapes.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RETOUR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100" b="1" i="0">
                <a:solidFill>
                  <a:srgbClr val="17181A"/>
                </a:solidFill>
                <a:latin typeface="Verdana"/>
              </a:rPr>
              <a:t>Qu'est-ce qui t'a le plus surpris dans le bloc A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Qu'on n'ait pas besoin de la permission de son chef d'équipe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Qu'un affichage disparaisse après dix jours ouvrables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 technicien » se prononce avec un k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RÉVISION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question, un papier</a:t>
            </a:r>
          </a:p>
        </p:txBody>
      </p:sp>
      <p:sp>
        <p:nvSpPr>
          <p:cNvPr id="7" name="Rounded Rectangle 6"/>
          <p:cNvSpPr/>
          <p:nvPr/>
        </p:nvSpPr>
        <p:spPr>
          <a:xfrm>
            <a:off x="566928" y="1810512"/>
            <a:ext cx="11057839" cy="2932176"/>
          </a:xfrm>
          <a:prstGeom prst="roundRect">
            <a:avLst>
              <a:gd name="adj" fmla="val 498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TA QUESTION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OÙ CHERCHER</a:t>
            </a:r>
          </a:p>
        </p:txBody>
      </p:sp>
      <p:sp>
        <p:nvSpPr>
          <p:cNvPr id="10" name="TextBox 9"/>
          <p:cNvSpPr txBox="1"/>
          <p:nvPr/>
        </p:nvSpPr>
        <p:spPr>
          <a:xfrm>
            <a:off x="932688" y="2395728"/>
            <a:ext cx="3291492"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Jusqu'à quand ?</a:t>
            </a:r>
          </a:p>
        </p:txBody>
      </p:sp>
      <p:sp>
        <p:nvSpPr>
          <p:cNvPr id="11" name="TextBox 10"/>
          <p:cNvSpPr txBox="1"/>
          <p:nvPr/>
        </p:nvSpPr>
        <p:spPr>
          <a:xfrm>
            <a:off x="4443636" y="2395728"/>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l'affichage — c'est le seul qui porte la date limite</a:t>
            </a:r>
          </a:p>
        </p:txBody>
      </p:sp>
      <p:sp>
        <p:nvSpPr>
          <p:cNvPr id="12" name="Rectangle 11"/>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01696"/>
            <a:ext cx="3291492" cy="573024"/>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Quoi faire, dans quel ordre ?</a:t>
            </a:r>
          </a:p>
        </p:txBody>
      </p:sp>
      <p:sp>
        <p:nvSpPr>
          <p:cNvPr id="14" name="TextBox 13"/>
          <p:cNvSpPr txBox="1"/>
          <p:nvPr/>
        </p:nvSpPr>
        <p:spPr>
          <a:xfrm>
            <a:off x="4443636" y="2901696"/>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la note de service — ses puces sont des gestes</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Est-ce permis ?</a:t>
            </a:r>
          </a:p>
        </p:txBody>
      </p:sp>
      <p:sp>
        <p:nvSpPr>
          <p:cNvPr id="17" name="TextBox 16"/>
          <p:cNvSpPr txBox="1"/>
          <p:nvPr/>
        </p:nvSpPr>
        <p:spPr>
          <a:xfrm>
            <a:off x="4443636" y="3675887"/>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la politique — cherchez l'article et son numéro</a:t>
            </a:r>
          </a:p>
        </p:txBody>
      </p:sp>
      <p:sp>
        <p:nvSpPr>
          <p:cNvPr id="18" name="Rectangle 17"/>
          <p:cNvSpPr/>
          <p:nvPr/>
        </p:nvSpPr>
        <p:spPr>
          <a:xfrm>
            <a:off x="932688" y="40538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181856"/>
            <a:ext cx="3291492"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Qu'est-ce qui a été décidé ?</a:t>
            </a:r>
          </a:p>
        </p:txBody>
      </p:sp>
      <p:sp>
        <p:nvSpPr>
          <p:cNvPr id="20" name="TextBox 19"/>
          <p:cNvSpPr txBox="1"/>
          <p:nvPr/>
        </p:nvSpPr>
        <p:spPr>
          <a:xfrm>
            <a:off x="4443636" y="4181856"/>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le compte rendu — allez droit aux décisions</a:t>
            </a:r>
          </a:p>
        </p:txBody>
      </p:sp>
      <p:sp>
        <p:nvSpPr>
          <p:cNvPr id="21" name="Rounded Rectangle 20"/>
          <p:cNvSpPr/>
          <p:nvPr/>
        </p:nvSpPr>
        <p:spPr>
          <a:xfrm>
            <a:off x="566928" y="4980432"/>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236464"/>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Le compte rendu ne donne jamais de règle : il donne des décisions.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papier vas-tu chercher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Une question, une réponse. À l'oral, en équipes de deux.</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Est-ce que je peux encore me présenter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temps dure la période d'essai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formulaire faut-il remplir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Qu'est-ce qu'on a répondu sur l'ancienneté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Est-ce que l'ancienneté compte dans le choix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Où et quand est la rencontre d'information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papier vas-tu chercher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Est-ce que je peux encore me présenter ?   </a:t>
            </a:r>
            <a:r>
              <a:rPr sz="1400" b="1" i="0">
                <a:solidFill>
                  <a:srgbClr val="07734A"/>
                </a:solidFill>
                <a:latin typeface="Verdana"/>
              </a:rPr>
              <a:t>» l'affichage — la date limite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temps dure la période d'essai ?   </a:t>
            </a:r>
            <a:r>
              <a:rPr sz="1400" b="1" i="0">
                <a:solidFill>
                  <a:srgbClr val="07734A"/>
                </a:solidFill>
                <a:latin typeface="Verdana"/>
              </a:rPr>
              <a:t>» la politique, article 4.5</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formulaire faut-il remplir ?   </a:t>
            </a:r>
            <a:r>
              <a:rPr sz="1400" b="1" i="0">
                <a:solidFill>
                  <a:srgbClr val="07734A"/>
                </a:solidFill>
                <a:latin typeface="Verdana"/>
              </a:rPr>
              <a:t>» la note de service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Qu'est-ce qu'on a répondu sur l'ancienneté ?   </a:t>
            </a:r>
            <a:r>
              <a:rPr sz="1400" b="1" i="0">
                <a:solidFill>
                  <a:srgbClr val="07734A"/>
                </a:solidFill>
                <a:latin typeface="Verdana"/>
              </a:rPr>
              <a:t>» le compte rendu</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Est-ce que l'ancienneté compte dans le choix ?   </a:t>
            </a:r>
            <a:r>
              <a:rPr sz="1400" b="1" i="0">
                <a:solidFill>
                  <a:srgbClr val="07734A"/>
                </a:solidFill>
                <a:latin typeface="Verdana"/>
              </a:rPr>
              <a:t>» la politique, article 4.3</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Où et quand est la rencontre d'information ?   </a:t>
            </a:r>
            <a:r>
              <a:rPr sz="1400" b="1" i="0">
                <a:solidFill>
                  <a:srgbClr val="07734A"/>
                </a:solidFill>
                <a:latin typeface="Verdana"/>
              </a:rPr>
              <a:t>» la note de service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qu'un papier ne fait jamais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656843"/>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L'affichage n'explique pas</a:t>
            </a:r>
          </a:p>
        </p:txBody>
      </p:sp>
      <p:sp>
        <p:nvSpPr>
          <p:cNvPr id="9" name="TextBox 8"/>
          <p:cNvSpPr txBox="1"/>
          <p:nvPr/>
        </p:nvSpPr>
        <p:spPr>
          <a:xfrm>
            <a:off x="886968"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Il tient en une demi-page. La démarche complète est ailleurs — dans la note et dans la politique.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656843"/>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La note ne décide pas</a:t>
            </a:r>
          </a:p>
        </p:txBody>
      </p:sp>
      <p:sp>
        <p:nvSpPr>
          <p:cNvPr id="12" name="TextBox 11"/>
          <p:cNvSpPr txBox="1"/>
          <p:nvPr/>
        </p:nvSpPr>
        <p:spPr>
          <a:xfrm>
            <a:off x="6498183"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Elle explique une règle qui existe ailleurs. Le jour où elle contredit la politique, c'est la politique qui s'applique.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656843"/>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La politique ne s'adresse à personne</a:t>
            </a:r>
          </a:p>
        </p:txBody>
      </p:sp>
      <p:sp>
        <p:nvSpPr>
          <p:cNvPr id="15" name="TextBox 14"/>
          <p:cNvSpPr txBox="1"/>
          <p:nvPr/>
        </p:nvSpPr>
        <p:spPr>
          <a:xfrm>
            <a:off x="886968"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Elle dit « l'employé », jamais « vous ». C'est la différence la plus visible avec une note de service.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656843"/>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Le compte rendu ne fait pas de règle</a:t>
            </a:r>
          </a:p>
        </p:txBody>
      </p:sp>
      <p:sp>
        <p:nvSpPr>
          <p:cNvPr id="18" name="TextBox 17"/>
          <p:cNvSpPr txBox="1"/>
          <p:nvPr/>
        </p:nvSpPr>
        <p:spPr>
          <a:xfrm>
            <a:off x="6498183"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Il rapporte ce qui a été dit un jour donné. Une phrase de rencontre n'est pas un texte officiel.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POIDS DES PAPIERS</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En cas de contradiction, la politique l'emporte sur tout le reste.</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note explique, un affichage annonce, un compte rendu rapporte. Un seul de ces textes crée la règle, et c'est la politique. Le savoir évite de citer, dans une discussion, une phrase entendue dans un corridor comme si elle avait force d'obligation.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arrive au Défi 1</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540823"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les ressources humaines</a:t>
            </a:r>
          </a:p>
        </p:txBody>
      </p:sp>
      <p:sp>
        <p:nvSpPr>
          <p:cNvPr id="9" name="TextBox 8"/>
          <p:cNvSpPr txBox="1"/>
          <p:nvPr/>
        </p:nvSpPr>
        <p:spPr>
          <a:xfrm>
            <a:off x="4747831" y="2121408"/>
            <a:ext cx="6511175"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service qui s'occupe des employés : dossiers, formulaires, embauches.</a:t>
            </a:r>
          </a:p>
        </p:txBody>
      </p:sp>
      <p:sp>
        <p:nvSpPr>
          <p:cNvPr id="10" name="Rectangle 9"/>
          <p:cNvSpPr/>
          <p:nvPr/>
        </p:nvSpPr>
        <p:spPr>
          <a:xfrm>
            <a:off x="932688" y="296037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106674"/>
            <a:ext cx="3540823"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formulaire</a:t>
            </a:r>
          </a:p>
        </p:txBody>
      </p:sp>
      <p:sp>
        <p:nvSpPr>
          <p:cNvPr id="12" name="TextBox 11"/>
          <p:cNvSpPr txBox="1"/>
          <p:nvPr/>
        </p:nvSpPr>
        <p:spPr>
          <a:xfrm>
            <a:off x="4747831" y="3106674"/>
            <a:ext cx="6511175"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feuille toute faite qu'on remplit pour demander quelque chose officiellement.</a:t>
            </a:r>
          </a:p>
        </p:txBody>
      </p:sp>
      <p:sp>
        <p:nvSpPr>
          <p:cNvPr id="13" name="Rectangle 12"/>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091939"/>
            <a:ext cx="3540823"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comité de sélection</a:t>
            </a:r>
          </a:p>
        </p:txBody>
      </p:sp>
      <p:sp>
        <p:nvSpPr>
          <p:cNvPr id="15" name="TextBox 14"/>
          <p:cNvSpPr txBox="1"/>
          <p:nvPr/>
        </p:nvSpPr>
        <p:spPr>
          <a:xfrm>
            <a:off x="4747831" y="4091939"/>
            <a:ext cx="6511175"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petit groupe de personnes qui rencontre les candidats et qui choisit.</a:t>
            </a:r>
          </a:p>
        </p:txBody>
      </p:sp>
      <p:sp>
        <p:nvSpPr>
          <p:cNvPr id="16" name="Rectangle 15"/>
          <p:cNvSpPr/>
          <p:nvPr/>
        </p:nvSpPr>
        <p:spPr>
          <a:xfrm>
            <a:off x="932688" y="4930901"/>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077205"/>
            <a:ext cx="3540823" cy="765809"/>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période d'essai</a:t>
            </a:r>
          </a:p>
        </p:txBody>
      </p:sp>
      <p:sp>
        <p:nvSpPr>
          <p:cNvPr id="18" name="TextBox 17"/>
          <p:cNvSpPr txBox="1"/>
          <p:nvPr/>
        </p:nvSpPr>
        <p:spPr>
          <a:xfrm>
            <a:off x="4747831" y="5077205"/>
            <a:ext cx="6511175" cy="765809"/>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temps où l'on fait le nouveau travail pour voir si ça convient.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poste affiché à l'interne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En une phrase : où irais-tu chercher la démarche complète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Nomme le papier, et dis pourquoi.</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Il y a deux bonnes réponses, et l'une est plus sûre que l'autre.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Le poste affiché à l'interne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