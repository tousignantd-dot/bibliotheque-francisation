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grammaire du texte, la première du module. C'est ce qui sépare vraiment le niveau 6 des niveaux 3 et 5 : la difficulté n'est plus le mot, c'est ce à quoi il renvoie.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premier objectif est un objectif de lecture et d'écoute, pas de production : on veut d'abord que l'élève retrouve le référent.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donner la réponse : la faire chercher deux minutes. La conclusion — « le » ne désigne rien du tout tant qu'on n'a pas reculé d'une phrase — est le cœur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La quatrième ligne évite l'erreur la plus fréquente : « elle en parle » pour parler d'une collègue.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l'exercice à l'oral sur le dialogue de B1 : relire trois phrases, arrêter à chaque pronom, demander le référent.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 listes se retiennent par l'usage, pas par cœur : y revenir chaque fois qu'un de ces verbes passe dans un dialogue.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réponse par la préposition du verbe : « avoir besoin DE, donc en ». C'est la seule méthode qui tient sans mémoire.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relire à voix haute la réplique de B1 : « c'est important que vous le sachiez ». Le groupe doit pouvoir dire ce que « le » remplace, mot pour mot.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d'écoute, livre fermé. Lire lentement, deux fois. Le dernier item porte deux pronoms : ne le donner qu'aux groupes rapides.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Ramasser : c'est la mesure de la séance. Ceux qui écrivent « elle en parle » pour une personne sont à reprendre en B4.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B3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en, y : ne pas perdre le fil</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Marie-Soleil dit « je le sais », le mot « le » ne désigne aucun objet : il remplace une phrase entière dite trente secondes plus tôt.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poste affiché à l'interne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retrouver ce que remplace « le » dans une explication suivie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 en » pour « de + une chose »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 y » pour « à + une chose » et pour un lieu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placer le pronom devant le verbe, toujours.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 Je le sais. » Il sait quoi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qu'on peut répondre sans la phrase d'avant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 le » désigne un homme, une femme, une chose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se passe si on perd la phrase d'avant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pronoms, trois emplois</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PRONOM</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REMPLACE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le, l'</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phrase entière déjà dite — Je le sais.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en</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 + une chose — Elle en parle.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y</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à + une chose, ou un lieu — J'y pense. Elle y va.</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de lui, à elle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personne : on garde la préposition</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Chose : en, y. Personne : de lui, d'elle, à lui, à elle.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RECULER D'UNE PHRASE</a:t>
            </a:r>
          </a:p>
        </p:txBody>
      </p:sp>
      <p:sp>
        <p:nvSpPr>
          <p:cNvPr id="6" name="Rounded Rectangle 5"/>
          <p:cNvSpPr/>
          <p:nvPr/>
        </p:nvSpPr>
        <p:spPr>
          <a:xfrm>
            <a:off x="566928" y="1225296"/>
            <a:ext cx="11057839" cy="2494788"/>
          </a:xfrm>
          <a:prstGeom prst="roundRect">
            <a:avLst>
              <a:gd name="adj" fmla="val 586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Quand tu entends « le », « en » ou « y », demande-toi tout de suite : ça remplace quoi ?</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là que se perd le fil d'une explication en cinq étapes. Le mot est court, il passe vite, et il porte parfois toute la phrase précédente. Reculer d'une phrase est un réflexe : il s'installe en deux semaines et il sert pour toujours.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verbes qui appellent chaque pronom</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Ils appellent « le »</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savoir, dire, croire, ignorer, comprendre, oublier, expliquer — tous suivis de « que ». Je le sais, il l'a dit, ils l'ignorent.</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Ils appellent « en »</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parler de, avoir besoin de, s'occuper de, se souvenir de, être content de. Elle en parle, elle en a besoin.</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Ils appellent « y »</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penser à, tenir à, s'habituer à, réfléchir à, participer à. J'y pense, le comité y tient.</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Attention aux personnes</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Elle parle de sa collègue donne « elle parle d'elle », jamais « elle en parle ». Je pense à elle, jamais « j'y pense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Complète avec le, l', en ou y</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Regarde la partie soulignée de la première phrase.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Marie-Soleil explique que la signature n'est pas requise. Yaneth ne ___ savait pas.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parle souvent de la période d'essai. Elle ___ parle à chaque candidat.</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Yaneth pense à sa rencontre. Elle ___ pense depuis mardi.</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Ghislain a dit qu'aucune permission n'était nécessaire. Il ___ a répété deux fois.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formulaire se dépose au bureau douze. On ___ dépose aussi les attestations.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besoin de son attestation. Elle ___ a besoin avant vendredi.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Complète avec le, l', en ou y</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Marie-Soleil explique que la signature n'est pas requise. Yaneth ne ___ savait pas.   </a:t>
            </a:r>
            <a:r>
              <a:rPr sz="1400" b="1" i="0">
                <a:solidFill>
                  <a:srgbClr val="07734A"/>
                </a:solidFill>
                <a:latin typeface="Verdana"/>
              </a:rPr>
              <a:t>» le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parle souvent de la période d'essai. Elle ___ parle à chaque candidat.   </a:t>
            </a:r>
            <a:r>
              <a:rPr sz="1400" b="1" i="0">
                <a:solidFill>
                  <a:srgbClr val="07734A"/>
                </a:solidFill>
                <a:latin typeface="Verdana"/>
              </a:rPr>
              <a:t>» en</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Yaneth pense à sa rencontre. Elle ___ pense depuis mardi.   </a:t>
            </a:r>
            <a:r>
              <a:rPr sz="1400" b="1" i="0">
                <a:solidFill>
                  <a:srgbClr val="07734A"/>
                </a:solidFill>
                <a:latin typeface="Verdana"/>
              </a:rPr>
              <a:t>» y</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Ghislain a dit qu'aucune permission n'était nécessaire. Il ___ a répété deux fois.   </a:t>
            </a:r>
            <a:r>
              <a:rPr sz="1400" b="1" i="0">
                <a:solidFill>
                  <a:srgbClr val="07734A"/>
                </a:solidFill>
                <a:latin typeface="Verdana"/>
              </a:rPr>
              <a:t>» l'</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formulaire se dépose au bureau douze. On ___ dépose aussi les attestations.   </a:t>
            </a:r>
            <a:r>
              <a:rPr sz="1400" b="1" i="0">
                <a:solidFill>
                  <a:srgbClr val="07734A"/>
                </a:solidFill>
                <a:latin typeface="Verdana"/>
              </a:rPr>
              <a:t>» y</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a besoin de son attestation. Elle ___ a besoin avant vendredi.   </a:t>
            </a:r>
            <a:r>
              <a:rPr sz="1400" b="1" i="0">
                <a:solidFill>
                  <a:srgbClr val="07734A"/>
                </a:solidFill>
                <a:latin typeface="Verdana"/>
              </a:rPr>
              <a:t>» 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chercher un objet derrière « le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reculer d'une phrase et chercher une idée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Je le sais » ne parle d'aucune chose. Le « le » renvoie à toute une idée — souvent une phrase avec « que ». Quand vous ne trouvez pas l'objet, c'est qu'il n'y en a pas : cherchez la phrase.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Retrouver le référent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L'enseignante lit deux phrases. Dites ce que le pronom remplace.</a:t>
            </a:r>
          </a:p>
        </p:txBody>
      </p:sp>
      <p:sp>
        <p:nvSpPr>
          <p:cNvPr id="8" name="Rounded Rectangle 7"/>
          <p:cNvSpPr/>
          <p:nvPr/>
        </p:nvSpPr>
        <p:spPr>
          <a:xfrm>
            <a:off x="566928" y="2139696"/>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 comité choisit sur les compétences. Beaucoup de gens l'ignorent.</a:t>
            </a:r>
          </a:p>
        </p:txBody>
      </p:sp>
      <p:sp>
        <p:nvSpPr>
          <p:cNvPr id="12" name="Rounded Rectangle 11"/>
          <p:cNvSpPr/>
          <p:nvPr/>
        </p:nvSpPr>
        <p:spPr>
          <a:xfrm>
            <a:off x="566928" y="3218688"/>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5127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1528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37413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Elle a suivi la formation en mars. Elle en a gardé l'attestation.</a:t>
            </a:r>
          </a:p>
        </p:txBody>
      </p:sp>
      <p:sp>
        <p:nvSpPr>
          <p:cNvPr id="16" name="Rounded Rectangle 15"/>
          <p:cNvSpPr/>
          <p:nvPr/>
        </p:nvSpPr>
        <p:spPr>
          <a:xfrm>
            <a:off x="566928" y="3977639"/>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27024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33425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4133087"/>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 rencontre a lieu à la cafétéria. Vingt-deux personnes s'y sont présentées.</a:t>
            </a:r>
          </a:p>
        </p:txBody>
      </p:sp>
      <p:sp>
        <p:nvSpPr>
          <p:cNvPr id="20" name="Rounded Rectangle 19"/>
          <p:cNvSpPr/>
          <p:nvPr/>
        </p:nvSpPr>
        <p:spPr>
          <a:xfrm>
            <a:off x="566928" y="5056632"/>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Il faut remettre le formulaire avant vendredi. Ghislain le lui a rappelé.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Retrouver le référent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 comité choisit sur les compétences. Beaucoup de gens l'ignorent.   </a:t>
            </a:r>
            <a:r>
              <a:rPr sz="1800" b="1" i="0">
                <a:solidFill>
                  <a:srgbClr val="07734A"/>
                </a:solidFill>
                <a:latin typeface="Verdana"/>
              </a:rPr>
              <a:t>» que le comité choisit sur les compétences</a:t>
            </a:r>
          </a:p>
        </p:txBody>
      </p:sp>
      <p:sp>
        <p:nvSpPr>
          <p:cNvPr id="12" name="Rounded Rectangle 11"/>
          <p:cNvSpPr/>
          <p:nvPr/>
        </p:nvSpPr>
        <p:spPr>
          <a:xfrm>
            <a:off x="566928" y="3218688"/>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5127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1528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37413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Elle a suivi la formation en mars. Elle en a gardé l'attestation.   </a:t>
            </a:r>
            <a:r>
              <a:rPr sz="1800" b="1" i="0">
                <a:solidFill>
                  <a:srgbClr val="07734A"/>
                </a:solidFill>
                <a:latin typeface="Verdana"/>
              </a:rPr>
              <a:t>» de la formation</a:t>
            </a:r>
          </a:p>
        </p:txBody>
      </p:sp>
      <p:sp>
        <p:nvSpPr>
          <p:cNvPr id="16" name="Rounded Rectangle 15"/>
          <p:cNvSpPr/>
          <p:nvPr/>
        </p:nvSpPr>
        <p:spPr>
          <a:xfrm>
            <a:off x="566928" y="3977639"/>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27024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33425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4133087"/>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La rencontre a lieu à la cafétéria. Vingt-deux personnes s'y sont présentées.   </a:t>
            </a:r>
            <a:r>
              <a:rPr sz="1800" b="1" i="0">
                <a:solidFill>
                  <a:srgbClr val="07734A"/>
                </a:solidFill>
                <a:latin typeface="Verdana"/>
              </a:rPr>
              <a:t>» à la cafétéria</a:t>
            </a:r>
          </a:p>
        </p:txBody>
      </p:sp>
      <p:sp>
        <p:nvSpPr>
          <p:cNvPr id="20" name="Rounded Rectangle 19"/>
          <p:cNvSpPr/>
          <p:nvPr/>
        </p:nvSpPr>
        <p:spPr>
          <a:xfrm>
            <a:off x="566928" y="5056632"/>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Il faut remettre le formulaire avant vendredi. Ghislain le lui a rappelé.   </a:t>
            </a:r>
            <a:r>
              <a:rPr sz="1800" b="1" i="0">
                <a:solidFill>
                  <a:srgbClr val="07734A"/>
                </a:solidFill>
                <a:latin typeface="Verdana"/>
              </a:rPr>
              <a:t>» qu'il faut remettre le formulaire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Écris deux phrases : la première dit quelque chose, la seconde le reprend.</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Emploie « le », « en » ou « y » dans la seconde.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Souligne dans la première ce que le pronom remplace.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B3 · Le poste affiché à l'interne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