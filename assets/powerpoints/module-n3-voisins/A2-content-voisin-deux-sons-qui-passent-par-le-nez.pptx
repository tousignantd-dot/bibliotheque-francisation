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Séance de graphie-phonie. Prévoir de faire écouter beaucoup et d'écrire peu : la difficulté est dans l'oreille, pas dans la main.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 à photographier. Le truc à faire essayer : dire la voyelle en se bouchant le nez avec deux doigts. Si le son change, l'air passait bien par le nez — c'était le bon.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 à photographier. Faire répéter la colonne de droite en exagérant l'ouverture de la bouche : c'est ce qui installe le 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 à photographier. Demander à chacun de sourire franchement en disant « voisin » : le son sort juste presque à tout coup.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Dire les mots plutôt que de les projeter d'abord : c'est un exercice d'oreille. Projeter le corrigé après. C'est l'exercice `prPhon` du module interactif, à cartes écoutables.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dire la paire « un voisin / une voisine » en tour de table. C'est le meilleur exercice de la séance, et il tient en dix mots.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écrire les deux mots repères en gros dans le cahier. C'est le seul aide-mémoire dont ils auront besoin.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Ne pas corriger la prononciation de chaque mot : signaler seulement les fins de mot où la bouche s'est fermée. Un seul point à la fois.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Devoir court. Ramasser et relire à voix haute au début de A3 : les erreurs de classement disent exactement où en est chaque oreille.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SÉANCE A2  ·  MODULE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Content, voisin : deux sons qui passent par le nez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Deux voyelles nasales se croisent sans arrêt dans un escalier d'immeuble. Beaucoup de langues n'en ont aucune, et l'oreille les confond pendant des mois.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60 minutes  ·  L'escalier de la rue Dézéry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L'escalier de la rue Dézéry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entendre la différence entre le son AN et le son IN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produire les deux sons en tenant la bonne position de bouche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reconnaître les quatre écritures les plus fréquentes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ne plus prononcer la lettre N à la fin d'un mot nasal.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L'escalier de la rue Dézéry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L'AIR PASSE PAR LE NEZ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441196"/>
          </a:xfrm>
          <a:prstGeom prst="roundRect">
            <a:avLst>
              <a:gd name="adj" fmla="val 10151"/>
            </a:avLst>
          </a:prstGeom>
          <a:solidFill>
            <a:srgbClr val="E8EA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6182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cont-en-t   ·   vois-in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940812"/>
            <a:ext cx="11057839" cy="1303528"/>
          </a:xfrm>
          <a:prstGeom prst="roundRect">
            <a:avLst>
              <a:gd name="adj" fmla="val 1122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215132"/>
            <a:ext cx="10234879" cy="8463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Dans ces mots, la lettre N ne se prononce pas toute seule : elle rend la voyelle nasale, puis elle disparaît. La bouche ne se ferme pas à la fin du mot.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L'escalier de la rue Dézéry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son AN — la bouche grande ouverte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798064"/>
          </a:xfrm>
          <a:prstGeom prst="roundRect">
            <a:avLst>
              <a:gd name="adj" fmla="val 52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ON ÉCRIT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ON LIT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en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3B49A0"/>
                </a:solidFill>
                <a:latin typeface="Verdana"/>
              </a:rPr>
              <a:t>content · comment · en avant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an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3B49A0"/>
                </a:solidFill>
                <a:latin typeface="Verdana"/>
              </a:rPr>
              <a:t>grand · dimanche · quatre ans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am, em (devant b et p)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3B49A0"/>
                </a:solidFill>
                <a:latin typeface="Verdana"/>
              </a:rPr>
              <a:t>chambre · ensemble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8620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014215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 piège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014215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3B49A0"/>
                </a:solidFill>
                <a:latin typeface="Verdana"/>
              </a:rPr>
              <a:t>« en » se dit AN, jamais « en »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4846320"/>
            <a:ext cx="11057839" cy="843534"/>
          </a:xfrm>
          <a:prstGeom prst="roundRect">
            <a:avLst>
              <a:gd name="adj" fmla="val 17344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69264" y="5102352"/>
            <a:ext cx="10234879" cy="3863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La mâchoire descend, les lèvres restent plates.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L'escalier de la rue Dézéry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son IN — la bouche étirée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798064"/>
          </a:xfrm>
          <a:prstGeom prst="roundRect">
            <a:avLst>
              <a:gd name="adj" fmla="val 52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ON ÉCRIT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ON LIT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in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3B49A0"/>
                </a:solidFill>
                <a:latin typeface="Verdana"/>
              </a:rPr>
              <a:t>voisin · matin · invitation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ain, ein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3B49A0"/>
                </a:solidFill>
                <a:latin typeface="Verdana"/>
              </a:rPr>
              <a:t>demain · plein · le pain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3B49A0"/>
                </a:solidFill>
                <a:latin typeface="Verdana"/>
              </a:rPr>
              <a:t>lundi · quelqu'un · un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8620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014215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 truc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014215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3B49A0"/>
                </a:solidFill>
                <a:latin typeface="Verdana"/>
              </a:rPr>
              <a:t>souris en le disant, et c'est le bon son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4846320"/>
            <a:ext cx="11057839" cy="843534"/>
          </a:xfrm>
          <a:prstGeom prst="roundRect">
            <a:avLst>
              <a:gd name="adj" fmla="val 17344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69264" y="5102352"/>
            <a:ext cx="10234879" cy="3863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Les coins de la bouche s'écartent, comme pour sourire.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L'escalier de la rue Dézéry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ÉCOUTE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son de content, ou le son de voisin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Écoutez chaque mot et dites lequel des deux vous entendez.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content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 voisin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 appartement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matin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comment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une invitation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66928" y="626668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ounded Rectangle 32"/>
          <p:cNvSpPr/>
          <p:nvPr/>
        </p:nvSpPr>
        <p:spPr>
          <a:xfrm>
            <a:off x="841247" y="636371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841247" y="642772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344168" y="6422136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en avant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66928" y="6954520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Rounded Rectangle 36"/>
          <p:cNvSpPr/>
          <p:nvPr/>
        </p:nvSpPr>
        <p:spPr>
          <a:xfrm>
            <a:off x="841247" y="705154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841247" y="711555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344168" y="7109968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lendemain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L'escalier de la rue Dézéry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son de content, ou le son de voisin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content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le son de content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 voisin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le son de voisin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 appartement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le son de content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matin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le son de voisin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comment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le son de content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une invitation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les deux : IN au début, AN à la fin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66928" y="626668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ounded Rectangle 32"/>
          <p:cNvSpPr/>
          <p:nvPr/>
        </p:nvSpPr>
        <p:spPr>
          <a:xfrm>
            <a:off x="841247" y="636371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841247" y="642772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344168" y="6422136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en avant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le son de content, deux fois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66928" y="6954520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Rounded Rectangle 36"/>
          <p:cNvSpPr/>
          <p:nvPr/>
        </p:nvSpPr>
        <p:spPr>
          <a:xfrm>
            <a:off x="841247" y="705154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841247" y="711555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344168" y="7109968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lendemain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le son de voisin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L'escalier de la rue Dézéry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PRONONCER LA LETTRE 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voi-si-ne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voi-sin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Un voisin » se termine sur une voyelle nasale : la bouche reste ouverte. « Une voisine », lui, se prononce bien avec le N — c'est le E final qui le réveille. Deux mots, deux fins de bouche différentes.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L'escalier de la rue Dézéry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LE MOT REPÈRE DU MODULE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Une invitation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3571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200" b="1" i="0">
                <a:solidFill>
                  <a:srgbClr val="3B49A0"/>
                </a:solidFill>
                <a:latin typeface="Verdana"/>
              </a:rPr>
              <a:t>Le mot contient les deux sons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469388"/>
            <a:ext cx="4806543" cy="11196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IN au début, AN à la fin : in-vi-ta-tion. Il traverse toute la difficulté du module en quatre syllabes.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3571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200" b="1" i="0">
                <a:solidFill>
                  <a:srgbClr val="3B49A0"/>
                </a:solidFill>
                <a:latin typeface="Verdana"/>
              </a:rPr>
              <a:t>À quoi il sert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469388"/>
            <a:ext cx="4806543" cy="11196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Quand un mot nouveau vous arrive et que vous hésitez, dites-le à côté de « content » puis à côté de « voisin ». Écoutez lequel se ressemble.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3571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200" b="1" i="0">
                <a:solidFill>
                  <a:srgbClr val="3B49A0"/>
                </a:solidFill>
                <a:latin typeface="Verdana"/>
              </a:rPr>
              <a:t>Ce qu'il faut retenir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686808"/>
            <a:ext cx="4806543" cy="11196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Deux mots repères, et rien d'autre : content pour le son AN, voisin pour le son IN. Les symboles phonétiques ne servent à rien à ce stade.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8143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98183" y="4302252"/>
            <a:ext cx="4806543" cy="3571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200" b="1" i="0">
                <a:solidFill>
                  <a:srgbClr val="3B49A0"/>
                </a:solidFill>
                <a:latin typeface="Verdana"/>
              </a:rPr>
              <a:t>Où on l'entendra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8183" y="4686808"/>
            <a:ext cx="4806543" cy="11196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Toute la semaine : l'invitation est la matière du défi 2, et le mot revient dans presque chaque exercice.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L'escalier de la rue Dézéry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PRODUCTION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lire à voix haute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Chacun lit une phrase. Le groupe dit combien de sons nasaux il a entendus.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Mon voisin part travailler le matin.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suis content de vous connaître.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L'escalier monte en avant de l'immeuble.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J'ai reçu une invitation ce matin.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Comment s'appelle le concierge ?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Demain, quelqu'un va venir.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L'escalier de la rue Dézéry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lire à voix haute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Mon voisin part travailler le matin.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IN trois fois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suis content de vous connaître.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AN deux fois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L'escalier monte en avant de l'immeuble.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AN trois fois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J'ai reçu une invitation ce matin.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IN puis AN, puis IN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Comment s'appelle le concierge ?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AN au début et à la fin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Demain, quelqu'un va venir.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IN trois fois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L'escalier de la rue Dézéry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Écrivez deux mots de votre journée : un avec le son AN, un avec le son IN.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Le son AN : content, comment, grand, chambre…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Le son IN : voisin, matin, demain, lundi…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L'escalier de la rue Dézéry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