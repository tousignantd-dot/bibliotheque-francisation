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d'écriture. Reprendre les demandes ramassées au billet de B1 : chacun travaillera la sienne plutôt qu'un exemple inventé.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dire les deux versions de la même demande, l'une après l'autre : la différence de ton s'entend immédiatement, même sans explication.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trouver un exemple de la troisième ligne : « Est-ce que vous pourriez me prêter la clé deux minutes ?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La quatrième ligne prépare le passage chez le concierge : il y a des permissions que le voisin ne peut pas donner.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`t1perm` du module interactif. Le faire par écrit ici, puis à l'écran. Insister sur la deuxième ligne : c'est la forme du jeu de rôle.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la paire « je veux / je peux » à voix haute. La différence est une voyelle, et elle change tout le ton de la phrase.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les trois phrases dans le cahier, dans l'ordre. C'est le squelette de toute la production orale de E1.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Quinze minutes, puis on inverse les rôles. Ne corriger que la forme de la demande : la réponse se travaille en B3.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Ramasser : ces trois phrases sont exactement ce que l'élève dira dans sa production orale de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B2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Est-ce que je peux, est-ce que je pourrais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seul morceau de mot sépare la demande de tous les jours de la demande polie. C'est le morceau qui décide de la réponse quand on connaît peu la personne.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L'escalier de la rue Dézéry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une permission de trois façons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la forme polie quand on connaît peu la personne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 nom « permission » et l'adjectif « permis »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ne plus dire « je veux » à la place de « je peux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-RAIS ADOUCIT TOUT</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Est-ce que je peux…  devient  Est-ce que je pourrais…</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première forme est courte, directe et parfaitement correcte entre voisins. La seconde est celle qu'on emploie avec quelqu'un qu'on connaît peu, ou quand on demande quelque chose d'un peu plus gros.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façons de demander</a:t>
            </a:r>
          </a:p>
        </p:txBody>
      </p:sp>
      <p:sp>
        <p:nvSpPr>
          <p:cNvPr id="7" name="Rounded Rectangle 6"/>
          <p:cNvSpPr/>
          <p:nvPr/>
        </p:nvSpPr>
        <p:spPr>
          <a:xfrm>
            <a:off x="566928" y="1810512"/>
            <a:ext cx="11057839" cy="3015996"/>
          </a:xfrm>
          <a:prstGeom prst="roundRect">
            <a:avLst>
              <a:gd name="adj" fmla="val 485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FORMULE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QUAND L'EMPLOYER</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Est-ce que je peux… ?</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tous les jours, avec quelqu'un qu'on connaît</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Est-ce que je pourrais… ?</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plus poli — avec quelqu'un qu'on connaît peu</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Est-ce que vous pourriez… ?</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quand c'est l'autre qui doit faire quelque chose</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Est-ce que vous permettez que… ?</a:t>
            </a:r>
          </a:p>
        </p:txBody>
      </p:sp>
      <p:sp>
        <p:nvSpPr>
          <p:cNvPr id="20" name="TextBox 19"/>
          <p:cNvSpPr txBox="1"/>
          <p:nvPr/>
        </p:nvSpPr>
        <p:spPr>
          <a:xfrm>
            <a:off x="4443636" y="3963924"/>
            <a:ext cx="6595914" cy="606552"/>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la plus formelle — devant le concierge</a:t>
            </a:r>
          </a:p>
        </p:txBody>
      </p:sp>
      <p:sp>
        <p:nvSpPr>
          <p:cNvPr id="21" name="Rounded Rectangle 20"/>
          <p:cNvSpPr/>
          <p:nvPr/>
        </p:nvSpPr>
        <p:spPr>
          <a:xfrm>
            <a:off x="566928" y="506425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32028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La troisième déplace la demande : « je peux » demande pour soi, « vous pourriez » demande à l'autre.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permission et sa famille</a:t>
            </a:r>
          </a:p>
        </p:txBody>
      </p:sp>
      <p:sp>
        <p:nvSpPr>
          <p:cNvPr id="7" name="Rounded Rectangle 6"/>
          <p:cNvSpPr/>
          <p:nvPr/>
        </p:nvSpPr>
        <p:spPr>
          <a:xfrm>
            <a:off x="566928" y="1810512"/>
            <a:ext cx="11057839" cy="2731008"/>
          </a:xfrm>
          <a:prstGeom prst="roundRect">
            <a:avLst>
              <a:gd name="adj" fmla="val 535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COMMENT IL S'EMPLOIE</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permission</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on la demande, on la donne, on la refuse</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permettre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Est-ce que vous permettez que je passe par la cour ?</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permis</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Ce n'est pas permis de bloquer la sortie de secours.</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Il faut la permission de…</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quand quelqu'un d'autre décide</a:t>
            </a:r>
          </a:p>
        </p:txBody>
      </p:sp>
      <p:sp>
        <p:nvSpPr>
          <p:cNvPr id="21" name="Rounded Rectangle 20"/>
          <p:cNvSpPr/>
          <p:nvPr/>
        </p:nvSpPr>
        <p:spPr>
          <a:xfrm>
            <a:off x="566928" y="4779264"/>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035296"/>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 La permission », c'est le droit qu'on te donne — pas la phrase qui le demande.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la demande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Employez « peux », « pourrais », « permis », « pouvez » ou « permission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je ___ mettre mon vélo dans la remise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je ___ l'accrocher au mur du fond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demandé la ___ avant de toucher à la remise.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n'est pas ___ de bloquer la sortie de secours.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vous ___ me prêter la clé deux minutes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la ___ du concierge pour entrer dans la remise.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la demande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je ___ mettre mon vélo dans la remise ?   </a:t>
            </a:r>
            <a:r>
              <a:rPr sz="1400" b="1" i="0">
                <a:solidFill>
                  <a:srgbClr val="07734A"/>
                </a:solidFill>
                <a:latin typeface="Verdana"/>
              </a:rPr>
              <a:t>» peux</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je ___ l'accrocher au mur du fond ?   </a:t>
            </a:r>
            <a:r>
              <a:rPr sz="1400" b="1" i="0">
                <a:solidFill>
                  <a:srgbClr val="07734A"/>
                </a:solidFill>
                <a:latin typeface="Verdana"/>
              </a:rPr>
              <a:t>» pourrais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demandé la ___ avant de toucher à la remise.   </a:t>
            </a:r>
            <a:r>
              <a:rPr sz="1400" b="1" i="0">
                <a:solidFill>
                  <a:srgbClr val="07734A"/>
                </a:solidFill>
                <a:latin typeface="Verdana"/>
              </a:rPr>
              <a:t>» permission</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n'est pas ___ de bloquer la sortie de secours.   </a:t>
            </a:r>
            <a:r>
              <a:rPr sz="1400" b="1" i="0">
                <a:solidFill>
                  <a:srgbClr val="07734A"/>
                </a:solidFill>
                <a:latin typeface="Verdana"/>
              </a:rPr>
              <a:t>» permis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vous ___ me prêter la clé deux minutes ?   </a:t>
            </a:r>
            <a:r>
              <a:rPr sz="1400" b="1" i="0">
                <a:solidFill>
                  <a:srgbClr val="07734A"/>
                </a:solidFill>
                <a:latin typeface="Verdana"/>
              </a:rPr>
              <a:t>» pouvez / pourriez</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la ___ du concierge pour entrer dans la remise.   </a:t>
            </a:r>
            <a:r>
              <a:rPr sz="1400" b="1" i="0">
                <a:solidFill>
                  <a:srgbClr val="07734A"/>
                </a:solidFill>
                <a:latin typeface="Verdana"/>
              </a:rPr>
              <a:t>» permission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DIRE « JE VEUX » À LA PLACE DE « JE PEUX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veux mettre mon vélo dans la remise.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Est-ce que je peux mettre mon vélo dans la remise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Je veux » annonce une décision, pas une demande : entre voisins, il sonne comme une porte qu'on pousse. Les deux mots se ressemblent à l'oreille, et l'erreur coûte cher pour une seule lettre.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CE QUI ENTOURE LA DEMANDE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phrases à savoir par cœur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Avant : la politesse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Excusez-moi de vous déranger. » Elle prévient qu'on prend du temps à quelqu'un, et elle ouvre toutes les portes.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Avant : la raison</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Mon vélo gêne dans le corridor. » Une demande sans raison inquiète. Une phrase suffit, jamais deux.</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Après : le remerciement</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Merci, c'est gentil. » Même si la réponse est non. C'est ce qui rend la prochaine demande possible.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Et si c'est non</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On remercie et on cherche autre chose. Insister coûte la permission suivante — et dans un immeuble, on se recroise tous les jours.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PRODUCTION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par deux : demandez, répondez</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L'un demande, l'autre répond par « bien sûr », « oui, mais » ou « je préfère que non ».</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remise, pour un vélo.</a:t>
            </a:r>
          </a:p>
        </p:txBody>
      </p:sp>
      <p:sp>
        <p:nvSpPr>
          <p:cNvPr id="12" name="Rounded Rectangle 11"/>
          <p:cNvSpPr/>
          <p:nvPr/>
        </p:nvSpPr>
        <p:spPr>
          <a:xfrm>
            <a:off x="566928" y="289864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corde à linge, un jour de beau temps.</a:t>
            </a:r>
          </a:p>
        </p:txBody>
      </p:sp>
      <p:sp>
        <p:nvSpPr>
          <p:cNvPr id="16" name="Rounded Rectangle 15"/>
          <p:cNvSpPr/>
          <p:nvPr/>
        </p:nvSpPr>
        <p:spPr>
          <a:xfrm>
            <a:off x="566928" y="365760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Passer par la cour avec une poussette.</a:t>
            </a:r>
          </a:p>
        </p:txBody>
      </p:sp>
      <p:sp>
        <p:nvSpPr>
          <p:cNvPr id="20" name="Rounded Rectangle 19"/>
          <p:cNvSpPr/>
          <p:nvPr/>
        </p:nvSpPr>
        <p:spPr>
          <a:xfrm>
            <a:off x="566928" y="4416552"/>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Laisser une boîte dans le corridor deux jours.</a:t>
            </a:r>
          </a:p>
        </p:txBody>
      </p:sp>
      <p:sp>
        <p:nvSpPr>
          <p:cNvPr id="24" name="Rounded Rectangle 23"/>
          <p:cNvSpPr/>
          <p:nvPr/>
        </p:nvSpPr>
        <p:spPr>
          <a:xfrm>
            <a:off x="566928" y="5175504"/>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Emprunter la clé de la remise dix minutes.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votre demande au complet, en trois phrases.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politesse, la raison, la demande.</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Excusez-moi de vous déranger. Ma poussette bloque l'entrée. Est-ce que je pourrais… ?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L'escalier de la rue Dézéry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