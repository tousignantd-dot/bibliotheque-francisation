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Apporter de vraies enveloppes, un timbre déjà collé si possible, et une petite boîte. Les objets passent de main en main pendant que le mot se dit : c'est ainsi qu'il reste.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cherchent un bureau de poste et n'en trouvent pas dans leur quartier. Dire tout de suite que le comptoir de la pharmacie fait la même chose, et qu'il est ouvert plus tard.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deux fois, diapositive masquée. Puis afficher et faire répéter réplique par réplique, en chœur. Amara Diallo est arrivée de Guinée il y a huit mois ; Luc Tremblay tient le comptoir.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septième réplique : Amara redit le montant. Ce n'est pas une hésitation, c'est une vérification, et c'est la chose la plus utile du module. La faire répéter par tout le groupe.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montrer chaque objet réel pendant qu'on dit son nom, avec l'article : « une enveloppe », jamais « enveloppe » tout seul.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 quatre mots reviennent dans les sept autres séances : les faire répéter jusqu'à ce qu'ils sortent sans effort.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une phrase courte est polie si elle finit par « s'il vous plaît ». Beaucoup d'élèves se taisent parce qu'ils cherchent une phrase longue.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faire d'abord à l'oral, en groupe, avant de les faire écrire. Les cinq mêmes énoncés sont dans le module en ligne, exercice `pr1`.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Donner à celui qui tient le comptoir un prix écrit sur un papier, différent à chaque paire : sans cela, tout le monde dit « un dollar quarante-quatre » et personne n'écoute vraiment.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Demander de les dire à voix haute trois fois à la maison : ce sont les phrases de la dernière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timbre, s'il vous plaît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Nommer ce qu'on envoie — une lettre, une enveloppe, un timbre, un colis — et dire ce qu'on veut en une phrase.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J'envoie une lettre et un colis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quatre objets de la poste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comptoir postal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qu'on veut en une phrase courte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le prix avec « Combien ça coûte ?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poste, près de chez vous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oste-comptoi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envoyé une lettre au Québec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avez-vous acheté le timbre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Savez-vous qu'il y a un comptoir postal dans beaucoup de pharmacies ?</a:t>
            </a:r>
          </a:p>
        </p:txBody>
      </p:sp>
      <p:sp>
        <p:nvSpPr>
          <p:cNvPr id="18" name="Rounded Rectangle 17"/>
          <p:cNvSpPr/>
          <p:nvPr/>
        </p:nvSpPr>
        <p:spPr>
          <a:xfrm>
            <a:off x="566928" y="488950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peut y faire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Amara entre au comptoir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deux fois avant de lire.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AMARA</a:t>
            </a:r>
          </a:p>
        </p:txBody>
      </p:sp>
      <p:sp>
        <p:nvSpPr>
          <p:cNvPr id="10" name="TextBox 9"/>
          <p:cNvSpPr txBox="1"/>
          <p:nvPr/>
        </p:nvSpPr>
        <p:spPr>
          <a:xfrm>
            <a:off x="2154269" y="2322576"/>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Je veux envoyer cette lettre.</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LUC</a:t>
            </a:r>
          </a:p>
        </p:txBody>
      </p:sp>
      <p:sp>
        <p:nvSpPr>
          <p:cNvPr id="13" name="TextBox 12"/>
          <p:cNvSpPr txBox="1"/>
          <p:nvPr/>
        </p:nvSpPr>
        <p:spPr>
          <a:xfrm>
            <a:off x="2154269" y="3071876"/>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C'est pour où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AMARA</a:t>
            </a:r>
          </a:p>
        </p:txBody>
      </p:sp>
      <p:sp>
        <p:nvSpPr>
          <p:cNvPr id="16" name="TextBox 15"/>
          <p:cNvSpPr txBox="1"/>
          <p:nvPr/>
        </p:nvSpPr>
        <p:spPr>
          <a:xfrm>
            <a:off x="2154269" y="3821175"/>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 Sherbrooke.</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LUC</a:t>
            </a:r>
          </a:p>
        </p:txBody>
      </p:sp>
      <p:sp>
        <p:nvSpPr>
          <p:cNvPr id="19" name="TextBox 18"/>
          <p:cNvSpPr txBox="1"/>
          <p:nvPr/>
        </p:nvSpPr>
        <p:spPr>
          <a:xfrm>
            <a:off x="2154269" y="4570475"/>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D'accord. Il faut un timbre.</a:t>
            </a:r>
          </a:p>
        </p:txBody>
      </p:sp>
      <p:sp>
        <p:nvSpPr>
          <p:cNvPr id="20" name="Rounded Rectangle 19"/>
          <p:cNvSpPr/>
          <p:nvPr/>
        </p:nvSpPr>
        <p:spPr>
          <a:xfrm>
            <a:off x="566928" y="51551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319775"/>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AMARA</a:t>
            </a:r>
          </a:p>
        </p:txBody>
      </p:sp>
      <p:sp>
        <p:nvSpPr>
          <p:cNvPr id="22" name="TextBox 21"/>
          <p:cNvSpPr txBox="1"/>
          <p:nvPr/>
        </p:nvSpPr>
        <p:spPr>
          <a:xfrm>
            <a:off x="2154269" y="5319775"/>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ça coûte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prix, et où coller le timbre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LUC</a:t>
            </a:r>
          </a:p>
        </p:txBody>
      </p:sp>
      <p:sp>
        <p:nvSpPr>
          <p:cNvPr id="9" name="TextBox 8"/>
          <p:cNvSpPr txBox="1"/>
          <p:nvPr/>
        </p:nvSpPr>
        <p:spPr>
          <a:xfrm>
            <a:off x="2154269" y="1901952"/>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dollar quarante-quatre.</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AMARA</a:t>
            </a:r>
          </a:p>
        </p:txBody>
      </p:sp>
      <p:sp>
        <p:nvSpPr>
          <p:cNvPr id="12" name="TextBox 11"/>
          <p:cNvSpPr txBox="1"/>
          <p:nvPr/>
        </p:nvSpPr>
        <p:spPr>
          <a:xfrm>
            <a:off x="2154269" y="2651252"/>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dollar quarante-quatre ?</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LUC</a:t>
            </a:r>
          </a:p>
        </p:txBody>
      </p:sp>
      <p:sp>
        <p:nvSpPr>
          <p:cNvPr id="15" name="TextBox 14"/>
          <p:cNvSpPr txBox="1"/>
          <p:nvPr/>
        </p:nvSpPr>
        <p:spPr>
          <a:xfrm>
            <a:off x="2154269" y="3400551"/>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Voici votre timbre.</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AMARA</a:t>
            </a:r>
          </a:p>
        </p:txBody>
      </p:sp>
      <p:sp>
        <p:nvSpPr>
          <p:cNvPr id="18" name="TextBox 17"/>
          <p:cNvSpPr txBox="1"/>
          <p:nvPr/>
        </p:nvSpPr>
        <p:spPr>
          <a:xfrm>
            <a:off x="2154269" y="4149851"/>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Merci. Je le mets où ?</a:t>
            </a:r>
          </a:p>
        </p:txBody>
      </p:sp>
      <p:sp>
        <p:nvSpPr>
          <p:cNvPr id="19" name="Rounded Rectangle 18"/>
          <p:cNvSpPr/>
          <p:nvPr/>
        </p:nvSpPr>
        <p:spPr>
          <a:xfrm>
            <a:off x="566928" y="47345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899151"/>
            <a:ext cx="122158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LUC</a:t>
            </a:r>
          </a:p>
        </p:txBody>
      </p:sp>
      <p:sp>
        <p:nvSpPr>
          <p:cNvPr id="21" name="TextBox 20"/>
          <p:cNvSpPr txBox="1"/>
          <p:nvPr/>
        </p:nvSpPr>
        <p:spPr>
          <a:xfrm>
            <a:off x="2154269" y="4899151"/>
            <a:ext cx="8921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 haut, à droite.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objets, quatre mots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C'EST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COMMENT ON LE DIT</a:t>
            </a:r>
          </a:p>
        </p:txBody>
      </p:sp>
      <p:sp>
        <p:nvSpPr>
          <p:cNvPr id="10" name="TextBox 9"/>
          <p:cNvSpPr txBox="1"/>
          <p:nvPr/>
        </p:nvSpPr>
        <p:spPr>
          <a:xfrm>
            <a:off x="932688" y="2395728"/>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papier qu'on écrit et qu'on plie</a:t>
            </a:r>
          </a:p>
        </p:txBody>
      </p:sp>
      <p:sp>
        <p:nvSpPr>
          <p:cNvPr id="11" name="TextBox 10"/>
          <p:cNvSpPr txBox="1"/>
          <p:nvPr/>
        </p:nvSpPr>
        <p:spPr>
          <a:xfrm>
            <a:off x="4443636" y="2395728"/>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une lettre</a:t>
            </a:r>
          </a:p>
        </p:txBody>
      </p:sp>
      <p:sp>
        <p:nvSpPr>
          <p:cNvPr id="12" name="Rectangle 11"/>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84932"/>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papier fermé qui la contient</a:t>
            </a:r>
          </a:p>
        </p:txBody>
      </p:sp>
      <p:sp>
        <p:nvSpPr>
          <p:cNvPr id="14" name="TextBox 13"/>
          <p:cNvSpPr txBox="1"/>
          <p:nvPr/>
        </p:nvSpPr>
        <p:spPr>
          <a:xfrm>
            <a:off x="4443636" y="2884932"/>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une enveloppe</a:t>
            </a:r>
          </a:p>
        </p:txBody>
      </p:sp>
      <p:sp>
        <p:nvSpPr>
          <p:cNvPr id="15" name="Rectangle 14"/>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74136"/>
            <a:ext cx="3291492"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petit papier collé en haut, à droite</a:t>
            </a:r>
          </a:p>
        </p:txBody>
      </p:sp>
      <p:sp>
        <p:nvSpPr>
          <p:cNvPr id="17" name="TextBox 16"/>
          <p:cNvSpPr txBox="1"/>
          <p:nvPr/>
        </p:nvSpPr>
        <p:spPr>
          <a:xfrm>
            <a:off x="4443636" y="3374136"/>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timbre</a:t>
            </a:r>
          </a:p>
        </p:txBody>
      </p:sp>
      <p:sp>
        <p:nvSpPr>
          <p:cNvPr id="18" name="Rectangle 17"/>
          <p:cNvSpPr/>
          <p:nvPr/>
        </p:nvSpPr>
        <p:spPr>
          <a:xfrm>
            <a:off x="932688" y="39867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14800"/>
            <a:ext cx="3291492"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boîte, trop grosse pour une enveloppe</a:t>
            </a:r>
          </a:p>
        </p:txBody>
      </p:sp>
      <p:sp>
        <p:nvSpPr>
          <p:cNvPr id="20" name="TextBox 19"/>
          <p:cNvSpPr txBox="1"/>
          <p:nvPr/>
        </p:nvSpPr>
        <p:spPr>
          <a:xfrm>
            <a:off x="4443636" y="4114800"/>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 colis</a:t>
            </a:r>
          </a:p>
        </p:txBody>
      </p:sp>
      <p:sp>
        <p:nvSpPr>
          <p:cNvPr id="21" name="Rounded Rectangle 20"/>
          <p:cNvSpPr/>
          <p:nvPr/>
        </p:nvSpPr>
        <p:spPr>
          <a:xfrm>
            <a:off x="566928" y="514807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timbre, c'est le prix de l'envoi. On le paie une fois, au comptoir.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du comptoir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01132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comptoir postal</a:t>
            </a:r>
          </a:p>
        </p:txBody>
      </p:sp>
      <p:sp>
        <p:nvSpPr>
          <p:cNvPr id="9" name="TextBox 8"/>
          <p:cNvSpPr txBox="1"/>
          <p:nvPr/>
        </p:nvSpPr>
        <p:spPr>
          <a:xfrm>
            <a:off x="4218336" y="2121408"/>
            <a:ext cx="704067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L'endroit où on paie et où on envoie, souvent dans une pharmacie.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01132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boîte aux lettres</a:t>
            </a:r>
          </a:p>
        </p:txBody>
      </p:sp>
      <p:sp>
        <p:nvSpPr>
          <p:cNvPr id="12" name="TextBox 11"/>
          <p:cNvSpPr txBox="1"/>
          <p:nvPr/>
        </p:nvSpPr>
        <p:spPr>
          <a:xfrm>
            <a:off x="4218336" y="3106674"/>
            <a:ext cx="704067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grosse boîte rouge de la rue, où on met les lettres.</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01132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colis</a:t>
            </a:r>
          </a:p>
        </p:txBody>
      </p:sp>
      <p:sp>
        <p:nvSpPr>
          <p:cNvPr id="15" name="TextBox 14"/>
          <p:cNvSpPr txBox="1"/>
          <p:nvPr/>
        </p:nvSpPr>
        <p:spPr>
          <a:xfrm>
            <a:off x="4218336" y="4091939"/>
            <a:ext cx="704067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boîte qu'on envoie quand c'est trop gros pour une enveloppe.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011328"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timbre</a:t>
            </a:r>
          </a:p>
        </p:txBody>
      </p:sp>
      <p:sp>
        <p:nvSpPr>
          <p:cNvPr id="18" name="TextBox 17"/>
          <p:cNvSpPr txBox="1"/>
          <p:nvPr/>
        </p:nvSpPr>
        <p:spPr>
          <a:xfrm>
            <a:off x="4218336" y="5077205"/>
            <a:ext cx="7040670"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papier collé sur l'enveloppe : c'est le prix de l'envoi.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DIRE CE QU'ON VEUT, EN UNE PHRASE</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timbre, s'il vous plaît.</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mots suffisent au comptoir. On peut aussi dire « Je veux envoyer cette lettre. » ou « Je veux envoyer ce colis. » Puis on demande le prix : </a:t>
            </a:r>
            <a:r>
              <a:rPr sz="2000" b="1" i="0">
                <a:solidFill>
                  <a:srgbClr val="4B4F52"/>
                </a:solidFill>
                <a:latin typeface="Verdana"/>
              </a:rPr>
              <a:t>Combien ça coûte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Amara veut envoyer une lettre.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est pour Sherbrooke.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timbre coûte deux dollars.</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Amara répète le prix pour vérifier.</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timbre se colle en bas, à gauche.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Amara veut envoyer une lettre.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est pour Sherbrooke.   </a:t>
            </a:r>
            <a:r>
              <a:rPr sz="1900" b="1" i="0">
                <a:solidFill>
                  <a:srgbClr val="07734A"/>
                </a:solidFill>
                <a:latin typeface="Verdana"/>
              </a:rPr>
              <a:t>» vrai</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timbre coûte deux dollars.   </a:t>
            </a:r>
            <a:r>
              <a:rPr sz="1900" b="1" i="0">
                <a:solidFill>
                  <a:srgbClr val="07734A"/>
                </a:solidFill>
                <a:latin typeface="Verdana"/>
              </a:rPr>
              <a:t>» faux — un dollar quarante-quatre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Amara répète le prix pour vérifier.   </a:t>
            </a:r>
            <a:r>
              <a:rPr sz="1900" b="1" i="0">
                <a:solidFill>
                  <a:srgbClr val="07734A"/>
                </a:solidFill>
                <a:latin typeface="Verdana"/>
              </a:rPr>
              <a:t>» vrai</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timbre se colle en bas, à gauche.   </a:t>
            </a:r>
            <a:r>
              <a:rPr sz="1900" b="1" i="0">
                <a:solidFill>
                  <a:srgbClr val="07734A"/>
                </a:solidFill>
                <a:latin typeface="Verdana"/>
              </a:rPr>
              <a:t>» faux — en haut, à droite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À DEUX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Au comptoir, chacun son tour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 par deux. L'un tient le comptoir, l'autre entre.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phrases que vous pourriez dire au comptoir postal.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timbre, s'il vous plaît.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Je veux envoyer ce colis.</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ça coûte ?</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J'envoie une lettre et un colis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