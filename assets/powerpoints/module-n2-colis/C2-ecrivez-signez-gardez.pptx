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grammaire, mais tirée de phrases entendues au comptoir. Ne jamais donner la règle avant la phrase : on part de ce que Luc dit, on remonte à la forme.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Presque tout le groupe l'a déjà reçu, et plusieurs l'ont jeté. Le dire sans reproche : c'est justement pour cela que la séance existe.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remarquer qu'on n'entend jamais « vous écrivez votre nom » pour donner une consigne : le « vous » disparaît, et c'est ce qui rend la phrase brève.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dire les six à voix haute, en chœur. Un ami dirait « écris », « signe » — sans -ez, et sans s à « écris ». Le mentionner sans l'exercer : au comptoir, c'est « vous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« Mon adresse » est la seule exception à retenir de la séance, et c'est un mot du module : elle vaut la peine.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deux fois. Trois choses à retenir : où est le colis, quoi apporter, et qu'on signe. Les faire nommer par trois élèves différents.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mêmes phrases sont dans le module en ligne, exercice `t2imper`.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Les six mêmes phrases sont dans le module en ligne, exercice `t2poss`. Faire justifier chaque réponse à voix haute : qui parle, et de quoi 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Vingt minutes. La réponse à l'étape 4 est quinze jours ; après, le colis repart chez l'expéditeur. C'est le renseignement le plus utile de la séance.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court. Demander de les lire à voix haute : les six verbes doivent être reconnus à l'oreille pour la séance E1.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C2  ·  MODULE 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Écrivez, signez, gardez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394968"/>
          </a:xfrm>
          <a:prstGeom prst="roundRect">
            <a:avLst>
              <a:gd name="adj" fmla="val 1048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Comprendre les consignes du comptoir, dire « mon » et « votre » au bon moment, et lire un avis de livraison.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J'envoie une lettre et un colis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comprendre une consigne à l'impératif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mon, ma, mes, votre et vos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reconnaître un avis de livraison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savoir ce qu'on apporte pour reprendre un colis.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Qu'est-ce que ce carton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424927" y="1719072"/>
            <a:ext cx="4199839" cy="4361688"/>
          </a:xfrm>
          <a:prstGeom prst="roundRect">
            <a:avLst>
              <a:gd name="adj" fmla="val 34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8" name="Picture 7" descr="poste-avi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44383" y="2638438"/>
            <a:ext cx="3760927" cy="252295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566928" y="1856232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66928" y="1965960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50976" y="2039112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Avez-vous déjà trouvé un papier comme celui-là chez vous 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79928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66928" y="308965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50976" y="3162808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Qu'avez-vous fait avec 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765804"/>
            <a:ext cx="6492240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ectangle 15"/>
          <p:cNvSpPr/>
          <p:nvPr/>
        </p:nvSpPr>
        <p:spPr>
          <a:xfrm>
            <a:off x="566928" y="387553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50976" y="3948684"/>
            <a:ext cx="5806440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Qu'est-ce qu'il annonce, à votre avis 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4551680"/>
            <a:ext cx="6492240" cy="1041400"/>
          </a:xfrm>
          <a:prstGeom prst="roundRect">
            <a:avLst>
              <a:gd name="adj" fmla="val 1404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566928" y="4661408"/>
            <a:ext cx="50292" cy="821944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50976" y="4734560"/>
            <a:ext cx="5806440" cy="7122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de temps peut-on attendre avant d'y aller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ANALYSE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verbe qui donne une consigne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2798064"/>
          </a:xfrm>
          <a:prstGeom prst="roundRect">
            <a:avLst>
              <a:gd name="adj" fmla="val 5228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DIT LUC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Écrivez votre nom.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devez écrire votre nom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8072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35224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Signez ici.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35224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devez signer ici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4670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74720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Remplissez le formulaire.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74720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devez remplir le formulaire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8620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4014215"/>
            <a:ext cx="3291492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Gardez votre reçu.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4014215"/>
            <a:ext cx="6595914" cy="3383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vous devez garder votre reçu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846320"/>
            <a:ext cx="11057839" cy="1175004"/>
          </a:xfrm>
          <a:prstGeom prst="roundRect">
            <a:avLst>
              <a:gd name="adj" fmla="val 12451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69264" y="5102352"/>
            <a:ext cx="10234879" cy="7178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800" b="0" i="0">
                <a:solidFill>
                  <a:srgbClr val="4B4F52"/>
                </a:solidFill>
                <a:latin typeface="Verdana"/>
              </a:rPr>
              <a:t>Le verbe finit par -ez, et il n'y a pas de « vous » devant. C'est la forme la plus courte du français.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SIX VERBES DE LA POSTE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Toujours à la même forme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écrivez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Écrivez votre nom dans la case.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0773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62777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remplissez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2777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Remplissez ce formulaire, s'il vous plaît.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8548" y="181051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368588" y="2084831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signez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8588" y="249936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Signez en bas, à droite.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8696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posez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Posez la boîte sur la balance.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0773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462777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gardez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2777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Gardez votre reçu.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8548" y="4027932"/>
            <a:ext cx="3576218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8368588" y="4302252"/>
            <a:ext cx="2936138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apportez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8588" y="4716780"/>
            <a:ext cx="2936138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Apportez le carton et une carte avec votre photo.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MON NOM, VOTRE NOM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1967991"/>
          </a:xfrm>
          <a:prstGeom prst="roundRect">
            <a:avLst>
              <a:gd name="adj" fmla="val 743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145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Quand je parle de moi : mon, ma, mes. Quand on me parle : votre, vos.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467607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3741927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&lt;b&gt;mon&lt;/b&gt; devant un mot masculin, &lt;b&gt;ma&lt;/b&gt; devant un mot féminin, &lt;b&gt;mes&lt;/b&gt; quand il y en a plusieurs. On dit &lt;b&gt;mon&lt;/b&gt; adresse et non « ma adresse » : le mot commence par une voyelle. Pour « votre » et « vos », le masculin et le féminin ne changent rien — seul le nombre compte.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Un carton dans la boîte aux lettres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73736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Écoutez, puis dites ce qu'Amara doit apporter.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57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23225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AMARA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54269" y="23225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Karim, regarde. C'est quoi, ce carton ?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818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32688" y="29829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KARIM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54269" y="29829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C'est un avis de livraison.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3478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32688" y="36433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AMARA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54269" y="36433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Alors il est où, mon colis 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4139183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32688" y="4303775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KARIM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54269" y="4303775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Au comptoir postal. Tu vas le chercher.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7995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2688" y="49641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AMARA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54269" y="49641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J'apporte quoi ?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4599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32688" y="56245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KARIM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154269" y="56245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Le carton et une carte avec ta photo.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61203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932688" y="62849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AMARA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154269" y="62849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Et je signe ?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6780784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932688" y="6945376"/>
            <a:ext cx="1221581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KARIM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154269" y="6945376"/>
            <a:ext cx="8921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Oui. Tu signes, et tu prends ton colis.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Écrivez, signez, remplissez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chaque consigne avec le bon verbe.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la boîte sur la balance.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ce formulaire, s'il vous plaît.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votre nom dans la case.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en bas, à droite.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votre reçu à la maison.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le carton et une carte avec votre photo.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Écrivez, signez, remplissez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la boîte sur la balance.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Posez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ce formulaire, s'il vous plaît.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Remplissez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votre nom dans la case.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Écrivez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en bas, à droite.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Signez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votre reçu à la maison.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Gardez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___ le carton et une carte avec votre photo.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Apportez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ÉCRITURE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 nom, votre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Complétez avec mon, ma, mes, votre ou vos.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Voici ___ nom : Diallo.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J'habite dans ___ rue Bélanger.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 ___ adresse ici.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Apportez ___ papiers au comptoir.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cherche ___ colis.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Gardez ___ reçu.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Mon nom, votre nom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Voici ___ nom : Diallo.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J'habite dans ___ rue Bélanger.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ma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Écrivez ___ adresse ici.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votre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Apportez ___ papiers au comptoir.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Je cherche ___ colis.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Gardez ___ reçu.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votre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PRATIQUE · À DEUX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Je viens chercher mon colis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Deux par deux. L'un tient le comptoir, l'autre arrive avec le carton.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1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2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469892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61137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67537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625340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Étape 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J'envoie une lettre et un colis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trois consignes que le préposé pourrait vous dire.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Remplissez ce formulaire.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Signez en bas, à droite.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5429504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5584952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Gardez votre reçu.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C2 · J'envoie une lettre et un colis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