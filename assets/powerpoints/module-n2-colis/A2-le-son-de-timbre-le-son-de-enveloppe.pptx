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d'oreille avant tout. Parler peu, faire écouter beaucoup. Certains élèves n'entendront pas la différence au premier cours : c'est normal, elle vient avec la répétition.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Dire les paires plusieurs fois, lentement, sans expliquer. Laisser le groupe chercher. La règle vient après l'oreille, jamais avant.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poser la main sous le menton : pour le son de « enveloppe », la mâchoire descend. C'est le repère le plus sûr, et il ne demande aucun vocabulaire.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Une seule règle, et l'orthographe de quatre mots du module devient sûre. Faire chercher au groupe un cinquième mot avec m devant b ou 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Écrire les deux formes au tableau, la fausse barrée. Les élèves qui écrivent déjà en français font cette faute-là plus que toute autre.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Dire chaque mot trois fois, dans le désordre. Ne pas montrer l'écriture pendant l'écoute : c'est l'oreille qui travaille. Les huit mêmes mots sont dans le module en ligne, exercice `prSon`, avec un bouton d'écoute.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répéter les deux mots en chœur, lentement, puis à vitesse normale. Y revenir en début de chaque séance suivante, trente secondes.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Vingt minutes. Circuler et redire soi-même le mot quand les deux élèves hésitent : ils ont besoin d'un modèle, pas d'un arbitre.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Devoir d'oreille. Rappeler que la mini-leçon en ligne fait entendre chaque phrase autant de fois qu'on veut, et que le laboratoire y trie les deux sons tout seul.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SÉANCE A2  ·  MODULE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Le son de « timbre », le son de « enveloppe »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Deux sons qui passent par le nez. Ce qui les sépare, c'est la bouche : étirée pour l'un, grande ouverte pour l'autre.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J'envoie une lettre et un colis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J'envoie une lettre et un colis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1113536"/>
          </a:xfrm>
          <a:prstGeom prst="roundRect">
            <a:avLst>
              <a:gd name="adj" fmla="val 1313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21203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202688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747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entendre la différence entre le son de « timbre » et celui de « enveloppe »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006343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31841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3266439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32075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reconnaître les quatre façons d'écrire chaque son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892295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4070095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4152391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4093463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appliquer la règle du m devant b et p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7782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9560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50383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979415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dire « cinq » et « cent » sans les confondre.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J'envoie une lettre et un colis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Écoutez : cinq, cent. Est-ce le même son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3B4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Dites les deux nombres à voix haute.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3B4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que la bouche bouge de la même façon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3B4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Écoutez maintenant : timbre, enveloppe.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13860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3B4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50976" y="4396740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Où est la différence, à votre avis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J'envoie une lettre et un colis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Deux sons du nez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099816"/>
          </a:xfrm>
          <a:prstGeom prst="roundRect">
            <a:avLst>
              <a:gd name="adj" fmla="val 471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SON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ON L'ENTEND DANS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son de &lt;b&gt;timbre&lt;/b&gt;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cinq · vingt · demain · un chemin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son de &lt;b&gt;enveloppe&lt;/b&gt;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cent · trente · dedans · comment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64845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776472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bouche, pour le premier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776472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étirée, comme pour sourire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418795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31596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bouche, pour le second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31596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grande ouverte, la mâchoire descend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5148072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404104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Les deux passent par le nez. C'est la bouche qui décide lequel sort.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J'envoie une lettre et un colis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UN SON, QUATRE ÉCRITURES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Comment ça s'écrit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3576218" cy="4270248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2936138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3B49A0"/>
                </a:solidFill>
                <a:latin typeface="Verdana"/>
              </a:rPr>
              <a:t>Le son de « timbre 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859024"/>
            <a:ext cx="2936138" cy="29474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in · im · ain · ein — un chem&lt;b&gt;in&lt;/b&gt;, un t&lt;b&gt;im&lt;/b&gt;bre, dem&lt;b&gt;ain&lt;/b&gt;, pl&lt;b&gt;ein&lt;/b&gt;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07738" y="1810512"/>
            <a:ext cx="3576218" cy="4270248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627778" y="2084831"/>
            <a:ext cx="2936138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3B49A0"/>
                </a:solidFill>
                <a:latin typeface="Verdana"/>
              </a:rPr>
              <a:t>Le son de « enveloppe 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27778" y="2859024"/>
            <a:ext cx="2936138" cy="29474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an · am · en · em — ded&lt;b&gt;ans&lt;/b&gt;, une l&lt;b&gt;am&lt;/b&gt;pe, une &lt;b&gt;en&lt;/b&gt;veloppe, nov&lt;b&gt;em&lt;/b&gt;bre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8548" y="1810512"/>
            <a:ext cx="3576218" cy="4270248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368588" y="2084831"/>
            <a:ext cx="2936138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3B49A0"/>
                </a:solidFill>
                <a:latin typeface="Verdana"/>
              </a:rPr>
              <a:t>La règle du 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8588" y="2859024"/>
            <a:ext cx="2936138" cy="29474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Devant &lt;b&gt;b&lt;/b&gt; et &lt;b&gt;p&lt;/b&gt;, on écrit m et jamais n : t&lt;b&gt;im&lt;/b&gt;bre, l&lt;b&gt;am&lt;/b&gt;pe, nov&lt;b&gt;em&lt;/b&gt;bre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J'envoie une lettre et un colis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LE S ENTRE LE NEZ ET LA BOUCHE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441196"/>
          </a:xfrm>
          <a:prstGeom prst="roundRect">
            <a:avLst>
              <a:gd name="adj" fmla="val 10151"/>
            </a:avLst>
          </a:prstGeom>
          <a:solidFill>
            <a:srgbClr val="E8EA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618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Devant b et p, jamais n. On écrit 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940812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215132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C'est pour cela qu'on écrit un t&lt;b&gt;im&lt;/b&gt;bre et non « un tinbre », une l&lt;b&gt;am&lt;/b&gt;pe et non « une lanpe ». Le son ne change pas ; seule la lettre change.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J'envoie une lettre et un colis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ÉCOUTE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17181A"/>
                </a:solidFill>
                <a:latin typeface="Verdana"/>
              </a:rPr>
              <a:t>Le son de « timbre » ou celui de « enveloppe »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 chaque mot et écrivez quel son vous entendez.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5464911" cy="630936"/>
          </a:xfrm>
          <a:prstGeom prst="roundRect">
            <a:avLst>
              <a:gd name="adj" fmla="val 2318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722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362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4504791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timbre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9855" y="2139696"/>
            <a:ext cx="5464911" cy="630936"/>
          </a:xfrm>
          <a:prstGeom prst="roundRect">
            <a:avLst>
              <a:gd name="adj" fmla="val 2318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434175" y="22722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34175" y="23362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7095" y="2295144"/>
            <a:ext cx="4504791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une enveloppe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2898648"/>
            <a:ext cx="5464911" cy="630936"/>
          </a:xfrm>
          <a:prstGeom prst="roundRect">
            <a:avLst>
              <a:gd name="adj" fmla="val 2318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03123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09524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054096"/>
            <a:ext cx="4504791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cinq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9855" y="2898648"/>
            <a:ext cx="5464911" cy="630936"/>
          </a:xfrm>
          <a:prstGeom prst="roundRect">
            <a:avLst>
              <a:gd name="adj" fmla="val 2318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434175" y="303123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34175" y="309524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7095" y="3054096"/>
            <a:ext cx="4504791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cent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3657600"/>
            <a:ext cx="5464911" cy="630936"/>
          </a:xfrm>
          <a:prstGeom prst="roundRect">
            <a:avLst>
              <a:gd name="adj" fmla="val 2318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3790187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38541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3813048"/>
            <a:ext cx="4504791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demain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9855" y="3657600"/>
            <a:ext cx="5464911" cy="630936"/>
          </a:xfrm>
          <a:prstGeom prst="roundRect">
            <a:avLst>
              <a:gd name="adj" fmla="val 2318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6434175" y="3790187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34175" y="38541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37095" y="3813048"/>
            <a:ext cx="4504791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dedans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4416552"/>
            <a:ext cx="5464911" cy="630936"/>
          </a:xfrm>
          <a:prstGeom prst="roundRect">
            <a:avLst>
              <a:gd name="adj" fmla="val 2318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454914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461314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4572000"/>
            <a:ext cx="4504791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chemin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59855" y="4416552"/>
            <a:ext cx="5464911" cy="630936"/>
          </a:xfrm>
          <a:prstGeom prst="roundRect">
            <a:avLst>
              <a:gd name="adj" fmla="val 2318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6434175" y="454914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6434175" y="461314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37095" y="4572000"/>
            <a:ext cx="4504791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trente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J'envoie une lettre et un colis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17181A"/>
                </a:solidFill>
                <a:latin typeface="Verdana"/>
              </a:rPr>
              <a:t>Le son de « timbre » ou celui de « enveloppe »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5464911" cy="630936"/>
          </a:xfrm>
          <a:prstGeom prst="roundRect">
            <a:avLst>
              <a:gd name="adj" fmla="val 2318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722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362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4504791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timbre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le son de timbre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9855" y="2139696"/>
            <a:ext cx="5464911" cy="630936"/>
          </a:xfrm>
          <a:prstGeom prst="roundRect">
            <a:avLst>
              <a:gd name="adj" fmla="val 2318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434175" y="22722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34175" y="23362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7095" y="2295144"/>
            <a:ext cx="4504791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une enveloppe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le son de enveloppe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2898648"/>
            <a:ext cx="5464911" cy="630936"/>
          </a:xfrm>
          <a:prstGeom prst="roundRect">
            <a:avLst>
              <a:gd name="adj" fmla="val 2318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03123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09524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054096"/>
            <a:ext cx="4504791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cinq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le son de timbre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9855" y="2898648"/>
            <a:ext cx="5464911" cy="630936"/>
          </a:xfrm>
          <a:prstGeom prst="roundRect">
            <a:avLst>
              <a:gd name="adj" fmla="val 2318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434175" y="303123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34175" y="309524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7095" y="3054096"/>
            <a:ext cx="4504791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cent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le son de enveloppe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3657600"/>
            <a:ext cx="5464911" cy="630936"/>
          </a:xfrm>
          <a:prstGeom prst="roundRect">
            <a:avLst>
              <a:gd name="adj" fmla="val 2318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3790187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38541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3813048"/>
            <a:ext cx="4504791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demain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le son de timbre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9855" y="3657600"/>
            <a:ext cx="5464911" cy="630936"/>
          </a:xfrm>
          <a:prstGeom prst="roundRect">
            <a:avLst>
              <a:gd name="adj" fmla="val 2318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6434175" y="3790187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34175" y="38541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37095" y="3813048"/>
            <a:ext cx="4504791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dedans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le son de enveloppe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4416552"/>
            <a:ext cx="5464911" cy="630936"/>
          </a:xfrm>
          <a:prstGeom prst="roundRect">
            <a:avLst>
              <a:gd name="adj" fmla="val 2318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454914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461314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4572000"/>
            <a:ext cx="4504791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chemin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le son de timbre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59855" y="4416552"/>
            <a:ext cx="5464911" cy="630936"/>
          </a:xfrm>
          <a:prstGeom prst="roundRect">
            <a:avLst>
              <a:gd name="adj" fmla="val 2318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6434175" y="454914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6434175" y="461314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37095" y="4572000"/>
            <a:ext cx="4504791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trente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le son de enveloppe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J'envoie une lettre et un colis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LE PIÈGE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un tambre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un timbre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518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 mot le plus employé du module est aussi celui qui se déforme le plus. Dites-le en souriant : la bouche étirée donne le bon son toute seule. Même chose pour « une enveloppe », qu'on entend souvent « une inveloppe » : là, il faut au contraire ouvrir grand.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J'envoie une lettre et un colis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PRATIQUE · À DEUX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tri des deux sons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Deux par deux, chacun son tour.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Étape 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Étape 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Étape 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Étape 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J'envoie une lettre et un colis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Dites ces trois phrases à voix haute, trois fois chacune.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 timbre, s'il vous plaît.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Cinq enveloppes, s'il vous plaît.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5429504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5584952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Le colis arrive demain.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J'envoie une lettre et un colis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