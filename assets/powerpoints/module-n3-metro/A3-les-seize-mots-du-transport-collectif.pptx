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Séance de vocabulaire. Elle vient après la phonétique pour que les mots nouveaux soient dits correctement dès la première fois. Ouvrir en demandant quels mots du transport chacun connaît déjà, et les écrire au tableau sans corriger.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les objectifs à voix haute. Y revenir au billet de sortie.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dire chaque mot avec son article. « Le tourniquet » est celui que personne ne connaît et que tout le monde utilise deux fois par jour.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Hebdomadaire » est un mot long : le faire répéter en quatre morceaux. Au comptoir, on dit presque toujours « l'hebdo », et il faut le savoir.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Valider » est le mot dont l'oubli coûte une amende : insister. La correspondance surprend toujours — beaucoup d'élèves paient deux fois sans le savoir.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 quatre mots sont ceux du bloc D. Les poser ici sans les développer : ils seront repris devant la grille elle-même.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Ce sont les verbes que le programme rattache à cette situation. Faire conjuguer « je me déplace, tu te déplaces » à l'oral, rapidement, sans tableau de conjugaison.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C'est l'exercice de vocabulaire du module, sous forme orale. Enchaîner avec l'activité interactive, où les seize mots se travaillent six à la fois par glisser-déposer.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Prépare l'exercice 3 de l'activité, qui fait glisser des photos sur ces mêmes phrases. Si le groupe a une station à proximité, la visiter : quinze minutes sur place valent une heure de diapositives.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Devoir court. Les mots qui reviennent le plus souvent dans les billets sont à reprendre en début de séance A4.</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SÉANCE A3  ·  MODULE 6</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Les seize mots du transport collectif</a:t>
            </a:r>
          </a:p>
        </p:txBody>
      </p:sp>
      <p:sp>
        <p:nvSpPr>
          <p:cNvPr id="5" name="Rounded Rectangle 4"/>
          <p:cNvSpPr/>
          <p:nvPr/>
        </p:nvSpPr>
        <p:spPr>
          <a:xfrm>
            <a:off x="566928" y="3794760"/>
            <a:ext cx="9960559" cy="1394968"/>
          </a:xfrm>
          <a:prstGeom prst="roundRect">
            <a:avLst>
              <a:gd name="adj" fmla="val 1048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7823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Quatre familles de mots : la station, les titres, l'achat, la grille. Seize mots qui reviennent dans les seize séances.</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Le bon titre de transport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Le bon titre de transport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1113536"/>
          </a:xfrm>
          <a:prstGeom prst="roundRect">
            <a:avLst>
              <a:gd name="adj" fmla="val 1313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2120392"/>
            <a:ext cx="402336" cy="402336"/>
          </a:xfrm>
          <a:prstGeom prst="roundRect">
            <a:avLst>
              <a:gd name="adj" fmla="val 31818"/>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202688"/>
            <a:ext cx="402336" cy="274320"/>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1</a:t>
            </a:r>
          </a:p>
        </p:txBody>
      </p:sp>
      <p:sp>
        <p:nvSpPr>
          <p:cNvPr id="10" name="TextBox 9"/>
          <p:cNvSpPr txBox="1"/>
          <p:nvPr/>
        </p:nvSpPr>
        <p:spPr>
          <a:xfrm>
            <a:off x="1408176" y="1965960"/>
            <a:ext cx="9549079" cy="7477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nommer ce qu'on trouve dans une station : le point de service, la borne, le tourniquet ;</a:t>
            </a:r>
          </a:p>
        </p:txBody>
      </p:sp>
      <p:sp>
        <p:nvSpPr>
          <p:cNvPr id="11" name="Rounded Rectangle 10"/>
          <p:cNvSpPr/>
          <p:nvPr/>
        </p:nvSpPr>
        <p:spPr>
          <a:xfrm>
            <a:off x="566928" y="3006343"/>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3184144"/>
            <a:ext cx="402336" cy="402336"/>
          </a:xfrm>
          <a:prstGeom prst="roundRect">
            <a:avLst>
              <a:gd name="adj" fmla="val 31818"/>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3266439"/>
            <a:ext cx="402336" cy="274320"/>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2</a:t>
            </a:r>
          </a:p>
        </p:txBody>
      </p:sp>
      <p:sp>
        <p:nvSpPr>
          <p:cNvPr id="14" name="TextBox 13"/>
          <p:cNvSpPr txBox="1"/>
          <p:nvPr/>
        </p:nvSpPr>
        <p:spPr>
          <a:xfrm>
            <a:off x="1408176" y="32075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nommer les titres : le passage, l'hebdomadaire, le mensuel ;</a:t>
            </a:r>
          </a:p>
        </p:txBody>
      </p:sp>
      <p:sp>
        <p:nvSpPr>
          <p:cNvPr id="15" name="Rounded Rectangle 14"/>
          <p:cNvSpPr/>
          <p:nvPr/>
        </p:nvSpPr>
        <p:spPr>
          <a:xfrm>
            <a:off x="566928" y="3892295"/>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4070095"/>
            <a:ext cx="402336" cy="402336"/>
          </a:xfrm>
          <a:prstGeom prst="roundRect">
            <a:avLst>
              <a:gd name="adj" fmla="val 31818"/>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4152391"/>
            <a:ext cx="402336" cy="274320"/>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3</a:t>
            </a:r>
          </a:p>
        </p:txBody>
      </p:sp>
      <p:sp>
        <p:nvSpPr>
          <p:cNvPr id="18" name="TextBox 17"/>
          <p:cNvSpPr txBox="1"/>
          <p:nvPr/>
        </p:nvSpPr>
        <p:spPr>
          <a:xfrm>
            <a:off x="1408176" y="4093463"/>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nommer les gestes de l'achat : recharger, valider, payer comptant ;</a:t>
            </a:r>
          </a:p>
        </p:txBody>
      </p:sp>
      <p:sp>
        <p:nvSpPr>
          <p:cNvPr id="19" name="Rounded Rectangle 18"/>
          <p:cNvSpPr/>
          <p:nvPr/>
        </p:nvSpPr>
        <p:spPr>
          <a:xfrm>
            <a:off x="566928" y="4778248"/>
            <a:ext cx="11057839" cy="1113536"/>
          </a:xfrm>
          <a:prstGeom prst="roundRect">
            <a:avLst>
              <a:gd name="adj" fmla="val 1313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5133848"/>
            <a:ext cx="402336" cy="402336"/>
          </a:xfrm>
          <a:prstGeom prst="roundRect">
            <a:avLst>
              <a:gd name="adj" fmla="val 31818"/>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5216144"/>
            <a:ext cx="402336" cy="274320"/>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4</a:t>
            </a:r>
          </a:p>
        </p:txBody>
      </p:sp>
      <p:sp>
        <p:nvSpPr>
          <p:cNvPr id="22" name="TextBox 21"/>
          <p:cNvSpPr txBox="1"/>
          <p:nvPr/>
        </p:nvSpPr>
        <p:spPr>
          <a:xfrm>
            <a:off x="1408176" y="4979415"/>
            <a:ext cx="9549079" cy="7477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nommer ce que dit la grille : la zone, la catégorie d'âge, la place réservée.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Le bon titre de transport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VOCABULAIRE · 1 DE 4</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Dans la station</a:t>
            </a:r>
          </a:p>
        </p:txBody>
      </p:sp>
      <p:sp>
        <p:nvSpPr>
          <p:cNvPr id="7" name="Rounded Rectangle 6"/>
          <p:cNvSpPr/>
          <p:nvPr/>
        </p:nvSpPr>
        <p:spPr>
          <a:xfrm>
            <a:off x="566928" y="1810512"/>
            <a:ext cx="11057839" cy="4270248"/>
          </a:xfrm>
          <a:prstGeom prst="roundRect">
            <a:avLst>
              <a:gd name="adj" fmla="val 34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21408"/>
            <a:ext cx="2668047" cy="765809"/>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une carte OPUS</a:t>
            </a:r>
          </a:p>
        </p:txBody>
      </p:sp>
      <p:sp>
        <p:nvSpPr>
          <p:cNvPr id="9" name="TextBox 8"/>
          <p:cNvSpPr txBox="1"/>
          <p:nvPr/>
        </p:nvSpPr>
        <p:spPr>
          <a:xfrm>
            <a:off x="3875055" y="2121408"/>
            <a:ext cx="7383951" cy="765809"/>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la carte de plastique bleue et blanche, gardée des années</a:t>
            </a:r>
          </a:p>
        </p:txBody>
      </p:sp>
      <p:sp>
        <p:nvSpPr>
          <p:cNvPr id="10" name="Rectangle 9"/>
          <p:cNvSpPr/>
          <p:nvPr/>
        </p:nvSpPr>
        <p:spPr>
          <a:xfrm>
            <a:off x="932688" y="296037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3106674"/>
            <a:ext cx="2668047" cy="765809"/>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le point de service</a:t>
            </a:r>
          </a:p>
        </p:txBody>
      </p:sp>
      <p:sp>
        <p:nvSpPr>
          <p:cNvPr id="12" name="TextBox 11"/>
          <p:cNvSpPr txBox="1"/>
          <p:nvPr/>
        </p:nvSpPr>
        <p:spPr>
          <a:xfrm>
            <a:off x="3875055" y="3106674"/>
            <a:ext cx="7383951" cy="765809"/>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le comptoir de la station, avec une personne derrière</a:t>
            </a:r>
          </a:p>
        </p:txBody>
      </p:sp>
      <p:sp>
        <p:nvSpPr>
          <p:cNvPr id="13" name="Rectangle 12"/>
          <p:cNvSpPr/>
          <p:nvPr/>
        </p:nvSpPr>
        <p:spPr>
          <a:xfrm>
            <a:off x="932688" y="3945635"/>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4091939"/>
            <a:ext cx="2668047" cy="765809"/>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le tourniquet</a:t>
            </a:r>
          </a:p>
        </p:txBody>
      </p:sp>
      <p:sp>
        <p:nvSpPr>
          <p:cNvPr id="15" name="TextBox 14"/>
          <p:cNvSpPr txBox="1"/>
          <p:nvPr/>
        </p:nvSpPr>
        <p:spPr>
          <a:xfrm>
            <a:off x="3875055" y="4091939"/>
            <a:ext cx="7383951" cy="765809"/>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la barrière qui s'ouvre quand le titre est bon</a:t>
            </a:r>
          </a:p>
        </p:txBody>
      </p:sp>
      <p:sp>
        <p:nvSpPr>
          <p:cNvPr id="16" name="Rectangle 15"/>
          <p:cNvSpPr/>
          <p:nvPr/>
        </p:nvSpPr>
        <p:spPr>
          <a:xfrm>
            <a:off x="932688" y="4930901"/>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32688" y="5077205"/>
            <a:ext cx="2668047" cy="765809"/>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 passage</a:t>
            </a:r>
          </a:p>
        </p:txBody>
      </p:sp>
      <p:sp>
        <p:nvSpPr>
          <p:cNvPr id="18" name="TextBox 17"/>
          <p:cNvSpPr txBox="1"/>
          <p:nvPr/>
        </p:nvSpPr>
        <p:spPr>
          <a:xfrm>
            <a:off x="3875055" y="5077205"/>
            <a:ext cx="7383951" cy="765809"/>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un seul voyage, d'un point à un autre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Le bon titre de transport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VOCABULAIRE · 2 DE 4</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Les titres et les tarifs</a:t>
            </a:r>
          </a:p>
        </p:txBody>
      </p:sp>
      <p:sp>
        <p:nvSpPr>
          <p:cNvPr id="7" name="Rounded Rectangle 6"/>
          <p:cNvSpPr/>
          <p:nvPr/>
        </p:nvSpPr>
        <p:spPr>
          <a:xfrm>
            <a:off x="566928" y="1810512"/>
            <a:ext cx="11057839" cy="4270248"/>
          </a:xfrm>
          <a:prstGeom prst="roundRect">
            <a:avLst>
              <a:gd name="adj" fmla="val 34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21408"/>
            <a:ext cx="3233166" cy="765809"/>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 titre de transport</a:t>
            </a:r>
          </a:p>
        </p:txBody>
      </p:sp>
      <p:sp>
        <p:nvSpPr>
          <p:cNvPr id="9" name="TextBox 8"/>
          <p:cNvSpPr txBox="1"/>
          <p:nvPr/>
        </p:nvSpPr>
        <p:spPr>
          <a:xfrm>
            <a:off x="4440174" y="2121408"/>
            <a:ext cx="6818833" cy="765809"/>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ce qu'on achète et qu'on met sur la carte</a:t>
            </a:r>
          </a:p>
        </p:txBody>
      </p:sp>
      <p:sp>
        <p:nvSpPr>
          <p:cNvPr id="10" name="Rectangle 9"/>
          <p:cNvSpPr/>
          <p:nvPr/>
        </p:nvSpPr>
        <p:spPr>
          <a:xfrm>
            <a:off x="932688" y="296037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3106674"/>
            <a:ext cx="3233166" cy="765809"/>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 titre mensuel</a:t>
            </a:r>
          </a:p>
        </p:txBody>
      </p:sp>
      <p:sp>
        <p:nvSpPr>
          <p:cNvPr id="12" name="TextBox 11"/>
          <p:cNvSpPr txBox="1"/>
          <p:nvPr/>
        </p:nvSpPr>
        <p:spPr>
          <a:xfrm>
            <a:off x="4440174" y="3106674"/>
            <a:ext cx="6818833" cy="765809"/>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bon pour tout un mois, autant de fois qu'on veut</a:t>
            </a:r>
          </a:p>
        </p:txBody>
      </p:sp>
      <p:sp>
        <p:nvSpPr>
          <p:cNvPr id="13" name="Rectangle 12"/>
          <p:cNvSpPr/>
          <p:nvPr/>
        </p:nvSpPr>
        <p:spPr>
          <a:xfrm>
            <a:off x="932688" y="3945635"/>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4091939"/>
            <a:ext cx="3233166" cy="765809"/>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 titre hebdomadaire</a:t>
            </a:r>
          </a:p>
        </p:txBody>
      </p:sp>
      <p:sp>
        <p:nvSpPr>
          <p:cNvPr id="15" name="TextBox 14"/>
          <p:cNvSpPr txBox="1"/>
          <p:nvPr/>
        </p:nvSpPr>
        <p:spPr>
          <a:xfrm>
            <a:off x="4440174" y="4091939"/>
            <a:ext cx="6818833" cy="765809"/>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bon pour une semaine, du lundi au dimanche</a:t>
            </a:r>
          </a:p>
        </p:txBody>
      </p:sp>
      <p:sp>
        <p:nvSpPr>
          <p:cNvPr id="16" name="Rectangle 15"/>
          <p:cNvSpPr/>
          <p:nvPr/>
        </p:nvSpPr>
        <p:spPr>
          <a:xfrm>
            <a:off x="932688" y="4930901"/>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32688" y="5077205"/>
            <a:ext cx="3233166" cy="765809"/>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le tarif réduit</a:t>
            </a:r>
          </a:p>
        </p:txBody>
      </p:sp>
      <p:sp>
        <p:nvSpPr>
          <p:cNvPr id="18" name="TextBox 17"/>
          <p:cNvSpPr txBox="1"/>
          <p:nvPr/>
        </p:nvSpPr>
        <p:spPr>
          <a:xfrm>
            <a:off x="4440174" y="5077205"/>
            <a:ext cx="6818833" cy="765809"/>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le prix plus bas pour les jeunes, les étudiants et les aînés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Le bon titre de transport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VOCABULAIRE · 3 DE 4</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Acheter et se déplacer</a:t>
            </a:r>
          </a:p>
        </p:txBody>
      </p:sp>
      <p:sp>
        <p:nvSpPr>
          <p:cNvPr id="7" name="Rounded Rectangle 6"/>
          <p:cNvSpPr/>
          <p:nvPr/>
        </p:nvSpPr>
        <p:spPr>
          <a:xfrm>
            <a:off x="566928" y="1810512"/>
            <a:ext cx="11057839" cy="4270248"/>
          </a:xfrm>
          <a:prstGeom prst="roundRect">
            <a:avLst>
              <a:gd name="adj" fmla="val 34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21408"/>
            <a:ext cx="2936843" cy="765809"/>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recharger sa carte</a:t>
            </a:r>
          </a:p>
        </p:txBody>
      </p:sp>
      <p:sp>
        <p:nvSpPr>
          <p:cNvPr id="9" name="TextBox 8"/>
          <p:cNvSpPr txBox="1"/>
          <p:nvPr/>
        </p:nvSpPr>
        <p:spPr>
          <a:xfrm>
            <a:off x="4143851" y="2121408"/>
            <a:ext cx="7115155" cy="765809"/>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mettre un nouveau titre sur une carte qu'on a déjà</a:t>
            </a:r>
          </a:p>
        </p:txBody>
      </p:sp>
      <p:sp>
        <p:nvSpPr>
          <p:cNvPr id="10" name="Rectangle 9"/>
          <p:cNvSpPr/>
          <p:nvPr/>
        </p:nvSpPr>
        <p:spPr>
          <a:xfrm>
            <a:off x="932688" y="296037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3106674"/>
            <a:ext cx="2936843" cy="765809"/>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valider son titre</a:t>
            </a:r>
          </a:p>
        </p:txBody>
      </p:sp>
      <p:sp>
        <p:nvSpPr>
          <p:cNvPr id="12" name="TextBox 11"/>
          <p:cNvSpPr txBox="1"/>
          <p:nvPr/>
        </p:nvSpPr>
        <p:spPr>
          <a:xfrm>
            <a:off x="4143851" y="3106674"/>
            <a:ext cx="7115155" cy="765809"/>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passer sa carte sur l'appareil pour que le voyage compte</a:t>
            </a:r>
          </a:p>
        </p:txBody>
      </p:sp>
      <p:sp>
        <p:nvSpPr>
          <p:cNvPr id="13" name="Rectangle 12"/>
          <p:cNvSpPr/>
          <p:nvPr/>
        </p:nvSpPr>
        <p:spPr>
          <a:xfrm>
            <a:off x="932688" y="3945635"/>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4091939"/>
            <a:ext cx="2936843" cy="765809"/>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payer comptant</a:t>
            </a:r>
          </a:p>
        </p:txBody>
      </p:sp>
      <p:sp>
        <p:nvSpPr>
          <p:cNvPr id="15" name="TextBox 14"/>
          <p:cNvSpPr txBox="1"/>
          <p:nvPr/>
        </p:nvSpPr>
        <p:spPr>
          <a:xfrm>
            <a:off x="4143851" y="4091939"/>
            <a:ext cx="7115155" cy="765809"/>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payer avec de l'argent en papier et en pièces</a:t>
            </a:r>
          </a:p>
        </p:txBody>
      </p:sp>
      <p:sp>
        <p:nvSpPr>
          <p:cNvPr id="16" name="Rectangle 15"/>
          <p:cNvSpPr/>
          <p:nvPr/>
        </p:nvSpPr>
        <p:spPr>
          <a:xfrm>
            <a:off x="932688" y="4930901"/>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32688" y="5077205"/>
            <a:ext cx="2936843" cy="765809"/>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une correspondance</a:t>
            </a:r>
          </a:p>
        </p:txBody>
      </p:sp>
      <p:sp>
        <p:nvSpPr>
          <p:cNvPr id="18" name="TextBox 17"/>
          <p:cNvSpPr txBox="1"/>
          <p:nvPr/>
        </p:nvSpPr>
        <p:spPr>
          <a:xfrm>
            <a:off x="4143851" y="5077205"/>
            <a:ext cx="7115155" cy="765809"/>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le droit de changer de véhicule sans payer une deuxième fois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Le bon titre de transport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VOCABULAIRE · 4 DE 4</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Ce que dit la grille</a:t>
            </a:r>
          </a:p>
        </p:txBody>
      </p:sp>
      <p:sp>
        <p:nvSpPr>
          <p:cNvPr id="7" name="Rounded Rectangle 6"/>
          <p:cNvSpPr/>
          <p:nvPr/>
        </p:nvSpPr>
        <p:spPr>
          <a:xfrm>
            <a:off x="566928" y="1810512"/>
            <a:ext cx="11057839" cy="4270248"/>
          </a:xfrm>
          <a:prstGeom prst="roundRect">
            <a:avLst>
              <a:gd name="adj" fmla="val 34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21408"/>
            <a:ext cx="2867215" cy="765809"/>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une zone tarifaire</a:t>
            </a:r>
          </a:p>
        </p:txBody>
      </p:sp>
      <p:sp>
        <p:nvSpPr>
          <p:cNvPr id="9" name="TextBox 8"/>
          <p:cNvSpPr txBox="1"/>
          <p:nvPr/>
        </p:nvSpPr>
        <p:spPr>
          <a:xfrm>
            <a:off x="4074223" y="2121408"/>
            <a:ext cx="7184783" cy="765809"/>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une partie du territoire qui a ses propres prix</a:t>
            </a:r>
          </a:p>
        </p:txBody>
      </p:sp>
      <p:sp>
        <p:nvSpPr>
          <p:cNvPr id="10" name="Rectangle 9"/>
          <p:cNvSpPr/>
          <p:nvPr/>
        </p:nvSpPr>
        <p:spPr>
          <a:xfrm>
            <a:off x="932688" y="296037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3106674"/>
            <a:ext cx="2867215" cy="765809"/>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une catégorie d'âge</a:t>
            </a:r>
          </a:p>
        </p:txBody>
      </p:sp>
      <p:sp>
        <p:nvSpPr>
          <p:cNvPr id="12" name="TextBox 11"/>
          <p:cNvSpPr txBox="1"/>
          <p:nvPr/>
        </p:nvSpPr>
        <p:spPr>
          <a:xfrm>
            <a:off x="4074223" y="3106674"/>
            <a:ext cx="7184783" cy="765809"/>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un groupe de personnes qui paient le même prix</a:t>
            </a:r>
          </a:p>
        </p:txBody>
      </p:sp>
      <p:sp>
        <p:nvSpPr>
          <p:cNvPr id="13" name="Rectangle 12"/>
          <p:cNvSpPr/>
          <p:nvPr/>
        </p:nvSpPr>
        <p:spPr>
          <a:xfrm>
            <a:off x="932688" y="3945635"/>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4091939"/>
            <a:ext cx="2867215" cy="765809"/>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une place réservée</a:t>
            </a:r>
          </a:p>
        </p:txBody>
      </p:sp>
      <p:sp>
        <p:nvSpPr>
          <p:cNvPr id="15" name="TextBox 14"/>
          <p:cNvSpPr txBox="1"/>
          <p:nvPr/>
        </p:nvSpPr>
        <p:spPr>
          <a:xfrm>
            <a:off x="4074223" y="4091939"/>
            <a:ext cx="7184783" cy="765809"/>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un siège gardé pour les personnes qui en ont le plus besoin</a:t>
            </a:r>
          </a:p>
        </p:txBody>
      </p:sp>
      <p:sp>
        <p:nvSpPr>
          <p:cNvPr id="16" name="Rectangle 15"/>
          <p:cNvSpPr/>
          <p:nvPr/>
        </p:nvSpPr>
        <p:spPr>
          <a:xfrm>
            <a:off x="932688" y="4930901"/>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32688" y="5077205"/>
            <a:ext cx="2867215" cy="765809"/>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le transport adapté</a:t>
            </a:r>
          </a:p>
        </p:txBody>
      </p:sp>
      <p:sp>
        <p:nvSpPr>
          <p:cNvPr id="18" name="TextBox 17"/>
          <p:cNvSpPr txBox="1"/>
          <p:nvPr/>
        </p:nvSpPr>
        <p:spPr>
          <a:xfrm>
            <a:off x="4074223" y="5077205"/>
            <a:ext cx="7184783" cy="765809"/>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le service pour les personnes qui ne peuvent pas prendre l'autobus ordinaire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Le bon titre de transport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Trois verbes du programme</a:t>
            </a:r>
          </a:p>
        </p:txBody>
      </p:sp>
      <p:sp>
        <p:nvSpPr>
          <p:cNvPr id="7" name="Rounded Rectangle 6"/>
          <p:cNvSpPr/>
          <p:nvPr/>
        </p:nvSpPr>
        <p:spPr>
          <a:xfrm>
            <a:off x="566928" y="1810512"/>
            <a:ext cx="11057839" cy="2798064"/>
          </a:xfrm>
          <a:prstGeom prst="roundRect">
            <a:avLst>
              <a:gd name="adj" fmla="val 522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LE VERBE</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QU'IL VEUT DIRE</a:t>
            </a:r>
          </a:p>
        </p:txBody>
      </p:sp>
      <p:sp>
        <p:nvSpPr>
          <p:cNvPr id="10" name="TextBox 9"/>
          <p:cNvSpPr txBox="1"/>
          <p:nvPr/>
        </p:nvSpPr>
        <p:spPr>
          <a:xfrm>
            <a:off x="932688" y="2395728"/>
            <a:ext cx="3291492" cy="338328"/>
          </a:xfrm>
          <a:prstGeom prst="rect">
            <a:avLst/>
          </a:prstGeom>
          <a:noFill/>
        </p:spPr>
        <p:txBody>
          <a:bodyPr wrap="square" lIns="0" rIns="0" tIns="0" bIns="0" anchor="t">
            <a:spAutoFit/>
          </a:bodyPr>
          <a:lstStyle/>
          <a:p>
            <a:pPr algn="l">
              <a:lnSpc>
                <a:spcPct val="132000"/>
              </a:lnSpc>
            </a:pPr>
            <a:r>
              <a:rPr sz="1800" b="1" i="0">
                <a:solidFill>
                  <a:srgbClr val="A5335F"/>
                </a:solidFill>
                <a:latin typeface="Verdana"/>
              </a:rPr>
              <a:t>se déplacer</a:t>
            </a:r>
          </a:p>
        </p:txBody>
      </p:sp>
      <p:sp>
        <p:nvSpPr>
          <p:cNvPr id="11" name="TextBox 10"/>
          <p:cNvSpPr txBox="1"/>
          <p:nvPr/>
        </p:nvSpPr>
        <p:spPr>
          <a:xfrm>
            <a:off x="4443636" y="2395728"/>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aller d'un endroit à un autre</a:t>
            </a:r>
          </a:p>
        </p:txBody>
      </p:sp>
      <p:sp>
        <p:nvSpPr>
          <p:cNvPr id="12" name="Rectangle 11"/>
          <p:cNvSpPr/>
          <p:nvPr/>
        </p:nvSpPr>
        <p:spPr>
          <a:xfrm>
            <a:off x="932688" y="2807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35224"/>
            <a:ext cx="3291492" cy="338328"/>
          </a:xfrm>
          <a:prstGeom prst="rect">
            <a:avLst/>
          </a:prstGeom>
          <a:noFill/>
        </p:spPr>
        <p:txBody>
          <a:bodyPr wrap="square" lIns="0" rIns="0" tIns="0" bIns="0" anchor="t">
            <a:spAutoFit/>
          </a:bodyPr>
          <a:lstStyle/>
          <a:p>
            <a:pPr algn="l">
              <a:lnSpc>
                <a:spcPct val="132000"/>
              </a:lnSpc>
            </a:pPr>
            <a:r>
              <a:rPr sz="1800" b="1" i="0">
                <a:solidFill>
                  <a:srgbClr val="A5335F"/>
                </a:solidFill>
                <a:latin typeface="Verdana"/>
              </a:rPr>
              <a:t>se repérer</a:t>
            </a:r>
          </a:p>
        </p:txBody>
      </p:sp>
      <p:sp>
        <p:nvSpPr>
          <p:cNvPr id="14" name="TextBox 13"/>
          <p:cNvSpPr txBox="1"/>
          <p:nvPr/>
        </p:nvSpPr>
        <p:spPr>
          <a:xfrm>
            <a:off x="4443636" y="2935224"/>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savoir où on est</a:t>
            </a:r>
          </a:p>
        </p:txBody>
      </p:sp>
      <p:sp>
        <p:nvSpPr>
          <p:cNvPr id="15" name="Rectangle 14"/>
          <p:cNvSpPr/>
          <p:nvPr/>
        </p:nvSpPr>
        <p:spPr>
          <a:xfrm>
            <a:off x="932688" y="33467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474720"/>
            <a:ext cx="3291492" cy="338328"/>
          </a:xfrm>
          <a:prstGeom prst="rect">
            <a:avLst/>
          </a:prstGeom>
          <a:noFill/>
        </p:spPr>
        <p:txBody>
          <a:bodyPr wrap="square" lIns="0" rIns="0" tIns="0" bIns="0" anchor="t">
            <a:spAutoFit/>
          </a:bodyPr>
          <a:lstStyle/>
          <a:p>
            <a:pPr algn="l">
              <a:lnSpc>
                <a:spcPct val="132000"/>
              </a:lnSpc>
            </a:pPr>
            <a:r>
              <a:rPr sz="1800" b="1" i="0">
                <a:solidFill>
                  <a:srgbClr val="A5335F"/>
                </a:solidFill>
                <a:latin typeface="Verdana"/>
              </a:rPr>
              <a:t>se renseigner</a:t>
            </a:r>
          </a:p>
        </p:txBody>
      </p:sp>
      <p:sp>
        <p:nvSpPr>
          <p:cNvPr id="17" name="TextBox 16"/>
          <p:cNvSpPr txBox="1"/>
          <p:nvPr/>
        </p:nvSpPr>
        <p:spPr>
          <a:xfrm>
            <a:off x="4443636" y="3474720"/>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aller chercher l'information, demander</a:t>
            </a:r>
          </a:p>
        </p:txBody>
      </p:sp>
      <p:sp>
        <p:nvSpPr>
          <p:cNvPr id="18" name="Rectangle 17"/>
          <p:cNvSpPr/>
          <p:nvPr/>
        </p:nvSpPr>
        <p:spPr>
          <a:xfrm>
            <a:off x="932688" y="388620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014215"/>
            <a:ext cx="3291492" cy="338328"/>
          </a:xfrm>
          <a:prstGeom prst="rect">
            <a:avLst/>
          </a:prstGeom>
          <a:noFill/>
        </p:spPr>
        <p:txBody>
          <a:bodyPr wrap="square" lIns="0" rIns="0" tIns="0" bIns="0" anchor="t">
            <a:spAutoFit/>
          </a:bodyPr>
          <a:lstStyle/>
          <a:p>
            <a:pPr algn="l">
              <a:lnSpc>
                <a:spcPct val="132000"/>
              </a:lnSpc>
            </a:pPr>
            <a:r>
              <a:rPr sz="1800" b="1" i="0">
                <a:solidFill>
                  <a:srgbClr val="A5335F"/>
                </a:solidFill>
                <a:latin typeface="Verdana"/>
              </a:rPr>
              <a:t>se perdre</a:t>
            </a:r>
          </a:p>
        </p:txBody>
      </p:sp>
      <p:sp>
        <p:nvSpPr>
          <p:cNvPr id="20" name="TextBox 19"/>
          <p:cNvSpPr txBox="1"/>
          <p:nvPr/>
        </p:nvSpPr>
        <p:spPr>
          <a:xfrm>
            <a:off x="4443636" y="4014215"/>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ne plus savoir où on est — ce qu'on veut éviter</a:t>
            </a:r>
          </a:p>
        </p:txBody>
      </p:sp>
      <p:sp>
        <p:nvSpPr>
          <p:cNvPr id="21" name="Rounded Rectangle 20"/>
          <p:cNvSpPr/>
          <p:nvPr/>
        </p:nvSpPr>
        <p:spPr>
          <a:xfrm>
            <a:off x="566928" y="4846320"/>
            <a:ext cx="11057839" cy="843534"/>
          </a:xfrm>
          <a:prstGeom prst="roundRect">
            <a:avLst>
              <a:gd name="adj" fmla="val 17344"/>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69264" y="5102352"/>
            <a:ext cx="10234879" cy="386334"/>
          </a:xfrm>
          <a:prstGeom prst="rect">
            <a:avLst/>
          </a:prstGeom>
          <a:noFill/>
        </p:spPr>
        <p:txBody>
          <a:bodyPr wrap="square" lIns="0" rIns="0" tIns="0" bIns="0" anchor="t">
            <a:spAutoFit/>
          </a:bodyPr>
          <a:lstStyle/>
          <a:p>
            <a:pPr algn="l">
              <a:lnSpc>
                <a:spcPct val="145000"/>
              </a:lnSpc>
            </a:pPr>
            <a:r>
              <a:rPr sz="1800" b="0" i="0">
                <a:solidFill>
                  <a:srgbClr val="4B4F52"/>
                </a:solidFill>
                <a:latin typeface="Verdana"/>
              </a:rPr>
              <a:t>Les quatre se disent avec « se » : je me déplace, je me repère.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Le bon titre de transport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VOCABULAIRE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mot et sa définition</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Dites de quel mot il s'agit.</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carte de plastique bleue et blanche.</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barrière de la station qui s'ouvre.</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comptoir où on vend les titres.</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Mettre un nouveau titre sur sa carte.</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Passer sa carte sur l'appareil en montant.</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prix plus bas pour les aînés.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Le bon titre de transport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mot et sa définition</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carte de plastique bleue et blanche.   </a:t>
            </a:r>
            <a:r>
              <a:rPr sz="1400" b="1" i="0">
                <a:solidFill>
                  <a:srgbClr val="07734A"/>
                </a:solidFill>
                <a:latin typeface="Verdana"/>
              </a:rPr>
              <a:t>» une carte OPUS</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barrière de la station qui s'ouvre.   </a:t>
            </a:r>
            <a:r>
              <a:rPr sz="1400" b="1" i="0">
                <a:solidFill>
                  <a:srgbClr val="07734A"/>
                </a:solidFill>
                <a:latin typeface="Verdana"/>
              </a:rPr>
              <a:t>» le tourniquet</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comptoir où on vend les titres.   </a:t>
            </a:r>
            <a:r>
              <a:rPr sz="1400" b="1" i="0">
                <a:solidFill>
                  <a:srgbClr val="07734A"/>
                </a:solidFill>
                <a:latin typeface="Verdana"/>
              </a:rPr>
              <a:t>» le point de service</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Mettre un nouveau titre sur sa carte.   </a:t>
            </a:r>
            <a:r>
              <a:rPr sz="1400" b="1" i="0">
                <a:solidFill>
                  <a:srgbClr val="07734A"/>
                </a:solidFill>
                <a:latin typeface="Verdana"/>
              </a:rPr>
              <a:t>» recharger sa carte</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Passer sa carte sur l'appareil en montant.   </a:t>
            </a:r>
            <a:r>
              <a:rPr sz="1400" b="1" i="0">
                <a:solidFill>
                  <a:srgbClr val="07734A"/>
                </a:solidFill>
                <a:latin typeface="Verdana"/>
              </a:rPr>
              <a:t>» valider son titre</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prix plus bas pour les aînés.   </a:t>
            </a:r>
            <a:r>
              <a:rPr sz="1400" b="1" i="0">
                <a:solidFill>
                  <a:srgbClr val="07734A"/>
                </a:solidFill>
                <a:latin typeface="Verdana"/>
              </a:rPr>
              <a:t>» le tarif réduit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Le bon titre de transport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OBSERVATION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Ce qu'on voit dans la station</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Décrivez chaque endroit en une phrase.</a:t>
            </a:r>
          </a:p>
        </p:txBody>
      </p:sp>
      <p:sp>
        <p:nvSpPr>
          <p:cNvPr id="8" name="Rounded Rectangle 7"/>
          <p:cNvSpPr/>
          <p:nvPr/>
        </p:nvSpPr>
        <p:spPr>
          <a:xfrm>
            <a:off x="566928" y="2139696"/>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81174"/>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45182"/>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1</a:t>
            </a:r>
          </a:p>
        </p:txBody>
      </p:sp>
      <p:sp>
        <p:nvSpPr>
          <p:cNvPr id="11" name="TextBox 10"/>
          <p:cNvSpPr txBox="1"/>
          <p:nvPr/>
        </p:nvSpPr>
        <p:spPr>
          <a:xfrm>
            <a:off x="1344168" y="2295144"/>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comptoir du point de service.</a:t>
            </a:r>
          </a:p>
        </p:txBody>
      </p:sp>
      <p:sp>
        <p:nvSpPr>
          <p:cNvPr id="12" name="Rounded Rectangle 11"/>
          <p:cNvSpPr/>
          <p:nvPr/>
        </p:nvSpPr>
        <p:spPr>
          <a:xfrm>
            <a:off x="566928" y="2916428"/>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57905"/>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121913"/>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2</a:t>
            </a:r>
          </a:p>
        </p:txBody>
      </p:sp>
      <p:sp>
        <p:nvSpPr>
          <p:cNvPr id="15" name="TextBox 14"/>
          <p:cNvSpPr txBox="1"/>
          <p:nvPr/>
        </p:nvSpPr>
        <p:spPr>
          <a:xfrm>
            <a:off x="1344168" y="3071876"/>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La rangée de tourniquets.</a:t>
            </a:r>
          </a:p>
        </p:txBody>
      </p:sp>
      <p:sp>
        <p:nvSpPr>
          <p:cNvPr id="16" name="Rounded Rectangle 15"/>
          <p:cNvSpPr/>
          <p:nvPr/>
        </p:nvSpPr>
        <p:spPr>
          <a:xfrm>
            <a:off x="566928" y="3693160"/>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834638"/>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898646"/>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3</a:t>
            </a:r>
          </a:p>
        </p:txBody>
      </p:sp>
      <p:sp>
        <p:nvSpPr>
          <p:cNvPr id="19" name="TextBox 18"/>
          <p:cNvSpPr txBox="1"/>
          <p:nvPr/>
        </p:nvSpPr>
        <p:spPr>
          <a:xfrm>
            <a:off x="1344168" y="3848608"/>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La grille des tarifs.</a:t>
            </a:r>
          </a:p>
        </p:txBody>
      </p:sp>
      <p:sp>
        <p:nvSpPr>
          <p:cNvPr id="20" name="Rounded Rectangle 19"/>
          <p:cNvSpPr/>
          <p:nvPr/>
        </p:nvSpPr>
        <p:spPr>
          <a:xfrm>
            <a:off x="566928" y="4469892"/>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611370"/>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675378"/>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4</a:t>
            </a:r>
          </a:p>
        </p:txBody>
      </p:sp>
      <p:sp>
        <p:nvSpPr>
          <p:cNvPr id="23" name="TextBox 22"/>
          <p:cNvSpPr txBox="1"/>
          <p:nvPr/>
        </p:nvSpPr>
        <p:spPr>
          <a:xfrm>
            <a:off x="1344168" y="4625340"/>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La borne de vente.</a:t>
            </a:r>
          </a:p>
        </p:txBody>
      </p:sp>
      <p:sp>
        <p:nvSpPr>
          <p:cNvPr id="24" name="Rounded Rectangle 23"/>
          <p:cNvSpPr/>
          <p:nvPr/>
        </p:nvSpPr>
        <p:spPr>
          <a:xfrm>
            <a:off x="566928" y="5246624"/>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5388102"/>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452110"/>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5</a:t>
            </a:r>
          </a:p>
        </p:txBody>
      </p:sp>
      <p:sp>
        <p:nvSpPr>
          <p:cNvPr id="27" name="TextBox 26"/>
          <p:cNvSpPr txBox="1"/>
          <p:nvPr/>
        </p:nvSpPr>
        <p:spPr>
          <a:xfrm>
            <a:off x="1344168" y="5402072"/>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Les places réservées.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Le bon titre de transport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Ce qu'on voit dans la station</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81174"/>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45182"/>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1</a:t>
            </a:r>
          </a:p>
        </p:txBody>
      </p:sp>
      <p:sp>
        <p:nvSpPr>
          <p:cNvPr id="11" name="TextBox 10"/>
          <p:cNvSpPr txBox="1"/>
          <p:nvPr/>
        </p:nvSpPr>
        <p:spPr>
          <a:xfrm>
            <a:off x="1344168" y="2295144"/>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comptoir du point de service.   </a:t>
            </a:r>
            <a:r>
              <a:rPr sz="1900" b="1" i="0">
                <a:solidFill>
                  <a:srgbClr val="07734A"/>
                </a:solidFill>
                <a:latin typeface="Verdana"/>
              </a:rPr>
              <a:t>» un guichet vitré, avec une ouverture en bas</a:t>
            </a:r>
          </a:p>
        </p:txBody>
      </p:sp>
      <p:sp>
        <p:nvSpPr>
          <p:cNvPr id="12" name="Rounded Rectangle 11"/>
          <p:cNvSpPr/>
          <p:nvPr/>
        </p:nvSpPr>
        <p:spPr>
          <a:xfrm>
            <a:off x="566928" y="2916428"/>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57905"/>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121913"/>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2</a:t>
            </a:r>
          </a:p>
        </p:txBody>
      </p:sp>
      <p:sp>
        <p:nvSpPr>
          <p:cNvPr id="15" name="TextBox 14"/>
          <p:cNvSpPr txBox="1"/>
          <p:nvPr/>
        </p:nvSpPr>
        <p:spPr>
          <a:xfrm>
            <a:off x="1344168" y="3071876"/>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La rangée de tourniquets.   </a:t>
            </a:r>
            <a:r>
              <a:rPr sz="1900" b="1" i="0">
                <a:solidFill>
                  <a:srgbClr val="07734A"/>
                </a:solidFill>
                <a:latin typeface="Verdana"/>
              </a:rPr>
              <a:t>» avant les escaliers, un lecteur sur chacun</a:t>
            </a:r>
          </a:p>
        </p:txBody>
      </p:sp>
      <p:sp>
        <p:nvSpPr>
          <p:cNvPr id="16" name="Rounded Rectangle 15"/>
          <p:cNvSpPr/>
          <p:nvPr/>
        </p:nvSpPr>
        <p:spPr>
          <a:xfrm>
            <a:off x="566928" y="3693160"/>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834638"/>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898646"/>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3</a:t>
            </a:r>
          </a:p>
        </p:txBody>
      </p:sp>
      <p:sp>
        <p:nvSpPr>
          <p:cNvPr id="19" name="TextBox 18"/>
          <p:cNvSpPr txBox="1"/>
          <p:nvPr/>
        </p:nvSpPr>
        <p:spPr>
          <a:xfrm>
            <a:off x="1344168" y="3848608"/>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La grille des tarifs.   </a:t>
            </a:r>
            <a:r>
              <a:rPr sz="1900" b="1" i="0">
                <a:solidFill>
                  <a:srgbClr val="07734A"/>
                </a:solidFill>
                <a:latin typeface="Verdana"/>
              </a:rPr>
              <a:t>» un grand panneau affiché au mur</a:t>
            </a:r>
          </a:p>
        </p:txBody>
      </p:sp>
      <p:sp>
        <p:nvSpPr>
          <p:cNvPr id="20" name="Rounded Rectangle 19"/>
          <p:cNvSpPr/>
          <p:nvPr/>
        </p:nvSpPr>
        <p:spPr>
          <a:xfrm>
            <a:off x="566928" y="4469892"/>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611370"/>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675378"/>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4</a:t>
            </a:r>
          </a:p>
        </p:txBody>
      </p:sp>
      <p:sp>
        <p:nvSpPr>
          <p:cNvPr id="23" name="TextBox 22"/>
          <p:cNvSpPr txBox="1"/>
          <p:nvPr/>
        </p:nvSpPr>
        <p:spPr>
          <a:xfrm>
            <a:off x="1344168" y="4625340"/>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La borne de vente.   </a:t>
            </a:r>
            <a:r>
              <a:rPr sz="1900" b="1" i="0">
                <a:solidFill>
                  <a:srgbClr val="07734A"/>
                </a:solidFill>
                <a:latin typeface="Verdana"/>
              </a:rPr>
              <a:t>» une machine où on achète tout seul</a:t>
            </a:r>
          </a:p>
        </p:txBody>
      </p:sp>
      <p:sp>
        <p:nvSpPr>
          <p:cNvPr id="24" name="Rounded Rectangle 23"/>
          <p:cNvSpPr/>
          <p:nvPr/>
        </p:nvSpPr>
        <p:spPr>
          <a:xfrm>
            <a:off x="566928" y="5246624"/>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5388102"/>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452110"/>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5</a:t>
            </a:r>
          </a:p>
        </p:txBody>
      </p:sp>
      <p:sp>
        <p:nvSpPr>
          <p:cNvPr id="27" name="TextBox 26"/>
          <p:cNvSpPr txBox="1"/>
          <p:nvPr/>
        </p:nvSpPr>
        <p:spPr>
          <a:xfrm>
            <a:off x="1344168" y="5402072"/>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Les places réservées.   </a:t>
            </a:r>
            <a:r>
              <a:rPr sz="1900" b="1" i="0">
                <a:solidFill>
                  <a:srgbClr val="07734A"/>
                </a:solidFill>
                <a:latin typeface="Verdana"/>
              </a:rPr>
              <a:t>» les premiers sièges, en avant de l'autobus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Le bon titre de transport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12</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Écrivez les quatre mots du transport qui vous manquaient avant aujourd'hui.</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Je ne connaissais pas le mot ___ .</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Maintenant je sais que ___ veut dire ___ .</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Le bon titre de transport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