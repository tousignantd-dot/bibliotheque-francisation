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phonétique, placée tôt parce que tout le reste du module repose sur des chiffres entendus. Commencer en disant « vingt » et « vent » l'un après l'autre, sans rien expliquer, et demander au groupe si c'est le même mot.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répéter les deux mots repères en chœur, puis un par un. Ne jamais écrire de symboles phonétiques : le groupe travaille avec des mots, pas avec un alphabet.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lire une écriture à la fois. Insister sur « combien » et « moins », les deux mots du guichet.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découverte qui surprend le plus : « trente » et « dimanche » riment. Le faire entendre plutôt que l'affirmer.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Demander qui a déjà eu ce problème. Dédramatiser : c'est une difficulté d'oreille, pas d'intelligence, et elle se corrige par la répétition.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sont les quatre nombres les plus fréquents du module : « trois dollars soixante-quinze », « trente-cinq dollars », « cent vingt minutes ». Les faire répéter jusqu'à ce qu'ils sortent d'un seul souffle.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2 du module, mot pour mot. Le faire d'abord à l'oral, livre fermé, puis ouvrir l'activité interactive : les élèves y réentendront chaque mot autant de fois qu'ils veulent.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Répétition en chœur, puis en rangées, puis individuellement. Corriger la bouche plutôt que le son : « ouvre davantage », « étire les lèvres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Vérifier au ramassage que personne n'a mis « trente » dans la colonne IN : c'est l'erreur qui reste après la séance.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son IN et le son AN</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guichet, presque tout ce qu'on entend est un nombre. Deux sons du nez s'y ressemblent, et les confondre fait payer le mauvais prix.</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bon titre de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entendre la différence entre le son IN et le son AN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deux sons dans les nombres et les jours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que EN se prononce comme AN ;</a:t>
            </a:r>
          </a:p>
        </p:txBody>
      </p:sp>
      <p:sp>
        <p:nvSpPr>
          <p:cNvPr id="19" name="Rounded Rectangle 18"/>
          <p:cNvSpPr/>
          <p:nvPr/>
        </p:nvSpPr>
        <p:spPr>
          <a:xfrm>
            <a:off x="566928" y="4422648"/>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7782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8605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correctement les nombres du guichet : vingt-cinq, soixante-quinze, cent vingt.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DEUX MOTS REPÈRES, ET RIEN D'AUTRE</a:t>
            </a:r>
          </a:p>
        </p:txBody>
      </p:sp>
      <p:sp>
        <p:nvSpPr>
          <p:cNvPr id="6" name="Rounded Rectangle 5"/>
          <p:cNvSpPr/>
          <p:nvPr/>
        </p:nvSpPr>
        <p:spPr>
          <a:xfrm>
            <a:off x="566928" y="1225296"/>
            <a:ext cx="11057839" cy="1967991"/>
          </a:xfrm>
          <a:prstGeom prst="roundRect">
            <a:avLst>
              <a:gd name="adj" fmla="val 743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LUNDI pour le son IN · TRENTE pour le son AN</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Devant un nombre nouveau, dites-le à côté de l'un des deux et laissez l'air passer par le nez. La bouche est étirée sur les côtés pour IN, bien ouverte pour AN. Mettez la main devant la bouche : pour AN, l'air sort plus large.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son IN — la bouche étirée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EXEMPLES</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un</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un, lundi, brun</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in</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matin, quinze, vingt</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ain / ein</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main, plein</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ien</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combien, bien, rien</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3B49A0"/>
                </a:solidFill>
                <a:latin typeface="Verdana"/>
              </a:rPr>
              <a:t>oin</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moins, loin</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Cinq écritures différentes, un seul 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son AN — la bouche ouverte</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ÉCRIT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EXEMPLES</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an</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dimanche, quarante, an</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en</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trente, cent, argent</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am / em</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comptant, ensemble</a:t>
            </a:r>
          </a:p>
        </p:txBody>
      </p:sp>
      <p:sp>
        <p:nvSpPr>
          <p:cNvPr id="18" name="Rounded Rectangle 17"/>
          <p:cNvSpPr/>
          <p:nvPr/>
        </p:nvSpPr>
        <p:spPr>
          <a:xfrm>
            <a:off x="566928" y="4306824"/>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4562856"/>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EN et AN donnent exactement le même 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PRONONCIATION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vent-cinq dollars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vingt-cinq dollars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piège le plus coûteux du module : au guichet, un nombre mal dit fait payer le mauvais prix ou fait acheter le mauvais titre. Étirez bien la bouche pour « vingt », comme pour sourire.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nombres où les deux sons se suivent</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NOMBRE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ENTEND</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vingt-cinq</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IN, puis IN</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soixante-quinze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AN, puis IN</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cent vingt</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AN, puis IN</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trente-cinq</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AN, puis IN</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Dites-les lentement, en deux morceaux.</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IN comme LUNDI, ou AN comme TRENTE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chaque mot et dites quel son vous entendez.</a:t>
            </a:r>
          </a:p>
        </p:txBody>
      </p:sp>
      <p:sp>
        <p:nvSpPr>
          <p:cNvPr id="8" name="Rounded Rectangle 7"/>
          <p:cNvSpPr/>
          <p:nvPr/>
        </p:nvSpPr>
        <p:spPr>
          <a:xfrm>
            <a:off x="566928"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lundi</a:t>
            </a:r>
          </a:p>
        </p:txBody>
      </p:sp>
      <p:sp>
        <p:nvSpPr>
          <p:cNvPr id="12" name="Rounded Rectangle 11"/>
          <p:cNvSpPr/>
          <p:nvPr/>
        </p:nvSpPr>
        <p:spPr>
          <a:xfrm>
            <a:off x="6159855"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trente</a:t>
            </a:r>
          </a:p>
        </p:txBody>
      </p:sp>
      <p:sp>
        <p:nvSpPr>
          <p:cNvPr id="16" name="Rounded Rectangle 15"/>
          <p:cNvSpPr/>
          <p:nvPr/>
        </p:nvSpPr>
        <p:spPr>
          <a:xfrm>
            <a:off x="566928"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passage</a:t>
            </a:r>
          </a:p>
        </p:txBody>
      </p:sp>
      <p:sp>
        <p:nvSpPr>
          <p:cNvPr id="20" name="Rounded Rectangle 19"/>
          <p:cNvSpPr/>
          <p:nvPr/>
        </p:nvSpPr>
        <p:spPr>
          <a:xfrm>
            <a:off x="6159855"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comptant</a:t>
            </a:r>
          </a:p>
        </p:txBody>
      </p:sp>
      <p:sp>
        <p:nvSpPr>
          <p:cNvPr id="24" name="Rounded Rectangle 23"/>
          <p:cNvSpPr/>
          <p:nvPr/>
        </p:nvSpPr>
        <p:spPr>
          <a:xfrm>
            <a:off x="566928" y="3693160"/>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a:t>
            </a:r>
          </a:p>
        </p:txBody>
      </p:sp>
      <p:sp>
        <p:nvSpPr>
          <p:cNvPr id="28" name="Rounded Rectangle 27"/>
          <p:cNvSpPr/>
          <p:nvPr/>
        </p:nvSpPr>
        <p:spPr>
          <a:xfrm>
            <a:off x="6159855" y="3693160"/>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dimanche</a:t>
            </a:r>
          </a:p>
        </p:txBody>
      </p:sp>
      <p:sp>
        <p:nvSpPr>
          <p:cNvPr id="32" name="Rounded Rectangle 31"/>
          <p:cNvSpPr/>
          <p:nvPr/>
        </p:nvSpPr>
        <p:spPr>
          <a:xfrm>
            <a:off x="566928" y="4469892"/>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moins cher</a:t>
            </a:r>
          </a:p>
        </p:txBody>
      </p:sp>
      <p:sp>
        <p:nvSpPr>
          <p:cNvPr id="36" name="Rounded Rectangle 35"/>
          <p:cNvSpPr/>
          <p:nvPr/>
        </p:nvSpPr>
        <p:spPr>
          <a:xfrm>
            <a:off x="6159855" y="4469892"/>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6937095"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cent dix dollars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IN comme LUNDI, ou AN comme TRENTE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lundi   </a:t>
            </a:r>
            <a:r>
              <a:rPr sz="1900" b="1" i="0">
                <a:solidFill>
                  <a:srgbClr val="07734A"/>
                </a:solidFill>
                <a:latin typeface="Verdana"/>
              </a:rPr>
              <a:t>» IN</a:t>
            </a:r>
          </a:p>
        </p:txBody>
      </p:sp>
      <p:sp>
        <p:nvSpPr>
          <p:cNvPr id="12" name="Rounded Rectangle 11"/>
          <p:cNvSpPr/>
          <p:nvPr/>
        </p:nvSpPr>
        <p:spPr>
          <a:xfrm>
            <a:off x="6159855"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trente   </a:t>
            </a:r>
            <a:r>
              <a:rPr sz="1900" b="1" i="0">
                <a:solidFill>
                  <a:srgbClr val="07734A"/>
                </a:solidFill>
                <a:latin typeface="Verdana"/>
              </a:rPr>
              <a:t>» AN</a:t>
            </a:r>
          </a:p>
        </p:txBody>
      </p:sp>
      <p:sp>
        <p:nvSpPr>
          <p:cNvPr id="16" name="Rounded Rectangle 15"/>
          <p:cNvSpPr/>
          <p:nvPr/>
        </p:nvSpPr>
        <p:spPr>
          <a:xfrm>
            <a:off x="566928"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 passage   </a:t>
            </a:r>
            <a:r>
              <a:rPr sz="1900" b="1" i="0">
                <a:solidFill>
                  <a:srgbClr val="07734A"/>
                </a:solidFill>
                <a:latin typeface="Verdana"/>
              </a:rPr>
              <a:t>» IN</a:t>
            </a:r>
          </a:p>
        </p:txBody>
      </p:sp>
      <p:sp>
        <p:nvSpPr>
          <p:cNvPr id="20" name="Rounded Rectangle 19"/>
          <p:cNvSpPr/>
          <p:nvPr/>
        </p:nvSpPr>
        <p:spPr>
          <a:xfrm>
            <a:off x="6159855"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comptant   </a:t>
            </a:r>
            <a:r>
              <a:rPr sz="1900" b="1" i="0">
                <a:solidFill>
                  <a:srgbClr val="07734A"/>
                </a:solidFill>
                <a:latin typeface="Verdana"/>
              </a:rPr>
              <a:t>» AN</a:t>
            </a:r>
          </a:p>
        </p:txBody>
      </p:sp>
      <p:sp>
        <p:nvSpPr>
          <p:cNvPr id="24" name="Rounded Rectangle 23"/>
          <p:cNvSpPr/>
          <p:nvPr/>
        </p:nvSpPr>
        <p:spPr>
          <a:xfrm>
            <a:off x="566928" y="3693160"/>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a:t>
            </a:r>
            <a:r>
              <a:rPr sz="1900" b="1" i="0">
                <a:solidFill>
                  <a:srgbClr val="07734A"/>
                </a:solidFill>
                <a:latin typeface="Verdana"/>
              </a:rPr>
              <a:t>» IN</a:t>
            </a:r>
          </a:p>
        </p:txBody>
      </p:sp>
      <p:sp>
        <p:nvSpPr>
          <p:cNvPr id="28" name="Rounded Rectangle 27"/>
          <p:cNvSpPr/>
          <p:nvPr/>
        </p:nvSpPr>
        <p:spPr>
          <a:xfrm>
            <a:off x="6159855" y="3693160"/>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dimanche   </a:t>
            </a:r>
            <a:r>
              <a:rPr sz="1900" b="1" i="0">
                <a:solidFill>
                  <a:srgbClr val="07734A"/>
                </a:solidFill>
                <a:latin typeface="Verdana"/>
              </a:rPr>
              <a:t>» AN</a:t>
            </a:r>
          </a:p>
        </p:txBody>
      </p:sp>
      <p:sp>
        <p:nvSpPr>
          <p:cNvPr id="32" name="Rounded Rectangle 31"/>
          <p:cNvSpPr/>
          <p:nvPr/>
        </p:nvSpPr>
        <p:spPr>
          <a:xfrm>
            <a:off x="566928" y="4469892"/>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moins cher   </a:t>
            </a:r>
            <a:r>
              <a:rPr sz="1900" b="1" i="0">
                <a:solidFill>
                  <a:srgbClr val="07734A"/>
                </a:solidFill>
                <a:latin typeface="Verdana"/>
              </a:rPr>
              <a:t>» IN</a:t>
            </a:r>
          </a:p>
        </p:txBody>
      </p:sp>
      <p:sp>
        <p:nvSpPr>
          <p:cNvPr id="36" name="Rounded Rectangle 35"/>
          <p:cNvSpPr/>
          <p:nvPr/>
        </p:nvSpPr>
        <p:spPr>
          <a:xfrm>
            <a:off x="6159855" y="4469892"/>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6937095"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cent dix dollars   </a:t>
            </a:r>
            <a:r>
              <a:rPr sz="1900" b="1" i="0">
                <a:solidFill>
                  <a:srgbClr val="07734A"/>
                </a:solidFill>
                <a:latin typeface="Verdana"/>
              </a:rPr>
              <a:t>» 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RÉPÉTITION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phrases du comptoir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puis répétez en marquant les deux sons.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passage, s'il vous plaît.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Trente-cinq dollars.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combien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Du lundi au dimanche.</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Cent dix dollars pour le mois.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Trois dollars soixante-quinze.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phrases du comptoir</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 passage, s'il vous plaît.   </a:t>
            </a:r>
            <a:r>
              <a:rPr sz="1400" b="1" i="0">
                <a:solidFill>
                  <a:srgbClr val="07734A"/>
                </a:solidFill>
                <a:latin typeface="Verdana"/>
              </a:rPr>
              <a:t>» IN deux fois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Trente-cinq dollars.   </a:t>
            </a:r>
            <a:r>
              <a:rPr sz="1400" b="1" i="0">
                <a:solidFill>
                  <a:srgbClr val="07734A"/>
                </a:solidFill>
                <a:latin typeface="Verdana"/>
              </a:rPr>
              <a:t>» AN une fois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combien ?   </a:t>
            </a:r>
            <a:r>
              <a:rPr sz="1400" b="1" i="0">
                <a:solidFill>
                  <a:srgbClr val="07734A"/>
                </a:solidFill>
                <a:latin typeface="Verdana"/>
              </a:rPr>
              <a:t>» IN une fois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Du lundi au dimanche.   </a:t>
            </a:r>
            <a:r>
              <a:rPr sz="1400" b="1" i="0">
                <a:solidFill>
                  <a:srgbClr val="07734A"/>
                </a:solidFill>
                <a:latin typeface="Verdana"/>
              </a:rPr>
              <a:t>» IN puis AN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Cent dix dollars pour le mois.   </a:t>
            </a:r>
            <a:r>
              <a:rPr sz="1400" b="1" i="0">
                <a:solidFill>
                  <a:srgbClr val="07734A"/>
                </a:solidFill>
                <a:latin typeface="Verdana"/>
              </a:rPr>
              <a:t>» AN deux fois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Trois dollars soixante-quinze.   </a:t>
            </a:r>
            <a:r>
              <a:rPr sz="1400" b="1" i="0">
                <a:solidFill>
                  <a:srgbClr val="07734A"/>
                </a:solidFill>
                <a:latin typeface="Verdana"/>
              </a:rPr>
              <a:t>» AN puis 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trois nombres avec le son IN et trois nombres avec le son AN.</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Son IN : vingt, quinze, ___</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Son AN : trente, cent, ___</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Le bon titre de transport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