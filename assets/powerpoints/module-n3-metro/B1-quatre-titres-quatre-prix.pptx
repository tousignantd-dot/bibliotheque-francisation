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défi 1, qui est une compétence de compréhension orale. Reprendre les billets de sortie de la séance A1 et écrire au tableau ce que chacun paie par mois. Ces chiffres serviront toute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calculer au tableau : cinq jours aller-retour font dix déplacements par semaine, donc plus de quarante par mois. À trois dollars soixante-quinze le passage, cela ferait cent cinquante dollars. Laisser le groupe trouver le chiffre avant de donner celui du mensuel.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questions, toujours les mêmes, et dans cet ordre : combien de fois, et dans quelle zone. Les faire mémoriser : un élève qui les attend comprend la moitié de la conversation d'avance.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noter les prix au fur et à mesure, sur une feuille. C'est ce que fait n'importe qui au comptoir, et il faut le dire aux élèves : on a le droit d'écrire pendant qu'on écoute.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 illimité » est nouveau et important : il veut dire autant de fois qu'on veut. Le faire expliquer par un élève plutôt que par l'enseignante. Rosario économise trente dollars par mois sans changer ses habitudes.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 sont les vrais prix. Les faire recopier dans le cahier : ils serviront jusqu'à la fin du module et après, dans la vraie vie.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répondre chaque élève à voix haute, en une phrase complète : « Je me déplace dix fois par semaine, dans la zone A.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réponse par la réplique exacte. Le cinquième énoncé demande une comparaison de deux prix : c'est le point du bloc D, annoncé ici sans être travaillé.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court. Les réponses préparent la séance B2, où chacun justifiera son choix devant le groupe.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B1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Quatre titres, quatre prix</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Au comptoir, quatre prix se donnent en moins d'une minute. L'élève n'a rien à dire : il a seulement à comprendre.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bon titre de transport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les quatre titres nommés au comptoir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retenir un prix et une durée dits une seule fois ;</a:t>
            </a:r>
          </a:p>
        </p:txBody>
      </p:sp>
      <p:sp>
        <p:nvSpPr>
          <p:cNvPr id="15" name="Rounded Rectangle 14"/>
          <p:cNvSpPr/>
          <p:nvPr/>
        </p:nvSpPr>
        <p:spPr>
          <a:xfrm>
            <a:off x="566928" y="3536696"/>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8922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9745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la première question du préposé : combien de fois par semaine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dans quelle zone on se déplace.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Quel titre coûte le moins cher pour cinq jours par semaine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Cinq jours aller-retour, combien de déplacements par semaine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par mois, sur quatre semaines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qu'un titre de dix passages suffit pour une semaine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coûte le plus cher : payer chaque fois, ou payer d'avance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Vous vous déplacez combien de fois ?</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49224"/>
          </a:xfrm>
          <a:prstGeom prst="roundRect">
            <a:avLst>
              <a:gd name="adj" fmla="val 22535"/>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652301" cy="37490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ROSARIO</a:t>
            </a:r>
          </a:p>
        </p:txBody>
      </p:sp>
      <p:sp>
        <p:nvSpPr>
          <p:cNvPr id="10" name="TextBox 9"/>
          <p:cNvSpPr txBox="1"/>
          <p:nvPr/>
        </p:nvSpPr>
        <p:spPr>
          <a:xfrm>
            <a:off x="2584989" y="2322576"/>
            <a:ext cx="8491137" cy="37490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Bonjour. Mon ami dit que je paie trop cher. Je voudrais me renseigner.</a:t>
            </a:r>
          </a:p>
        </p:txBody>
      </p:sp>
      <p:sp>
        <p:nvSpPr>
          <p:cNvPr id="11" name="Rounded Rectangle 10"/>
          <p:cNvSpPr/>
          <p:nvPr/>
        </p:nvSpPr>
        <p:spPr>
          <a:xfrm>
            <a:off x="566928" y="2889503"/>
            <a:ext cx="11057839" cy="649224"/>
          </a:xfrm>
          <a:prstGeom prst="roundRect">
            <a:avLst>
              <a:gd name="adj" fmla="val 22535"/>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54096"/>
            <a:ext cx="1652301" cy="37490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LORRAINE</a:t>
            </a:r>
          </a:p>
        </p:txBody>
      </p:sp>
      <p:sp>
        <p:nvSpPr>
          <p:cNvPr id="13" name="TextBox 12"/>
          <p:cNvSpPr txBox="1"/>
          <p:nvPr/>
        </p:nvSpPr>
        <p:spPr>
          <a:xfrm>
            <a:off x="2584989" y="3054096"/>
            <a:ext cx="8491137" cy="37490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Bonjour. Vous vous déplacez combien de fois par semaine ?</a:t>
            </a:r>
          </a:p>
        </p:txBody>
      </p:sp>
      <p:sp>
        <p:nvSpPr>
          <p:cNvPr id="14" name="Rounded Rectangle 13"/>
          <p:cNvSpPr/>
          <p:nvPr/>
        </p:nvSpPr>
        <p:spPr>
          <a:xfrm>
            <a:off x="566928" y="3621023"/>
            <a:ext cx="11057839" cy="649224"/>
          </a:xfrm>
          <a:prstGeom prst="roundRect">
            <a:avLst>
              <a:gd name="adj" fmla="val 22535"/>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785615"/>
            <a:ext cx="1652301" cy="37490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ROSARIO</a:t>
            </a:r>
          </a:p>
        </p:txBody>
      </p:sp>
      <p:sp>
        <p:nvSpPr>
          <p:cNvPr id="16" name="TextBox 15"/>
          <p:cNvSpPr txBox="1"/>
          <p:nvPr/>
        </p:nvSpPr>
        <p:spPr>
          <a:xfrm>
            <a:off x="2584989" y="3785615"/>
            <a:ext cx="8491137" cy="37490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Cinq jours. Le matin et le soir. Des fois le samedi aussi.</a:t>
            </a:r>
          </a:p>
        </p:txBody>
      </p:sp>
      <p:sp>
        <p:nvSpPr>
          <p:cNvPr id="17" name="Rounded Rectangle 16"/>
          <p:cNvSpPr/>
          <p:nvPr/>
        </p:nvSpPr>
        <p:spPr>
          <a:xfrm>
            <a:off x="566928" y="4352544"/>
            <a:ext cx="11057839" cy="649224"/>
          </a:xfrm>
          <a:prstGeom prst="roundRect">
            <a:avLst>
              <a:gd name="adj" fmla="val 22535"/>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17136"/>
            <a:ext cx="1652301" cy="37490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LORRAINE</a:t>
            </a:r>
          </a:p>
        </p:txBody>
      </p:sp>
      <p:sp>
        <p:nvSpPr>
          <p:cNvPr id="19" name="TextBox 18"/>
          <p:cNvSpPr txBox="1"/>
          <p:nvPr/>
        </p:nvSpPr>
        <p:spPr>
          <a:xfrm>
            <a:off x="2584989" y="4517136"/>
            <a:ext cx="8491137" cy="37490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Et vous restez dans l'île de Montréal ? C'est la zone A.</a:t>
            </a:r>
          </a:p>
        </p:txBody>
      </p:sp>
      <p:sp>
        <p:nvSpPr>
          <p:cNvPr id="20" name="Rounded Rectangle 19"/>
          <p:cNvSpPr/>
          <p:nvPr/>
        </p:nvSpPr>
        <p:spPr>
          <a:xfrm>
            <a:off x="566928" y="5084064"/>
            <a:ext cx="11057839" cy="649224"/>
          </a:xfrm>
          <a:prstGeom prst="roundRect">
            <a:avLst>
              <a:gd name="adj" fmla="val 22535"/>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5248655"/>
            <a:ext cx="1652301" cy="37490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ROSARIO</a:t>
            </a:r>
          </a:p>
        </p:txBody>
      </p:sp>
      <p:sp>
        <p:nvSpPr>
          <p:cNvPr id="22" name="TextBox 21"/>
          <p:cNvSpPr txBox="1"/>
          <p:nvPr/>
        </p:nvSpPr>
        <p:spPr>
          <a:xfrm>
            <a:off x="2584989" y="5248655"/>
            <a:ext cx="8491137" cy="37490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Oui. La maison, l'école, l'épicerie. Tout est à Montréal.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dollars soixante-quinze</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65230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LORRAINE</a:t>
            </a:r>
          </a:p>
        </p:txBody>
      </p:sp>
      <p:sp>
        <p:nvSpPr>
          <p:cNvPr id="9" name="TextBox 8"/>
          <p:cNvSpPr txBox="1"/>
          <p:nvPr/>
        </p:nvSpPr>
        <p:spPr>
          <a:xfrm>
            <a:off x="2584989" y="1901952"/>
            <a:ext cx="849113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 Un passage tout seul coûte trois dollars soixante-quinze.</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65230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ROSARIO</a:t>
            </a:r>
          </a:p>
        </p:txBody>
      </p:sp>
      <p:sp>
        <p:nvSpPr>
          <p:cNvPr id="12" name="TextBox 11"/>
          <p:cNvSpPr txBox="1"/>
          <p:nvPr/>
        </p:nvSpPr>
        <p:spPr>
          <a:xfrm>
            <a:off x="2584989" y="2651252"/>
            <a:ext cx="849113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le dix passages ? C'est celui-là que j'achète.</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65230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LORRAINE</a:t>
            </a:r>
          </a:p>
        </p:txBody>
      </p:sp>
      <p:sp>
        <p:nvSpPr>
          <p:cNvPr id="15" name="TextBox 14"/>
          <p:cNvSpPr txBox="1"/>
          <p:nvPr/>
        </p:nvSpPr>
        <p:spPr>
          <a:xfrm>
            <a:off x="2584989" y="3400551"/>
            <a:ext cx="849113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Trente-cinq dollars. Ça revient à trois cinquante le passage.</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65230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ROSARIO</a:t>
            </a:r>
          </a:p>
        </p:txBody>
      </p:sp>
      <p:sp>
        <p:nvSpPr>
          <p:cNvPr id="18" name="TextBox 17"/>
          <p:cNvSpPr txBox="1"/>
          <p:nvPr/>
        </p:nvSpPr>
        <p:spPr>
          <a:xfrm>
            <a:off x="2584989" y="4149851"/>
            <a:ext cx="849113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D'accord. Et pour une semaine complète ?</a:t>
            </a:r>
          </a:p>
        </p:txBody>
      </p:sp>
      <p:sp>
        <p:nvSpPr>
          <p:cNvPr id="19" name="Rounded Rectangle 18"/>
          <p:cNvSpPr/>
          <p:nvPr/>
        </p:nvSpPr>
        <p:spPr>
          <a:xfrm>
            <a:off x="566928" y="47345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899151"/>
            <a:ext cx="1652301"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LORRAINE</a:t>
            </a:r>
          </a:p>
        </p:txBody>
      </p:sp>
      <p:sp>
        <p:nvSpPr>
          <p:cNvPr id="21" name="TextBox 20"/>
          <p:cNvSpPr txBox="1"/>
          <p:nvPr/>
        </p:nvSpPr>
        <p:spPr>
          <a:xfrm>
            <a:off x="2584989" y="4899151"/>
            <a:ext cx="8491137"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L'hebdo est à trente-trois vingt-cinq. Il est bon du lundi au dimanche.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Cent dix dollars pour le mois</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65230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ROSARIO</a:t>
            </a:r>
          </a:p>
        </p:txBody>
      </p:sp>
      <p:sp>
        <p:nvSpPr>
          <p:cNvPr id="9" name="TextBox 8"/>
          <p:cNvSpPr txBox="1"/>
          <p:nvPr/>
        </p:nvSpPr>
        <p:spPr>
          <a:xfrm>
            <a:off x="2584989" y="1901952"/>
            <a:ext cx="849113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Trente-trois ? C'est moins cher que le dix passages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65230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LORRAINE</a:t>
            </a:r>
          </a:p>
        </p:txBody>
      </p:sp>
      <p:sp>
        <p:nvSpPr>
          <p:cNvPr id="12" name="TextBox 11"/>
          <p:cNvSpPr txBox="1"/>
          <p:nvPr/>
        </p:nvSpPr>
        <p:spPr>
          <a:xfrm>
            <a:off x="2584989" y="2651252"/>
            <a:ext cx="849113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et c'est illimité. Mais le mensuel est encore mieux pour vous.</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65230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ROSARIO</a:t>
            </a:r>
          </a:p>
        </p:txBody>
      </p:sp>
      <p:sp>
        <p:nvSpPr>
          <p:cNvPr id="15" name="TextBox 14"/>
          <p:cNvSpPr txBox="1"/>
          <p:nvPr/>
        </p:nvSpPr>
        <p:spPr>
          <a:xfrm>
            <a:off x="2584989" y="3400551"/>
            <a:ext cx="849113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coûte le mensuel ?</a:t>
            </a:r>
          </a:p>
        </p:txBody>
      </p:sp>
      <p:sp>
        <p:nvSpPr>
          <p:cNvPr id="16" name="Rounded Rectangle 15"/>
          <p:cNvSpPr/>
          <p:nvPr/>
        </p:nvSpPr>
        <p:spPr>
          <a:xfrm>
            <a:off x="566928" y="39852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652301"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LORRAINE</a:t>
            </a:r>
          </a:p>
        </p:txBody>
      </p:sp>
      <p:sp>
        <p:nvSpPr>
          <p:cNvPr id="18" name="TextBox 17"/>
          <p:cNvSpPr txBox="1"/>
          <p:nvPr/>
        </p:nvSpPr>
        <p:spPr>
          <a:xfrm>
            <a:off x="2584989" y="4149851"/>
            <a:ext cx="8491137"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Cent dix dollars pour le mois. Vous, vous payez à peu près cent quarante.</a:t>
            </a:r>
          </a:p>
        </p:txBody>
      </p:sp>
      <p:sp>
        <p:nvSpPr>
          <p:cNvPr id="19" name="Rounded Rectangle 18"/>
          <p:cNvSpPr/>
          <p:nvPr/>
        </p:nvSpPr>
        <p:spPr>
          <a:xfrm>
            <a:off x="566928" y="507237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5236971"/>
            <a:ext cx="165230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ROSARIO</a:t>
            </a:r>
          </a:p>
        </p:txBody>
      </p:sp>
      <p:sp>
        <p:nvSpPr>
          <p:cNvPr id="21" name="TextBox 20"/>
          <p:cNvSpPr txBox="1"/>
          <p:nvPr/>
        </p:nvSpPr>
        <p:spPr>
          <a:xfrm>
            <a:off x="2584989" y="5236971"/>
            <a:ext cx="849113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Cent dix… Je vais y penser. Merci beaucoup, madame.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titres de la zone A</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TITRE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PRIX</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passage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3,75 $</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Dix passages</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35,00 $</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Hebdo, du lundi au dimanche</a:t>
            </a:r>
          </a:p>
        </p:txBody>
      </p:sp>
      <p:sp>
        <p:nvSpPr>
          <p:cNvPr id="17" name="TextBox 16"/>
          <p:cNvSpPr txBox="1"/>
          <p:nvPr/>
        </p:nvSpPr>
        <p:spPr>
          <a:xfrm>
            <a:off x="4443636" y="3474720"/>
            <a:ext cx="6595914" cy="640080"/>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33,25 $</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Mensuel</a:t>
            </a:r>
          </a:p>
        </p:txBody>
      </p:sp>
      <p:sp>
        <p:nvSpPr>
          <p:cNvPr id="20" name="TextBox 19"/>
          <p:cNvSpPr txBox="1"/>
          <p:nvPr/>
        </p:nvSpPr>
        <p:spPr>
          <a:xfrm>
            <a:off x="4443636" y="431596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110,00 $</a:t>
            </a:r>
          </a:p>
        </p:txBody>
      </p:sp>
      <p:sp>
        <p:nvSpPr>
          <p:cNvPr id="21" name="Rounded Rectangle 20"/>
          <p:cNvSpPr/>
          <p:nvPr/>
        </p:nvSpPr>
        <p:spPr>
          <a:xfrm>
            <a:off x="566928" y="5148072"/>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404104"/>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Prix de la zone A, tarif ordinaire.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CE QUE LE PRÉPOSÉ DEMANDE TOUJOURS EN PREMIER</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Vous vous déplacez combien de fois par semaine ? »</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Préparez la réponse avant d'arriver au comptoir. Elle décide du titre qu'on vous proposera, et une réponse claire fait gagner deux minutes à tout le monde. La deuxième question est toujours la zone : restez-vous à Montréal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Lorraine demande combien de fois par semaine Rosario se déplace.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Rosario sort de l'île de Montréal chaque jour.</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passage tout seul coûte trois dollars soixante-quinze.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L'hebdo est bon du lundi au dimanche.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L'hebdo coûte plus cher que le dix passages.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titre mensuel coûte cent dix dollars.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Lorraine demande combien de fois par semaine Rosario se déplace.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Rosario sort de l'île de Montréal chaque jour.   </a:t>
            </a:r>
            <a:r>
              <a:rPr sz="1400" b="1" i="0">
                <a:solidFill>
                  <a:srgbClr val="07734A"/>
                </a:solidFill>
                <a:latin typeface="Verdana"/>
              </a:rPr>
              <a:t>» faux — tout est à Montréal</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passage tout seul coûte trois dollars soixante-quinze.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L'hebdo est bon du lundi au dimanche.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L'hebdo coûte plus cher que le dix passages.   </a:t>
            </a:r>
            <a:r>
              <a:rPr sz="1400" b="1" i="0">
                <a:solidFill>
                  <a:srgbClr val="07734A"/>
                </a:solidFill>
                <a:latin typeface="Verdana"/>
              </a:rPr>
              <a:t>» faux — 33,25 $ contre 35 $</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titre mensuel coûte cent dix dollars.   </a:t>
            </a:r>
            <a:r>
              <a:rPr sz="1400" b="1" i="0">
                <a:solidFill>
                  <a:srgbClr val="07734A"/>
                </a:solidFill>
                <a:latin typeface="Verdana"/>
              </a:rPr>
              <a:t>» vrai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Le bon titre de transport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 titre qui vous conviendrait le mieux, et pourquoi.</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Je me déplace ___ fois par semaine.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Le meilleur titre pour moi, c'est ___ parce que ___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Le bon titre de transport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