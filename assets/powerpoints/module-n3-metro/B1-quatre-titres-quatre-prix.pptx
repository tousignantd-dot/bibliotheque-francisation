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1, qui est une compétence de compréhension orale. Reprendre les billets de sortie de la séance A1 et écrire au tableau ce que chacun paie par mois. Ces chiffres serviront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calculer au tableau : cinq jours aller-retour font dix déplacements par semaine, donc plus de quarante par mois. À trois dollars soixante-quinze le passage, cela ferait cent cinquante dollars. Laisser le groupe trouver le chiffre avant de donner celui du mensuel.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questions, toujours les mêmes, et dans cet ordre : combien de fois, et dans quelle zone. Les faire mémoriser : un élève qui les attend comprend la moitié de la conversation d'avance.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noter les prix au fur et à mesure, sur une feuille. C'est ce que fait n'importe qui au comptoir, et il faut le dire aux élèves : on a le droit d'écrire pendant qu'on écoute.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 illimité » est nouveau et important : il veut dire autant de fois qu'on veut. Le faire expliquer par un élève plutôt que par l'enseignante. Rosario économise trente dollars par mois sans changer ses habitudes.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 sont les vrais prix. Les faire recopier dans le cahier : ils serviront jusqu'à la fin du module et après, dans la vraie vie.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répondre chaque élève à voix haute, en une phrase complète : « Je me déplace dix fois par semaine, dans la zone A.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la réplique exacte. Le cinquième énoncé demande une comparaison de deux prix : c'est le point du bloc D, annoncé ici sans être travaillé.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Les réponses préparent la séance B2, où chacun justifiera son choix devant le groupe.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titres, quatre prix</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comptoir, quatre prix se donnent en moins d'une minute. L'élève n'a rien à dire : il a seulement à comprendre.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quatre titres nommés au comptoir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retenir un prix et une durée dits une seule fois ;</a:t>
            </a:r>
          </a:p>
        </p:txBody>
      </p:sp>
      <p:sp>
        <p:nvSpPr>
          <p:cNvPr id="15" name="Rounded Rectangle 14"/>
          <p:cNvSpPr/>
          <p:nvPr/>
        </p:nvSpPr>
        <p:spPr>
          <a:xfrm>
            <a:off x="566928" y="35366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8922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9745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la première question du préposé : combien de fois par semaine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dans quelle zone on se déplace.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Quel titre coûte le moins cher pour cinq jours par semaine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Cinq jours aller-retour, combien de déplacements par semaine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par mois, sur quatre semaines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qu'un titre de dix passages suffit pour une semaine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coûte le plus cher : payer chaque fois, ou payer d'avance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Vous vous déplacez combien de fois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49224"/>
          </a:xfrm>
          <a:prstGeom prst="roundRect">
            <a:avLst>
              <a:gd name="adj" fmla="val 2253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52301"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ROSARIO</a:t>
            </a:r>
          </a:p>
        </p:txBody>
      </p:sp>
      <p:sp>
        <p:nvSpPr>
          <p:cNvPr id="10" name="TextBox 9"/>
          <p:cNvSpPr txBox="1"/>
          <p:nvPr/>
        </p:nvSpPr>
        <p:spPr>
          <a:xfrm>
            <a:off x="2584989" y="2322576"/>
            <a:ext cx="8491137"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Bonjour. Mon ami dit que je paie trop cher. Je voudrais me renseigner.</a:t>
            </a:r>
          </a:p>
        </p:txBody>
      </p:sp>
      <p:sp>
        <p:nvSpPr>
          <p:cNvPr id="11" name="Rounded Rectangle 10"/>
          <p:cNvSpPr/>
          <p:nvPr/>
        </p:nvSpPr>
        <p:spPr>
          <a:xfrm>
            <a:off x="566928" y="2889503"/>
            <a:ext cx="11057839" cy="649224"/>
          </a:xfrm>
          <a:prstGeom prst="roundRect">
            <a:avLst>
              <a:gd name="adj" fmla="val 2253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54096"/>
            <a:ext cx="1652301"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LORRAINE</a:t>
            </a:r>
          </a:p>
        </p:txBody>
      </p:sp>
      <p:sp>
        <p:nvSpPr>
          <p:cNvPr id="13" name="TextBox 12"/>
          <p:cNvSpPr txBox="1"/>
          <p:nvPr/>
        </p:nvSpPr>
        <p:spPr>
          <a:xfrm>
            <a:off x="2584989" y="3054096"/>
            <a:ext cx="8491137"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Bonjour. Vous vous déplacez combien de fois par semaine ?</a:t>
            </a:r>
          </a:p>
        </p:txBody>
      </p:sp>
      <p:sp>
        <p:nvSpPr>
          <p:cNvPr id="14" name="Rounded Rectangle 13"/>
          <p:cNvSpPr/>
          <p:nvPr/>
        </p:nvSpPr>
        <p:spPr>
          <a:xfrm>
            <a:off x="566928" y="3621023"/>
            <a:ext cx="11057839" cy="649224"/>
          </a:xfrm>
          <a:prstGeom prst="roundRect">
            <a:avLst>
              <a:gd name="adj" fmla="val 2253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785615"/>
            <a:ext cx="1652301"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ROSARIO</a:t>
            </a:r>
          </a:p>
        </p:txBody>
      </p:sp>
      <p:sp>
        <p:nvSpPr>
          <p:cNvPr id="16" name="TextBox 15"/>
          <p:cNvSpPr txBox="1"/>
          <p:nvPr/>
        </p:nvSpPr>
        <p:spPr>
          <a:xfrm>
            <a:off x="2584989" y="3785615"/>
            <a:ext cx="8491137"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Cinq jours. Le matin et le soir. Des fois le samedi aussi.</a:t>
            </a:r>
          </a:p>
        </p:txBody>
      </p:sp>
      <p:sp>
        <p:nvSpPr>
          <p:cNvPr id="17" name="Rounded Rectangle 16"/>
          <p:cNvSpPr/>
          <p:nvPr/>
        </p:nvSpPr>
        <p:spPr>
          <a:xfrm>
            <a:off x="566928" y="4352544"/>
            <a:ext cx="11057839" cy="649224"/>
          </a:xfrm>
          <a:prstGeom prst="roundRect">
            <a:avLst>
              <a:gd name="adj" fmla="val 2253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17136"/>
            <a:ext cx="1652301"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LORRAINE</a:t>
            </a:r>
          </a:p>
        </p:txBody>
      </p:sp>
      <p:sp>
        <p:nvSpPr>
          <p:cNvPr id="19" name="TextBox 18"/>
          <p:cNvSpPr txBox="1"/>
          <p:nvPr/>
        </p:nvSpPr>
        <p:spPr>
          <a:xfrm>
            <a:off x="2584989" y="4517136"/>
            <a:ext cx="8491137"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Et vous restez dans l'île de Montréal ? C'est la zone A.</a:t>
            </a:r>
          </a:p>
        </p:txBody>
      </p:sp>
      <p:sp>
        <p:nvSpPr>
          <p:cNvPr id="20" name="Rounded Rectangle 19"/>
          <p:cNvSpPr/>
          <p:nvPr/>
        </p:nvSpPr>
        <p:spPr>
          <a:xfrm>
            <a:off x="566928" y="5084064"/>
            <a:ext cx="11057839" cy="649224"/>
          </a:xfrm>
          <a:prstGeom prst="roundRect">
            <a:avLst>
              <a:gd name="adj" fmla="val 2253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5248655"/>
            <a:ext cx="1652301"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ROSARIO</a:t>
            </a:r>
          </a:p>
        </p:txBody>
      </p:sp>
      <p:sp>
        <p:nvSpPr>
          <p:cNvPr id="22" name="TextBox 21"/>
          <p:cNvSpPr txBox="1"/>
          <p:nvPr/>
        </p:nvSpPr>
        <p:spPr>
          <a:xfrm>
            <a:off x="2584989" y="5248655"/>
            <a:ext cx="8491137"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Oui. La maison, l'école, l'épicerie. Tout est à Montréal.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dollars soixante-quinze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LORRAINE</a:t>
            </a:r>
          </a:p>
        </p:txBody>
      </p:sp>
      <p:sp>
        <p:nvSpPr>
          <p:cNvPr id="9" name="TextBox 8"/>
          <p:cNvSpPr txBox="1"/>
          <p:nvPr/>
        </p:nvSpPr>
        <p:spPr>
          <a:xfrm>
            <a:off x="2584989" y="1901952"/>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 Un passage tout seul coûte trois dollars soixante-quinze.</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12" name="TextBox 11"/>
          <p:cNvSpPr txBox="1"/>
          <p:nvPr/>
        </p:nvSpPr>
        <p:spPr>
          <a:xfrm>
            <a:off x="2584989" y="2651252"/>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dix passages ? C'est celui-là que j'achète.</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LORRAINE</a:t>
            </a:r>
          </a:p>
        </p:txBody>
      </p:sp>
      <p:sp>
        <p:nvSpPr>
          <p:cNvPr id="15" name="TextBox 14"/>
          <p:cNvSpPr txBox="1"/>
          <p:nvPr/>
        </p:nvSpPr>
        <p:spPr>
          <a:xfrm>
            <a:off x="2584989" y="3400551"/>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Trente-cinq dollars. Ça revient à trois cinquante le passage.</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18" name="TextBox 17"/>
          <p:cNvSpPr txBox="1"/>
          <p:nvPr/>
        </p:nvSpPr>
        <p:spPr>
          <a:xfrm>
            <a:off x="2584989" y="4149851"/>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D'accord. Et pour une semaine complète ?</a:t>
            </a:r>
          </a:p>
        </p:txBody>
      </p:sp>
      <p:sp>
        <p:nvSpPr>
          <p:cNvPr id="19" name="Rounded Rectangle 18"/>
          <p:cNvSpPr/>
          <p:nvPr/>
        </p:nvSpPr>
        <p:spPr>
          <a:xfrm>
            <a:off x="566928" y="47345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899151"/>
            <a:ext cx="165230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LORRAINE</a:t>
            </a:r>
          </a:p>
        </p:txBody>
      </p:sp>
      <p:sp>
        <p:nvSpPr>
          <p:cNvPr id="21" name="TextBox 20"/>
          <p:cNvSpPr txBox="1"/>
          <p:nvPr/>
        </p:nvSpPr>
        <p:spPr>
          <a:xfrm>
            <a:off x="2584989" y="4899151"/>
            <a:ext cx="849113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L'hebdo est à trente-trois vingt-cinq. Il est bon du lundi au dimanche.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Cent dix dollars pour le mois</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9" name="TextBox 8"/>
          <p:cNvSpPr txBox="1"/>
          <p:nvPr/>
        </p:nvSpPr>
        <p:spPr>
          <a:xfrm>
            <a:off x="2584989" y="1901952"/>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Trente-trois ? C'est moins cher que le dix passages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LORRAINE</a:t>
            </a:r>
          </a:p>
        </p:txBody>
      </p:sp>
      <p:sp>
        <p:nvSpPr>
          <p:cNvPr id="12" name="TextBox 11"/>
          <p:cNvSpPr txBox="1"/>
          <p:nvPr/>
        </p:nvSpPr>
        <p:spPr>
          <a:xfrm>
            <a:off x="2584989" y="2651252"/>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et c'est illimité. Mais le mensuel est encore mieux pour vous.</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15" name="TextBox 14"/>
          <p:cNvSpPr txBox="1"/>
          <p:nvPr/>
        </p:nvSpPr>
        <p:spPr>
          <a:xfrm>
            <a:off x="2584989" y="3400551"/>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coûte le mensuel ?</a:t>
            </a:r>
          </a:p>
        </p:txBody>
      </p:sp>
      <p:sp>
        <p:nvSpPr>
          <p:cNvPr id="16" name="Rounded Rectangle 15"/>
          <p:cNvSpPr/>
          <p:nvPr/>
        </p:nvSpPr>
        <p:spPr>
          <a:xfrm>
            <a:off x="566928" y="39852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65230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LORRAINE</a:t>
            </a:r>
          </a:p>
        </p:txBody>
      </p:sp>
      <p:sp>
        <p:nvSpPr>
          <p:cNvPr id="18" name="TextBox 17"/>
          <p:cNvSpPr txBox="1"/>
          <p:nvPr/>
        </p:nvSpPr>
        <p:spPr>
          <a:xfrm>
            <a:off x="2584989" y="4149851"/>
            <a:ext cx="849113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Cent dix dollars pour le mois. Vous, vous payez à peu près cent quarante.</a:t>
            </a:r>
          </a:p>
        </p:txBody>
      </p:sp>
      <p:sp>
        <p:nvSpPr>
          <p:cNvPr id="19" name="Rounded Rectangle 18"/>
          <p:cNvSpPr/>
          <p:nvPr/>
        </p:nvSpPr>
        <p:spPr>
          <a:xfrm>
            <a:off x="566928" y="50723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36971"/>
            <a:ext cx="165230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ROSARIO</a:t>
            </a:r>
          </a:p>
        </p:txBody>
      </p:sp>
      <p:sp>
        <p:nvSpPr>
          <p:cNvPr id="21" name="TextBox 20"/>
          <p:cNvSpPr txBox="1"/>
          <p:nvPr/>
        </p:nvSpPr>
        <p:spPr>
          <a:xfrm>
            <a:off x="2584989" y="5236971"/>
            <a:ext cx="849113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Cent dix… Je vais y penser. Merci beaucoup, madame.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titres de la zone A</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TITRE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PRIX</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passage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3,75 $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Dix passages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35,00 $</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Hebdo, du lundi au dimanche</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33,25 $</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Mensuel</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110,00 $</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Prix de la zone A, tarif ordinaire.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QUE LE PRÉPOSÉ DEMANDE TOUJOURS EN PREMIER</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Vous vous déplacez combien de fois par semaine ?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Préparez la réponse avant d'arriver au comptoir. Elle décide du titre qu'on vous proposera, et une réponse claire fait gagner deux minutes à tout le monde. La deuxième question est toujours la zone : restez-vous à Montréal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Lorraine demande combien de fois par semaine Rosario se déplace.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Rosario sort de l'île de Montréal chaque jour.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passage tout seul coûte trois dollars soixante-quinze.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L'hebdo est bon du lundi au dimanche.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L'hebdo coûte plus cher que le dix passages.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titre mensuel coûte cent dix dollars.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Lorraine demande combien de fois par semaine Rosario se déplace.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Rosario sort de l'île de Montréal chaque jour.   </a:t>
            </a:r>
            <a:r>
              <a:rPr sz="1400" b="1" i="0">
                <a:solidFill>
                  <a:srgbClr val="07734A"/>
                </a:solidFill>
                <a:latin typeface="Verdana"/>
              </a:rPr>
              <a:t>» faux — tout est à Montréal</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passage tout seul coûte trois dollars soixante-quinze.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L'hebdo est bon du lundi au dimanche.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L'hebdo coûte plus cher que le dix passages.   </a:t>
            </a:r>
            <a:r>
              <a:rPr sz="1400" b="1" i="0">
                <a:solidFill>
                  <a:srgbClr val="07734A"/>
                </a:solidFill>
                <a:latin typeface="Verdana"/>
              </a:rPr>
              <a:t>» faux — 33,25 $ contre 35 $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titre mensuel coûte cent dix dollars.   </a:t>
            </a:r>
            <a:r>
              <a:rPr sz="14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titre qui vous conviendrait le mieux, et pourquoi.</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Je me déplace ___ fois par semaine.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meilleur titre pour moi, c'est ___ parce que ___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