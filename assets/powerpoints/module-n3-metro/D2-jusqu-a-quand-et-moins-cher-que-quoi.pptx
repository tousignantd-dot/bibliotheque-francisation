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et dernière séance du défi 3. Elle porte sur les mots grammaticaux qui font la grille : les prépositions de temps et la comparaison. Ouvrir en projetant la ligne « du vendredi 16 h au lundi 5 h » et en demandant si le titre marche le samedi.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retrouver chacun des cinq dans la grille projetée : ils y sont tous, et souvent dans la même ligne.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sur la note : un titre 24 h acheté le matin peut être commencé le soir. Beaucoup d'élèves l'ignorent et le gaspillent.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faire calculer au tableau. Poser la question inverse : quel titre prendre si on arrive au Québec le 25 du mois ? Réponse : un hebdo, puis un mensuel le premier.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2 du défi 3. Faire relire chaque ligne complétée en montrant la case correspondante sur la grille projetée.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L'oubli du « que » est la faute la plus fréquente à ce niveau et elle s'entend tout de suite. La corriger une fois clairement.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4 du défi 3. Rappeler que la borne d'un âge est toujours incluse : « 65 ans et plus » comprend une personne de soixante-cinq ans exactement.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programme nomme les deux dans la même ligne de son lexique, ce qui entretient la confusion. Les séparer clairement. Faire dire la phrase « Prenez ma place, madame » par tout le groupe : deux mots suffisent, et on ne discute pas.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Dernier billet avant le bloc E : vérifier que les cinq petits mots sont acquis, ce sont eux qu'on retrouvera dans la production écrite de la séance E2.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Jusqu'à quand, et moins cher que quoi</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Chaque ligne de la grille dit un prix et une durée. Se tromper sur cinq petits mots, c'est acheter le mauvais titre.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une durée : de… à…, du… au…, jusqu'à, à partir de, pendant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comparer deux prix avec « plus cher que » et « moins cher que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une borne d'âge : 11 ans et moins, 65 ans et plus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qui a droit aux places réservées.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mots qui disent une durée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DIT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de… à…</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début et une fin, avec des heures</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du… au…</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début et une fin, avec des jours</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jusqu'à</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seulement la fin</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à partir de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seulement le début</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pendant</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une longueur de temps qui se compte</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Devant un jour, « de » devient « du » et « à » devient « au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titres et leur durée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TITRE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COMMENT C'EST ÉCRIT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Soirée illimitée</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valide de 18 h à 5 h</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Hebdo</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du lundi au dimanche</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Week-end illimité</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du vendredi 16 h au lundi 5 h</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Mensuel</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bon jusqu'à la fin du mois</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Correspondance</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pendant 120 minutes</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 titre 24 h commence à partir de la validation, pas de l'achat.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acheter un mensuel le 28 du mois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acheter un mensuel en début de mois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mensuel finit le dernier jour du mois, pas trente jours après l'achat. Acheté le 28, il ne sert que trois ou quatre jours pour cent dix dollars. C'est le piège de lecture le plus coûteux de la grille.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petit mot qui manque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chaque ligne de la grille.</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Soirée illimitée : valide ___ 18 h à 5 h.</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Hebdo : valide du lundi ___ dimanche.</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Week-end illimité : ___ vendredi 16 h au lundi 5 h.</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mensuel est bon ___ la fin du mois.</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correspondance dure ___ cent vingt minutes.</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titre 24 h est bon ___ partir de la 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petit mot qui manque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Soirée illimitée : valide ___ 18 h à 5 h.   </a:t>
            </a:r>
            <a:r>
              <a:rPr sz="1900" b="1" i="0">
                <a:solidFill>
                  <a:srgbClr val="07734A"/>
                </a:solidFill>
                <a:latin typeface="Verdana"/>
              </a:rPr>
              <a:t>» de</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Hebdo : valide du lundi ___ dimanche.   </a:t>
            </a:r>
            <a:r>
              <a:rPr sz="1900" b="1" i="0">
                <a:solidFill>
                  <a:srgbClr val="07734A"/>
                </a:solidFill>
                <a:latin typeface="Verdana"/>
              </a:rPr>
              <a:t>» au</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Week-end illimité : ___ vendredi 16 h au lundi 5 h.   </a:t>
            </a:r>
            <a:r>
              <a:rPr sz="1900" b="1" i="0">
                <a:solidFill>
                  <a:srgbClr val="07734A"/>
                </a:solidFill>
                <a:latin typeface="Verdana"/>
              </a:rPr>
              <a:t>» du</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mensuel est bon ___ la fin du mois.   </a:t>
            </a:r>
            <a:r>
              <a:rPr sz="1900" b="1" i="0">
                <a:solidFill>
                  <a:srgbClr val="07734A"/>
                </a:solidFill>
                <a:latin typeface="Verdana"/>
              </a:rPr>
              <a:t>» jusqu'à</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correspondance dure ___ cent vingt minutes.   </a:t>
            </a:r>
            <a:r>
              <a:rPr sz="1900" b="1" i="0">
                <a:solidFill>
                  <a:srgbClr val="07734A"/>
                </a:solidFill>
                <a:latin typeface="Verdana"/>
              </a:rPr>
              <a:t>» pendant</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titre 24 h est bon ___ partir de la validation.   </a:t>
            </a:r>
            <a:r>
              <a:rPr sz="1900" b="1" i="0">
                <a:solidFill>
                  <a:srgbClr val="07734A"/>
                </a:solidFill>
                <a:latin typeface="Verdana"/>
              </a:rPr>
              <a:t>» 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Comparer deux prix</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FORME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moins cher que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l'hebdo est moins cher que le dix passages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plus cher que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mensuel est plus cher que l'hebdo</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aussi cher que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dix passages est presque aussi cher que l'hebdo</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plus de / moins de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moins de douze ans · plus de cinq enfants</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On compare avec « que ». Devant un nombre, c'est «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COMPARAISON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Plus cher, moins cher, plus de, moins de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chaque phrase.</a:t>
            </a:r>
          </a:p>
        </p:txBody>
      </p:sp>
      <p:sp>
        <p:nvSpPr>
          <p:cNvPr id="8" name="Rounded Rectangle 7"/>
          <p:cNvSpPr/>
          <p:nvPr/>
        </p:nvSpPr>
        <p:spPr>
          <a:xfrm>
            <a:off x="566928" y="2139696"/>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L'hebdo à 33,25 $ est ___ le dix passages à 35 $.</a:t>
            </a:r>
          </a:p>
        </p:txBody>
      </p:sp>
      <p:sp>
        <p:nvSpPr>
          <p:cNvPr id="12" name="Rounded Rectangle 11"/>
          <p:cNvSpPr/>
          <p:nvPr/>
        </p:nvSpPr>
        <p:spPr>
          <a:xfrm>
            <a:off x="6159855" y="2139696"/>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mensuel à 110 $ est ___ l'hebdo à 33,25 $.</a:t>
            </a:r>
          </a:p>
        </p:txBody>
      </p:sp>
      <p:sp>
        <p:nvSpPr>
          <p:cNvPr id="16" name="Rounded Rectangle 15"/>
          <p:cNvSpPr/>
          <p:nvPr/>
        </p:nvSpPr>
        <p:spPr>
          <a:xfrm>
            <a:off x="566928" y="3183127"/>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enfants de ___ douze ans voyagent gratuitement.</a:t>
            </a:r>
          </a:p>
        </p:txBody>
      </p:sp>
      <p:sp>
        <p:nvSpPr>
          <p:cNvPr id="20" name="Rounded Rectangle 19"/>
          <p:cNvSpPr/>
          <p:nvPr/>
        </p:nvSpPr>
        <p:spPr>
          <a:xfrm>
            <a:off x="6159855" y="3183127"/>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Une personne ne peut pas accompagner ___ cinq enfants.</a:t>
            </a:r>
          </a:p>
        </p:txBody>
      </p:sp>
      <p:sp>
        <p:nvSpPr>
          <p:cNvPr id="24" name="Rounded Rectangle 23"/>
          <p:cNvSpPr/>
          <p:nvPr/>
        </p:nvSpPr>
        <p:spPr>
          <a:xfrm>
            <a:off x="566928" y="4226560"/>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tarif réduit à 66 $ est ___ le tarif ordinaire à 110 $.</a:t>
            </a:r>
          </a:p>
        </p:txBody>
      </p:sp>
      <p:sp>
        <p:nvSpPr>
          <p:cNvPr id="28" name="Rounded Rectangle 27"/>
          <p:cNvSpPr/>
          <p:nvPr/>
        </p:nvSpPr>
        <p:spPr>
          <a:xfrm>
            <a:off x="6159855" y="4226560"/>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Aller à Laval coûte ___ rester à Montréal.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Plus cher, moins cher, plus de, moins de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L'hebdo à 33,25 $ est ___ le dix passages à 35 $.   </a:t>
            </a:r>
            <a:r>
              <a:rPr sz="1700" b="1" i="0">
                <a:solidFill>
                  <a:srgbClr val="07734A"/>
                </a:solidFill>
                <a:latin typeface="Verdana"/>
              </a:rPr>
              <a:t>» moins cher que</a:t>
            </a:r>
          </a:p>
        </p:txBody>
      </p:sp>
      <p:sp>
        <p:nvSpPr>
          <p:cNvPr id="12" name="Rounded Rectangle 11"/>
          <p:cNvSpPr/>
          <p:nvPr/>
        </p:nvSpPr>
        <p:spPr>
          <a:xfrm>
            <a:off x="6159855" y="2139696"/>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mensuel à 110 $ est ___ l'hebdo à 33,25 $.   </a:t>
            </a:r>
            <a:r>
              <a:rPr sz="1700" b="1" i="0">
                <a:solidFill>
                  <a:srgbClr val="07734A"/>
                </a:solidFill>
                <a:latin typeface="Verdana"/>
              </a:rPr>
              <a:t>» plus cher que</a:t>
            </a:r>
          </a:p>
        </p:txBody>
      </p:sp>
      <p:sp>
        <p:nvSpPr>
          <p:cNvPr id="16" name="Rounded Rectangle 15"/>
          <p:cNvSpPr/>
          <p:nvPr/>
        </p:nvSpPr>
        <p:spPr>
          <a:xfrm>
            <a:off x="566928" y="3183127"/>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enfants de ___ douze ans voyagent gratuitement.   </a:t>
            </a:r>
            <a:r>
              <a:rPr sz="1700" b="1" i="0">
                <a:solidFill>
                  <a:srgbClr val="07734A"/>
                </a:solidFill>
                <a:latin typeface="Verdana"/>
              </a:rPr>
              <a:t>» moins de</a:t>
            </a:r>
          </a:p>
        </p:txBody>
      </p:sp>
      <p:sp>
        <p:nvSpPr>
          <p:cNvPr id="20" name="Rounded Rectangle 19"/>
          <p:cNvSpPr/>
          <p:nvPr/>
        </p:nvSpPr>
        <p:spPr>
          <a:xfrm>
            <a:off x="6159855" y="3183127"/>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Une personne ne peut pas accompagner ___ cinq enfants.   </a:t>
            </a:r>
            <a:r>
              <a:rPr sz="1700" b="1" i="0">
                <a:solidFill>
                  <a:srgbClr val="07734A"/>
                </a:solidFill>
                <a:latin typeface="Verdana"/>
              </a:rPr>
              <a:t>» plus de</a:t>
            </a:r>
          </a:p>
        </p:txBody>
      </p:sp>
      <p:sp>
        <p:nvSpPr>
          <p:cNvPr id="24" name="Rounded Rectangle 23"/>
          <p:cNvSpPr/>
          <p:nvPr/>
        </p:nvSpPr>
        <p:spPr>
          <a:xfrm>
            <a:off x="566928" y="4226560"/>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tarif réduit à 66 $ est ___ le tarif ordinaire à 110 $.   </a:t>
            </a:r>
            <a:r>
              <a:rPr sz="1700" b="1" i="0">
                <a:solidFill>
                  <a:srgbClr val="07734A"/>
                </a:solidFill>
                <a:latin typeface="Verdana"/>
              </a:rPr>
              <a:t>» moins cher que</a:t>
            </a:r>
          </a:p>
        </p:txBody>
      </p:sp>
      <p:sp>
        <p:nvSpPr>
          <p:cNvPr id="28" name="Rounded Rectangle 27"/>
          <p:cNvSpPr/>
          <p:nvPr/>
        </p:nvSpPr>
        <p:spPr>
          <a:xfrm>
            <a:off x="6159855" y="4226560"/>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Aller à Laval coûte ___ rester à Montréal.   </a:t>
            </a:r>
            <a:r>
              <a:rPr sz="1700" b="1" i="0">
                <a:solidFill>
                  <a:srgbClr val="07734A"/>
                </a:solidFill>
                <a:latin typeface="Verdana"/>
              </a:rPr>
              <a:t>» plus cher que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DEUX CHOSES DIFFÉRENTES, SOUVENT CONFONDUES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places et le service</a:t>
            </a:r>
          </a:p>
        </p:txBody>
      </p:sp>
      <p:sp>
        <p:nvSpPr>
          <p:cNvPr id="7" name="Rounded Rectangle 6"/>
          <p:cNvSpPr/>
          <p:nvPr/>
        </p:nvSpPr>
        <p:spPr>
          <a:xfrm>
            <a:off x="566928" y="1810512"/>
            <a:ext cx="5446623"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Les places réservées</a:t>
            </a:r>
          </a:p>
        </p:txBody>
      </p:sp>
      <p:sp>
        <p:nvSpPr>
          <p:cNvPr id="9" name="TextBox 8"/>
          <p:cNvSpPr txBox="1"/>
          <p:nvPr/>
        </p:nvSpPr>
        <p:spPr>
          <a:xfrm>
            <a:off x="886968" y="2499360"/>
            <a:ext cx="4806543" cy="330708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Les premières rangées de l'autobus ordinaire, juste après le chauffeur, signalées par un petit dessin. Pour les personnes à mobilité réduite, les femmes enceintes et les personnes âgées. On peut s'y asseoir, mais on se lève dès qu'une de ces personnes monte, sans attendre qu'elle demande.</a:t>
            </a:r>
          </a:p>
        </p:txBody>
      </p:sp>
      <p:sp>
        <p:nvSpPr>
          <p:cNvPr id="10" name="Rounded Rectangle 9"/>
          <p:cNvSpPr/>
          <p:nvPr/>
        </p:nvSpPr>
        <p:spPr>
          <a:xfrm>
            <a:off x="6178143" y="1810512"/>
            <a:ext cx="5446623"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 transport adapté</a:t>
            </a:r>
          </a:p>
        </p:txBody>
      </p:sp>
      <p:sp>
        <p:nvSpPr>
          <p:cNvPr id="12" name="TextBox 11"/>
          <p:cNvSpPr txBox="1"/>
          <p:nvPr/>
        </p:nvSpPr>
        <p:spPr>
          <a:xfrm>
            <a:off x="6498183" y="2499360"/>
            <a:ext cx="4806543" cy="330708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service à part, avec ses propres véhicules, pour les personnes qui ne peuvent pas prendre l'autobus ordinaire. Il faut s'inscrire une fois, avec un document médical, puis réserver chaque déplacement d'avance.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jusqu'à quand votre titre est bon, avec le bon petit mot.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Mon titre est bon ___ la fin du mois.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L'hebdo va ___ lundi ___ dimanche.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