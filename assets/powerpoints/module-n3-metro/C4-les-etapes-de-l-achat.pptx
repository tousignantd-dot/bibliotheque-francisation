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Séance de synthèse du défi 2, courte. Elle rassemble tout ce que les trois séances précédentes ont installé et le met dans l'ordre. Ouvrir en demandant au groupe de reconstituer l'achat de Rosario de mémoire, sans notes.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les objectifs à voix haute. Y revenir au billet de sortie.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Premier des deux tableaux : le second suit immédiatement. Faire répéter les trois premières phrases avant de passer à la suite.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Insister sur le moment 4 : il peut arriver n'importe quand, plusieurs fois, et il n'a rien d'exceptionnel.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C'est l'exercice 4 du défi 2. Le faire d'abord de mémoire, puis vérifier avec l'activité interactive. Terminer par un enchaînement complet, chronométré : deux minutes suffisent.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quatre verbes sont dans l'exercice 5 du défi 2, qui les fait reconnaître en images. « Valider » est celui dont l'oubli coûte une amende : le répéter.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Erreur coûteuse et très fréquente chez les nouveaux arrivants, surtout dans l'autobus, où le lecteur est moins visible qu'un tourniquet. Le dire clairement, sans dramatiser.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Dernière activité du défi 2, et répétition générale du jeu de rôle de la séance E1. Passer dans les rangées sans interrompre : noter deux ou trois erreurs communes et les reprendre à la fin, sans nommer personne.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Devoir court. C'est la fiche que l'élève pourra emporter au comptoir. Le dire au groupe : ce billet-là sert vraiment à quelque chose.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SÉANCE C4  ·  MODULE 6</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Les étapes de l'achat</a:t>
            </a:r>
          </a:p>
        </p:txBody>
      </p:sp>
      <p:sp>
        <p:nvSpPr>
          <p:cNvPr id="5" name="Rounded Rectangle 4"/>
          <p:cNvSpPr/>
          <p:nvPr/>
        </p:nvSpPr>
        <p:spPr>
          <a:xfrm>
            <a:off x="566928" y="3794760"/>
            <a:ext cx="9960559" cy="1394968"/>
          </a:xfrm>
          <a:prstGeom prst="roundRect">
            <a:avLst>
              <a:gd name="adj" fmla="val 1048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7823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Six moments, six phrases. Un achat au comptoir dure deux minutes et suit toujours le même ordre.</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60 minutes  ·  Le bon titre de transport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Le bon titre de transport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mettre en ordre les six moments d'un achat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dire la phrase qui va avec chaque moment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reconnaître les gestes de l'achat : recharger, valider, payer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enchaîner les six phrases sans s'arrêter.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Le bon titre de transport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Les six moments, dans l'ordre</a:t>
            </a:r>
          </a:p>
        </p:txBody>
      </p:sp>
      <p:sp>
        <p:nvSpPr>
          <p:cNvPr id="7" name="Rounded Rectangle 6"/>
          <p:cNvSpPr/>
          <p:nvPr/>
        </p:nvSpPr>
        <p:spPr>
          <a:xfrm>
            <a:off x="566928" y="1810512"/>
            <a:ext cx="11057839" cy="2258568"/>
          </a:xfrm>
          <a:prstGeom prst="roundRect">
            <a:avLst>
              <a:gd name="adj" fmla="val 647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LE MOMENT</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QU'ON DIT</a:t>
            </a:r>
          </a:p>
        </p:txBody>
      </p:sp>
      <p:sp>
        <p:nvSpPr>
          <p:cNvPr id="10" name="TextBox 9"/>
          <p:cNvSpPr txBox="1"/>
          <p:nvPr/>
        </p:nvSpPr>
        <p:spPr>
          <a:xfrm>
            <a:off x="932688" y="2395728"/>
            <a:ext cx="3291492" cy="338328"/>
          </a:xfrm>
          <a:prstGeom prst="rect">
            <a:avLst/>
          </a:prstGeom>
          <a:noFill/>
        </p:spPr>
        <p:txBody>
          <a:bodyPr wrap="square" lIns="0" rIns="0" tIns="0" bIns="0" anchor="t">
            <a:spAutoFit/>
          </a:bodyPr>
          <a:lstStyle/>
          <a:p>
            <a:pPr algn="l">
              <a:lnSpc>
                <a:spcPct val="132000"/>
              </a:lnSpc>
            </a:pPr>
            <a:r>
              <a:rPr sz="1800" b="1" i="0">
                <a:solidFill>
                  <a:srgbClr val="A5335F"/>
                </a:solidFill>
                <a:latin typeface="Verdana"/>
              </a:rPr>
              <a:t>1 · on arrive</a:t>
            </a:r>
          </a:p>
        </p:txBody>
      </p:sp>
      <p:sp>
        <p:nvSpPr>
          <p:cNvPr id="11" name="TextBox 10"/>
          <p:cNvSpPr txBox="1"/>
          <p:nvPr/>
        </p:nvSpPr>
        <p:spPr>
          <a:xfrm>
            <a:off x="4443636" y="2395728"/>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Bonjour. Je voudrais un titre mensuel, s'il vous plaît.</a:t>
            </a:r>
          </a:p>
        </p:txBody>
      </p:sp>
      <p:sp>
        <p:nvSpPr>
          <p:cNvPr id="12" name="Rectangle 11"/>
          <p:cNvSpPr/>
          <p:nvPr/>
        </p:nvSpPr>
        <p:spPr>
          <a:xfrm>
            <a:off x="932688" y="2807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35224"/>
            <a:ext cx="3291492" cy="338328"/>
          </a:xfrm>
          <a:prstGeom prst="rect">
            <a:avLst/>
          </a:prstGeom>
          <a:noFill/>
        </p:spPr>
        <p:txBody>
          <a:bodyPr wrap="square" lIns="0" rIns="0" tIns="0" bIns="0" anchor="t">
            <a:spAutoFit/>
          </a:bodyPr>
          <a:lstStyle/>
          <a:p>
            <a:pPr algn="l">
              <a:lnSpc>
                <a:spcPct val="132000"/>
              </a:lnSpc>
            </a:pPr>
            <a:r>
              <a:rPr sz="1800" b="1" i="0">
                <a:solidFill>
                  <a:srgbClr val="A5335F"/>
                </a:solidFill>
                <a:latin typeface="Verdana"/>
              </a:rPr>
              <a:t>2 · on donne sa carte</a:t>
            </a:r>
          </a:p>
        </p:txBody>
      </p:sp>
      <p:sp>
        <p:nvSpPr>
          <p:cNvPr id="14" name="TextBox 13"/>
          <p:cNvSpPr txBox="1"/>
          <p:nvPr/>
        </p:nvSpPr>
        <p:spPr>
          <a:xfrm>
            <a:off x="4443636" y="2935224"/>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Oui, la voici.</a:t>
            </a:r>
          </a:p>
        </p:txBody>
      </p:sp>
      <p:sp>
        <p:nvSpPr>
          <p:cNvPr id="15" name="Rectangle 14"/>
          <p:cNvSpPr/>
          <p:nvPr/>
        </p:nvSpPr>
        <p:spPr>
          <a:xfrm>
            <a:off x="932688" y="33467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474720"/>
            <a:ext cx="3291492" cy="338328"/>
          </a:xfrm>
          <a:prstGeom prst="rect">
            <a:avLst/>
          </a:prstGeom>
          <a:noFill/>
        </p:spPr>
        <p:txBody>
          <a:bodyPr wrap="square" lIns="0" rIns="0" tIns="0" bIns="0" anchor="t">
            <a:spAutoFit/>
          </a:bodyPr>
          <a:lstStyle/>
          <a:p>
            <a:pPr algn="l">
              <a:lnSpc>
                <a:spcPct val="132000"/>
              </a:lnSpc>
            </a:pPr>
            <a:r>
              <a:rPr sz="1800" b="1" i="0">
                <a:solidFill>
                  <a:srgbClr val="A5335F"/>
                </a:solidFill>
                <a:latin typeface="Verdana"/>
              </a:rPr>
              <a:t>3 · on se renseigne</a:t>
            </a:r>
          </a:p>
        </p:txBody>
      </p:sp>
      <p:sp>
        <p:nvSpPr>
          <p:cNvPr id="17" name="TextBox 16"/>
          <p:cNvSpPr txBox="1"/>
          <p:nvPr/>
        </p:nvSpPr>
        <p:spPr>
          <a:xfrm>
            <a:off x="4443636" y="3474720"/>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Est-ce qu'elle a droit au tarif réduit ?</a:t>
            </a:r>
          </a:p>
        </p:txBody>
      </p:sp>
      <p:sp>
        <p:nvSpPr>
          <p:cNvPr id="18" name="Rounded Rectangle 17"/>
          <p:cNvSpPr/>
          <p:nvPr/>
        </p:nvSpPr>
        <p:spPr>
          <a:xfrm>
            <a:off x="566928" y="4306824"/>
            <a:ext cx="11057839" cy="843534"/>
          </a:xfrm>
          <a:prstGeom prst="roundRect">
            <a:avLst>
              <a:gd name="adj" fmla="val 17344"/>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69264" y="4562856"/>
            <a:ext cx="10234879" cy="386334"/>
          </a:xfrm>
          <a:prstGeom prst="rect">
            <a:avLst/>
          </a:prstGeom>
          <a:noFill/>
        </p:spPr>
        <p:txBody>
          <a:bodyPr wrap="square" lIns="0" rIns="0" tIns="0" bIns="0" anchor="t">
            <a:spAutoFit/>
          </a:bodyPr>
          <a:lstStyle/>
          <a:p>
            <a:pPr algn="l">
              <a:lnSpc>
                <a:spcPct val="145000"/>
              </a:lnSpc>
            </a:pPr>
            <a:r>
              <a:rPr sz="1800" b="0" i="0">
                <a:solidFill>
                  <a:srgbClr val="4B4F52"/>
                </a:solidFill>
                <a:latin typeface="Verdana"/>
              </a:rPr>
              <a:t>Une chose à la fois, et on attend la réponse.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Le bon titre de transport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Les six moments, la fin</a:t>
            </a:r>
          </a:p>
        </p:txBody>
      </p:sp>
      <p:sp>
        <p:nvSpPr>
          <p:cNvPr id="7" name="Rounded Rectangle 6"/>
          <p:cNvSpPr/>
          <p:nvPr/>
        </p:nvSpPr>
        <p:spPr>
          <a:xfrm>
            <a:off x="566928" y="1810512"/>
            <a:ext cx="11057839" cy="2258568"/>
          </a:xfrm>
          <a:prstGeom prst="roundRect">
            <a:avLst>
              <a:gd name="adj" fmla="val 647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LE MOMENT</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QU'ON DIT</a:t>
            </a:r>
          </a:p>
        </p:txBody>
      </p:sp>
      <p:sp>
        <p:nvSpPr>
          <p:cNvPr id="10" name="TextBox 9"/>
          <p:cNvSpPr txBox="1"/>
          <p:nvPr/>
        </p:nvSpPr>
        <p:spPr>
          <a:xfrm>
            <a:off x="932688" y="2395728"/>
            <a:ext cx="3291492" cy="338328"/>
          </a:xfrm>
          <a:prstGeom prst="rect">
            <a:avLst/>
          </a:prstGeom>
          <a:noFill/>
        </p:spPr>
        <p:txBody>
          <a:bodyPr wrap="square" lIns="0" rIns="0" tIns="0" bIns="0" anchor="t">
            <a:spAutoFit/>
          </a:bodyPr>
          <a:lstStyle/>
          <a:p>
            <a:pPr algn="l">
              <a:lnSpc>
                <a:spcPct val="132000"/>
              </a:lnSpc>
            </a:pPr>
            <a:r>
              <a:rPr sz="1800" b="1" i="0">
                <a:solidFill>
                  <a:srgbClr val="A5335F"/>
                </a:solidFill>
                <a:latin typeface="Verdana"/>
              </a:rPr>
              <a:t>4 · on n'a pas compris</a:t>
            </a:r>
          </a:p>
        </p:txBody>
      </p:sp>
      <p:sp>
        <p:nvSpPr>
          <p:cNvPr id="11" name="TextBox 10"/>
          <p:cNvSpPr txBox="1"/>
          <p:nvPr/>
        </p:nvSpPr>
        <p:spPr>
          <a:xfrm>
            <a:off x="4443636" y="2395728"/>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Pardon, pouvez-vous répéter, s'il vous plaît ?</a:t>
            </a:r>
          </a:p>
        </p:txBody>
      </p:sp>
      <p:sp>
        <p:nvSpPr>
          <p:cNvPr id="12" name="Rectangle 11"/>
          <p:cNvSpPr/>
          <p:nvPr/>
        </p:nvSpPr>
        <p:spPr>
          <a:xfrm>
            <a:off x="932688" y="2807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35224"/>
            <a:ext cx="3291492" cy="338328"/>
          </a:xfrm>
          <a:prstGeom prst="rect">
            <a:avLst/>
          </a:prstGeom>
          <a:noFill/>
        </p:spPr>
        <p:txBody>
          <a:bodyPr wrap="square" lIns="0" rIns="0" tIns="0" bIns="0" anchor="t">
            <a:spAutoFit/>
          </a:bodyPr>
          <a:lstStyle/>
          <a:p>
            <a:pPr algn="l">
              <a:lnSpc>
                <a:spcPct val="132000"/>
              </a:lnSpc>
            </a:pPr>
            <a:r>
              <a:rPr sz="1800" b="1" i="0">
                <a:solidFill>
                  <a:srgbClr val="A5335F"/>
                </a:solidFill>
                <a:latin typeface="Verdana"/>
              </a:rPr>
              <a:t>5 · on paie</a:t>
            </a:r>
          </a:p>
        </p:txBody>
      </p:sp>
      <p:sp>
        <p:nvSpPr>
          <p:cNvPr id="14" name="TextBox 13"/>
          <p:cNvSpPr txBox="1"/>
          <p:nvPr/>
        </p:nvSpPr>
        <p:spPr>
          <a:xfrm>
            <a:off x="4443636" y="2935224"/>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Par carte, s'il vous plaît.</a:t>
            </a:r>
          </a:p>
        </p:txBody>
      </p:sp>
      <p:sp>
        <p:nvSpPr>
          <p:cNvPr id="15" name="Rectangle 14"/>
          <p:cNvSpPr/>
          <p:nvPr/>
        </p:nvSpPr>
        <p:spPr>
          <a:xfrm>
            <a:off x="932688" y="33467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474720"/>
            <a:ext cx="3291492" cy="338328"/>
          </a:xfrm>
          <a:prstGeom prst="rect">
            <a:avLst/>
          </a:prstGeom>
          <a:noFill/>
        </p:spPr>
        <p:txBody>
          <a:bodyPr wrap="square" lIns="0" rIns="0" tIns="0" bIns="0" anchor="t">
            <a:spAutoFit/>
          </a:bodyPr>
          <a:lstStyle/>
          <a:p>
            <a:pPr algn="l">
              <a:lnSpc>
                <a:spcPct val="132000"/>
              </a:lnSpc>
            </a:pPr>
            <a:r>
              <a:rPr sz="1800" b="1" i="0">
                <a:solidFill>
                  <a:srgbClr val="A5335F"/>
                </a:solidFill>
                <a:latin typeface="Verdana"/>
              </a:rPr>
              <a:t>6 · on vérifie</a:t>
            </a:r>
          </a:p>
        </p:txBody>
      </p:sp>
      <p:sp>
        <p:nvSpPr>
          <p:cNvPr id="17" name="TextBox 16"/>
          <p:cNvSpPr txBox="1"/>
          <p:nvPr/>
        </p:nvSpPr>
        <p:spPr>
          <a:xfrm>
            <a:off x="4443636" y="3474720"/>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Un mensuel, zone A, cent dix dollars. C'est ça ?</a:t>
            </a:r>
          </a:p>
        </p:txBody>
      </p:sp>
      <p:sp>
        <p:nvSpPr>
          <p:cNvPr id="18" name="Rounded Rectangle 17"/>
          <p:cNvSpPr/>
          <p:nvPr/>
        </p:nvSpPr>
        <p:spPr>
          <a:xfrm>
            <a:off x="566928" y="4306824"/>
            <a:ext cx="11057839" cy="843534"/>
          </a:xfrm>
          <a:prstGeom prst="roundRect">
            <a:avLst>
              <a:gd name="adj" fmla="val 17344"/>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69264" y="4562856"/>
            <a:ext cx="10234879" cy="386334"/>
          </a:xfrm>
          <a:prstGeom prst="rect">
            <a:avLst/>
          </a:prstGeom>
          <a:noFill/>
        </p:spPr>
        <p:txBody>
          <a:bodyPr wrap="square" lIns="0" rIns="0" tIns="0" bIns="0" anchor="t">
            <a:spAutoFit/>
          </a:bodyPr>
          <a:lstStyle/>
          <a:p>
            <a:pPr algn="l">
              <a:lnSpc>
                <a:spcPct val="145000"/>
              </a:lnSpc>
            </a:pPr>
            <a:r>
              <a:rPr sz="1800" b="0" i="0">
                <a:solidFill>
                  <a:srgbClr val="4B4F52"/>
                </a:solidFill>
                <a:latin typeface="Verdana"/>
              </a:rPr>
              <a:t>La sixième est celle qu'on oublie, et c'est la plus utile.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Le bon titre de transport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ASSOCIATION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Quelle phrase, à quel moment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Dites la phrase qui va avec chaque situation.</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Vous arrivez devant le comptoir.</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On vous demande si vous avez une carte.</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Vous pensez à votre fille de quinze ans.</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Vous n'avez pas bien entendu le prix.</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On vous demande comment vous payez.</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Vous voulez être sûr avant de partir.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Le bon titre de transport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Quelle phrase, à quel moment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Vous arrivez devant le comptoir.   </a:t>
            </a:r>
            <a:r>
              <a:rPr sz="1400" b="1" i="0">
                <a:solidFill>
                  <a:srgbClr val="07734A"/>
                </a:solidFill>
                <a:latin typeface="Verdana"/>
              </a:rPr>
              <a:t>» Bonjour. Je voudrais un titre mensuel, s'il vous plaît.</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On vous demande si vous avez une carte.   </a:t>
            </a:r>
            <a:r>
              <a:rPr sz="1400" b="1" i="0">
                <a:solidFill>
                  <a:srgbClr val="07734A"/>
                </a:solidFill>
                <a:latin typeface="Verdana"/>
              </a:rPr>
              <a:t>» Oui, la voici.</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Vous pensez à votre fille de quinze ans.   </a:t>
            </a:r>
            <a:r>
              <a:rPr sz="1400" b="1" i="0">
                <a:solidFill>
                  <a:srgbClr val="07734A"/>
                </a:solidFill>
                <a:latin typeface="Verdana"/>
              </a:rPr>
              <a:t>» Est-ce qu'elle a droit au tarif réduit ?</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Vous n'avez pas bien entendu le prix.   </a:t>
            </a:r>
            <a:r>
              <a:rPr sz="1400" b="1" i="0">
                <a:solidFill>
                  <a:srgbClr val="07734A"/>
                </a:solidFill>
                <a:latin typeface="Verdana"/>
              </a:rPr>
              <a:t>» Pardon, pouvez-vous répéter, s'il vous plaît ?</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On vous demande comment vous payez.   </a:t>
            </a:r>
            <a:r>
              <a:rPr sz="1400" b="1" i="0">
                <a:solidFill>
                  <a:srgbClr val="07734A"/>
                </a:solidFill>
                <a:latin typeface="Verdana"/>
              </a:rPr>
              <a:t>» Par carte, s'il vous plaît.</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Vous voulez être sûr avant de partir.   </a:t>
            </a:r>
            <a:r>
              <a:rPr sz="1400" b="1" i="0">
                <a:solidFill>
                  <a:srgbClr val="07734A"/>
                </a:solidFill>
                <a:latin typeface="Verdana"/>
              </a:rPr>
              <a:t>» Un mensuel, zone A, cent dix dollars. C'est ça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Le bon titre de transport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LES GESTES DE L'ACHAT</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Quatre verbes à ne pas confondre</a:t>
            </a:r>
          </a:p>
        </p:txBody>
      </p:sp>
      <p:sp>
        <p:nvSpPr>
          <p:cNvPr id="7" name="Rounded Rectangle 6"/>
          <p:cNvSpPr/>
          <p:nvPr/>
        </p:nvSpPr>
        <p:spPr>
          <a:xfrm>
            <a:off x="566928"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4806543" cy="387096"/>
          </a:xfrm>
          <a:prstGeom prst="rect">
            <a:avLst/>
          </a:prstGeom>
          <a:noFill/>
        </p:spPr>
        <p:txBody>
          <a:bodyPr wrap="square" lIns="0" rIns="0" tIns="0" bIns="0" anchor="t">
            <a:spAutoFit/>
          </a:bodyPr>
          <a:lstStyle/>
          <a:p>
            <a:pPr algn="l">
              <a:lnSpc>
                <a:spcPct val="118000"/>
              </a:lnSpc>
            </a:pPr>
            <a:r>
              <a:rPr sz="2400" b="1" i="0">
                <a:solidFill>
                  <a:srgbClr val="A5335F"/>
                </a:solidFill>
                <a:latin typeface="Verdana"/>
              </a:rPr>
              <a:t>recharger sa carte</a:t>
            </a:r>
          </a:p>
        </p:txBody>
      </p:sp>
      <p:sp>
        <p:nvSpPr>
          <p:cNvPr id="9" name="TextBox 8"/>
          <p:cNvSpPr txBox="1"/>
          <p:nvPr/>
        </p:nvSpPr>
        <p:spPr>
          <a:xfrm>
            <a:off x="886968" y="2499360"/>
            <a:ext cx="4806543" cy="1089660"/>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Mettre un nouveau titre sur une carte qu'on possède déjà. C'est ce que fait la personne au comptoir. On ne rachète pas une carte chaque mois.</a:t>
            </a:r>
          </a:p>
        </p:txBody>
      </p:sp>
      <p:sp>
        <p:nvSpPr>
          <p:cNvPr id="10" name="Rounded Rectangle 9"/>
          <p:cNvSpPr/>
          <p:nvPr/>
        </p:nvSpPr>
        <p:spPr>
          <a:xfrm>
            <a:off x="6178143"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8183" y="2084831"/>
            <a:ext cx="4806543" cy="387096"/>
          </a:xfrm>
          <a:prstGeom prst="rect">
            <a:avLst/>
          </a:prstGeom>
          <a:noFill/>
        </p:spPr>
        <p:txBody>
          <a:bodyPr wrap="square" lIns="0" rIns="0" tIns="0" bIns="0" anchor="t">
            <a:spAutoFit/>
          </a:bodyPr>
          <a:lstStyle/>
          <a:p>
            <a:pPr algn="l">
              <a:lnSpc>
                <a:spcPct val="118000"/>
              </a:lnSpc>
            </a:pPr>
            <a:r>
              <a:rPr sz="2400" b="1" i="0">
                <a:solidFill>
                  <a:srgbClr val="A5335F"/>
                </a:solidFill>
                <a:latin typeface="Verdana"/>
              </a:rPr>
              <a:t>valider son titre</a:t>
            </a:r>
          </a:p>
        </p:txBody>
      </p:sp>
      <p:sp>
        <p:nvSpPr>
          <p:cNvPr id="12" name="TextBox 11"/>
          <p:cNvSpPr txBox="1"/>
          <p:nvPr/>
        </p:nvSpPr>
        <p:spPr>
          <a:xfrm>
            <a:off x="6498183" y="2499360"/>
            <a:ext cx="4806543" cy="1089660"/>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Passer sa carte sur l'appareil en montant, pour que le voyage soit compté. Un titre non validé ne vaut rien, même s'il est payé.</a:t>
            </a:r>
          </a:p>
        </p:txBody>
      </p:sp>
      <p:sp>
        <p:nvSpPr>
          <p:cNvPr id="13" name="Rounded Rectangle 12"/>
          <p:cNvSpPr/>
          <p:nvPr/>
        </p:nvSpPr>
        <p:spPr>
          <a:xfrm>
            <a:off x="566928"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6968" y="4302252"/>
            <a:ext cx="4806543" cy="387096"/>
          </a:xfrm>
          <a:prstGeom prst="rect">
            <a:avLst/>
          </a:prstGeom>
          <a:noFill/>
        </p:spPr>
        <p:txBody>
          <a:bodyPr wrap="square" lIns="0" rIns="0" tIns="0" bIns="0" anchor="t">
            <a:spAutoFit/>
          </a:bodyPr>
          <a:lstStyle/>
          <a:p>
            <a:pPr algn="l">
              <a:lnSpc>
                <a:spcPct val="118000"/>
              </a:lnSpc>
            </a:pPr>
            <a:r>
              <a:rPr sz="2400" b="1" i="0">
                <a:solidFill>
                  <a:srgbClr val="A5335F"/>
                </a:solidFill>
                <a:latin typeface="Verdana"/>
              </a:rPr>
              <a:t>payer comptant</a:t>
            </a:r>
          </a:p>
        </p:txBody>
      </p:sp>
      <p:sp>
        <p:nvSpPr>
          <p:cNvPr id="15" name="TextBox 14"/>
          <p:cNvSpPr txBox="1"/>
          <p:nvPr/>
        </p:nvSpPr>
        <p:spPr>
          <a:xfrm>
            <a:off x="886968" y="4716780"/>
            <a:ext cx="4806543" cy="1089660"/>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Payer avec des billets et de la monnaie, plutôt qu'avec une carte bancaire. On vous posera la question chaque fois.</a:t>
            </a:r>
          </a:p>
        </p:txBody>
      </p:sp>
      <p:sp>
        <p:nvSpPr>
          <p:cNvPr id="16" name="Rounded Rectangle 15"/>
          <p:cNvSpPr/>
          <p:nvPr/>
        </p:nvSpPr>
        <p:spPr>
          <a:xfrm>
            <a:off x="6178143"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98183" y="4302252"/>
            <a:ext cx="4806543" cy="387096"/>
          </a:xfrm>
          <a:prstGeom prst="rect">
            <a:avLst/>
          </a:prstGeom>
          <a:noFill/>
        </p:spPr>
        <p:txBody>
          <a:bodyPr wrap="square" lIns="0" rIns="0" tIns="0" bIns="0" anchor="t">
            <a:spAutoFit/>
          </a:bodyPr>
          <a:lstStyle/>
          <a:p>
            <a:pPr algn="l">
              <a:lnSpc>
                <a:spcPct val="118000"/>
              </a:lnSpc>
            </a:pPr>
            <a:r>
              <a:rPr sz="2400" b="1" i="0">
                <a:solidFill>
                  <a:srgbClr val="A5335F"/>
                </a:solidFill>
                <a:latin typeface="Verdana"/>
              </a:rPr>
              <a:t>faire faire sa photo</a:t>
            </a:r>
          </a:p>
        </p:txBody>
      </p:sp>
      <p:sp>
        <p:nvSpPr>
          <p:cNvPr id="18" name="TextBox 17"/>
          <p:cNvSpPr txBox="1"/>
          <p:nvPr/>
        </p:nvSpPr>
        <p:spPr>
          <a:xfrm>
            <a:off x="6498183" y="4716780"/>
            <a:ext cx="4806543" cy="1089660"/>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Pour le tarif réduit seulement. Cela se fait au point de service, avec la personne concernée et une preuve de son âge.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Le bon titre de transport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USAGE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monter sans valider sa carte</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valider sa carte en montant</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Un titre payé mais non validé ne compte pas. En cas de contrôle, c'est une amende — et l'argument « j'ai payé » ne sert à rien, puisque rien ne le prouve. Le geste prend une seconde.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Le bon titre de transport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PRODUCTION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Faites l'achat complet</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À deux : l'un tient le comptoir, l'autre achète. Puis on échange.</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Saluer et dire ce qu'on veut.</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Donner sa carte.</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Poser une question sur le tarif réduit.</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Faire répéter le prix.</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Dire comment on paie.</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Vérifier avant de partir.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Le bon titre de transport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Faites l'achat complet</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Saluer et dire ce qu'on veut.   </a:t>
            </a:r>
            <a:r>
              <a:rPr sz="1400" b="1" i="0">
                <a:solidFill>
                  <a:srgbClr val="07734A"/>
                </a:solidFill>
                <a:latin typeface="Verdana"/>
              </a:rPr>
              <a:t>» Bonjour. Je voudrais…</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Donner sa carte.   </a:t>
            </a:r>
            <a:r>
              <a:rPr sz="1400" b="1" i="0">
                <a:solidFill>
                  <a:srgbClr val="07734A"/>
                </a:solidFill>
                <a:latin typeface="Verdana"/>
              </a:rPr>
              <a:t>» La voici.</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Poser une question sur le tarif réduit.   </a:t>
            </a:r>
            <a:r>
              <a:rPr sz="1400" b="1" i="0">
                <a:solidFill>
                  <a:srgbClr val="07734A"/>
                </a:solidFill>
                <a:latin typeface="Verdana"/>
              </a:rPr>
              <a:t>» Est-ce que…</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Faire répéter le prix.   </a:t>
            </a:r>
            <a:r>
              <a:rPr sz="1400" b="1" i="0">
                <a:solidFill>
                  <a:srgbClr val="07734A"/>
                </a:solidFill>
                <a:latin typeface="Verdana"/>
              </a:rPr>
              <a:t>» Pardon, pouvez-vous…</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Dire comment on paie.   </a:t>
            </a:r>
            <a:r>
              <a:rPr sz="1400" b="1" i="0">
                <a:solidFill>
                  <a:srgbClr val="07734A"/>
                </a:solidFill>
                <a:latin typeface="Verdana"/>
              </a:rPr>
              <a:t>» Par carte / comptant.</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Vérifier avant de partir.   </a:t>
            </a:r>
            <a:r>
              <a:rPr sz="1400" b="1" i="0">
                <a:solidFill>
                  <a:srgbClr val="07734A"/>
                </a:solidFill>
                <a:latin typeface="Verdana"/>
              </a:rPr>
              <a:t>» …C'est ça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Le bon titre de transport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Écrivez les six phrases de l'achat, dans l'ordre.</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1. Bonjour. Je voudrais ___ .</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6. ___ . C'est ça ?</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Le bon titre de transport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