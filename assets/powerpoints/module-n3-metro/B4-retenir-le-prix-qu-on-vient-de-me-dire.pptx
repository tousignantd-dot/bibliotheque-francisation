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courte, entièrement d'écoute. C'est le cœur de l'intention de compréhension orale du programme. Prévenir le groupe : on va écouter beaucoup et parler peu, et ce n'est pas une évaluation.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phrase la plus importante du module et celle que les élèves n'osent pas dire. Faire répéter par tout le groupe, debout, deux fois.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choisir à chacun celle qu'il emploiera. Une seule, sue par cœur, vaut mieux que trois qu'on cherche au moment où on en a besoin.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5 du défi 1. Faire écouter le dialogue en entier une première fois sans écrire, puis une deuxième en écrivant. Ne pas découper l'audio : c'est justement l'enchaînement qui est difficile.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Dicter soi-même, à voix normale, une seule fois par phrase. Les élèves qui demandent une répétition l'obtiennent : c'est exactement le comportement qu'on veut installer, et il faut le récompenser.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au groupe qui l'a déjà fait. Presque toutes les mains se lèvent. Dédramatiser franchement : la gêne vient de la peur de déranger, pas d'un manque de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phrase de clôture de Rosario au défi 2, et c'est ce qu'on demandera à l'oral en E1. La faire construire à voix haute par plusieurs élèves.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Ramasser et vérifier que chacun en a une : c'est le seul acquis de la séance qui compte vraiment.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B4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Retenir le prix qu'on vient de me dire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prix se donne une fois, vite, au milieu d'une phrase. Le retenir est une compétence, et elle se travaille.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retenir un prix dit une seule fois, dans une phrase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prix entendu, en chiffres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la zone dans laquelle on se déplace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oser demander qu'on répète un chiffre.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CE QU'ON A LE DROIT DE FAIRE AU COMPTOIR</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Pardon, pouvez-vous répéter, s'il vous plaît ?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Personne ne vous en voudra. Les gens d'ici le font aussi. Un chiffre mal compris coûte de l'argent ; une demande de répétition ne coûte rien. Vous pouvez aussi écrire pendant qu'on vous parle : c'est normal.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façons de faire répéter</a:t>
            </a:r>
          </a:p>
        </p:txBody>
      </p:sp>
      <p:sp>
        <p:nvSpPr>
          <p:cNvPr id="7" name="Rounded Rectangle 6"/>
          <p:cNvSpPr/>
          <p:nvPr/>
        </p:nvSpPr>
        <p:spPr>
          <a:xfrm>
            <a:off x="566928" y="1810512"/>
            <a:ext cx="11057839" cy="2862072"/>
          </a:xfrm>
          <a:prstGeom prst="roundRect">
            <a:avLst>
              <a:gd name="adj" fmla="val 511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QUAND L'EMPLOYER</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Pardon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plus courte, dite tout de suite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Pouvez-vous répéter, s'il vous plaît ?</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plus polie</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640080"/>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Plus lentement, s'il vous plaît.</a:t>
            </a:r>
          </a:p>
        </p:txBody>
      </p:sp>
      <p:sp>
        <p:nvSpPr>
          <p:cNvPr id="17" name="TextBox 16"/>
          <p:cNvSpPr txBox="1"/>
          <p:nvPr/>
        </p:nvSpPr>
        <p:spPr>
          <a:xfrm>
            <a:off x="4443636" y="3776472"/>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quand on a entendu mais pas saisi</a:t>
            </a:r>
          </a:p>
        </p:txBody>
      </p:sp>
      <p:sp>
        <p:nvSpPr>
          <p:cNvPr id="18" name="Rounded Rectangle 17"/>
          <p:cNvSpPr/>
          <p:nvPr/>
        </p:nvSpPr>
        <p:spPr>
          <a:xfrm>
            <a:off x="566928" y="4910328"/>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166360"/>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sont polies. La troisième est la plus utile pour un chiffre.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le prix exact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Réécoutez le dialogue du défi 1 et complétez.</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passage tout seul coûte ___ $.</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dix passages coûte ___ $.</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L'hebdo coûte ___ $.</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mensuel coûte ___ $.</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Rosario paie à peu près ___ $ par mois en ce moment.</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Rosario habite dans la zone ___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le prix exact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passage tout seul coûte ___ $.   </a:t>
            </a:r>
            <a:r>
              <a:rPr sz="1900" b="1" i="0">
                <a:solidFill>
                  <a:srgbClr val="07734A"/>
                </a:solidFill>
                <a:latin typeface="Verdana"/>
              </a:rPr>
              <a:t>» 3,75</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dix passages coûte ___ $.   </a:t>
            </a:r>
            <a:r>
              <a:rPr sz="1900" b="1" i="0">
                <a:solidFill>
                  <a:srgbClr val="07734A"/>
                </a:solidFill>
                <a:latin typeface="Verdana"/>
              </a:rPr>
              <a:t>» 35</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L'hebdo coûte ___ $.   </a:t>
            </a:r>
            <a:r>
              <a:rPr sz="1900" b="1" i="0">
                <a:solidFill>
                  <a:srgbClr val="07734A"/>
                </a:solidFill>
                <a:latin typeface="Verdana"/>
              </a:rPr>
              <a:t>» 33,25</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mensuel coûte ___ $.   </a:t>
            </a:r>
            <a:r>
              <a:rPr sz="1900" b="1" i="0">
                <a:solidFill>
                  <a:srgbClr val="07734A"/>
                </a:solidFill>
                <a:latin typeface="Verdana"/>
              </a:rPr>
              <a:t>» 110</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Rosario paie à peu près ___ $ par mois en ce moment.   </a:t>
            </a:r>
            <a:r>
              <a:rPr sz="1900" b="1" i="0">
                <a:solidFill>
                  <a:srgbClr val="07734A"/>
                </a:solidFill>
                <a:latin typeface="Verdana"/>
              </a:rPr>
              <a:t>» 140</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Rosario habite dans la zone ___ .   </a:t>
            </a:r>
            <a:r>
              <a:rPr sz="1900" b="1" i="0">
                <a:solidFill>
                  <a:srgbClr val="07734A"/>
                </a:solidFill>
                <a:latin typeface="Verdana"/>
              </a:rPr>
              <a:t>»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chiffre dans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et notez seulement le nombre.</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L'hebdo est à trente-trois vingt-cinq.</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revient à trois cinquante le passage.</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correspondance dure cent vingt minutes.</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Soixante-cinq ans et plus, c'est le tarif réduit.</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personne peut accompagner cinq enfants au maximum.</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Week-end illimité coûte dix-sept dollars.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chiffre dans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L'hebdo est à trente-trois vingt-cinq.   </a:t>
            </a:r>
            <a:r>
              <a:rPr sz="1900" b="1" i="0">
                <a:solidFill>
                  <a:srgbClr val="07734A"/>
                </a:solidFill>
                <a:latin typeface="Verdana"/>
              </a:rPr>
              <a:t>» 33,25</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revient à trois cinquante le passage.   </a:t>
            </a:r>
            <a:r>
              <a:rPr sz="1900" b="1" i="0">
                <a:solidFill>
                  <a:srgbClr val="07734A"/>
                </a:solidFill>
                <a:latin typeface="Verdana"/>
              </a:rPr>
              <a:t>» 3,50</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correspondance dure cent vingt minutes.   </a:t>
            </a:r>
            <a:r>
              <a:rPr sz="1900" b="1" i="0">
                <a:solidFill>
                  <a:srgbClr val="07734A"/>
                </a:solidFill>
                <a:latin typeface="Verdana"/>
              </a:rPr>
              <a:t>» 120</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Soixante-cinq ans et plus, c'est le tarif réduit.   </a:t>
            </a:r>
            <a:r>
              <a:rPr sz="1900" b="1" i="0">
                <a:solidFill>
                  <a:srgbClr val="07734A"/>
                </a:solidFill>
                <a:latin typeface="Verdana"/>
              </a:rPr>
              <a:t>» 65</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personne peut accompagner cinq enfants au maximum.   </a:t>
            </a:r>
            <a:r>
              <a:rPr sz="1900" b="1" i="0">
                <a:solidFill>
                  <a:srgbClr val="07734A"/>
                </a:solidFill>
                <a:latin typeface="Verdana"/>
              </a:rPr>
              <a:t>» 5</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Week-end illimité coûte dix-sept dollars.   </a:t>
            </a:r>
            <a:r>
              <a:rPr sz="1900" b="1" i="0">
                <a:solidFill>
                  <a:srgbClr val="07734A"/>
                </a:solidFill>
                <a:latin typeface="Verdana"/>
              </a:rPr>
              <a:t>»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faire oui de la tête sans avoir compris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Pardon, pouvez-vous répéter ?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piège le plus coûteux du module, littéralement. Un élève qui hoche la tête paie ce qu'on lui dit sans le savoir. Faire répéter est un geste normal, poli, et fréquent chez les gens d'ici aussi.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Vérifier avant de payer</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REDIT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nom du titre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mensuel</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la zone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zone A</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prix</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cent dix dollars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jusqu'à quand</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jusqu'à la fin du mois</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Quatre choses, une seule phrase : « C'est ça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phrase que vous direz pour faire répéter un prix.</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Pardon, ___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Plus ___ , s'il vous plaît.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