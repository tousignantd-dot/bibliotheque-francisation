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grammaire. Ouvrir en montrant un objet de la classe sans le nommer : « Passez-moi ça, là. » Demander au groupe comment on dit ça correctement. La réponse est le sujet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phrase la plus utile du bloc B : elle permet de poser une question sur n'importe quelle ligne de la grille, même sans en connaître le vocabulaire.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trouver le genre en essayant « un » ou « une » : un titre, une carte. C'est la seule méthode fiable et elle marche toujours.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À l'oral, le « -là » s'entend dans presque toutes les phrases du guichet. Un élève qui ne l'emploie pas sera compris, mais un élève qui ne le comprend pas manquera la moitié de ce qu'on lui dit.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chercher au groupe d'autres mots masculins à voyelle : appareil, argent, horaire, escalier, arrêt. Tous prennent « cet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Piège d'écriture, pas d'oral. Il reviendra dans la production écrite de la séance E2. Donner l'astuce du « -là » comme test.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3 du défi 1. Faire justifier chaque réponse par le genre et le nombre du nom qui suit, jamais par l'habitude.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Répétition en chœur puis individuellement. Faire accompagner chaque phrase d'un geste de la main vers un point de la classe : le geste installe le sens du « -là » mieux qu'une explication.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Les questions produites servent de matière première à la séance C2, où l'on travaillera la forme interrogative elle-même.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B2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Ce titre-là, cette carte-là</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Devant une grille affichée, on ne connaît pas le nom de tout. Quatre petits mots remplacent le doigt qui montre.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bon titre de transport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choisir entre ce, cet, cette et ces devant un nom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cet devant un mot qui commence par une voyelle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ajouter -là pour montrer une chose précise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poser une question sur un titre qu'on ne sait pas nommer.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MOT QUI REMPLACE LE DOIGT</a:t>
            </a:r>
          </a:p>
        </p:txBody>
      </p:sp>
      <p:sp>
        <p:nvSpPr>
          <p:cNvPr id="6" name="Rounded Rectangle 5"/>
          <p:cNvSpPr/>
          <p:nvPr/>
        </p:nvSpPr>
        <p:spPr>
          <a:xfrm>
            <a:off x="566928" y="1225296"/>
            <a:ext cx="11057839" cy="1441196"/>
          </a:xfrm>
          <a:prstGeom prst="roundRect">
            <a:avLst>
              <a:gd name="adj" fmla="val 10151"/>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Combien coûte ce titre-là ? »</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on ne connaît pas le nom exact de ce qu'on voit sur la grille, on le montre. Ces quatre petits mots servent exactement à cela : désigner la chose qu'on a sous les yeux, sans avoir à la nommer.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formes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DIT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QUAND</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ce titre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devant un mot masculin</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cet autobus</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devant une voyelle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cette carte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devant un mot féminin</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ces titres</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devant un pluriel, masculin ou féminin</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Au pluriel, plus de choix : c'est « ces » dans tous les cas.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 -là » qu'on ajoute au Québec</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À L'ÉCRIT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VEUT DIRE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ce titre-là</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celui que je montre du doigt</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cette carte-là</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celle-ci, pas une autre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ces prix-là</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ceux qui sont affichés devant nous</a:t>
            </a:r>
          </a:p>
        </p:txBody>
      </p:sp>
      <p:sp>
        <p:nvSpPr>
          <p:cNvPr id="18" name="Rounded Rectangle 17"/>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trait d'union est obligatoire à l'écrit.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GRAMMAIRE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ce autobus-là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cet autobus-là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voyelles ne se suivent pas facilement en français. Devant un mot masculin qui commence par une voyelle, on ajoute un t : ce-t-autobus. Le mot reste masculin, c'est seulement sa forme qui change.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ORTHOGRAPHE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ses prix-là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ces prix-là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mots différents, exactement le même son. « ces » montre du doigt : ces prix, là, sur la grille. « ses » dit à qui c'est : ses prix à lui. Si on peut remplacer par « ces… -là », c'est « ces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GRAMMAIRE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cet, cette ou ces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chaque phrase.</a:t>
            </a:r>
          </a:p>
        </p:txBody>
      </p:sp>
      <p:sp>
        <p:nvSpPr>
          <p:cNvPr id="8" name="Rounded Rectangle 7"/>
          <p:cNvSpPr/>
          <p:nvPr/>
        </p:nvSpPr>
        <p:spPr>
          <a:xfrm>
            <a:off x="566928"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coûte ___ titre-là ?</a:t>
            </a:r>
          </a:p>
        </p:txBody>
      </p:sp>
      <p:sp>
        <p:nvSpPr>
          <p:cNvPr id="12" name="Rounded Rectangle 11"/>
          <p:cNvSpPr/>
          <p:nvPr/>
        </p:nvSpPr>
        <p:spPr>
          <a:xfrm>
            <a:off x="6159855"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___ carte-là est encore bonne ?</a:t>
            </a:r>
          </a:p>
        </p:txBody>
      </p:sp>
      <p:sp>
        <p:nvSpPr>
          <p:cNvPr id="16" name="Rounded Rectangle 15"/>
          <p:cNvSpPr/>
          <p:nvPr/>
        </p:nvSpPr>
        <p:spPr>
          <a:xfrm>
            <a:off x="566928"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autobus-là va vers le nord.</a:t>
            </a:r>
          </a:p>
        </p:txBody>
      </p:sp>
      <p:sp>
        <p:nvSpPr>
          <p:cNvPr id="20" name="Rounded Rectangle 19"/>
          <p:cNvSpPr/>
          <p:nvPr/>
        </p:nvSpPr>
        <p:spPr>
          <a:xfrm>
            <a:off x="6159855"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ne comprends pas ___ prix-là.</a:t>
            </a:r>
          </a:p>
        </p:txBody>
      </p:sp>
      <p:sp>
        <p:nvSpPr>
          <p:cNvPr id="24" name="Rounded Rectangle 23"/>
          <p:cNvSpPr/>
          <p:nvPr/>
        </p:nvSpPr>
        <p:spPr>
          <a:xfrm>
            <a:off x="566928"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zone-là, c'est la zone A.</a:t>
            </a:r>
          </a:p>
        </p:txBody>
      </p:sp>
      <p:sp>
        <p:nvSpPr>
          <p:cNvPr id="28" name="Rounded Rectangle 27"/>
          <p:cNvSpPr/>
          <p:nvPr/>
        </p:nvSpPr>
        <p:spPr>
          <a:xfrm>
            <a:off x="6159855"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deux titres-là coûtent le même prix.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cet, cette ou ces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coûte ___ titre-là ?   </a:t>
            </a:r>
            <a:r>
              <a:rPr sz="1900" b="1" i="0">
                <a:solidFill>
                  <a:srgbClr val="07734A"/>
                </a:solidFill>
                <a:latin typeface="Verdana"/>
              </a:rPr>
              <a:t>» ce</a:t>
            </a:r>
          </a:p>
        </p:txBody>
      </p:sp>
      <p:sp>
        <p:nvSpPr>
          <p:cNvPr id="12" name="Rounded Rectangle 11"/>
          <p:cNvSpPr/>
          <p:nvPr/>
        </p:nvSpPr>
        <p:spPr>
          <a:xfrm>
            <a:off x="6159855"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___ carte-là est encore bonne ?   </a:t>
            </a:r>
            <a:r>
              <a:rPr sz="1900" b="1" i="0">
                <a:solidFill>
                  <a:srgbClr val="07734A"/>
                </a:solidFill>
                <a:latin typeface="Verdana"/>
              </a:rPr>
              <a:t>» cette</a:t>
            </a:r>
          </a:p>
        </p:txBody>
      </p:sp>
      <p:sp>
        <p:nvSpPr>
          <p:cNvPr id="16" name="Rounded Rectangle 15"/>
          <p:cNvSpPr/>
          <p:nvPr/>
        </p:nvSpPr>
        <p:spPr>
          <a:xfrm>
            <a:off x="566928"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autobus-là va vers le nord.   </a:t>
            </a:r>
            <a:r>
              <a:rPr sz="1900" b="1" i="0">
                <a:solidFill>
                  <a:srgbClr val="07734A"/>
                </a:solidFill>
                <a:latin typeface="Verdana"/>
              </a:rPr>
              <a:t>» Cet</a:t>
            </a:r>
          </a:p>
        </p:txBody>
      </p:sp>
      <p:sp>
        <p:nvSpPr>
          <p:cNvPr id="20" name="Rounded Rectangle 19"/>
          <p:cNvSpPr/>
          <p:nvPr/>
        </p:nvSpPr>
        <p:spPr>
          <a:xfrm>
            <a:off x="6159855"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ne comprends pas ___ prix-là.   </a:t>
            </a:r>
            <a:r>
              <a:rPr sz="1900" b="1" i="0">
                <a:solidFill>
                  <a:srgbClr val="07734A"/>
                </a:solidFill>
                <a:latin typeface="Verdana"/>
              </a:rPr>
              <a:t>» ces</a:t>
            </a:r>
          </a:p>
        </p:txBody>
      </p:sp>
      <p:sp>
        <p:nvSpPr>
          <p:cNvPr id="24" name="Rounded Rectangle 23"/>
          <p:cNvSpPr/>
          <p:nvPr/>
        </p:nvSpPr>
        <p:spPr>
          <a:xfrm>
            <a:off x="566928"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zone-là, c'est la zone A.   </a:t>
            </a:r>
            <a:r>
              <a:rPr sz="1900" b="1" i="0">
                <a:solidFill>
                  <a:srgbClr val="07734A"/>
                </a:solidFill>
                <a:latin typeface="Verdana"/>
              </a:rPr>
              <a:t>» Cette</a:t>
            </a:r>
          </a:p>
        </p:txBody>
      </p:sp>
      <p:sp>
        <p:nvSpPr>
          <p:cNvPr id="28" name="Rounded Rectangle 27"/>
          <p:cNvSpPr/>
          <p:nvPr/>
        </p:nvSpPr>
        <p:spPr>
          <a:xfrm>
            <a:off x="6159855"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deux titres-là coûtent le même prix.   </a:t>
            </a:r>
            <a:r>
              <a:rPr sz="1900" b="1" i="0">
                <a:solidFill>
                  <a:srgbClr val="07734A"/>
                </a:solidFill>
                <a:latin typeface="Verdana"/>
              </a:rPr>
              <a:t>» 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RÉPÉTITION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Six phrases du comptoir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puis répétez en gardant le -là.</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coûte ce titre-là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Est-ce que cette carte-là est encore bonne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Cet autobus-là va vers le nord.</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ne comprends pas ces prix-là.</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Cette zone-là, c'est la zone A.</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 deux titres-là coûtent le même prix.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Six phrases du comptoir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coûte ce titre-là ?   </a:t>
            </a:r>
            <a:r>
              <a:rPr sz="1400" b="1" i="0">
                <a:solidFill>
                  <a:srgbClr val="07734A"/>
                </a:solidFill>
                <a:latin typeface="Verdana"/>
              </a:rPr>
              <a:t>» masculin</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Est-ce que cette carte-là est encore bonne ?   </a:t>
            </a:r>
            <a:r>
              <a:rPr sz="1400" b="1" i="0">
                <a:solidFill>
                  <a:srgbClr val="07734A"/>
                </a:solidFill>
                <a:latin typeface="Verdana"/>
              </a:rPr>
              <a:t>» féminin</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Cet autobus-là va vers le nord.   </a:t>
            </a:r>
            <a:r>
              <a:rPr sz="1400" b="1" i="0">
                <a:solidFill>
                  <a:srgbClr val="07734A"/>
                </a:solidFill>
                <a:latin typeface="Verdana"/>
              </a:rPr>
              <a:t>» voyelle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ne comprends pas ces prix-là.   </a:t>
            </a:r>
            <a:r>
              <a:rPr sz="1400" b="1" i="0">
                <a:solidFill>
                  <a:srgbClr val="07734A"/>
                </a:solidFill>
                <a:latin typeface="Verdana"/>
              </a:rPr>
              <a:t>» pluriel</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Cette zone-là, c'est la zone A.   </a:t>
            </a:r>
            <a:r>
              <a:rPr sz="1400" b="1" i="0">
                <a:solidFill>
                  <a:srgbClr val="07734A"/>
                </a:solidFill>
                <a:latin typeface="Verdana"/>
              </a:rPr>
              <a:t>» féminin</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 deux titres-là coûtent le même prix.   </a:t>
            </a:r>
            <a:r>
              <a:rPr sz="1400" b="1" i="0">
                <a:solidFill>
                  <a:srgbClr val="07734A"/>
                </a:solidFill>
                <a:latin typeface="Verdana"/>
              </a:rPr>
              <a:t>» pluriel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trois questions que vous poseriez devant une grille des tarifs.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Combien coûte ce ___ -là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Est-ce que cette ___ -là est ___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B2 · Le bon titre de transport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