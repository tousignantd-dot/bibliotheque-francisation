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Ouverture du défi 3, qui est la compétence de compréhension écrite du programme. Projeter d'abord une vraie grille tarifaire et laisser le groupe la regarder trente secondes en silence. Presque tout le monde la trouvera illisible : c'est le point de départ.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Lire les objectifs à voix haute. Y revenir au billet de sortie.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Rosario emploie « ce titre-là » et montre du doigt : c'est exactement ce que la séance B2 a préparé. Le faire remarquer au groupe.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gratuité des onze ans et moins est le renseignement que presque personne ne connaît, et il vaut plusieurs centaines de dollars par an pour une famille. Le vérifier avec le groupe : qui le savait ?</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Demander qui habite ou travaille hors de l'île : ceux-là doivent lire un autre bloc de la grille, et c'est le piège le plus coûteux du défi 3.</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Faire placer chaque élève dans sa colonne, et les membres de sa famille. Plusieurs découvriront qu'ils paient le plein prix sans raison.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C'est le renseignement pratique le plus rentable du module. Encourager le groupe à faire faire les cartes de leurs enfants et de leurs parents.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Ce sont les vrais prix. Faire calculer à voix haute l'économie d'une famille de quatre personnes dont deux ont droit au tarif réduit.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justifier chaque réponse en montrant la ligne ou la colonne de la grille projetée. C'est la compétence même du défi 3 : trouver, pas deviner.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Devoir court. Ramasser et vérifier : ceux qui se placent dans la mauvaise colonne perdent de l'argent tous les mois, et le billet permet de les reprendre individuellement.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1234440"/>
            <a:ext cx="11057839" cy="274320"/>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SÉANCE D1  ·  MODULE 6</a:t>
            </a:r>
          </a:p>
        </p:txBody>
      </p:sp>
      <p:sp>
        <p:nvSpPr>
          <p:cNvPr id="4" name="TextBox 3"/>
          <p:cNvSpPr txBox="1"/>
          <p:nvPr/>
        </p:nvSpPr>
        <p:spPr>
          <a:xfrm>
            <a:off x="566928" y="1691640"/>
            <a:ext cx="9960559" cy="1874519"/>
          </a:xfrm>
          <a:prstGeom prst="rect">
            <a:avLst/>
          </a:prstGeom>
          <a:noFill/>
        </p:spPr>
        <p:txBody>
          <a:bodyPr wrap="square" lIns="0" rIns="0" tIns="0" bIns="0" anchor="t">
            <a:spAutoFit/>
          </a:bodyPr>
          <a:lstStyle/>
          <a:p>
            <a:pPr algn="l">
              <a:lnSpc>
                <a:spcPct val="105000"/>
              </a:lnSpc>
            </a:pPr>
            <a:r>
              <a:rPr sz="4000" b="1" i="0">
                <a:solidFill>
                  <a:srgbClr val="17181A"/>
                </a:solidFill>
                <a:latin typeface="Verdana"/>
              </a:rPr>
              <a:t>Lire la grille sans se perdre</a:t>
            </a:r>
          </a:p>
        </p:txBody>
      </p:sp>
      <p:sp>
        <p:nvSpPr>
          <p:cNvPr id="5" name="Rounded Rectangle 4"/>
          <p:cNvSpPr/>
          <p:nvPr/>
        </p:nvSpPr>
        <p:spPr>
          <a:xfrm>
            <a:off x="566928" y="3794760"/>
            <a:ext cx="9960559" cy="1394968"/>
          </a:xfrm>
          <a:prstGeom prst="roundRect">
            <a:avLst>
              <a:gd name="adj" fmla="val 10487"/>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96112" y="4123944"/>
            <a:ext cx="9302191" cy="7823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Un tableau se lit en croix : une ligne pour le titre, une colonne pour la personne, et le prix à l'intersection. C'est tout.</a:t>
            </a:r>
          </a:p>
        </p:txBody>
      </p:sp>
      <p:sp>
        <p:nvSpPr>
          <p:cNvPr id="7" name="TextBox 6"/>
          <p:cNvSpPr txBox="1"/>
          <p:nvPr/>
        </p:nvSpPr>
        <p:spPr>
          <a:xfrm>
            <a:off x="566928" y="6035040"/>
            <a:ext cx="11057839" cy="274320"/>
          </a:xfrm>
          <a:prstGeom prst="rect">
            <a:avLst/>
          </a:prstGeom>
          <a:noFill/>
        </p:spPr>
        <p:txBody>
          <a:bodyPr wrap="square" lIns="0" rIns="0" tIns="0" bIns="0" anchor="t">
            <a:spAutoFit/>
          </a:bodyPr>
          <a:lstStyle/>
          <a:p>
            <a:pPr algn="l">
              <a:lnSpc>
                <a:spcPct val="135000"/>
              </a:lnSpc>
            </a:pPr>
            <a:r>
              <a:rPr sz="1500" b="0" i="0">
                <a:solidFill>
                  <a:srgbClr val="6E7175"/>
                </a:solidFill>
                <a:latin typeface="Verdana"/>
              </a:rPr>
              <a:t>75 minutes  ·  Le bon titre de transport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D1 · Le bon titre de transport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OBJECTIFS DE LA SÉANCE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À la fin, je serai capable de…</a:t>
            </a:r>
          </a:p>
        </p:txBody>
      </p:sp>
      <p:sp>
        <p:nvSpPr>
          <p:cNvPr id="7" name="Rounded Rectangle 6"/>
          <p:cNvSpPr/>
          <p:nvPr/>
        </p:nvSpPr>
        <p:spPr>
          <a:xfrm>
            <a:off x="566928" y="1764792"/>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804672" y="1942592"/>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04672" y="2024887"/>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1</a:t>
            </a:r>
          </a:p>
        </p:txBody>
      </p:sp>
      <p:sp>
        <p:nvSpPr>
          <p:cNvPr id="10" name="TextBox 9"/>
          <p:cNvSpPr txBox="1"/>
          <p:nvPr/>
        </p:nvSpPr>
        <p:spPr>
          <a:xfrm>
            <a:off x="1408176" y="1965960"/>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trouver une ligne et une colonne dans un tableau ;</a:t>
            </a:r>
          </a:p>
        </p:txBody>
      </p:sp>
      <p:sp>
        <p:nvSpPr>
          <p:cNvPr id="11" name="Rounded Rectangle 10"/>
          <p:cNvSpPr/>
          <p:nvPr/>
        </p:nvSpPr>
        <p:spPr>
          <a:xfrm>
            <a:off x="566928" y="2650744"/>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804672" y="2828544"/>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04672" y="2910840"/>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2</a:t>
            </a:r>
          </a:p>
        </p:txBody>
      </p:sp>
      <p:sp>
        <p:nvSpPr>
          <p:cNvPr id="14" name="TextBox 13"/>
          <p:cNvSpPr txBox="1"/>
          <p:nvPr/>
        </p:nvSpPr>
        <p:spPr>
          <a:xfrm>
            <a:off x="1408176" y="2851912"/>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reconnaître les quatre zones tarifaires ;</a:t>
            </a:r>
          </a:p>
        </p:txBody>
      </p:sp>
      <p:sp>
        <p:nvSpPr>
          <p:cNvPr id="15" name="Rounded Rectangle 14"/>
          <p:cNvSpPr/>
          <p:nvPr/>
        </p:nvSpPr>
        <p:spPr>
          <a:xfrm>
            <a:off x="566928" y="3536696"/>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804672" y="3714496"/>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04672" y="3796792"/>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3</a:t>
            </a:r>
          </a:p>
        </p:txBody>
      </p:sp>
      <p:sp>
        <p:nvSpPr>
          <p:cNvPr id="18" name="TextBox 17"/>
          <p:cNvSpPr txBox="1"/>
          <p:nvPr/>
        </p:nvSpPr>
        <p:spPr>
          <a:xfrm>
            <a:off x="1408176" y="3737864"/>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reconnaître les quatre catégories de personnes ;</a:t>
            </a:r>
          </a:p>
        </p:txBody>
      </p:sp>
      <p:sp>
        <p:nvSpPr>
          <p:cNvPr id="19" name="Rounded Rectangle 18"/>
          <p:cNvSpPr/>
          <p:nvPr/>
        </p:nvSpPr>
        <p:spPr>
          <a:xfrm>
            <a:off x="566928" y="4422648"/>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804672" y="4600448"/>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04672" y="4682744"/>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4</a:t>
            </a:r>
          </a:p>
        </p:txBody>
      </p:sp>
      <p:sp>
        <p:nvSpPr>
          <p:cNvPr id="22" name="TextBox 21"/>
          <p:cNvSpPr txBox="1"/>
          <p:nvPr/>
        </p:nvSpPr>
        <p:spPr>
          <a:xfrm>
            <a:off x="1408176" y="4623816"/>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savoir qu'un tarif réduit exige une carte avec photo.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D1 · Le bon titre de transport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3</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DIALOGUE · 1 DE 2</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Montrez-moi la ligne</a:t>
            </a:r>
          </a:p>
        </p:txBody>
      </p:sp>
      <p:sp>
        <p:nvSpPr>
          <p:cNvPr id="7" name="TextBox 6"/>
          <p:cNvSpPr txBox="1"/>
          <p:nvPr/>
        </p:nvSpPr>
        <p:spPr>
          <a:xfrm>
            <a:off x="566928" y="173736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Écoutez d'abord, diapositive masquée.</a:t>
            </a:r>
          </a:p>
        </p:txBody>
      </p:sp>
      <p:sp>
        <p:nvSpPr>
          <p:cNvPr id="8" name="Rounded Rectangle 7"/>
          <p:cNvSpPr/>
          <p:nvPr/>
        </p:nvSpPr>
        <p:spPr>
          <a:xfrm>
            <a:off x="566928" y="2157984"/>
            <a:ext cx="11057839" cy="1004823"/>
          </a:xfrm>
          <a:prstGeom prst="roundRect">
            <a:avLst>
              <a:gd name="adj" fmla="val 14560"/>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2322576"/>
            <a:ext cx="1645824" cy="73050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ROSARIO</a:t>
            </a:r>
          </a:p>
        </p:txBody>
      </p:sp>
      <p:sp>
        <p:nvSpPr>
          <p:cNvPr id="10" name="TextBox 9"/>
          <p:cNvSpPr txBox="1"/>
          <p:nvPr/>
        </p:nvSpPr>
        <p:spPr>
          <a:xfrm>
            <a:off x="2578512" y="2322576"/>
            <a:ext cx="8497614" cy="73050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Monsieur, la grille est affichée au mur, mais je ne comprends pas tout.</a:t>
            </a:r>
          </a:p>
        </p:txBody>
      </p:sp>
      <p:sp>
        <p:nvSpPr>
          <p:cNvPr id="11" name="Rounded Rectangle 10"/>
          <p:cNvSpPr/>
          <p:nvPr/>
        </p:nvSpPr>
        <p:spPr>
          <a:xfrm>
            <a:off x="566928" y="3245103"/>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32688" y="3409696"/>
            <a:ext cx="1645824"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NORMAND</a:t>
            </a:r>
          </a:p>
        </p:txBody>
      </p:sp>
      <p:sp>
        <p:nvSpPr>
          <p:cNvPr id="13" name="TextBox 12"/>
          <p:cNvSpPr txBox="1"/>
          <p:nvPr/>
        </p:nvSpPr>
        <p:spPr>
          <a:xfrm>
            <a:off x="2578512" y="3409696"/>
            <a:ext cx="8497614"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Montrez-moi la ligne qui vous embête.</a:t>
            </a:r>
          </a:p>
        </p:txBody>
      </p:sp>
      <p:sp>
        <p:nvSpPr>
          <p:cNvPr id="14" name="Rounded Rectangle 13"/>
          <p:cNvSpPr/>
          <p:nvPr/>
        </p:nvSpPr>
        <p:spPr>
          <a:xfrm>
            <a:off x="566928" y="3994404"/>
            <a:ext cx="11057839" cy="1004823"/>
          </a:xfrm>
          <a:prstGeom prst="roundRect">
            <a:avLst>
              <a:gd name="adj" fmla="val 14560"/>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32688" y="4158995"/>
            <a:ext cx="1645824" cy="73050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ROSARIO</a:t>
            </a:r>
          </a:p>
        </p:txBody>
      </p:sp>
      <p:sp>
        <p:nvSpPr>
          <p:cNvPr id="16" name="TextBox 15"/>
          <p:cNvSpPr txBox="1"/>
          <p:nvPr/>
        </p:nvSpPr>
        <p:spPr>
          <a:xfrm>
            <a:off x="2578512" y="4158995"/>
            <a:ext cx="8497614" cy="73050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Ici : « Soirée illimitée, six dollars soixante-quinze, valide de 18 h à 5 h ».</a:t>
            </a:r>
          </a:p>
        </p:txBody>
      </p:sp>
      <p:sp>
        <p:nvSpPr>
          <p:cNvPr id="17" name="Rounded Rectangle 16"/>
          <p:cNvSpPr/>
          <p:nvPr/>
        </p:nvSpPr>
        <p:spPr>
          <a:xfrm>
            <a:off x="566928" y="5081524"/>
            <a:ext cx="11057839" cy="1004823"/>
          </a:xfrm>
          <a:prstGeom prst="roundRect">
            <a:avLst>
              <a:gd name="adj" fmla="val 14560"/>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932688" y="5246116"/>
            <a:ext cx="1645824" cy="73050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NORMAND</a:t>
            </a:r>
          </a:p>
        </p:txBody>
      </p:sp>
      <p:sp>
        <p:nvSpPr>
          <p:cNvPr id="19" name="TextBox 18"/>
          <p:cNvSpPr txBox="1"/>
          <p:nvPr/>
        </p:nvSpPr>
        <p:spPr>
          <a:xfrm>
            <a:off x="2578512" y="5246116"/>
            <a:ext cx="8497614" cy="73050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Ça veut dire à partir de six heures du soir, jusqu'à cinq heures le lendemain matin.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D1 · Le bon titre de transport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4</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DIALOGUE · 2 DE 2</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Et cette colonne-là ?</a:t>
            </a:r>
          </a:p>
        </p:txBody>
      </p:sp>
      <p:sp>
        <p:nvSpPr>
          <p:cNvPr id="7" name="Rounded Rectangle 6"/>
          <p:cNvSpPr/>
          <p:nvPr/>
        </p:nvSpPr>
        <p:spPr>
          <a:xfrm>
            <a:off x="566928" y="1737360"/>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01952"/>
            <a:ext cx="1645824"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ROSARIO</a:t>
            </a:r>
          </a:p>
        </p:txBody>
      </p:sp>
      <p:sp>
        <p:nvSpPr>
          <p:cNvPr id="9" name="TextBox 8"/>
          <p:cNvSpPr txBox="1"/>
          <p:nvPr/>
        </p:nvSpPr>
        <p:spPr>
          <a:xfrm>
            <a:off x="2578512" y="1901952"/>
            <a:ext cx="8497614"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Et cette colonne-là ? « Réduit 6-17 ans ».</a:t>
            </a:r>
          </a:p>
        </p:txBody>
      </p:sp>
      <p:sp>
        <p:nvSpPr>
          <p:cNvPr id="10" name="Rounded Rectangle 9"/>
          <p:cNvSpPr/>
          <p:nvPr/>
        </p:nvSpPr>
        <p:spPr>
          <a:xfrm>
            <a:off x="566928" y="2486659"/>
            <a:ext cx="11057839" cy="1004823"/>
          </a:xfrm>
          <a:prstGeom prst="roundRect">
            <a:avLst>
              <a:gd name="adj" fmla="val 14560"/>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2651252"/>
            <a:ext cx="1645824" cy="73050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NORMAND</a:t>
            </a:r>
          </a:p>
        </p:txBody>
      </p:sp>
      <p:sp>
        <p:nvSpPr>
          <p:cNvPr id="12" name="TextBox 11"/>
          <p:cNvSpPr txBox="1"/>
          <p:nvPr/>
        </p:nvSpPr>
        <p:spPr>
          <a:xfrm>
            <a:off x="2578512" y="2651252"/>
            <a:ext cx="8497614" cy="73050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C'est le prix pour les jeunes de six à dix-sept ans. Avec une carte avec photo.</a:t>
            </a:r>
          </a:p>
        </p:txBody>
      </p:sp>
      <p:sp>
        <p:nvSpPr>
          <p:cNvPr id="13" name="Rounded Rectangle 12"/>
          <p:cNvSpPr/>
          <p:nvPr/>
        </p:nvSpPr>
        <p:spPr>
          <a:xfrm>
            <a:off x="566928" y="3573780"/>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32688" y="3738371"/>
            <a:ext cx="1645824"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ROSARIO</a:t>
            </a:r>
          </a:p>
        </p:txBody>
      </p:sp>
      <p:sp>
        <p:nvSpPr>
          <p:cNvPr id="15" name="TextBox 14"/>
          <p:cNvSpPr txBox="1"/>
          <p:nvPr/>
        </p:nvSpPr>
        <p:spPr>
          <a:xfrm>
            <a:off x="2578512" y="3738371"/>
            <a:ext cx="8497614"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Mon garçon a neuf ans. Est-ce que je paie pour lui ?</a:t>
            </a:r>
          </a:p>
        </p:txBody>
      </p:sp>
      <p:sp>
        <p:nvSpPr>
          <p:cNvPr id="16" name="Rounded Rectangle 15"/>
          <p:cNvSpPr/>
          <p:nvPr/>
        </p:nvSpPr>
        <p:spPr>
          <a:xfrm>
            <a:off x="566928" y="4323080"/>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32688" y="4487672"/>
            <a:ext cx="1645824"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NORMAND</a:t>
            </a:r>
          </a:p>
        </p:txBody>
      </p:sp>
      <p:sp>
        <p:nvSpPr>
          <p:cNvPr id="18" name="TextBox 17"/>
          <p:cNvSpPr txBox="1"/>
          <p:nvPr/>
        </p:nvSpPr>
        <p:spPr>
          <a:xfrm>
            <a:off x="2578512" y="4487672"/>
            <a:ext cx="8497614"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Onze ans et moins, c'est gratuit, s'il est avec vous.</a:t>
            </a:r>
          </a:p>
        </p:txBody>
      </p:sp>
      <p:sp>
        <p:nvSpPr>
          <p:cNvPr id="19" name="Rounded Rectangle 18"/>
          <p:cNvSpPr/>
          <p:nvPr/>
        </p:nvSpPr>
        <p:spPr>
          <a:xfrm>
            <a:off x="566928" y="5072380"/>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932688" y="5236972"/>
            <a:ext cx="1645824"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ROSARIO</a:t>
            </a:r>
          </a:p>
        </p:txBody>
      </p:sp>
      <p:sp>
        <p:nvSpPr>
          <p:cNvPr id="21" name="TextBox 20"/>
          <p:cNvSpPr txBox="1"/>
          <p:nvPr/>
        </p:nvSpPr>
        <p:spPr>
          <a:xfrm>
            <a:off x="2578512" y="5236972"/>
            <a:ext cx="8497614"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Gratuit ? Je ne savais pas ça.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D1 · Le bon titre de transport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5</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ANALYSE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Les quatre zones tarifaires</a:t>
            </a:r>
          </a:p>
        </p:txBody>
      </p:sp>
      <p:sp>
        <p:nvSpPr>
          <p:cNvPr id="7" name="Rounded Rectangle 6"/>
          <p:cNvSpPr/>
          <p:nvPr/>
        </p:nvSpPr>
        <p:spPr>
          <a:xfrm>
            <a:off x="566928" y="1810512"/>
            <a:ext cx="11057839" cy="2798064"/>
          </a:xfrm>
          <a:prstGeom prst="roundRect">
            <a:avLst>
              <a:gd name="adj" fmla="val 522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91492"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LA ZONE</a:t>
            </a:r>
          </a:p>
        </p:txBody>
      </p:sp>
      <p:sp>
        <p:nvSpPr>
          <p:cNvPr id="9" name="TextBox 8"/>
          <p:cNvSpPr txBox="1"/>
          <p:nvPr/>
        </p:nvSpPr>
        <p:spPr>
          <a:xfrm>
            <a:off x="4443636" y="1975104"/>
            <a:ext cx="6595914"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CE QU'ELLE COUVRE</a:t>
            </a:r>
          </a:p>
        </p:txBody>
      </p:sp>
      <p:sp>
        <p:nvSpPr>
          <p:cNvPr id="10" name="TextBox 9"/>
          <p:cNvSpPr txBox="1"/>
          <p:nvPr/>
        </p:nvSpPr>
        <p:spPr>
          <a:xfrm>
            <a:off x="932688" y="2395728"/>
            <a:ext cx="3291492" cy="338328"/>
          </a:xfrm>
          <a:prstGeom prst="rect">
            <a:avLst/>
          </a:prstGeom>
          <a:noFill/>
        </p:spPr>
        <p:txBody>
          <a:bodyPr wrap="square" lIns="0" rIns="0" tIns="0" bIns="0" anchor="t">
            <a:spAutoFit/>
          </a:bodyPr>
          <a:lstStyle/>
          <a:p>
            <a:pPr algn="l">
              <a:lnSpc>
                <a:spcPct val="132000"/>
              </a:lnSpc>
            </a:pPr>
            <a:r>
              <a:rPr sz="1800" b="1" i="0">
                <a:solidFill>
                  <a:srgbClr val="1D6B8F"/>
                </a:solidFill>
                <a:latin typeface="Verdana"/>
              </a:rPr>
              <a:t>A</a:t>
            </a:r>
          </a:p>
        </p:txBody>
      </p:sp>
      <p:sp>
        <p:nvSpPr>
          <p:cNvPr id="11" name="TextBox 10"/>
          <p:cNvSpPr txBox="1"/>
          <p:nvPr/>
        </p:nvSpPr>
        <p:spPr>
          <a:xfrm>
            <a:off x="4443636" y="2395728"/>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l'agglomération de Montréal</a:t>
            </a:r>
          </a:p>
        </p:txBody>
      </p:sp>
      <p:sp>
        <p:nvSpPr>
          <p:cNvPr id="12" name="Rectangle 11"/>
          <p:cNvSpPr/>
          <p:nvPr/>
        </p:nvSpPr>
        <p:spPr>
          <a:xfrm>
            <a:off x="932688" y="2807208"/>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2935224"/>
            <a:ext cx="3291492" cy="338328"/>
          </a:xfrm>
          <a:prstGeom prst="rect">
            <a:avLst/>
          </a:prstGeom>
          <a:noFill/>
        </p:spPr>
        <p:txBody>
          <a:bodyPr wrap="square" lIns="0" rIns="0" tIns="0" bIns="0" anchor="t">
            <a:spAutoFit/>
          </a:bodyPr>
          <a:lstStyle/>
          <a:p>
            <a:pPr algn="l">
              <a:lnSpc>
                <a:spcPct val="132000"/>
              </a:lnSpc>
            </a:pPr>
            <a:r>
              <a:rPr sz="1800" b="1" i="0">
                <a:solidFill>
                  <a:srgbClr val="1D6B8F"/>
                </a:solidFill>
                <a:latin typeface="Verdana"/>
              </a:rPr>
              <a:t>B</a:t>
            </a:r>
          </a:p>
        </p:txBody>
      </p:sp>
      <p:sp>
        <p:nvSpPr>
          <p:cNvPr id="14" name="TextBox 13"/>
          <p:cNvSpPr txBox="1"/>
          <p:nvPr/>
        </p:nvSpPr>
        <p:spPr>
          <a:xfrm>
            <a:off x="4443636" y="2935224"/>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Laval et l'agglomération de Longueuil</a:t>
            </a:r>
          </a:p>
        </p:txBody>
      </p:sp>
      <p:sp>
        <p:nvSpPr>
          <p:cNvPr id="15" name="Rectangle 14"/>
          <p:cNvSpPr/>
          <p:nvPr/>
        </p:nvSpPr>
        <p:spPr>
          <a:xfrm>
            <a:off x="932688" y="3346704"/>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32688" y="3474720"/>
            <a:ext cx="3291492" cy="338328"/>
          </a:xfrm>
          <a:prstGeom prst="rect">
            <a:avLst/>
          </a:prstGeom>
          <a:noFill/>
        </p:spPr>
        <p:txBody>
          <a:bodyPr wrap="square" lIns="0" rIns="0" tIns="0" bIns="0" anchor="t">
            <a:spAutoFit/>
          </a:bodyPr>
          <a:lstStyle/>
          <a:p>
            <a:pPr algn="l">
              <a:lnSpc>
                <a:spcPct val="132000"/>
              </a:lnSpc>
            </a:pPr>
            <a:r>
              <a:rPr sz="1800" b="1" i="0">
                <a:solidFill>
                  <a:srgbClr val="1D6B8F"/>
                </a:solidFill>
                <a:latin typeface="Verdana"/>
              </a:rPr>
              <a:t>C</a:t>
            </a:r>
          </a:p>
        </p:txBody>
      </p:sp>
      <p:sp>
        <p:nvSpPr>
          <p:cNvPr id="17" name="TextBox 16"/>
          <p:cNvSpPr txBox="1"/>
          <p:nvPr/>
        </p:nvSpPr>
        <p:spPr>
          <a:xfrm>
            <a:off x="4443636" y="3474720"/>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les couronnes nord et sud</a:t>
            </a:r>
          </a:p>
        </p:txBody>
      </p:sp>
      <p:sp>
        <p:nvSpPr>
          <p:cNvPr id="18" name="Rectangle 17"/>
          <p:cNvSpPr/>
          <p:nvPr/>
        </p:nvSpPr>
        <p:spPr>
          <a:xfrm>
            <a:off x="932688" y="3886200"/>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32688" y="4014215"/>
            <a:ext cx="3291492" cy="338328"/>
          </a:xfrm>
          <a:prstGeom prst="rect">
            <a:avLst/>
          </a:prstGeom>
          <a:noFill/>
        </p:spPr>
        <p:txBody>
          <a:bodyPr wrap="square" lIns="0" rIns="0" tIns="0" bIns="0" anchor="t">
            <a:spAutoFit/>
          </a:bodyPr>
          <a:lstStyle/>
          <a:p>
            <a:pPr algn="l">
              <a:lnSpc>
                <a:spcPct val="132000"/>
              </a:lnSpc>
            </a:pPr>
            <a:r>
              <a:rPr sz="1800" b="1" i="0">
                <a:solidFill>
                  <a:srgbClr val="1D6B8F"/>
                </a:solidFill>
                <a:latin typeface="Verdana"/>
              </a:rPr>
              <a:t>D</a:t>
            </a:r>
          </a:p>
        </p:txBody>
      </p:sp>
      <p:sp>
        <p:nvSpPr>
          <p:cNvPr id="20" name="TextBox 19"/>
          <p:cNvSpPr txBox="1"/>
          <p:nvPr/>
        </p:nvSpPr>
        <p:spPr>
          <a:xfrm>
            <a:off x="4443636" y="4014215"/>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hors du territoire</a:t>
            </a:r>
          </a:p>
        </p:txBody>
      </p:sp>
      <p:sp>
        <p:nvSpPr>
          <p:cNvPr id="21" name="Rounded Rectangle 20"/>
          <p:cNvSpPr/>
          <p:nvPr/>
        </p:nvSpPr>
        <p:spPr>
          <a:xfrm>
            <a:off x="566928" y="4846320"/>
            <a:ext cx="11057839" cy="843534"/>
          </a:xfrm>
          <a:prstGeom prst="roundRect">
            <a:avLst>
              <a:gd name="adj" fmla="val 17344"/>
            </a:avLst>
          </a:prstGeom>
          <a:solidFill>
            <a:srgbClr val="FBFBFA"/>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69264" y="5102352"/>
            <a:ext cx="10234879" cy="386334"/>
          </a:xfrm>
          <a:prstGeom prst="rect">
            <a:avLst/>
          </a:prstGeom>
          <a:noFill/>
        </p:spPr>
        <p:txBody>
          <a:bodyPr wrap="square" lIns="0" rIns="0" tIns="0" bIns="0" anchor="t">
            <a:spAutoFit/>
          </a:bodyPr>
          <a:lstStyle/>
          <a:p>
            <a:pPr algn="l">
              <a:lnSpc>
                <a:spcPct val="145000"/>
              </a:lnSpc>
            </a:pPr>
            <a:r>
              <a:rPr sz="1800" b="0" i="0">
                <a:solidFill>
                  <a:srgbClr val="4B4F52"/>
                </a:solidFill>
                <a:latin typeface="Verdana"/>
              </a:rPr>
              <a:t>Un titre « Tous modes A » sert seulement dans Montréal.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D1 · Le bon titre de transport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6</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ANALYSE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Les quatre colonnes de la grille</a:t>
            </a:r>
          </a:p>
        </p:txBody>
      </p:sp>
      <p:sp>
        <p:nvSpPr>
          <p:cNvPr id="7" name="Rounded Rectangle 6"/>
          <p:cNvSpPr/>
          <p:nvPr/>
        </p:nvSpPr>
        <p:spPr>
          <a:xfrm>
            <a:off x="566928" y="1810512"/>
            <a:ext cx="11057839" cy="2798064"/>
          </a:xfrm>
          <a:prstGeom prst="roundRect">
            <a:avLst>
              <a:gd name="adj" fmla="val 522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91492"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LA COLONNE</a:t>
            </a:r>
          </a:p>
        </p:txBody>
      </p:sp>
      <p:sp>
        <p:nvSpPr>
          <p:cNvPr id="9" name="TextBox 8"/>
          <p:cNvSpPr txBox="1"/>
          <p:nvPr/>
        </p:nvSpPr>
        <p:spPr>
          <a:xfrm>
            <a:off x="4443636" y="1975104"/>
            <a:ext cx="6595914"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POUR QUI</a:t>
            </a:r>
          </a:p>
        </p:txBody>
      </p:sp>
      <p:sp>
        <p:nvSpPr>
          <p:cNvPr id="10" name="TextBox 9"/>
          <p:cNvSpPr txBox="1"/>
          <p:nvPr/>
        </p:nvSpPr>
        <p:spPr>
          <a:xfrm>
            <a:off x="932688" y="2395728"/>
            <a:ext cx="3291492" cy="338328"/>
          </a:xfrm>
          <a:prstGeom prst="rect">
            <a:avLst/>
          </a:prstGeom>
          <a:noFill/>
        </p:spPr>
        <p:txBody>
          <a:bodyPr wrap="square" lIns="0" rIns="0" tIns="0" bIns="0" anchor="t">
            <a:spAutoFit/>
          </a:bodyPr>
          <a:lstStyle/>
          <a:p>
            <a:pPr algn="l">
              <a:lnSpc>
                <a:spcPct val="132000"/>
              </a:lnSpc>
            </a:pPr>
            <a:r>
              <a:rPr sz="1800" b="1" i="0">
                <a:solidFill>
                  <a:srgbClr val="1D6B8F"/>
                </a:solidFill>
                <a:latin typeface="Verdana"/>
              </a:rPr>
              <a:t>Ordinaire</a:t>
            </a:r>
          </a:p>
        </p:txBody>
      </p:sp>
      <p:sp>
        <p:nvSpPr>
          <p:cNvPr id="11" name="TextBox 10"/>
          <p:cNvSpPr txBox="1"/>
          <p:nvPr/>
        </p:nvSpPr>
        <p:spPr>
          <a:xfrm>
            <a:off x="4443636" y="2395728"/>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le prix plein, la plupart des adultes</a:t>
            </a:r>
          </a:p>
        </p:txBody>
      </p:sp>
      <p:sp>
        <p:nvSpPr>
          <p:cNvPr id="12" name="Rectangle 11"/>
          <p:cNvSpPr/>
          <p:nvPr/>
        </p:nvSpPr>
        <p:spPr>
          <a:xfrm>
            <a:off x="932688" y="2807208"/>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2935224"/>
            <a:ext cx="3291492" cy="338328"/>
          </a:xfrm>
          <a:prstGeom prst="rect">
            <a:avLst/>
          </a:prstGeom>
          <a:noFill/>
        </p:spPr>
        <p:txBody>
          <a:bodyPr wrap="square" lIns="0" rIns="0" tIns="0" bIns="0" anchor="t">
            <a:spAutoFit/>
          </a:bodyPr>
          <a:lstStyle/>
          <a:p>
            <a:pPr algn="l">
              <a:lnSpc>
                <a:spcPct val="132000"/>
              </a:lnSpc>
            </a:pPr>
            <a:r>
              <a:rPr sz="1800" b="1" i="0">
                <a:solidFill>
                  <a:srgbClr val="1D6B8F"/>
                </a:solidFill>
                <a:latin typeface="Verdana"/>
              </a:rPr>
              <a:t>Réduit 6-17 ans</a:t>
            </a:r>
          </a:p>
        </p:txBody>
      </p:sp>
      <p:sp>
        <p:nvSpPr>
          <p:cNvPr id="14" name="TextBox 13"/>
          <p:cNvSpPr txBox="1"/>
          <p:nvPr/>
        </p:nvSpPr>
        <p:spPr>
          <a:xfrm>
            <a:off x="4443636" y="2935224"/>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les enfants et les adolescents</a:t>
            </a:r>
          </a:p>
        </p:txBody>
      </p:sp>
      <p:sp>
        <p:nvSpPr>
          <p:cNvPr id="15" name="Rectangle 14"/>
          <p:cNvSpPr/>
          <p:nvPr/>
        </p:nvSpPr>
        <p:spPr>
          <a:xfrm>
            <a:off x="932688" y="3346704"/>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32688" y="3474720"/>
            <a:ext cx="3291492" cy="338328"/>
          </a:xfrm>
          <a:prstGeom prst="rect">
            <a:avLst/>
          </a:prstGeom>
          <a:noFill/>
        </p:spPr>
        <p:txBody>
          <a:bodyPr wrap="square" lIns="0" rIns="0" tIns="0" bIns="0" anchor="t">
            <a:spAutoFit/>
          </a:bodyPr>
          <a:lstStyle/>
          <a:p>
            <a:pPr algn="l">
              <a:lnSpc>
                <a:spcPct val="132000"/>
              </a:lnSpc>
            </a:pPr>
            <a:r>
              <a:rPr sz="1800" b="1" i="0">
                <a:solidFill>
                  <a:srgbClr val="1D6B8F"/>
                </a:solidFill>
                <a:latin typeface="Verdana"/>
              </a:rPr>
              <a:t>Réduit étudiant</a:t>
            </a:r>
          </a:p>
        </p:txBody>
      </p:sp>
      <p:sp>
        <p:nvSpPr>
          <p:cNvPr id="17" name="TextBox 16"/>
          <p:cNvSpPr txBox="1"/>
          <p:nvPr/>
        </p:nvSpPr>
        <p:spPr>
          <a:xfrm>
            <a:off x="4443636" y="3474720"/>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18 ans et plus, aux études à temps plein</a:t>
            </a:r>
          </a:p>
        </p:txBody>
      </p:sp>
      <p:sp>
        <p:nvSpPr>
          <p:cNvPr id="18" name="Rectangle 17"/>
          <p:cNvSpPr/>
          <p:nvPr/>
        </p:nvSpPr>
        <p:spPr>
          <a:xfrm>
            <a:off x="932688" y="3886200"/>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32688" y="4014215"/>
            <a:ext cx="3291492" cy="338328"/>
          </a:xfrm>
          <a:prstGeom prst="rect">
            <a:avLst/>
          </a:prstGeom>
          <a:noFill/>
        </p:spPr>
        <p:txBody>
          <a:bodyPr wrap="square" lIns="0" rIns="0" tIns="0" bIns="0" anchor="t">
            <a:spAutoFit/>
          </a:bodyPr>
          <a:lstStyle/>
          <a:p>
            <a:pPr algn="l">
              <a:lnSpc>
                <a:spcPct val="132000"/>
              </a:lnSpc>
            </a:pPr>
            <a:r>
              <a:rPr sz="1800" b="1" i="0">
                <a:solidFill>
                  <a:srgbClr val="1D6B8F"/>
                </a:solidFill>
                <a:latin typeface="Verdana"/>
              </a:rPr>
              <a:t>Réduit 65 ans et plus</a:t>
            </a:r>
          </a:p>
        </p:txBody>
      </p:sp>
      <p:sp>
        <p:nvSpPr>
          <p:cNvPr id="20" name="TextBox 19"/>
          <p:cNvSpPr txBox="1"/>
          <p:nvPr/>
        </p:nvSpPr>
        <p:spPr>
          <a:xfrm>
            <a:off x="4443636" y="4014215"/>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les personnes aînées</a:t>
            </a:r>
          </a:p>
        </p:txBody>
      </p:sp>
      <p:sp>
        <p:nvSpPr>
          <p:cNvPr id="21" name="Rounded Rectangle 20"/>
          <p:cNvSpPr/>
          <p:nvPr/>
        </p:nvSpPr>
        <p:spPr>
          <a:xfrm>
            <a:off x="566928" y="4846320"/>
            <a:ext cx="11057839" cy="843534"/>
          </a:xfrm>
          <a:prstGeom prst="roundRect">
            <a:avLst>
              <a:gd name="adj" fmla="val 17344"/>
            </a:avLst>
          </a:prstGeom>
          <a:solidFill>
            <a:srgbClr val="FBFBFA"/>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69264" y="5102352"/>
            <a:ext cx="10234879" cy="386334"/>
          </a:xfrm>
          <a:prstGeom prst="rect">
            <a:avLst/>
          </a:prstGeom>
          <a:noFill/>
        </p:spPr>
        <p:txBody>
          <a:bodyPr wrap="square" lIns="0" rIns="0" tIns="0" bIns="0" anchor="t">
            <a:spAutoFit/>
          </a:bodyPr>
          <a:lstStyle/>
          <a:p>
            <a:pPr algn="l">
              <a:lnSpc>
                <a:spcPct val="145000"/>
              </a:lnSpc>
            </a:pPr>
            <a:r>
              <a:rPr sz="1800" b="0" i="0">
                <a:solidFill>
                  <a:srgbClr val="4B4F52"/>
                </a:solidFill>
                <a:latin typeface="Verdana"/>
              </a:rPr>
              <a:t>Les trois colonnes « Réduit » exigent une carte avec photo.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D1 · Le bon titre de transport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7</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CE QU'IL FAUT POUR UN TARIF RÉDUIT</a:t>
            </a:r>
          </a:p>
        </p:txBody>
      </p:sp>
      <p:sp>
        <p:nvSpPr>
          <p:cNvPr id="6" name="Rounded Rectangle 5"/>
          <p:cNvSpPr/>
          <p:nvPr/>
        </p:nvSpPr>
        <p:spPr>
          <a:xfrm>
            <a:off x="566928" y="1225296"/>
            <a:ext cx="11057839" cy="1967991"/>
          </a:xfrm>
          <a:prstGeom prst="roundRect">
            <a:avLst>
              <a:gd name="adj" fmla="val 74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8448" y="1682496"/>
            <a:ext cx="9594799" cy="1145032"/>
          </a:xfrm>
          <a:prstGeom prst="rect">
            <a:avLst/>
          </a:prstGeom>
          <a:noFill/>
        </p:spPr>
        <p:txBody>
          <a:bodyPr wrap="square" lIns="0" rIns="0" tIns="0" bIns="0" anchor="t">
            <a:spAutoFit/>
          </a:bodyPr>
          <a:lstStyle/>
          <a:p>
            <a:pPr algn="l">
              <a:lnSpc>
                <a:spcPct val="122000"/>
              </a:lnSpc>
            </a:pPr>
            <a:r>
              <a:rPr sz="3400" b="1" i="0">
                <a:solidFill>
                  <a:srgbClr val="17181A"/>
                </a:solidFill>
                <a:latin typeface="Verdana"/>
              </a:rPr>
              <a:t>Le bon âge ET une carte OPUS avec photo</a:t>
            </a:r>
          </a:p>
        </p:txBody>
      </p:sp>
      <p:sp>
        <p:nvSpPr>
          <p:cNvPr id="8" name="Rounded Rectangle 7"/>
          <p:cNvSpPr/>
          <p:nvPr/>
        </p:nvSpPr>
        <p:spPr>
          <a:xfrm>
            <a:off x="566928" y="3467607"/>
            <a:ext cx="11057839" cy="1671827"/>
          </a:xfrm>
          <a:prstGeom prst="roundRect">
            <a:avLst>
              <a:gd name="adj" fmla="val 8751"/>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9264" y="3741927"/>
            <a:ext cx="10234879" cy="1214627"/>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Les deux, toujours. Avec le bon âge mais sans la photo, on paie le tarif ordinaire. La photo se fait au point de service : il faut venir avec la personne concernée et une preuve de son âge.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D1 · Le bon titre de transport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8</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ANALYSE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La grille de la zone A</a:t>
            </a:r>
          </a:p>
        </p:txBody>
      </p:sp>
      <p:sp>
        <p:nvSpPr>
          <p:cNvPr id="7" name="Rounded Rectangle 6"/>
          <p:cNvSpPr/>
          <p:nvPr/>
        </p:nvSpPr>
        <p:spPr>
          <a:xfrm>
            <a:off x="566928" y="1810512"/>
            <a:ext cx="11057839" cy="3099816"/>
          </a:xfrm>
          <a:prstGeom prst="roundRect">
            <a:avLst>
              <a:gd name="adj" fmla="val 4719"/>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91492"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LE TITRE</a:t>
            </a:r>
          </a:p>
        </p:txBody>
      </p:sp>
      <p:sp>
        <p:nvSpPr>
          <p:cNvPr id="9" name="TextBox 8"/>
          <p:cNvSpPr txBox="1"/>
          <p:nvPr/>
        </p:nvSpPr>
        <p:spPr>
          <a:xfrm>
            <a:off x="4443636" y="1975104"/>
            <a:ext cx="6595914"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ORDINAIRE · RÉDUIT</a:t>
            </a:r>
          </a:p>
        </p:txBody>
      </p:sp>
      <p:sp>
        <p:nvSpPr>
          <p:cNvPr id="10" name="TextBox 9"/>
          <p:cNvSpPr txBox="1"/>
          <p:nvPr/>
        </p:nvSpPr>
        <p:spPr>
          <a:xfrm>
            <a:off x="932688" y="2395728"/>
            <a:ext cx="3291492"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1 passage</a:t>
            </a:r>
          </a:p>
        </p:txBody>
      </p:sp>
      <p:sp>
        <p:nvSpPr>
          <p:cNvPr id="11" name="TextBox 10"/>
          <p:cNvSpPr txBox="1"/>
          <p:nvPr/>
        </p:nvSpPr>
        <p:spPr>
          <a:xfrm>
            <a:off x="4443636" y="2395728"/>
            <a:ext cx="6595914" cy="338328"/>
          </a:xfrm>
          <a:prstGeom prst="rect">
            <a:avLst/>
          </a:prstGeom>
          <a:noFill/>
        </p:spPr>
        <p:txBody>
          <a:bodyPr wrap="square" lIns="0" rIns="0" tIns="0" bIns="0" anchor="t">
            <a:spAutoFit/>
          </a:bodyPr>
          <a:lstStyle/>
          <a:p>
            <a:pPr algn="l">
              <a:lnSpc>
                <a:spcPct val="132000"/>
              </a:lnSpc>
            </a:pPr>
            <a:r>
              <a:rPr sz="1800" b="1" i="0">
                <a:solidFill>
                  <a:srgbClr val="1D6B8F"/>
                </a:solidFill>
                <a:latin typeface="Verdana"/>
              </a:rPr>
              <a:t>3,75 $ · 2,75 $</a:t>
            </a:r>
          </a:p>
        </p:txBody>
      </p:sp>
      <p:sp>
        <p:nvSpPr>
          <p:cNvPr id="12" name="Rectangle 11"/>
          <p:cNvSpPr/>
          <p:nvPr/>
        </p:nvSpPr>
        <p:spPr>
          <a:xfrm>
            <a:off x="932688" y="2807208"/>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2935224"/>
            <a:ext cx="3291492"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10 passages</a:t>
            </a:r>
          </a:p>
        </p:txBody>
      </p:sp>
      <p:sp>
        <p:nvSpPr>
          <p:cNvPr id="14" name="TextBox 13"/>
          <p:cNvSpPr txBox="1"/>
          <p:nvPr/>
        </p:nvSpPr>
        <p:spPr>
          <a:xfrm>
            <a:off x="4443636" y="2935224"/>
            <a:ext cx="6595914" cy="338328"/>
          </a:xfrm>
          <a:prstGeom prst="rect">
            <a:avLst/>
          </a:prstGeom>
          <a:noFill/>
        </p:spPr>
        <p:txBody>
          <a:bodyPr wrap="square" lIns="0" rIns="0" tIns="0" bIns="0" anchor="t">
            <a:spAutoFit/>
          </a:bodyPr>
          <a:lstStyle/>
          <a:p>
            <a:pPr algn="l">
              <a:lnSpc>
                <a:spcPct val="132000"/>
              </a:lnSpc>
            </a:pPr>
            <a:r>
              <a:rPr sz="1800" b="1" i="0">
                <a:solidFill>
                  <a:srgbClr val="1D6B8F"/>
                </a:solidFill>
                <a:latin typeface="Verdana"/>
              </a:rPr>
              <a:t>35,00 $ · 23,50 $</a:t>
            </a:r>
          </a:p>
        </p:txBody>
      </p:sp>
      <p:sp>
        <p:nvSpPr>
          <p:cNvPr id="15" name="Rectangle 14"/>
          <p:cNvSpPr/>
          <p:nvPr/>
        </p:nvSpPr>
        <p:spPr>
          <a:xfrm>
            <a:off x="932688" y="3346704"/>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32688" y="3474720"/>
            <a:ext cx="3291492" cy="640080"/>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Hebdo, du lundi au dimanche</a:t>
            </a:r>
          </a:p>
        </p:txBody>
      </p:sp>
      <p:sp>
        <p:nvSpPr>
          <p:cNvPr id="17" name="TextBox 16"/>
          <p:cNvSpPr txBox="1"/>
          <p:nvPr/>
        </p:nvSpPr>
        <p:spPr>
          <a:xfrm>
            <a:off x="4443636" y="3474720"/>
            <a:ext cx="6595914" cy="640080"/>
          </a:xfrm>
          <a:prstGeom prst="rect">
            <a:avLst/>
          </a:prstGeom>
          <a:noFill/>
        </p:spPr>
        <p:txBody>
          <a:bodyPr wrap="square" lIns="0" rIns="0" tIns="0" bIns="0" anchor="t">
            <a:spAutoFit/>
          </a:bodyPr>
          <a:lstStyle/>
          <a:p>
            <a:pPr algn="l">
              <a:lnSpc>
                <a:spcPct val="132000"/>
              </a:lnSpc>
            </a:pPr>
            <a:r>
              <a:rPr sz="1800" b="1" i="0">
                <a:solidFill>
                  <a:srgbClr val="1D6B8F"/>
                </a:solidFill>
                <a:latin typeface="Verdana"/>
              </a:rPr>
              <a:t>33,25 $ · 20,00 $</a:t>
            </a:r>
          </a:p>
        </p:txBody>
      </p:sp>
      <p:sp>
        <p:nvSpPr>
          <p:cNvPr id="18" name="Rectangle 17"/>
          <p:cNvSpPr/>
          <p:nvPr/>
        </p:nvSpPr>
        <p:spPr>
          <a:xfrm>
            <a:off x="932688" y="4187952"/>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32688" y="4315968"/>
            <a:ext cx="3291492"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Mensuel</a:t>
            </a:r>
          </a:p>
        </p:txBody>
      </p:sp>
      <p:sp>
        <p:nvSpPr>
          <p:cNvPr id="20" name="TextBox 19"/>
          <p:cNvSpPr txBox="1"/>
          <p:nvPr/>
        </p:nvSpPr>
        <p:spPr>
          <a:xfrm>
            <a:off x="4443636" y="4315968"/>
            <a:ext cx="6595914" cy="338328"/>
          </a:xfrm>
          <a:prstGeom prst="rect">
            <a:avLst/>
          </a:prstGeom>
          <a:noFill/>
        </p:spPr>
        <p:txBody>
          <a:bodyPr wrap="square" lIns="0" rIns="0" tIns="0" bIns="0" anchor="t">
            <a:spAutoFit/>
          </a:bodyPr>
          <a:lstStyle/>
          <a:p>
            <a:pPr algn="l">
              <a:lnSpc>
                <a:spcPct val="132000"/>
              </a:lnSpc>
            </a:pPr>
            <a:r>
              <a:rPr sz="1800" b="1" i="0">
                <a:solidFill>
                  <a:srgbClr val="1D6B8F"/>
                </a:solidFill>
                <a:latin typeface="Verdana"/>
              </a:rPr>
              <a:t>110,00 $ · 66,00 $</a:t>
            </a:r>
          </a:p>
        </p:txBody>
      </p:sp>
      <p:sp>
        <p:nvSpPr>
          <p:cNvPr id="21" name="Rounded Rectangle 20"/>
          <p:cNvSpPr/>
          <p:nvPr/>
        </p:nvSpPr>
        <p:spPr>
          <a:xfrm>
            <a:off x="566928" y="5148072"/>
            <a:ext cx="11057839" cy="843534"/>
          </a:xfrm>
          <a:prstGeom prst="roundRect">
            <a:avLst>
              <a:gd name="adj" fmla="val 17344"/>
            </a:avLst>
          </a:prstGeom>
          <a:solidFill>
            <a:srgbClr val="FBFBFA"/>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69264" y="5404104"/>
            <a:ext cx="10234879" cy="386334"/>
          </a:xfrm>
          <a:prstGeom prst="rect">
            <a:avLst/>
          </a:prstGeom>
          <a:noFill/>
        </p:spPr>
        <p:txBody>
          <a:bodyPr wrap="square" lIns="0" rIns="0" tIns="0" bIns="0" anchor="t">
            <a:spAutoFit/>
          </a:bodyPr>
          <a:lstStyle/>
          <a:p>
            <a:pPr algn="l">
              <a:lnSpc>
                <a:spcPct val="145000"/>
              </a:lnSpc>
            </a:pPr>
            <a:r>
              <a:rPr sz="1800" b="0" i="0">
                <a:solidFill>
                  <a:srgbClr val="4B4F52"/>
                </a:solidFill>
                <a:latin typeface="Verdana"/>
              </a:rPr>
              <a:t>Le titre 24 h coûte 11,25 $ et n'a pas de tarif réduit.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D1 · Le bon titre de transport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9</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COMPRÉHENSION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Vrai ou faux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Répondez d'après le dialogue et la grille.</a:t>
            </a:r>
          </a:p>
        </p:txBody>
      </p:sp>
      <p:sp>
        <p:nvSpPr>
          <p:cNvPr id="8" name="Rounded Rectangle 7"/>
          <p:cNvSpPr/>
          <p:nvPr/>
        </p:nvSpPr>
        <p:spPr>
          <a:xfrm>
            <a:off x="566928" y="2139696"/>
            <a:ext cx="11057839" cy="630936"/>
          </a:xfrm>
          <a:prstGeom prst="roundRect">
            <a:avLst>
              <a:gd name="adj" fmla="val 2318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7228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36291"/>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1</a:t>
            </a:r>
          </a:p>
        </p:txBody>
      </p:sp>
      <p:sp>
        <p:nvSpPr>
          <p:cNvPr id="11" name="TextBox 10"/>
          <p:cNvSpPr txBox="1"/>
          <p:nvPr/>
        </p:nvSpPr>
        <p:spPr>
          <a:xfrm>
            <a:off x="1344168" y="2295144"/>
            <a:ext cx="10097719" cy="356615"/>
          </a:xfrm>
          <a:prstGeom prst="rect">
            <a:avLst/>
          </a:prstGeom>
          <a:noFill/>
        </p:spPr>
        <p:txBody>
          <a:bodyPr wrap="square" lIns="0" rIns="0" tIns="0" bIns="0" anchor="t">
            <a:spAutoFit/>
          </a:bodyPr>
          <a:lstStyle/>
          <a:p>
            <a:pPr algn="l">
              <a:lnSpc>
                <a:spcPct val="140000"/>
              </a:lnSpc>
            </a:pPr>
            <a:r>
              <a:rPr sz="1800" b="0" i="0">
                <a:solidFill>
                  <a:srgbClr val="3A3D40"/>
                </a:solidFill>
                <a:latin typeface="Verdana"/>
              </a:rPr>
              <a:t>La Soirée illimitée est valide de dix-huit heures à cinq heures.</a:t>
            </a:r>
          </a:p>
        </p:txBody>
      </p:sp>
      <p:sp>
        <p:nvSpPr>
          <p:cNvPr id="12" name="Rounded Rectangle 11"/>
          <p:cNvSpPr/>
          <p:nvPr/>
        </p:nvSpPr>
        <p:spPr>
          <a:xfrm>
            <a:off x="566928" y="2898648"/>
            <a:ext cx="11057839" cy="630936"/>
          </a:xfrm>
          <a:prstGeom prst="roundRect">
            <a:avLst>
              <a:gd name="adj" fmla="val 2318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3031236"/>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3095244"/>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2</a:t>
            </a:r>
          </a:p>
        </p:txBody>
      </p:sp>
      <p:sp>
        <p:nvSpPr>
          <p:cNvPr id="15" name="TextBox 14"/>
          <p:cNvSpPr txBox="1"/>
          <p:nvPr/>
        </p:nvSpPr>
        <p:spPr>
          <a:xfrm>
            <a:off x="1344168" y="3054096"/>
            <a:ext cx="10097719" cy="356615"/>
          </a:xfrm>
          <a:prstGeom prst="rect">
            <a:avLst/>
          </a:prstGeom>
          <a:noFill/>
        </p:spPr>
        <p:txBody>
          <a:bodyPr wrap="square" lIns="0" rIns="0" tIns="0" bIns="0" anchor="t">
            <a:spAutoFit/>
          </a:bodyPr>
          <a:lstStyle/>
          <a:p>
            <a:pPr algn="l">
              <a:lnSpc>
                <a:spcPct val="140000"/>
              </a:lnSpc>
            </a:pPr>
            <a:r>
              <a:rPr sz="1800" b="0" i="0">
                <a:solidFill>
                  <a:srgbClr val="3A3D40"/>
                </a:solidFill>
                <a:latin typeface="Verdana"/>
              </a:rPr>
              <a:t>La colonne « Réduit 6-17 ans » s'adresse aux adultes.</a:t>
            </a:r>
          </a:p>
        </p:txBody>
      </p:sp>
      <p:sp>
        <p:nvSpPr>
          <p:cNvPr id="16" name="Rounded Rectangle 15"/>
          <p:cNvSpPr/>
          <p:nvPr/>
        </p:nvSpPr>
        <p:spPr>
          <a:xfrm>
            <a:off x="566928" y="3657600"/>
            <a:ext cx="11057839" cy="630936"/>
          </a:xfrm>
          <a:prstGeom prst="roundRect">
            <a:avLst>
              <a:gd name="adj" fmla="val 2318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790187"/>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854196"/>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3</a:t>
            </a:r>
          </a:p>
        </p:txBody>
      </p:sp>
      <p:sp>
        <p:nvSpPr>
          <p:cNvPr id="19" name="TextBox 18"/>
          <p:cNvSpPr txBox="1"/>
          <p:nvPr/>
        </p:nvSpPr>
        <p:spPr>
          <a:xfrm>
            <a:off x="1344168" y="3813048"/>
            <a:ext cx="10097719" cy="356615"/>
          </a:xfrm>
          <a:prstGeom prst="rect">
            <a:avLst/>
          </a:prstGeom>
          <a:noFill/>
        </p:spPr>
        <p:txBody>
          <a:bodyPr wrap="square" lIns="0" rIns="0" tIns="0" bIns="0" anchor="t">
            <a:spAutoFit/>
          </a:bodyPr>
          <a:lstStyle/>
          <a:p>
            <a:pPr algn="l">
              <a:lnSpc>
                <a:spcPct val="140000"/>
              </a:lnSpc>
            </a:pPr>
            <a:r>
              <a:rPr sz="1800" b="0" i="0">
                <a:solidFill>
                  <a:srgbClr val="3A3D40"/>
                </a:solidFill>
                <a:latin typeface="Verdana"/>
              </a:rPr>
              <a:t>Un enfant de neuf ans accompagné voyage gratuitement.</a:t>
            </a:r>
          </a:p>
        </p:txBody>
      </p:sp>
      <p:sp>
        <p:nvSpPr>
          <p:cNvPr id="20" name="Rounded Rectangle 19"/>
          <p:cNvSpPr/>
          <p:nvPr/>
        </p:nvSpPr>
        <p:spPr>
          <a:xfrm>
            <a:off x="566928" y="4416552"/>
            <a:ext cx="11057839" cy="630936"/>
          </a:xfrm>
          <a:prstGeom prst="roundRect">
            <a:avLst>
              <a:gd name="adj" fmla="val 2318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549140"/>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613148"/>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4</a:t>
            </a:r>
          </a:p>
        </p:txBody>
      </p:sp>
      <p:sp>
        <p:nvSpPr>
          <p:cNvPr id="23" name="TextBox 22"/>
          <p:cNvSpPr txBox="1"/>
          <p:nvPr/>
        </p:nvSpPr>
        <p:spPr>
          <a:xfrm>
            <a:off x="1344168" y="4572000"/>
            <a:ext cx="10097719" cy="356615"/>
          </a:xfrm>
          <a:prstGeom prst="rect">
            <a:avLst/>
          </a:prstGeom>
          <a:noFill/>
        </p:spPr>
        <p:txBody>
          <a:bodyPr wrap="square" lIns="0" rIns="0" tIns="0" bIns="0" anchor="t">
            <a:spAutoFit/>
          </a:bodyPr>
          <a:lstStyle/>
          <a:p>
            <a:pPr algn="l">
              <a:lnSpc>
                <a:spcPct val="140000"/>
              </a:lnSpc>
            </a:pPr>
            <a:r>
              <a:rPr sz="1800" b="0" i="0">
                <a:solidFill>
                  <a:srgbClr val="3A3D40"/>
                </a:solidFill>
                <a:latin typeface="Verdana"/>
              </a:rPr>
              <a:t>Une personne peut accompagner dix enfants.</a:t>
            </a:r>
          </a:p>
        </p:txBody>
      </p:sp>
      <p:sp>
        <p:nvSpPr>
          <p:cNvPr id="24" name="Rounded Rectangle 23"/>
          <p:cNvSpPr/>
          <p:nvPr/>
        </p:nvSpPr>
        <p:spPr>
          <a:xfrm>
            <a:off x="566928" y="5175504"/>
            <a:ext cx="11057839" cy="630936"/>
          </a:xfrm>
          <a:prstGeom prst="roundRect">
            <a:avLst>
              <a:gd name="adj" fmla="val 2318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5308092"/>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372100"/>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5</a:t>
            </a:r>
          </a:p>
        </p:txBody>
      </p:sp>
      <p:sp>
        <p:nvSpPr>
          <p:cNvPr id="27" name="TextBox 26"/>
          <p:cNvSpPr txBox="1"/>
          <p:nvPr/>
        </p:nvSpPr>
        <p:spPr>
          <a:xfrm>
            <a:off x="1344168" y="5330952"/>
            <a:ext cx="10097719" cy="356615"/>
          </a:xfrm>
          <a:prstGeom prst="rect">
            <a:avLst/>
          </a:prstGeom>
          <a:noFill/>
        </p:spPr>
        <p:txBody>
          <a:bodyPr wrap="square" lIns="0" rIns="0" tIns="0" bIns="0" anchor="t">
            <a:spAutoFit/>
          </a:bodyPr>
          <a:lstStyle/>
          <a:p>
            <a:pPr algn="l">
              <a:lnSpc>
                <a:spcPct val="140000"/>
              </a:lnSpc>
            </a:pPr>
            <a:r>
              <a:rPr sz="1800" b="0" i="0">
                <a:solidFill>
                  <a:srgbClr val="3A3D40"/>
                </a:solidFill>
                <a:latin typeface="Verdana"/>
              </a:rPr>
              <a:t>Le bon âge suffit pour avoir le tarif réduit.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D1 · Le bon titre de transport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10</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Vrai ou faux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630936"/>
          </a:xfrm>
          <a:prstGeom prst="roundRect">
            <a:avLst>
              <a:gd name="adj" fmla="val 23188"/>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7228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36291"/>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1</a:t>
            </a:r>
          </a:p>
        </p:txBody>
      </p:sp>
      <p:sp>
        <p:nvSpPr>
          <p:cNvPr id="11" name="TextBox 10"/>
          <p:cNvSpPr txBox="1"/>
          <p:nvPr/>
        </p:nvSpPr>
        <p:spPr>
          <a:xfrm>
            <a:off x="1344168" y="2295144"/>
            <a:ext cx="10097719" cy="356615"/>
          </a:xfrm>
          <a:prstGeom prst="rect">
            <a:avLst/>
          </a:prstGeom>
          <a:noFill/>
        </p:spPr>
        <p:txBody>
          <a:bodyPr wrap="square" lIns="0" rIns="0" tIns="0" bIns="0" anchor="t">
            <a:spAutoFit/>
          </a:bodyPr>
          <a:lstStyle/>
          <a:p>
            <a:pPr algn="l">
              <a:lnSpc>
                <a:spcPct val="140000"/>
              </a:lnSpc>
            </a:pPr>
            <a:r>
              <a:rPr sz="1800" b="0" i="0">
                <a:solidFill>
                  <a:srgbClr val="3A3D40"/>
                </a:solidFill>
                <a:latin typeface="Verdana"/>
              </a:rPr>
              <a:t>La Soirée illimitée est valide de dix-huit heures à cinq heures.   </a:t>
            </a:r>
            <a:r>
              <a:rPr sz="1800" b="1" i="0">
                <a:solidFill>
                  <a:srgbClr val="07734A"/>
                </a:solidFill>
                <a:latin typeface="Verdana"/>
              </a:rPr>
              <a:t>» vrai</a:t>
            </a:r>
          </a:p>
        </p:txBody>
      </p:sp>
      <p:sp>
        <p:nvSpPr>
          <p:cNvPr id="12" name="Rounded Rectangle 11"/>
          <p:cNvSpPr/>
          <p:nvPr/>
        </p:nvSpPr>
        <p:spPr>
          <a:xfrm>
            <a:off x="566928" y="2898648"/>
            <a:ext cx="11057839" cy="630936"/>
          </a:xfrm>
          <a:prstGeom prst="roundRect">
            <a:avLst>
              <a:gd name="adj" fmla="val 23188"/>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3031236"/>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3095244"/>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2</a:t>
            </a:r>
          </a:p>
        </p:txBody>
      </p:sp>
      <p:sp>
        <p:nvSpPr>
          <p:cNvPr id="15" name="TextBox 14"/>
          <p:cNvSpPr txBox="1"/>
          <p:nvPr/>
        </p:nvSpPr>
        <p:spPr>
          <a:xfrm>
            <a:off x="1344168" y="3054096"/>
            <a:ext cx="10097719" cy="356615"/>
          </a:xfrm>
          <a:prstGeom prst="rect">
            <a:avLst/>
          </a:prstGeom>
          <a:noFill/>
        </p:spPr>
        <p:txBody>
          <a:bodyPr wrap="square" lIns="0" rIns="0" tIns="0" bIns="0" anchor="t">
            <a:spAutoFit/>
          </a:bodyPr>
          <a:lstStyle/>
          <a:p>
            <a:pPr algn="l">
              <a:lnSpc>
                <a:spcPct val="140000"/>
              </a:lnSpc>
            </a:pPr>
            <a:r>
              <a:rPr sz="1800" b="0" i="0">
                <a:solidFill>
                  <a:srgbClr val="3A3D40"/>
                </a:solidFill>
                <a:latin typeface="Verdana"/>
              </a:rPr>
              <a:t>La colonne « Réduit 6-17 ans » s'adresse aux adultes.   </a:t>
            </a:r>
            <a:r>
              <a:rPr sz="1800" b="1" i="0">
                <a:solidFill>
                  <a:srgbClr val="07734A"/>
                </a:solidFill>
                <a:latin typeface="Verdana"/>
              </a:rPr>
              <a:t>» faux — aux jeunes</a:t>
            </a:r>
          </a:p>
        </p:txBody>
      </p:sp>
      <p:sp>
        <p:nvSpPr>
          <p:cNvPr id="16" name="Rounded Rectangle 15"/>
          <p:cNvSpPr/>
          <p:nvPr/>
        </p:nvSpPr>
        <p:spPr>
          <a:xfrm>
            <a:off x="566928" y="3657600"/>
            <a:ext cx="11057839" cy="630936"/>
          </a:xfrm>
          <a:prstGeom prst="roundRect">
            <a:avLst>
              <a:gd name="adj" fmla="val 23188"/>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790187"/>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854196"/>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3</a:t>
            </a:r>
          </a:p>
        </p:txBody>
      </p:sp>
      <p:sp>
        <p:nvSpPr>
          <p:cNvPr id="19" name="TextBox 18"/>
          <p:cNvSpPr txBox="1"/>
          <p:nvPr/>
        </p:nvSpPr>
        <p:spPr>
          <a:xfrm>
            <a:off x="1344168" y="3813048"/>
            <a:ext cx="10097719" cy="356615"/>
          </a:xfrm>
          <a:prstGeom prst="rect">
            <a:avLst/>
          </a:prstGeom>
          <a:noFill/>
        </p:spPr>
        <p:txBody>
          <a:bodyPr wrap="square" lIns="0" rIns="0" tIns="0" bIns="0" anchor="t">
            <a:spAutoFit/>
          </a:bodyPr>
          <a:lstStyle/>
          <a:p>
            <a:pPr algn="l">
              <a:lnSpc>
                <a:spcPct val="140000"/>
              </a:lnSpc>
            </a:pPr>
            <a:r>
              <a:rPr sz="1800" b="0" i="0">
                <a:solidFill>
                  <a:srgbClr val="3A3D40"/>
                </a:solidFill>
                <a:latin typeface="Verdana"/>
              </a:rPr>
              <a:t>Un enfant de neuf ans accompagné voyage gratuitement.   </a:t>
            </a:r>
            <a:r>
              <a:rPr sz="1800" b="1" i="0">
                <a:solidFill>
                  <a:srgbClr val="07734A"/>
                </a:solidFill>
                <a:latin typeface="Verdana"/>
              </a:rPr>
              <a:t>» vrai — 11 ans et moins</a:t>
            </a:r>
          </a:p>
        </p:txBody>
      </p:sp>
      <p:sp>
        <p:nvSpPr>
          <p:cNvPr id="20" name="Rounded Rectangle 19"/>
          <p:cNvSpPr/>
          <p:nvPr/>
        </p:nvSpPr>
        <p:spPr>
          <a:xfrm>
            <a:off x="566928" y="4416552"/>
            <a:ext cx="11057839" cy="630936"/>
          </a:xfrm>
          <a:prstGeom prst="roundRect">
            <a:avLst>
              <a:gd name="adj" fmla="val 23188"/>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549140"/>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613148"/>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4</a:t>
            </a:r>
          </a:p>
        </p:txBody>
      </p:sp>
      <p:sp>
        <p:nvSpPr>
          <p:cNvPr id="23" name="TextBox 22"/>
          <p:cNvSpPr txBox="1"/>
          <p:nvPr/>
        </p:nvSpPr>
        <p:spPr>
          <a:xfrm>
            <a:off x="1344168" y="4572000"/>
            <a:ext cx="10097719" cy="356615"/>
          </a:xfrm>
          <a:prstGeom prst="rect">
            <a:avLst/>
          </a:prstGeom>
          <a:noFill/>
        </p:spPr>
        <p:txBody>
          <a:bodyPr wrap="square" lIns="0" rIns="0" tIns="0" bIns="0" anchor="t">
            <a:spAutoFit/>
          </a:bodyPr>
          <a:lstStyle/>
          <a:p>
            <a:pPr algn="l">
              <a:lnSpc>
                <a:spcPct val="140000"/>
              </a:lnSpc>
            </a:pPr>
            <a:r>
              <a:rPr sz="1800" b="0" i="0">
                <a:solidFill>
                  <a:srgbClr val="3A3D40"/>
                </a:solidFill>
                <a:latin typeface="Verdana"/>
              </a:rPr>
              <a:t>Une personne peut accompagner dix enfants.   </a:t>
            </a:r>
            <a:r>
              <a:rPr sz="1800" b="1" i="0">
                <a:solidFill>
                  <a:srgbClr val="07734A"/>
                </a:solidFill>
                <a:latin typeface="Verdana"/>
              </a:rPr>
              <a:t>» faux — cinq au maximum</a:t>
            </a:r>
          </a:p>
        </p:txBody>
      </p:sp>
      <p:sp>
        <p:nvSpPr>
          <p:cNvPr id="24" name="Rounded Rectangle 23"/>
          <p:cNvSpPr/>
          <p:nvPr/>
        </p:nvSpPr>
        <p:spPr>
          <a:xfrm>
            <a:off x="566928" y="5175504"/>
            <a:ext cx="11057839" cy="630936"/>
          </a:xfrm>
          <a:prstGeom prst="roundRect">
            <a:avLst>
              <a:gd name="adj" fmla="val 23188"/>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5308092"/>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372100"/>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5</a:t>
            </a:r>
          </a:p>
        </p:txBody>
      </p:sp>
      <p:sp>
        <p:nvSpPr>
          <p:cNvPr id="27" name="TextBox 26"/>
          <p:cNvSpPr txBox="1"/>
          <p:nvPr/>
        </p:nvSpPr>
        <p:spPr>
          <a:xfrm>
            <a:off x="1344168" y="5330952"/>
            <a:ext cx="10097719" cy="356615"/>
          </a:xfrm>
          <a:prstGeom prst="rect">
            <a:avLst/>
          </a:prstGeom>
          <a:noFill/>
        </p:spPr>
        <p:txBody>
          <a:bodyPr wrap="square" lIns="0" rIns="0" tIns="0" bIns="0" anchor="t">
            <a:spAutoFit/>
          </a:bodyPr>
          <a:lstStyle/>
          <a:p>
            <a:pPr algn="l">
              <a:lnSpc>
                <a:spcPct val="140000"/>
              </a:lnSpc>
            </a:pPr>
            <a:r>
              <a:rPr sz="1800" b="0" i="0">
                <a:solidFill>
                  <a:srgbClr val="3A3D40"/>
                </a:solidFill>
                <a:latin typeface="Verdana"/>
              </a:rPr>
              <a:t>Le bon âge suffit pour avoir le tarif réduit.   </a:t>
            </a:r>
            <a:r>
              <a:rPr sz="1800" b="1" i="0">
                <a:solidFill>
                  <a:srgbClr val="07734A"/>
                </a:solidFill>
                <a:latin typeface="Verdana"/>
              </a:rPr>
              <a:t>» faux — il faut aussi la carte avec photo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D1 · Le bon titre de transport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11</a:t>
            </a:r>
          </a:p>
        </p:txBody>
      </p:sp>
      <p:sp>
        <p:nvSpPr>
          <p:cNvPr id="5" name="Rectangle 4"/>
          <p:cNvSpPr/>
          <p:nvPr/>
        </p:nvSpPr>
        <p:spPr>
          <a:xfrm>
            <a:off x="0" y="0"/>
            <a:ext cx="12191695" cy="6858000"/>
          </a:xfrm>
          <a:prstGeom prst="rect">
            <a:avLst/>
          </a:prstGeom>
          <a:solidFill>
            <a:srgbClr val="17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051560"/>
            <a:ext cx="11057839" cy="274320"/>
          </a:xfrm>
          <a:prstGeom prst="rect">
            <a:avLst/>
          </a:prstGeom>
          <a:noFill/>
        </p:spPr>
        <p:txBody>
          <a:bodyPr wrap="square" lIns="0" rIns="0" tIns="0" bIns="0" anchor="t">
            <a:spAutoFit/>
          </a:bodyPr>
          <a:lstStyle/>
          <a:p>
            <a:pPr algn="l">
              <a:lnSpc>
                <a:spcPct val="135000"/>
              </a:lnSpc>
            </a:pPr>
            <a:r>
              <a:rPr sz="1300" b="1" i="0" spc="156">
                <a:solidFill>
                  <a:srgbClr val="FFFFFF"/>
                </a:solidFill>
                <a:latin typeface="Verdana"/>
              </a:rPr>
              <a:t>BILLET DE SORTIE</a:t>
            </a:r>
          </a:p>
        </p:txBody>
      </p:sp>
      <p:sp>
        <p:nvSpPr>
          <p:cNvPr id="7" name="TextBox 6"/>
          <p:cNvSpPr txBox="1"/>
          <p:nvPr/>
        </p:nvSpPr>
        <p:spPr>
          <a:xfrm>
            <a:off x="566928" y="1572768"/>
            <a:ext cx="9777679" cy="2103120"/>
          </a:xfrm>
          <a:prstGeom prst="rect">
            <a:avLst/>
          </a:prstGeom>
          <a:noFill/>
        </p:spPr>
        <p:txBody>
          <a:bodyPr wrap="square" lIns="0" rIns="0" tIns="0" bIns="0" anchor="t">
            <a:spAutoFit/>
          </a:bodyPr>
          <a:lstStyle/>
          <a:p>
            <a:pPr algn="l">
              <a:lnSpc>
                <a:spcPct val="125000"/>
              </a:lnSpc>
            </a:pPr>
            <a:r>
              <a:rPr sz="3400" b="1" i="0">
                <a:solidFill>
                  <a:srgbClr val="FFFFFF"/>
                </a:solidFill>
                <a:latin typeface="Verdana"/>
              </a:rPr>
              <a:t>Écrivez dans quelle colonne de la grille vous vous trouvez, et pourquoi.</a:t>
            </a:r>
          </a:p>
        </p:txBody>
      </p:sp>
      <p:sp>
        <p:nvSpPr>
          <p:cNvPr id="8" name="Rounded Rectangle 7"/>
          <p:cNvSpPr/>
          <p:nvPr/>
        </p:nvSpPr>
        <p:spPr>
          <a:xfrm>
            <a:off x="566928" y="3931920"/>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4087368"/>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Je suis dans la colonne ___ parce que j'ai ___ ans.</a:t>
            </a:r>
          </a:p>
        </p:txBody>
      </p:sp>
      <p:sp>
        <p:nvSpPr>
          <p:cNvPr id="10" name="Rounded Rectangle 9"/>
          <p:cNvSpPr/>
          <p:nvPr/>
        </p:nvSpPr>
        <p:spPr>
          <a:xfrm>
            <a:off x="566928" y="4680712"/>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4836160"/>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Dans ma famille, ___ a droit au tarif réduit.</a:t>
            </a:r>
          </a:p>
        </p:txBody>
      </p:sp>
      <p:sp>
        <p:nvSpPr>
          <p:cNvPr id="12" name="TextBox 11"/>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D1 · Le bon titre de transport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