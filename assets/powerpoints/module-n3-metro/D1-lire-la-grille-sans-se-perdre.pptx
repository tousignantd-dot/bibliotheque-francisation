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défi 3, qui est la compétence de compréhension écrite du programme. Projeter d'abord une vraie grille tarifaire et laisser le groupe la regarder trente secondes en silence. Presque tout le monde la trouvera illisible : c'est le point de départ.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Rosario emploie « ce titre-là » et montre du doigt : c'est exactement ce que la séance B2 a préparé. Le faire remarquer au groupe.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gratuité des onze ans et moins est le renseignement que presque personne ne connaît, et il vaut plusieurs centaines de dollars par an pour une famille. Le vérifier avec le groupe : qui le savait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Demander qui habite ou travaille hors de l'île : ceux-là doivent lire un autre bloc de la grille, et c'est le piège le plus coûteux du défi 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placer chaque élève dans sa colonne, et les membres de sa famille. Plusieurs découvriront qu'ils paient le plein prix sans raison.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le renseignement pratique le plus rentable du module. Encourager le groupe à faire faire les cartes de leurs enfants et de leurs parents.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 sont les vrais prix. Faire calculer à voix haute l'économie d'une famille de quatre personnes dont deux ont droit au tarif réduit.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réponse en montrant la ligne ou la colonne de la grille projetée. C'est la compétence même du défi 3 : trouver, pas deviner.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Ramasser et vérifier : ceux qui se placent dans la mauvaise colonne perdent de l'argent tous les mois, et le billet permet de les reprendre individuellement.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D1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Lire la grille sans se perdre</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tableau se lit en croix : une ligne pour le titre, une colonne pour la personne, et le prix à l'intersection. C'est tout.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bon titre de transport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trouver une ligne et une colonne dans un tableau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quatre zones tarifaires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quatre catégories de personnes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qu'un tarif réduit exige une carte avec photo.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Montrez-moi la ligne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64582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ROSARIO</a:t>
            </a:r>
          </a:p>
        </p:txBody>
      </p:sp>
      <p:sp>
        <p:nvSpPr>
          <p:cNvPr id="10" name="TextBox 9"/>
          <p:cNvSpPr txBox="1"/>
          <p:nvPr/>
        </p:nvSpPr>
        <p:spPr>
          <a:xfrm>
            <a:off x="2578512" y="2322576"/>
            <a:ext cx="8497614"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Monsieur, la grille est affichée au mur, mais je ne comprends pas tout.</a:t>
            </a:r>
          </a:p>
        </p:txBody>
      </p:sp>
      <p:sp>
        <p:nvSpPr>
          <p:cNvPr id="11" name="Rounded Rectangle 10"/>
          <p:cNvSpPr/>
          <p:nvPr/>
        </p:nvSpPr>
        <p:spPr>
          <a:xfrm>
            <a:off x="566928" y="324510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409696"/>
            <a:ext cx="164582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NORMAND</a:t>
            </a:r>
          </a:p>
        </p:txBody>
      </p:sp>
      <p:sp>
        <p:nvSpPr>
          <p:cNvPr id="13" name="TextBox 12"/>
          <p:cNvSpPr txBox="1"/>
          <p:nvPr/>
        </p:nvSpPr>
        <p:spPr>
          <a:xfrm>
            <a:off x="2578512" y="3409696"/>
            <a:ext cx="8497614"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Montrez-moi la ligne qui vous embête.</a:t>
            </a:r>
          </a:p>
        </p:txBody>
      </p:sp>
      <p:sp>
        <p:nvSpPr>
          <p:cNvPr id="14" name="Rounded Rectangle 13"/>
          <p:cNvSpPr/>
          <p:nvPr/>
        </p:nvSpPr>
        <p:spPr>
          <a:xfrm>
            <a:off x="566928" y="399440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158995"/>
            <a:ext cx="164582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ROSARIO</a:t>
            </a:r>
          </a:p>
        </p:txBody>
      </p:sp>
      <p:sp>
        <p:nvSpPr>
          <p:cNvPr id="16" name="TextBox 15"/>
          <p:cNvSpPr txBox="1"/>
          <p:nvPr/>
        </p:nvSpPr>
        <p:spPr>
          <a:xfrm>
            <a:off x="2578512" y="4158995"/>
            <a:ext cx="8497614"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Ici : « Soirée illimitée, six dollars soixante-quinze, valide de 18 h à 5 h ».</a:t>
            </a:r>
          </a:p>
        </p:txBody>
      </p:sp>
      <p:sp>
        <p:nvSpPr>
          <p:cNvPr id="17" name="Rounded Rectangle 16"/>
          <p:cNvSpPr/>
          <p:nvPr/>
        </p:nvSpPr>
        <p:spPr>
          <a:xfrm>
            <a:off x="566928" y="508152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5246116"/>
            <a:ext cx="164582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NORMAND</a:t>
            </a:r>
          </a:p>
        </p:txBody>
      </p:sp>
      <p:sp>
        <p:nvSpPr>
          <p:cNvPr id="19" name="TextBox 18"/>
          <p:cNvSpPr txBox="1"/>
          <p:nvPr/>
        </p:nvSpPr>
        <p:spPr>
          <a:xfrm>
            <a:off x="2578512" y="5246116"/>
            <a:ext cx="8497614"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veut dire à partir de six heures du soir, jusqu'à cinq heures le lendemain matin.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Et cette colonne-là ?</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64582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ROSARIO</a:t>
            </a:r>
          </a:p>
        </p:txBody>
      </p:sp>
      <p:sp>
        <p:nvSpPr>
          <p:cNvPr id="9" name="TextBox 8"/>
          <p:cNvSpPr txBox="1"/>
          <p:nvPr/>
        </p:nvSpPr>
        <p:spPr>
          <a:xfrm>
            <a:off x="2578512" y="1901952"/>
            <a:ext cx="8497614"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cette colonne-là ? « Réduit 6-17 ans ».</a:t>
            </a:r>
          </a:p>
        </p:txBody>
      </p:sp>
      <p:sp>
        <p:nvSpPr>
          <p:cNvPr id="10" name="Rounded Rectangle 9"/>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64582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NORMAND</a:t>
            </a:r>
          </a:p>
        </p:txBody>
      </p:sp>
      <p:sp>
        <p:nvSpPr>
          <p:cNvPr id="12" name="TextBox 11"/>
          <p:cNvSpPr txBox="1"/>
          <p:nvPr/>
        </p:nvSpPr>
        <p:spPr>
          <a:xfrm>
            <a:off x="2578512" y="2651252"/>
            <a:ext cx="8497614"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le prix pour les jeunes de six à dix-sept ans. Avec une carte avec photo.</a:t>
            </a:r>
          </a:p>
        </p:txBody>
      </p:sp>
      <p:sp>
        <p:nvSpPr>
          <p:cNvPr id="13" name="Rounded Rectangle 12"/>
          <p:cNvSpPr/>
          <p:nvPr/>
        </p:nvSpPr>
        <p:spPr>
          <a:xfrm>
            <a:off x="566928" y="357378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738371"/>
            <a:ext cx="164582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ROSARIO</a:t>
            </a:r>
          </a:p>
        </p:txBody>
      </p:sp>
      <p:sp>
        <p:nvSpPr>
          <p:cNvPr id="15" name="TextBox 14"/>
          <p:cNvSpPr txBox="1"/>
          <p:nvPr/>
        </p:nvSpPr>
        <p:spPr>
          <a:xfrm>
            <a:off x="2578512" y="3738371"/>
            <a:ext cx="8497614"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Mon garçon a neuf ans. Est-ce que je paie pour lui ?</a:t>
            </a:r>
          </a:p>
        </p:txBody>
      </p:sp>
      <p:sp>
        <p:nvSpPr>
          <p:cNvPr id="16" name="Rounded Rectangle 15"/>
          <p:cNvSpPr/>
          <p:nvPr/>
        </p:nvSpPr>
        <p:spPr>
          <a:xfrm>
            <a:off x="566928" y="432308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7672"/>
            <a:ext cx="164582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NORMAND</a:t>
            </a:r>
          </a:p>
        </p:txBody>
      </p:sp>
      <p:sp>
        <p:nvSpPr>
          <p:cNvPr id="18" name="TextBox 17"/>
          <p:cNvSpPr txBox="1"/>
          <p:nvPr/>
        </p:nvSpPr>
        <p:spPr>
          <a:xfrm>
            <a:off x="2578512" y="4487672"/>
            <a:ext cx="8497614"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Onze ans et moins, c'est gratuit, s'il est avec vous.</a:t>
            </a:r>
          </a:p>
        </p:txBody>
      </p:sp>
      <p:sp>
        <p:nvSpPr>
          <p:cNvPr id="19" name="Rounded Rectangle 18"/>
          <p:cNvSpPr/>
          <p:nvPr/>
        </p:nvSpPr>
        <p:spPr>
          <a:xfrm>
            <a:off x="566928" y="507238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36972"/>
            <a:ext cx="164582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ROSARIO</a:t>
            </a:r>
          </a:p>
        </p:txBody>
      </p:sp>
      <p:sp>
        <p:nvSpPr>
          <p:cNvPr id="21" name="TextBox 20"/>
          <p:cNvSpPr txBox="1"/>
          <p:nvPr/>
        </p:nvSpPr>
        <p:spPr>
          <a:xfrm>
            <a:off x="2578512" y="5236972"/>
            <a:ext cx="8497614"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Gratuit ? Je ne savais pas ça.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quatre zones tarifaires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ZONE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COUVRE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A</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l'agglomération de Montréal</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B</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Laval et l'agglomération de Longueuil</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C</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couronnes nord et sud</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D</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hors du territoire</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Un titre « Tous modes A » sert seulement dans Montréal.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quatre colonnes de la grille</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COLONNE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POUR QUI</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Ordinaire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prix plein, la plupart des adultes</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Réduit 6-17 ans</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enfants et les adolescents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Réduit étudiant</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18 ans et plus, aux études à temps plein</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Réduit 65 ans et plus</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personnes aînées</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Les trois colonnes « Réduit » exigent une carte avec photo.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CE QU'IL FAUT POUR UN TARIF RÉDUIT</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bon âge ET une carte OPUS avec photo</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Les deux, toujours. Avec le bon âge mais sans la photo, on paie le tarif ordinaire. La photo se fait au point de service : il faut venir avec la personne concernée et une preuve de son âge.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grille de la zone A</a:t>
            </a:r>
          </a:p>
        </p:txBody>
      </p:sp>
      <p:sp>
        <p:nvSpPr>
          <p:cNvPr id="7" name="Rounded Rectangle 6"/>
          <p:cNvSpPr/>
          <p:nvPr/>
        </p:nvSpPr>
        <p:spPr>
          <a:xfrm>
            <a:off x="566928" y="1810512"/>
            <a:ext cx="11057839" cy="3099816"/>
          </a:xfrm>
          <a:prstGeom prst="roundRect">
            <a:avLst>
              <a:gd name="adj" fmla="val 471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TITRE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ORDINAIRE · RÉDUIT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1 passage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3,75 $ · 2,75 $</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10 passages</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35,00 $ · 23,50 $</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Hebdo, du lundi au dimanche</a:t>
            </a:r>
          </a:p>
        </p:txBody>
      </p:sp>
      <p:sp>
        <p:nvSpPr>
          <p:cNvPr id="17" name="TextBox 16"/>
          <p:cNvSpPr txBox="1"/>
          <p:nvPr/>
        </p:nvSpPr>
        <p:spPr>
          <a:xfrm>
            <a:off x="4443636" y="3474720"/>
            <a:ext cx="6595914" cy="640080"/>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33,25 $ · 20,00 $</a:t>
            </a:r>
          </a:p>
        </p:txBody>
      </p:sp>
      <p:sp>
        <p:nvSpPr>
          <p:cNvPr id="18" name="Rectangle 17"/>
          <p:cNvSpPr/>
          <p:nvPr/>
        </p:nvSpPr>
        <p:spPr>
          <a:xfrm>
            <a:off x="932688" y="41879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31596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Mensuel</a:t>
            </a:r>
          </a:p>
        </p:txBody>
      </p:sp>
      <p:sp>
        <p:nvSpPr>
          <p:cNvPr id="20" name="TextBox 19"/>
          <p:cNvSpPr txBox="1"/>
          <p:nvPr/>
        </p:nvSpPr>
        <p:spPr>
          <a:xfrm>
            <a:off x="4443636" y="4315968"/>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110,00 $ · 66,00 $</a:t>
            </a:r>
          </a:p>
        </p:txBody>
      </p:sp>
      <p:sp>
        <p:nvSpPr>
          <p:cNvPr id="21" name="Rounded Rectangle 20"/>
          <p:cNvSpPr/>
          <p:nvPr/>
        </p:nvSpPr>
        <p:spPr>
          <a:xfrm>
            <a:off x="566928" y="5148072"/>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404104"/>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 titre 24 h coûte 11,25 $ et n'a pas de tarif réduit.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 et la grille.</a:t>
            </a:r>
          </a:p>
        </p:txBody>
      </p:sp>
      <p:sp>
        <p:nvSpPr>
          <p:cNvPr id="8" name="Rounded Rectangle 7"/>
          <p:cNvSpPr/>
          <p:nvPr/>
        </p:nvSpPr>
        <p:spPr>
          <a:xfrm>
            <a:off x="566928" y="2139696"/>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La Soirée illimitée est valide de dix-huit heures à cinq heures.</a:t>
            </a:r>
          </a:p>
        </p:txBody>
      </p:sp>
      <p:sp>
        <p:nvSpPr>
          <p:cNvPr id="12" name="Rounded Rectangle 11"/>
          <p:cNvSpPr/>
          <p:nvPr/>
        </p:nvSpPr>
        <p:spPr>
          <a:xfrm>
            <a:off x="566928" y="2898648"/>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3123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9524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5409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La colonne « Réduit 6-17 ans » s'adresse aux adultes.</a:t>
            </a:r>
          </a:p>
        </p:txBody>
      </p:sp>
      <p:sp>
        <p:nvSpPr>
          <p:cNvPr id="16" name="Rounded Rectangle 15"/>
          <p:cNvSpPr/>
          <p:nvPr/>
        </p:nvSpPr>
        <p:spPr>
          <a:xfrm>
            <a:off x="566928" y="3657600"/>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9018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5419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1304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 enfant de neuf ans accompagné voyage gratuitement.</a:t>
            </a:r>
          </a:p>
        </p:txBody>
      </p:sp>
      <p:sp>
        <p:nvSpPr>
          <p:cNvPr id="20" name="Rounded Rectangle 19"/>
          <p:cNvSpPr/>
          <p:nvPr/>
        </p:nvSpPr>
        <p:spPr>
          <a:xfrm>
            <a:off x="566928" y="4416552"/>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54914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1314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572000"/>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Une personne peut accompagner dix enfants.</a:t>
            </a:r>
          </a:p>
        </p:txBody>
      </p:sp>
      <p:sp>
        <p:nvSpPr>
          <p:cNvPr id="24" name="Rounded Rectangle 23"/>
          <p:cNvSpPr/>
          <p:nvPr/>
        </p:nvSpPr>
        <p:spPr>
          <a:xfrm>
            <a:off x="566928" y="5175504"/>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08092"/>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72100"/>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330952"/>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Le bon âge suffit pour avoir le tarif réduit.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La Soirée illimitée est valide de dix-huit heures à cinq heures.   </a:t>
            </a:r>
            <a:r>
              <a:rPr sz="1800" b="1" i="0">
                <a:solidFill>
                  <a:srgbClr val="07734A"/>
                </a:solidFill>
                <a:latin typeface="Verdana"/>
              </a:rPr>
              <a:t>» vrai</a:t>
            </a:r>
          </a:p>
        </p:txBody>
      </p:sp>
      <p:sp>
        <p:nvSpPr>
          <p:cNvPr id="12" name="Rounded Rectangle 11"/>
          <p:cNvSpPr/>
          <p:nvPr/>
        </p:nvSpPr>
        <p:spPr>
          <a:xfrm>
            <a:off x="566928" y="2898648"/>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3123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9524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5409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La colonne « Réduit 6-17 ans » s'adresse aux adultes.   </a:t>
            </a:r>
            <a:r>
              <a:rPr sz="1800" b="1" i="0">
                <a:solidFill>
                  <a:srgbClr val="07734A"/>
                </a:solidFill>
                <a:latin typeface="Verdana"/>
              </a:rPr>
              <a:t>» faux — aux jeunes</a:t>
            </a:r>
          </a:p>
        </p:txBody>
      </p:sp>
      <p:sp>
        <p:nvSpPr>
          <p:cNvPr id="16" name="Rounded Rectangle 15"/>
          <p:cNvSpPr/>
          <p:nvPr/>
        </p:nvSpPr>
        <p:spPr>
          <a:xfrm>
            <a:off x="566928" y="3657600"/>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9018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5419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1304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 enfant de neuf ans accompagné voyage gratuitement.   </a:t>
            </a:r>
            <a:r>
              <a:rPr sz="1800" b="1" i="0">
                <a:solidFill>
                  <a:srgbClr val="07734A"/>
                </a:solidFill>
                <a:latin typeface="Verdana"/>
              </a:rPr>
              <a:t>» vrai — 11 ans et moins</a:t>
            </a:r>
          </a:p>
        </p:txBody>
      </p:sp>
      <p:sp>
        <p:nvSpPr>
          <p:cNvPr id="20" name="Rounded Rectangle 19"/>
          <p:cNvSpPr/>
          <p:nvPr/>
        </p:nvSpPr>
        <p:spPr>
          <a:xfrm>
            <a:off x="566928" y="4416552"/>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54914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1314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572000"/>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Une personne peut accompagner dix enfants.   </a:t>
            </a:r>
            <a:r>
              <a:rPr sz="1800" b="1" i="0">
                <a:solidFill>
                  <a:srgbClr val="07734A"/>
                </a:solidFill>
                <a:latin typeface="Verdana"/>
              </a:rPr>
              <a:t>» faux — cinq au maximum</a:t>
            </a:r>
          </a:p>
        </p:txBody>
      </p:sp>
      <p:sp>
        <p:nvSpPr>
          <p:cNvPr id="24" name="Rounded Rectangle 23"/>
          <p:cNvSpPr/>
          <p:nvPr/>
        </p:nvSpPr>
        <p:spPr>
          <a:xfrm>
            <a:off x="566928" y="5175504"/>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08092"/>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72100"/>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330952"/>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Le bon âge suffit pour avoir le tarif réduit.   </a:t>
            </a:r>
            <a:r>
              <a:rPr sz="1800" b="1" i="0">
                <a:solidFill>
                  <a:srgbClr val="07734A"/>
                </a:solidFill>
                <a:latin typeface="Verdana"/>
              </a:rPr>
              <a:t>» faux — il faut aussi la carte avec photo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dans quelle colonne de la grille vous vous trouvez, et pourquoi.</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Je suis dans la colonne ___ parce que j'ai ___ ans.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Dans ma famille, ___ a droit au tarif réduit.</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bon titre de transport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