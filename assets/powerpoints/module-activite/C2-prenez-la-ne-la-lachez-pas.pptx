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grammaire longue. Écrire les deux phrases du chapeau au tableau, l'une sous l'autre, et demander ce qui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centrale. Très courte volontairement : toute la leçon tient en deux lignes. Faire recopier.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Sans trait d'union, « prenez la » attend un nom. Le faire remarquer : c'est une raison, pas une convention arbitraire.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l'erreur numéro un : on garde en tête la forme affirmative et on écrit « ne lâchez-la pas ». Y consacrer du temps.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seule irrégularité de la séance, et elle ne touche que deux pronoms.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 repère au tableau et l'y laisser : « s'il y a un ne, le pronom est avant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Vérifier le trait d'union à chaque ligne. C'est ce qui distingue la forme juste de la forme approximative.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venir cinq élèves au tableau. Demander à chacun de dire où va le pronom avant d'écrire.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dire clairement : personne n'est obligé d'employer cette forme. Mais on l'entend, et il faut la comprendre.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individuellement. Ces consignes servent à la production orale de E1 — expliquer une activité qu'on connaît.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C2  ·  MODULE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Prenez-la, ne la lâchez pas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même verbe, le même pronom — et deux places différentes. C'est la seule chose à comprendre, et c'est ce qui rend les consignes du moniteur difficiles à suivre.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90 minutes  ·  S'inscrire à une activité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placer le pronom après le verbe à la forme affirmative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le placer avant le verbe à la forme négative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moi et toi à l'affirmative, me et te à la négative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deux pronoms enchaînés : donne-les-leur.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règle, deux places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1719072"/>
          </a:xfrm>
          <a:prstGeom prst="roundRect">
            <a:avLst>
              <a:gd name="adj" fmla="val 851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FORME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OÙ VA LE PRONOM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Affirmative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après le verbe, avec un trait d'union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Négative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avant le verbe, sans trait d'union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7328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69264" y="4023360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Prenez-la. / Ne la lâchez pas. Le même mot, deux places.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À L'AFFIRMATIVE : LE PRONOM SUIT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Il se colle après le verbe, avec un trait d'union.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Prenez-la. » · « Compte-les. » · « Envoie-le à la douche. » · « Laissez-les au bord. » Le trait d'union n'est pas décoratif : il montre que le pronom remplace le nom.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À LA NÉGATIVE : LE PRONOM PRÉCÈDE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Il repasse devant le verbe, et le trait d'union disparaît.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Ne la lâchez pas. » · « Ne les jetez pas. » · « Ne le cherche pas toi-même. » Le « ne » et le « pas » entourent l'ensemble pronom + verbe.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ME DEVIENT MOI, TE DEVIENT TOI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l'affirmative seulement.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Regarde-moi. » · « Assieds-toi. » · « Mets-toi à côté de Sofia. » Mais à la négative, ils reprennent leur forme courte : « ne me regarde pas », « ne te lève pas ».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GARDER LE PRONOM APRÈS LE VERBE À LA NÉGATIVE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Ne lâchez-la pas 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Ne la lâchez pas !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À la négative, tout revient devant le verbe. C'est la faute la plus fréquente, parce qu'on a la forme affirmative en tête. Le repère : s'il y a un « ne », le pronom est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avant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Remplacez par un pronom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Récrivez la consigne à la forme affirmative.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Prenez la planche à deux mains.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Laissez les planches au bord.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Compte les enfants quand ils entrent.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Envoie l'enfant à la douche chaude.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Regarde le moniteur.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Remplacez par un pronom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Prenez la planche à deux mains.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Prenez-la à deux mains.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Laissez les planches au bord.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Laissez-les au bord.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Compte les enfants quand ils entrent.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Compte-les quand ils entrent.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Envoie l'enfant à la douche chaude.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Envoie-le à la douche chaude.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Regarde le moniteur.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Regarde-le.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Maintenant à la négative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Récrivez la même consigne, en négatif.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Ne lâchez pas la planche.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Ne jetez pas les planches dans l'eau.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Ne cherche pas l'enfant toi-même.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Ne donne pas les serviettes avant la sortie.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Ne ferme pas les yeux.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Maintenant à la négative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Ne lâchez pas la planche.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Ne la lâchez pas.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Ne jetez pas les planches dans l'eau.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Ne les jetez pas dans l'eau.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Ne cherche pas l'enfant toi-même.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Ne le cherche pas toi-même.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Ne donne pas les serviettes avant la sortie.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Ne les donne pas avant la sortie.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Ne ferme pas les yeux.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Ne les ferme pas.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DEUX PRONOMS ENSEMBLE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forme la plus difficile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L'exemple du module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Donne les serviettes aux enfants » devient « Donne-les-leur. » Deux pronoms, deux traits d'union.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L'ordre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Verbe, puis </a:t>
            </a:r>
            <a:r>
              <a:rPr sz="1600" b="1" i="0">
                <a:solidFill>
                  <a:srgbClr val="3A3D40"/>
                </a:solidFill>
                <a:latin typeface="Verdana"/>
              </a:rPr>
              <a:t>le / la / les</a:t>
            </a:r>
            <a:r>
              <a:rPr sz="1600" b="0" i="0">
                <a:solidFill>
                  <a:srgbClr val="3A3D40"/>
                </a:solidFill>
                <a:latin typeface="Verdana"/>
              </a:rPr>
              <a:t>, puis </a:t>
            </a:r>
            <a:r>
              <a:rPr sz="1600" b="1" i="0">
                <a:solidFill>
                  <a:srgbClr val="3A3D40"/>
                </a:solidFill>
                <a:latin typeface="Verdana"/>
              </a:rPr>
              <a:t>moi / lui / leur</a:t>
            </a:r>
            <a:r>
              <a:rPr sz="1600" b="0" i="0">
                <a:solidFill>
                  <a:srgbClr val="3A3D40"/>
                </a:solidFill>
                <a:latin typeface="Verdana"/>
              </a:rPr>
              <a:t>. Toujours dans cet ordre.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Ce qu'on vous demande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reconnaître, pas la produire. « Donne les serviettes aux enfants » est parfaitement correct et beaucoup plus simple.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six consignes pour une activité : trois affirmatives, trois négatives.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Chacune doit contenir un pronom : le, la, les, moi ou toi.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Vérifiez le trait d'union à l'affirmative, et son absence à la négative.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S'inscrire à une activité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