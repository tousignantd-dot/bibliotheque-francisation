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compréhension écrite. Les faits énoncés ici ont été vérifiés le 23 août 2026 auprès du Tribunal administratif du logement, du Code civil du Québec et du règlement sur le bruit de la Ville de Québec. Ils ne s'inventent pas.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pivot du module : il explique pourquoi la lettre du bloc D s'adresse à la propriétaire.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groupe se partage toujours en deux, et les deux camps ont partiellement raison. Ne pas trancher : le tableau suivant le fait.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deux voies peuvent servir le même mois — mais jamais dans la même lettre, et pas auprès des mêmes personnes.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les trois périodes au tableau et les y laisser : elles servent dans la lettre du bloc 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confusion la plus fréquente du domaine du logement, et elle rend un texte officiel incompréhensible dès la première ligne.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deuxième rangée est celle qui surprend, et c'est celle qui justifie la mise en demeure du bloc 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la contradiction apparente : on vient d'apprendre le règlement, et on dit de ne pas s'en servir. Le règlement donne des mots, pas une solution.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retrouver chaque réponse dans le texte, à voix haute, avant de montrer la correction. C'est un exercice de repérage, pas de mémoire.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Les réponses annoncent le bloc D, où l'on écrit deux lettres à deux personnes différentes.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que dit la ville, ce que dit le bail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textes, deux autorités, et presque tout le monde les confond. La ville donne une amende ; le bail règle ce qui se passe entre vous, le voisin et la propriétaire.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bruit d'en haut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relève de la ville et ce qui relève du bail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dans un règlement l'heure et la définition qui servent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locateur du locataire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pourquoi la propriétaire est concernée par un bruit qu'elle ne fait pas.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À qui te plaindrais-tu d'abord : à la ville ou au propriétaire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la ville peut faire, à ton avis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le propriétaire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des deux peut faire déplacer un appareil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des deux peut donner une amende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voies, jamais dans la même lettre</a:t>
            </a:r>
          </a:p>
        </p:txBody>
      </p:sp>
      <p:sp>
        <p:nvSpPr>
          <p:cNvPr id="7" name="Rounded Rectangle 6"/>
          <p:cNvSpPr/>
          <p:nvPr/>
        </p:nvSpPr>
        <p:spPr>
          <a:xfrm>
            <a:off x="566928" y="1810512"/>
            <a:ext cx="11057839" cy="3941064"/>
          </a:xfrm>
          <a:prstGeom prst="roundRect">
            <a:avLst>
              <a:gd name="adj" fmla="val 371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VILLE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BAIL</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amende de 2 000 $ à 10 000 $</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diminution de loyer</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bruit excessif ou insolite</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trouble à la jouissance paisible</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plainte se porte au 311</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demande se porte au Tribunal</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jour, le soir, la nuit</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La durée du bail</a:t>
            </a:r>
          </a:p>
        </p:txBody>
      </p:sp>
      <p:sp>
        <p:nvSpPr>
          <p:cNvPr id="21" name="Rectangle 20"/>
          <p:cNvSpPr/>
          <p:nvPr/>
        </p:nvSpPr>
        <p:spPr>
          <a:xfrm>
            <a:off x="932688" y="47274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85546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Personne ne vous rembourse</a:t>
            </a:r>
          </a:p>
        </p:txBody>
      </p:sp>
      <p:sp>
        <p:nvSpPr>
          <p:cNvPr id="23" name="TextBox 22"/>
          <p:cNvSpPr txBox="1"/>
          <p:nvPr/>
        </p:nvSpPr>
        <p:spPr>
          <a:xfrm>
            <a:off x="4443636" y="4855464"/>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Des dommages-intérêts sont possibles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TROIS PÉRIODES DU RÈGLEMENT</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jour de 7 h à 19 h, le soir de 19 h à 23 h, la nuit de 23 h à 7 h.</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vraie utilité du règlement de la ville : il fournit un vocabulaire précis que personne ne peut discuter. Écrire « à 5 h 45, c'est-à-dire pendant la période de nuit au sens du règlement » vaut mieux que « très tôt le matin ». Un bruit excessif ou insolite qui trouble la paix constitue une nuisance.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LOCATEUR ET LOCATAIRE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locateur loue son logement à quelqu'un ; le locataire l'habite.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deux mots se ressemblent et disent le contraire, et les documents officiels n'emploient que le premier. Le moyen de ne plus se tromper : locateur, comme donateur — celui qui donne à louer.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Quatre obligations, et à qui elles s'appliquent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QUI</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DOIT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locateur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procurer la jouissance paisible pendant tout le bail</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locateur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répondre du trouble si le tiers est son locataire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locataire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ne pas troubler la jouissance normale des autres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locataire troublé</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aviser d'abord, demander ensuite</a:t>
            </a:r>
          </a:p>
        </p:txBody>
      </p:sp>
      <p:sp>
        <p:nvSpPr>
          <p:cNvPr id="21" name="Rounded Rectangle 20"/>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Si le voisin bruyant habitait la maison d'à côté, la propriétaire n'y pourrait rien. C'est parce qu'il habite son immeuble qu'elle est dans le dossier.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MÉTHODE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Appeler la ville en premier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Parler au voisin en premier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constat de la ville arrive après le fait, il ne fait rien déplacer, et il transforme le voisin en adversaire pour des années. Il se garde pour quand le reste a échoué. La première démarche reste celle du bloc B : monter, frapper, et dire bonjour.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dans les textes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règlement et la fiche de renseignements.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commence la nuit, selon le règlement ?</a:t>
            </a:r>
          </a:p>
        </p:txBody>
      </p:sp>
      <p:sp>
        <p:nvSpPr>
          <p:cNvPr id="12" name="Rounded Rectangle 11"/>
          <p:cNvSpPr/>
          <p:nvPr/>
        </p:nvSpPr>
        <p:spPr>
          <a:xfrm>
            <a:off x="566928" y="2827528"/>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peut être tenu responsable du bruit d'un appareil ?</a:t>
            </a:r>
          </a:p>
        </p:txBody>
      </p:sp>
      <p:sp>
        <p:nvSpPr>
          <p:cNvPr id="16" name="Rounded Rectangle 15"/>
          <p:cNvSpPr/>
          <p:nvPr/>
        </p:nvSpPr>
        <p:spPr>
          <a:xfrm>
            <a:off x="566928" y="376427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 une première infraction ?</a:t>
            </a:r>
          </a:p>
        </p:txBody>
      </p:sp>
      <p:sp>
        <p:nvSpPr>
          <p:cNvPr id="20" name="Rounded Rectangle 19"/>
          <p:cNvSpPr/>
          <p:nvPr/>
        </p:nvSpPr>
        <p:spPr>
          <a:xfrm>
            <a:off x="566928" y="445211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quoi la propriétaire s'est-elle engagée en signant le bail ?</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 cas répond-elle du bruit d'un autre ?</a:t>
            </a:r>
          </a:p>
        </p:txBody>
      </p:sp>
      <p:sp>
        <p:nvSpPr>
          <p:cNvPr id="28" name="Rounded Rectangle 27"/>
          <p:cNvSpPr/>
          <p:nvPr/>
        </p:nvSpPr>
        <p:spPr>
          <a:xfrm>
            <a:off x="566928" y="582777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04926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11327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peut demander la locataire si rien n'est fait après l'avis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Trouvez dans les textes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quelle heure commence la nuit, selon le règlement ?   </a:t>
            </a:r>
            <a:r>
              <a:rPr sz="1400" b="1" i="0">
                <a:solidFill>
                  <a:srgbClr val="07734A"/>
                </a:solidFill>
                <a:latin typeface="Verdana"/>
              </a:rPr>
              <a:t>» à 23 h, et elle finit à 7 h</a:t>
            </a:r>
          </a:p>
        </p:txBody>
      </p:sp>
      <p:sp>
        <p:nvSpPr>
          <p:cNvPr id="12" name="Rounded Rectangle 11"/>
          <p:cNvSpPr/>
          <p:nvPr/>
        </p:nvSpPr>
        <p:spPr>
          <a:xfrm>
            <a:off x="566928" y="2827528"/>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490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130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peut être tenu responsable du bruit d'un appareil ?   </a:t>
            </a:r>
            <a:r>
              <a:rPr sz="1400" b="1" i="0">
                <a:solidFill>
                  <a:srgbClr val="07734A"/>
                </a:solidFill>
                <a:latin typeface="Verdana"/>
              </a:rPr>
              <a:t>» celui qui l'émet, celui qui le possède, celui qui le tolère</a:t>
            </a:r>
          </a:p>
        </p:txBody>
      </p:sp>
      <p:sp>
        <p:nvSpPr>
          <p:cNvPr id="16" name="Rounded Rectangle 15"/>
          <p:cNvSpPr/>
          <p:nvPr/>
        </p:nvSpPr>
        <p:spPr>
          <a:xfrm>
            <a:off x="566928" y="376427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coûte une première infraction ?   </a:t>
            </a:r>
            <a:r>
              <a:rPr sz="1400" b="1" i="0">
                <a:solidFill>
                  <a:srgbClr val="07734A"/>
                </a:solidFill>
                <a:latin typeface="Verdana"/>
              </a:rPr>
              <a:t>» de 2 000 $ à 10 000 $</a:t>
            </a:r>
          </a:p>
        </p:txBody>
      </p:sp>
      <p:sp>
        <p:nvSpPr>
          <p:cNvPr id="20" name="Rounded Rectangle 19"/>
          <p:cNvSpPr/>
          <p:nvPr/>
        </p:nvSpPr>
        <p:spPr>
          <a:xfrm>
            <a:off x="566928" y="445211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quoi la propriétaire s'est-elle engagée en signant le bail ?   </a:t>
            </a:r>
            <a:r>
              <a:rPr sz="1400" b="1" i="0">
                <a:solidFill>
                  <a:srgbClr val="07734A"/>
                </a:solidFill>
                <a:latin typeface="Verdana"/>
              </a:rPr>
              <a:t>» à procurer la jouissance paisible du logement</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 cas répond-elle du bruit d'un autre ?   </a:t>
            </a:r>
            <a:r>
              <a:rPr sz="1400" b="1" i="0">
                <a:solidFill>
                  <a:srgbClr val="07734A"/>
                </a:solidFill>
                <a:latin typeface="Verdana"/>
              </a:rPr>
              <a:t>» quand ce tiers est aussi son locataire</a:t>
            </a:r>
          </a:p>
        </p:txBody>
      </p:sp>
      <p:sp>
        <p:nvSpPr>
          <p:cNvPr id="28" name="Rounded Rectangle 27"/>
          <p:cNvSpPr/>
          <p:nvPr/>
        </p:nvSpPr>
        <p:spPr>
          <a:xfrm>
            <a:off x="566928" y="582777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604926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611327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peut demander la locataire si rien n'est fait après l'avis ?   </a:t>
            </a:r>
            <a:r>
              <a:rPr sz="1400" b="1" i="0">
                <a:solidFill>
                  <a:srgbClr val="07734A"/>
                </a:solidFill>
                <a:latin typeface="Verdana"/>
              </a:rPr>
              <a:t>» une diminution de loyer ou des dommages-intérêts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À qui écrirais-tu, et pourquoi à cette personne-là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suffit.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 à ce que chacune peut faire, et à ce qu'elle ne peut pas.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Le bruit d'en haut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