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courte et pratique. Elle clôt le bloc C sur une compétence concrète : se rattraper quand on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Presque tout le groupe aura vécu la situation. Récolter les stratégies : plusieurs sont excellentes et méritent d'être partagées.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signe est dans la troisième réplique : les numéros ou les noms qui vont dans le mauvais sens. C'est la règle vue en A4, appliquée en mouvement.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choses à retenir : descendre tout de suite, traverser la rue, et demander au chauffeur la prochaine fois. Les écrire au tableau.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signe est le plus fiable. Faire le lien explicite avec la règle des numéros vue en A4.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C'est la compétence pratique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une leçon de comportement autant que de langue. Elle est utile.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cinquième ligne est celle à retenir : le même numéro dans les deux sens. C'est le rappel de B4.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la question par tout le groupe, deux fois. C'est une phrase qu'ils emploieront la semaine même.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Sujet léger et rassembleur : tout le monde a une histoire. Excellente préparation à la production orale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C4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Je me suis trompée de direction</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Nour a pris l'autobus dans le mauvais sens. Elle s'en est aperçue en dix minutes et elle a perdu vingt minutes au lieu d'une heure. Comment ? En regardant les numéros des rues.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55 minutes  ·  Trouver son chemin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signes qu'on va dans la mauvaise direction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quoi faire dès qu'on s'en aperçoit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au chauffeur avant de monter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raconter au passé composé un déplacement raté.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Vous êtes dans l'autobus depuis dix minutes et quelque chose cloche.</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vous ferait douter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descendez tout de suite, ou vous attendez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prenez-vous l'autobus dans l'autre sens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pouvez-vous demander avant de monter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Comment elle s'en est aperçue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2398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NOUR</a:t>
            </a:r>
          </a:p>
        </p:txBody>
      </p:sp>
      <p:sp>
        <p:nvSpPr>
          <p:cNvPr id="10" name="TextBox 9"/>
          <p:cNvSpPr txBox="1"/>
          <p:nvPr/>
        </p:nvSpPr>
        <p:spPr>
          <a:xfrm>
            <a:off x="2356675" y="2322576"/>
            <a:ext cx="871945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me suis trompée hier. J'ai pris l'autobus dans le mauvais sens.</a:t>
            </a:r>
          </a:p>
        </p:txBody>
      </p:sp>
      <p:sp>
        <p:nvSpPr>
          <p:cNvPr id="11" name="TextBox 10"/>
          <p:cNvSpPr txBox="1"/>
          <p:nvPr/>
        </p:nvSpPr>
        <p:spPr>
          <a:xfrm>
            <a:off x="932688" y="3071876"/>
            <a:ext cx="142398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PATRICE</a:t>
            </a:r>
          </a:p>
        </p:txBody>
      </p:sp>
      <p:sp>
        <p:nvSpPr>
          <p:cNvPr id="12" name="TextBox 11"/>
          <p:cNvSpPr txBox="1"/>
          <p:nvPr/>
        </p:nvSpPr>
        <p:spPr>
          <a:xfrm>
            <a:off x="2356675" y="3071876"/>
            <a:ext cx="871945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tu t'en es aperçue ?</a:t>
            </a:r>
          </a:p>
        </p:txBody>
      </p:sp>
      <p:sp>
        <p:nvSpPr>
          <p:cNvPr id="13" name="Rounded Rectangle 12"/>
          <p:cNvSpPr/>
          <p:nvPr/>
        </p:nvSpPr>
        <p:spPr>
          <a:xfrm>
            <a:off x="566928" y="36565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821175"/>
            <a:ext cx="142398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NOUR</a:t>
            </a:r>
          </a:p>
        </p:txBody>
      </p:sp>
      <p:sp>
        <p:nvSpPr>
          <p:cNvPr id="15" name="TextBox 14"/>
          <p:cNvSpPr txBox="1"/>
          <p:nvPr/>
        </p:nvSpPr>
        <p:spPr>
          <a:xfrm>
            <a:off x="2356675" y="3821175"/>
            <a:ext cx="871945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noms des rues montaient au lieu de descendre. Au bout de dix minutes, j'ai compris.</a:t>
            </a:r>
          </a:p>
        </p:txBody>
      </p:sp>
      <p:sp>
        <p:nvSpPr>
          <p:cNvPr id="16" name="TextBox 15"/>
          <p:cNvSpPr txBox="1"/>
          <p:nvPr/>
        </p:nvSpPr>
        <p:spPr>
          <a:xfrm>
            <a:off x="932688" y="4908295"/>
            <a:ext cx="142398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PATRICE</a:t>
            </a:r>
          </a:p>
        </p:txBody>
      </p:sp>
      <p:sp>
        <p:nvSpPr>
          <p:cNvPr id="17" name="TextBox 16"/>
          <p:cNvSpPr txBox="1"/>
          <p:nvPr/>
        </p:nvSpPr>
        <p:spPr>
          <a:xfrm>
            <a:off x="2356675" y="4908295"/>
            <a:ext cx="871945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as fait quoi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qu'elle a fait</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2398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NOUR</a:t>
            </a:r>
          </a:p>
        </p:txBody>
      </p:sp>
      <p:sp>
        <p:nvSpPr>
          <p:cNvPr id="9" name="TextBox 8"/>
          <p:cNvSpPr txBox="1"/>
          <p:nvPr/>
        </p:nvSpPr>
        <p:spPr>
          <a:xfrm>
            <a:off x="2356675" y="1901952"/>
            <a:ext cx="871945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suis descendue au premier arrêt et j'ai traversé la rue. L'arrêt d'en face allait dans l'autre sens.</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2398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PATRICE</a:t>
            </a:r>
          </a:p>
        </p:txBody>
      </p:sp>
      <p:sp>
        <p:nvSpPr>
          <p:cNvPr id="12" name="TextBox 11"/>
          <p:cNvSpPr txBox="1"/>
          <p:nvPr/>
        </p:nvSpPr>
        <p:spPr>
          <a:xfrm>
            <a:off x="2356675" y="2989072"/>
            <a:ext cx="871945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le bon réflexe. Le même numéro d'autobus, mais de l'autre côté de la rue.</a:t>
            </a:r>
          </a:p>
        </p:txBody>
      </p:sp>
      <p:sp>
        <p:nvSpPr>
          <p:cNvPr id="13" name="TextBox 12"/>
          <p:cNvSpPr txBox="1"/>
          <p:nvPr/>
        </p:nvSpPr>
        <p:spPr>
          <a:xfrm>
            <a:off x="932688" y="4076191"/>
            <a:ext cx="142398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NOUR</a:t>
            </a:r>
          </a:p>
        </p:txBody>
      </p:sp>
      <p:sp>
        <p:nvSpPr>
          <p:cNvPr id="14" name="TextBox 13"/>
          <p:cNvSpPr txBox="1"/>
          <p:nvPr/>
        </p:nvSpPr>
        <p:spPr>
          <a:xfrm>
            <a:off x="2356675" y="4076191"/>
            <a:ext cx="871945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perdu vingt minutes, mais je suis arrivée.</a:t>
            </a:r>
          </a:p>
        </p:txBody>
      </p:sp>
      <p:sp>
        <p:nvSpPr>
          <p:cNvPr id="15" name="Rounded Rectangle 14"/>
          <p:cNvSpPr/>
          <p:nvPr/>
        </p:nvSpPr>
        <p:spPr>
          <a:xfrm>
            <a:off x="566928" y="46609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825492"/>
            <a:ext cx="142398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PATRICE</a:t>
            </a:r>
          </a:p>
        </p:txBody>
      </p:sp>
      <p:sp>
        <p:nvSpPr>
          <p:cNvPr id="17" name="TextBox 16"/>
          <p:cNvSpPr txBox="1"/>
          <p:nvPr/>
        </p:nvSpPr>
        <p:spPr>
          <a:xfrm>
            <a:off x="2356675" y="4825492"/>
            <a:ext cx="871945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prochaine fois, demande au chauffeur avant de monter. Ils répondent toujours.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TROIS SIGNES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Qu'on va dans le mauvais sens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596900"/>
          </a:xfrm>
          <a:prstGeom prst="rect">
            <a:avLst/>
          </a:prstGeom>
          <a:noFill/>
        </p:spPr>
        <p:txBody>
          <a:bodyPr wrap="square" lIns="0" rIns="0" tIns="0" bIns="0" anchor="t">
            <a:spAutoFit/>
          </a:bodyPr>
          <a:lstStyle/>
          <a:p>
            <a:pPr algn="l">
              <a:lnSpc>
                <a:spcPct val="118000"/>
              </a:lnSpc>
            </a:pPr>
            <a:r>
              <a:rPr sz="1900" b="1" i="0">
                <a:solidFill>
                  <a:srgbClr val="1D6B8F"/>
                </a:solidFill>
                <a:latin typeface="Verdana"/>
              </a:rPr>
              <a:t>Les numéros vont à l'envers</a:t>
            </a:r>
          </a:p>
        </p:txBody>
      </p:sp>
      <p:sp>
        <p:nvSpPr>
          <p:cNvPr id="9" name="TextBox 8"/>
          <p:cNvSpPr txBox="1"/>
          <p:nvPr/>
        </p:nvSpPr>
        <p:spPr>
          <a:xfrm>
            <a:off x="886968" y="2709164"/>
            <a:ext cx="4806543" cy="87985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Vous cherchez le 500 et les numéros descendent vers le 200. C'est le signe le plus rapide : il se voit en deux minutes.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596900"/>
          </a:xfrm>
          <a:prstGeom prst="rect">
            <a:avLst/>
          </a:prstGeom>
          <a:noFill/>
        </p:spPr>
        <p:txBody>
          <a:bodyPr wrap="square" lIns="0" rIns="0" tIns="0" bIns="0" anchor="t">
            <a:spAutoFit/>
          </a:bodyPr>
          <a:lstStyle/>
          <a:p>
            <a:pPr algn="l">
              <a:lnSpc>
                <a:spcPct val="118000"/>
              </a:lnSpc>
            </a:pPr>
            <a:r>
              <a:rPr sz="1900" b="1" i="0">
                <a:solidFill>
                  <a:srgbClr val="1D6B8F"/>
                </a:solidFill>
                <a:latin typeface="Verdana"/>
              </a:rPr>
              <a:t>Le paysage change de nature</a:t>
            </a:r>
          </a:p>
        </p:txBody>
      </p:sp>
      <p:sp>
        <p:nvSpPr>
          <p:cNvPr id="12" name="TextBox 11"/>
          <p:cNvSpPr txBox="1"/>
          <p:nvPr/>
        </p:nvSpPr>
        <p:spPr>
          <a:xfrm>
            <a:off x="6498183" y="2709164"/>
            <a:ext cx="4806543" cy="87985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Vous vous éloignez du centre alors que vous devriez vous en approcher — moins d'immeubles, plus d'espace.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596900"/>
          </a:xfrm>
          <a:prstGeom prst="rect">
            <a:avLst/>
          </a:prstGeom>
          <a:noFill/>
        </p:spPr>
        <p:txBody>
          <a:bodyPr wrap="square" lIns="0" rIns="0" tIns="0" bIns="0" anchor="t">
            <a:spAutoFit/>
          </a:bodyPr>
          <a:lstStyle/>
          <a:p>
            <a:pPr algn="l">
              <a:lnSpc>
                <a:spcPct val="118000"/>
              </a:lnSpc>
            </a:pPr>
            <a:r>
              <a:rPr sz="1900" b="1" i="0">
                <a:solidFill>
                  <a:srgbClr val="1D6B8F"/>
                </a:solidFill>
                <a:latin typeface="Verdana"/>
              </a:rPr>
              <a:t>Le temps passe et rien ne ressemble à ce qu'on vous a décrit</a:t>
            </a:r>
          </a:p>
        </p:txBody>
      </p:sp>
      <p:sp>
        <p:nvSpPr>
          <p:cNvPr id="15" name="TextBox 14"/>
          <p:cNvSpPr txBox="1"/>
          <p:nvPr/>
        </p:nvSpPr>
        <p:spPr>
          <a:xfrm>
            <a:off x="886968" y="4926584"/>
            <a:ext cx="4806543" cy="87985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Aucun des repères annoncés n'apparaît. Au bout de dix minutes sans repère, il y a un problème.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QU'IL FAUT FAIRE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Descendez au premier arrêt et traversez la rue.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L'arrêt d'en face porte le même numéro de ligne et va dans l'autre sens. Vous ne payez pas deux fois si votre titre est encore valide. Descendre tout de suite coûte cinq minutes ; attendre le terminus en coûte quarante.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ATTENDRE EN ESPÉRANT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vais attendre encore un peu, ça va peut-être revenir.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descends au prochain arrêt et je traverse.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autobus ne fait jamais demi-tour. Chaque minute passée à espérer est une minute qu'il faudra refaire dans l'autre sens. Le doute est déjà une raison suffisante pour descendre : vérifier depuis le trottoir ne coûte rien.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s'en est aperçue tout de suite en montant.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noms des rues montaient au lieu de descendre.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restée jusqu'au terminus.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traversé la rue pour prendre l'arrêt d'en face.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bon autobus portait un autre numéro.</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Patrice lui conseille de demander au chauffeur avant de monter.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s'en est aperçue tout de suite en montant.   </a:t>
            </a:r>
            <a:r>
              <a:rPr sz="1400" b="1" i="0">
                <a:solidFill>
                  <a:srgbClr val="07734A"/>
                </a:solidFill>
                <a:latin typeface="Verdana"/>
              </a:rPr>
              <a:t>» faux — au bout de dix minutes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noms des rues montaient au lieu de descendre.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restée jusqu'au terminus.   </a:t>
            </a:r>
            <a:r>
              <a:rPr sz="1400" b="1" i="0">
                <a:solidFill>
                  <a:srgbClr val="07734A"/>
                </a:solidFill>
                <a:latin typeface="Verdana"/>
              </a:rPr>
              <a:t>» faux — elle est descendue au premier arrêt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traversé la rue pour prendre l'arrêt d'en face.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bon autobus portait un autre numéro.   </a:t>
            </a:r>
            <a:r>
              <a:rPr sz="1400" b="1" i="0">
                <a:solidFill>
                  <a:srgbClr val="07734A"/>
                </a:solidFill>
                <a:latin typeface="Verdana"/>
              </a:rPr>
              <a:t>» faux — le même numéro</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Patrice lui conseille de demander au chauffeur avant de monter.   </a:t>
            </a:r>
            <a:r>
              <a:rPr sz="14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PHRASE À SAVOIR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Demander au chauffeur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 question</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Est-ce que vous allez vers Saint-Hubert ? » — courte, claire, et le chauffeur répond par oui ou non.</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bon moment</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Avant de monter, par la porte avant, en montrant votre titre. Pas en cours de route.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qu'on fait si c'est non</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On remercie, on descend, et on va à l'arrêt d'en face. Personne ne s'en formalise.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Racontez en cinq phrases une fois où vous vous êtes trompé de chemin.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Où alliez-vous ? Comment vous en êtes-vous aperçu ? Qu'avez-vous fait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le passé composé.</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Trouver son chemin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