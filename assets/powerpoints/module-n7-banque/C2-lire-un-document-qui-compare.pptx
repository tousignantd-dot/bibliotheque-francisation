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lecture. Distribuer la documentation sur l'épargne avant de projeter quoi que ce soit, et laisser cinq minutes de lecture silencieuse.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celui qui distingue vraiment le CELI du REER, et c'est la seule chose que les élèves doivent retenir des deux.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question est instructive : un document sans intertitres se lit trois fois plus lentement, et c'est parfois exprès.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l'exercice en direct : donner une question, chronométrer trente secondes, demander la réponse.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Les deux chiffres de la note sont vérifiés auprès de l'Agence du revenu du Canada.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phrase que les élèves réemploieront le plus souvent hors de la classe.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souligner sur le papier avant de corriger. Le quatrième piège tout le monde : le droit ne revient pas le mois suivant.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justifier chaque réponse par la ligne du document. C'est la même compétence que l'exercice précédent, appliquée dans l'autre sens.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 vérifié auprès de l'Agence du revenu du Canada. Insister : c'est la seule pénalité du bloc 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minutes. La date d'abord, le produit ensuite : refuser les billets écrits dans l'autre ordre.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C2  ·  MODULE 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Lire un document qui compare</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document qui compare trois produits ne se lit pas du début à la fin. On lui pose une question, et on la pose aux trois.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90 minutes  ·  Emprunter, épargner, se protéger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un document comparatif par question et non par page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se servir des intertitres comme d'une table des matières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ranger une caractéristique sous le bon produit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ce que l'impôt fait à l'entrée et à la sortie.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Comment lis-tu un dépliant qui présente trois produits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Du début à la fin, ou en cherchant quelque chose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Regardes-tu les titres de section avant le texte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temps te faut-il pour trouver un taux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si le document n'avait aucun intertitre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ON LIT PAR QUESTION, PAS PAR PAGE</a:t>
            </a:r>
          </a:p>
        </p:txBody>
      </p:sp>
      <p:sp>
        <p:nvSpPr>
          <p:cNvPr id="6" name="Rounded Rectangle 5"/>
          <p:cNvSpPr/>
          <p:nvPr/>
        </p:nvSpPr>
        <p:spPr>
          <a:xfrm>
            <a:off x="566928" y="1225296"/>
            <a:ext cx="11057839" cy="2494788"/>
          </a:xfrm>
          <a:prstGeom prst="roundRect">
            <a:avLst>
              <a:gd name="adj" fmla="val 586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Choisissez la vôtre - combien, pour quand, avec quel impôt - et posez-la aux trois produits.</a:t>
            </a:r>
          </a:p>
        </p:txBody>
      </p:sp>
      <p:sp>
        <p:nvSpPr>
          <p:cNvPr id="8" name="Rounded Rectangle 7"/>
          <p:cNvSpPr/>
          <p:nvPr/>
        </p:nvSpPr>
        <p:spPr>
          <a:xfrm>
            <a:off x="566928" y="3994404"/>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Les intertitres sont là pour qu'on saute directement à sa question. C'est le savoir que le programme du niveau 7 appelle « organiser clairement de l'information dans le but de comparer des éléments », et il vaut pour lire comme pour écrire.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L'impôt, à l'entrée et à la sortie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RÉGIME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FAIT L'IMPÔT</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CELI</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rien à l'entrée, rien à la sortie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REER</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déduction à l'entrée, impôt à la sortie</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dépôt à terme</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 n'est pas un régime, c'est un placement</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compte épargne</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l'intérêt s'ajoute au revenu de l'année</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Plafond du CELI : 7 000 $ pour 2026. Droit REER : 18 % du revenu gagné.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UN ABRI N'EST PAS UN PLACEMENT</a:t>
            </a:r>
          </a:p>
        </p:txBody>
      </p:sp>
      <p:sp>
        <p:nvSpPr>
          <p:cNvPr id="6" name="Rounded Rectangle 5"/>
          <p:cNvSpPr/>
          <p:nvPr/>
        </p:nvSpPr>
        <p:spPr>
          <a:xfrm>
            <a:off x="566928" y="1225296"/>
            <a:ext cx="11057839" cy="2494788"/>
          </a:xfrm>
          <a:prstGeom prst="roundRect">
            <a:avLst>
              <a:gd name="adj" fmla="val 586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CELI et le REER ne rapportent rien par eux-mêmes : ce qu'on met dedans, voilà le placement.</a:t>
            </a:r>
          </a:p>
        </p:txBody>
      </p:sp>
      <p:sp>
        <p:nvSpPr>
          <p:cNvPr id="8" name="Rounded Rectangle 7"/>
          <p:cNvSpPr/>
          <p:nvPr/>
        </p:nvSpPr>
        <p:spPr>
          <a:xfrm>
            <a:off x="566928" y="3994404"/>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CELI qui contient un compte à zéro pour cent rapporte zéro pour cent, exonéré d'impôt. Demandez toujours les deux choses : quel placement, et dans quel régime. Un conseiller qui ne répond qu'à l'une des deux n'a répondu qu'à moitié.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LECTURE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Cherchez la réponse dans le document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Une question, un passage. Soulignez-le au crayon.</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taux le dépôt à terme offre-t-il, et pour combien de temps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 se passe-t-il si on retire avant l'échéance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peut-on verser dans un CELI en 2026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récupère-t-on le droit de remettre un retrait de CELI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Comment se calcule le droit annuel au REER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Jusqu'à quel montant les dépôts sont-ils protégés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Cherchez la réponse dans le document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taux le dépôt à terme offre-t-il, et pour combien de temps ?   </a:t>
            </a:r>
            <a:r>
              <a:rPr sz="1400" b="1" i="0">
                <a:solidFill>
                  <a:srgbClr val="07734A"/>
                </a:solidFill>
                <a:latin typeface="Verdana"/>
              </a:rPr>
              <a:t>» 3,10 % pour deux ans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 se passe-t-il si on retire avant l'échéance ?   </a:t>
            </a:r>
            <a:r>
              <a:rPr sz="1400" b="1" i="0">
                <a:solidFill>
                  <a:srgbClr val="07734A"/>
                </a:solidFill>
                <a:latin typeface="Verdana"/>
              </a:rPr>
              <a:t>» pénalité ou perte des intérêts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peut-on verser dans un CELI en 2026 ?   </a:t>
            </a:r>
            <a:r>
              <a:rPr sz="1400" b="1" i="0">
                <a:solidFill>
                  <a:srgbClr val="07734A"/>
                </a:solidFill>
                <a:latin typeface="Verdana"/>
              </a:rPr>
              <a:t>» 7 000 $, plus les droits non utilisés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récupère-t-on le droit de remettre un retrait de CELI ?   </a:t>
            </a:r>
            <a:r>
              <a:rPr sz="1400" b="1" i="0">
                <a:solidFill>
                  <a:srgbClr val="07734A"/>
                </a:solidFill>
                <a:latin typeface="Verdana"/>
              </a:rPr>
              <a:t>» le 1er janvier suivant</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Comment se calcule le droit annuel au REER ?   </a:t>
            </a:r>
            <a:r>
              <a:rPr sz="1400" b="1" i="0">
                <a:solidFill>
                  <a:srgbClr val="07734A"/>
                </a:solidFill>
                <a:latin typeface="Verdana"/>
              </a:rPr>
              <a:t>» 18 % du revenu gagné de l'année précédente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Jusqu'à quel montant les dépôts sont-ils protégés ?   </a:t>
            </a:r>
            <a:r>
              <a:rPr sz="1400" b="1" i="0">
                <a:solidFill>
                  <a:srgbClr val="07734A"/>
                </a:solidFill>
                <a:latin typeface="Verdana"/>
              </a:rPr>
              <a:t>» 100 000 $ par catégorie et par institution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APPLICATION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 quel produit parle-t-on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 CELI, REER ou dépôt à terme.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que j'y mets est déduit de mon revenu cette année.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taux est fixé au départ et ne bouge plus.</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Mes retraits ne sont pas imposables.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plafond est de sept mille dollars pour 2026.</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Tout ce que j'en sors s'ajoute à mon revenu de l'année.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le produit d'un projet qui a une date connue.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 quel produit parle-t-on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que j'y mets est déduit de mon revenu cette année.   </a:t>
            </a:r>
            <a:r>
              <a:rPr sz="1400" b="1" i="0">
                <a:solidFill>
                  <a:srgbClr val="07734A"/>
                </a:solidFill>
                <a:latin typeface="Verdana"/>
              </a:rPr>
              <a:t>» REER</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taux est fixé au départ et ne bouge plus.   </a:t>
            </a:r>
            <a:r>
              <a:rPr sz="1400" b="1" i="0">
                <a:solidFill>
                  <a:srgbClr val="07734A"/>
                </a:solidFill>
                <a:latin typeface="Verdana"/>
              </a:rPr>
              <a:t>» dépôt à terme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Mes retraits ne sont pas imposables.   </a:t>
            </a:r>
            <a:r>
              <a:rPr sz="1400" b="1" i="0">
                <a:solidFill>
                  <a:srgbClr val="07734A"/>
                </a:solidFill>
                <a:latin typeface="Verdana"/>
              </a:rPr>
              <a:t>» CELI</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plafond est de sept mille dollars pour 2026.   </a:t>
            </a:r>
            <a:r>
              <a:rPr sz="1400" b="1" i="0">
                <a:solidFill>
                  <a:srgbClr val="07734A"/>
                </a:solidFill>
                <a:latin typeface="Verdana"/>
              </a:rPr>
              <a:t>» CELI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Tout ce que j'en sors s'ajoute à mon revenu de l'année.   </a:t>
            </a:r>
            <a:r>
              <a:rPr sz="1400" b="1" i="0">
                <a:solidFill>
                  <a:srgbClr val="07734A"/>
                </a:solidFill>
                <a:latin typeface="Verdana"/>
              </a:rPr>
              <a:t>» REER</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le produit d'un projet qui a une date connue.   </a:t>
            </a:r>
            <a:r>
              <a:rPr sz="1400" b="1" i="0">
                <a:solidFill>
                  <a:srgbClr val="07734A"/>
                </a:solidFill>
                <a:latin typeface="Verdana"/>
              </a:rPr>
              <a:t>» dépôt à terme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remettre en mars l'argent sorti du CELI en janvier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attendre le 1er janvier suivant</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montant retiré n'est rendu aux droits de cotisation que l'année suivante. Le remettre avant crée un excédent, frappé d'un impôt de un pour cent par mois. La faute se commet toujours de bonne foi, et elle coûte de l'argent tous les mois jusqu'au retrait de l'excédent.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Emprunter, épargner, se protéger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Pour ton propre projet le plus proche, écris la date et le produit qui conviendrait.</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Dans dix-huit mois : un dépôt à terme dans un CELI.</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Dans quinze ans : un REER.</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C2 · Emprunter, épargner, se protéger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