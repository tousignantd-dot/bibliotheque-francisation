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courte et très orale. Le groupe écoute plus qu'il ne parle pendant la première demi-heure, puis c'est l'inverse.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quatrième objectif est un réflexe de langue autant qu'un réflexe pratique : « trente jours » sans date de départ ne veut rien dire.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Dire les trois phrases à voix haute, sans les écrire. Le groupe trouve toujours, et il trouve pour la bonne raison : le mot qui suit.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Faire écouter la fin des phrases plutôt que leur début : c'est l'inverse du réflexe de tout le monde.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Dicter la colonne de gauche et faire écrire la colonne de droite : c'est l'exercice, pas le corrigé.</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Exercice de dictée immédiate : cinq montants, dits une seule fois, notés à mesure. Corriger au tableau.</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phrases à voix haute, une seule fois chacune. Ne pas montrer la diapositive pendant l'écoute : la révéler après pour la correction.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Refaire le calcul au tableau devant le groupe. C'est le moment de la séance où quelqu'un dit toujours : « je pensais que c'était par mois ». Le laisser dire.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Circuler et écouter la virgule : « trois et dix » plutôt que « trois virgule dix » est la forme d'ici, et les deux se comprennent.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minutes. Les billets montrent tout de suite qui confond encore le taux et le montant.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SÉANCE A2  ·  MODULE 7</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Un taux, un montant, une durée</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Presque toutes les phrases d'un rendez-vous à la caisse contiennent un nombre. Ce qui décide de la compréhension, c'est le mot qui vient après.</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60 minutes  ·  Emprunter, épargner, se protéger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Emprunter, épargner, se protéger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à l'oreille un taux, un montant et une durée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noter un grand nombre par tranches, à mesure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dire un pourcentage à la québécoise : dix-neuf et quatre-vingt-dix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demander le point de départ d'une durée.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Emprunter, épargner, se protéger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ÉCOUTE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000" b="1" i="0">
                <a:solidFill>
                  <a:srgbClr val="17181A"/>
                </a:solidFill>
                <a:latin typeface="Verdana"/>
              </a:rPr>
              <a:t>Trois phrases, trois nombres. Lequel est un prix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3B4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cinq pour cent du solde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3B4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cinq dollars de frais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3B4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cinq jours ouvrables »</a:t>
            </a:r>
          </a:p>
        </p:txBody>
      </p:sp>
      <p:sp>
        <p:nvSpPr>
          <p:cNvPr id="16" name="Rounded Rectangle 15"/>
          <p:cNvSpPr/>
          <p:nvPr/>
        </p:nvSpPr>
        <p:spPr>
          <a:xfrm>
            <a:off x="566928" y="4213860"/>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323588"/>
            <a:ext cx="50292" cy="484123"/>
          </a:xfrm>
          <a:prstGeom prst="rect">
            <a:avLst/>
          </a:prstGeom>
          <a:solidFill>
            <a:srgbClr val="3B4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0976" y="4396740"/>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qui change, dans les trois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Emprunter, épargner, se protéger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LE MOT QUI SUIT LE NOMBRE VOUS RENSEIGNE</a:t>
            </a:r>
          </a:p>
        </p:txBody>
      </p:sp>
      <p:sp>
        <p:nvSpPr>
          <p:cNvPr id="6" name="Rounded Rectangle 5"/>
          <p:cNvSpPr/>
          <p:nvPr/>
        </p:nvSpPr>
        <p:spPr>
          <a:xfrm>
            <a:off x="566928" y="1225296"/>
            <a:ext cx="11057839" cy="2494788"/>
          </a:xfrm>
          <a:prstGeom prst="roundRect">
            <a:avLst>
              <a:gd name="adj" fmla="val 5864"/>
            </a:avLst>
          </a:prstGeom>
          <a:solidFill>
            <a:srgbClr val="E8EA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671828"/>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Le taux finit par « pour cent », le montant par « dollars », la durée par une unité de temps.</a:t>
            </a:r>
          </a:p>
        </p:txBody>
      </p:sp>
      <p:sp>
        <p:nvSpPr>
          <p:cNvPr id="8" name="Rounded Rectangle 7"/>
          <p:cNvSpPr/>
          <p:nvPr/>
        </p:nvSpPr>
        <p:spPr>
          <a:xfrm>
            <a:off x="566928" y="3994404"/>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268724"/>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 nombre lui-même ne dit rien. C'est ce qui vient après qui décide, et c'est aussi la partie de la phrase que l'on entend le moins bien, parce qu'elle est dite vite et qu'elle porte l'accent de fin de groupe.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Emprunter, épargner, se protéger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qu'on entend, ce qu'on note</a:t>
            </a:r>
          </a:p>
        </p:txBody>
      </p:sp>
      <p:sp>
        <p:nvSpPr>
          <p:cNvPr id="7" name="Rounded Rectangle 6"/>
          <p:cNvSpPr/>
          <p:nvPr/>
        </p:nvSpPr>
        <p:spPr>
          <a:xfrm>
            <a:off x="566928" y="1810512"/>
            <a:ext cx="11057839" cy="4108704"/>
          </a:xfrm>
          <a:prstGeom prst="roundRect">
            <a:avLst>
              <a:gd name="adj" fmla="val 356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QU'ON ENTEND</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QU'ON NOTE</a:t>
            </a:r>
          </a:p>
        </p:txBody>
      </p:sp>
      <p:sp>
        <p:nvSpPr>
          <p:cNvPr id="10" name="TextBox 9"/>
          <p:cNvSpPr txBox="1"/>
          <p:nvPr/>
        </p:nvSpPr>
        <p:spPr>
          <a:xfrm>
            <a:off x="932688" y="2395728"/>
            <a:ext cx="3291492" cy="606552"/>
          </a:xfrm>
          <a:prstGeom prst="rect">
            <a:avLst/>
          </a:prstGeom>
          <a:noFill/>
        </p:spPr>
        <p:txBody>
          <a:bodyPr wrap="square" lIns="0" rIns="0" tIns="0" bIns="0" anchor="t">
            <a:spAutoFit/>
          </a:bodyPr>
          <a:lstStyle/>
          <a:p>
            <a:pPr algn="l">
              <a:lnSpc>
                <a:spcPct val="132000"/>
              </a:lnSpc>
            </a:pPr>
            <a:r>
              <a:rPr sz="1700" b="1" i="0">
                <a:solidFill>
                  <a:srgbClr val="3B49A0"/>
                </a:solidFill>
                <a:latin typeface="Verdana"/>
              </a:rPr>
              <a:t>dix-neuf et quatre-vingt-dix</a:t>
            </a:r>
          </a:p>
        </p:txBody>
      </p:sp>
      <p:sp>
        <p:nvSpPr>
          <p:cNvPr id="11" name="TextBox 10"/>
          <p:cNvSpPr txBox="1"/>
          <p:nvPr/>
        </p:nvSpPr>
        <p:spPr>
          <a:xfrm>
            <a:off x="4443636" y="2395728"/>
            <a:ext cx="6595914" cy="606552"/>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19,90 % par année</a:t>
            </a:r>
          </a:p>
        </p:txBody>
      </p:sp>
      <p:sp>
        <p:nvSpPr>
          <p:cNvPr id="12" name="Rectangle 11"/>
          <p:cNvSpPr/>
          <p:nvPr/>
        </p:nvSpPr>
        <p:spPr>
          <a:xfrm>
            <a:off x="932688" y="307543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3203448"/>
            <a:ext cx="3291492" cy="606552"/>
          </a:xfrm>
          <a:prstGeom prst="rect">
            <a:avLst/>
          </a:prstGeom>
          <a:noFill/>
        </p:spPr>
        <p:txBody>
          <a:bodyPr wrap="square" lIns="0" rIns="0" tIns="0" bIns="0" anchor="t">
            <a:spAutoFit/>
          </a:bodyPr>
          <a:lstStyle/>
          <a:p>
            <a:pPr algn="l">
              <a:lnSpc>
                <a:spcPct val="132000"/>
              </a:lnSpc>
            </a:pPr>
            <a:r>
              <a:rPr sz="1700" b="1" i="0">
                <a:solidFill>
                  <a:srgbClr val="3B49A0"/>
                </a:solidFill>
                <a:latin typeface="Verdana"/>
              </a:rPr>
              <a:t>neuf mille quatre cent douze</a:t>
            </a:r>
          </a:p>
        </p:txBody>
      </p:sp>
      <p:sp>
        <p:nvSpPr>
          <p:cNvPr id="14" name="TextBox 13"/>
          <p:cNvSpPr txBox="1"/>
          <p:nvPr/>
        </p:nvSpPr>
        <p:spPr>
          <a:xfrm>
            <a:off x="4443636" y="3203448"/>
            <a:ext cx="6595914" cy="606552"/>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9 412 $</a:t>
            </a:r>
          </a:p>
        </p:txBody>
      </p:sp>
      <p:sp>
        <p:nvSpPr>
          <p:cNvPr id="15" name="Rectangle 14"/>
          <p:cNvSpPr/>
          <p:nvPr/>
        </p:nvSpPr>
        <p:spPr>
          <a:xfrm>
            <a:off x="932688" y="388315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4011168"/>
            <a:ext cx="3291492" cy="321564"/>
          </a:xfrm>
          <a:prstGeom prst="rect">
            <a:avLst/>
          </a:prstGeom>
          <a:noFill/>
        </p:spPr>
        <p:txBody>
          <a:bodyPr wrap="square" lIns="0" rIns="0" tIns="0" bIns="0" anchor="t">
            <a:spAutoFit/>
          </a:bodyPr>
          <a:lstStyle/>
          <a:p>
            <a:pPr algn="l">
              <a:lnSpc>
                <a:spcPct val="132000"/>
              </a:lnSpc>
            </a:pPr>
            <a:r>
              <a:rPr sz="1700" b="1" i="0">
                <a:solidFill>
                  <a:srgbClr val="3B49A0"/>
                </a:solidFill>
                <a:latin typeface="Verdana"/>
              </a:rPr>
              <a:t>quatre-vingts mensualités</a:t>
            </a:r>
          </a:p>
        </p:txBody>
      </p:sp>
      <p:sp>
        <p:nvSpPr>
          <p:cNvPr id="17" name="TextBox 16"/>
          <p:cNvSpPr txBox="1"/>
          <p:nvPr/>
        </p:nvSpPr>
        <p:spPr>
          <a:xfrm>
            <a:off x="4443636" y="4011168"/>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80 mois</a:t>
            </a:r>
          </a:p>
        </p:txBody>
      </p:sp>
      <p:sp>
        <p:nvSpPr>
          <p:cNvPr id="18" name="Rectangle 17"/>
          <p:cNvSpPr/>
          <p:nvPr/>
        </p:nvSpPr>
        <p:spPr>
          <a:xfrm>
            <a:off x="932688" y="440588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533900"/>
            <a:ext cx="3291492" cy="321564"/>
          </a:xfrm>
          <a:prstGeom prst="rect">
            <a:avLst/>
          </a:prstGeom>
          <a:noFill/>
        </p:spPr>
        <p:txBody>
          <a:bodyPr wrap="square" lIns="0" rIns="0" tIns="0" bIns="0" anchor="t">
            <a:spAutoFit/>
          </a:bodyPr>
          <a:lstStyle/>
          <a:p>
            <a:pPr algn="l">
              <a:lnSpc>
                <a:spcPct val="132000"/>
              </a:lnSpc>
            </a:pPr>
            <a:r>
              <a:rPr sz="1700" b="1" i="0">
                <a:solidFill>
                  <a:srgbClr val="3B49A0"/>
                </a:solidFill>
                <a:latin typeface="Verdana"/>
              </a:rPr>
              <a:t>cinq pour cent du solde</a:t>
            </a:r>
          </a:p>
        </p:txBody>
      </p:sp>
      <p:sp>
        <p:nvSpPr>
          <p:cNvPr id="20" name="TextBox 19"/>
          <p:cNvSpPr txBox="1"/>
          <p:nvPr/>
        </p:nvSpPr>
        <p:spPr>
          <a:xfrm>
            <a:off x="4443636" y="4533900"/>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le minimum légal</a:t>
            </a:r>
          </a:p>
        </p:txBody>
      </p:sp>
      <p:sp>
        <p:nvSpPr>
          <p:cNvPr id="21" name="Rectangle 20"/>
          <p:cNvSpPr/>
          <p:nvPr/>
        </p:nvSpPr>
        <p:spPr>
          <a:xfrm>
            <a:off x="932688" y="492861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5056632"/>
            <a:ext cx="3291492" cy="606552"/>
          </a:xfrm>
          <a:prstGeom prst="rect">
            <a:avLst/>
          </a:prstGeom>
          <a:noFill/>
        </p:spPr>
        <p:txBody>
          <a:bodyPr wrap="square" lIns="0" rIns="0" tIns="0" bIns="0" anchor="t">
            <a:spAutoFit/>
          </a:bodyPr>
          <a:lstStyle/>
          <a:p>
            <a:pPr algn="l">
              <a:lnSpc>
                <a:spcPct val="132000"/>
              </a:lnSpc>
            </a:pPr>
            <a:r>
              <a:rPr sz="1700" b="1" i="0">
                <a:solidFill>
                  <a:srgbClr val="3B49A0"/>
                </a:solidFill>
                <a:latin typeface="Verdana"/>
              </a:rPr>
              <a:t>trente jours de la réception</a:t>
            </a:r>
          </a:p>
        </p:txBody>
      </p:sp>
      <p:sp>
        <p:nvSpPr>
          <p:cNvPr id="23" name="TextBox 22"/>
          <p:cNvSpPr txBox="1"/>
          <p:nvPr/>
        </p:nvSpPr>
        <p:spPr>
          <a:xfrm>
            <a:off x="4443636" y="5056632"/>
            <a:ext cx="6595914" cy="606552"/>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une durée, avec son départ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Emprunter, épargner, se protéger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UN GRAND NOMBRE SE NOTE PAR TRANCHES</a:t>
            </a:r>
          </a:p>
        </p:txBody>
      </p:sp>
      <p:sp>
        <p:nvSpPr>
          <p:cNvPr id="6" name="Rounded Rectangle 5"/>
          <p:cNvSpPr/>
          <p:nvPr/>
        </p:nvSpPr>
        <p:spPr>
          <a:xfrm>
            <a:off x="566928" y="1225296"/>
            <a:ext cx="11057839" cy="2494788"/>
          </a:xfrm>
          <a:prstGeom prst="roundRect">
            <a:avLst>
              <a:gd name="adj" fmla="val 5864"/>
            </a:avLst>
          </a:prstGeom>
          <a:solidFill>
            <a:srgbClr val="E8EA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671828"/>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Le français dit « neuf mille, quatre cent, douze » : écrivez à mesure, n'attendez pas la fin.</a:t>
            </a:r>
          </a:p>
        </p:txBody>
      </p:sp>
      <p:sp>
        <p:nvSpPr>
          <p:cNvPr id="8" name="Rounded Rectangle 7"/>
          <p:cNvSpPr/>
          <p:nvPr/>
        </p:nvSpPr>
        <p:spPr>
          <a:xfrm>
            <a:off x="566928" y="3994404"/>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268724"/>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Attendre la fin du nombre pour l'écrire est ce qui fait perdre les grands montants. Le découpage en tranches n'est pas un hasard de la langue : il existe justement pour qu'on puisse suivre à l'écrit.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Emprunter, épargner, se protéger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DISCRIMINATION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Taux, montant ou durée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chaque phrase et dites ce que le chiffre annonce.</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dix-neuf et quatre-vingt-dix pour cent</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neuf mille quatre cent douze dollars</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quatre-vingts mensualités</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cent mille dollars par catégorie de dépôts</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trente jours à compter de la réception</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cinq pour cent du solde</a:t>
            </a:r>
          </a:p>
        </p:txBody>
      </p:sp>
      <p:sp>
        <p:nvSpPr>
          <p:cNvPr id="32" name="Rounded Rectangle 31"/>
          <p:cNvSpPr/>
          <p:nvPr/>
        </p:nvSpPr>
        <p:spPr>
          <a:xfrm>
            <a:off x="566928" y="626668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841247" y="6363716"/>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41247" y="6427724"/>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7</a:t>
            </a:r>
          </a:p>
        </p:txBody>
      </p:sp>
      <p:sp>
        <p:nvSpPr>
          <p:cNvPr id="35" name="TextBox 34"/>
          <p:cNvSpPr txBox="1"/>
          <p:nvPr/>
        </p:nvSpPr>
        <p:spPr>
          <a:xfrm>
            <a:off x="1344168" y="6422136"/>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sept cent quatre-vingts dollars</a:t>
            </a:r>
          </a:p>
        </p:txBody>
      </p:sp>
      <p:sp>
        <p:nvSpPr>
          <p:cNvPr id="36" name="Rounded Rectangle 35"/>
          <p:cNvSpPr/>
          <p:nvPr/>
        </p:nvSpPr>
        <p:spPr>
          <a:xfrm>
            <a:off x="566928" y="6954520"/>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841247" y="705154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841247" y="7115556"/>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8</a:t>
            </a:r>
          </a:p>
        </p:txBody>
      </p:sp>
      <p:sp>
        <p:nvSpPr>
          <p:cNvPr id="39" name="TextBox 38"/>
          <p:cNvSpPr txBox="1"/>
          <p:nvPr/>
        </p:nvSpPr>
        <p:spPr>
          <a:xfrm>
            <a:off x="1344168" y="7109968"/>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deux ans avant le cégep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Emprunter, épargner, se protéger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Taux, montant ou durée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dix-neuf et quatre-vingt-dix pour cent   </a:t>
            </a:r>
            <a:r>
              <a:rPr sz="1400" b="1" i="0">
                <a:solidFill>
                  <a:srgbClr val="07734A"/>
                </a:solidFill>
                <a:latin typeface="Verdana"/>
              </a:rPr>
              <a:t>» un taux</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neuf mille quatre cent douze dollars   </a:t>
            </a:r>
            <a:r>
              <a:rPr sz="1400" b="1" i="0">
                <a:solidFill>
                  <a:srgbClr val="07734A"/>
                </a:solidFill>
                <a:latin typeface="Verdana"/>
              </a:rPr>
              <a:t>» un montant</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quatre-vingts mensualités   </a:t>
            </a:r>
            <a:r>
              <a:rPr sz="1400" b="1" i="0">
                <a:solidFill>
                  <a:srgbClr val="07734A"/>
                </a:solidFill>
                <a:latin typeface="Verdana"/>
              </a:rPr>
              <a:t>» une durée</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cent mille dollars par catégorie de dépôts   </a:t>
            </a:r>
            <a:r>
              <a:rPr sz="1400" b="1" i="0">
                <a:solidFill>
                  <a:srgbClr val="07734A"/>
                </a:solidFill>
                <a:latin typeface="Verdana"/>
              </a:rPr>
              <a:t>» un montant</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trente jours à compter de la réception   </a:t>
            </a:r>
            <a:r>
              <a:rPr sz="1400" b="1" i="0">
                <a:solidFill>
                  <a:srgbClr val="07734A"/>
                </a:solidFill>
                <a:latin typeface="Verdana"/>
              </a:rPr>
              <a:t>» une durée</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cinq pour cent du solde   </a:t>
            </a:r>
            <a:r>
              <a:rPr sz="1400" b="1" i="0">
                <a:solidFill>
                  <a:srgbClr val="07734A"/>
                </a:solidFill>
                <a:latin typeface="Verdana"/>
              </a:rPr>
              <a:t>» un taux</a:t>
            </a:r>
          </a:p>
        </p:txBody>
      </p:sp>
      <p:sp>
        <p:nvSpPr>
          <p:cNvPr id="32" name="Rounded Rectangle 31"/>
          <p:cNvSpPr/>
          <p:nvPr/>
        </p:nvSpPr>
        <p:spPr>
          <a:xfrm>
            <a:off x="566928" y="626668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841247" y="6363716"/>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41247" y="6427724"/>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7</a:t>
            </a:r>
          </a:p>
        </p:txBody>
      </p:sp>
      <p:sp>
        <p:nvSpPr>
          <p:cNvPr id="35" name="TextBox 34"/>
          <p:cNvSpPr txBox="1"/>
          <p:nvPr/>
        </p:nvSpPr>
        <p:spPr>
          <a:xfrm>
            <a:off x="1344168" y="6422136"/>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sept cent quatre-vingts dollars   </a:t>
            </a:r>
            <a:r>
              <a:rPr sz="1400" b="1" i="0">
                <a:solidFill>
                  <a:srgbClr val="07734A"/>
                </a:solidFill>
                <a:latin typeface="Verdana"/>
              </a:rPr>
              <a:t>» un montant</a:t>
            </a:r>
          </a:p>
        </p:txBody>
      </p:sp>
      <p:sp>
        <p:nvSpPr>
          <p:cNvPr id="36" name="Rounded Rectangle 35"/>
          <p:cNvSpPr/>
          <p:nvPr/>
        </p:nvSpPr>
        <p:spPr>
          <a:xfrm>
            <a:off x="566928" y="6954520"/>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841247" y="705154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841247" y="7115556"/>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8</a:t>
            </a:r>
          </a:p>
        </p:txBody>
      </p:sp>
      <p:sp>
        <p:nvSpPr>
          <p:cNvPr id="39" name="TextBox 38"/>
          <p:cNvSpPr txBox="1"/>
          <p:nvPr/>
        </p:nvSpPr>
        <p:spPr>
          <a:xfrm>
            <a:off x="1344168" y="7109968"/>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deux ans avant le cégep   </a:t>
            </a:r>
            <a:r>
              <a:rPr sz="1400" b="1" i="0">
                <a:solidFill>
                  <a:srgbClr val="07734A"/>
                </a:solidFill>
                <a:latin typeface="Verdana"/>
              </a:rPr>
              <a:t>» une durée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Emprunter, épargner, se protéger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LE PIÈGE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dix-neuf dollars par mois</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dix-neuf et quatre-vingt-dix pour cent par année</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C'est l'erreur la plus coûteuse du module entier. Dix-neuf dollars par mois, ce serait 228 $ par année ; dix-neuf et quatre-vingt-dix pour cent sur 9 000 $, c'est environ 1 800 $. Le mot « pour cent » fait toute la différence, et il est dit à la fin.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Emprunter, épargner, se protéger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PRODUCTION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Dites-le à voix haute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À deux : l'un lit le chiffre écrit, l'autre dit ce que c'est.</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3,10 %</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152 $</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80 versements</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7 000 $</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5 %</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21 jours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Emprunter, épargner, se protéger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Dites-le à voix haute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3,10 %   </a:t>
            </a:r>
            <a:r>
              <a:rPr sz="1400" b="1" i="0">
                <a:solidFill>
                  <a:srgbClr val="07734A"/>
                </a:solidFill>
                <a:latin typeface="Verdana"/>
              </a:rPr>
              <a:t>» trois et dix pour cent, un taux</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152 $   </a:t>
            </a:r>
            <a:r>
              <a:rPr sz="1400" b="1" i="0">
                <a:solidFill>
                  <a:srgbClr val="07734A"/>
                </a:solidFill>
                <a:latin typeface="Verdana"/>
              </a:rPr>
              <a:t>» cent cinquante-deux dollars, un montant</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80 versements   </a:t>
            </a:r>
            <a:r>
              <a:rPr sz="1400" b="1" i="0">
                <a:solidFill>
                  <a:srgbClr val="07734A"/>
                </a:solidFill>
                <a:latin typeface="Verdana"/>
              </a:rPr>
              <a:t>» quatre-vingts versements, une durée</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7 000 $   </a:t>
            </a:r>
            <a:r>
              <a:rPr sz="1400" b="1" i="0">
                <a:solidFill>
                  <a:srgbClr val="07734A"/>
                </a:solidFill>
                <a:latin typeface="Verdana"/>
              </a:rPr>
              <a:t>» sept mille dollars, un montant</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5 %   </a:t>
            </a:r>
            <a:r>
              <a:rPr sz="1400" b="1" i="0">
                <a:solidFill>
                  <a:srgbClr val="07734A"/>
                </a:solidFill>
                <a:latin typeface="Verdana"/>
              </a:rPr>
              <a:t>» cinq pour cent, un taux</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21 jours   </a:t>
            </a:r>
            <a:r>
              <a:rPr sz="1400" b="1" i="0">
                <a:solidFill>
                  <a:srgbClr val="07734A"/>
                </a:solidFill>
                <a:latin typeface="Verdana"/>
              </a:rPr>
              <a:t>» vingt et un jours, une durée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Emprunter, épargner, se protéger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100" b="1" i="0">
                <a:solidFill>
                  <a:srgbClr val="FFFFFF"/>
                </a:solidFill>
                <a:latin typeface="Verdana"/>
              </a:rPr>
              <a:t>Écris trois phrases : une avec un taux, une avec un montant, une avec une durée. Prends les chiffres de ta vraie vie ou invente-les.</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Mon taux est de quatorze pour cent par année.</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Je paie deux cents dollars par mois.</a:t>
            </a:r>
          </a:p>
        </p:txBody>
      </p:sp>
      <p:sp>
        <p:nvSpPr>
          <p:cNvPr id="12" name="Rounded Rectangle 11"/>
          <p:cNvSpPr/>
          <p:nvPr/>
        </p:nvSpPr>
        <p:spPr>
          <a:xfrm>
            <a:off x="566928" y="5429504"/>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5584952"/>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Il me reste dix-huit mois de paiements.</a:t>
            </a:r>
          </a:p>
        </p:txBody>
      </p:sp>
      <p:sp>
        <p:nvSpPr>
          <p:cNvPr id="14" name="TextBox 13"/>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Emprunter, épargner, se protéger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