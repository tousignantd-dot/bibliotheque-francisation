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D. Le ton change : les deux blocs précédents étaient de la compréhension, celui-ci est de l'action. Le dire.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concret de tout le module : numéro de dossier, date, heure, nom de la personne.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gens attendent « pour être sûrs ». C'est exactement ce qu'il ne faut pas faire, et la règle du jour l'explique.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première question de l'agent. Elle décide de tout le reste du dossier, et l'élève doit savoir y répondre en une phrase.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Marlène sur les paiements automatiques est le geste que personne ne pense à poser. Le souligner : elle interrompt pour vérifier.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ouvre la lettre du bloc E. La lire deux fois, lentement.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 vérifié auprès de l'Office de la protection du consommateur. Le dire au groupe : ce n'est pas une politique de banque, c'est la loi.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fiche de référence du bloc D, et elle est reprise dans la lettre de E2.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Une opération non autorisée » plutôt qu'« une erreur » : le mot juste change la façon dont la demande est traitée. Le dire.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seule chose de la séance que les élèves doivent retenir même s'ils oublient tout le reste. Le dire ainsi.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le dernier par la réplique de l'agent. Il annonce la tâche d'écriture du bloc 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minute. Vérifier les quatre : c'est la seule chose de la séance qui se retienne par coeur.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Sept cent quatre-vingts dollars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opération apparaît au relevé, chez un commerçant inconnu, et la carte n'a jamais quitté le portefeuille. C'est le seul moment du module où la cliente parle le plus.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Emprunter, épargner, se protéger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signaler une opération non autorisée dans le bon ordre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quelle somme maximale la loi laisse à la charge du titulaire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message d'hameçonnage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noter les quatre renseignements qui valent une preuve.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Qu'est-ce que tu ferais en premier, en voyant un achat que tu n'as pas fait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Appeler tout de suite, ou attendre le prochain relevé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dirais-tu en premier au téléphone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tu paierais le montant en attendant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tu noterais pendant l'appel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carte est encore dans mon portefeuille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Écouter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MARLÈNE</a:t>
            </a:r>
          </a:p>
        </p:txBody>
      </p:sp>
      <p:sp>
        <p:nvSpPr>
          <p:cNvPr id="10" name="TextBox 9"/>
          <p:cNvSpPr txBox="1"/>
          <p:nvPr/>
        </p:nvSpPr>
        <p:spPr>
          <a:xfrm>
            <a:off x="2455449" y="2322576"/>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y a une opération sur mon relevé que je n'ai pas faite. Sept cent quatre-vingts dollars, le quatorze.</a:t>
            </a:r>
          </a:p>
        </p:txBody>
      </p:sp>
      <p:sp>
        <p:nvSpPr>
          <p:cNvPr id="11" name="Rounded Rectangle 10"/>
          <p:cNvSpPr/>
          <p:nvPr/>
        </p:nvSpPr>
        <p:spPr>
          <a:xfrm>
            <a:off x="566928" y="324510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52276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13" name="TextBox 12"/>
          <p:cNvSpPr txBox="1"/>
          <p:nvPr/>
        </p:nvSpPr>
        <p:spPr>
          <a:xfrm>
            <a:off x="2455449" y="3409696"/>
            <a:ext cx="862067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Avant tout : est-ce que vous avez encore votre carte en main ?</a:t>
            </a:r>
          </a:p>
        </p:txBody>
      </p:sp>
      <p:sp>
        <p:nvSpPr>
          <p:cNvPr id="14" name="Rounded Rectangle 13"/>
          <p:cNvSpPr/>
          <p:nvPr/>
        </p:nvSpPr>
        <p:spPr>
          <a:xfrm>
            <a:off x="566928" y="399440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52276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MARLÈNE</a:t>
            </a:r>
          </a:p>
        </p:txBody>
      </p:sp>
      <p:sp>
        <p:nvSpPr>
          <p:cNvPr id="16" name="TextBox 15"/>
          <p:cNvSpPr txBox="1"/>
          <p:nvPr/>
        </p:nvSpPr>
        <p:spPr>
          <a:xfrm>
            <a:off x="2455449" y="4158995"/>
            <a:ext cx="862067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elle est dans mon portefeuille. Je ne l'ai jamais perdue.</a:t>
            </a:r>
          </a:p>
        </p:txBody>
      </p:sp>
      <p:sp>
        <p:nvSpPr>
          <p:cNvPr id="17" name="Rounded Rectangle 16"/>
          <p:cNvSpPr/>
          <p:nvPr/>
        </p:nvSpPr>
        <p:spPr>
          <a:xfrm>
            <a:off x="566928" y="47437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908296"/>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19" name="TextBox 18"/>
          <p:cNvSpPr txBox="1"/>
          <p:nvPr/>
        </p:nvSpPr>
        <p:spPr>
          <a:xfrm>
            <a:off x="2455449" y="4908296"/>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c'est un achat à distance. Vous n'avez rien acheté chez ce commerçant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le blocage entraîne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9" name="TextBox 8"/>
          <p:cNvSpPr txBox="1"/>
          <p:nvPr/>
        </p:nvSpPr>
        <p:spPr>
          <a:xfrm>
            <a:off x="2455449" y="1901952"/>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bloque la carte immédiatement et je vous en fais émettre une nouvelle.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MARLÈNE</a:t>
            </a:r>
          </a:p>
        </p:txBody>
      </p:sp>
      <p:sp>
        <p:nvSpPr>
          <p:cNvPr id="12" name="TextBox 11"/>
          <p:cNvSpPr txBox="1"/>
          <p:nvPr/>
        </p:nvSpPr>
        <p:spPr>
          <a:xfrm>
            <a:off x="2455449" y="2989072"/>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Attendez, vous la bloquez tout de suite ? Et mes paiements automatiques ?</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15" name="TextBox 14"/>
          <p:cNvSpPr txBox="1"/>
          <p:nvPr/>
        </p:nvSpPr>
        <p:spPr>
          <a:xfrm>
            <a:off x="2455449" y="4076191"/>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Ils vont tomber. Vous devrez donner le nouveau numéro à chaque commerçant.</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MARLÈNE</a:t>
            </a:r>
          </a:p>
        </p:txBody>
      </p:sp>
      <p:sp>
        <p:nvSpPr>
          <p:cNvPr id="18" name="TextBox 17"/>
          <p:cNvSpPr txBox="1"/>
          <p:nvPr/>
        </p:nvSpPr>
        <p:spPr>
          <a:xfrm>
            <a:off x="2455449" y="5163312"/>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 Bloquez-la. Mais les sept cent quatre-vingts dollars, je les paie ou pas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écrit laisse une trace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9" name="TextBox 8"/>
          <p:cNvSpPr txBox="1"/>
          <p:nvPr/>
        </p:nvSpPr>
        <p:spPr>
          <a:xfrm>
            <a:off x="2455449" y="1901952"/>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ne les payez pas. J'ouvre un dossier de contestation et le montant est retiré pendant l'enquête.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MARLÈNE</a:t>
            </a:r>
          </a:p>
        </p:txBody>
      </p:sp>
      <p:sp>
        <p:nvSpPr>
          <p:cNvPr id="12" name="TextBox 11"/>
          <p:cNvSpPr txBox="1"/>
          <p:nvPr/>
        </p:nvSpPr>
        <p:spPr>
          <a:xfrm>
            <a:off x="2455449" y="2989072"/>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je peux avoir quelque chose par écrit ? Un numéro de dossier ?</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52276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15" name="TextBox 14"/>
          <p:cNvSpPr txBox="1"/>
          <p:nvPr/>
        </p:nvSpPr>
        <p:spPr>
          <a:xfrm>
            <a:off x="2455449" y="4076191"/>
            <a:ext cx="862067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Notez aussi l'heure de cet appel-ci et mon nom.</a:t>
            </a:r>
          </a:p>
        </p:txBody>
      </p:sp>
      <p:sp>
        <p:nvSpPr>
          <p:cNvPr id="16" name="Rounded Rectangle 15"/>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52276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STEVE</a:t>
            </a:r>
          </a:p>
        </p:txBody>
      </p:sp>
      <p:sp>
        <p:nvSpPr>
          <p:cNvPr id="18" name="TextBox 17"/>
          <p:cNvSpPr txBox="1"/>
          <p:nvPr/>
        </p:nvSpPr>
        <p:spPr>
          <a:xfrm>
            <a:off x="2455449" y="4825492"/>
            <a:ext cx="862067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 le montant n'a pas disparu dans trente jours, écrivez-nous plutôt que de rappeler. Un écrit laisse une trace ; un appel, non.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CINQUANTE DOLLARS, À UNE CONDITION</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responsabilité du titulaire est limitée à 50 $, s'il avise l'émetteur sans délai.</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Après l'avis, il n'est plus responsable d'aucune opération. « Sans délai » n'a pas de nombre, mais il en a l'effet : celui qui attend trois semaines devra expliquer pourquoi. La négligence dans la protection du NIP, elle, peut coûter davantage.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gestes, dans l'ordre</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QUAND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QUOI</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tout de suite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faire bloquer la carte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dans la minute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prévoir les paiements automatiques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pendant l'appel</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noter dossier, date, heure, nom</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après l'appel</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garder le relevé où le montant paraît</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après trente jours</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écrire une lettre datée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 de la contestation</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05250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opération non autorisée</a:t>
            </a:r>
          </a:p>
        </p:txBody>
      </p:sp>
      <p:sp>
        <p:nvSpPr>
          <p:cNvPr id="9" name="TextBox 8"/>
          <p:cNvSpPr txBox="1"/>
          <p:nvPr/>
        </p:nvSpPr>
        <p:spPr>
          <a:xfrm>
            <a:off x="5259514" y="2121408"/>
            <a:ext cx="599949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entrée ou une sortie d'argent que le titulaire du compte n'a pas faite et n'a pas permise.</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405250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contestation</a:t>
            </a:r>
          </a:p>
        </p:txBody>
      </p:sp>
      <p:sp>
        <p:nvSpPr>
          <p:cNvPr id="12" name="TextBox 11"/>
          <p:cNvSpPr txBox="1"/>
          <p:nvPr/>
        </p:nvSpPr>
        <p:spPr>
          <a:xfrm>
            <a:off x="5259514" y="3106674"/>
            <a:ext cx="5999492" cy="765809"/>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La démarche par laquelle on demande à l'institution de retirer une opération du relevé et d'enquêter.</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405250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l'hameçonnage</a:t>
            </a:r>
          </a:p>
        </p:txBody>
      </p:sp>
      <p:sp>
        <p:nvSpPr>
          <p:cNvPr id="15" name="TextBox 14"/>
          <p:cNvSpPr txBox="1"/>
          <p:nvPr/>
        </p:nvSpPr>
        <p:spPr>
          <a:xfrm>
            <a:off x="5259514" y="4091939"/>
            <a:ext cx="599949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faux message qui imite une institution pour faire donner un numéro ou un mot de passe.</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4052506"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numéro de dossier</a:t>
            </a:r>
          </a:p>
        </p:txBody>
      </p:sp>
      <p:sp>
        <p:nvSpPr>
          <p:cNvPr id="18" name="TextBox 17"/>
          <p:cNvSpPr txBox="1"/>
          <p:nvPr/>
        </p:nvSpPr>
        <p:spPr>
          <a:xfrm>
            <a:off x="5259514" y="5077205"/>
            <a:ext cx="5999492"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code que l'institution attribue à une démarche et qui permet de la retrouver plus tard.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rappeler au numéro donné dans le message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rappeler au numéro imprimé sur la carte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numéro fourni par le fraudeur mène au fraudeur. Aucune institution ne demande par message, par courriel ou par téléphone entrant le numéro complet de la carte, le NIP ou le code à trois chiffres. Cette règle-là n'a aucune exception.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l'appel au service de la sécurité des cartes.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Marlène a encore sa carte dans son portefeuille.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paiements automatiques continueront comme avant.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montant contesté est retiré du solde pendant l'enquête.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Marlène a donné son numéro de carte dans la page du message.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L'institution demande parfois le NIP par message texte.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rien n'a bougé dans trente jours, il vaut mieux rappeler.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Marlène a encore sa carte dans son portefeuille.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paiements automatiques continueront comme avant.   </a:t>
            </a:r>
            <a:r>
              <a:rPr sz="1400" b="1" i="0">
                <a:solidFill>
                  <a:srgbClr val="07734A"/>
                </a:solidFill>
                <a:latin typeface="Verdana"/>
              </a:rPr>
              <a:t>» faux - ils vont tomber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montant contesté est retiré du solde pendant l'enquête.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Marlène a donné son numéro de carte dans la page du message.   </a:t>
            </a:r>
            <a:r>
              <a:rPr sz="1400" b="1" i="0">
                <a:solidFill>
                  <a:srgbClr val="07734A"/>
                </a:solidFill>
                <a:latin typeface="Verdana"/>
              </a:rPr>
              <a:t>» faux - elle a fermé la page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L'institution demande parfois le NIP par message texte.   </a:t>
            </a:r>
            <a:r>
              <a:rPr sz="1400" b="1" i="0">
                <a:solidFill>
                  <a:srgbClr val="07734A"/>
                </a:solidFill>
                <a:latin typeface="Verdana"/>
              </a:rPr>
              <a:t>» faux - jamais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rien n'a bougé dans trente jours, il vaut mieux rappeler.   </a:t>
            </a:r>
            <a:r>
              <a:rPr sz="1400" b="1" i="0">
                <a:solidFill>
                  <a:srgbClr val="07734A"/>
                </a:solidFill>
                <a:latin typeface="Verdana"/>
              </a:rPr>
              <a:t>» faux - il faut écrire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les quatre renseignements qu'il faut noter pendant l'appel.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numéro de dossier, la date, l'heure, le nom de la personne</a:t>
            </a:r>
          </a:p>
        </p:txBody>
      </p:sp>
      <p:sp>
        <p:nvSpPr>
          <p:cNvPr id="10" name="TextBox 9"/>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Emprunter, épargner, se protéger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