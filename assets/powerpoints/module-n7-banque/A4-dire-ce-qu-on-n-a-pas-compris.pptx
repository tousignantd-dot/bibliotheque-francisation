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la plus importante du bloc A, et celle que les élèves réemploieront le plus vite ailleurs : chez le médecin, à l'école, au garage. Le dire en ouvrant.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programme du niveau 7 nomme ce savoir dans la situation elle-même : « expressions pour reprendre une partie d'un discours et exprimer une incompréhension partielle ». Le mot qui compte est « partielle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personnelle mais sans risque : tout le monde a fait oui de la tête un jour. Commencer par le dire soi-même met le groupe à l'aise.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l'expérience : dire une phrase difficile, laisser un élève répondre « quoi ? », répéter à l'identique. Le groupe comprend tout de suite.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copier les trois phrases dans le cahier, en toutes lettres, avec leur ponctuation.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chaque phrase avec la bonne intonation : la voix monte à la fin, et elle ralentit sur les trois derniers mots.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 ce n'est pas le sens de la phrase qui décide, c'est ce qu'elle demande à l'autre de produire.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pratiquer l'interruption elle-même, qui est un geste de langue à part entière. Beaucoup d'élèves ne l'ont jamais fait en français.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Circuler. Le seul critère de réussite : B n'a jamais dit « d'accord » sans avoir posé une question. Le dire avant de commencer.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Garder les billets et les redistribuer au début du bloc B : c'est exactement la situation du dialogue de B1.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A4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Dire ce qu'on n'a pas compris</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Faire oui de la tête met fin à l'explication, et le document se signe sur un malentendu. Trois phrases, apprises par coeur, changent tout.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Emprunter, épargner, se protéger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reprendre le mot exact qu'on n'a pas compris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reformuler avec ses propres mots pour vérifier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un exemple chiffré appliqué à son cas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interrompre poliment au moment où le mot échappe.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 fais-tu quand tu ne comprends pas un mot dans une explication importante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demandes tout de suite, ou tu attends la fin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ça t'est déjà arrivé de faire oui sans comprendre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t'a retenu de demander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s'est passé ensuite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 QUOI ? » NE DIT RIEN À PERSONNE</a:t>
            </a:r>
          </a:p>
        </p:txBody>
      </p:sp>
      <p:sp>
        <p:nvSpPr>
          <p:cNvPr id="6" name="Rounded Rectangle 5"/>
          <p:cNvSpPr/>
          <p:nvPr/>
        </p:nvSpPr>
        <p:spPr>
          <a:xfrm>
            <a:off x="566928" y="1225296"/>
            <a:ext cx="11057839" cy="2494788"/>
          </a:xfrm>
          <a:prstGeom prst="roundRect">
            <a:avLst>
              <a:gd name="adj" fmla="val 586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Votre interlocuteur ne sait pas ce qui vous a échappé : il recommence à l'identique.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mot, le chiffre, ou toute la phrase ? Tant qu'il l'ignore, il répète la même chose de la même façon, et vous ne comprenez pas davantage la deuxième fois. Reprendre le mot exact lui dit précisément où vous avez décroché.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phrases, trois effets</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JE DIS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J'OBTIENS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Quand vous dites x</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définition du mot exact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Donc si je comprends bien</a:t>
            </a:r>
          </a:p>
        </p:txBody>
      </p:sp>
      <p:sp>
        <p:nvSpPr>
          <p:cNvPr id="14" name="TextBox 13"/>
          <p:cNvSpPr txBox="1"/>
          <p:nvPr/>
        </p:nvSpPr>
        <p:spPr>
          <a:xfrm>
            <a:off x="4443636" y="2935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confirmation ou une correction</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Sur mille dollars</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chiffre appliqué à mon cas</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Quoi ?</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même phrase, redite pareil</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premières sont à apprendre par coeur.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MODÈLES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phrases à emporter</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Faire répéter</a:t>
            </a:r>
          </a:p>
        </p:txBody>
      </p:sp>
      <p:sp>
        <p:nvSpPr>
          <p:cNvPr id="9" name="TextBox 8"/>
          <p:cNvSpPr txBox="1"/>
          <p:nvPr/>
        </p:nvSpPr>
        <p:spPr>
          <a:xfrm>
            <a:off x="886968"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Quand vous dites « capitalisé », ça veut dire quoi exactement ?</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Faire répéter</a:t>
            </a:r>
          </a:p>
        </p:txBody>
      </p:sp>
      <p:sp>
        <p:nvSpPr>
          <p:cNvPr id="12" name="TextBox 11"/>
          <p:cNvSpPr txBox="1"/>
          <p:nvPr/>
        </p:nvSpPr>
        <p:spPr>
          <a:xfrm>
            <a:off x="6498183"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Je vous suis jusqu'au taux, mais j'ai perdu la suite.</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Vérifier</a:t>
            </a:r>
          </a:p>
        </p:txBody>
      </p:sp>
      <p:sp>
        <p:nvSpPr>
          <p:cNvPr id="15" name="TextBox 14"/>
          <p:cNvSpPr txBox="1"/>
          <p:nvPr/>
        </p:nvSpPr>
        <p:spPr>
          <a:xfrm>
            <a:off x="886968"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Donc si je comprends bien, je ne paie que sur ce que je prends ?</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Vérifier</a:t>
            </a:r>
          </a:p>
        </p:txBody>
      </p:sp>
      <p:sp>
        <p:nvSpPr>
          <p:cNvPr id="18" name="TextBox 17"/>
          <p:cNvSpPr txBox="1"/>
          <p:nvPr/>
        </p:nvSpPr>
        <p:spPr>
          <a:xfrm>
            <a:off x="6498183"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 que vous appelez « le minimum », c'est le montant en bas ?</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Demander un exemple</a:t>
            </a:r>
          </a:p>
        </p:txBody>
      </p:sp>
      <p:sp>
        <p:nvSpPr>
          <p:cNvPr id="21" name="TextBox 20"/>
          <p:cNvSpPr txBox="1"/>
          <p:nvPr/>
        </p:nvSpPr>
        <p:spPr>
          <a:xfrm>
            <a:off x="886968"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Sur mille dollars, ça donnerait combien exactement ?</a:t>
            </a:r>
          </a:p>
        </p:txBody>
      </p:sp>
      <p:sp>
        <p:nvSpPr>
          <p:cNvPr id="22" name="Rounded Rectangle 21"/>
          <p:cNvSpPr/>
          <p:nvPr/>
        </p:nvSpPr>
        <p:spPr>
          <a:xfrm>
            <a:off x="6178143"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5041391"/>
            <a:ext cx="4806543"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Demander un exemple</a:t>
            </a:r>
          </a:p>
        </p:txBody>
      </p:sp>
      <p:sp>
        <p:nvSpPr>
          <p:cNvPr id="24" name="TextBox 23"/>
          <p:cNvSpPr txBox="1"/>
          <p:nvPr/>
        </p:nvSpPr>
        <p:spPr>
          <a:xfrm>
            <a:off x="6498183"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Ça ressemblerait à quoi, dans mon cas à moi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APPLICATION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quoi sert chaque phrase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 je fais répéter, je vérifie, ou je demande un exemple.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Excusez-moi, vous pouvez répéter le dernier chiffre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Donc si je comprends bien, le taux peut monter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mille dollars, ça donnerait combien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vous dites « variable », ça veut dire quoi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Autrement dit, la date de fin est au contrat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auriez un cas concret à me donner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quoi sert chaque phrase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Excusez-moi, vous pouvez répéter le dernier chiffre ?   </a:t>
            </a:r>
            <a:r>
              <a:rPr sz="1400" b="1" i="0">
                <a:solidFill>
                  <a:srgbClr val="07734A"/>
                </a:solidFill>
                <a:latin typeface="Verdana"/>
              </a:rPr>
              <a:t>» je fais répéter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Donc si je comprends bien, le taux peut monter ?   </a:t>
            </a:r>
            <a:r>
              <a:rPr sz="1400" b="1" i="0">
                <a:solidFill>
                  <a:srgbClr val="07734A"/>
                </a:solidFill>
                <a:latin typeface="Verdana"/>
              </a:rPr>
              <a:t>» je vérifie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mille dollars, ça donnerait combien ?   </a:t>
            </a:r>
            <a:r>
              <a:rPr sz="1400" b="1" i="0">
                <a:solidFill>
                  <a:srgbClr val="07734A"/>
                </a:solidFill>
                <a:latin typeface="Verdana"/>
              </a:rPr>
              <a:t>» je demande un exemple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vous dites « variable », ça veut dire quoi ?   </a:t>
            </a:r>
            <a:r>
              <a:rPr sz="1400" b="1" i="0">
                <a:solidFill>
                  <a:srgbClr val="07734A"/>
                </a:solidFill>
                <a:latin typeface="Verdana"/>
              </a:rPr>
              <a:t>» je fais répéter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Autrement dit, la date de fin est au contrat ?   </a:t>
            </a:r>
            <a:r>
              <a:rPr sz="1400" b="1" i="0">
                <a:solidFill>
                  <a:srgbClr val="07734A"/>
                </a:solidFill>
                <a:latin typeface="Verdana"/>
              </a:rPr>
              <a:t>» je vérifie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auriez un cas concret à me donner ?   </a:t>
            </a:r>
            <a:r>
              <a:rPr sz="1400" b="1" i="0">
                <a:solidFill>
                  <a:srgbClr val="07734A"/>
                </a:solidFill>
                <a:latin typeface="Verdana"/>
              </a:rPr>
              <a:t>» je demande un exemple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attendre la fin pour poser sa question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interrompre au mot qui manque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Après trois minutes d'explication, le mot est loin et vous ne savez plus lequel c'était. Couper tout de suite, poliment, avec « excusez-moi, un mot » : personne n'en prend ombrage, et l'explication reprend au bon endroit.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JEU DE RÔLE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par deux, trois minutes chacun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 explique un produit avec des mots difficiles ; B ne fait jamais oui de la tête.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 dit : « les intérêts sont capitalisés mensuellement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 dit : « le taux est variable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 dit : « c'est déductible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 donne un pourcentage</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 parle trop vite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la phrase que tu emploieras la prochaine fois que tu ne comprendras pas un mot.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Quand vous dites « capitalisé », ça veut dire quoi exactement ?</a:t>
            </a:r>
          </a:p>
        </p:txBody>
      </p:sp>
      <p:sp>
        <p:nvSpPr>
          <p:cNvPr id="10" name="TextBox 9"/>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Emprunter, épargner, se protéger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