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Séance d'oreille et de bouche. Prévoir beaucoup d'écoute et peu de lecture. Le tableau sert à écrire les lettres une à une, pendant que les élèves les disent.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Lire les objectifs à voix haute. Y revenir au billet de sortie.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 chaque paire deux fois, sans rien écrire au tableau. La quatrième piste amène la réponse du module : on ajoute un mot connu derrière la lettre.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lire la colonne de gauche en chœur, puis celle de droite. La différence s'entend tout de suite.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choisir à chacun un mot pour B, V, M et N, et l'écrire dans son cahier. Un mot familier vaut mieux qu'un mot juste.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entendre les deux versions, l'anglaise d'abord, la française ensuite. Beaucoup d'élèves découvrent ici que leur alphabet n'est pas celui d'ici.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Huit lettres, dites lentement, deux fois chacune. Les mains levées disent tout de suite qui suit et qui devine.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dialogue met en scène le doute au lieu de l'expliquer. Demander au groupe qui règle le problème : c'est Yara, pas la secrétaire.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L'étape 3 est le cœur : c'est la stratégie que le module installe, et elle sert bien au-delà du centre. Passer dans les rangées pour attraper ceux qui vont trop vite.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Devoir court. Demander de l'apprendre par cœur : au comptoir, on n'a pas son cahier dans les mains.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SÉANCE A2  ·  MODULE 6</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Comment ça s'écrit ?</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Dire le nom des lettres, épeler son nom lentement, et faire corriger quand c'est mal écrit.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Je m'inscris au cours de français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le nom des vingt-six lettres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reconnaitre la famille du « é » et celle du « è »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épeler son nom de famille lentement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dire « B comme bonjour » quand la personne hésite.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lettre est-ce que vous entendez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B, ou V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M, ou N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G, ou J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3B49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Comment on fait pour être sûr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L'alphabet se dit en deux familles</a:t>
            </a:r>
          </a:p>
        </p:txBody>
      </p:sp>
      <p:sp>
        <p:nvSpPr>
          <p:cNvPr id="7" name="Rounded Rectangle 6"/>
          <p:cNvSpPr/>
          <p:nvPr/>
        </p:nvSpPr>
        <p:spPr>
          <a:xfrm>
            <a:off x="566928" y="1810512"/>
            <a:ext cx="11057839" cy="2862072"/>
          </a:xfrm>
          <a:prstGeom prst="roundRect">
            <a:avLst>
              <a:gd name="adj" fmla="val 511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LETTRE VIENT AVANT LE SON</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LE SON VIENT AVANT LA LETTRE</a:t>
            </a:r>
          </a:p>
        </p:txBody>
      </p:sp>
      <p:sp>
        <p:nvSpPr>
          <p:cNvPr id="10" name="TextBox 9"/>
          <p:cNvSpPr txBox="1"/>
          <p:nvPr/>
        </p:nvSpPr>
        <p:spPr>
          <a:xfrm>
            <a:off x="932688" y="2395728"/>
            <a:ext cx="3291492" cy="640080"/>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B, C, D — « bé », « cé », « dé »</a:t>
            </a:r>
          </a:p>
        </p:txBody>
      </p:sp>
      <p:sp>
        <p:nvSpPr>
          <p:cNvPr id="11" name="TextBox 10"/>
          <p:cNvSpPr txBox="1"/>
          <p:nvPr/>
        </p:nvSpPr>
        <p:spPr>
          <a:xfrm>
            <a:off x="4443636" y="2395728"/>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F, L, M — « èf », « èl », « èm »</a:t>
            </a:r>
          </a:p>
        </p:txBody>
      </p:sp>
      <p:sp>
        <p:nvSpPr>
          <p:cNvPr id="12" name="Rectangle 11"/>
          <p:cNvSpPr/>
          <p:nvPr/>
        </p:nvSpPr>
        <p:spPr>
          <a:xfrm>
            <a:off x="932688" y="310896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236976"/>
            <a:ext cx="3291492" cy="640080"/>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G, P, T — « gé », « pé », « té »</a:t>
            </a:r>
          </a:p>
        </p:txBody>
      </p:sp>
      <p:sp>
        <p:nvSpPr>
          <p:cNvPr id="14" name="TextBox 13"/>
          <p:cNvSpPr txBox="1"/>
          <p:nvPr/>
        </p:nvSpPr>
        <p:spPr>
          <a:xfrm>
            <a:off x="4443636" y="3236976"/>
            <a:ext cx="6595914" cy="640080"/>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N, R, S — « èn », « èr », « ès »</a:t>
            </a:r>
          </a:p>
        </p:txBody>
      </p:sp>
      <p:sp>
        <p:nvSpPr>
          <p:cNvPr id="15" name="Rectangle 14"/>
          <p:cNvSpPr/>
          <p:nvPr/>
        </p:nvSpPr>
        <p:spPr>
          <a:xfrm>
            <a:off x="932688" y="39502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4078224"/>
            <a:ext cx="3291492" cy="338328"/>
          </a:xfrm>
          <a:prstGeom prst="rect">
            <a:avLst/>
          </a:prstGeom>
          <a:noFill/>
        </p:spPr>
        <p:txBody>
          <a:bodyPr wrap="square" lIns="0" rIns="0" tIns="0" bIns="0" anchor="t">
            <a:spAutoFit/>
          </a:bodyPr>
          <a:lstStyle/>
          <a:p>
            <a:pPr algn="l">
              <a:lnSpc>
                <a:spcPct val="132000"/>
              </a:lnSpc>
            </a:pPr>
            <a:r>
              <a:rPr sz="1800" b="1" i="0">
                <a:solidFill>
                  <a:srgbClr val="3B49A0"/>
                </a:solidFill>
                <a:latin typeface="Verdana"/>
              </a:rPr>
              <a:t>V — « vé »</a:t>
            </a:r>
          </a:p>
        </p:txBody>
      </p:sp>
      <p:sp>
        <p:nvSpPr>
          <p:cNvPr id="17" name="TextBox 16"/>
          <p:cNvSpPr txBox="1"/>
          <p:nvPr/>
        </p:nvSpPr>
        <p:spPr>
          <a:xfrm>
            <a:off x="4443636" y="4078224"/>
            <a:ext cx="6595914" cy="338328"/>
          </a:xfrm>
          <a:prstGeom prst="rect">
            <a:avLst/>
          </a:prstGeom>
          <a:noFill/>
        </p:spPr>
        <p:txBody>
          <a:bodyPr wrap="square" lIns="0" rIns="0" tIns="0" bIns="0" anchor="t">
            <a:spAutoFit/>
          </a:bodyPr>
          <a:lstStyle/>
          <a:p>
            <a:pPr algn="l">
              <a:lnSpc>
                <a:spcPct val="132000"/>
              </a:lnSpc>
            </a:pPr>
            <a:r>
              <a:rPr sz="1800" b="0" i="0">
                <a:solidFill>
                  <a:srgbClr val="3A3D40"/>
                </a:solidFill>
                <a:latin typeface="Verdana"/>
              </a:rPr>
              <a:t>Ces six-là commencent par « è »</a:t>
            </a:r>
          </a:p>
        </p:txBody>
      </p:sp>
      <p:sp>
        <p:nvSpPr>
          <p:cNvPr id="18" name="Rounded Rectangle 17"/>
          <p:cNvSpPr/>
          <p:nvPr/>
        </p:nvSpPr>
        <p:spPr>
          <a:xfrm>
            <a:off x="566928" y="4910328"/>
            <a:ext cx="11057839" cy="843534"/>
          </a:xfrm>
          <a:prstGeom prst="roundRect">
            <a:avLst>
              <a:gd name="adj" fmla="val 17344"/>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69264" y="5166360"/>
            <a:ext cx="10234879" cy="386334"/>
          </a:xfrm>
          <a:prstGeom prst="rect">
            <a:avLst/>
          </a:prstGeom>
          <a:noFill/>
        </p:spPr>
        <p:txBody>
          <a:bodyPr wrap="square" lIns="0" rIns="0" tIns="0" bIns="0" anchor="t">
            <a:spAutoFit/>
          </a:bodyPr>
          <a:lstStyle/>
          <a:p>
            <a:pPr algn="l">
              <a:lnSpc>
                <a:spcPct val="145000"/>
              </a:lnSpc>
            </a:pPr>
            <a:r>
              <a:rPr sz="1800" b="0" i="0">
                <a:solidFill>
                  <a:srgbClr val="4B4F52"/>
                </a:solidFill>
                <a:latin typeface="Verdana"/>
              </a:rPr>
              <a:t>Sept lettres finissent sur « é ». Six commencent par « è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 B COMME BONJOUR, D COMME DIMANCHE »</a:t>
            </a:r>
          </a:p>
        </p:txBody>
      </p:sp>
      <p:sp>
        <p:nvSpPr>
          <p:cNvPr id="6" name="Rounded Rectangle 5"/>
          <p:cNvSpPr/>
          <p:nvPr/>
        </p:nvSpPr>
        <p:spPr>
          <a:xfrm>
            <a:off x="566928" y="1225296"/>
            <a:ext cx="11057839" cy="1967991"/>
          </a:xfrm>
          <a:prstGeom prst="roundRect">
            <a:avLst>
              <a:gd name="adj" fmla="val 7434"/>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145032"/>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Un mot connu derrière la lettre, et le doute disparaît.</a:t>
            </a:r>
          </a:p>
        </p:txBody>
      </p:sp>
      <p:sp>
        <p:nvSpPr>
          <p:cNvPr id="8" name="Rounded Rectangle 7"/>
          <p:cNvSpPr/>
          <p:nvPr/>
        </p:nvSpPr>
        <p:spPr>
          <a:xfrm>
            <a:off x="566928" y="3467607"/>
            <a:ext cx="11057839" cy="1671827"/>
          </a:xfrm>
          <a:prstGeom prst="roundRect">
            <a:avLst>
              <a:gd name="adj" fmla="val 875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741927"/>
            <a:ext cx="10234879" cy="1214627"/>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Quand la personne au comptoir hésite entre deux lettres, répéter la lettre ne sert à rien : elle l'entend déjà mal. On ajoute un mot que tout le monde connaît. Chacun choisit ses mots une fois et les garde toute l'année.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LE PIÈGE DU JOUR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 ma lettre E se dit i »</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en français, E se dit « eu » et I se dit « i »</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En anglais, le E se dit « i » et le I se dit « aïe ». Un élève qui garde l'alphabet anglais fait écrire son nom avec les mauvaises voyelles, et personne ne s'en aperçoit avant la carte d'étudiant. C'est l'erreur la plus fréquente au comptoir.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ÉCOUTE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Son « é » ou son « è »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chaque lettre et levez la main pour la famille du « è ».</a:t>
            </a:r>
          </a:p>
        </p:txBody>
      </p:sp>
      <p:sp>
        <p:nvSpPr>
          <p:cNvPr id="8" name="Rounded Rectangle 7"/>
          <p:cNvSpPr/>
          <p:nvPr/>
        </p:nvSpPr>
        <p:spPr>
          <a:xfrm>
            <a:off x="566928"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B</a:t>
            </a:r>
          </a:p>
        </p:txBody>
      </p:sp>
      <p:sp>
        <p:nvSpPr>
          <p:cNvPr id="12" name="Rounded Rectangle 11"/>
          <p:cNvSpPr/>
          <p:nvPr/>
        </p:nvSpPr>
        <p:spPr>
          <a:xfrm>
            <a:off x="6159855" y="2139696"/>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F</a:t>
            </a:r>
          </a:p>
        </p:txBody>
      </p:sp>
      <p:sp>
        <p:nvSpPr>
          <p:cNvPr id="16" name="Rounded Rectangle 15"/>
          <p:cNvSpPr/>
          <p:nvPr/>
        </p:nvSpPr>
        <p:spPr>
          <a:xfrm>
            <a:off x="566928"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D</a:t>
            </a:r>
          </a:p>
        </p:txBody>
      </p:sp>
      <p:sp>
        <p:nvSpPr>
          <p:cNvPr id="20" name="Rounded Rectangle 19"/>
          <p:cNvSpPr/>
          <p:nvPr/>
        </p:nvSpPr>
        <p:spPr>
          <a:xfrm>
            <a:off x="6159855" y="2916428"/>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M</a:t>
            </a:r>
          </a:p>
        </p:txBody>
      </p:sp>
      <p:sp>
        <p:nvSpPr>
          <p:cNvPr id="24" name="Rounded Rectangle 23"/>
          <p:cNvSpPr/>
          <p:nvPr/>
        </p:nvSpPr>
        <p:spPr>
          <a:xfrm>
            <a:off x="566928"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P</a:t>
            </a:r>
          </a:p>
        </p:txBody>
      </p:sp>
      <p:sp>
        <p:nvSpPr>
          <p:cNvPr id="28" name="Rounded Rectangle 27"/>
          <p:cNvSpPr/>
          <p:nvPr/>
        </p:nvSpPr>
        <p:spPr>
          <a:xfrm>
            <a:off x="6159855" y="3693160"/>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S</a:t>
            </a:r>
          </a:p>
        </p:txBody>
      </p:sp>
      <p:sp>
        <p:nvSpPr>
          <p:cNvPr id="32" name="Rounded Rectangle 31"/>
          <p:cNvSpPr/>
          <p:nvPr/>
        </p:nvSpPr>
        <p:spPr>
          <a:xfrm>
            <a:off x="566928"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T</a:t>
            </a:r>
          </a:p>
        </p:txBody>
      </p:sp>
      <p:sp>
        <p:nvSpPr>
          <p:cNvPr id="36" name="Rounded Rectangle 35"/>
          <p:cNvSpPr/>
          <p:nvPr/>
        </p:nvSpPr>
        <p:spPr>
          <a:xfrm>
            <a:off x="6159855" y="4469892"/>
            <a:ext cx="5464911"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Son « é » ou son « è »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B   </a:t>
            </a:r>
            <a:r>
              <a:rPr sz="1900" b="1" i="0">
                <a:solidFill>
                  <a:srgbClr val="07734A"/>
                </a:solidFill>
                <a:latin typeface="Verdana"/>
              </a:rPr>
              <a:t>» son « é »</a:t>
            </a:r>
          </a:p>
        </p:txBody>
      </p:sp>
      <p:sp>
        <p:nvSpPr>
          <p:cNvPr id="12" name="Rounded Rectangle 11"/>
          <p:cNvSpPr/>
          <p:nvPr/>
        </p:nvSpPr>
        <p:spPr>
          <a:xfrm>
            <a:off x="6159855" y="2139696"/>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6937095" y="2295144"/>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F   </a:t>
            </a:r>
            <a:r>
              <a:rPr sz="1900" b="1" i="0">
                <a:solidFill>
                  <a:srgbClr val="07734A"/>
                </a:solidFill>
                <a:latin typeface="Verdana"/>
              </a:rPr>
              <a:t>» son « è »</a:t>
            </a:r>
          </a:p>
        </p:txBody>
      </p:sp>
      <p:sp>
        <p:nvSpPr>
          <p:cNvPr id="16" name="Rounded Rectangle 15"/>
          <p:cNvSpPr/>
          <p:nvPr/>
        </p:nvSpPr>
        <p:spPr>
          <a:xfrm>
            <a:off x="566928"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D   </a:t>
            </a:r>
            <a:r>
              <a:rPr sz="1900" b="1" i="0">
                <a:solidFill>
                  <a:srgbClr val="07734A"/>
                </a:solidFill>
                <a:latin typeface="Verdana"/>
              </a:rPr>
              <a:t>» son « é »</a:t>
            </a:r>
          </a:p>
        </p:txBody>
      </p:sp>
      <p:sp>
        <p:nvSpPr>
          <p:cNvPr id="20" name="Rounded Rectangle 19"/>
          <p:cNvSpPr/>
          <p:nvPr/>
        </p:nvSpPr>
        <p:spPr>
          <a:xfrm>
            <a:off x="6159855" y="2916428"/>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6937095" y="3071876"/>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M   </a:t>
            </a:r>
            <a:r>
              <a:rPr sz="1900" b="1" i="0">
                <a:solidFill>
                  <a:srgbClr val="07734A"/>
                </a:solidFill>
                <a:latin typeface="Verdana"/>
              </a:rPr>
              <a:t>» son « è »</a:t>
            </a:r>
          </a:p>
        </p:txBody>
      </p:sp>
      <p:sp>
        <p:nvSpPr>
          <p:cNvPr id="24" name="Rounded Rectangle 23"/>
          <p:cNvSpPr/>
          <p:nvPr/>
        </p:nvSpPr>
        <p:spPr>
          <a:xfrm>
            <a:off x="566928"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5</a:t>
            </a:r>
          </a:p>
        </p:txBody>
      </p:sp>
      <p:sp>
        <p:nvSpPr>
          <p:cNvPr id="27" name="TextBox 26"/>
          <p:cNvSpPr txBox="1"/>
          <p:nvPr/>
        </p:nvSpPr>
        <p:spPr>
          <a:xfrm>
            <a:off x="1344168"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P   </a:t>
            </a:r>
            <a:r>
              <a:rPr sz="1900" b="1" i="0">
                <a:solidFill>
                  <a:srgbClr val="07734A"/>
                </a:solidFill>
                <a:latin typeface="Verdana"/>
              </a:rPr>
              <a:t>» son « é »</a:t>
            </a:r>
          </a:p>
        </p:txBody>
      </p:sp>
      <p:sp>
        <p:nvSpPr>
          <p:cNvPr id="28" name="Rounded Rectangle 27"/>
          <p:cNvSpPr/>
          <p:nvPr/>
        </p:nvSpPr>
        <p:spPr>
          <a:xfrm>
            <a:off x="6159855" y="3693160"/>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6</a:t>
            </a:r>
          </a:p>
        </p:txBody>
      </p:sp>
      <p:sp>
        <p:nvSpPr>
          <p:cNvPr id="31" name="TextBox 30"/>
          <p:cNvSpPr txBox="1"/>
          <p:nvPr/>
        </p:nvSpPr>
        <p:spPr>
          <a:xfrm>
            <a:off x="6937095" y="3848608"/>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S   </a:t>
            </a:r>
            <a:r>
              <a:rPr sz="1900" b="1" i="0">
                <a:solidFill>
                  <a:srgbClr val="07734A"/>
                </a:solidFill>
                <a:latin typeface="Verdana"/>
              </a:rPr>
              <a:t>» son « è »</a:t>
            </a:r>
          </a:p>
        </p:txBody>
      </p:sp>
      <p:sp>
        <p:nvSpPr>
          <p:cNvPr id="32" name="Rounded Rectangle 31"/>
          <p:cNvSpPr/>
          <p:nvPr/>
        </p:nvSpPr>
        <p:spPr>
          <a:xfrm>
            <a:off x="566928"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unded Rectangle 32"/>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7</a:t>
            </a:r>
          </a:p>
        </p:txBody>
      </p:sp>
      <p:sp>
        <p:nvSpPr>
          <p:cNvPr id="35" name="TextBox 34"/>
          <p:cNvSpPr txBox="1"/>
          <p:nvPr/>
        </p:nvSpPr>
        <p:spPr>
          <a:xfrm>
            <a:off x="1344168"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T   </a:t>
            </a:r>
            <a:r>
              <a:rPr sz="1900" b="1" i="0">
                <a:solidFill>
                  <a:srgbClr val="07734A"/>
                </a:solidFill>
                <a:latin typeface="Verdana"/>
              </a:rPr>
              <a:t>» son « é »</a:t>
            </a:r>
          </a:p>
        </p:txBody>
      </p:sp>
      <p:sp>
        <p:nvSpPr>
          <p:cNvPr id="36" name="Rounded Rectangle 35"/>
          <p:cNvSpPr/>
          <p:nvPr/>
        </p:nvSpPr>
        <p:spPr>
          <a:xfrm>
            <a:off x="6159855" y="4469892"/>
            <a:ext cx="5464911" cy="648716"/>
          </a:xfrm>
          <a:prstGeom prst="roundRect">
            <a:avLst>
              <a:gd name="adj" fmla="val 22552"/>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unded Rectangle 36"/>
          <p:cNvSpPr/>
          <p:nvPr/>
        </p:nvSpPr>
        <p:spPr>
          <a:xfrm>
            <a:off x="6434175"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34175"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8</a:t>
            </a:r>
          </a:p>
        </p:txBody>
      </p:sp>
      <p:sp>
        <p:nvSpPr>
          <p:cNvPr id="39" name="TextBox 38"/>
          <p:cNvSpPr txBox="1"/>
          <p:nvPr/>
        </p:nvSpPr>
        <p:spPr>
          <a:xfrm>
            <a:off x="6937095" y="4625340"/>
            <a:ext cx="4504791"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lettre L   </a:t>
            </a:r>
            <a:r>
              <a:rPr sz="1900" b="1" i="0">
                <a:solidFill>
                  <a:srgbClr val="07734A"/>
                </a:solidFill>
                <a:latin typeface="Verdana"/>
              </a:rPr>
              <a:t>» son « è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DIALOGUE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Deux D, pas deux B</a:t>
            </a:r>
          </a:p>
        </p:txBody>
      </p:sp>
      <p:sp>
        <p:nvSpPr>
          <p:cNvPr id="7" name="TextBox 6"/>
          <p:cNvSpPr txBox="1"/>
          <p:nvPr/>
        </p:nvSpPr>
        <p:spPr>
          <a:xfrm>
            <a:off x="566928" y="173736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Écoutez, puis dites à quel moment il y a un doute.</a:t>
            </a:r>
          </a:p>
        </p:txBody>
      </p:sp>
      <p:sp>
        <p:nvSpPr>
          <p:cNvPr id="8" name="Rounded Rectangle 7"/>
          <p:cNvSpPr/>
          <p:nvPr/>
        </p:nvSpPr>
        <p:spPr>
          <a:xfrm>
            <a:off x="566928" y="2157984"/>
            <a:ext cx="11057839" cy="578104"/>
          </a:xfrm>
          <a:prstGeom prst="roundRect">
            <a:avLst>
              <a:gd name="adj" fmla="val 25307"/>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2322576"/>
            <a:ext cx="2539650" cy="303784"/>
          </a:xfrm>
          <a:prstGeom prst="rect">
            <a:avLst/>
          </a:prstGeom>
          <a:noFill/>
        </p:spPr>
        <p:txBody>
          <a:bodyPr wrap="square" lIns="0" rIns="0" tIns="0" bIns="0" anchor="t">
            <a:spAutoFit/>
          </a:bodyPr>
          <a:lstStyle/>
          <a:p>
            <a:pPr algn="l">
              <a:lnSpc>
                <a:spcPct val="135000"/>
              </a:lnSpc>
            </a:pPr>
            <a:r>
              <a:rPr sz="1400" b="1" i="0">
                <a:solidFill>
                  <a:srgbClr val="3B49A0"/>
                </a:solidFill>
                <a:latin typeface="Verdana"/>
              </a:rPr>
              <a:t>MME BOURGEOIS</a:t>
            </a:r>
          </a:p>
        </p:txBody>
      </p:sp>
      <p:sp>
        <p:nvSpPr>
          <p:cNvPr id="10" name="TextBox 9"/>
          <p:cNvSpPr txBox="1"/>
          <p:nvPr/>
        </p:nvSpPr>
        <p:spPr>
          <a:xfrm>
            <a:off x="3472338" y="2322576"/>
            <a:ext cx="7603788"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Haddad… Comment ça s'écrit ?</a:t>
            </a:r>
          </a:p>
        </p:txBody>
      </p:sp>
      <p:sp>
        <p:nvSpPr>
          <p:cNvPr id="11" name="Rounded Rectangle 10"/>
          <p:cNvSpPr/>
          <p:nvPr/>
        </p:nvSpPr>
        <p:spPr>
          <a:xfrm>
            <a:off x="566928" y="2818384"/>
            <a:ext cx="11057839" cy="578104"/>
          </a:xfrm>
          <a:prstGeom prst="roundRect">
            <a:avLst>
              <a:gd name="adj" fmla="val 25307"/>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32688" y="2982976"/>
            <a:ext cx="2539650" cy="303784"/>
          </a:xfrm>
          <a:prstGeom prst="rect">
            <a:avLst/>
          </a:prstGeom>
          <a:noFill/>
        </p:spPr>
        <p:txBody>
          <a:bodyPr wrap="square" lIns="0" rIns="0" tIns="0" bIns="0" anchor="t">
            <a:spAutoFit/>
          </a:bodyPr>
          <a:lstStyle/>
          <a:p>
            <a:pPr algn="l">
              <a:lnSpc>
                <a:spcPct val="135000"/>
              </a:lnSpc>
            </a:pPr>
            <a:r>
              <a:rPr sz="1400" b="1" i="0">
                <a:solidFill>
                  <a:srgbClr val="3B49A0"/>
                </a:solidFill>
                <a:latin typeface="Verdana"/>
              </a:rPr>
              <a:t>YARA</a:t>
            </a:r>
          </a:p>
        </p:txBody>
      </p:sp>
      <p:sp>
        <p:nvSpPr>
          <p:cNvPr id="13" name="TextBox 12"/>
          <p:cNvSpPr txBox="1"/>
          <p:nvPr/>
        </p:nvSpPr>
        <p:spPr>
          <a:xfrm>
            <a:off x="3472338" y="2982976"/>
            <a:ext cx="7603788"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 A, deux D, A, D.</a:t>
            </a:r>
          </a:p>
        </p:txBody>
      </p:sp>
      <p:sp>
        <p:nvSpPr>
          <p:cNvPr id="14" name="Rounded Rectangle 13"/>
          <p:cNvSpPr/>
          <p:nvPr/>
        </p:nvSpPr>
        <p:spPr>
          <a:xfrm>
            <a:off x="566928" y="3478784"/>
            <a:ext cx="11057839" cy="578104"/>
          </a:xfrm>
          <a:prstGeom prst="roundRect">
            <a:avLst>
              <a:gd name="adj" fmla="val 25307"/>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32688" y="3643376"/>
            <a:ext cx="2539650" cy="303784"/>
          </a:xfrm>
          <a:prstGeom prst="rect">
            <a:avLst/>
          </a:prstGeom>
          <a:noFill/>
        </p:spPr>
        <p:txBody>
          <a:bodyPr wrap="square" lIns="0" rIns="0" tIns="0" bIns="0" anchor="t">
            <a:spAutoFit/>
          </a:bodyPr>
          <a:lstStyle/>
          <a:p>
            <a:pPr algn="l">
              <a:lnSpc>
                <a:spcPct val="135000"/>
              </a:lnSpc>
            </a:pPr>
            <a:r>
              <a:rPr sz="1400" b="1" i="0">
                <a:solidFill>
                  <a:srgbClr val="3B49A0"/>
                </a:solidFill>
                <a:latin typeface="Verdana"/>
              </a:rPr>
              <a:t>MME BOURGEOIS</a:t>
            </a:r>
          </a:p>
        </p:txBody>
      </p:sp>
      <p:sp>
        <p:nvSpPr>
          <p:cNvPr id="16" name="TextBox 15"/>
          <p:cNvSpPr txBox="1"/>
          <p:nvPr/>
        </p:nvSpPr>
        <p:spPr>
          <a:xfrm>
            <a:off x="3472338" y="3643376"/>
            <a:ext cx="7603788"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Deux D ? Doucement, s'il vous plaît.</a:t>
            </a:r>
          </a:p>
        </p:txBody>
      </p:sp>
      <p:sp>
        <p:nvSpPr>
          <p:cNvPr id="17" name="Rounded Rectangle 16"/>
          <p:cNvSpPr/>
          <p:nvPr/>
        </p:nvSpPr>
        <p:spPr>
          <a:xfrm>
            <a:off x="566928" y="4139183"/>
            <a:ext cx="11057839" cy="578104"/>
          </a:xfrm>
          <a:prstGeom prst="roundRect">
            <a:avLst>
              <a:gd name="adj" fmla="val 25307"/>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32688" y="4303775"/>
            <a:ext cx="2539650" cy="303784"/>
          </a:xfrm>
          <a:prstGeom prst="rect">
            <a:avLst/>
          </a:prstGeom>
          <a:noFill/>
        </p:spPr>
        <p:txBody>
          <a:bodyPr wrap="square" lIns="0" rIns="0" tIns="0" bIns="0" anchor="t">
            <a:spAutoFit/>
          </a:bodyPr>
          <a:lstStyle/>
          <a:p>
            <a:pPr algn="l">
              <a:lnSpc>
                <a:spcPct val="135000"/>
              </a:lnSpc>
            </a:pPr>
            <a:r>
              <a:rPr sz="1400" b="1" i="0">
                <a:solidFill>
                  <a:srgbClr val="3B49A0"/>
                </a:solidFill>
                <a:latin typeface="Verdana"/>
              </a:rPr>
              <a:t>YARA</a:t>
            </a:r>
          </a:p>
        </p:txBody>
      </p:sp>
      <p:sp>
        <p:nvSpPr>
          <p:cNvPr id="19" name="TextBox 18"/>
          <p:cNvSpPr txBox="1"/>
          <p:nvPr/>
        </p:nvSpPr>
        <p:spPr>
          <a:xfrm>
            <a:off x="3472338" y="4303775"/>
            <a:ext cx="7603788"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H. A. D. D. A. D.</a:t>
            </a:r>
          </a:p>
        </p:txBody>
      </p:sp>
      <p:sp>
        <p:nvSpPr>
          <p:cNvPr id="20" name="Rounded Rectangle 19"/>
          <p:cNvSpPr/>
          <p:nvPr/>
        </p:nvSpPr>
        <p:spPr>
          <a:xfrm>
            <a:off x="566928" y="4799584"/>
            <a:ext cx="11057839" cy="578104"/>
          </a:xfrm>
          <a:prstGeom prst="roundRect">
            <a:avLst>
              <a:gd name="adj" fmla="val 25307"/>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32688" y="4964176"/>
            <a:ext cx="2539650" cy="303784"/>
          </a:xfrm>
          <a:prstGeom prst="rect">
            <a:avLst/>
          </a:prstGeom>
          <a:noFill/>
        </p:spPr>
        <p:txBody>
          <a:bodyPr wrap="square" lIns="0" rIns="0" tIns="0" bIns="0" anchor="t">
            <a:spAutoFit/>
          </a:bodyPr>
          <a:lstStyle/>
          <a:p>
            <a:pPr algn="l">
              <a:lnSpc>
                <a:spcPct val="135000"/>
              </a:lnSpc>
            </a:pPr>
            <a:r>
              <a:rPr sz="1400" b="1" i="0">
                <a:solidFill>
                  <a:srgbClr val="3B49A0"/>
                </a:solidFill>
                <a:latin typeface="Verdana"/>
              </a:rPr>
              <a:t>MME BOURGEOIS</a:t>
            </a:r>
          </a:p>
        </p:txBody>
      </p:sp>
      <p:sp>
        <p:nvSpPr>
          <p:cNvPr id="22" name="TextBox 21"/>
          <p:cNvSpPr txBox="1"/>
          <p:nvPr/>
        </p:nvSpPr>
        <p:spPr>
          <a:xfrm>
            <a:off x="3472338" y="4964176"/>
            <a:ext cx="7603788"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B comme bonjour ou D comme dimanche ?</a:t>
            </a:r>
          </a:p>
        </p:txBody>
      </p:sp>
      <p:sp>
        <p:nvSpPr>
          <p:cNvPr id="23" name="Rounded Rectangle 22"/>
          <p:cNvSpPr/>
          <p:nvPr/>
        </p:nvSpPr>
        <p:spPr>
          <a:xfrm>
            <a:off x="566928" y="5459984"/>
            <a:ext cx="11057839" cy="578104"/>
          </a:xfrm>
          <a:prstGeom prst="roundRect">
            <a:avLst>
              <a:gd name="adj" fmla="val 25307"/>
            </a:avLst>
          </a:prstGeom>
          <a:solidFill>
            <a:srgbClr val="E8EA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2688" y="5624576"/>
            <a:ext cx="2539650" cy="303784"/>
          </a:xfrm>
          <a:prstGeom prst="rect">
            <a:avLst/>
          </a:prstGeom>
          <a:noFill/>
        </p:spPr>
        <p:txBody>
          <a:bodyPr wrap="square" lIns="0" rIns="0" tIns="0" bIns="0" anchor="t">
            <a:spAutoFit/>
          </a:bodyPr>
          <a:lstStyle/>
          <a:p>
            <a:pPr algn="l">
              <a:lnSpc>
                <a:spcPct val="135000"/>
              </a:lnSpc>
            </a:pPr>
            <a:r>
              <a:rPr sz="1400" b="1" i="0">
                <a:solidFill>
                  <a:srgbClr val="3B49A0"/>
                </a:solidFill>
                <a:latin typeface="Verdana"/>
              </a:rPr>
              <a:t>YARA</a:t>
            </a:r>
          </a:p>
        </p:txBody>
      </p:sp>
      <p:sp>
        <p:nvSpPr>
          <p:cNvPr id="25" name="TextBox 24"/>
          <p:cNvSpPr txBox="1"/>
          <p:nvPr/>
        </p:nvSpPr>
        <p:spPr>
          <a:xfrm>
            <a:off x="3472338" y="5624576"/>
            <a:ext cx="7603788" cy="303784"/>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D comme dimanche.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3B49A0"/>
                </a:solidFill>
                <a:latin typeface="Verdana"/>
              </a:rPr>
              <a:t>PRATIQUE · À DEUX</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jeu des noms</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Un élève épelle, l'autre écrit. Puis on échange.</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1</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2</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3</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E8EA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3B49A0"/>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Étape 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nom de famille lettre par lettre, et un mot pour deux lettres difficiles.</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H, A, deux D, A, D</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B comme bonjour</a:t>
            </a:r>
          </a:p>
        </p:txBody>
      </p:sp>
      <p:sp>
        <p:nvSpPr>
          <p:cNvPr id="12" name="Rounded Rectangle 11"/>
          <p:cNvSpPr/>
          <p:nvPr/>
        </p:nvSpPr>
        <p:spPr>
          <a:xfrm>
            <a:off x="566928" y="5429504"/>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5584952"/>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V comme vendredi</a:t>
            </a:r>
          </a:p>
        </p:txBody>
      </p:sp>
      <p:sp>
        <p:nvSpPr>
          <p:cNvPr id="14" name="TextBox 13"/>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A2 · Je m'inscris au cours de français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