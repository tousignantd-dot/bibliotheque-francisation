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Dernière séance du module. Rendre les billets de D2 : la demande et le délai y sont déjà écrits. Prévoir quarante minutes d'écriture réelle et garder le bilan pour la fin.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l'intention de production écrite de la situation, telle que le programme la nomme : rédiger une lettre de réclamation. Aucun détour par les attentes de fin de cours n'est nécessaire ici.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troisième question est la bonne : un délai commence. C'est ce qui distingue une mise en demeure d'une lettre de plainte, et c'est ce qui la rend efficace.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et à laisser affichée pendant l'écriture. Elle remplace toute autre consigne, et l'objet se rédige en dernier.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sont des modèles de forme, pas de contenu : chacun écrit les siennes avec ses propres dates. Le dire explicitement, sinon quinze lettres identiques arrivent à la correction.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C'est le critère principal de la correction : on évalue ce que la lettre demande et ce qu'elle prouve, pas ce qu'elle ressent.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Repasser dans les rangs à mi-parcours en ne cherchant que cela : c'est l'erreur la plus fréquente, et elle se corrige en biffant deux lignes.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 paires, cinq minutes. Les seize mots regroupés deux à deux par le lien qui les unit : c'est ainsi qu'ils se retiennent, et c'est ainsi qu'ils reviennent dans les cartes mémoire.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Cinq minutes, à la toute fin. Faire lire trois billets à voix haute. Rappeler que l'autoévaluation reste ouverte à la maison, et que l'étiquette d'une auto d'occasion se demande avant de signer.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SÉANCE E2  ·  MODULE 6</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Écris ta mise en demeure</a:t>
            </a:r>
          </a:p>
        </p:txBody>
      </p:sp>
      <p:sp>
        <p:nvSpPr>
          <p:cNvPr id="5" name="Rounded Rectangle 4"/>
          <p:cNvSpPr/>
          <p:nvPr/>
        </p:nvSpPr>
        <p:spPr>
          <a:xfrm>
            <a:off x="566928" y="3794760"/>
            <a:ext cx="9960559" cy="1394968"/>
          </a:xfrm>
          <a:prstGeom prst="roundRect">
            <a:avLst>
              <a:gd name="adj" fmla="val 1048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7823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Dernière séance : douze à seize phrases, en cinq paragraphes courts. Les faits, le droit, la demande, le délai, les pièces.</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Réclamer après l'achat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Réclamer après l'achat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rédiger une lettre formelle de douze à seize phrases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découper le texte en cinq paragraphes, un par fonction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employer deux connecteurs en tête de paragraphe et un subjonctif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évaluer ce qu'on est maintenant capable de faire.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Réclamer après l'achat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MISE EN SITUATION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Pourquoi écrire, puisqu'on s'est déjà déplacé au comptoir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A5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 reste-t-il d'une conversation, trois semaines plus tard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A5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Qui lira la lettre, et que fera-t-il de plus que la personne au comptoir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A5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qui commence le jour où la lettre arrive ?</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A5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 faut-il garder, une fois la lettre partie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Réclamer après l'achat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Cinq paragraphes, cinq travaux</a:t>
            </a:r>
          </a:p>
        </p:txBody>
      </p:sp>
      <p:sp>
        <p:nvSpPr>
          <p:cNvPr id="7" name="Rounded Rectangle 6"/>
          <p:cNvSpPr/>
          <p:nvPr/>
        </p:nvSpPr>
        <p:spPr>
          <a:xfrm>
            <a:off x="566928" y="1810512"/>
            <a:ext cx="11057839" cy="3877056"/>
          </a:xfrm>
          <a:prstGeom prst="roundRect">
            <a:avLst>
              <a:gd name="adj" fmla="val 377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PARAGRAPHE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QU'ON Y MET</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1 · L'achat</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 date, le bien, le prix</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2 · La panne</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 chronologie, une date par phrase</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3 · Le droit</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 garantie, et la preuve qu'on était dedans</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4 · La demande</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une seule, avec « à vos frais »</a:t>
            </a:r>
          </a:p>
        </p:txBody>
      </p:sp>
      <p:sp>
        <p:nvSpPr>
          <p:cNvPr id="21" name="Rectangle 20"/>
          <p:cNvSpPr/>
          <p:nvPr/>
        </p:nvSpPr>
        <p:spPr>
          <a:xfrm>
            <a:off x="932688" y="442569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553712"/>
            <a:ext cx="3291492"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5 · Le délai</a:t>
            </a:r>
          </a:p>
        </p:txBody>
      </p:sp>
      <p:sp>
        <p:nvSpPr>
          <p:cNvPr id="23" name="TextBox 22"/>
          <p:cNvSpPr txBox="1"/>
          <p:nvPr/>
        </p:nvSpPr>
        <p:spPr>
          <a:xfrm>
            <a:off x="4443636" y="4553712"/>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dix jours, et la suite annoncée</a:t>
            </a:r>
          </a:p>
        </p:txBody>
      </p:sp>
      <p:sp>
        <p:nvSpPr>
          <p:cNvPr id="24" name="Rectangle 23"/>
          <p:cNvSpPr/>
          <p:nvPr/>
        </p:nvSpPr>
        <p:spPr>
          <a:xfrm>
            <a:off x="932688" y="496519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32688" y="5093207"/>
            <a:ext cx="3291492"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Les pièces</a:t>
            </a:r>
          </a:p>
        </p:txBody>
      </p:sp>
      <p:sp>
        <p:nvSpPr>
          <p:cNvPr id="26" name="TextBox 25"/>
          <p:cNvSpPr txBox="1"/>
          <p:nvPr/>
        </p:nvSpPr>
        <p:spPr>
          <a:xfrm>
            <a:off x="4443636" y="5093207"/>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énumérées à la fin, sans commentaire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Réclamer après l'achat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PRODUCTION ÉCRITE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Quatre phrases outils du module</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72110"/>
          </a:xfrm>
          <a:prstGeom prst="rect">
            <a:avLst/>
          </a:prstGeom>
          <a:noFill/>
        </p:spPr>
        <p:txBody>
          <a:bodyPr wrap="square" lIns="0" rIns="0" tIns="0" bIns="0" anchor="t">
            <a:spAutoFit/>
          </a:bodyPr>
          <a:lstStyle/>
          <a:p>
            <a:pPr algn="l">
              <a:lnSpc>
                <a:spcPct val="118000"/>
              </a:lnSpc>
            </a:pPr>
            <a:r>
              <a:rPr sz="2300" b="1" i="0">
                <a:solidFill>
                  <a:srgbClr val="A5335F"/>
                </a:solidFill>
                <a:latin typeface="Verdana"/>
              </a:rPr>
              <a:t>Le connecteur d'ajout</a:t>
            </a:r>
          </a:p>
        </p:txBody>
      </p:sp>
      <p:sp>
        <p:nvSpPr>
          <p:cNvPr id="9" name="TextBox 8"/>
          <p:cNvSpPr txBox="1"/>
          <p:nvPr/>
        </p:nvSpPr>
        <p:spPr>
          <a:xfrm>
            <a:off x="886968" y="2484373"/>
            <a:ext cx="4806543" cy="1104646"/>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 Je vous rappelle en outre que la garantie légale s'applique. »</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72110"/>
          </a:xfrm>
          <a:prstGeom prst="rect">
            <a:avLst/>
          </a:prstGeom>
          <a:noFill/>
        </p:spPr>
        <p:txBody>
          <a:bodyPr wrap="square" lIns="0" rIns="0" tIns="0" bIns="0" anchor="t">
            <a:spAutoFit/>
          </a:bodyPr>
          <a:lstStyle/>
          <a:p>
            <a:pPr algn="l">
              <a:lnSpc>
                <a:spcPct val="118000"/>
              </a:lnSpc>
            </a:pPr>
            <a:r>
              <a:rPr sz="2300" b="1" i="0">
                <a:solidFill>
                  <a:srgbClr val="A5335F"/>
                </a:solidFill>
                <a:latin typeface="Verdana"/>
              </a:rPr>
              <a:t>Le connecteur de conclusion</a:t>
            </a:r>
          </a:p>
        </p:txBody>
      </p:sp>
      <p:sp>
        <p:nvSpPr>
          <p:cNvPr id="12" name="TextBox 11"/>
          <p:cNvSpPr txBox="1"/>
          <p:nvPr/>
        </p:nvSpPr>
        <p:spPr>
          <a:xfrm>
            <a:off x="6498183" y="2484373"/>
            <a:ext cx="4806543" cy="1104646"/>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 En conséquence, je vous demande de procéder, à vos frais, à… »</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72110"/>
          </a:xfrm>
          <a:prstGeom prst="rect">
            <a:avLst/>
          </a:prstGeom>
          <a:noFill/>
        </p:spPr>
        <p:txBody>
          <a:bodyPr wrap="square" lIns="0" rIns="0" tIns="0" bIns="0" anchor="t">
            <a:spAutoFit/>
          </a:bodyPr>
          <a:lstStyle/>
          <a:p>
            <a:pPr algn="l">
              <a:lnSpc>
                <a:spcPct val="118000"/>
              </a:lnSpc>
            </a:pPr>
            <a:r>
              <a:rPr sz="2300" b="1" i="0">
                <a:solidFill>
                  <a:srgbClr val="A5335F"/>
                </a:solidFill>
                <a:latin typeface="Verdana"/>
              </a:rPr>
              <a:t>Le délai</a:t>
            </a:r>
          </a:p>
        </p:txBody>
      </p:sp>
      <p:sp>
        <p:nvSpPr>
          <p:cNvPr id="15" name="TextBox 14"/>
          <p:cNvSpPr txBox="1"/>
          <p:nvPr/>
        </p:nvSpPr>
        <p:spPr>
          <a:xfrm>
            <a:off x="886968" y="4701794"/>
            <a:ext cx="4806543" cy="1104646"/>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 Vous disposez d'un délai de dix jours à compter de la réception de la présente. »</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72110"/>
          </a:xfrm>
          <a:prstGeom prst="rect">
            <a:avLst/>
          </a:prstGeom>
          <a:noFill/>
        </p:spPr>
        <p:txBody>
          <a:bodyPr wrap="square" lIns="0" rIns="0" tIns="0" bIns="0" anchor="t">
            <a:spAutoFit/>
          </a:bodyPr>
          <a:lstStyle/>
          <a:p>
            <a:pPr algn="l">
              <a:lnSpc>
                <a:spcPct val="118000"/>
              </a:lnSpc>
            </a:pPr>
            <a:r>
              <a:rPr sz="2300" b="1" i="0">
                <a:solidFill>
                  <a:srgbClr val="A5335F"/>
                </a:solidFill>
                <a:latin typeface="Verdana"/>
              </a:rPr>
              <a:t>La suite annoncée</a:t>
            </a:r>
          </a:p>
        </p:txBody>
      </p:sp>
      <p:sp>
        <p:nvSpPr>
          <p:cNvPr id="18" name="TextBox 17"/>
          <p:cNvSpPr txBox="1"/>
          <p:nvPr/>
        </p:nvSpPr>
        <p:spPr>
          <a:xfrm>
            <a:off x="6498183" y="4701794"/>
            <a:ext cx="4806543" cy="1104646"/>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 À défaut, je m'adresserai à la Division des petites créances.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Réclamer après l'achat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ÉCRIVEZ CE QUI S'EST PASSÉ, PAS CE QUE VOUS RESSENTEZ</a:t>
            </a:r>
          </a:p>
        </p:txBody>
      </p:sp>
      <p:sp>
        <p:nvSpPr>
          <p:cNvPr id="6" name="Rounded Rectangle 5"/>
          <p:cNvSpPr/>
          <p:nvPr/>
        </p:nvSpPr>
        <p:spPr>
          <a:xfrm>
            <a:off x="566928" y="1225296"/>
            <a:ext cx="11057839" cy="2494788"/>
          </a:xfrm>
          <a:prstGeom prst="roundRect">
            <a:avLst>
              <a:gd name="adj" fmla="val 5864"/>
            </a:avLst>
          </a:prstGeom>
          <a:solidFill>
            <a:srgbClr val="FCE9F0"/>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671828"/>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Une lettre qui donne des dates, un montant et un délai obtient une réparation.</a:t>
            </a:r>
          </a:p>
        </p:txBody>
      </p:sp>
      <p:sp>
        <p:nvSpPr>
          <p:cNvPr id="8" name="Rounded Rectangle 7"/>
          <p:cNvSpPr/>
          <p:nvPr/>
        </p:nvSpPr>
        <p:spPr>
          <a:xfrm>
            <a:off x="566928" y="3994404"/>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268724"/>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 J'ai été très déçue » devient « le véhicule a servi vingt-quatre jours ». Le second dit la même chose et se prouve. Et « vous le regretterez » devient « je m'adresserai aux petites créances » : un fait annoncé au futur pèse plus qu'une menace, et il ne peut pas se retourner contre son auteur.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Réclamer après l'achat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PIÈGE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glisser une deuxième demande</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garder l'autre pour la lettre suivante</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Réparation et remboursement de la garantie prolongée sont deux dossiers. Ensemble dans la même lettre, ils se négocient l'un contre l'autre, et le commerçant accordera le moins cher des deux. Une demande, une lettre.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Réclamer après l'achat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VOCABULAIRE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seize mots du module, un dernier tour</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Donnez la définition de mémoire, puis vérifiez avec les cartes.</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auto d'occasion · l'odomètre</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les frais de crédit · l'obligation totale</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transmission · un cognement</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diagnostic · un témoin lumineux</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garantie légale · l'usure normale</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mise en demeure · un délai raisonnable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Réclamer après l'achat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seize mots du module, un dernier tour</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auto d'occasion · l'odomètre   </a:t>
            </a:r>
            <a:r>
              <a:rPr sz="1400" b="1" i="0">
                <a:solidFill>
                  <a:srgbClr val="07734A"/>
                </a:solidFill>
                <a:latin typeface="Verdana"/>
              </a:rPr>
              <a:t>» le bien, et le chiffre du compteur</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les frais de crédit · l'obligation totale   </a:t>
            </a:r>
            <a:r>
              <a:rPr sz="1400" b="1" i="0">
                <a:solidFill>
                  <a:srgbClr val="07734A"/>
                </a:solidFill>
                <a:latin typeface="Verdana"/>
              </a:rPr>
              <a:t>» ce que le crédit coûte, et le vrai total</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transmission · un cognement   </a:t>
            </a:r>
            <a:r>
              <a:rPr sz="1400" b="1" i="0">
                <a:solidFill>
                  <a:srgbClr val="07734A"/>
                </a:solidFill>
                <a:latin typeface="Verdana"/>
              </a:rPr>
              <a:t>» la pièce, et le bruit qu'elle fait</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diagnostic · un témoin lumineux   </a:t>
            </a:r>
            <a:r>
              <a:rPr sz="1400" b="1" i="0">
                <a:solidFill>
                  <a:srgbClr val="07734A"/>
                </a:solidFill>
                <a:latin typeface="Verdana"/>
              </a:rPr>
              <a:t>» ce que le garage établit, et ce qui s'allume</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garantie légale · l'usure normale   </a:t>
            </a:r>
            <a:r>
              <a:rPr sz="1400" b="1" i="0">
                <a:solidFill>
                  <a:srgbClr val="07734A"/>
                </a:solidFill>
                <a:latin typeface="Verdana"/>
              </a:rPr>
              <a:t>» ce que la loi donne, et ce qu'on vous répond</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mise en demeure · un délai raisonnable   </a:t>
            </a:r>
            <a:r>
              <a:rPr sz="1400" b="1" i="0">
                <a:solidFill>
                  <a:srgbClr val="07734A"/>
                </a:solidFill>
                <a:latin typeface="Verdana"/>
              </a:rPr>
              <a:t>» la lettre, et le temps qu'elle accorde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Réclamer après l'achat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Qu'est-ce que tu es capable de faire aujourd'hui, que tu ne faisais pas avant ce module ?</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phrase, sur un achat ou ailleurs.</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L'autoévaluation en seize énoncés est dans le module.</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Réclamer après l'achat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