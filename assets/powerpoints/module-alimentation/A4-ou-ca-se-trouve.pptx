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visuelle et courte. Elle clôt le bloc A : à la fin, chacun doit pouvoir dire où se trouve n'importe quel produit de sa liste.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dernière piste ouvre une vraie discussion : au comptoir, on obtient la quantité exacte et souvent une meilleure coupe, pour le même prix au poids.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dernière carte donne un conseil pratique que peu de gens connaissent : l'ordre de la tournée compte.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nommer les quatre comptoirs de l'épicerie la plus proche de l'école. Plusieurs élèves n'en ont jamais utilisé un seul.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trouver d'autres exemples de rangement contre-intuitif : le lait de coco, les épices, les nouilles asiatiques.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à photographier. Faire produire trois questions précises par trois élèves.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Exactement la faute de Farida dans le dialogue de A1. Le rappeler.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six mots sont dans le banc de vocabulaire du module.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Bilan du bloc A. Les points d'interrogation font une excellente ouverture de la séance suivante.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SÉANCE A4  ·  MODULE 14</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Où ça se trouve</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Huit endroits d'une épicerie. Savoir lequel sert à quoi, c'est la moitié du temps gagné — et c'est ce qui permet de poser une question précise quand on ne trouve pas.</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50 minutes  ·  Faire l'épicerie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Faire l'épicerie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nommer huit endroits d'une épicerie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savoir ce qui se vend au comptoir et ce qui se prend soi-même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employer l'article juste : une allée, le comptoir, la balance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poser une question précise quand je ne trouve pas.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Faire l'épicerie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 peut-on acheter ici, et comment ?</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omptoir-boucherie.jpg"/>
          <p:cNvPicPr>
            <a:picLocks noChangeAspect="1"/>
          </p:cNvPicPr>
          <p:nvPr/>
        </p:nvPicPr>
        <p:blipFill>
          <a:blip r:embed="rId2"/>
          <a:stretch>
            <a:fillRect/>
          </a:stretch>
        </p:blipFill>
        <p:spPr>
          <a:xfrm>
            <a:off x="7644383" y="2019452"/>
            <a:ext cx="3760927" cy="3760927"/>
          </a:xfrm>
          <a:prstGeom prst="rect">
            <a:avLst/>
          </a:prstGeom>
        </p:spPr>
      </p:pic>
      <p:sp>
        <p:nvSpPr>
          <p:cNvPr id="9" name="Rounded Rectangle 8"/>
          <p:cNvSpPr/>
          <p:nvPr/>
        </p:nvSpPr>
        <p:spPr>
          <a:xfrm>
            <a:off x="566928" y="1856232"/>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Se sert-on soi-même, ou faut-il demander ?</a:t>
            </a:r>
          </a:p>
        </p:txBody>
      </p:sp>
      <p:sp>
        <p:nvSpPr>
          <p:cNvPr id="12" name="Rounded Rectangle 11"/>
          <p:cNvSpPr/>
          <p:nvPr/>
        </p:nvSpPr>
        <p:spPr>
          <a:xfrm>
            <a:off x="566928" y="2642108"/>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2751836"/>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2824988"/>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Comment dit-on la quantité qu'on veut ?</a:t>
            </a:r>
          </a:p>
        </p:txBody>
      </p:sp>
      <p:sp>
        <p:nvSpPr>
          <p:cNvPr id="15" name="Rounded Rectangle 14"/>
          <p:cNvSpPr/>
          <p:nvPr/>
        </p:nvSpPr>
        <p:spPr>
          <a:xfrm>
            <a:off x="566928" y="3427984"/>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3537712"/>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3610864"/>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À quoi sert la balance ?</a:t>
            </a:r>
          </a:p>
        </p:txBody>
      </p:sp>
      <p:sp>
        <p:nvSpPr>
          <p:cNvPr id="18" name="Rounded Rectangle 17"/>
          <p:cNvSpPr/>
          <p:nvPr/>
        </p:nvSpPr>
        <p:spPr>
          <a:xfrm>
            <a:off x="566928" y="4213860"/>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4323588"/>
            <a:ext cx="50292" cy="821944"/>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4396740"/>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plus cher qu'un plateau déjà emballé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Faire l'épicerie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CE QU'ON PREND SOI-MÊME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Quatre rayons en libre-service</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les allées</a:t>
            </a:r>
          </a:p>
        </p:txBody>
      </p:sp>
      <p:sp>
        <p:nvSpPr>
          <p:cNvPr id="9" name="TextBox 8"/>
          <p:cNvSpPr txBox="1"/>
          <p:nvPr/>
        </p:nvSpPr>
        <p:spPr>
          <a:xfrm>
            <a:off x="886968"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Conserves, pâtes, riz, produits secs. On se sert et on met dans le panier.</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les fruits et légumes</a:t>
            </a:r>
          </a:p>
        </p:txBody>
      </p:sp>
      <p:sp>
        <p:nvSpPr>
          <p:cNvPr id="12" name="TextBox 11"/>
          <p:cNvSpPr txBox="1"/>
          <p:nvPr/>
        </p:nvSpPr>
        <p:spPr>
          <a:xfrm>
            <a:off x="6498183"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On choisit à la pièce ou au poids. La balance du rayon donne le prix.</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les produits d'entretien</a:t>
            </a:r>
          </a:p>
        </p:txBody>
      </p:sp>
      <p:sp>
        <p:nvSpPr>
          <p:cNvPr id="15" name="TextBox 14"/>
          <p:cNvSpPr txBox="1"/>
          <p:nvPr/>
        </p:nvSpPr>
        <p:spPr>
          <a:xfrm>
            <a:off x="886968"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Savons, nettoyants, papier. Souvent la dernière allée du magasin.</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les surgelés</a:t>
            </a:r>
          </a:p>
        </p:txBody>
      </p:sp>
      <p:sp>
        <p:nvSpPr>
          <p:cNvPr id="18" name="TextBox 17"/>
          <p:cNvSpPr txBox="1"/>
          <p:nvPr/>
        </p:nvSpPr>
        <p:spPr>
          <a:xfrm>
            <a:off x="6498183"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Au fond, dans les congélateurs. À prendre en dernier pour qu'ils restent froids.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Faire l'épicerie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CE QU'ON DEMANDE À QUELQU'UN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Quatre comptoirs</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la boucherie</a:t>
            </a:r>
          </a:p>
        </p:txBody>
      </p:sp>
      <p:sp>
        <p:nvSpPr>
          <p:cNvPr id="9" name="TextBox 8"/>
          <p:cNvSpPr txBox="1"/>
          <p:nvPr/>
        </p:nvSpPr>
        <p:spPr>
          <a:xfrm>
            <a:off x="886968"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Viandes et volailles, vendues au poids. On dit ce qu'on veut et combien.</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la poissonnerie</a:t>
            </a:r>
          </a:p>
        </p:txBody>
      </p:sp>
      <p:sp>
        <p:nvSpPr>
          <p:cNvPr id="12" name="TextBox 11"/>
          <p:cNvSpPr txBox="1"/>
          <p:nvPr/>
        </p:nvSpPr>
        <p:spPr>
          <a:xfrm>
            <a:off x="6498183"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Poisson frais sur la glace. On peut demander de le vider ou de l'écailler.</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la charcuterie</a:t>
            </a:r>
          </a:p>
        </p:txBody>
      </p:sp>
      <p:sp>
        <p:nvSpPr>
          <p:cNvPr id="15" name="TextBox 14"/>
          <p:cNvSpPr txBox="1"/>
          <p:nvPr/>
        </p:nvSpPr>
        <p:spPr>
          <a:xfrm>
            <a:off x="886968"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Jambons, fromages, tranchés devant vous. On précise mince ou épais.</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la boulangerie</a:t>
            </a:r>
          </a:p>
        </p:txBody>
      </p:sp>
      <p:sp>
        <p:nvSpPr>
          <p:cNvPr id="18" name="TextBox 17"/>
          <p:cNvSpPr txBox="1"/>
          <p:nvPr/>
        </p:nvSpPr>
        <p:spPr>
          <a:xfrm>
            <a:off x="6498183"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Pains et pâtisseries. Souvent en libre-service, mais avec un comptoir pour les commandes.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Faire l'épicerie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Où chercher quoi</a:t>
            </a:r>
          </a:p>
        </p:txBody>
      </p:sp>
      <p:sp>
        <p:nvSpPr>
          <p:cNvPr id="7" name="Rounded Rectangle 6"/>
          <p:cNvSpPr/>
          <p:nvPr/>
        </p:nvSpPr>
        <p:spPr>
          <a:xfrm>
            <a:off x="566928" y="1810512"/>
            <a:ext cx="11057839" cy="2798064"/>
          </a:xfrm>
          <a:prstGeom prst="roundRect">
            <a:avLst>
              <a:gd name="adj" fmla="val 52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PRODUIT</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OÙ LE TROUVER</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De la pâte de tomate</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avec les sauces, pas avec les légumes</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Du poulet frais</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au comptoir de la boucherie</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Du savon à vaisselle</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avec les produits d'entretien</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Du riz en grand format</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en bas des étagères, allée des produits secs</a:t>
            </a:r>
          </a:p>
        </p:txBody>
      </p:sp>
      <p:sp>
        <p:nvSpPr>
          <p:cNvPr id="21" name="Rounded Rectangle 20"/>
          <p:cNvSpPr/>
          <p:nvPr/>
        </p:nvSpPr>
        <p:spPr>
          <a:xfrm>
            <a:off x="566928" y="4846320"/>
            <a:ext cx="11057839" cy="1175004"/>
          </a:xfrm>
          <a:prstGeom prst="roundRect">
            <a:avLst>
              <a:gd name="adj" fmla="val 12451"/>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102352"/>
            <a:ext cx="10234879" cy="71780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La première ligne est le piège classique : la logique du magasin n'est pas celle du cuisinier.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Faire l'épicerie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LA QUESTION PRÉCISE</a:t>
            </a:r>
          </a:p>
        </p:txBody>
      </p:sp>
      <p:sp>
        <p:nvSpPr>
          <p:cNvPr id="6" name="Rounded Rectangle 5"/>
          <p:cNvSpPr/>
          <p:nvPr/>
        </p:nvSpPr>
        <p:spPr>
          <a:xfrm>
            <a:off x="566928" y="1225296"/>
            <a:ext cx="11057839" cy="1967991"/>
          </a:xfrm>
          <a:prstGeom prst="roundRect">
            <a:avLst>
              <a:gd name="adj" fmla="val 7434"/>
            </a:avLst>
          </a:prstGeom>
          <a:solidFill>
            <a:srgbClr val="DCF2E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Nommez le produit exactement, pas la catégorie.</a:t>
            </a:r>
          </a:p>
        </p:txBody>
      </p:sp>
      <p:sp>
        <p:nvSpPr>
          <p:cNvPr id="8" name="Rounded Rectangle 7"/>
          <p:cNvSpPr/>
          <p:nvPr/>
        </p:nvSpPr>
        <p:spPr>
          <a:xfrm>
            <a:off x="566928" y="3467607"/>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 Où sont les sauces ? » obtient une allée. « Je cherche de la pâte de tomate » obtient l'endroit exact, et souvent une comparaison de marques en prime. Nommer le produit, c'est obtenir une réponse utilisable.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Faire l'épicerie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CHERCHER DANS LA MAUVAISE LOGIQUE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300" b="1" i="0">
                <a:solidFill>
                  <a:srgbClr val="17181A"/>
                </a:solidFill>
                <a:latin typeface="Verdana"/>
              </a:rPr>
              <a:t>La pâte de tomate, c'est de la tomate : ce doit être avec les légumes en conserve.</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La pâte de tomate sert à faire des sauces : elle est avec les sauces.</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magasin range par usage, pas par ingrédient. Le lait de coco est avec les produits asiatiques, pas avec le lait. Les olives sont avec les marinades, pas avec les légumes. Quand la logique échoue, on demande.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Faire l'épicerie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PRATIQUE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mot juste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Complétez avec le mot du vocabulaire.</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pâte de tomate est dans l'___ cinq.</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Au ___ de la boucherie, on commande au poids.</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Les ___ se gardent des mois dans l'armoire.</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___ donne le poids et le prix.</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___ est écrite sous le code-barres.</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tableau de la valeur ___ est au dos.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Faire l'épicerie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mot juste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pâte de tomate est dans l'___ cinq.   </a:t>
            </a:r>
            <a:r>
              <a:rPr sz="1400" b="1" i="0">
                <a:solidFill>
                  <a:srgbClr val="07734A"/>
                </a:solidFill>
                <a:latin typeface="Verdana"/>
              </a:rPr>
              <a:t>» allée</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Au ___ de la boucherie, on commande au poids.   </a:t>
            </a:r>
            <a:r>
              <a:rPr sz="1400" b="1" i="0">
                <a:solidFill>
                  <a:srgbClr val="07734A"/>
                </a:solidFill>
                <a:latin typeface="Verdana"/>
              </a:rPr>
              <a:t>» comptoir</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Les ___ se gardent des mois dans l'armoire.   </a:t>
            </a:r>
            <a:r>
              <a:rPr sz="1400" b="1" i="0">
                <a:solidFill>
                  <a:srgbClr val="07734A"/>
                </a:solidFill>
                <a:latin typeface="Verdana"/>
              </a:rPr>
              <a:t>» conserves</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___ donne le poids et le prix.   </a:t>
            </a:r>
            <a:r>
              <a:rPr sz="1400" b="1" i="0">
                <a:solidFill>
                  <a:srgbClr val="07734A"/>
                </a:solidFill>
                <a:latin typeface="Verdana"/>
              </a:rPr>
              <a:t>» balance</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___ est écrite sous le code-barres.   </a:t>
            </a:r>
            <a:r>
              <a:rPr sz="1400" b="1" i="0">
                <a:solidFill>
                  <a:srgbClr val="07734A"/>
                </a:solidFill>
                <a:latin typeface="Verdana"/>
              </a:rPr>
              <a:t>» provenance</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tableau de la valeur ___ est au dos.   </a:t>
            </a:r>
            <a:r>
              <a:rPr sz="1400" b="1" i="0">
                <a:solidFill>
                  <a:srgbClr val="07734A"/>
                </a:solidFill>
                <a:latin typeface="Verdana"/>
              </a:rPr>
              <a:t>» nutritive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Faire l'épicerie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votre liste d'épicerie de la semaine, en indiquant où chaque produit se trouve.</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Allée, comptoir, rayon des fruits et légumes, surgelés.</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Mettez un point d'interrogation là où vous ne savez pas : on en parlera.</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Faire l'épicerie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