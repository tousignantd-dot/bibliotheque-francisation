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d'écoute. Prévoir le son. Commencer en disant « jupe » puis « joupe » sans prévenir, et demander au groupe si les deux existent.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les paires avant toute explication. Le groupe entend qu'il y a une différence bien avant de pouvoir la nommer.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centrale, à photographier. Faire lire la colonne de gauche, puis celle de droite, puis en alternance.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faire l'exercice en même temps par tout le groupe, un doigt sous le menton pour sentir la langue bouger.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cas justifie tout le travail : ce n'est pas un détail d'accent.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vérifier par le toucher. Beaucoup d'élèves ne croient à la différence que lorsqu'ils la sentent.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Utiliser l'exercice 2 du module, à cartes écoutables. Deux écoutes avant de corriger.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Plus difficile : les deux sons se suivent dans la même phrase. Faire répéter lentement d'abord, à vitesse normale ensuite.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Rendre à la séance suivante. Corriger surtout la lecture à voix haute.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SÉANCE A2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« u » de jupe et le « ou » de rouge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sons très proches à l'oreille, très différents dans la bouche. Beaucoup de langues n'ont que le second — et « tu » devient « tout » sans qu'on s'en aperçoive.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Magasiner du linge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la différence entre le son u et le son ou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que c'est la langue, et non les lèvres, qui décide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produire le son u à partir du son i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deux sons dans les mots du magasin.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Ces deux mots sont-ils différents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une jupe » et « une joue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un pull » et « une poule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change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lèvres, ou la langue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sons, deux positions de langue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ENTEND « U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ENTEND « OU 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une jupe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rouge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un pull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blouson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le tissu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foulard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uni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bouton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À gauche, la langue est en avant. À droite, elle est au fond.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LE TRUC DU « I 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Dites « i » longuement, puis arrondissez les lèvres.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Sans bouger la langue. Le son qui sort est le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u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de « jupe ». C'est la seule méthode qui fonctionne à coup sûr, parce qu'elle part d'un son que presque toutes les langues possèdent — le i — au lieu de partir du ou, qui entraîne la langue au fond.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OÙ CES DEUX SONS APPARAISSENT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endroits du module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3B49A0"/>
                </a:solidFill>
                <a:latin typeface="Verdana"/>
              </a:rPr>
              <a:t>Les vêtements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84373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une j</a:t>
            </a:r>
            <a:r>
              <a:rPr sz="1500" b="1" i="0">
                <a:solidFill>
                  <a:srgbClr val="3A3D40"/>
                </a:solidFill>
                <a:latin typeface="Verdana"/>
              </a:rPr>
              <a:t>u</a:t>
            </a:r>
            <a:r>
              <a:rPr sz="1500" b="0" i="0">
                <a:solidFill>
                  <a:srgbClr val="3A3D40"/>
                </a:solidFill>
                <a:latin typeface="Verdana"/>
              </a:rPr>
              <a:t>pe, un p</a:t>
            </a:r>
            <a:r>
              <a:rPr sz="1500" b="1" i="0">
                <a:solidFill>
                  <a:srgbClr val="3A3D40"/>
                </a:solidFill>
                <a:latin typeface="Verdana"/>
              </a:rPr>
              <a:t>u</a:t>
            </a:r>
            <a:r>
              <a:rPr sz="1500" b="0" i="0">
                <a:solidFill>
                  <a:srgbClr val="3A3D40"/>
                </a:solidFill>
                <a:latin typeface="Verdana"/>
              </a:rPr>
              <a:t>ll, le tiss</a:t>
            </a:r>
            <a:r>
              <a:rPr sz="1500" b="1" i="0">
                <a:solidFill>
                  <a:srgbClr val="3A3D40"/>
                </a:solidFill>
                <a:latin typeface="Verdana"/>
              </a:rPr>
              <a:t>u</a:t>
            </a:r>
            <a:r>
              <a:rPr sz="1500" b="0" i="0">
                <a:solidFill>
                  <a:srgbClr val="3A3D40"/>
                </a:solidFill>
                <a:latin typeface="Verdana"/>
              </a:rPr>
              <a:t> — et un f</a:t>
            </a:r>
            <a:r>
              <a:rPr sz="1500" b="1" i="0">
                <a:solidFill>
                  <a:srgbClr val="3A3D40"/>
                </a:solidFill>
                <a:latin typeface="Verdana"/>
              </a:rPr>
              <a:t>ou</a:t>
            </a:r>
            <a:r>
              <a:rPr sz="1500" b="0" i="0">
                <a:solidFill>
                  <a:srgbClr val="3A3D40"/>
                </a:solidFill>
                <a:latin typeface="Verdana"/>
              </a:rPr>
              <a:t>lard, un bl</a:t>
            </a:r>
            <a:r>
              <a:rPr sz="1500" b="1" i="0">
                <a:solidFill>
                  <a:srgbClr val="3A3D40"/>
                </a:solidFill>
                <a:latin typeface="Verdana"/>
              </a:rPr>
              <a:t>ou</a:t>
            </a:r>
            <a:r>
              <a:rPr sz="1500" b="0" i="0">
                <a:solidFill>
                  <a:srgbClr val="3A3D40"/>
                </a:solidFill>
                <a:latin typeface="Verdana"/>
              </a:rPr>
              <a:t>son, un b</a:t>
            </a:r>
            <a:r>
              <a:rPr sz="1500" b="1" i="0">
                <a:solidFill>
                  <a:srgbClr val="3A3D40"/>
                </a:solidFill>
                <a:latin typeface="Verdana"/>
              </a:rPr>
              <a:t>ou</a:t>
            </a:r>
            <a:r>
              <a:rPr sz="1500" b="0" i="0">
                <a:solidFill>
                  <a:srgbClr val="3A3D40"/>
                </a:solidFill>
                <a:latin typeface="Verdana"/>
              </a:rPr>
              <a:t>ton.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3B49A0"/>
                </a:solidFill>
                <a:latin typeface="Verdana"/>
              </a:rPr>
              <a:t>Les motifs et les matières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84373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1" i="0">
                <a:solidFill>
                  <a:srgbClr val="3A3D40"/>
                </a:solidFill>
                <a:latin typeface="Verdana"/>
              </a:rPr>
              <a:t>u</a:t>
            </a:r>
            <a:r>
              <a:rPr sz="1500" b="0" i="0">
                <a:solidFill>
                  <a:srgbClr val="3A3D40"/>
                </a:solidFill>
                <a:latin typeface="Verdana"/>
              </a:rPr>
              <a:t>ni se dit avec le u ; d</a:t>
            </a:r>
            <a:r>
              <a:rPr sz="1500" b="1" i="0">
                <a:solidFill>
                  <a:srgbClr val="3A3D40"/>
                </a:solidFill>
                <a:latin typeface="Verdana"/>
              </a:rPr>
              <a:t>ou</a:t>
            </a:r>
            <a:r>
              <a:rPr sz="1500" b="0" i="0">
                <a:solidFill>
                  <a:srgbClr val="3A3D40"/>
                </a:solidFill>
                <a:latin typeface="Verdana"/>
              </a:rPr>
              <a:t>x, d</a:t>
            </a:r>
            <a:r>
              <a:rPr sz="1500" b="1" i="0">
                <a:solidFill>
                  <a:srgbClr val="3A3D40"/>
                </a:solidFill>
                <a:latin typeface="Verdana"/>
              </a:rPr>
              <a:t>ou</a:t>
            </a:r>
            <a:r>
              <a:rPr sz="1500" b="0" i="0">
                <a:solidFill>
                  <a:srgbClr val="3A3D40"/>
                </a:solidFill>
                <a:latin typeface="Verdana"/>
              </a:rPr>
              <a:t>blé et l'</a:t>
            </a:r>
            <a:r>
              <a:rPr sz="1500" b="1" i="0">
                <a:solidFill>
                  <a:srgbClr val="3A3D40"/>
                </a:solidFill>
                <a:latin typeface="Verdana"/>
              </a:rPr>
              <a:t>ou</a:t>
            </a:r>
            <a:r>
              <a:rPr sz="1500" b="0" i="0">
                <a:solidFill>
                  <a:srgbClr val="3A3D40"/>
                </a:solidFill>
                <a:latin typeface="Verdana"/>
              </a:rPr>
              <a:t>verture du magasin se disent avec le ou.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3B49A0"/>
                </a:solidFill>
                <a:latin typeface="Verdana"/>
              </a:rPr>
              <a:t>Deux mots que tout change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01794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t</a:t>
            </a:r>
            <a:r>
              <a:rPr sz="1500" b="1" i="0">
                <a:solidFill>
                  <a:srgbClr val="3A3D40"/>
                </a:solidFill>
                <a:latin typeface="Verdana"/>
              </a:rPr>
              <a:t>u</a:t>
            </a:r>
            <a:r>
              <a:rPr sz="1500" b="0" i="0">
                <a:solidFill>
                  <a:srgbClr val="3A3D40"/>
                </a:solidFill>
                <a:latin typeface="Verdana"/>
              </a:rPr>
              <a:t> » et « t</a:t>
            </a:r>
            <a:r>
              <a:rPr sz="1500" b="1" i="0">
                <a:solidFill>
                  <a:srgbClr val="3A3D40"/>
                </a:solidFill>
                <a:latin typeface="Verdana"/>
              </a:rPr>
              <a:t>ou</a:t>
            </a:r>
            <a:r>
              <a:rPr sz="1500" b="0" i="0">
                <a:solidFill>
                  <a:srgbClr val="3A3D40"/>
                </a:solidFill>
                <a:latin typeface="Verdana"/>
              </a:rPr>
              <a:t>t » ne veulent pas dire la même chose. Là, la confusion change vraiment la phrase.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ÉCOUTER LES LÈVRES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Les deux sons se ressemblent, donc c'est pareil.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La différence est dans la langue.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lèvres sont presque identiques pour les deux sons : rondes dans les deux cas. C'est la langue qui bouge — en avant pour le u, au fond pour le ou. Un doigt sous le menton permet de le sentir.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son entendez-vous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chaque mot.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jupe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rouge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pull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blouson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tissu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foulard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bouton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son entendez-vous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jupe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rouge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pull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blouson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tissu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foulard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ou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uni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bouton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Dans une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Écoutez, puis répétez.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cherche une jupe unie.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foulard rouge est en rabais.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tissu est doux.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blouson a un capuchon.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manque un bouton au pull.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Dans une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cherche une jupe unie.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trois fois le son 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foulard rouge est en rabais.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deux fois le son ou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tissu est doux.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u, puis ou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blouson a un capuchon.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trois fois le son ou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manque un bouton au pull.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ou, puis 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Trouvez cinq mots avec le son u et cinq mots avec le son ou.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Dans le vocabulaire du module, ou ailleurs.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Lisez-les à voix haute avant de les écrire.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Magasiner du linge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