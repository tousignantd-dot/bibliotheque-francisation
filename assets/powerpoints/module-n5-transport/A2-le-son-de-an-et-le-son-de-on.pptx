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graphie-phonie. Commencer sans explication : dire « le pan » puis « le pont », et demander au groupe si c'est le même mot. Une partie du groupe dira oui. C'est le point de départ de la séance et ce n'est ni une faute ni une surdité : ces deux voyelles n'existent pas dans beaucoup de langues.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plus concret : la différence est visible sur les lèvres. Faire travailler devant une vitre ou un téléphone en mode photo — voir sa propre bouche vaut dix explications.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le geste avec la main devant la bouche en même temps que le groupe : sur « an » la main sent une ouverture large, sur « on » un rond serré.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ce n'est pas l'écriture qui décide, c'est l'oreille. Beaucoup d'élèves cherchent quatre prononciations là où il n'y en a qu'une, et se fatiguent pour rien.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chaque paire deux fois, puis dans le désordre, et faire lever la main sur « on ». Terminer par « le pan / le pont » : c'est celle qui a des conséquences réelles un matin de semaine.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classer les mots par le groupe avant d'afficher la colonne de droite. Les six mots reviennent tous dans les exercices de l'activité interactive.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tenir la voyelle finale longtemps, sans jamais fermer la bouche sur un n. C'est l'erreur la plus tenace, et elle s'entend immédiatement dans une production orale.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les mots sans les montrer, une fois chacun, à débit normal. Puis recommencer plus lentement pour ceux qui hésitent. Les huit mêmes items sont dans l'exercice interactif, avec l'audio.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Terminer la séance là-dessus : c'est l'exercice le plus utile du module, et « en direction de » revient dix fois par bulletin.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et relire quelques paires à voix haute au début de la séance A3. Les erreurs de classement disent exactement qui a besoin d'un retour individuel.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son de « an » et le son de « on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Ralentissement, accident, sens, quarante d'un côté ; pont, bouchon, camion, direction de l'autre. Deux voyelles du nez portent la moitié des mots du bulletin, et les confondre fait refaire son trajet pour rien.</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Ça bloque ce matin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la différence entre la voyelle de « an » et celle de « on »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quatre façons d'écrire le son de « an »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prononcer les deux voyelles en surveillant la position des lèvres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un mot qui contient les deux sons, comme « contournement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DEUX SONS DU NEZ, DEUX BOUCHES DIFFÉRENTES</a:t>
            </a:r>
          </a:p>
        </p:txBody>
      </p:sp>
      <p:sp>
        <p:nvSpPr>
          <p:cNvPr id="6" name="Rounded Rectangle 5"/>
          <p:cNvSpPr/>
          <p:nvPr/>
        </p:nvSpPr>
        <p:spPr>
          <a:xfrm>
            <a:off x="566928" y="1225296"/>
            <a:ext cx="11057839" cy="2494788"/>
          </a:xfrm>
          <a:prstGeom prst="roundRect">
            <a:avLst>
              <a:gd name="adj" fmla="val 586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Sur « an », la bouche est grande ouverte. Sur « on », les lèvres se ferment en petit rond.</a:t>
            </a:r>
          </a:p>
        </p:txBody>
      </p:sp>
      <p:sp>
        <p:nvSpPr>
          <p:cNvPr id="8" name="Rounded Rectangle 7"/>
          <p:cNvSpPr/>
          <p:nvPr/>
        </p:nvSpPr>
        <p:spPr>
          <a:xfrm>
            <a:off x="566928" y="3994404"/>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les deux cas, l'air passe par le nez et la lettre n ne se prononce pas : elle indique seulement la nasale.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QUATRE ORTHOGRAPHES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son de « an » s'écrit de quatre façons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LIT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an</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quarante, dans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am</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ambulance, camp</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en</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lentement, sens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em</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embouteillage, temps</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Un seul son pour quatre orthographes.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LES PAIRES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Écoutez la voyelle, pas la consonne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lent · long</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Bouche ouverte, puis lèvres en rond.</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sans · son</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Même consonne au départ, deux voyelles.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banc · bon</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différence est à la fin du mot.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le pan · le pont</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paire qui coûte le plus cher.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LES MOTS DU BULLETIN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Rangés par voyelle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74577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ralentissement</a:t>
            </a:r>
          </a:p>
        </p:txBody>
      </p:sp>
      <p:sp>
        <p:nvSpPr>
          <p:cNvPr id="9" name="TextBox 8"/>
          <p:cNvSpPr txBox="1"/>
          <p:nvPr/>
        </p:nvSpPr>
        <p:spPr>
          <a:xfrm>
            <a:off x="3952779" y="2121408"/>
            <a:ext cx="730622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son de « an », deux fois</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274577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embouteillage</a:t>
            </a:r>
          </a:p>
        </p:txBody>
      </p:sp>
      <p:sp>
        <p:nvSpPr>
          <p:cNvPr id="12" name="TextBox 11"/>
          <p:cNvSpPr txBox="1"/>
          <p:nvPr/>
        </p:nvSpPr>
        <p:spPr>
          <a:xfrm>
            <a:off x="3952779" y="2778252"/>
            <a:ext cx="730622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son de « an » au début</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274577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dans les deux sens</a:t>
            </a:r>
          </a:p>
        </p:txBody>
      </p:sp>
      <p:sp>
        <p:nvSpPr>
          <p:cNvPr id="15" name="TextBox 14"/>
          <p:cNvSpPr txBox="1"/>
          <p:nvPr/>
        </p:nvSpPr>
        <p:spPr>
          <a:xfrm>
            <a:off x="3952779" y="3435096"/>
            <a:ext cx="730622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son de « an », deux fois</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274577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pont</a:t>
            </a:r>
          </a:p>
        </p:txBody>
      </p:sp>
      <p:sp>
        <p:nvSpPr>
          <p:cNvPr id="18" name="TextBox 17"/>
          <p:cNvSpPr txBox="1"/>
          <p:nvPr/>
        </p:nvSpPr>
        <p:spPr>
          <a:xfrm>
            <a:off x="3952779" y="4091939"/>
            <a:ext cx="730622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son de « on »</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274577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bouchon</a:t>
            </a:r>
          </a:p>
        </p:txBody>
      </p:sp>
      <p:sp>
        <p:nvSpPr>
          <p:cNvPr id="21" name="TextBox 20"/>
          <p:cNvSpPr txBox="1"/>
          <p:nvPr/>
        </p:nvSpPr>
        <p:spPr>
          <a:xfrm>
            <a:off x="3952779" y="4748784"/>
            <a:ext cx="730622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son de « on » à la fin</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274577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circulation</a:t>
            </a:r>
          </a:p>
        </p:txBody>
      </p:sp>
      <p:sp>
        <p:nvSpPr>
          <p:cNvPr id="24" name="TextBox 23"/>
          <p:cNvSpPr txBox="1"/>
          <p:nvPr/>
        </p:nvSpPr>
        <p:spPr>
          <a:xfrm>
            <a:off x="3952779" y="5405628"/>
            <a:ext cx="730622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son de « on » à la fin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PRONONCER LE N OU LE M QUI SUIT LA VOYELLE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 ralentisse-menne, un bouchonne.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 ralentissement, un bouchon — la langue ne touche rien.</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une voyelle nasale, la lettre n ne se prononce pas : elle dit seulement que l'air passe par le nez. Le n s'entend uniquement quand une voyelle suit, comme dans « un accident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DISCRIMINATION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voyelle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si c'est le son de « an » ou celui de « on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ralentissement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pont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accident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bouchon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les deux sens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circulation</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quarante minutes</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camion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voyelle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ralentissement   </a:t>
            </a:r>
            <a:r>
              <a:rPr sz="1400" b="1" i="0">
                <a:solidFill>
                  <a:srgbClr val="07734A"/>
                </a:solidFill>
                <a:latin typeface="Verdana"/>
              </a:rPr>
              <a:t>» le son de « an »</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pont   </a:t>
            </a:r>
            <a:r>
              <a:rPr sz="1400" b="1" i="0">
                <a:solidFill>
                  <a:srgbClr val="07734A"/>
                </a:solidFill>
                <a:latin typeface="Verdana"/>
              </a:rPr>
              <a:t>» le son de « on »</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accident   </a:t>
            </a:r>
            <a:r>
              <a:rPr sz="1400" b="1" i="0">
                <a:solidFill>
                  <a:srgbClr val="07734A"/>
                </a:solidFill>
                <a:latin typeface="Verdana"/>
              </a:rPr>
              <a:t>» le son de « an »</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bouchon   </a:t>
            </a:r>
            <a:r>
              <a:rPr sz="1400" b="1" i="0">
                <a:solidFill>
                  <a:srgbClr val="07734A"/>
                </a:solidFill>
                <a:latin typeface="Verdana"/>
              </a:rPr>
              <a:t>» le son de « on »</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les deux sens   </a:t>
            </a:r>
            <a:r>
              <a:rPr sz="1400" b="1" i="0">
                <a:solidFill>
                  <a:srgbClr val="07734A"/>
                </a:solidFill>
                <a:latin typeface="Verdana"/>
              </a:rPr>
              <a:t>» le son de « an »</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circulation   </a:t>
            </a:r>
            <a:r>
              <a:rPr sz="1400" b="1" i="0">
                <a:solidFill>
                  <a:srgbClr val="07734A"/>
                </a:solidFill>
                <a:latin typeface="Verdana"/>
              </a:rPr>
              <a:t>» le son de « on »</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quarante minutes   </a:t>
            </a:r>
            <a:r>
              <a:rPr sz="1400" b="1" i="0">
                <a:solidFill>
                  <a:srgbClr val="07734A"/>
                </a:solidFill>
                <a:latin typeface="Verdana"/>
              </a:rPr>
              <a:t>» le son de « an »</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camion   </a:t>
            </a:r>
            <a:r>
              <a:rPr sz="1400" b="1" i="0">
                <a:solidFill>
                  <a:srgbClr val="07734A"/>
                </a:solidFill>
                <a:latin typeface="Verdana"/>
              </a:rPr>
              <a:t>» le son de « on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 MOT QUI CONTIENT LES DEUX</a:t>
            </a:r>
          </a:p>
        </p:txBody>
      </p:sp>
      <p:sp>
        <p:nvSpPr>
          <p:cNvPr id="6" name="Rounded Rectangle 5"/>
          <p:cNvSpPr/>
          <p:nvPr/>
        </p:nvSpPr>
        <p:spPr>
          <a:xfrm>
            <a:off x="566928" y="1225296"/>
            <a:ext cx="11057839" cy="1441196"/>
          </a:xfrm>
          <a:prstGeom prst="roundRect">
            <a:avLst>
              <a:gd name="adj" fmla="val 10151"/>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En direction de. Un contournement.</a:t>
            </a:r>
          </a:p>
        </p:txBody>
      </p:sp>
      <p:sp>
        <p:nvSpPr>
          <p:cNvPr id="8" name="Rounded Rectangle 7"/>
          <p:cNvSpPr/>
          <p:nvPr/>
        </p:nvSpPr>
        <p:spPr>
          <a:xfrm>
            <a:off x="566928" y="2940812"/>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An » d'abord, « on » ensuite. Dites-les une syllabe à la fois jusqu'à ce que les deux sons soient nets.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deux mots de votre journée : un avec le son de « an », un avec le son de « on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Ils n'ont pas besoin de venir de la route : maman, salon, enfant, maison.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Dites-les à voix basse en surveillant vos lèvres avant d'écrire.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Ça bloque ce matin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