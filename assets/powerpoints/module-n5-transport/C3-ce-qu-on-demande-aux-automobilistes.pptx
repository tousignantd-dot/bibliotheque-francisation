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de la consigne. Ouvrir en faisant réécouter le bulletin de six heures cinquante et en demandant au groupe de lever la main chaque fois qu'on lui parle. Il y a deux occurrences : « Empruntez le pont Victoria » et « Prudence dans la voie de droite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seul point de forme de la séance, et c'est l'erreur la plus fréquente : après « de », le verbe ne se conjugue jamais.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forme rapportée servira en E1 : elle dit clairement que la consigne ne vient pas de vous.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les quatre à voix haute, l'une après l'autre. Le groupe entend tout de suite que la première est un ordre et la dernière une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 il » impersonnel surprend souvent : les élèves cherchent qui il désigne. Comparer avec « il pleut » règle la question en une phrase.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cinq phrases sur ce moule, à la chaîne, jusqu'à ce que l'infinitif vienne tout seul. C'est mécanique, et ça s'automatise vite.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Faux ami interne au français : le mot existe dans une autre acception connue des élèves. Le signaler évite un contresens complet sur la directive la plus importante du bulletin.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le changement de possessif dans la quatrième : « votre » devient « leur », parce qu'on ne parle plus à la même personne. C'est subtil et personne ne le voit seul.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Les trois formes servent partout — au travail, à l'école, dans un mode d'emploi — et c'est ce qui rend la séance rentable au-delà du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qu'on demande aux automobilistes</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Pendant cinquante secondes, le bulletin décrit. Et puis, deux ou trois fois, il s'adresse à vous. Ces phrases-là sont les seules qui vous demandent de faire quelque chose : les reconnaître au passage, c'est savoir quand il faut agir.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Ça bloque ce matin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l'impératif du bulletin : empruntez, évitez, prévoyez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phrases impersonnelles : il faut, il est recommandé de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 on demande aux automobilistes de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l'infinitif après « de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TROIS FAÇONS DE DIRE LA MÊME CONSIGNE</a:t>
            </a:r>
          </a:p>
        </p:txBody>
      </p:sp>
      <p:sp>
        <p:nvSpPr>
          <p:cNvPr id="6" name="Rounded Rectangle 5"/>
          <p:cNvSpPr/>
          <p:nvPr/>
        </p:nvSpPr>
        <p:spPr>
          <a:xfrm>
            <a:off x="566928" y="1225296"/>
            <a:ext cx="11057839" cy="3021583"/>
          </a:xfrm>
          <a:prstGeom prst="roundRect">
            <a:avLst>
              <a:gd name="adj" fmla="val 484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L'impératif commande. « Il est recommandé » conseille. « On demande aux automobilistes » rapporte.</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vous répétez une directive à quelqu'un, la forme rapportée est la plus naturelle : « Ils disent d'emprunter le pont Victoria.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MÊME CONSIGNE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la plus forte à la plus indirecte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DONNE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Impératif</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Évitez le secteur.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est recommandé de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est recommandé d'éviter.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faut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faut éviter le secteur.</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demande de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On demande d'éviter le secteur.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 IL » QUI NE REMPLACE PERSONNE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phrases impersonnelles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est recommandé de…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Personne ne commande : c'est ce qui la rend polie.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faut prévoir…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consigne existe, sans auteur nommé.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y a un ralentissement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même « il », comme dans « il pleut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reste une voie ouverte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Encore lui : rien ne remplace ce « il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CONJUGUER LE VERBE APRÈS « DE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demande aux automobilistes de vous ralentissez.</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demande aux automobilistes de ralentir.</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Après « de », le verbe reste à l'infinitif : de ralentir, d'éviter, de prévoir, de laisser passer. Aucune exception.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COMPRENDRE « EMPRUNTER » AU SENS DE L'ARGENT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Emprunter le pont, c'est payer pour passer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Emprunter une route, c'est la prendre.</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un mot du métier, comme « entrave » : il ne s'emploie presque jamais dans ce sens ailleurs. Le bulletin l'utilise tous les jours.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TRANSFORMATION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Récrivez la directive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Employez la tournure demandée.</a:t>
            </a:r>
          </a:p>
        </p:txBody>
      </p:sp>
      <p:sp>
        <p:nvSpPr>
          <p:cNvPr id="8" name="Rounded Rectangle 7"/>
          <p:cNvSpPr/>
          <p:nvPr/>
        </p:nvSpPr>
        <p:spPr>
          <a:xfrm>
            <a:off x="566928" y="2139696"/>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4561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962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Il faut emprunter le pont Victoria. (impératif)</a:t>
            </a:r>
          </a:p>
        </p:txBody>
      </p:sp>
      <p:sp>
        <p:nvSpPr>
          <p:cNvPr id="12" name="Rounded Rectangle 11"/>
          <p:cNvSpPr/>
          <p:nvPr/>
        </p:nvSpPr>
        <p:spPr>
          <a:xfrm>
            <a:off x="566928" y="2845307"/>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5122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1523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00755"/>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Il est recommandé d'éviter le secteur. (impératif)</a:t>
            </a:r>
          </a:p>
        </p:txBody>
      </p:sp>
      <p:sp>
        <p:nvSpPr>
          <p:cNvPr id="16" name="Rounded Rectangle 15"/>
          <p:cNvSpPr/>
          <p:nvPr/>
        </p:nvSpPr>
        <p:spPr>
          <a:xfrm>
            <a:off x="566928" y="3550920"/>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7063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Prévoyez vingt minutes de plus. (il est recommandé de)</a:t>
            </a:r>
          </a:p>
        </p:txBody>
      </p:sp>
      <p:sp>
        <p:nvSpPr>
          <p:cNvPr id="20" name="Rounded Rectangle 19"/>
          <p:cNvSpPr/>
          <p:nvPr/>
        </p:nvSpPr>
        <p:spPr>
          <a:xfrm>
            <a:off x="566928" y="4523232"/>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2915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9315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786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Réduisez votre vitesse. (on demande de)</a:t>
            </a:r>
          </a:p>
        </p:txBody>
      </p:sp>
      <p:sp>
        <p:nvSpPr>
          <p:cNvPr id="24" name="Rounded Rectangle 23"/>
          <p:cNvSpPr/>
          <p:nvPr/>
        </p:nvSpPr>
        <p:spPr>
          <a:xfrm>
            <a:off x="566928" y="5228844"/>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3476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9877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84292"/>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Laissez passer les véhicules d'urgence. (il faut)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Récrivez la directive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4561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962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Il faut emprunter le pont Victoria. (impératif)   </a:t>
            </a:r>
            <a:r>
              <a:rPr sz="1500" b="1" i="0">
                <a:solidFill>
                  <a:srgbClr val="07734A"/>
                </a:solidFill>
                <a:latin typeface="Verdana"/>
              </a:rPr>
              <a:t>» Empruntez le pont Victoria.</a:t>
            </a:r>
          </a:p>
        </p:txBody>
      </p:sp>
      <p:sp>
        <p:nvSpPr>
          <p:cNvPr id="12" name="Rounded Rectangle 11"/>
          <p:cNvSpPr/>
          <p:nvPr/>
        </p:nvSpPr>
        <p:spPr>
          <a:xfrm>
            <a:off x="566928" y="2845307"/>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5122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1523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00755"/>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Il est recommandé d'éviter le secteur. (impératif)   </a:t>
            </a:r>
            <a:r>
              <a:rPr sz="1500" b="1" i="0">
                <a:solidFill>
                  <a:srgbClr val="07734A"/>
                </a:solidFill>
                <a:latin typeface="Verdana"/>
              </a:rPr>
              <a:t>» Évitez le secteur.</a:t>
            </a:r>
          </a:p>
        </p:txBody>
      </p:sp>
      <p:sp>
        <p:nvSpPr>
          <p:cNvPr id="16" name="Rounded Rectangle 15"/>
          <p:cNvSpPr/>
          <p:nvPr/>
        </p:nvSpPr>
        <p:spPr>
          <a:xfrm>
            <a:off x="566928" y="3550920"/>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7063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Prévoyez vingt minutes de plus. (il est recommandé de)   </a:t>
            </a:r>
            <a:r>
              <a:rPr sz="1500" b="1" i="0">
                <a:solidFill>
                  <a:srgbClr val="07734A"/>
                </a:solidFill>
                <a:latin typeface="Verdana"/>
              </a:rPr>
              <a:t>» Il est recommandé de prévoir vingt minutes de plus.</a:t>
            </a:r>
          </a:p>
        </p:txBody>
      </p:sp>
      <p:sp>
        <p:nvSpPr>
          <p:cNvPr id="20" name="Rounded Rectangle 19"/>
          <p:cNvSpPr/>
          <p:nvPr/>
        </p:nvSpPr>
        <p:spPr>
          <a:xfrm>
            <a:off x="566928" y="4523232"/>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2915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9315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786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Réduisez votre vitesse. (on demande de)   </a:t>
            </a:r>
            <a:r>
              <a:rPr sz="1500" b="1" i="0">
                <a:solidFill>
                  <a:srgbClr val="07734A"/>
                </a:solidFill>
                <a:latin typeface="Verdana"/>
              </a:rPr>
              <a:t>» On demande aux automobilistes de réduire leur vitesse.</a:t>
            </a:r>
          </a:p>
        </p:txBody>
      </p:sp>
      <p:sp>
        <p:nvSpPr>
          <p:cNvPr id="24" name="Rounded Rectangle 23"/>
          <p:cNvSpPr/>
          <p:nvPr/>
        </p:nvSpPr>
        <p:spPr>
          <a:xfrm>
            <a:off x="566928" y="5228844"/>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3476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9877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84292"/>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Laissez passer les véhicules d'urgence. (il faut)   </a:t>
            </a:r>
            <a:r>
              <a:rPr sz="1500" b="1" i="0">
                <a:solidFill>
                  <a:srgbClr val="07734A"/>
                </a:solidFill>
                <a:latin typeface="Verdana"/>
              </a:rPr>
              <a:t>» Il faut laisser passer les véhicules d'urgence.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consigne de sécurité de votre travail, dans les trois formes.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Portez vos gants. Il faut porter des gants. On demande de porter des gants.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N'importe quelle consigne fait l'affaire : la route n'est qu'un exemple.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Ça bloque ce matin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