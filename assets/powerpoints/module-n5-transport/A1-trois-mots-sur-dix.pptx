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Première séance du module. Ouvrir en faisant écouter un vrai bulletin de circulation de trente secondes, sans rien expliquer, puis demander au groupe ce qui a été compris. La réponse est presque toujours : le nom d'une route, et rien d'autre. C'est exactement le point de départ. Ne pas dédramatiser trop vite : c'est réellement difficile, et c'est pour cela que le module existe.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deuxième objectif est le plus important des quatre : savoir qu'il y a quatre informations, et lesquelles, transforme une écoute au hasard en une écoute qui attend quelque chose. Tout le bloc A tient là-dessus.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quatre pistes sont les quatre informations du bulletin, posées avant d'être nommées. Les écrire au tableau dans cet ordre et les y laisser toute la séance : on y reviendra à chaque exercice du module.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remarquer la réplique d'Amine : lui non plus ne comprenait rien les premières années. C'est une information utile pour le groupe, et elle est vraie de tout le monde, y compris des gens nés ici quand ils déménagent dans une autre ville.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distinction ralentissement / bouchon est le cœur de la séance. Elle n'est pas décorative : elle décide si l'on part quand même ou si l'on change de chemin. Faire donner des exemples vécus par le groupe.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Entrave » est le mot le plus fréquent du bulletin et le plus opaque pour un élève. Le faire répéter, et faire trouver au groupe trois choses qui sont des entraves. La formule « aucune entrave à signaler » s'apprend d'un bloc, comme une expression figée.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Elle reviendra à chaque séance du module, et c'est elle qu'il faut avoir en tête pendant le jeu de rôle de E1.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répéter avec l'article. Insister sur « accotement » : c'est un mot qu'on n'apprend nulle part ailleurs et qui revient tous les matins. Demander qui a déjà eu besoin de s'arrêter sur l'accotement.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compléter la colonne de droite par le groupe avant de l'afficher. C'est la distinction la plus rentable de la séance.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piège décourage plus d'élèves que n'importe quelle difficulté de grammaire. Le dire clairement : la répétition du bulletin est un cadeau, pas une contrainte.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justifier chaque « faux » par la réplique exacte. La dernière prépare le travail d'écoute de tout le bloc 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Ramasser les billets : ils serviront en C4, où chacun doit dire si une entrave le concerne. Un trajet réel vaut mieux qu'un exemple inventé.</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A1  ·  MODULE 9</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 Trois mots sur dix »</a:t>
            </a:r>
          </a:p>
        </p:txBody>
      </p:sp>
      <p:sp>
        <p:nvSpPr>
          <p:cNvPr id="5" name="Rounded Rectangle 4"/>
          <p:cNvSpPr/>
          <p:nvPr/>
        </p:nvSpPr>
        <p:spPr>
          <a:xfrm>
            <a:off x="566928" y="3794760"/>
            <a:ext cx="9960559" cy="2499868"/>
          </a:xfrm>
          <a:prstGeom prst="roundRect">
            <a:avLst>
              <a:gd name="adj" fmla="val 58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887219"/>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Tereza Nogueira part de Longueuil tous les matins à six heures cinquante et traverse l'île pour se rendre à son atelier de Saint-Laurent. La radio est ouverte, la chronique de circulation commence — et depuis quatre ans, elle n'en comprend que trois mots sur dix.</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Ça bloque ce matin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Ça bloque ce matin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l'état d'une route avec les mots du bulletin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quelles quatre informations un bulletin donne toujours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un ralentissement, un bouchon et une route fermée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ce qu'est une entrave, et ce qu'est un accotement.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Ça bloque ce matin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Une file d'autos arrêtées, un matin. Qu'est-ce que vous voulez savoir en premier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autoroute-bouchon.jpg"/>
          <p:cNvPicPr>
            <a:picLocks noChangeAspect="1"/>
          </p:cNvPicPr>
          <p:nvPr/>
        </p:nvPicPr>
        <p:blipFill>
          <a:blip r:embed="rId2"/>
          <a:stretch>
            <a:fillRect/>
          </a:stretch>
        </p:blipFill>
        <p:spPr>
          <a:xfrm>
            <a:off x="7644383" y="2638339"/>
            <a:ext cx="3760927" cy="2523153"/>
          </a:xfrm>
          <a:prstGeom prst="rect">
            <a:avLst/>
          </a:prstGeom>
        </p:spPr>
      </p:pic>
      <p:sp>
        <p:nvSpPr>
          <p:cNvPr id="9" name="Rounded Rectangle 8"/>
          <p:cNvSpPr/>
          <p:nvPr/>
        </p:nvSpPr>
        <p:spPr>
          <a:xfrm>
            <a:off x="566928" y="1856232"/>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 bloque, à votre avis ?</a:t>
            </a:r>
          </a:p>
        </p:txBody>
      </p:sp>
      <p:sp>
        <p:nvSpPr>
          <p:cNvPr id="12" name="Rounded Rectangle 11"/>
          <p:cNvSpPr/>
          <p:nvPr/>
        </p:nvSpPr>
        <p:spPr>
          <a:xfrm>
            <a:off x="566928" y="2642108"/>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2751836"/>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2824988"/>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Où faudrait-il le savoir, exactement ?</a:t>
            </a:r>
          </a:p>
        </p:txBody>
      </p:sp>
      <p:sp>
        <p:nvSpPr>
          <p:cNvPr id="15" name="Rounded Rectangle 14"/>
          <p:cNvSpPr/>
          <p:nvPr/>
        </p:nvSpPr>
        <p:spPr>
          <a:xfrm>
            <a:off x="566928" y="3427984"/>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537712"/>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3610864"/>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Depuis quand est-ce que ça dure ?</a:t>
            </a:r>
          </a:p>
        </p:txBody>
      </p:sp>
      <p:sp>
        <p:nvSpPr>
          <p:cNvPr id="18" name="Rounded Rectangle 17"/>
          <p:cNvSpPr/>
          <p:nvPr/>
        </p:nvSpPr>
        <p:spPr>
          <a:xfrm>
            <a:off x="566928" y="4213860"/>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323588"/>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4396740"/>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de temps encore ? Qui peut vous le dire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Ça bloque ce matin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Il a dit quoi, exactement ?</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diapositive masquée.</a:t>
            </a:r>
          </a:p>
        </p:txBody>
      </p:sp>
      <p:sp>
        <p:nvSpPr>
          <p:cNvPr id="8" name="Rounded Rectangle 7"/>
          <p:cNvSpPr/>
          <p:nvPr/>
        </p:nvSpPr>
        <p:spPr>
          <a:xfrm>
            <a:off x="566928" y="2157984"/>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276635"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TEREZA</a:t>
            </a:r>
          </a:p>
        </p:txBody>
      </p:sp>
      <p:sp>
        <p:nvSpPr>
          <p:cNvPr id="10" name="TextBox 9"/>
          <p:cNvSpPr txBox="1"/>
          <p:nvPr/>
        </p:nvSpPr>
        <p:spPr>
          <a:xfrm>
            <a:off x="2209323" y="2322576"/>
            <a:ext cx="8866803"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Amine, arrête deux secondes. Il vient de dire quelque chose sur la 40.</a:t>
            </a:r>
          </a:p>
        </p:txBody>
      </p:sp>
      <p:sp>
        <p:nvSpPr>
          <p:cNvPr id="11" name="Rounded Rectangle 10"/>
          <p:cNvSpPr/>
          <p:nvPr/>
        </p:nvSpPr>
        <p:spPr>
          <a:xfrm>
            <a:off x="566928" y="2907283"/>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071876"/>
            <a:ext cx="1276635"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AMINE</a:t>
            </a:r>
          </a:p>
        </p:txBody>
      </p:sp>
      <p:sp>
        <p:nvSpPr>
          <p:cNvPr id="13" name="TextBox 12"/>
          <p:cNvSpPr txBox="1"/>
          <p:nvPr/>
        </p:nvSpPr>
        <p:spPr>
          <a:xfrm>
            <a:off x="2209323" y="3071876"/>
            <a:ext cx="8866803"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Il parle vite, hein ? Moi non plus, les premières années, je ne comprenais rien.</a:t>
            </a:r>
          </a:p>
        </p:txBody>
      </p:sp>
      <p:sp>
        <p:nvSpPr>
          <p:cNvPr id="14" name="Rounded Rectangle 13"/>
          <p:cNvSpPr/>
          <p:nvPr/>
        </p:nvSpPr>
        <p:spPr>
          <a:xfrm>
            <a:off x="566928" y="3994404"/>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4158995"/>
            <a:ext cx="1276635"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TEREZA</a:t>
            </a:r>
          </a:p>
        </p:txBody>
      </p:sp>
      <p:sp>
        <p:nvSpPr>
          <p:cNvPr id="16" name="TextBox 15"/>
          <p:cNvSpPr txBox="1"/>
          <p:nvPr/>
        </p:nvSpPr>
        <p:spPr>
          <a:xfrm>
            <a:off x="2209323" y="4158995"/>
            <a:ext cx="8866803"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J'ai entendu « ralentissement », j'ai entendu « accotement », et après, plus rien.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Ça bloque ce matin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Ça avance, ou ça n'avance plus</a:t>
            </a:r>
          </a:p>
        </p:txBody>
      </p:sp>
      <p:sp>
        <p:nvSpPr>
          <p:cNvPr id="7" name="Rounded Rectangle 6"/>
          <p:cNvSpPr/>
          <p:nvPr/>
        </p:nvSpPr>
        <p:spPr>
          <a:xfrm>
            <a:off x="566928" y="173736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276635"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AMINE</a:t>
            </a:r>
          </a:p>
        </p:txBody>
      </p:sp>
      <p:sp>
        <p:nvSpPr>
          <p:cNvPr id="9" name="TextBox 8"/>
          <p:cNvSpPr txBox="1"/>
          <p:nvPr/>
        </p:nvSpPr>
        <p:spPr>
          <a:xfrm>
            <a:off x="2209323" y="1901952"/>
            <a:ext cx="8866803"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ralentissement, c'est quand ça avance, mais lentement. Ce n'est pas arrêté.</a:t>
            </a:r>
          </a:p>
        </p:txBody>
      </p:sp>
      <p:sp>
        <p:nvSpPr>
          <p:cNvPr id="10" name="Rounded Rectangle 9"/>
          <p:cNvSpPr/>
          <p:nvPr/>
        </p:nvSpPr>
        <p:spPr>
          <a:xfrm>
            <a:off x="566928" y="282447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89072"/>
            <a:ext cx="1276635"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TEREZA</a:t>
            </a:r>
          </a:p>
        </p:txBody>
      </p:sp>
      <p:sp>
        <p:nvSpPr>
          <p:cNvPr id="12" name="TextBox 11"/>
          <p:cNvSpPr txBox="1"/>
          <p:nvPr/>
        </p:nvSpPr>
        <p:spPr>
          <a:xfrm>
            <a:off x="2209323" y="2989072"/>
            <a:ext cx="8866803"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quand c'est arrêté ?</a:t>
            </a:r>
          </a:p>
        </p:txBody>
      </p:sp>
      <p:sp>
        <p:nvSpPr>
          <p:cNvPr id="13" name="Rounded Rectangle 12"/>
          <p:cNvSpPr/>
          <p:nvPr/>
        </p:nvSpPr>
        <p:spPr>
          <a:xfrm>
            <a:off x="566928" y="357377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738371"/>
            <a:ext cx="1276635"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AMINE</a:t>
            </a:r>
          </a:p>
        </p:txBody>
      </p:sp>
      <p:sp>
        <p:nvSpPr>
          <p:cNvPr id="15" name="TextBox 14"/>
          <p:cNvSpPr txBox="1"/>
          <p:nvPr/>
        </p:nvSpPr>
        <p:spPr>
          <a:xfrm>
            <a:off x="2209323" y="3738371"/>
            <a:ext cx="8866803"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Là, c'est un bouchon. Ou un embouteillage, si tu veux le mot poli.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Ça bloque ce matin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L'accotement, et l'entrave</a:t>
            </a:r>
          </a:p>
        </p:txBody>
      </p:sp>
      <p:sp>
        <p:nvSpPr>
          <p:cNvPr id="7" name="Rounded Rectangle 6"/>
          <p:cNvSpPr/>
          <p:nvPr/>
        </p:nvSpPr>
        <p:spPr>
          <a:xfrm>
            <a:off x="566928" y="173736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276635"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AMINE</a:t>
            </a:r>
          </a:p>
        </p:txBody>
      </p:sp>
      <p:sp>
        <p:nvSpPr>
          <p:cNvPr id="9" name="TextBox 8"/>
          <p:cNvSpPr txBox="1"/>
          <p:nvPr/>
        </p:nvSpPr>
        <p:spPr>
          <a:xfrm>
            <a:off x="2209323" y="1901952"/>
            <a:ext cx="8866803"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L'accotement, c'est la bande sur le bord de la route, en dehors des voies. On s'arrête là quand on tombe en panne.</a:t>
            </a:r>
          </a:p>
        </p:txBody>
      </p:sp>
      <p:sp>
        <p:nvSpPr>
          <p:cNvPr id="10" name="Rounded Rectangle 9"/>
          <p:cNvSpPr/>
          <p:nvPr/>
        </p:nvSpPr>
        <p:spPr>
          <a:xfrm>
            <a:off x="566928" y="282447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89072"/>
            <a:ext cx="1276635"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TEREZA</a:t>
            </a:r>
          </a:p>
        </p:txBody>
      </p:sp>
      <p:sp>
        <p:nvSpPr>
          <p:cNvPr id="12" name="TextBox 11"/>
          <p:cNvSpPr txBox="1"/>
          <p:nvPr/>
        </p:nvSpPr>
        <p:spPr>
          <a:xfrm>
            <a:off x="2209323" y="2989072"/>
            <a:ext cx="8866803"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une entrave, c'est quoi ? Il dit ça tout le temps.</a:t>
            </a:r>
          </a:p>
        </p:txBody>
      </p:sp>
      <p:sp>
        <p:nvSpPr>
          <p:cNvPr id="13" name="TextBox 12"/>
          <p:cNvSpPr txBox="1"/>
          <p:nvPr/>
        </p:nvSpPr>
        <p:spPr>
          <a:xfrm>
            <a:off x="932688" y="3738371"/>
            <a:ext cx="1276635"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AMINE</a:t>
            </a:r>
          </a:p>
        </p:txBody>
      </p:sp>
      <p:sp>
        <p:nvSpPr>
          <p:cNvPr id="14" name="TextBox 13"/>
          <p:cNvSpPr txBox="1"/>
          <p:nvPr/>
        </p:nvSpPr>
        <p:spPr>
          <a:xfrm>
            <a:off x="2209323" y="3738371"/>
            <a:ext cx="8866803"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Tout ce qui empêche de passer normalement : des travaux, un accident, une voie fermée. C'est le mot général.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Ça bloque ce matin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UN BULLETIN DIT TOUJOURS LES MÊMES QUATRE CHOSES</a:t>
            </a:r>
          </a:p>
        </p:txBody>
      </p:sp>
      <p:sp>
        <p:nvSpPr>
          <p:cNvPr id="6" name="Rounded Rectangle 5"/>
          <p:cNvSpPr/>
          <p:nvPr/>
        </p:nvSpPr>
        <p:spPr>
          <a:xfrm>
            <a:off x="566928" y="1225296"/>
            <a:ext cx="11057839" cy="2494788"/>
          </a:xfrm>
          <a:prstGeom prst="roundRect">
            <a:avLst>
              <a:gd name="adj" fmla="val 586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Ce qui bloque, où, depuis quand, et pour combien de temps encore. Toujours dans cet ordre.</a:t>
            </a:r>
          </a:p>
        </p:txBody>
      </p:sp>
      <p:sp>
        <p:nvSpPr>
          <p:cNvPr id="8" name="Rounded Rectangle 7"/>
          <p:cNvSpPr/>
          <p:nvPr/>
        </p:nvSpPr>
        <p:spPr>
          <a:xfrm>
            <a:off x="566928" y="3994404"/>
            <a:ext cx="11057839" cy="1303528"/>
          </a:xfrm>
          <a:prstGeom prst="roundRect">
            <a:avLst>
              <a:gd name="adj" fmla="val 1122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8463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Quand on sait qu'il y en a quatre, on cesse d'écouter des mots au hasard : on attend les quatre, l'une après l'autre.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Ça bloque ce matin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QUATRE ÉTATS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vocabulaire de la route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Un ralentissement</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Ça avance, mais lentement. On part quand même.</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Un bouchon</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Ça ne bouge presque plus. On cherche un autre chemin.</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Une entrave</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Tout ce qui empêche de circuler normalement.</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L'accotement</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La bande sur le bord, en dehors des voies.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Ça bloque ce matin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DEUX ÉTATS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Ça avance, ou ça n'avance plus</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UN RALENTISSEMENT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UN BOUCHON</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Ça roule au ralenti</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Ça ne bouge presque plus</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Trente à l'heure</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Dix mètres à la minute</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Vingt minutes de plus</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Personne ne sait</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On y va quand même</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On change de chemin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Ça bloque ce matin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CROIRE QU'IL FAUT TOUT COMPRENDRE DU PREMIER COUP</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n'ai rien compris, ça ne sert à rien d'écouter.</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J'attrape le nom de ma route, et j'écoute le bulletin suivant.</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bulletin repasse toutes les dix minutes, avec la même voix et les mêmes routes. Personne ne le comprend en entier du premier matin, même les gens d'ici.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Ça bloque ce matin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le dialogue.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Tereza fait la route avec Amine depuis deux ans.</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Amine a tout de suite compris les bulletins.</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ralentissement veut dire que les autos sont arrêtées.</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On peut s'arrêter sur l'accotement en cas de panne.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mot « entrave » couvre les travaux et les accidents.</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bulletin change de voix et de routes chaque jour.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Ça bloque ce matin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Tereza fait la route avec Amine depuis deux ans.   </a:t>
            </a:r>
            <a:r>
              <a:rPr sz="1400" b="1" i="0">
                <a:solidFill>
                  <a:srgbClr val="07734A"/>
                </a:solidFill>
                <a:latin typeface="Verdana"/>
              </a:rPr>
              <a:t>» vrai</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Amine a tout de suite compris les bulletins.   </a:t>
            </a:r>
            <a:r>
              <a:rPr sz="1400" b="1" i="0">
                <a:solidFill>
                  <a:srgbClr val="07734A"/>
                </a:solidFill>
                <a:latin typeface="Verdana"/>
              </a:rPr>
              <a:t>» faux — lui non plus, les premières années</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ralentissement veut dire que les autos sont arrêtées.   </a:t>
            </a:r>
            <a:r>
              <a:rPr sz="1400" b="1" i="0">
                <a:solidFill>
                  <a:srgbClr val="07734A"/>
                </a:solidFill>
                <a:latin typeface="Verdana"/>
              </a:rPr>
              <a:t>» faux — ça avance, mais lentement</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On peut s'arrêter sur l'accotement en cas de panne.   </a:t>
            </a:r>
            <a:r>
              <a:rPr sz="1400" b="1" i="0">
                <a:solidFill>
                  <a:srgbClr val="07734A"/>
                </a:solidFill>
                <a:latin typeface="Verdana"/>
              </a:rPr>
              <a:t>» vrai</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mot « entrave » couvre les travaux et les accidents.   </a:t>
            </a:r>
            <a:r>
              <a:rPr sz="1400" b="1" i="0">
                <a:solidFill>
                  <a:srgbClr val="07734A"/>
                </a:solidFill>
                <a:latin typeface="Verdana"/>
              </a:rPr>
              <a:t>» vrai</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bulletin change de voix et de routes chaque jour.   </a:t>
            </a:r>
            <a:r>
              <a:rPr sz="1400" b="1" i="0">
                <a:solidFill>
                  <a:srgbClr val="07734A"/>
                </a:solidFill>
                <a:latin typeface="Verdana"/>
              </a:rPr>
              <a:t>» faux — c'est ce qui le rend apprenable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Ça bloque ce matin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le nom de la route, du pont ou de la ligne d'autobus que vous prenez le matin.</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Ajoutez dans quel sens vous allez : vers le nord, vers le centre-ville.</a:t>
            </a:r>
          </a:p>
        </p:txBody>
      </p:sp>
      <p:sp>
        <p:nvSpPr>
          <p:cNvPr id="10" name="Rounded Rectangle 9"/>
          <p:cNvSpPr/>
          <p:nvPr/>
        </p:nvSpPr>
        <p:spPr>
          <a:xfrm>
            <a:off x="566928" y="4680712"/>
            <a:ext cx="11057839" cy="1022096"/>
          </a:xfrm>
          <a:prstGeom prst="roundRect">
            <a:avLst>
              <a:gd name="adj" fmla="val 8946"/>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7477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Si vous ne prenez pas la route, écrivez le trajet de quelqu'un que vous connaissez.</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Ça bloque ce matin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