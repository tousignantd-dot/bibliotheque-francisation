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Première séance du défi 2, et la plus exigeante du module en écoute. Faire écouter le bulletin de six heures cinquante en entier, sans arrêt, puis demander combien de routes ont été nommées. Peu de gens en trouvent quatre du premier coup, et c'est normal.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troisième objectif est une technique, pas une connaissance : si l'on attrape le nom, on sait tout de suite si la suite nous concerne — et sinon, on peut cesser d'écouter jusqu'à la route suivante. C'est permis, et c'est reposant.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remarquer que Tereza vérifie l'heure à voix haute : c'est ce qu'on fait quand on ne peut pas faire répéter. La formule « dense mais fluide » a été vue en A4 — la faire retrouver par le groupe.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traduction d'Amine est la leçon de la séance. « Pour le moment » annonce que la personne au micro s'attend au pire — c'est une formule figée, elle s'apprend d'un bloc.</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dernière réplique est la technique de tout le défi 2. Elle sera travaillée pour elle-même en C4. Personne ne retient quatre routes de tête à sept heures du matin, et ce n'est pas une question de langue.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Diapositive à photographier. Faire situer par chacun sa propre route dans cet ordre, à partir des billets ramassés en A1.</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remplir ce tableau pendant une deuxième écoute, à la volée. C'est exactement la note demandée en C4 — l'exercice commence ici.</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l'expérience : une écoute sans écrire, une écoute en écrivant. La différence se voit sur les feuilles, elle ne se discute pas.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Les six items viennent de l'exercice `t2a`. Faire justifier chaque « faux » en retrouvant la phrase exacte : c'est de l'écoute fine, pas de la mémoire.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Corriger en groupe. Donner la bonne réponse, sans revenir sur qui s'est trompé.</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Ramasser les billets : ils préparent directement la prise de notes de C4. Une note trouée est utilisable ; une note où tout est mêlé ne l'est pas.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DF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1234440"/>
            <a:ext cx="11057839" cy="274320"/>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SÉANCE C1  ·  MODULE 9</a:t>
            </a:r>
          </a:p>
        </p:txBody>
      </p:sp>
      <p:sp>
        <p:nvSpPr>
          <p:cNvPr id="4" name="TextBox 3"/>
          <p:cNvSpPr txBox="1"/>
          <p:nvPr/>
        </p:nvSpPr>
        <p:spPr>
          <a:xfrm>
            <a:off x="566928" y="1691640"/>
            <a:ext cx="9960559" cy="1874519"/>
          </a:xfrm>
          <a:prstGeom prst="rect">
            <a:avLst/>
          </a:prstGeom>
          <a:noFill/>
        </p:spPr>
        <p:txBody>
          <a:bodyPr wrap="square" lIns="0" rIns="0" tIns="0" bIns="0" anchor="t">
            <a:spAutoFit/>
          </a:bodyPr>
          <a:lstStyle/>
          <a:p>
            <a:pPr algn="l">
              <a:lnSpc>
                <a:spcPct val="105000"/>
              </a:lnSpc>
            </a:pPr>
            <a:r>
              <a:rPr sz="4000" b="1" i="0">
                <a:solidFill>
                  <a:srgbClr val="17181A"/>
                </a:solidFill>
                <a:latin typeface="Verdana"/>
              </a:rPr>
              <a:t>« Quatre routes en cinquante secondes »</a:t>
            </a:r>
          </a:p>
        </p:txBody>
      </p:sp>
      <p:sp>
        <p:nvSpPr>
          <p:cNvPr id="5" name="Rounded Rectangle 4"/>
          <p:cNvSpPr/>
          <p:nvPr/>
        </p:nvSpPr>
        <p:spPr>
          <a:xfrm>
            <a:off x="566928" y="3794760"/>
            <a:ext cx="9960559" cy="1763268"/>
          </a:xfrm>
          <a:prstGeom prst="roundRect">
            <a:avLst>
              <a:gd name="adj" fmla="val 8297"/>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96112" y="4123944"/>
            <a:ext cx="9302191" cy="11506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Un vrai bulletin ne parle pas d'une route : il en fait quatre en cinquante secondes, et la vôtre est peut-être la troisième. Tenir jusqu'au bout sans perdre le début, c'est tout le défi 2.</a:t>
            </a:r>
          </a:p>
        </p:txBody>
      </p:sp>
      <p:sp>
        <p:nvSpPr>
          <p:cNvPr id="7" name="TextBox 6"/>
          <p:cNvSpPr txBox="1"/>
          <p:nvPr/>
        </p:nvSpPr>
        <p:spPr>
          <a:xfrm>
            <a:off x="566928" y="6035040"/>
            <a:ext cx="11057839" cy="274320"/>
          </a:xfrm>
          <a:prstGeom prst="rect">
            <a:avLst/>
          </a:prstGeom>
          <a:noFill/>
        </p:spPr>
        <p:txBody>
          <a:bodyPr wrap="square" lIns="0" rIns="0" tIns="0" bIns="0" anchor="t">
            <a:spAutoFit/>
          </a:bodyPr>
          <a:lstStyle/>
          <a:p>
            <a:pPr algn="l">
              <a:lnSpc>
                <a:spcPct val="135000"/>
              </a:lnSpc>
            </a:pPr>
            <a:r>
              <a:rPr sz="1500" b="0" i="0">
                <a:solidFill>
                  <a:srgbClr val="6E7175"/>
                </a:solidFill>
                <a:latin typeface="Verdana"/>
              </a:rPr>
              <a:t>75 minutes  ·  Ça bloque ce matin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C1 · Ça bloque ce matin</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2</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OBJECTIFS DE LA SÉANCE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À la fin, je serai capable de…</a:t>
            </a:r>
          </a:p>
        </p:txBody>
      </p:sp>
      <p:sp>
        <p:nvSpPr>
          <p:cNvPr id="7" name="Rounded Rectangle 6"/>
          <p:cNvSpPr/>
          <p:nvPr/>
        </p:nvSpPr>
        <p:spPr>
          <a:xfrm>
            <a:off x="566928" y="1764792"/>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804672" y="1942592"/>
            <a:ext cx="402336" cy="402336"/>
          </a:xfrm>
          <a:prstGeom prst="roundRect">
            <a:avLst>
              <a:gd name="adj" fmla="val 31818"/>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04672" y="2024887"/>
            <a:ext cx="402336" cy="274320"/>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1</a:t>
            </a:r>
          </a:p>
        </p:txBody>
      </p:sp>
      <p:sp>
        <p:nvSpPr>
          <p:cNvPr id="10" name="TextBox 9"/>
          <p:cNvSpPr txBox="1"/>
          <p:nvPr/>
        </p:nvSpPr>
        <p:spPr>
          <a:xfrm>
            <a:off x="1408176" y="1965960"/>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suivre un bulletin de quatre ou cinq routes sans perdre le début ;</a:t>
            </a:r>
          </a:p>
        </p:txBody>
      </p:sp>
      <p:sp>
        <p:nvSpPr>
          <p:cNvPr id="11" name="Rounded Rectangle 10"/>
          <p:cNvSpPr/>
          <p:nvPr/>
        </p:nvSpPr>
        <p:spPr>
          <a:xfrm>
            <a:off x="566928" y="2650744"/>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804672" y="2828544"/>
            <a:ext cx="402336" cy="402336"/>
          </a:xfrm>
          <a:prstGeom prst="roundRect">
            <a:avLst>
              <a:gd name="adj" fmla="val 31818"/>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04672" y="2910840"/>
            <a:ext cx="402336" cy="274320"/>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2</a:t>
            </a:r>
          </a:p>
        </p:txBody>
      </p:sp>
      <p:sp>
        <p:nvSpPr>
          <p:cNvPr id="14" name="TextBox 13"/>
          <p:cNvSpPr txBox="1"/>
          <p:nvPr/>
        </p:nvSpPr>
        <p:spPr>
          <a:xfrm>
            <a:off x="1408176" y="2851912"/>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reconnaître l'ordre habituel : les ponts, les autoroutes, les rues ;</a:t>
            </a:r>
          </a:p>
        </p:txBody>
      </p:sp>
      <p:sp>
        <p:nvSpPr>
          <p:cNvPr id="15" name="Rounded Rectangle 14"/>
          <p:cNvSpPr/>
          <p:nvPr/>
        </p:nvSpPr>
        <p:spPr>
          <a:xfrm>
            <a:off x="566928" y="3536696"/>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804672" y="3714496"/>
            <a:ext cx="402336" cy="402336"/>
          </a:xfrm>
          <a:prstGeom prst="roundRect">
            <a:avLst>
              <a:gd name="adj" fmla="val 31818"/>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804672" y="3796792"/>
            <a:ext cx="402336" cy="274320"/>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3</a:t>
            </a:r>
          </a:p>
        </p:txBody>
      </p:sp>
      <p:sp>
        <p:nvSpPr>
          <p:cNvPr id="18" name="TextBox 17"/>
          <p:cNvSpPr txBox="1"/>
          <p:nvPr/>
        </p:nvSpPr>
        <p:spPr>
          <a:xfrm>
            <a:off x="1408176" y="3737864"/>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attraper le nom de la route en tête de phrase ;</a:t>
            </a:r>
          </a:p>
        </p:txBody>
      </p:sp>
      <p:sp>
        <p:nvSpPr>
          <p:cNvPr id="19" name="Rounded Rectangle 18"/>
          <p:cNvSpPr/>
          <p:nvPr/>
        </p:nvSpPr>
        <p:spPr>
          <a:xfrm>
            <a:off x="566928" y="4422648"/>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ounded Rectangle 19"/>
          <p:cNvSpPr/>
          <p:nvPr/>
        </p:nvSpPr>
        <p:spPr>
          <a:xfrm>
            <a:off x="804672" y="4600448"/>
            <a:ext cx="402336" cy="402336"/>
          </a:xfrm>
          <a:prstGeom prst="roundRect">
            <a:avLst>
              <a:gd name="adj" fmla="val 31818"/>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04672" y="4682744"/>
            <a:ext cx="402336" cy="274320"/>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4</a:t>
            </a:r>
          </a:p>
        </p:txBody>
      </p:sp>
      <p:sp>
        <p:nvSpPr>
          <p:cNvPr id="22" name="TextBox 21"/>
          <p:cNvSpPr txBox="1"/>
          <p:nvPr/>
        </p:nvSpPr>
        <p:spPr>
          <a:xfrm>
            <a:off x="1408176" y="4623816"/>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comprendre ce que « pour le moment » annonce.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C1 · Ça bloque ce matin</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3</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DIALOGUE · 1 DE 3</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Les ponts, d'abord</a:t>
            </a:r>
          </a:p>
        </p:txBody>
      </p:sp>
      <p:sp>
        <p:nvSpPr>
          <p:cNvPr id="7" name="TextBox 6"/>
          <p:cNvSpPr txBox="1"/>
          <p:nvPr/>
        </p:nvSpPr>
        <p:spPr>
          <a:xfrm>
            <a:off x="566928" y="173736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Écoutez d'abord, diapositive masquée.</a:t>
            </a:r>
          </a:p>
        </p:txBody>
      </p:sp>
      <p:sp>
        <p:nvSpPr>
          <p:cNvPr id="8" name="Rounded Rectangle 7"/>
          <p:cNvSpPr/>
          <p:nvPr/>
        </p:nvSpPr>
        <p:spPr>
          <a:xfrm>
            <a:off x="566928" y="2157984"/>
            <a:ext cx="11057839" cy="1342644"/>
          </a:xfrm>
          <a:prstGeom prst="roundRect">
            <a:avLst>
              <a:gd name="adj" fmla="val 10896"/>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32688" y="2322576"/>
            <a:ext cx="1341405" cy="1068324"/>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GAÉTAN</a:t>
            </a:r>
          </a:p>
        </p:txBody>
      </p:sp>
      <p:sp>
        <p:nvSpPr>
          <p:cNvPr id="10" name="TextBox 9"/>
          <p:cNvSpPr txBox="1"/>
          <p:nvPr/>
        </p:nvSpPr>
        <p:spPr>
          <a:xfrm>
            <a:off x="2274093" y="2322576"/>
            <a:ext cx="8802033" cy="1068324"/>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Six heures cinquante, le point sur la circulation. On commence par les ponts. Le pont Jacques-Cartier est fermé en direction de Montréal jusqu'à neuf heures.</a:t>
            </a:r>
          </a:p>
        </p:txBody>
      </p:sp>
      <p:sp>
        <p:nvSpPr>
          <p:cNvPr id="11" name="Rounded Rectangle 10"/>
          <p:cNvSpPr/>
          <p:nvPr/>
        </p:nvSpPr>
        <p:spPr>
          <a:xfrm>
            <a:off x="566928" y="3582923"/>
            <a:ext cx="11057839" cy="667003"/>
          </a:xfrm>
          <a:prstGeom prst="roundRect">
            <a:avLst>
              <a:gd name="adj" fmla="val 2193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932688" y="3747515"/>
            <a:ext cx="1341405" cy="39268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TEREZA</a:t>
            </a:r>
          </a:p>
        </p:txBody>
      </p:sp>
      <p:sp>
        <p:nvSpPr>
          <p:cNvPr id="13" name="TextBox 12"/>
          <p:cNvSpPr txBox="1"/>
          <p:nvPr/>
        </p:nvSpPr>
        <p:spPr>
          <a:xfrm>
            <a:off x="2274093" y="3747515"/>
            <a:ext cx="8802033"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Fermé jusqu'à neuf heures… Amine, il a dit neuf heures ?</a:t>
            </a:r>
          </a:p>
        </p:txBody>
      </p:sp>
      <p:sp>
        <p:nvSpPr>
          <p:cNvPr id="14" name="Rounded Rectangle 13"/>
          <p:cNvSpPr/>
          <p:nvPr/>
        </p:nvSpPr>
        <p:spPr>
          <a:xfrm>
            <a:off x="566928" y="4332224"/>
            <a:ext cx="11057839" cy="1004823"/>
          </a:xfrm>
          <a:prstGeom prst="roundRect">
            <a:avLst>
              <a:gd name="adj" fmla="val 14560"/>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932688" y="4496816"/>
            <a:ext cx="1341405" cy="73050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GAÉTAN</a:t>
            </a:r>
          </a:p>
        </p:txBody>
      </p:sp>
      <p:sp>
        <p:nvSpPr>
          <p:cNvPr id="16" name="TextBox 15"/>
          <p:cNvSpPr txBox="1"/>
          <p:nvPr/>
        </p:nvSpPr>
        <p:spPr>
          <a:xfrm>
            <a:off x="2274093" y="4496816"/>
            <a:ext cx="8802033" cy="73050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Sur le pont Samuel-De Champlain, la circulation est dense mais fluide. On calcule dix minutes d'attente.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C1 · Ça bloque ce matin</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4</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DIALOGUE · 2 DE 3</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Puis les autoroutes</a:t>
            </a:r>
          </a:p>
        </p:txBody>
      </p:sp>
      <p:sp>
        <p:nvSpPr>
          <p:cNvPr id="7" name="Rounded Rectangle 6"/>
          <p:cNvSpPr/>
          <p:nvPr/>
        </p:nvSpPr>
        <p:spPr>
          <a:xfrm>
            <a:off x="566928" y="1737360"/>
            <a:ext cx="11057839" cy="1004823"/>
          </a:xfrm>
          <a:prstGeom prst="roundRect">
            <a:avLst>
              <a:gd name="adj" fmla="val 14560"/>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01952"/>
            <a:ext cx="1341405" cy="73050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GAÉTAN</a:t>
            </a:r>
          </a:p>
        </p:txBody>
      </p:sp>
      <p:sp>
        <p:nvSpPr>
          <p:cNvPr id="9" name="TextBox 8"/>
          <p:cNvSpPr txBox="1"/>
          <p:nvPr/>
        </p:nvSpPr>
        <p:spPr>
          <a:xfrm>
            <a:off x="2274093" y="1901952"/>
            <a:ext cx="8802033" cy="73050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Sur l'autoroute 25, dans le pont-tunnel, tout est ouvert dans les deux sens. Aucune entrave à signaler.</a:t>
            </a:r>
          </a:p>
        </p:txBody>
      </p:sp>
      <p:sp>
        <p:nvSpPr>
          <p:cNvPr id="10" name="Rounded Rectangle 9"/>
          <p:cNvSpPr/>
          <p:nvPr/>
        </p:nvSpPr>
        <p:spPr>
          <a:xfrm>
            <a:off x="566928" y="2824479"/>
            <a:ext cx="11057839" cy="1342644"/>
          </a:xfrm>
          <a:prstGeom prst="roundRect">
            <a:avLst>
              <a:gd name="adj" fmla="val 10896"/>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2989072"/>
            <a:ext cx="1341405" cy="1068324"/>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GAÉTAN</a:t>
            </a:r>
          </a:p>
        </p:txBody>
      </p:sp>
      <p:sp>
        <p:nvSpPr>
          <p:cNvPr id="12" name="TextBox 11"/>
          <p:cNvSpPr txBox="1"/>
          <p:nvPr/>
        </p:nvSpPr>
        <p:spPr>
          <a:xfrm>
            <a:off x="2274093" y="2989072"/>
            <a:ext cx="8802033" cy="1068324"/>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Sur l'autoroute 40, un véhicule lourd est immobilisé sur l'accotement, à la hauteur de Pie-IX. La circulation n'est pas touchée pour le moment.</a:t>
            </a:r>
          </a:p>
        </p:txBody>
      </p:sp>
      <p:sp>
        <p:nvSpPr>
          <p:cNvPr id="13" name="Rounded Rectangle 12"/>
          <p:cNvSpPr/>
          <p:nvPr/>
        </p:nvSpPr>
        <p:spPr>
          <a:xfrm>
            <a:off x="566928" y="4249420"/>
            <a:ext cx="11057839" cy="1004823"/>
          </a:xfrm>
          <a:prstGeom prst="roundRect">
            <a:avLst>
              <a:gd name="adj" fmla="val 14560"/>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32688" y="4414012"/>
            <a:ext cx="1341405" cy="73050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AMINE</a:t>
            </a:r>
          </a:p>
        </p:txBody>
      </p:sp>
      <p:sp>
        <p:nvSpPr>
          <p:cNvPr id="15" name="TextBox 14"/>
          <p:cNvSpPr txBox="1"/>
          <p:nvPr/>
        </p:nvSpPr>
        <p:spPr>
          <a:xfrm>
            <a:off x="2274093" y="4414012"/>
            <a:ext cx="8802033" cy="73050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 Pas touchée pour le moment. » Ça veut dire : attends dix minutes et ce sera touché.</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C1 · Ça bloque ce matin</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5</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DIALOGUE · 3 DE 3</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Écrire pendant qu'on écoute</a:t>
            </a:r>
          </a:p>
        </p:txBody>
      </p:sp>
      <p:sp>
        <p:nvSpPr>
          <p:cNvPr id="7" name="Rounded Rectangle 6"/>
          <p:cNvSpPr/>
          <p:nvPr/>
        </p:nvSpPr>
        <p:spPr>
          <a:xfrm>
            <a:off x="566928" y="1737360"/>
            <a:ext cx="11057839" cy="1004823"/>
          </a:xfrm>
          <a:prstGeom prst="roundRect">
            <a:avLst>
              <a:gd name="adj" fmla="val 14560"/>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01952"/>
            <a:ext cx="1276635" cy="73050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TEREZA</a:t>
            </a:r>
          </a:p>
        </p:txBody>
      </p:sp>
      <p:sp>
        <p:nvSpPr>
          <p:cNvPr id="9" name="TextBox 8"/>
          <p:cNvSpPr txBox="1"/>
          <p:nvPr/>
        </p:nvSpPr>
        <p:spPr>
          <a:xfrm>
            <a:off x="2209323" y="1901952"/>
            <a:ext cx="8866803" cy="73050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Attends, je récapitule. Jacques-Cartier : fermé jusqu'à neuf heures. Champlain : ouvert, dix minutes d'attente.</a:t>
            </a:r>
          </a:p>
        </p:txBody>
      </p:sp>
      <p:sp>
        <p:nvSpPr>
          <p:cNvPr id="10" name="Rounded Rectangle 9"/>
          <p:cNvSpPr/>
          <p:nvPr/>
        </p:nvSpPr>
        <p:spPr>
          <a:xfrm>
            <a:off x="566928" y="2824479"/>
            <a:ext cx="11057839" cy="667003"/>
          </a:xfrm>
          <a:prstGeom prst="roundRect">
            <a:avLst>
              <a:gd name="adj" fmla="val 2193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2989072"/>
            <a:ext cx="1276635" cy="39268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AMINE</a:t>
            </a:r>
          </a:p>
        </p:txBody>
      </p:sp>
      <p:sp>
        <p:nvSpPr>
          <p:cNvPr id="12" name="TextBox 11"/>
          <p:cNvSpPr txBox="1"/>
          <p:nvPr/>
        </p:nvSpPr>
        <p:spPr>
          <a:xfrm>
            <a:off x="2209323" y="2989072"/>
            <a:ext cx="8866803"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Tu vois ? Tu l'as eu au complet.</a:t>
            </a:r>
          </a:p>
        </p:txBody>
      </p:sp>
      <p:sp>
        <p:nvSpPr>
          <p:cNvPr id="13" name="TextBox 12"/>
          <p:cNvSpPr txBox="1"/>
          <p:nvPr/>
        </p:nvSpPr>
        <p:spPr>
          <a:xfrm>
            <a:off x="932688" y="3738371"/>
            <a:ext cx="1276635" cy="73050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TEREZA</a:t>
            </a:r>
          </a:p>
        </p:txBody>
      </p:sp>
      <p:sp>
        <p:nvSpPr>
          <p:cNvPr id="14" name="TextBox 13"/>
          <p:cNvSpPr txBox="1"/>
          <p:nvPr/>
        </p:nvSpPr>
        <p:spPr>
          <a:xfrm>
            <a:off x="2209323" y="3738371"/>
            <a:ext cx="8866803" cy="73050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Je l'ai eu parce que je l'ai écrit. Si je ne l'écris pas, à la troisième route, j'ai déjà perdu la première.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C1 · Ça bloque ce matin</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6</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L'ORDRE DU BULLETIN EST PRESQUE TOUJOURS LE MÊME</a:t>
            </a:r>
          </a:p>
        </p:txBody>
      </p:sp>
      <p:sp>
        <p:nvSpPr>
          <p:cNvPr id="6" name="Rounded Rectangle 5"/>
          <p:cNvSpPr/>
          <p:nvPr/>
        </p:nvSpPr>
        <p:spPr>
          <a:xfrm>
            <a:off x="566928" y="1225296"/>
            <a:ext cx="11057839" cy="1967991"/>
          </a:xfrm>
          <a:prstGeom prst="roundRect">
            <a:avLst>
              <a:gd name="adj" fmla="val 743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298448" y="1682496"/>
            <a:ext cx="9594799" cy="1145032"/>
          </a:xfrm>
          <a:prstGeom prst="rect">
            <a:avLst/>
          </a:prstGeom>
          <a:noFill/>
        </p:spPr>
        <p:txBody>
          <a:bodyPr wrap="square" lIns="0" rIns="0" tIns="0" bIns="0" anchor="t">
            <a:spAutoFit/>
          </a:bodyPr>
          <a:lstStyle/>
          <a:p>
            <a:pPr algn="l">
              <a:lnSpc>
                <a:spcPct val="122000"/>
              </a:lnSpc>
            </a:pPr>
            <a:r>
              <a:rPr sz="3400" b="1" i="0">
                <a:solidFill>
                  <a:srgbClr val="17181A"/>
                </a:solidFill>
                <a:latin typeface="Verdana"/>
              </a:rPr>
              <a:t>Les ponts d'abord, les autoroutes ensuite, les grandes rues à la fin.</a:t>
            </a:r>
          </a:p>
        </p:txBody>
      </p:sp>
      <p:sp>
        <p:nvSpPr>
          <p:cNvPr id="8" name="Rounded Rectangle 7"/>
          <p:cNvSpPr/>
          <p:nvPr/>
        </p:nvSpPr>
        <p:spPr>
          <a:xfrm>
            <a:off x="566928" y="3467607"/>
            <a:ext cx="11057839" cy="1303528"/>
          </a:xfrm>
          <a:prstGeom prst="roundRect">
            <a:avLst>
              <a:gd name="adj" fmla="val 11223"/>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69264" y="3741927"/>
            <a:ext cx="10234879" cy="846327"/>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Quand on connaît cet ordre, on sait quand arrive sa route — et on peut se reposer entre les deux.</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C1 · Ça bloque ce matin</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7</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LE BULLETIN DE 6 H 50</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Quatre routes, quatre états</a:t>
            </a:r>
          </a:p>
        </p:txBody>
      </p:sp>
      <p:sp>
        <p:nvSpPr>
          <p:cNvPr id="7" name="Rounded Rectangle 6"/>
          <p:cNvSpPr/>
          <p:nvPr/>
        </p:nvSpPr>
        <p:spPr>
          <a:xfrm>
            <a:off x="566928" y="1810512"/>
            <a:ext cx="11057839" cy="3337560"/>
          </a:xfrm>
          <a:prstGeom prst="roundRect">
            <a:avLst>
              <a:gd name="adj" fmla="val 4383"/>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75104"/>
            <a:ext cx="3291492"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LA ROUTE</a:t>
            </a:r>
          </a:p>
        </p:txBody>
      </p:sp>
      <p:sp>
        <p:nvSpPr>
          <p:cNvPr id="9" name="TextBox 8"/>
          <p:cNvSpPr txBox="1"/>
          <p:nvPr/>
        </p:nvSpPr>
        <p:spPr>
          <a:xfrm>
            <a:off x="4443636" y="1975104"/>
            <a:ext cx="6595914"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SON ÉTAT</a:t>
            </a:r>
          </a:p>
        </p:txBody>
      </p:sp>
      <p:sp>
        <p:nvSpPr>
          <p:cNvPr id="10" name="TextBox 9"/>
          <p:cNvSpPr txBox="1"/>
          <p:nvPr/>
        </p:nvSpPr>
        <p:spPr>
          <a:xfrm>
            <a:off x="932688" y="2395728"/>
            <a:ext cx="3291492"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Jacques-Cartier</a:t>
            </a:r>
          </a:p>
        </p:txBody>
      </p:sp>
      <p:sp>
        <p:nvSpPr>
          <p:cNvPr id="11" name="TextBox 10"/>
          <p:cNvSpPr txBox="1"/>
          <p:nvPr/>
        </p:nvSpPr>
        <p:spPr>
          <a:xfrm>
            <a:off x="4443636" y="2395728"/>
            <a:ext cx="6595914" cy="338328"/>
          </a:xfrm>
          <a:prstGeom prst="rect">
            <a:avLst/>
          </a:prstGeom>
          <a:noFill/>
        </p:spPr>
        <p:txBody>
          <a:bodyPr wrap="square" lIns="0" rIns="0" tIns="0" bIns="0" anchor="t">
            <a:spAutoFit/>
          </a:bodyPr>
          <a:lstStyle/>
          <a:p>
            <a:pPr algn="l">
              <a:lnSpc>
                <a:spcPct val="132000"/>
              </a:lnSpc>
            </a:pPr>
            <a:r>
              <a:rPr sz="1800" b="1" i="0">
                <a:solidFill>
                  <a:srgbClr val="1D6B8F"/>
                </a:solidFill>
                <a:latin typeface="Verdana"/>
              </a:rPr>
              <a:t>fermé jusqu'à 9 h</a:t>
            </a:r>
          </a:p>
        </p:txBody>
      </p:sp>
      <p:sp>
        <p:nvSpPr>
          <p:cNvPr id="12" name="Rectangle 11"/>
          <p:cNvSpPr/>
          <p:nvPr/>
        </p:nvSpPr>
        <p:spPr>
          <a:xfrm>
            <a:off x="932688" y="2807208"/>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32688" y="2935224"/>
            <a:ext cx="3291492"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Samuel-De Champlain</a:t>
            </a:r>
          </a:p>
        </p:txBody>
      </p:sp>
      <p:sp>
        <p:nvSpPr>
          <p:cNvPr id="14" name="TextBox 13"/>
          <p:cNvSpPr txBox="1"/>
          <p:nvPr/>
        </p:nvSpPr>
        <p:spPr>
          <a:xfrm>
            <a:off x="4443636" y="2935224"/>
            <a:ext cx="6595914" cy="338328"/>
          </a:xfrm>
          <a:prstGeom prst="rect">
            <a:avLst/>
          </a:prstGeom>
          <a:noFill/>
        </p:spPr>
        <p:txBody>
          <a:bodyPr wrap="square" lIns="0" rIns="0" tIns="0" bIns="0" anchor="t">
            <a:spAutoFit/>
          </a:bodyPr>
          <a:lstStyle/>
          <a:p>
            <a:pPr algn="l">
              <a:lnSpc>
                <a:spcPct val="132000"/>
              </a:lnSpc>
            </a:pPr>
            <a:r>
              <a:rPr sz="1800" b="1" i="0">
                <a:solidFill>
                  <a:srgbClr val="1D6B8F"/>
                </a:solidFill>
                <a:latin typeface="Verdana"/>
              </a:rPr>
              <a:t>ouvert, 10 min d'attente</a:t>
            </a:r>
          </a:p>
        </p:txBody>
      </p:sp>
      <p:sp>
        <p:nvSpPr>
          <p:cNvPr id="15" name="Rectangle 14"/>
          <p:cNvSpPr/>
          <p:nvPr/>
        </p:nvSpPr>
        <p:spPr>
          <a:xfrm>
            <a:off x="932688" y="3346704"/>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932688" y="3474720"/>
            <a:ext cx="3291492"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Le pont-tunnel</a:t>
            </a:r>
          </a:p>
        </p:txBody>
      </p:sp>
      <p:sp>
        <p:nvSpPr>
          <p:cNvPr id="17" name="TextBox 16"/>
          <p:cNvSpPr txBox="1"/>
          <p:nvPr/>
        </p:nvSpPr>
        <p:spPr>
          <a:xfrm>
            <a:off x="4443636" y="3474720"/>
            <a:ext cx="6595914" cy="338328"/>
          </a:xfrm>
          <a:prstGeom prst="rect">
            <a:avLst/>
          </a:prstGeom>
          <a:noFill/>
        </p:spPr>
        <p:txBody>
          <a:bodyPr wrap="square" lIns="0" rIns="0" tIns="0" bIns="0" anchor="t">
            <a:spAutoFit/>
          </a:bodyPr>
          <a:lstStyle/>
          <a:p>
            <a:pPr algn="l">
              <a:lnSpc>
                <a:spcPct val="132000"/>
              </a:lnSpc>
            </a:pPr>
            <a:r>
              <a:rPr sz="1800" b="1" i="0">
                <a:solidFill>
                  <a:srgbClr val="1D6B8F"/>
                </a:solidFill>
                <a:latin typeface="Verdana"/>
              </a:rPr>
              <a:t>aucune entrave</a:t>
            </a:r>
          </a:p>
        </p:txBody>
      </p:sp>
      <p:sp>
        <p:nvSpPr>
          <p:cNvPr id="18" name="Rectangle 17"/>
          <p:cNvSpPr/>
          <p:nvPr/>
        </p:nvSpPr>
        <p:spPr>
          <a:xfrm>
            <a:off x="932688" y="3886200"/>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32688" y="4014215"/>
            <a:ext cx="3291492"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L'autoroute 40</a:t>
            </a:r>
          </a:p>
        </p:txBody>
      </p:sp>
      <p:sp>
        <p:nvSpPr>
          <p:cNvPr id="20" name="TextBox 19"/>
          <p:cNvSpPr txBox="1"/>
          <p:nvPr/>
        </p:nvSpPr>
        <p:spPr>
          <a:xfrm>
            <a:off x="4443636" y="4014215"/>
            <a:ext cx="6595914" cy="338328"/>
          </a:xfrm>
          <a:prstGeom prst="rect">
            <a:avLst/>
          </a:prstGeom>
          <a:noFill/>
        </p:spPr>
        <p:txBody>
          <a:bodyPr wrap="square" lIns="0" rIns="0" tIns="0" bIns="0" anchor="t">
            <a:spAutoFit/>
          </a:bodyPr>
          <a:lstStyle/>
          <a:p>
            <a:pPr algn="l">
              <a:lnSpc>
                <a:spcPct val="132000"/>
              </a:lnSpc>
            </a:pPr>
            <a:r>
              <a:rPr sz="1800" b="1" i="0">
                <a:solidFill>
                  <a:srgbClr val="1D6B8F"/>
                </a:solidFill>
                <a:latin typeface="Verdana"/>
              </a:rPr>
              <a:t>camion sur l'accotement</a:t>
            </a:r>
          </a:p>
        </p:txBody>
      </p:sp>
      <p:sp>
        <p:nvSpPr>
          <p:cNvPr id="21" name="Rectangle 20"/>
          <p:cNvSpPr/>
          <p:nvPr/>
        </p:nvSpPr>
        <p:spPr>
          <a:xfrm>
            <a:off x="932688" y="4425696"/>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32688" y="4553712"/>
            <a:ext cx="3291492"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Henri-Bourassa</a:t>
            </a:r>
          </a:p>
        </p:txBody>
      </p:sp>
      <p:sp>
        <p:nvSpPr>
          <p:cNvPr id="23" name="TextBox 22"/>
          <p:cNvSpPr txBox="1"/>
          <p:nvPr/>
        </p:nvSpPr>
        <p:spPr>
          <a:xfrm>
            <a:off x="4443636" y="4553712"/>
            <a:ext cx="6595914" cy="338328"/>
          </a:xfrm>
          <a:prstGeom prst="rect">
            <a:avLst/>
          </a:prstGeom>
          <a:noFill/>
        </p:spPr>
        <p:txBody>
          <a:bodyPr wrap="square" lIns="0" rIns="0" tIns="0" bIns="0" anchor="t">
            <a:spAutoFit/>
          </a:bodyPr>
          <a:lstStyle/>
          <a:p>
            <a:pPr algn="l">
              <a:lnSpc>
                <a:spcPct val="132000"/>
              </a:lnSpc>
            </a:pPr>
            <a:r>
              <a:rPr sz="1800" b="1" i="0">
                <a:solidFill>
                  <a:srgbClr val="1D6B8F"/>
                </a:solidFill>
                <a:latin typeface="Verdana"/>
              </a:rPr>
              <a:t>nid-de-poule, voie de droite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C1 · Ça bloque ce matin</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8</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VOULOIR TOUT COMPRENDRE AVANT DE NOTER</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 piège le plus fréquent</a:t>
            </a:r>
          </a:p>
        </p:txBody>
      </p:sp>
      <p:sp>
        <p:nvSpPr>
          <p:cNvPr id="7" name="Rounded Rectangle 6"/>
          <p:cNvSpPr/>
          <p:nvPr/>
        </p:nvSpPr>
        <p:spPr>
          <a:xfrm>
            <a:off x="566928" y="1856232"/>
            <a:ext cx="5428335" cy="2331720"/>
          </a:xfrm>
          <a:prstGeom prst="roundRect">
            <a:avLst>
              <a:gd name="adj" fmla="val 6274"/>
            </a:avLst>
          </a:prstGeom>
          <a:solidFill>
            <a:srgbClr val="FFF6F5"/>
          </a:solidFill>
          <a:ln w="12700">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B91C1C"/>
                </a:solidFill>
                <a:latin typeface="Verdana"/>
              </a:rPr>
              <a:t>ON ENTEND SOUVENT</a:t>
            </a:r>
          </a:p>
        </p:txBody>
      </p:sp>
      <p:sp>
        <p:nvSpPr>
          <p:cNvPr id="9" name="TextBox 8"/>
          <p:cNvSpPr txBox="1"/>
          <p:nvPr/>
        </p:nvSpPr>
        <p:spPr>
          <a:xfrm>
            <a:off x="932688"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J'écoute d'abord, j'écrirai ensuite.</a:t>
            </a:r>
          </a:p>
        </p:txBody>
      </p:sp>
      <p:sp>
        <p:nvSpPr>
          <p:cNvPr id="10" name="Rounded Rectangle 9"/>
          <p:cNvSpPr/>
          <p:nvPr/>
        </p:nvSpPr>
        <p:spPr>
          <a:xfrm>
            <a:off x="6196431" y="1856232"/>
            <a:ext cx="5428335" cy="2331720"/>
          </a:xfrm>
          <a:prstGeom prst="roundRect">
            <a:avLst>
              <a:gd name="adj" fmla="val 6274"/>
            </a:avLst>
          </a:prstGeom>
          <a:solidFill>
            <a:srgbClr val="E6F5EE"/>
          </a:solidFill>
          <a:ln w="12700">
            <a:solidFill>
              <a:srgbClr val="0A8F5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562191"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07734A"/>
                </a:solidFill>
                <a:latin typeface="Verdana"/>
              </a:rPr>
              <a:t>IL FAUT DIRE PLUTÔT</a:t>
            </a:r>
          </a:p>
        </p:txBody>
      </p:sp>
      <p:sp>
        <p:nvSpPr>
          <p:cNvPr id="12" name="TextBox 11"/>
          <p:cNvSpPr txBox="1"/>
          <p:nvPr/>
        </p:nvSpPr>
        <p:spPr>
          <a:xfrm>
            <a:off x="6562191"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J'écris le nom de la route pendant qu'il dit la suite.</a:t>
            </a:r>
          </a:p>
        </p:txBody>
      </p:sp>
      <p:sp>
        <p:nvSpPr>
          <p:cNvPr id="13" name="Rounded Rectangle 12"/>
          <p:cNvSpPr/>
          <p:nvPr/>
        </p:nvSpPr>
        <p:spPr>
          <a:xfrm>
            <a:off x="566928" y="4462272"/>
            <a:ext cx="11057839" cy="1285240"/>
          </a:xfrm>
          <a:prstGeom prst="roundRect">
            <a:avLst>
              <a:gd name="adj" fmla="val 11383"/>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69264" y="4736592"/>
            <a:ext cx="10234879" cy="7823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Le nom arrive en tête de phrase et la suite dure trois secondes. Si l'on attend d'avoir compris, la route suivante est déjà commencée.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C1 · Ça bloque ce matin</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9</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COMPRÉHENSION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Vrai ou faux ?</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Répondez d'après le bulletin de six heures cinquante.</a:t>
            </a:r>
          </a:p>
        </p:txBody>
      </p:sp>
      <p:sp>
        <p:nvSpPr>
          <p:cNvPr id="8" name="Rounded Rectangle 7"/>
          <p:cNvSpPr/>
          <p:nvPr/>
        </p:nvSpPr>
        <p:spPr>
          <a:xfrm>
            <a:off x="566928" y="2139696"/>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36724"/>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00732"/>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1</a:t>
            </a:r>
          </a:p>
        </p:txBody>
      </p:sp>
      <p:sp>
        <p:nvSpPr>
          <p:cNvPr id="11" name="TextBox 10"/>
          <p:cNvSpPr txBox="1"/>
          <p:nvPr/>
        </p:nvSpPr>
        <p:spPr>
          <a:xfrm>
            <a:off x="1344168" y="229514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Le pont Jacques-Cartier est fermé vers Montréal.</a:t>
            </a:r>
          </a:p>
        </p:txBody>
      </p:sp>
      <p:sp>
        <p:nvSpPr>
          <p:cNvPr id="12" name="Rounded Rectangle 11"/>
          <p:cNvSpPr/>
          <p:nvPr/>
        </p:nvSpPr>
        <p:spPr>
          <a:xfrm>
            <a:off x="566928" y="2827528"/>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2924556"/>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2988564"/>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2</a:t>
            </a:r>
          </a:p>
        </p:txBody>
      </p:sp>
      <p:sp>
        <p:nvSpPr>
          <p:cNvPr id="15" name="TextBox 14"/>
          <p:cNvSpPr txBox="1"/>
          <p:nvPr/>
        </p:nvSpPr>
        <p:spPr>
          <a:xfrm>
            <a:off x="1344168" y="2982975"/>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Il rouvrira vers midi.</a:t>
            </a:r>
          </a:p>
        </p:txBody>
      </p:sp>
      <p:sp>
        <p:nvSpPr>
          <p:cNvPr id="16" name="Rounded Rectangle 15"/>
          <p:cNvSpPr/>
          <p:nvPr/>
        </p:nvSpPr>
        <p:spPr>
          <a:xfrm>
            <a:off x="566928" y="3515359"/>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612388"/>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676395"/>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3</a:t>
            </a:r>
          </a:p>
        </p:txBody>
      </p:sp>
      <p:sp>
        <p:nvSpPr>
          <p:cNvPr id="19" name="TextBox 18"/>
          <p:cNvSpPr txBox="1"/>
          <p:nvPr/>
        </p:nvSpPr>
        <p:spPr>
          <a:xfrm>
            <a:off x="1344168" y="3670807"/>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On attend dix minutes à l'approche de Champlain.</a:t>
            </a:r>
          </a:p>
        </p:txBody>
      </p:sp>
      <p:sp>
        <p:nvSpPr>
          <p:cNvPr id="20" name="Rounded Rectangle 19"/>
          <p:cNvSpPr/>
          <p:nvPr/>
        </p:nvSpPr>
        <p:spPr>
          <a:xfrm>
            <a:off x="566928" y="4203192"/>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300220"/>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364228"/>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4</a:t>
            </a:r>
          </a:p>
        </p:txBody>
      </p:sp>
      <p:sp>
        <p:nvSpPr>
          <p:cNvPr id="23" name="TextBox 22"/>
          <p:cNvSpPr txBox="1"/>
          <p:nvPr/>
        </p:nvSpPr>
        <p:spPr>
          <a:xfrm>
            <a:off x="1344168" y="4358640"/>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Le pont-tunnel est fermé dans un sens.</a:t>
            </a:r>
          </a:p>
        </p:txBody>
      </p:sp>
      <p:sp>
        <p:nvSpPr>
          <p:cNvPr id="24" name="Rounded Rectangle 23"/>
          <p:cNvSpPr/>
          <p:nvPr/>
        </p:nvSpPr>
        <p:spPr>
          <a:xfrm>
            <a:off x="566928" y="4891023"/>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4988051"/>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052059"/>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5</a:t>
            </a:r>
          </a:p>
        </p:txBody>
      </p:sp>
      <p:sp>
        <p:nvSpPr>
          <p:cNvPr id="27" name="TextBox 26"/>
          <p:cNvSpPr txBox="1"/>
          <p:nvPr/>
        </p:nvSpPr>
        <p:spPr>
          <a:xfrm>
            <a:off x="1344168" y="5046471"/>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Le nid-de-poule est sur l'autoroute 40.</a:t>
            </a:r>
          </a:p>
        </p:txBody>
      </p:sp>
      <p:sp>
        <p:nvSpPr>
          <p:cNvPr id="28" name="Rounded Rectangle 27"/>
          <p:cNvSpPr/>
          <p:nvPr/>
        </p:nvSpPr>
        <p:spPr>
          <a:xfrm>
            <a:off x="566928" y="5578856"/>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841247" y="5675884"/>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41247" y="5739892"/>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6</a:t>
            </a:r>
          </a:p>
        </p:txBody>
      </p:sp>
      <p:sp>
        <p:nvSpPr>
          <p:cNvPr id="31" name="TextBox 30"/>
          <p:cNvSpPr txBox="1"/>
          <p:nvPr/>
        </p:nvSpPr>
        <p:spPr>
          <a:xfrm>
            <a:off x="1344168" y="573430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Le prochain bulletin passe dans dix minutes.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C1 · Ça bloque ce matin</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10</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CORRECTION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Vrai ou faux ?</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Correction — on lit la réponse, on ne commente pas l'erreur.</a:t>
            </a:r>
          </a:p>
        </p:txBody>
      </p:sp>
      <p:sp>
        <p:nvSpPr>
          <p:cNvPr id="8" name="Rounded Rectangle 7"/>
          <p:cNvSpPr/>
          <p:nvPr/>
        </p:nvSpPr>
        <p:spPr>
          <a:xfrm>
            <a:off x="566928" y="2139696"/>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36724"/>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00732"/>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1</a:t>
            </a:r>
          </a:p>
        </p:txBody>
      </p:sp>
      <p:sp>
        <p:nvSpPr>
          <p:cNvPr id="11" name="TextBox 10"/>
          <p:cNvSpPr txBox="1"/>
          <p:nvPr/>
        </p:nvSpPr>
        <p:spPr>
          <a:xfrm>
            <a:off x="1344168" y="229514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Le pont Jacques-Cartier est fermé vers Montréal.   </a:t>
            </a:r>
            <a:r>
              <a:rPr sz="1400" b="1" i="0">
                <a:solidFill>
                  <a:srgbClr val="07734A"/>
                </a:solidFill>
                <a:latin typeface="Verdana"/>
              </a:rPr>
              <a:t>» vrai</a:t>
            </a:r>
          </a:p>
        </p:txBody>
      </p:sp>
      <p:sp>
        <p:nvSpPr>
          <p:cNvPr id="12" name="Rounded Rectangle 11"/>
          <p:cNvSpPr/>
          <p:nvPr/>
        </p:nvSpPr>
        <p:spPr>
          <a:xfrm>
            <a:off x="566928" y="2827528"/>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2924556"/>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2988564"/>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2</a:t>
            </a:r>
          </a:p>
        </p:txBody>
      </p:sp>
      <p:sp>
        <p:nvSpPr>
          <p:cNvPr id="15" name="TextBox 14"/>
          <p:cNvSpPr txBox="1"/>
          <p:nvPr/>
        </p:nvSpPr>
        <p:spPr>
          <a:xfrm>
            <a:off x="1344168" y="2982975"/>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Il rouvrira vers midi.   </a:t>
            </a:r>
            <a:r>
              <a:rPr sz="1400" b="1" i="0">
                <a:solidFill>
                  <a:srgbClr val="07734A"/>
                </a:solidFill>
                <a:latin typeface="Verdana"/>
              </a:rPr>
              <a:t>» faux — à neuf heures</a:t>
            </a:r>
          </a:p>
        </p:txBody>
      </p:sp>
      <p:sp>
        <p:nvSpPr>
          <p:cNvPr id="16" name="Rounded Rectangle 15"/>
          <p:cNvSpPr/>
          <p:nvPr/>
        </p:nvSpPr>
        <p:spPr>
          <a:xfrm>
            <a:off x="566928" y="3515359"/>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612388"/>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676395"/>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3</a:t>
            </a:r>
          </a:p>
        </p:txBody>
      </p:sp>
      <p:sp>
        <p:nvSpPr>
          <p:cNvPr id="19" name="TextBox 18"/>
          <p:cNvSpPr txBox="1"/>
          <p:nvPr/>
        </p:nvSpPr>
        <p:spPr>
          <a:xfrm>
            <a:off x="1344168" y="3670807"/>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On attend dix minutes à l'approche de Champlain.   </a:t>
            </a:r>
            <a:r>
              <a:rPr sz="1400" b="1" i="0">
                <a:solidFill>
                  <a:srgbClr val="07734A"/>
                </a:solidFill>
                <a:latin typeface="Verdana"/>
              </a:rPr>
              <a:t>» vrai</a:t>
            </a:r>
          </a:p>
        </p:txBody>
      </p:sp>
      <p:sp>
        <p:nvSpPr>
          <p:cNvPr id="20" name="Rounded Rectangle 19"/>
          <p:cNvSpPr/>
          <p:nvPr/>
        </p:nvSpPr>
        <p:spPr>
          <a:xfrm>
            <a:off x="566928" y="4203192"/>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300220"/>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364228"/>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4</a:t>
            </a:r>
          </a:p>
        </p:txBody>
      </p:sp>
      <p:sp>
        <p:nvSpPr>
          <p:cNvPr id="23" name="TextBox 22"/>
          <p:cNvSpPr txBox="1"/>
          <p:nvPr/>
        </p:nvSpPr>
        <p:spPr>
          <a:xfrm>
            <a:off x="1344168" y="4358640"/>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Le pont-tunnel est fermé dans un sens.   </a:t>
            </a:r>
            <a:r>
              <a:rPr sz="1400" b="1" i="0">
                <a:solidFill>
                  <a:srgbClr val="07734A"/>
                </a:solidFill>
                <a:latin typeface="Verdana"/>
              </a:rPr>
              <a:t>» faux — tout est ouvert</a:t>
            </a:r>
          </a:p>
        </p:txBody>
      </p:sp>
      <p:sp>
        <p:nvSpPr>
          <p:cNvPr id="24" name="Rounded Rectangle 23"/>
          <p:cNvSpPr/>
          <p:nvPr/>
        </p:nvSpPr>
        <p:spPr>
          <a:xfrm>
            <a:off x="566928" y="4891023"/>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4988051"/>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052059"/>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5</a:t>
            </a:r>
          </a:p>
        </p:txBody>
      </p:sp>
      <p:sp>
        <p:nvSpPr>
          <p:cNvPr id="27" name="TextBox 26"/>
          <p:cNvSpPr txBox="1"/>
          <p:nvPr/>
        </p:nvSpPr>
        <p:spPr>
          <a:xfrm>
            <a:off x="1344168" y="5046471"/>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Le nid-de-poule est sur l'autoroute 40.   </a:t>
            </a:r>
            <a:r>
              <a:rPr sz="1400" b="1" i="0">
                <a:solidFill>
                  <a:srgbClr val="07734A"/>
                </a:solidFill>
                <a:latin typeface="Verdana"/>
              </a:rPr>
              <a:t>» faux — sur Henri-Bourassa</a:t>
            </a:r>
          </a:p>
        </p:txBody>
      </p:sp>
      <p:sp>
        <p:nvSpPr>
          <p:cNvPr id="28" name="Rounded Rectangle 27"/>
          <p:cNvSpPr/>
          <p:nvPr/>
        </p:nvSpPr>
        <p:spPr>
          <a:xfrm>
            <a:off x="566928" y="5578856"/>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841247" y="5675884"/>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41247" y="5739892"/>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6</a:t>
            </a:r>
          </a:p>
        </p:txBody>
      </p:sp>
      <p:sp>
        <p:nvSpPr>
          <p:cNvPr id="31" name="TextBox 30"/>
          <p:cNvSpPr txBox="1"/>
          <p:nvPr/>
        </p:nvSpPr>
        <p:spPr>
          <a:xfrm>
            <a:off x="1344168" y="573430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Le prochain bulletin passe dans dix minutes.   </a:t>
            </a:r>
            <a:r>
              <a:rPr sz="1400" b="1" i="0">
                <a:solidFill>
                  <a:srgbClr val="07734A"/>
                </a:solidFill>
                <a:latin typeface="Verdana"/>
              </a:rPr>
              <a:t>» vrai</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C1 · Ça bloque ce matin</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11</a:t>
            </a:r>
          </a:p>
        </p:txBody>
      </p:sp>
      <p:sp>
        <p:nvSpPr>
          <p:cNvPr id="5" name="Rectangle 4"/>
          <p:cNvSpPr/>
          <p:nvPr/>
        </p:nvSpPr>
        <p:spPr>
          <a:xfrm>
            <a:off x="0" y="0"/>
            <a:ext cx="12191695" cy="6858000"/>
          </a:xfrm>
          <a:prstGeom prst="rect">
            <a:avLst/>
          </a:prstGeom>
          <a:solidFill>
            <a:srgbClr val="1718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66928" y="1051560"/>
            <a:ext cx="11057839" cy="274320"/>
          </a:xfrm>
          <a:prstGeom prst="rect">
            <a:avLst/>
          </a:prstGeom>
          <a:noFill/>
        </p:spPr>
        <p:txBody>
          <a:bodyPr wrap="square" lIns="0" rIns="0" tIns="0" bIns="0" anchor="t">
            <a:spAutoFit/>
          </a:bodyPr>
          <a:lstStyle/>
          <a:p>
            <a:pPr algn="l">
              <a:lnSpc>
                <a:spcPct val="135000"/>
              </a:lnSpc>
            </a:pPr>
            <a:r>
              <a:rPr sz="1300" b="1" i="0" spc="156">
                <a:solidFill>
                  <a:srgbClr val="FFFFFF"/>
                </a:solidFill>
                <a:latin typeface="Verdana"/>
              </a:rPr>
              <a:t>BILLET DE SORTIE</a:t>
            </a:r>
          </a:p>
        </p:txBody>
      </p:sp>
      <p:sp>
        <p:nvSpPr>
          <p:cNvPr id="7" name="TextBox 6"/>
          <p:cNvSpPr txBox="1"/>
          <p:nvPr/>
        </p:nvSpPr>
        <p:spPr>
          <a:xfrm>
            <a:off x="566928" y="1572768"/>
            <a:ext cx="9777679" cy="2103120"/>
          </a:xfrm>
          <a:prstGeom prst="rect">
            <a:avLst/>
          </a:prstGeom>
          <a:noFill/>
        </p:spPr>
        <p:txBody>
          <a:bodyPr wrap="square" lIns="0" rIns="0" tIns="0" bIns="0" anchor="t">
            <a:spAutoFit/>
          </a:bodyPr>
          <a:lstStyle/>
          <a:p>
            <a:pPr algn="l">
              <a:lnSpc>
                <a:spcPct val="125000"/>
              </a:lnSpc>
            </a:pPr>
            <a:r>
              <a:rPr sz="3400" b="1" i="0">
                <a:solidFill>
                  <a:srgbClr val="FFFFFF"/>
                </a:solidFill>
                <a:latin typeface="Verdana"/>
              </a:rPr>
              <a:t>Écrivez les quatre routes du bulletin, une par ligne, avec un mot pour l'état.</a:t>
            </a:r>
          </a:p>
        </p:txBody>
      </p:sp>
      <p:sp>
        <p:nvSpPr>
          <p:cNvPr id="8" name="Rounded Rectangle 7"/>
          <p:cNvSpPr/>
          <p:nvPr/>
        </p:nvSpPr>
        <p:spPr>
          <a:xfrm>
            <a:off x="566928" y="3931920"/>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32688" y="4087368"/>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Le nom d'abord, l'état en trois mots : Jacques-Cartier — fermé 9 h.</a:t>
            </a:r>
          </a:p>
        </p:txBody>
      </p:sp>
      <p:sp>
        <p:nvSpPr>
          <p:cNvPr id="10" name="Rounded Rectangle 9"/>
          <p:cNvSpPr/>
          <p:nvPr/>
        </p:nvSpPr>
        <p:spPr>
          <a:xfrm>
            <a:off x="566928" y="4680712"/>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4836160"/>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Si vous en avez manqué une, laissez la ligne vide.</a:t>
            </a:r>
          </a:p>
        </p:txBody>
      </p:sp>
      <p:sp>
        <p:nvSpPr>
          <p:cNvPr id="12" name="TextBox 11"/>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C1 · Ça bloque ce matin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