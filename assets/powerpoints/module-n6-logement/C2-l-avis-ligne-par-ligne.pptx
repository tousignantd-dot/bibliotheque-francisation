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Séance longue, en deux temps : lecture de l'avis à la première heure, exercice interactif à la seconde. Projeter la lettre entière avant de la découper.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deuxième objectif est celui qui change une démarche. Un élève qui écrit « accepteriez-vous que… » n'a pas fait d'avis, et son délai ne court pas.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question de la politesse revient toujours, et la réponse est importante : un avis n'est pas impoli, il est simplement d'une autre nature qu'une demande. La politesse est ailleurs, dans le ton.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Faire vérifier sur la lettre projetée que les cinq y sont, et faire dire ce qui manquerait à la démarche si l'un sautait.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Écrire les deux formules au tableau, l'une sous l'autre, et les laisser jusqu'à E2 : c'est le modèle du courriel que chacun écrira.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choisir à chacun celle qu'il emploierait, et pourquoi. Le débat vaut la peine : plusieurs élèves n'osent pas demander une signature, et c'est justement ce que la séance doit débloquer.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Même travail que dans l'exercice interactif, où l'élève clique le passage dans la lettre. Le faire d'abord au tableau, sur la lettre projetée, avec un élève qui vient pointer.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lire les deux colonnes à voix haute par deux élèves différents : la différence de ton s'entend mieux qu'elle ne s'explique.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Cinq minutes. C'est le premier jet du courriel de E2. Ramasser, annoter brièvement, et les rendre au début de la séance E2 plutôt que de les corriger devant tout le monde.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SÉANCE C2  ·  MODULE 8</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L'avis, ligne par ligne</a:t>
            </a:r>
          </a:p>
        </p:txBody>
      </p:sp>
      <p:sp>
        <p:nvSpPr>
          <p:cNvPr id="5" name="Rounded Rectangle 4"/>
          <p:cNvSpPr/>
          <p:nvPr/>
        </p:nvSpPr>
        <p:spPr>
          <a:xfrm>
            <a:off x="566928" y="3794760"/>
            <a:ext cx="9960559" cy="1394968"/>
          </a:xfrm>
          <a:prstGeom prst="roundRect">
            <a:avLst>
              <a:gd name="adj" fmla="val 1048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7823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La même règle qu'au Défi 1, mais avec un nom, une adresse et une date. C'est là que le texte cesse d'être général.</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90 minutes  ·  Six mois ailleurs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Six mois ailleurs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reconnaître les cinq renseignements obligatoires d'un avis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distinguer un avis d'une demande de permission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nommer trois façons de dater sa remise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repérer dans une lettre le passage qui répond à une question.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Six mois ailleurs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2800" b="1" i="0">
                <a:solidFill>
                  <a:srgbClr val="17181A"/>
                </a:solidFill>
                <a:latin typeface="Verdana"/>
              </a:rPr>
              <a:t>« Je vous avise » ou « accepteriez-vous » : quelle différence ?</a:t>
            </a:r>
          </a:p>
        </p:txBody>
      </p:sp>
      <p:sp>
        <p:nvSpPr>
          <p:cNvPr id="7" name="Rounded Rectangle 6"/>
          <p:cNvSpPr/>
          <p:nvPr/>
        </p:nvSpPr>
        <p:spPr>
          <a:xfrm>
            <a:off x="566928" y="1856232"/>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965960"/>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50976" y="2039112"/>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Laquelle des deux formules fait partir un délai ?</a:t>
            </a:r>
          </a:p>
        </p:txBody>
      </p:sp>
      <p:sp>
        <p:nvSpPr>
          <p:cNvPr id="10" name="Rounded Rectangle 9"/>
          <p:cNvSpPr/>
          <p:nvPr/>
        </p:nvSpPr>
        <p:spPr>
          <a:xfrm>
            <a:off x="566928" y="2642108"/>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2751836"/>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50976" y="2824988"/>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Laquelle est plus polie ? Est-ce que ça compte ici ?</a:t>
            </a:r>
          </a:p>
        </p:txBody>
      </p:sp>
      <p:sp>
        <p:nvSpPr>
          <p:cNvPr id="13" name="Rounded Rectangle 12"/>
          <p:cNvSpPr/>
          <p:nvPr/>
        </p:nvSpPr>
        <p:spPr>
          <a:xfrm>
            <a:off x="566928" y="3427984"/>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3537712"/>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50976" y="3610864"/>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Peut-on être ferme et poli en même temps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Six mois ailleurs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cinq renseignements obligatoires</a:t>
            </a:r>
          </a:p>
        </p:txBody>
      </p:sp>
      <p:sp>
        <p:nvSpPr>
          <p:cNvPr id="7" name="Rounded Rectangle 6"/>
          <p:cNvSpPr/>
          <p:nvPr/>
        </p:nvSpPr>
        <p:spPr>
          <a:xfrm>
            <a:off x="566928" y="1810512"/>
            <a:ext cx="11057839" cy="2798064"/>
          </a:xfrm>
          <a:prstGeom prst="roundRect">
            <a:avLst>
              <a:gd name="adj" fmla="val 52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QU'IL FAUT</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DANS L'AVIS DE FARIDA</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la date</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Québec, le 18 novembre</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ce qu'on annonce</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une sous-location, pas une location</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qui</a:t>
            </a:r>
          </a:p>
        </p:txBody>
      </p:sp>
      <p:sp>
        <p:nvSpPr>
          <p:cNvPr id="17" name="TextBox 16"/>
          <p:cNvSpPr txBox="1"/>
          <p:nvPr/>
        </p:nvSpPr>
        <p:spPr>
          <a:xfrm>
            <a:off x="4443636" y="3474720"/>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monsieur Nicolas Trudel, et son adresse</a:t>
            </a:r>
          </a:p>
        </p:txBody>
      </p:sp>
      <p:sp>
        <p:nvSpPr>
          <p:cNvPr id="18" name="Rectangle 17"/>
          <p:cNvSpPr/>
          <p:nvPr/>
        </p:nvSpPr>
        <p:spPr>
          <a:xfrm>
            <a:off x="932688" y="38862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014215"/>
            <a:ext cx="3291492"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quand</a:t>
            </a:r>
          </a:p>
        </p:txBody>
      </p:sp>
      <p:sp>
        <p:nvSpPr>
          <p:cNvPr id="20" name="TextBox 19"/>
          <p:cNvSpPr txBox="1"/>
          <p:nvPr/>
        </p:nvSpPr>
        <p:spPr>
          <a:xfrm>
            <a:off x="4443636" y="4014215"/>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du 5 janvier au 28 juin inclusivement</a:t>
            </a:r>
          </a:p>
        </p:txBody>
      </p:sp>
      <p:sp>
        <p:nvSpPr>
          <p:cNvPr id="21" name="Rounded Rectangle 20"/>
          <p:cNvSpPr/>
          <p:nvPr/>
        </p:nvSpPr>
        <p:spPr>
          <a:xfrm>
            <a:off x="566928" y="4846320"/>
            <a:ext cx="11057839" cy="843534"/>
          </a:xfrm>
          <a:prstGeom prst="roundRect">
            <a:avLst>
              <a:gd name="adj" fmla="val 17344"/>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9264" y="5102352"/>
            <a:ext cx="10234879" cy="38633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Le cinquième est le rappel du délai de quinze jours.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Six mois ailleurs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UN AVIS INFORME, IL NE QUÊTE PAS</a:t>
            </a:r>
          </a:p>
        </p:txBody>
      </p:sp>
      <p:sp>
        <p:nvSpPr>
          <p:cNvPr id="6" name="Rounded Rectangle 5"/>
          <p:cNvSpPr/>
          <p:nvPr/>
        </p:nvSpPr>
        <p:spPr>
          <a:xfrm>
            <a:off x="566928" y="1225296"/>
            <a:ext cx="11057839" cy="1967991"/>
          </a:xfrm>
          <a:prstGeom prst="roundRect">
            <a:avLst>
              <a:gd name="adj" fmla="val 7434"/>
            </a:avLst>
          </a:prstGeom>
          <a:solidFill>
            <a:srgbClr val="DCF2E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Écrit à la bonne date, avec les bons renseignements, il travaille tout seul.</a:t>
            </a:r>
          </a:p>
        </p:txBody>
      </p:sp>
      <p:sp>
        <p:nvSpPr>
          <p:cNvPr id="8" name="Rounded Rectangle 7"/>
          <p:cNvSpPr/>
          <p:nvPr/>
        </p:nvSpPr>
        <p:spPr>
          <a:xfrm>
            <a:off x="566928" y="3467607"/>
            <a:ext cx="11057839" cy="2040128"/>
          </a:xfrm>
          <a:prstGeom prst="roundRect">
            <a:avLst>
              <a:gd name="adj" fmla="val 717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582928"/>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Au quinzième jour, quelque chose se produit, que le locateur ait répondu ou non. C'est ce qui distingue un avis d'une lettre ordinaire, et c'est pour cela qu'on écrit « je vous avise de mon intention de » plutôt que « j'aimerais savoir si vous seriez d'accord pour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Six mois ailleurs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PREUVE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Trois façons de dater sa remise</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357124"/>
          </a:xfrm>
          <a:prstGeom prst="rect">
            <a:avLst/>
          </a:prstGeom>
          <a:noFill/>
        </p:spPr>
        <p:txBody>
          <a:bodyPr wrap="square" lIns="0" rIns="0" tIns="0" bIns="0" anchor="t">
            <a:spAutoFit/>
          </a:bodyPr>
          <a:lstStyle/>
          <a:p>
            <a:pPr algn="l">
              <a:lnSpc>
                <a:spcPct val="118000"/>
              </a:lnSpc>
            </a:pPr>
            <a:r>
              <a:rPr sz="2200" b="1" i="0">
                <a:solidFill>
                  <a:srgbClr val="0D7A6F"/>
                </a:solidFill>
                <a:latin typeface="Verdana"/>
              </a:rPr>
              <a:t>Faire signer une copie</a:t>
            </a:r>
          </a:p>
        </p:txBody>
      </p:sp>
      <p:sp>
        <p:nvSpPr>
          <p:cNvPr id="9" name="TextBox 8"/>
          <p:cNvSpPr txBox="1"/>
          <p:nvPr/>
        </p:nvSpPr>
        <p:spPr>
          <a:xfrm>
            <a:off x="886968" y="2469388"/>
            <a:ext cx="4806543" cy="1119632"/>
          </a:xfrm>
          <a:prstGeom prst="rect">
            <a:avLst/>
          </a:prstGeom>
          <a:noFill/>
        </p:spPr>
        <p:txBody>
          <a:bodyPr wrap="square" lIns="0" rIns="0" tIns="0" bIns="0" anchor="t">
            <a:spAutoFit/>
          </a:bodyPr>
          <a:lstStyle/>
          <a:p>
            <a:pPr algn="l">
              <a:lnSpc>
                <a:spcPct val="142000"/>
              </a:lnSpc>
            </a:pPr>
            <a:r>
              <a:rPr sz="1700" b="0" i="0">
                <a:solidFill>
                  <a:srgbClr val="3A3D40"/>
                </a:solidFill>
                <a:latin typeface="Verdana"/>
              </a:rPr>
              <a:t>Une ligne, une date, une signature. Le plus simple, et le plus souvent accepté si l'on précise que ce n'est pas un accord.</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357124"/>
          </a:xfrm>
          <a:prstGeom prst="rect">
            <a:avLst/>
          </a:prstGeom>
          <a:noFill/>
        </p:spPr>
        <p:txBody>
          <a:bodyPr wrap="square" lIns="0" rIns="0" tIns="0" bIns="0" anchor="t">
            <a:spAutoFit/>
          </a:bodyPr>
          <a:lstStyle/>
          <a:p>
            <a:pPr algn="l">
              <a:lnSpc>
                <a:spcPct val="118000"/>
              </a:lnSpc>
            </a:pPr>
            <a:r>
              <a:rPr sz="2200" b="1" i="0">
                <a:solidFill>
                  <a:srgbClr val="0D7A6F"/>
                </a:solidFill>
                <a:latin typeface="Verdana"/>
              </a:rPr>
              <a:t>Un envoi qui laisse une trace</a:t>
            </a:r>
          </a:p>
        </p:txBody>
      </p:sp>
      <p:sp>
        <p:nvSpPr>
          <p:cNvPr id="12" name="TextBox 11"/>
          <p:cNvSpPr txBox="1"/>
          <p:nvPr/>
        </p:nvSpPr>
        <p:spPr>
          <a:xfrm>
            <a:off x="6498183" y="2469388"/>
            <a:ext cx="4806543" cy="1119632"/>
          </a:xfrm>
          <a:prstGeom prst="rect">
            <a:avLst/>
          </a:prstGeom>
          <a:noFill/>
        </p:spPr>
        <p:txBody>
          <a:bodyPr wrap="square" lIns="0" rIns="0" tIns="0" bIns="0" anchor="t">
            <a:spAutoFit/>
          </a:bodyPr>
          <a:lstStyle/>
          <a:p>
            <a:pPr algn="l">
              <a:lnSpc>
                <a:spcPct val="142000"/>
              </a:lnSpc>
            </a:pPr>
            <a:r>
              <a:rPr sz="1700" b="0" i="0">
                <a:solidFill>
                  <a:srgbClr val="3A3D40"/>
                </a:solidFill>
                <a:latin typeface="Verdana"/>
              </a:rPr>
              <a:t>On garde le reçu. Il n'y a plus rien à discuter, ni sur la date ni sur le fait que le document est parti.</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357124"/>
          </a:xfrm>
          <a:prstGeom prst="rect">
            <a:avLst/>
          </a:prstGeom>
          <a:noFill/>
        </p:spPr>
        <p:txBody>
          <a:bodyPr wrap="square" lIns="0" rIns="0" tIns="0" bIns="0" anchor="t">
            <a:spAutoFit/>
          </a:bodyPr>
          <a:lstStyle/>
          <a:p>
            <a:pPr algn="l">
              <a:lnSpc>
                <a:spcPct val="118000"/>
              </a:lnSpc>
            </a:pPr>
            <a:r>
              <a:rPr sz="2200" b="1" i="0">
                <a:solidFill>
                  <a:srgbClr val="0D7A6F"/>
                </a:solidFill>
                <a:latin typeface="Verdana"/>
              </a:rPr>
              <a:t>Deux témoins</a:t>
            </a:r>
          </a:p>
        </p:txBody>
      </p:sp>
      <p:sp>
        <p:nvSpPr>
          <p:cNvPr id="15" name="TextBox 14"/>
          <p:cNvSpPr txBox="1"/>
          <p:nvPr/>
        </p:nvSpPr>
        <p:spPr>
          <a:xfrm>
            <a:off x="886968" y="4686808"/>
            <a:ext cx="4806543" cy="1119632"/>
          </a:xfrm>
          <a:prstGeom prst="rect">
            <a:avLst/>
          </a:prstGeom>
          <a:noFill/>
        </p:spPr>
        <p:txBody>
          <a:bodyPr wrap="square" lIns="0" rIns="0" tIns="0" bIns="0" anchor="t">
            <a:spAutoFit/>
          </a:bodyPr>
          <a:lstStyle/>
          <a:p>
            <a:pPr algn="l">
              <a:lnSpc>
                <a:spcPct val="142000"/>
              </a:lnSpc>
            </a:pPr>
            <a:r>
              <a:rPr sz="1700" b="0" i="0">
                <a:solidFill>
                  <a:srgbClr val="3A3D40"/>
                </a:solidFill>
                <a:latin typeface="Verdana"/>
              </a:rPr>
              <a:t>Le moins solide, mais mieux que rien. Un voisin qui a vu la remise vaut toujours plus qu'un souvenir.</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357124"/>
          </a:xfrm>
          <a:prstGeom prst="rect">
            <a:avLst/>
          </a:prstGeom>
          <a:noFill/>
        </p:spPr>
        <p:txBody>
          <a:bodyPr wrap="square" lIns="0" rIns="0" tIns="0" bIns="0" anchor="t">
            <a:spAutoFit/>
          </a:bodyPr>
          <a:lstStyle/>
          <a:p>
            <a:pPr algn="l">
              <a:lnSpc>
                <a:spcPct val="118000"/>
              </a:lnSpc>
            </a:pPr>
            <a:r>
              <a:rPr sz="2200" b="1" i="0">
                <a:solidFill>
                  <a:srgbClr val="0D7A6F"/>
                </a:solidFill>
                <a:latin typeface="Verdana"/>
              </a:rPr>
              <a:t>Ce qui ne vaut rien</a:t>
            </a:r>
          </a:p>
        </p:txBody>
      </p:sp>
      <p:sp>
        <p:nvSpPr>
          <p:cNvPr id="18" name="TextBox 17"/>
          <p:cNvSpPr txBox="1"/>
          <p:nvPr/>
        </p:nvSpPr>
        <p:spPr>
          <a:xfrm>
            <a:off x="6498183" y="4686808"/>
            <a:ext cx="4806543" cy="1119632"/>
          </a:xfrm>
          <a:prstGeom prst="rect">
            <a:avLst/>
          </a:prstGeom>
          <a:noFill/>
        </p:spPr>
        <p:txBody>
          <a:bodyPr wrap="square" lIns="0" rIns="0" tIns="0" bIns="0" anchor="t">
            <a:spAutoFit/>
          </a:bodyPr>
          <a:lstStyle/>
          <a:p>
            <a:pPr algn="l">
              <a:lnSpc>
                <a:spcPct val="142000"/>
              </a:lnSpc>
            </a:pPr>
            <a:r>
              <a:rPr sz="1700" b="0" i="0">
                <a:solidFill>
                  <a:srgbClr val="3A3D40"/>
                </a:solidFill>
                <a:latin typeface="Verdana"/>
              </a:rPr>
              <a:t>« Je le lui ai dit dans l'escalier mardi. » Sans écrit et sans date, il n'y a pas d'avis, donc pas de délai.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Six mois ailleurs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LECTURE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Où est la réponse dans la lettre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Nommez le passage de l'avis qui répond.</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Quel jour l'avis a-t-il été écrit ?</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De quoi la lettre traite-t-elle ?</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Qui est la personne proposée ?</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Sur quelle période ?</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Qui reste responsable du loyer ?</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Quel délai est rappelé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Six mois ailleurs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Où est la réponse dans la lettre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Quel jour l'avis a-t-il été écrit ?   </a:t>
            </a:r>
            <a:r>
              <a:rPr sz="1400" b="1" i="0">
                <a:solidFill>
                  <a:srgbClr val="07734A"/>
                </a:solidFill>
                <a:latin typeface="Verdana"/>
              </a:rPr>
              <a:t>» la date, en haut</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De quoi la lettre traite-t-elle ?   </a:t>
            </a:r>
            <a:r>
              <a:rPr sz="1400" b="1" i="0">
                <a:solidFill>
                  <a:srgbClr val="07734A"/>
                </a:solidFill>
                <a:latin typeface="Verdana"/>
              </a:rPr>
              <a:t>» la ligne d'objet</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Qui est la personne proposée ?   </a:t>
            </a:r>
            <a:r>
              <a:rPr sz="1400" b="1" i="0">
                <a:solidFill>
                  <a:srgbClr val="07734A"/>
                </a:solidFill>
                <a:latin typeface="Verdana"/>
              </a:rPr>
              <a:t>» le paragraphe du nom et de l'adresse</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Sur quelle période ?   </a:t>
            </a:r>
            <a:r>
              <a:rPr sz="1400" b="1" i="0">
                <a:solidFill>
                  <a:srgbClr val="07734A"/>
                </a:solidFill>
                <a:latin typeface="Verdana"/>
              </a:rPr>
              <a:t>» du 5 janvier au 28 juin</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Qui reste responsable du loyer ?   </a:t>
            </a:r>
            <a:r>
              <a:rPr sz="1400" b="1" i="0">
                <a:solidFill>
                  <a:srgbClr val="07734A"/>
                </a:solidFill>
                <a:latin typeface="Verdana"/>
              </a:rPr>
              <a:t>» le paragraphe de l'engagement</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Quel délai est rappelé ?   </a:t>
            </a:r>
            <a:r>
              <a:rPr sz="1400" b="1" i="0">
                <a:solidFill>
                  <a:srgbClr val="07734A"/>
                </a:solidFill>
                <a:latin typeface="Verdana"/>
              </a:rPr>
              <a:t>» quinze jours de la réception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Six mois ailleurs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COMPARAISON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qui affaiblit un avis</a:t>
            </a:r>
          </a:p>
        </p:txBody>
      </p:sp>
      <p:sp>
        <p:nvSpPr>
          <p:cNvPr id="7" name="Rounded Rectangle 6"/>
          <p:cNvSpPr/>
          <p:nvPr/>
        </p:nvSpPr>
        <p:spPr>
          <a:xfrm>
            <a:off x="566928" y="1810512"/>
            <a:ext cx="11057839" cy="3099816"/>
          </a:xfrm>
          <a:prstGeom prst="roundRect">
            <a:avLst>
              <a:gd name="adj" fmla="val 471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FAIBLE</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SOLIDE</a:t>
            </a:r>
          </a:p>
        </p:txBody>
      </p:sp>
      <p:sp>
        <p:nvSpPr>
          <p:cNvPr id="10" name="TextBox 9"/>
          <p:cNvSpPr txBox="1"/>
          <p:nvPr/>
        </p:nvSpPr>
        <p:spPr>
          <a:xfrm>
            <a:off x="932688" y="2395728"/>
            <a:ext cx="3291492"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je voudrais peut-être sous-louer</a:t>
            </a:r>
          </a:p>
        </p:txBody>
      </p:sp>
      <p:sp>
        <p:nvSpPr>
          <p:cNvPr id="11" name="TextBox 10"/>
          <p:cNvSpPr txBox="1"/>
          <p:nvPr/>
        </p:nvSpPr>
        <p:spPr>
          <a:xfrm>
            <a:off x="4443636" y="2395728"/>
            <a:ext cx="6595914" cy="640080"/>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je vous avise de mon intention</a:t>
            </a:r>
          </a:p>
        </p:txBody>
      </p:sp>
      <p:sp>
        <p:nvSpPr>
          <p:cNvPr id="12" name="Rectangle 11"/>
          <p:cNvSpPr/>
          <p:nvPr/>
        </p:nvSpPr>
        <p:spPr>
          <a:xfrm>
            <a:off x="932688" y="310896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3236976"/>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à une personne sérieuse</a:t>
            </a:r>
          </a:p>
        </p:txBody>
      </p:sp>
      <p:sp>
        <p:nvSpPr>
          <p:cNvPr id="14" name="TextBox 13"/>
          <p:cNvSpPr txBox="1"/>
          <p:nvPr/>
        </p:nvSpPr>
        <p:spPr>
          <a:xfrm>
            <a:off x="4443636" y="3236976"/>
            <a:ext cx="6595914"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à monsieur Trudel, adresse complète</a:t>
            </a:r>
          </a:p>
        </p:txBody>
      </p:sp>
      <p:sp>
        <p:nvSpPr>
          <p:cNvPr id="15" name="Rectangle 14"/>
          <p:cNvSpPr/>
          <p:nvPr/>
        </p:nvSpPr>
        <p:spPr>
          <a:xfrm>
            <a:off x="932688" y="364845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776472"/>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pour quelques mois</a:t>
            </a:r>
          </a:p>
        </p:txBody>
      </p:sp>
      <p:sp>
        <p:nvSpPr>
          <p:cNvPr id="17" name="TextBox 16"/>
          <p:cNvSpPr txBox="1"/>
          <p:nvPr/>
        </p:nvSpPr>
        <p:spPr>
          <a:xfrm>
            <a:off x="4443636" y="3776472"/>
            <a:ext cx="6595914"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du 5 janvier au 28 juin</a:t>
            </a:r>
          </a:p>
        </p:txBody>
      </p:sp>
      <p:sp>
        <p:nvSpPr>
          <p:cNvPr id="18" name="Rectangle 17"/>
          <p:cNvSpPr/>
          <p:nvPr/>
        </p:nvSpPr>
        <p:spPr>
          <a:xfrm>
            <a:off x="932688" y="418795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315968"/>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j'espère que vous direz oui</a:t>
            </a:r>
          </a:p>
        </p:txBody>
      </p:sp>
      <p:sp>
        <p:nvSpPr>
          <p:cNvPr id="20" name="TextBox 19"/>
          <p:cNvSpPr txBox="1"/>
          <p:nvPr/>
        </p:nvSpPr>
        <p:spPr>
          <a:xfrm>
            <a:off x="4443636" y="4315968"/>
            <a:ext cx="6595914"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vous disposez de quinze jours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Six mois ailleurs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Écrivez la ligne d'objet et la première phrase de votre propre avis.</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Deux lignes.</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Employez « je vous avise de mon intention de ».</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Six mois ailleurs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