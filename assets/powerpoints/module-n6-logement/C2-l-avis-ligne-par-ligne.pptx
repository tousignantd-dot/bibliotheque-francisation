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longue, en deux temps : lecture de l'avis à la première heure, exercice interactif à la seconde. Projeter la lettre entière avant de la découper.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objectif est celui qui change une démarche. Un élève qui écrit « accepteriez-vous que… » n'a pas fait d'avis, et son délai ne court pas.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question de la politesse revient toujours, et la réponse est importante : un avis n'est pas impoli, il est simplement d'une autre nature qu'une demande. La politesse est ailleurs, dans le ton.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vérifier sur la lettre projetée que les cinq y sont, et faire dire ce qui manquerait à la démarche si l'un sautait.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Écrire les deux formules au tableau, l'une sous l'autre, et les laisser jusqu'à E2 : c'est le modèle du courriel que chacun écrira.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choisir à chacun celle qu'il emploierait, et pourquoi. Le débat vaut la peine : plusieurs élèves n'osent pas demander une signature, et c'est justement ce que la séance doit débloquer.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Même travail que dans l'exercice interactif, où l'élève clique le passage dans la lettre. Le faire d'abord au tableau, sur la lettre projetée, avec un élève qui vient pointer.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lire les deux colonnes à voix haute par deux élèves différents : la différence de ton s'entend mieux qu'elle ne s'explique.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minutes. C'est le premier jet du courriel de E2. Ramasser, annoter brièvement, et les rendre au début de la séance E2 plutôt que de les corriger devant tout le monde.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C2  ·  MODULE 8</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L'avis, ligne par ligne</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même règle qu'au Défi 1, mais avec un nom, une adresse et une date. C'est là que le texte cesse d'être général.</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90 minutes  ·  Six mois ailleurs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cinq renseignements obligatoires d'un avis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un avis d'une demande de permission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trois façons de dater sa remise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repérer dans une lettre le passage qui répond à une question.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 Je vous avise » ou « accepteriez-vous » : quelle différence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Laquelle des deux formules fait partir un délai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Laquelle est plus polie ? Est-ce que ça compte ici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Peut-on être ferme et poli en même temps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cinq renseignements obligatoires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FAUT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DANS L'AVIS DE FARIDA</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la date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Québec, le 18 novembre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ce qu'on annonce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sous-location, pas une location</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qui</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monsieur Nicolas Trudel, et son adresse</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quand</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du 5 janvier au 28 juin inclusivement</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 cinquième est le rappel du délai de quinze jours.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UN AVIS INFORME, IL NE QUÊTE PAS</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Écrit à la bonne date, avec les bons renseignements, il travaille tout seul.</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Au quinzième jour, quelque chose se produit, que le locateur ait répondu ou non. C'est ce qui distingue un avis d'une lettre ordinaire, et c'est pour cela qu'on écrit « je vous avise de mon intention de » plutôt que « j'aimerais savoir si vous seriez d'accord pour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PREUVE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façons de dater sa remise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57124"/>
          </a:xfrm>
          <a:prstGeom prst="rect">
            <a:avLst/>
          </a:prstGeom>
          <a:noFill/>
        </p:spPr>
        <p:txBody>
          <a:bodyPr wrap="square" lIns="0" rIns="0" tIns="0" bIns="0" anchor="t">
            <a:spAutoFit/>
          </a:bodyPr>
          <a:lstStyle/>
          <a:p>
            <a:pPr algn="l">
              <a:lnSpc>
                <a:spcPct val="118000"/>
              </a:lnSpc>
            </a:pPr>
            <a:r>
              <a:rPr sz="2200" b="1" i="0">
                <a:solidFill>
                  <a:srgbClr val="0D7A6F"/>
                </a:solidFill>
                <a:latin typeface="Verdana"/>
              </a:rPr>
              <a:t>Faire signer une copie</a:t>
            </a:r>
          </a:p>
        </p:txBody>
      </p:sp>
      <p:sp>
        <p:nvSpPr>
          <p:cNvPr id="9" name="TextBox 8"/>
          <p:cNvSpPr txBox="1"/>
          <p:nvPr/>
        </p:nvSpPr>
        <p:spPr>
          <a:xfrm>
            <a:off x="886968" y="2469388"/>
            <a:ext cx="4806543" cy="1119632"/>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Une ligne, une date, une signature. Le plus simple, et le plus souvent accepté si l'on précise que ce n'est pas un accord.</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57124"/>
          </a:xfrm>
          <a:prstGeom prst="rect">
            <a:avLst/>
          </a:prstGeom>
          <a:noFill/>
        </p:spPr>
        <p:txBody>
          <a:bodyPr wrap="square" lIns="0" rIns="0" tIns="0" bIns="0" anchor="t">
            <a:spAutoFit/>
          </a:bodyPr>
          <a:lstStyle/>
          <a:p>
            <a:pPr algn="l">
              <a:lnSpc>
                <a:spcPct val="118000"/>
              </a:lnSpc>
            </a:pPr>
            <a:r>
              <a:rPr sz="2200" b="1" i="0">
                <a:solidFill>
                  <a:srgbClr val="0D7A6F"/>
                </a:solidFill>
                <a:latin typeface="Verdana"/>
              </a:rPr>
              <a:t>Un envoi qui laisse une trace</a:t>
            </a:r>
          </a:p>
        </p:txBody>
      </p:sp>
      <p:sp>
        <p:nvSpPr>
          <p:cNvPr id="12" name="TextBox 11"/>
          <p:cNvSpPr txBox="1"/>
          <p:nvPr/>
        </p:nvSpPr>
        <p:spPr>
          <a:xfrm>
            <a:off x="6498183" y="2469388"/>
            <a:ext cx="4806543" cy="1119632"/>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On garde le reçu. Il n'y a plus rien à discuter, ni sur la date ni sur le fait que le document est parti.</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57124"/>
          </a:xfrm>
          <a:prstGeom prst="rect">
            <a:avLst/>
          </a:prstGeom>
          <a:noFill/>
        </p:spPr>
        <p:txBody>
          <a:bodyPr wrap="square" lIns="0" rIns="0" tIns="0" bIns="0" anchor="t">
            <a:spAutoFit/>
          </a:bodyPr>
          <a:lstStyle/>
          <a:p>
            <a:pPr algn="l">
              <a:lnSpc>
                <a:spcPct val="118000"/>
              </a:lnSpc>
            </a:pPr>
            <a:r>
              <a:rPr sz="2200" b="1" i="0">
                <a:solidFill>
                  <a:srgbClr val="0D7A6F"/>
                </a:solidFill>
                <a:latin typeface="Verdana"/>
              </a:rPr>
              <a:t>Deux témoins</a:t>
            </a:r>
          </a:p>
        </p:txBody>
      </p:sp>
      <p:sp>
        <p:nvSpPr>
          <p:cNvPr id="15" name="TextBox 14"/>
          <p:cNvSpPr txBox="1"/>
          <p:nvPr/>
        </p:nvSpPr>
        <p:spPr>
          <a:xfrm>
            <a:off x="886968" y="4686808"/>
            <a:ext cx="4806543" cy="1119632"/>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Le moins solide, mais mieux que rien. Un voisin qui a vu la remise vaut toujours plus qu'un souvenir.</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57124"/>
          </a:xfrm>
          <a:prstGeom prst="rect">
            <a:avLst/>
          </a:prstGeom>
          <a:noFill/>
        </p:spPr>
        <p:txBody>
          <a:bodyPr wrap="square" lIns="0" rIns="0" tIns="0" bIns="0" anchor="t">
            <a:spAutoFit/>
          </a:bodyPr>
          <a:lstStyle/>
          <a:p>
            <a:pPr algn="l">
              <a:lnSpc>
                <a:spcPct val="118000"/>
              </a:lnSpc>
            </a:pPr>
            <a:r>
              <a:rPr sz="2200" b="1" i="0">
                <a:solidFill>
                  <a:srgbClr val="0D7A6F"/>
                </a:solidFill>
                <a:latin typeface="Verdana"/>
              </a:rPr>
              <a:t>Ce qui ne vaut rien</a:t>
            </a:r>
          </a:p>
        </p:txBody>
      </p:sp>
      <p:sp>
        <p:nvSpPr>
          <p:cNvPr id="18" name="TextBox 17"/>
          <p:cNvSpPr txBox="1"/>
          <p:nvPr/>
        </p:nvSpPr>
        <p:spPr>
          <a:xfrm>
            <a:off x="6498183" y="4686808"/>
            <a:ext cx="4806543" cy="1119632"/>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 Je le lui ai dit dans l'escalier mardi. » Sans écrit et sans date, il n'y a pas d'avis, donc pas de délai.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LECTURE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est la réponse dans la lettre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Nommez le passage de l'avis qui répond.</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 jour l'avis a-t-il été écrit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 quoi la lettre traite-t-elle ?</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Qui est la personne proposée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Sur quelle période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Qui reste responsable du loyer ?</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 délai est rappelé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est la réponse dans la lettre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 jour l'avis a-t-il été écrit ?   </a:t>
            </a:r>
            <a:r>
              <a:rPr sz="1400" b="1" i="0">
                <a:solidFill>
                  <a:srgbClr val="07734A"/>
                </a:solidFill>
                <a:latin typeface="Verdana"/>
              </a:rPr>
              <a:t>» la date, en haut</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 quoi la lettre traite-t-elle ?   </a:t>
            </a:r>
            <a:r>
              <a:rPr sz="1400" b="1" i="0">
                <a:solidFill>
                  <a:srgbClr val="07734A"/>
                </a:solidFill>
                <a:latin typeface="Verdana"/>
              </a:rPr>
              <a:t>» la ligne d'objet</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Qui est la personne proposée ?   </a:t>
            </a:r>
            <a:r>
              <a:rPr sz="1400" b="1" i="0">
                <a:solidFill>
                  <a:srgbClr val="07734A"/>
                </a:solidFill>
                <a:latin typeface="Verdana"/>
              </a:rPr>
              <a:t>» le paragraphe du nom et de l'adresse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Sur quelle période ?   </a:t>
            </a:r>
            <a:r>
              <a:rPr sz="1400" b="1" i="0">
                <a:solidFill>
                  <a:srgbClr val="07734A"/>
                </a:solidFill>
                <a:latin typeface="Verdana"/>
              </a:rPr>
              <a:t>» du 5 janvier au 28 juin</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Qui reste responsable du loyer ?   </a:t>
            </a:r>
            <a:r>
              <a:rPr sz="1400" b="1" i="0">
                <a:solidFill>
                  <a:srgbClr val="07734A"/>
                </a:solidFill>
                <a:latin typeface="Verdana"/>
              </a:rPr>
              <a:t>» le paragraphe de l'engagement</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 délai est rappelé ?   </a:t>
            </a:r>
            <a:r>
              <a:rPr sz="1400" b="1" i="0">
                <a:solidFill>
                  <a:srgbClr val="07734A"/>
                </a:solidFill>
                <a:latin typeface="Verdana"/>
              </a:rPr>
              <a:t>» quinze jours de la réception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COMPARAISON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affaiblit un avis</a:t>
            </a:r>
          </a:p>
        </p:txBody>
      </p:sp>
      <p:sp>
        <p:nvSpPr>
          <p:cNvPr id="7" name="Rounded Rectangle 6"/>
          <p:cNvSpPr/>
          <p:nvPr/>
        </p:nvSpPr>
        <p:spPr>
          <a:xfrm>
            <a:off x="566928" y="1810512"/>
            <a:ext cx="11057839" cy="3099816"/>
          </a:xfrm>
          <a:prstGeom prst="roundRect">
            <a:avLst>
              <a:gd name="adj" fmla="val 471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FAIBLE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SOLIDE</a:t>
            </a:r>
          </a:p>
        </p:txBody>
      </p:sp>
      <p:sp>
        <p:nvSpPr>
          <p:cNvPr id="10" name="TextBox 9"/>
          <p:cNvSpPr txBox="1"/>
          <p:nvPr/>
        </p:nvSpPr>
        <p:spPr>
          <a:xfrm>
            <a:off x="932688" y="2395728"/>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je voudrais peut-être sous-louer</a:t>
            </a:r>
          </a:p>
        </p:txBody>
      </p:sp>
      <p:sp>
        <p:nvSpPr>
          <p:cNvPr id="11" name="TextBox 10"/>
          <p:cNvSpPr txBox="1"/>
          <p:nvPr/>
        </p:nvSpPr>
        <p:spPr>
          <a:xfrm>
            <a:off x="4443636" y="2395728"/>
            <a:ext cx="6595914"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je vous avise de mon intention</a:t>
            </a:r>
          </a:p>
        </p:txBody>
      </p:sp>
      <p:sp>
        <p:nvSpPr>
          <p:cNvPr id="12" name="Rectangle 11"/>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36976"/>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à une personne sérieuse</a:t>
            </a:r>
          </a:p>
        </p:txBody>
      </p:sp>
      <p:sp>
        <p:nvSpPr>
          <p:cNvPr id="14" name="TextBox 13"/>
          <p:cNvSpPr txBox="1"/>
          <p:nvPr/>
        </p:nvSpPr>
        <p:spPr>
          <a:xfrm>
            <a:off x="4443636" y="3236976"/>
            <a:ext cx="6595914"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à monsieur Trudel, adresse complète</a:t>
            </a:r>
          </a:p>
        </p:txBody>
      </p:sp>
      <p:sp>
        <p:nvSpPr>
          <p:cNvPr id="15" name="Rectangle 14"/>
          <p:cNvSpPr/>
          <p:nvPr/>
        </p:nvSpPr>
        <p:spPr>
          <a:xfrm>
            <a:off x="932688" y="364845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776472"/>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pour quelques mois</a:t>
            </a:r>
          </a:p>
        </p:txBody>
      </p:sp>
      <p:sp>
        <p:nvSpPr>
          <p:cNvPr id="17" name="TextBox 16"/>
          <p:cNvSpPr txBox="1"/>
          <p:nvPr/>
        </p:nvSpPr>
        <p:spPr>
          <a:xfrm>
            <a:off x="4443636" y="3776472"/>
            <a:ext cx="6595914"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du 5 janvier au 28 juin</a:t>
            </a:r>
          </a:p>
        </p:txBody>
      </p:sp>
      <p:sp>
        <p:nvSpPr>
          <p:cNvPr id="18" name="Rectangle 17"/>
          <p:cNvSpPr/>
          <p:nvPr/>
        </p:nvSpPr>
        <p:spPr>
          <a:xfrm>
            <a:off x="932688" y="41879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31596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j'espère que vous direz oui</a:t>
            </a:r>
          </a:p>
        </p:txBody>
      </p:sp>
      <p:sp>
        <p:nvSpPr>
          <p:cNvPr id="20" name="TextBox 19"/>
          <p:cNvSpPr txBox="1"/>
          <p:nvPr/>
        </p:nvSpPr>
        <p:spPr>
          <a:xfrm>
            <a:off x="4443636" y="4315968"/>
            <a:ext cx="6595914"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vous disposez de quinze jours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la ligne d'objet et la première phrase de votre propre avis.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Deux lignes.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Employez « je vous avise de mon intention de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Six mois ailleurs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