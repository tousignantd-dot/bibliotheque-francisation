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la plus délicate du module. Le réflexe du groupe sera de s'indigner ; le travail consiste à découper avant de juger. Le dire dès le départ.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plus important, et le plus difficile pour un adulte qui se sent lésé. C'est aussi ce qui fait la différence entre un dossier qui avance et une chicane.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honnêtement ce que chacun ferait. La réponse « j'irais lui parler tout de suite » est majoritaire, et c'est celle qu'il faut retourner : ce qui se dit dans un escalier ne se prouve pas.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l'exercice au surligneur sur la lettre projetée : quatre couleurs, quatre sortes de passages, avant toute discussion sur le fond.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dernière carte. Le module n'apprend pas à gagner : il apprend à lire, à demander et à savoir où s'adresser. Un enseignant qui laisse croire autre chose met ses élèves en difficulté.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formule « pourriez-vous me préciser à quelles dépenses ce montant correspond » vaut la peine d'être écrite au tableau et recopiée : elle sert bien au-delà du logement.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 travail que dans l'exercice interactif. Faire remarquer que la première question a une réponse rassurante : il a répondu dans le délai, donc le silence n'a pas joué. Un dossier commence par ce qui est acquis.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Prendre le temps de cette diapositive. Elle vaut pour bien d'autres situations que le logement, et c'est souvent le conseil dont les élèves se souviennent un an plus tard.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Comparer deux ou trois formulations : celles qui commencent par « vous n'avez pas le droit » et celles qui commencent par « pourriez-vous ». La différence de résultat est facile à faire sentir.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C3  ·  MODULE 8</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réponse, et ce qui tient debout dedans</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Onze jours plus tard, une lettre arrive. Correcte sur un point, discutable sur deux autres — et c'est tout l'objet de la séance.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90 minutes  ·  Six mois ailleurs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découper une lettre de refus en quatre sortes de passages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peser un motif avec deux questions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dépense réelle d'un montant décidé d'avance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une question par écrit au lieu d'affirmer un droit.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Vous recevez un refus que vous trouvez injuste. Que faites-vous le soir même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Répondre tout de suite, ou attendre le lendemain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Aller frapper à la porte, ou écrire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reste au dossier, dans un cas comme dans l'autre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100" b="1" i="0">
                <a:solidFill>
                  <a:srgbClr val="17181A"/>
                </a:solidFill>
                <a:latin typeface="Verdana"/>
              </a:rPr>
              <a:t>Quatre sortes de passages, dans la même lettre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PASSAGE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EN FAIT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un fait</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l'accepte : c'est notre propre preuve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une décision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c'est son droit ; on regarde les motifs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un motif</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le pèse, un par un</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une demande d'argent</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demande à quoi elle correspond</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Répondre à tout d'un coup fait perdre les trois quarts du terrain.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LES DEUX MOTIFS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même critère, deux résultats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 je préfère les personnes en emploi »</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préférence. Elle ne se vérifie pas et elle ne regarde pas cette personne-ci en particulier : elle vaudrait contre n'importe quel étudiant.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 un défaut de paiement en 2024 »</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fait vérifiable, qui regarde bien la personne proposée. C'est le genre de motif qui tient debout — encore faut-il qu'il soit exact.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Les deux questions</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motif regarde-t-il la personne ou le logement ? Peut-il se montrer ? Il faut deux oui ; un seul ne suffit pas.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Ce que ce n'est pas à vous de faire</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Trancher. Apprécier un motif est le travail du Tribunal, s'il est saisi. Le vôtre est de savoir quoi demander, et à qui.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UN CHIFFRE ROND N'EST PAS UNE DÉPENSE</a:t>
            </a:r>
          </a:p>
        </p:txBody>
      </p:sp>
      <p:sp>
        <p:nvSpPr>
          <p:cNvPr id="6" name="Rounded Rectangle 5"/>
          <p:cNvSpPr/>
          <p:nvPr/>
        </p:nvSpPr>
        <p:spPr>
          <a:xfrm>
            <a:off x="566928" y="1225296"/>
            <a:ext cx="11057839" cy="2494788"/>
          </a:xfrm>
          <a:prstGeom prst="roundRect">
            <a:avLst>
              <a:gd name="adj" fmla="val 586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locateur peut réclamer ce que la sous-location lui occasionne réellement.</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vérification de crédit, par exemple, s'il en fait une. Une somme fixe décidée d'avance ne se rattache à aucune dépense. La bonne réaction n'est pas de refuser : c'est de demander par écrit à quoi le montant correspond. Ou bien la réponse le justifie, ou bien elle ne vient pas.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dans la lettre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Nommez le passage de la réponse qui répond.</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la lettre a-t-elle été écrite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Comment sait-il quand il a reçu l'avis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A-t-il répondu dans le délai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est sa décision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motif est une préférence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motif se vérifie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dans la lettre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la lettre a-t-elle été écrite ?   </a:t>
            </a:r>
            <a:r>
              <a:rPr sz="1400" b="1" i="0">
                <a:solidFill>
                  <a:srgbClr val="07734A"/>
                </a:solidFill>
                <a:latin typeface="Verdana"/>
              </a:rPr>
              <a:t>» la date, le 29 novembre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Comment sait-il quand il a reçu l'avis ?   </a:t>
            </a:r>
            <a:r>
              <a:rPr sz="1400" b="1" i="0">
                <a:solidFill>
                  <a:srgbClr val="07734A"/>
                </a:solidFill>
                <a:latin typeface="Verdana"/>
              </a:rPr>
              <a:t>» il a signé la copie le 18</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A-t-il répondu dans le délai ?   </a:t>
            </a:r>
            <a:r>
              <a:rPr sz="1400" b="1" i="0">
                <a:solidFill>
                  <a:srgbClr val="07734A"/>
                </a:solidFill>
                <a:latin typeface="Verdana"/>
              </a:rPr>
              <a:t>» à l'intérieur des quinze jours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est sa décision ?   </a:t>
            </a:r>
            <a:r>
              <a:rPr sz="1400" b="1" i="0">
                <a:solidFill>
                  <a:srgbClr val="07734A"/>
                </a:solidFill>
                <a:latin typeface="Verdana"/>
              </a:rPr>
              <a:t>» il n'accepte pas la sous-location</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motif est une préférence ?   </a:t>
            </a:r>
            <a:r>
              <a:rPr sz="1400" b="1" i="0">
                <a:solidFill>
                  <a:srgbClr val="07734A"/>
                </a:solidFill>
                <a:latin typeface="Verdana"/>
              </a:rPr>
              <a:t>» il préfère les personnes en emploi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motif se vérifie ?   </a:t>
            </a:r>
            <a:r>
              <a:rPr sz="1400" b="1" i="0">
                <a:solidFill>
                  <a:srgbClr val="07734A"/>
                </a:solidFill>
                <a:latin typeface="Verdana"/>
              </a:rPr>
              <a:t>» le défaut de paiement de 2024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ATTENTION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répondre le soir même, fâché</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attendre le lendemain matin</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lettre écrite en colère reste au dossier et donne des arguments à l'autre partie. Le délai qui vous concernait est d'ailleurs déjà passé : vous avez le temps, et c'est le seul avantage de la situation.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question que vous poseriez sur les deux cents dollars.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phrase, au conditionnel.</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Demandez, n'affirmez pas.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Six mois ailleurs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