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Reprendre les billets de sortie de A1 : lire deux ou trois réponses à voix haute, sans nommer personne. Elles disent où en est le groupe, et elles ouvrent la séance mieux qu'une consigne.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Le troisième objectif est un objectif de prudence, pas de grammaire. On ne cherche pas à décourager : on cherche à ce que personne ne signe sans savoir de quoi il répond.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Laisser le groupe se tromper. Presque tous répondent « la personne qui habite là ». La correction fait tout le poids de la séance : le locateur ne connaît que son locataire.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Une carte à la fois. Demander un exemple de vie réelle entre chaque : quelqu'un qui part aux études, quelqu'un qui déménage, quelqu'un qui ne peut plus payer. Les trois cas existent dans presque tous les groupes.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Faire justifier chaque ligne par la question du tableau de A1. Ne pas donner la réponse : la faire trouver, ligne par ligne.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Diapositive à photographier. C'est la phrase à retenir de tout le bloc A. La faire redire par trois élèves différents avant de passer à la suite.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Prendre le temps. Demander à quelqu'un de reformuler dans ses mots, puis vérifier avec un deuxième élève que la reformulation était juste.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Insister sur le préfixe « sous- » : il veut dire « qui dépend de ». Un sous-locataire dépend du locataire, jamais directement du locateur. Ce préfixe explique à lui seul toute la responsabilité.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Corriger en faisant reposer la question à chaque fois : après, qui est encore au bail ? Le but n'est pas la bonne réponse, c'est le réflexe.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Corriger en groupe. Donner la bonne réponse, sans revenir sur qui s'est trompé.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Deux minutes. Ramasser les billets : ceux qui écrivent « céder » sans s'en rendre compte sont ceux à suivre de près en A4 et en C2.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DF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1234440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A5335F"/>
                </a:solidFill>
                <a:latin typeface="Verdana"/>
              </a:rPr>
              <a:t>SÉANCE A2  ·  MODULE 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1691640"/>
            <a:ext cx="9960559" cy="187451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4000" b="1" i="0">
                <a:solidFill>
                  <a:srgbClr val="17181A"/>
                </a:solidFill>
                <a:latin typeface="Verdana"/>
              </a:rPr>
              <a:t>Trois portes, une seule question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66928" y="3794760"/>
            <a:ext cx="9960559" cy="1394968"/>
          </a:xfrm>
          <a:prstGeom prst="roundRect">
            <a:avLst>
              <a:gd name="adj" fmla="val 10487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896112" y="4123944"/>
            <a:ext cx="9302191" cy="782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2000" b="0" i="0">
                <a:solidFill>
                  <a:srgbClr val="4B4F52"/>
                </a:solidFill>
                <a:latin typeface="Verdana"/>
              </a:rPr>
              <a:t>Sous-louer, céder, résilier. Les trois mots parlent du même moment de la vie et ne mènent pas au même endroit.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035040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500" b="0" i="0">
                <a:solidFill>
                  <a:srgbClr val="6E7175"/>
                </a:solidFill>
                <a:latin typeface="Verdana"/>
              </a:rPr>
              <a:t>75 minutes  ·  Six mois ailleurs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A2 · Six mois ailleurs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A5335F"/>
                </a:solidFill>
                <a:latin typeface="Verdana"/>
              </a:rPr>
              <a:t>OBJECTIFS DE LA SÉANCE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À la fin, je serai capable de…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764792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Rounded Rectangle 7"/>
          <p:cNvSpPr/>
          <p:nvPr/>
        </p:nvSpPr>
        <p:spPr>
          <a:xfrm>
            <a:off x="804672" y="1942592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FCE9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804672" y="2024887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A5335F"/>
                </a:solidFill>
                <a:latin typeface="Verdana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08176" y="1965960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poser la seule question qui départage les trois démarches ;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66928" y="2650744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Rounded Rectangle 11"/>
          <p:cNvSpPr/>
          <p:nvPr/>
        </p:nvSpPr>
        <p:spPr>
          <a:xfrm>
            <a:off x="804672" y="2828544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FCE9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804672" y="2910840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A5335F"/>
                </a:solidFill>
                <a:latin typeface="Verdana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08176" y="2851912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dire qui reste au bail dans chaque cas ;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66928" y="3536696"/>
            <a:ext cx="11057839" cy="1113536"/>
          </a:xfrm>
          <a:prstGeom prst="roundRect">
            <a:avLst>
              <a:gd name="adj" fmla="val 13138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Rounded Rectangle 15"/>
          <p:cNvSpPr/>
          <p:nvPr/>
        </p:nvSpPr>
        <p:spPr>
          <a:xfrm>
            <a:off x="804672" y="3892296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FCE9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804672" y="3974592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A5335F"/>
                </a:solidFill>
                <a:latin typeface="Verdana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408176" y="3737864"/>
            <a:ext cx="9549079" cy="7477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reconnaître le risque de la sous-location et l'accepter en connaissance de cause ;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66928" y="4778248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Rounded Rectangle 19"/>
          <p:cNvSpPr/>
          <p:nvPr/>
        </p:nvSpPr>
        <p:spPr>
          <a:xfrm>
            <a:off x="804672" y="4956048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FCE9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804672" y="5038344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A5335F"/>
                </a:solidFill>
                <a:latin typeface="Verdana"/>
              </a:rPr>
              <a:t>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408176" y="4979415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employer le mot juste dans une phrase complète.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A2 · Six mois ailleurs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A5335F"/>
                </a:solidFill>
                <a:latin typeface="Verdana"/>
              </a:rPr>
              <a:t>MISE EN SITUATION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800" b="1" i="0">
                <a:solidFill>
                  <a:srgbClr val="17181A"/>
                </a:solidFill>
                <a:latin typeface="Verdana"/>
              </a:rPr>
              <a:t>Vous prêtez votre logement à quelqu'un. Il ne paie pas. Qui le propriétaire appelle-t-il 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56232"/>
            <a:ext cx="11057839" cy="703579"/>
          </a:xfrm>
          <a:prstGeom prst="roundRect">
            <a:avLst>
              <a:gd name="adj" fmla="val 2079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Rectangle 7"/>
          <p:cNvSpPr/>
          <p:nvPr/>
        </p:nvSpPr>
        <p:spPr>
          <a:xfrm>
            <a:off x="566928" y="1965960"/>
            <a:ext cx="50292" cy="484123"/>
          </a:xfrm>
          <a:prstGeom prst="rect">
            <a:avLst/>
          </a:prstGeom>
          <a:solidFill>
            <a:srgbClr val="A533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950976" y="2039112"/>
            <a:ext cx="10372039" cy="3743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Et si vous aviez cédé votre bail plutôt que sous-loué ?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66928" y="2642108"/>
            <a:ext cx="11057839" cy="703579"/>
          </a:xfrm>
          <a:prstGeom prst="roundRect">
            <a:avLst>
              <a:gd name="adj" fmla="val 2079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Rectangle 10"/>
          <p:cNvSpPr/>
          <p:nvPr/>
        </p:nvSpPr>
        <p:spPr>
          <a:xfrm>
            <a:off x="566928" y="2751836"/>
            <a:ext cx="50292" cy="484123"/>
          </a:xfrm>
          <a:prstGeom prst="rect">
            <a:avLst/>
          </a:prstGeom>
          <a:solidFill>
            <a:srgbClr val="A533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950976" y="2824988"/>
            <a:ext cx="10372039" cy="3743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Le propriétaire connaît-il seulement la personne qui habite là ?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66928" y="3427984"/>
            <a:ext cx="11057839" cy="703579"/>
          </a:xfrm>
          <a:prstGeom prst="roundRect">
            <a:avLst>
              <a:gd name="adj" fmla="val 2079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Rectangle 13"/>
          <p:cNvSpPr/>
          <p:nvPr/>
        </p:nvSpPr>
        <p:spPr>
          <a:xfrm>
            <a:off x="566928" y="3537712"/>
            <a:ext cx="50292" cy="484123"/>
          </a:xfrm>
          <a:prstGeom prst="rect">
            <a:avLst/>
          </a:prstGeom>
          <a:solidFill>
            <a:srgbClr val="A533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950976" y="3610864"/>
            <a:ext cx="10372039" cy="3743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Qu'est-ce que vous auriez voulu savoir avant de dire oui ?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A2 · Six mois ailleurs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A5335F"/>
                </a:solidFill>
                <a:latin typeface="Verdana"/>
              </a:rPr>
              <a:t>ANALYSE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Ce que chaque démarche fait de vous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10512"/>
            <a:ext cx="5446623" cy="2052828"/>
          </a:xfrm>
          <a:prstGeom prst="roundRect">
            <a:avLst>
              <a:gd name="adj" fmla="val 7126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886968" y="2084831"/>
            <a:ext cx="4806543" cy="3870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2400" b="1" i="0">
                <a:solidFill>
                  <a:srgbClr val="A5335F"/>
                </a:solidFill>
                <a:latin typeface="Verdana"/>
              </a:rPr>
              <a:t>Sous-louer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6968" y="2499360"/>
            <a:ext cx="4806543" cy="10896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1500" b="0" i="0">
                <a:solidFill>
                  <a:srgbClr val="3A3D40"/>
                </a:solidFill>
                <a:latin typeface="Verdana"/>
              </a:rPr>
              <a:t>Vous prêtez pour un temps. Le bail reste à votre nom, vous revenez à la date prévue, et vous répondez du loyer jusqu'au bout.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78143" y="1810512"/>
            <a:ext cx="5446623" cy="2052828"/>
          </a:xfrm>
          <a:prstGeom prst="roundRect">
            <a:avLst>
              <a:gd name="adj" fmla="val 7126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6498183" y="2084831"/>
            <a:ext cx="4806543" cy="3870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2400" b="1" i="0">
                <a:solidFill>
                  <a:srgbClr val="A5335F"/>
                </a:solidFill>
                <a:latin typeface="Verdana"/>
              </a:rPr>
              <a:t>Céder son bail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98183" y="2499360"/>
            <a:ext cx="4806543" cy="10896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1500" b="0" i="0">
                <a:solidFill>
                  <a:srgbClr val="3A3D40"/>
                </a:solidFill>
                <a:latin typeface="Verdana"/>
              </a:rPr>
              <a:t>Vous transmettez le contrat. L'autre personne prend votre place aux mêmes conditions, et vous sortez du dossier pour de bon.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66928" y="4027932"/>
            <a:ext cx="5446623" cy="2052828"/>
          </a:xfrm>
          <a:prstGeom prst="roundRect">
            <a:avLst>
              <a:gd name="adj" fmla="val 7126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86968" y="4302252"/>
            <a:ext cx="4806543" cy="3870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2400" b="1" i="0">
                <a:solidFill>
                  <a:srgbClr val="A5335F"/>
                </a:solidFill>
                <a:latin typeface="Verdana"/>
              </a:rPr>
              <a:t>Résilier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86968" y="4716780"/>
            <a:ext cx="4806543" cy="10896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1500" b="0" i="0">
                <a:solidFill>
                  <a:srgbClr val="3A3D40"/>
                </a:solidFill>
                <a:latin typeface="Verdana"/>
              </a:rPr>
              <a:t>Vous mettez fin au bail avant son terme. La loi ne le permet que dans des situations précises, et il faut un avis en bonne et due forme.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178143" y="4027932"/>
            <a:ext cx="5446623" cy="2052828"/>
          </a:xfrm>
          <a:prstGeom prst="roundRect">
            <a:avLst>
              <a:gd name="adj" fmla="val 7126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6498183" y="4302252"/>
            <a:ext cx="4806543" cy="3870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2400" b="1" i="0">
                <a:solidFill>
                  <a:srgbClr val="A5335F"/>
                </a:solidFill>
                <a:latin typeface="Verdana"/>
              </a:rPr>
              <a:t>La question qui tranche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98183" y="4716780"/>
            <a:ext cx="4806543" cy="10896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1500" b="0" i="0">
                <a:solidFill>
                  <a:srgbClr val="3A3D40"/>
                </a:solidFill>
                <a:latin typeface="Verdana"/>
              </a:rPr>
              <a:t>Après, qui est encore au bail ? Vous, l'autre, ou personne. Trois réponses possibles, trois portes différentes.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A2 · Six mois ailleurs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A5335F"/>
                </a:solidFill>
                <a:latin typeface="Verdana"/>
              </a:rPr>
              <a:t>COMPARAISON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La même situation, trois issues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10512"/>
            <a:ext cx="11057839" cy="4005072"/>
          </a:xfrm>
          <a:prstGeom prst="roundRect">
            <a:avLst>
              <a:gd name="adj" fmla="val 365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932688" y="1975104"/>
            <a:ext cx="3291492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6E7175"/>
                </a:solidFill>
                <a:latin typeface="Verdana"/>
              </a:rPr>
              <a:t>CE QUE LA PERSONNE VEUT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443636" y="1975104"/>
            <a:ext cx="6595914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6E7175"/>
                </a:solidFill>
                <a:latin typeface="Verdana"/>
              </a:rPr>
              <a:t>LA PORTE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2688" y="2395728"/>
            <a:ext cx="3291492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Je pars six mois et je reviens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443636" y="2395728"/>
            <a:ext cx="6595914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A5335F"/>
                </a:solidFill>
                <a:latin typeface="Verdana"/>
              </a:rPr>
              <a:t>sous-location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32688" y="3108960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932688" y="3236976"/>
            <a:ext cx="3291492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Je déménage en février pour de bon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43636" y="3236976"/>
            <a:ext cx="6595914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A5335F"/>
                </a:solidFill>
                <a:latin typeface="Verdana"/>
              </a:rPr>
              <a:t>cession de bail</a:t>
            </a:r>
          </a:p>
        </p:txBody>
      </p:sp>
      <p:sp>
        <p:nvSpPr>
          <p:cNvPr id="15" name="Rectangle 14"/>
          <p:cNvSpPr/>
          <p:nvPr/>
        </p:nvSpPr>
        <p:spPr>
          <a:xfrm>
            <a:off x="932688" y="3950208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932688" y="4078224"/>
            <a:ext cx="3291492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Ma sœur prendra le logement jusqu'à la fin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443636" y="4078224"/>
            <a:ext cx="6595914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A5335F"/>
                </a:solidFill>
                <a:latin typeface="Verdana"/>
              </a:rPr>
              <a:t>cession de bail</a:t>
            </a:r>
          </a:p>
        </p:txBody>
      </p:sp>
      <p:sp>
        <p:nvSpPr>
          <p:cNvPr id="18" name="Rectangle 17"/>
          <p:cNvSpPr/>
          <p:nvPr/>
        </p:nvSpPr>
        <p:spPr>
          <a:xfrm>
            <a:off x="932688" y="4791456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932688" y="4919472"/>
            <a:ext cx="3291492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J'accepte de répondre si l'autre ne paie pas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443636" y="4919472"/>
            <a:ext cx="6595914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A5335F"/>
                </a:solidFill>
                <a:latin typeface="Verdana"/>
              </a:rPr>
              <a:t>sous-location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A2 · Six mois ailleurs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A5335F"/>
                </a:solidFill>
                <a:latin typeface="Verdana"/>
              </a:rPr>
              <a:t>LA SOUS-LOCATION NE VOUS LIBÈRE DE RIEN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66928" y="1225296"/>
            <a:ext cx="11057839" cy="1967991"/>
          </a:xfrm>
          <a:prstGeom prst="roundRect">
            <a:avLst>
              <a:gd name="adj" fmla="val 7434"/>
            </a:avLst>
          </a:prstGeom>
          <a:solidFill>
            <a:srgbClr val="FCE9F0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1298448" y="1682496"/>
            <a:ext cx="9594799" cy="1145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Le locateur ne connaît que son locataire.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3467607"/>
            <a:ext cx="11057839" cy="2040128"/>
          </a:xfrm>
          <a:prstGeom prst="roundRect">
            <a:avLst>
              <a:gd name="adj" fmla="val 7171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969264" y="3741927"/>
            <a:ext cx="10234879" cy="1582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2000" b="0" i="0">
                <a:solidFill>
                  <a:srgbClr val="4B4F52"/>
                </a:solidFill>
                <a:latin typeface="Verdana"/>
              </a:rPr>
              <a:t>Si votre sous-locataire ne paie pas, c'est vous qui devez le loyer. Si votre sous-locataire abîme le logement, c'est vous qu'on ira voir. C'est ensuite à vous de vous retourner vers lui. C'est le prix à payer pour garder son logement — et c'est pour cela qu'on demande des références.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A2 · Six mois ailleurs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A5335F"/>
                </a:solidFill>
                <a:latin typeface="Verdana"/>
              </a:rPr>
              <a:t>ATTENTION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Le piège le plus fréquent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56232"/>
            <a:ext cx="5428335" cy="2331720"/>
          </a:xfrm>
          <a:prstGeom prst="roundRect">
            <a:avLst>
              <a:gd name="adj" fmla="val 6274"/>
            </a:avLst>
          </a:prstGeom>
          <a:solidFill>
            <a:srgbClr val="FFF6F5"/>
          </a:solidFill>
          <a:ln w="12700">
            <a:solidFill>
              <a:srgbClr val="DC26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932688" y="2130552"/>
            <a:ext cx="469681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91C1C"/>
                </a:solidFill>
                <a:latin typeface="Verdana"/>
              </a:rPr>
              <a:t>ON ENTEND SOUVENT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32688" y="2569464"/>
            <a:ext cx="4696815" cy="1417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500" b="1" i="0">
                <a:solidFill>
                  <a:srgbClr val="17181A"/>
                </a:solidFill>
                <a:latin typeface="Verdana"/>
              </a:rPr>
              <a:t>« J'ai sous-loué, donc je ne suis plus responsable de rien. »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96431" y="1856232"/>
            <a:ext cx="5428335" cy="2331720"/>
          </a:xfrm>
          <a:prstGeom prst="roundRect">
            <a:avLst>
              <a:gd name="adj" fmla="val 6274"/>
            </a:avLst>
          </a:prstGeom>
          <a:solidFill>
            <a:srgbClr val="E6F5EE"/>
          </a:solidFill>
          <a:ln w="12700">
            <a:solidFill>
              <a:srgbClr val="0A8F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6562191" y="2130552"/>
            <a:ext cx="469681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07734A"/>
                </a:solidFill>
                <a:latin typeface="Verdana"/>
              </a:rPr>
              <a:t>IL FAUT DIRE PLUTÔT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62191" y="2569464"/>
            <a:ext cx="4696815" cy="1417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500" b="1" i="0">
                <a:solidFill>
                  <a:srgbClr val="17181A"/>
                </a:solidFill>
                <a:latin typeface="Verdana"/>
              </a:rPr>
              <a:t>« J'ai sous-loué, et je réponds encore de tout jusqu'au 30 juin. »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66928" y="4462272"/>
            <a:ext cx="11057839" cy="1618487"/>
          </a:xfrm>
          <a:prstGeom prst="roundRect">
            <a:avLst>
              <a:gd name="adj" fmla="val 9039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969264" y="4736592"/>
            <a:ext cx="10234879" cy="11506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2000" b="0" i="0">
                <a:solidFill>
                  <a:srgbClr val="4B4F52"/>
                </a:solidFill>
                <a:latin typeface="Verdana"/>
              </a:rPr>
              <a:t>C'est la croyance la plus répandue, et la plus coûteuse. La sous-location déplace l'occupant, jamais la responsabilité. Elle n'existe d'ailleurs que pour ça : garder le bail à son nom.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A2 · Six mois ailleurs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A5335F"/>
                </a:solidFill>
                <a:latin typeface="Verdana"/>
              </a:rPr>
              <a:t>VOCABULAIRE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Trois mots à ne pas confondre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10512"/>
            <a:ext cx="11057839" cy="4270248"/>
          </a:xfrm>
          <a:prstGeom prst="roundRect">
            <a:avLst>
              <a:gd name="adj" fmla="val 3426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932688" y="2121408"/>
            <a:ext cx="2506122" cy="10942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1900" b="1" i="0">
                <a:solidFill>
                  <a:srgbClr val="17181A"/>
                </a:solidFill>
                <a:latin typeface="Verdana"/>
              </a:rPr>
              <a:t>la sous-location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713130" y="2121408"/>
            <a:ext cx="7545876" cy="10942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4B4F52"/>
                </a:solidFill>
                <a:latin typeface="Verdana"/>
              </a:rPr>
              <a:t>Le fait de prêter son logement à quelqu'un pour un temps, en gardant son bail à son nom.</a:t>
            </a:r>
          </a:p>
        </p:txBody>
      </p:sp>
      <p:sp>
        <p:nvSpPr>
          <p:cNvPr id="10" name="Rectangle 9"/>
          <p:cNvSpPr/>
          <p:nvPr/>
        </p:nvSpPr>
        <p:spPr>
          <a:xfrm>
            <a:off x="932688" y="3288792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932688" y="3435096"/>
            <a:ext cx="2506122" cy="10942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1900" b="1" i="0">
                <a:solidFill>
                  <a:srgbClr val="17181A"/>
                </a:solidFill>
                <a:latin typeface="Verdana"/>
              </a:rPr>
              <a:t>la cession de bail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713130" y="3435096"/>
            <a:ext cx="7545876" cy="10942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4B4F52"/>
                </a:solidFill>
                <a:latin typeface="Verdana"/>
              </a:rPr>
              <a:t>Le fait de transmettre son bail à quelqu'un d'autre et de sortir du contrat pour de bon.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932688" y="4602480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932688" y="4748784"/>
            <a:ext cx="2506122" cy="10942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1900" b="1" i="0">
                <a:solidFill>
                  <a:srgbClr val="17181A"/>
                </a:solidFill>
                <a:latin typeface="Verdana"/>
              </a:rPr>
              <a:t>la résiliation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713130" y="4748784"/>
            <a:ext cx="7545876" cy="10942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4B4F52"/>
                </a:solidFill>
                <a:latin typeface="Verdana"/>
              </a:rPr>
              <a:t>La fin d'un contrat avant la date prévue, dans les cas que la loi permet.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A2 · Six mois ailleurs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A5335F"/>
                </a:solidFill>
                <a:latin typeface="Verdana"/>
              </a:rPr>
              <a:t>PRATIQUE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Sous-location ou cession 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Dites de quoi il s'agit dans chaque cas.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23672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CE9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30073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A5335F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Farida garde son bail et reprend son logement le premier juillet.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2827528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841247" y="2924556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CE9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41247" y="2988564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A5335F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44168" y="2982975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La personne qui arrive devient locataire à la place de celle qui part.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515359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361238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CE9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3676395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A5335F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3670807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Le locataire de départ reste responsable du loyer jusqu'à la fin.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4203192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841247" y="4300220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CE9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841247" y="4364228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A5335F"/>
                </a:solidFill>
                <a:latin typeface="Verdan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44168" y="4358640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Le nom au bail change, et l'ancien locataire n'a plus rien à y voir.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66928" y="4891023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Rounded Rectangle 24"/>
          <p:cNvSpPr/>
          <p:nvPr/>
        </p:nvSpPr>
        <p:spPr>
          <a:xfrm>
            <a:off x="841247" y="4988051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CE9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841247" y="5052059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A5335F"/>
                </a:solidFill>
                <a:latin typeface="Verdana"/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44168" y="5046471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L'entente porte sur une période avec une date de fin.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66928" y="5578856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Rounded Rectangle 28"/>
          <p:cNvSpPr/>
          <p:nvPr/>
        </p:nvSpPr>
        <p:spPr>
          <a:xfrm>
            <a:off x="841247" y="567588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CE9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TextBox 29"/>
          <p:cNvSpPr txBox="1"/>
          <p:nvPr/>
        </p:nvSpPr>
        <p:spPr>
          <a:xfrm>
            <a:off x="841247" y="573989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A5335F"/>
                </a:solidFill>
                <a:latin typeface="Verdana"/>
              </a:rPr>
              <a:t>6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344168" y="5734304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On prête son logement pendant qu'on travaille ailleurs six mois.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A2 · Six mois ailleurs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10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A5335F"/>
                </a:solidFill>
                <a:latin typeface="Verdana"/>
              </a:rPr>
              <a:t>CORRECTION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Sous-location ou cession 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Correction — on lit la réponse, on ne commente pas l'erreur.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23672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CE9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30073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A5335F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Farida garde son bail et reprend son logement le premier juillet.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sous-location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2827528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841247" y="2924556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CE9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41247" y="2988564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A5335F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44168" y="2982975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La personne qui arrive devient locataire à la place de celle qui part.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cession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515359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361238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CE9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3676395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A5335F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3670807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Le locataire de départ reste responsable du loyer jusqu'à la fin.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sous-location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4203192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841247" y="4300220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CE9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841247" y="4364228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A5335F"/>
                </a:solidFill>
                <a:latin typeface="Verdan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44168" y="4358640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Le nom au bail change, et l'ancien locataire n'a plus rien à y voir.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cession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66928" y="4891023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Rounded Rectangle 24"/>
          <p:cNvSpPr/>
          <p:nvPr/>
        </p:nvSpPr>
        <p:spPr>
          <a:xfrm>
            <a:off x="841247" y="4988051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CE9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841247" y="5052059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A5335F"/>
                </a:solidFill>
                <a:latin typeface="Verdana"/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44168" y="5046471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L'entente porte sur une période avec une date de fin.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sous-location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66928" y="5578856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Rounded Rectangle 28"/>
          <p:cNvSpPr/>
          <p:nvPr/>
        </p:nvSpPr>
        <p:spPr>
          <a:xfrm>
            <a:off x="841247" y="567588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CE9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TextBox 29"/>
          <p:cNvSpPr txBox="1"/>
          <p:nvPr/>
        </p:nvSpPr>
        <p:spPr>
          <a:xfrm>
            <a:off x="841247" y="573989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A5335F"/>
                </a:solidFill>
                <a:latin typeface="Verdana"/>
              </a:rPr>
              <a:t>6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344168" y="5734304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On prête son logement pendant qu'on travaille ailleurs six mois.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sous-location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A2 · Six mois ailleurs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11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718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566928" y="1051560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FFFFFF"/>
                </a:solidFill>
                <a:latin typeface="Verdana"/>
              </a:rPr>
              <a:t>BILLET DE SORTIE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572768"/>
            <a:ext cx="9777679" cy="2103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3400" b="1" i="0">
                <a:solidFill>
                  <a:srgbClr val="FFFFFF"/>
                </a:solidFill>
                <a:latin typeface="Verdana"/>
              </a:rPr>
              <a:t>Écrivez une phrase complète qui commence par « Je veux sous-louer parce que… »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3931920"/>
            <a:ext cx="11057839" cy="666496"/>
          </a:xfrm>
          <a:prstGeom prst="roundRect">
            <a:avLst>
              <a:gd name="adj" fmla="val 13719"/>
            </a:avLst>
          </a:prstGeom>
          <a:solidFill>
            <a:srgbClr val="2A2C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932688" y="4087368"/>
            <a:ext cx="1005199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FFFFFF"/>
                </a:solidFill>
                <a:latin typeface="Verdana"/>
              </a:rPr>
              <a:t>Inventez la raison si vous voulez.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66928" y="4680712"/>
            <a:ext cx="11057839" cy="666496"/>
          </a:xfrm>
          <a:prstGeom prst="roundRect">
            <a:avLst>
              <a:gd name="adj" fmla="val 13719"/>
            </a:avLst>
          </a:prstGeom>
          <a:solidFill>
            <a:srgbClr val="2A2C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932688" y="4836160"/>
            <a:ext cx="1005199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FFFFFF"/>
                </a:solidFill>
                <a:latin typeface="Verdana"/>
              </a:rPr>
              <a:t>Attention au mot : sous-louer, pas céder.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A2 · Six mois ailleurs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