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1. Elle ferme le bloc et prépare le suivant : les connecteurs travaillés ici sont ceux que l'élève emploiera dans son courriel et dans sa production orale.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utile du bloc pour la suite : « selon la page du Tribunal » met l'élève à l'abri, et c'est ce qu'il dira à son locateur en C1.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confusion avec le futur est systématique et il faut la nommer : c'est une pure coïncidence de ressemblance. « Fut » égale « a été », et rien d'autre.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le programme demande de reconnaître, jamais d'écrire. Personne ne doit produire un passé simple dans ce cours.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faits vrais dans cette liste : la Régie du logement a bien été créée en 1980 et le Tribunal administratif du logement l'a remplacée le 31 août 2020. Le dire — les élèves demandent toujours.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Rassurer : ce temps ne sera jamais exigé en production, ni dans ce cours, ni au suivant.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une phrase par famille, sur le dossier. Les meilleures vont au tableau et servent de modèle en C1, quand Farida devra citer la page devant son locateur.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Accepter toute réponse de la bonne famille. Ce qui se corrige, c'est le choix de la famille, pas celui du mot : les synonymes se valent, la confusion entre exemple et opinion, non.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point le plus utile du bloc pour la production écrite. Le faire écrire au tableau et le laisser là jusqu'à la fin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C'est le bilan du bloc et la répétition générale de la production orale de E1. Garder les billets : ils servent de point de départ à cette séance-là.</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B5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peu d'histoire, et beaucoup d'exemples</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temps qu'on lit sans jamais l'écrire, et quatre familles de mots qui préviennent le lecteur de ce qui vient.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Six mois ailleurs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passé simple à la troisième personne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le traduire en passé composé pour comprendre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annoncer un exemple et annoncer un avis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rapporter une règle sans se porter garant.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 La Régie du logement fut créée en 1980. » Que veut dire « fut »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du futur ? Pourquoi la ressemblance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le diriez-vous en parlant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avez-vous déjà rencontré ce genre de phrase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passé simple à la troisième personne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TERMINAISON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LES VERBES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 -èrent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adopta, ils adoptèrent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-it, -irent</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finit, ils finirent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-ut, -urent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reçut, ils reçurent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irréguliers</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fut, il eut, il fit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Au pluriel, le groupe -rent se voit de loin.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comme on le dirait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Traduisez en passé composé.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législateur adopta une loi.</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Régie du logement fut créée en 1980.</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devint le Tribunal administratif du logement.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nouveau nom entra en vigueur en 2020.</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Farida lut la page trois fois.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prit un crayon et nota les dates.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comme on le dirait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législateur adopta une loi.   </a:t>
            </a:r>
            <a:r>
              <a:rPr sz="1400" b="1" i="0">
                <a:solidFill>
                  <a:srgbClr val="07734A"/>
                </a:solidFill>
                <a:latin typeface="Verdana"/>
              </a:rPr>
              <a:t>» il a adopté</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Régie du logement fut créée en 1980.   </a:t>
            </a:r>
            <a:r>
              <a:rPr sz="1400" b="1" i="0">
                <a:solidFill>
                  <a:srgbClr val="07734A"/>
                </a:solidFill>
                <a:latin typeface="Verdana"/>
              </a:rPr>
              <a:t>» elle a été créée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devint le Tribunal administratif du logement.   </a:t>
            </a:r>
            <a:r>
              <a:rPr sz="1400" b="1" i="0">
                <a:solidFill>
                  <a:srgbClr val="07734A"/>
                </a:solidFill>
                <a:latin typeface="Verdana"/>
              </a:rPr>
              <a:t>» elle est devenue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nouveau nom entra en vigueur en 2020.   </a:t>
            </a:r>
            <a:r>
              <a:rPr sz="1400" b="1" i="0">
                <a:solidFill>
                  <a:srgbClr val="07734A"/>
                </a:solidFill>
                <a:latin typeface="Verdana"/>
              </a:rPr>
              <a:t>» il est entré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Farida lut la page trois fois.   </a:t>
            </a:r>
            <a:r>
              <a:rPr sz="1400" b="1" i="0">
                <a:solidFill>
                  <a:srgbClr val="07734A"/>
                </a:solidFill>
                <a:latin typeface="Verdana"/>
              </a:rPr>
              <a:t>» elle a lu</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prit un crayon et nota les dates.   </a:t>
            </a:r>
            <a:r>
              <a:rPr sz="1400" b="1" i="0">
                <a:solidFill>
                  <a:srgbClr val="07734A"/>
                </a:solidFill>
                <a:latin typeface="Verdana"/>
              </a:rPr>
              <a:t>» elle a pris, elle a noté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UN PASSÉ SIMPLE SE LIT, NE S'ÉCRIT PAS</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Dans un avis, dans un courriel, c'est le passé composé.</a:t>
            </a:r>
          </a:p>
        </p:txBody>
      </p:sp>
      <p:sp>
        <p:nvSpPr>
          <p:cNvPr id="8" name="Rounded Rectangle 7"/>
          <p:cNvSpPr/>
          <p:nvPr/>
        </p:nvSpPr>
        <p:spPr>
          <a:xfrm>
            <a:off x="566928" y="3467607"/>
            <a:ext cx="11057839" cy="2408428"/>
          </a:xfrm>
          <a:prstGeom prst="roundRect">
            <a:avLst>
              <a:gd name="adj" fmla="val 607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9512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passé simple survit à l'écrit : les romans, les contes, les notices historiques, les encadrés « un peu d'histoire » des sites officiels. Un courriel au passé simple ne fait pas sérieux : il fait bizarre. Devant une forme courte qui vous étonne, essayez le passé composé — si la phrase tient, c'était un passé simple.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CONNECTEURS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familles, pour un dossier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Annoncer un exemple</a:t>
            </a:r>
          </a:p>
        </p:txBody>
      </p:sp>
      <p:sp>
        <p:nvSpPr>
          <p:cNvPr id="9" name="TextBox 8"/>
          <p:cNvSpPr txBox="1"/>
          <p:nvPr/>
        </p:nvSpPr>
        <p:spPr>
          <a:xfrm>
            <a:off x="886968"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par exemple, notamment, entre autres, ainsi. Ils préviennent : ce qui suit n'est pas une règle nouvelle, c'est un cas de la règle d'avant.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Annoncer un avis</a:t>
            </a:r>
          </a:p>
        </p:txBody>
      </p:sp>
      <p:sp>
        <p:nvSpPr>
          <p:cNvPr id="12" name="TextBox 11"/>
          <p:cNvSpPr txBox="1"/>
          <p:nvPr/>
        </p:nvSpPr>
        <p:spPr>
          <a:xfrm>
            <a:off x="6498183" y="2484373"/>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à mon avis, selon moi, pour ma part. Ils disent : ce qui suit n'est plus le texte, c'est moi. Sans eux, un avis passe pour une affirmation de droit.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Rapporter une source</a:t>
            </a:r>
          </a:p>
        </p:txBody>
      </p:sp>
      <p:sp>
        <p:nvSpPr>
          <p:cNvPr id="15" name="TextBox 14"/>
          <p:cNvSpPr txBox="1"/>
          <p:nvPr/>
        </p:nvSpPr>
        <p:spPr>
          <a:xfrm>
            <a:off x="886968"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selon la page, d'après monsieur Tardif. On rapporte sans se porter garant — exactement ce qu'il faut faire d'une règle qu'on vient de lire.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Opposer deux choses vraies</a:t>
            </a:r>
          </a:p>
        </p:txBody>
      </p:sp>
      <p:sp>
        <p:nvSpPr>
          <p:cNvPr id="18" name="TextBox 17"/>
          <p:cNvSpPr txBox="1"/>
          <p:nvPr/>
        </p:nvSpPr>
        <p:spPr>
          <a:xfrm>
            <a:off x="6498183" y="4701794"/>
            <a:ext cx="4806543" cy="1104646"/>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en revanche, par contre, cependant, toutefois. Le cas le plus fréquent d'un dossier : les deux phrases sont vraies et tirent en sens contraires.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connecteur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un mot ou une expression de la bonne famille.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motif doit être sérieux. …, un défaut de paiement.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page nomme plusieurs papiers, … l'accusé de réception.</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ce refus ne tient pas debout.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la page du Tribunal, le silence vaut consentement.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peut réclamer ses frais. …, il ne peut pas fixer un montant.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gardé une copie. …, elle peut prouver la 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connecteur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motif doit être sérieux. …, un défaut de paiement.   </a:t>
            </a:r>
            <a:r>
              <a:rPr sz="1400" b="1" i="0">
                <a:solidFill>
                  <a:srgbClr val="07734A"/>
                </a:solidFill>
                <a:latin typeface="Verdana"/>
              </a:rPr>
              <a:t>» par exemple / ainsi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page nomme plusieurs papiers, … l'accusé de réception.   </a:t>
            </a:r>
            <a:r>
              <a:rPr sz="1400" b="1" i="0">
                <a:solidFill>
                  <a:srgbClr val="07734A"/>
                </a:solidFill>
                <a:latin typeface="Verdana"/>
              </a:rPr>
              <a:t>» notamment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ce refus ne tient pas debout.   </a:t>
            </a:r>
            <a:r>
              <a:rPr sz="1400" b="1" i="0">
                <a:solidFill>
                  <a:srgbClr val="07734A"/>
                </a:solidFill>
                <a:latin typeface="Verdana"/>
              </a:rPr>
              <a:t>» à mon avis / selon moi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la page du Tribunal, le silence vaut consentement.   </a:t>
            </a:r>
            <a:r>
              <a:rPr sz="1400" b="1" i="0">
                <a:solidFill>
                  <a:srgbClr val="07734A"/>
                </a:solidFill>
                <a:latin typeface="Verdana"/>
              </a:rPr>
              <a:t>» selon / d'après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peut réclamer ses frais. …, il ne peut pas fixer un montant.   </a:t>
            </a:r>
            <a:r>
              <a:rPr sz="1400" b="1" i="0">
                <a:solidFill>
                  <a:srgbClr val="07734A"/>
                </a:solidFill>
                <a:latin typeface="Verdana"/>
              </a:rPr>
              <a:t>» en revanche / par contre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gardé une copie. …, elle peut prouver la date.   </a:t>
            </a:r>
            <a:r>
              <a:rPr sz="1400" b="1" i="0">
                <a:solidFill>
                  <a:srgbClr val="07734A"/>
                </a:solidFill>
                <a:latin typeface="Verdana"/>
              </a:rPr>
              <a:t>» ainsi / donc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ATTENTION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Ce refus n'est pas valable.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À mon avis, ce refus n'est pas valable.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première phrase est une affirmation de droit, et vous n'êtes pas un tribunal. La seconde est une opinion, et personne ne peut vous la reprocher. Trois mots de différence, et tout le ton du dossier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Résumez le Défi 1 en trois phrases : ce que dit la page sur l'avis, le délai et le refus.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par point.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au moins un connecteur.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B5 · Six mois ailleurs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