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3, et la plus chargée du module : trois points de langue. Si le temps manque, sacrifier le troisième et le reprendre en E1 — mais ne pas sacrifier le premier.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relie les trois points : c'est le message implicite dans sa forme la plus pure.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n'en a aucune, et c'est le cas dangereux : « ils » sert à donner une caution qui n'existe pas. Laisser le groupe le trouver.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réponse vient presque toujours à la deuxième question : le geste désigne son auteur.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`t3ils` du module. Le dernier est le seul qui compte vraiment : une caution qu'on ne peut pas nommer n'est pas une caution.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 tournures décrivent exactement les procédés du module : trop petit, trop rapide, tellement de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Après « que » tout court : indicatif. Après « pour que » : subjonctif, toujours. C'est la seule chose à retenir de ce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test : ajoutez « en général » à la phrase. Si elle tient, c'est du général.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message implicite dans sa forme la plus pure, et c'est la dernière chose que le module apprend. Prendre le temps.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production. Ces deux phrases sont exactement celles qui manquent aux exposés de E1 : les élèves décrivent, et ne concluent pas.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Ils » sans nom, et « un matelas » en général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tournures que la publicité emploie sans arrêt : un pronom qui ne désigne personne, un degré qui entraîne une conséquence, et une vérité générale qui vous laisse conclure.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la publicité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le référent d'un « ils » qui n'a pas d'antécédent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lier deux idées par un degré et sa conséquence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vérité générale d'un cas particulier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voir comment la publicité passe de l'une à l'autre.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ils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Ils me l'ont envoyée. » Qui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Ils ont encore augmenté les prix. » Qui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Ils disent que c'est le meilleur produit. » Qui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des trois n'a aucune réponse possible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questions qui trouvent le référent</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DONNE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 quoi parle la phrase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domaine : un produit, une loi, un prix</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Qui pose ce geste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entreprise, un organisme, une autorité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Qui a été nommé avant ?</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parfois rien, et c'est une réponse</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référent est presque toujours un groupe, jamais une personne.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ils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qui le pronom désigne, en un groupe de mots.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reçu la trottinette. Ils me l'ont envoyée.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tarif a monté. Ils ont changé les conditions.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interdisent la publicité aux moins de treize ans.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reçoivent les plaintes du public.</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vérifient la langue des enseignes.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disent que c'est le meilleur produit.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ils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reçu la trottinette. Ils me l'ont envoyée.   </a:t>
            </a:r>
            <a:r>
              <a:rPr sz="1400" b="1" i="0">
                <a:solidFill>
                  <a:srgbClr val="07734A"/>
                </a:solidFill>
                <a:latin typeface="Verdana"/>
              </a:rPr>
              <a:t>» l'entreprise qui la vend</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tarif a monté. Ils ont changé les conditions.   </a:t>
            </a:r>
            <a:r>
              <a:rPr sz="1400" b="1" i="0">
                <a:solidFill>
                  <a:srgbClr val="07734A"/>
                </a:solidFill>
                <a:latin typeface="Verdana"/>
              </a:rPr>
              <a:t>» le centre, l'entreprise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interdisent la publicité aux moins de treize ans.   </a:t>
            </a:r>
            <a:r>
              <a:rPr sz="1400" b="1" i="0">
                <a:solidFill>
                  <a:srgbClr val="07734A"/>
                </a:solidFill>
                <a:latin typeface="Verdana"/>
              </a:rPr>
              <a:t>» la loi, le gouvernement du Québec</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reçoivent les plaintes du public.   </a:t>
            </a:r>
            <a:r>
              <a:rPr sz="1400" b="1" i="0">
                <a:solidFill>
                  <a:srgbClr val="07734A"/>
                </a:solidFill>
                <a:latin typeface="Verdana"/>
              </a:rPr>
              <a:t>» Normes de la publicité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vérifient la langue des enseignes.   </a:t>
            </a:r>
            <a:r>
              <a:rPr sz="1400" b="1" i="0">
                <a:solidFill>
                  <a:srgbClr val="07734A"/>
                </a:solidFill>
                <a:latin typeface="Verdana"/>
              </a:rPr>
              <a:t>» l'Office québécois de la langue française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disent que c'est le meilleur produit.   </a:t>
            </a:r>
            <a:r>
              <a:rPr sz="1400" b="1" i="0">
                <a:solidFill>
                  <a:srgbClr val="07734A"/>
                </a:solidFill>
                <a:latin typeface="Verdana"/>
              </a:rPr>
              <a:t>» personne : aucun nom n'existe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DEGRÉ ENTRAÎNE UNE CONSÉQUENCE</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caractère est si petit qu'on ne le lit pas. La voix va tellement vite qu'on ne comprend rien.</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modèles : « si » ou « tellement » + que, suivi de l'indicatif ; « assez » ou « suffisamment » + pour que, suivi du subjonctif ; « trop » + pour que, suivi du subjonctif aussi. Devant un nom, c'est « tellement de », jamais « si de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modèles, trois nuances</a:t>
            </a:r>
          </a:p>
        </p:txBody>
      </p:sp>
      <p:sp>
        <p:nvSpPr>
          <p:cNvPr id="7" name="Rounded Rectangle 6"/>
          <p:cNvSpPr/>
          <p:nvPr/>
        </p:nvSpPr>
        <p:spPr>
          <a:xfrm>
            <a:off x="566928" y="181051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si … que + indicatif</a:t>
            </a:r>
          </a:p>
        </p:txBody>
      </p:sp>
      <p:sp>
        <p:nvSpPr>
          <p:cNvPr id="9" name="TextBox 8"/>
          <p:cNvSpPr txBox="1"/>
          <p:nvPr/>
        </p:nvSpPr>
        <p:spPr>
          <a:xfrm>
            <a:off x="886968" y="234950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caractère est si petit qu'on ne le lit pas.</a:t>
            </a:r>
          </a:p>
        </p:txBody>
      </p:sp>
      <p:sp>
        <p:nvSpPr>
          <p:cNvPr id="10" name="Rounded Rectangle 9"/>
          <p:cNvSpPr/>
          <p:nvPr/>
        </p:nvSpPr>
        <p:spPr>
          <a:xfrm>
            <a:off x="566928" y="291922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19354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assez … pour que + subjonctif</a:t>
            </a:r>
          </a:p>
        </p:txBody>
      </p:sp>
      <p:sp>
        <p:nvSpPr>
          <p:cNvPr id="12" name="TextBox 11"/>
          <p:cNvSpPr txBox="1"/>
          <p:nvPr/>
        </p:nvSpPr>
        <p:spPr>
          <a:xfrm>
            <a:off x="886968" y="3458209"/>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prix est assez bas pour qu'on signe sans réfléchir.</a:t>
            </a:r>
          </a:p>
        </p:txBody>
      </p:sp>
      <p:sp>
        <p:nvSpPr>
          <p:cNvPr id="13" name="Rounded Rectangle 12"/>
          <p:cNvSpPr/>
          <p:nvPr/>
        </p:nvSpPr>
        <p:spPr>
          <a:xfrm>
            <a:off x="566928" y="4027931"/>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trop … pour que + subjonctif</a:t>
            </a:r>
          </a:p>
        </p:txBody>
      </p:sp>
      <p:sp>
        <p:nvSpPr>
          <p:cNvPr id="15" name="TextBox 14"/>
          <p:cNvSpPr txBox="1"/>
          <p:nvPr/>
        </p:nvSpPr>
        <p:spPr>
          <a:xfrm>
            <a:off x="886968" y="456692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L'écriture est trop fine pour que je la lise.</a:t>
            </a:r>
          </a:p>
        </p:txBody>
      </p:sp>
      <p:sp>
        <p:nvSpPr>
          <p:cNvPr id="16" name="Rounded Rectangle 15"/>
          <p:cNvSpPr/>
          <p:nvPr/>
        </p:nvSpPr>
        <p:spPr>
          <a:xfrm>
            <a:off x="566928" y="513664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410962"/>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tellement de … que</a:t>
            </a:r>
          </a:p>
        </p:txBody>
      </p:sp>
      <p:sp>
        <p:nvSpPr>
          <p:cNvPr id="18" name="TextBox 17"/>
          <p:cNvSpPr txBox="1"/>
          <p:nvPr/>
        </p:nvSpPr>
        <p:spPr>
          <a:xfrm>
            <a:off x="886968" y="567563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Il y a tellement de conditions que personne ne les lit.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Toute la catégorie, ou un cas précis ?</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DONT ELLE PARLE</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Un matelas, ça dure dix ans.</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toute la catégorie</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Il y a un matelas à 40 %.</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cas précis</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La publicité, ça travaille.</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toute la catégorie</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Cet abonnement-là vous engage.</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cas précis</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reprise par « ça » est le signe le plus sûr du sens général.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Un bon matelas, ça change une vie » promet quelque chose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cette phrase ne parle pas du matelas de l'annonce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publicité affirme au général — une vérité qu'on ne peut pas contester — puis vous laisse appliquer cette vérité au produit précis qu'elle vend, ce qu'elle n'a jamais promis. Le glissement se fait dans votre tête, et il ne laisse aucune trace dans le texte.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phrases sur votre annonce : une avec « si… que », une au sens général.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Le caractère est si petit que…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Un abonnement, ça…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Ce que la publicité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