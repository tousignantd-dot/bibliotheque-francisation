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3, et la plus dense en faits. Prévoir de donner les trois règles lentement : ce sont des chiffres et des dates, et les élèves les noteront.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qui rend le module utile hors de la classe : se tromper de porte fait perdre des semaines.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questions sont les deux règles de la séance. Laisser le groupe hésiter : c'est exactement l'hésitation que les règles servent à trancher.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le point de départ de la séance D2. La noter au tableau et l'y laisser.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 vérifié, à donner tel quel : le Code canadien des normes de la publicité interdit à son article deux qu'une annonce cache qu'elle en est une.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 vérifié : l'interdiction est unique en Amérique du Nord, et ce n'est pas une ligne directrice. Les trois critères sont ceux de la loi, et l'intention déclarée de l'annonceur n'en fait pas partie.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précision est la partie utile : sans elle, la règle paraîtrait facile à contourner.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Trois organismes seulement, et ils ne se marchent pas sur les pieds. Rien n'empêche de s'adresser à deux d'entre eux.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`t3vf` du module. Le deuxième item est celui qui surprend : un produit reçu est une contrepartie au même titre qu'un paiement.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d'observation. La position de la mention est instructive : au début, elle informe ; à la fin, beaucoup moins.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questions, trois portes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publicités les plus efficaces ne ressemblent pas à des publicités. Chacune des trois situations de cette séance est encadrée par une règle, et chacune a sa porte.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la publicité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une publicité qui ne se présente pas comme telle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qu'exige un témoignage employé en publicité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l'interdiction qui vise les moins de treize ans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trois organismes et ce que chacun reçoit.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Est-ce une publicité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eleviseur-salon.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personne montre un objet qu'on lui a envoyé, et donne un code.</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Rien n'indique nulle part qu'il s'agit d'une annonce.</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ça change quelque chose que ce soit gratuit ?</a:t>
            </a:r>
          </a:p>
        </p:txBody>
      </p:sp>
      <p:sp>
        <p:nvSpPr>
          <p:cNvPr id="18" name="Rounded Rectangle 17"/>
          <p:cNvSpPr/>
          <p:nvPr/>
        </p:nvSpPr>
        <p:spPr>
          <a:xfrm>
            <a:off x="566928" y="522732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l'enfant qui regarde a onze ans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Ils me l'ont envoyée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3370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VALERIA</a:t>
            </a:r>
          </a:p>
        </p:txBody>
      </p:sp>
      <p:sp>
        <p:nvSpPr>
          <p:cNvPr id="10" name="TextBox 9"/>
          <p:cNvSpPr txBox="1"/>
          <p:nvPr/>
        </p:nvSpPr>
        <p:spPr>
          <a:xfrm>
            <a:off x="2366391" y="2322576"/>
            <a:ext cx="870973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Maman, la trottinette est bleue, elle monte les côtes, et elle est presque gratuite.</a:t>
            </a:r>
          </a:p>
        </p:txBody>
      </p:sp>
      <p:sp>
        <p:nvSpPr>
          <p:cNvPr id="11" name="Rounded Rectangle 10"/>
          <p:cNvSpPr/>
          <p:nvPr/>
        </p:nvSpPr>
        <p:spPr>
          <a:xfrm>
            <a:off x="566928" y="324510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43370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YAMILÉ</a:t>
            </a:r>
          </a:p>
        </p:txBody>
      </p:sp>
      <p:sp>
        <p:nvSpPr>
          <p:cNvPr id="13" name="TextBox 12"/>
          <p:cNvSpPr txBox="1"/>
          <p:nvPr/>
        </p:nvSpPr>
        <p:spPr>
          <a:xfrm>
            <a:off x="2366391" y="3409696"/>
            <a:ext cx="87097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Presque gratuite ? Tu as vu ça où ?</a:t>
            </a:r>
          </a:p>
        </p:txBody>
      </p:sp>
      <p:sp>
        <p:nvSpPr>
          <p:cNvPr id="14" name="Rounded Rectangle 13"/>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43370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VALERIA</a:t>
            </a:r>
          </a:p>
        </p:txBody>
      </p:sp>
      <p:sp>
        <p:nvSpPr>
          <p:cNvPr id="16" name="TextBox 15"/>
          <p:cNvSpPr txBox="1"/>
          <p:nvPr/>
        </p:nvSpPr>
        <p:spPr>
          <a:xfrm>
            <a:off x="2366391" y="4158995"/>
            <a:ext cx="870973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vidéo. Il dit qu'on peut avoir la même avec son code. Il dit qu'ils la lui ont envoyée.</a:t>
            </a:r>
          </a:p>
        </p:txBody>
      </p:sp>
      <p:sp>
        <p:nvSpPr>
          <p:cNvPr id="17" name="Rounded Rectangle 16"/>
          <p:cNvSpPr/>
          <p:nvPr/>
        </p:nvSpPr>
        <p:spPr>
          <a:xfrm>
            <a:off x="566928" y="508152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246116"/>
            <a:ext cx="143370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YAMILÉ</a:t>
            </a:r>
          </a:p>
        </p:txBody>
      </p:sp>
      <p:sp>
        <p:nvSpPr>
          <p:cNvPr id="19" name="TextBox 18"/>
          <p:cNvSpPr txBox="1"/>
          <p:nvPr/>
        </p:nvSpPr>
        <p:spPr>
          <a:xfrm>
            <a:off x="2366391" y="5246116"/>
            <a:ext cx="870973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Ils. Qui, ils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annonce doit se dire annonce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6083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9" name="TextBox 8"/>
          <p:cNvSpPr txBox="1"/>
          <p:nvPr/>
        </p:nvSpPr>
        <p:spPr>
          <a:xfrm>
            <a:off x="2293524" y="1901952"/>
            <a:ext cx="878260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 la personne a reçu quelque chose en échange, oui, c'est de la publicité, quelle que soit la forme.</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36083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12" name="TextBox 11"/>
          <p:cNvSpPr txBox="1"/>
          <p:nvPr/>
        </p:nvSpPr>
        <p:spPr>
          <a:xfrm>
            <a:off x="2293524" y="2989072"/>
            <a:ext cx="878260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une publicité doit se présenter comme telle. Une annonce qui se déguise en opinion personnelle, ça ne se fait pas.</a:t>
            </a:r>
          </a:p>
        </p:txBody>
      </p:sp>
      <p:sp>
        <p:nvSpPr>
          <p:cNvPr id="13" name="Rounded Rectangle 12"/>
          <p:cNvSpPr/>
          <p:nvPr/>
        </p:nvSpPr>
        <p:spPr>
          <a:xfrm>
            <a:off x="566928" y="39116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36083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YAMILÉ</a:t>
            </a:r>
          </a:p>
        </p:txBody>
      </p:sp>
      <p:sp>
        <p:nvSpPr>
          <p:cNvPr id="15" name="TextBox 14"/>
          <p:cNvSpPr txBox="1"/>
          <p:nvPr/>
        </p:nvSpPr>
        <p:spPr>
          <a:xfrm>
            <a:off x="2293524" y="4076191"/>
            <a:ext cx="878260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n'y a rien d'écrit dans la vidéo. Nulle part.</a:t>
            </a:r>
          </a:p>
        </p:txBody>
      </p:sp>
      <p:sp>
        <p:nvSpPr>
          <p:cNvPr id="16" name="Rounded Rectangle 15"/>
          <p:cNvSpPr/>
          <p:nvPr/>
        </p:nvSpPr>
        <p:spPr>
          <a:xfrm>
            <a:off x="566928" y="466090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2"/>
            <a:ext cx="136083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18" name="TextBox 17"/>
          <p:cNvSpPr txBox="1"/>
          <p:nvPr/>
        </p:nvSpPr>
        <p:spPr>
          <a:xfrm>
            <a:off x="2293524" y="4825492"/>
            <a:ext cx="878260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la commandite n'est pas divulguée, et c'est signalable.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Moins de treize ans</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6083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9" name="TextBox 8"/>
          <p:cNvSpPr txBox="1"/>
          <p:nvPr/>
        </p:nvSpPr>
        <p:spPr>
          <a:xfrm>
            <a:off x="2293524" y="1901952"/>
            <a:ext cx="878260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 Québec, la publicité commerciale destinée aux personnes de moins de treize ans est interdite.</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36083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YAMILÉ</a:t>
            </a:r>
          </a:p>
        </p:txBody>
      </p:sp>
      <p:sp>
        <p:nvSpPr>
          <p:cNvPr id="12" name="TextBox 11"/>
          <p:cNvSpPr txBox="1"/>
          <p:nvPr/>
        </p:nvSpPr>
        <p:spPr>
          <a:xfrm>
            <a:off x="2293524" y="2989072"/>
            <a:ext cx="878260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Mais la vidéo ne dit pas qu'elle est pour les enfants.</a:t>
            </a:r>
          </a:p>
        </p:txBody>
      </p:sp>
      <p:sp>
        <p:nvSpPr>
          <p:cNvPr id="13" name="Rounded Rectangle 12"/>
          <p:cNvSpPr/>
          <p:nvPr/>
        </p:nvSpPr>
        <p:spPr>
          <a:xfrm>
            <a:off x="566928" y="35737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36083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15" name="TextBox 14"/>
          <p:cNvSpPr txBox="1"/>
          <p:nvPr/>
        </p:nvSpPr>
        <p:spPr>
          <a:xfrm>
            <a:off x="2293524" y="3738371"/>
            <a:ext cx="878260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n'a pas besoin de le dire. La loi regarde le but, la façon de présenter, et le moment et l'endroit.</a:t>
            </a:r>
          </a:p>
        </p:txBody>
      </p:sp>
      <p:sp>
        <p:nvSpPr>
          <p:cNvPr id="16" name="Rounded Rectangle 15"/>
          <p:cNvSpPr/>
          <p:nvPr/>
        </p:nvSpPr>
        <p:spPr>
          <a:xfrm>
            <a:off x="566928" y="466089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1"/>
            <a:ext cx="1360836"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MAXIME</a:t>
            </a:r>
          </a:p>
        </p:txBody>
      </p:sp>
      <p:sp>
        <p:nvSpPr>
          <p:cNvPr id="18" name="TextBox 17"/>
          <p:cNvSpPr txBox="1"/>
          <p:nvPr/>
        </p:nvSpPr>
        <p:spPr>
          <a:xfrm>
            <a:off x="2293524" y="4825491"/>
            <a:ext cx="8782602"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trottinette de couleur vive, essayée en riant, diffusée après l'école — vous voyez le raisonnement.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LA LOI NE DEMANDE PAS CE QU'ON VOULAIT VISER</a:t>
            </a:r>
          </a:p>
        </p:txBody>
      </p:sp>
      <p:sp>
        <p:nvSpPr>
          <p:cNvPr id="6" name="Rounded Rectangle 5"/>
          <p:cNvSpPr/>
          <p:nvPr/>
        </p:nvSpPr>
        <p:spPr>
          <a:xfrm>
            <a:off x="566928" y="1225296"/>
            <a:ext cx="11057839" cy="3021583"/>
          </a:xfrm>
          <a:prstGeom prst="roundRect">
            <a:avLst>
              <a:gd name="adj" fmla="val 484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Trois éléments décident si une publicité est destinée aux enfants : le but, la façon de la présenter, le moment et l'endroit où elle paraît.</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L'intention déclarée par l'annonceur n'entre pas dans cet examen. C'est ce qui rend la règle applicable : personne n'a jamais déclaré viser les enfants.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portes, et ce qui passe par chacune</a:t>
            </a:r>
          </a:p>
        </p:txBody>
      </p:sp>
      <p:sp>
        <p:nvSpPr>
          <p:cNvPr id="7" name="Rounded Rectangle 6"/>
          <p:cNvSpPr/>
          <p:nvPr/>
        </p:nvSpPr>
        <p:spPr>
          <a:xfrm>
            <a:off x="566928" y="1810512"/>
            <a:ext cx="11057839" cy="4108704"/>
          </a:xfrm>
          <a:prstGeom prst="roundRect">
            <a:avLst>
              <a:gd name="adj" fmla="val 35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À QUI S'ADRESSER</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Prix annoncé, frais cachés</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Office de la protection du consommateur</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Publicité aux moins de 13 ans</a:t>
            </a:r>
          </a:p>
        </p:txBody>
      </p:sp>
      <p:sp>
        <p:nvSpPr>
          <p:cNvPr id="14" name="TextBox 13"/>
          <p:cNvSpPr txBox="1"/>
          <p:nvPr/>
        </p:nvSpPr>
        <p:spPr>
          <a:xfrm>
            <a:off x="4443636" y="2918460"/>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Office de la protection du consommateur</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Annonce déguisée, témoignage</a:t>
            </a:r>
          </a:p>
        </p:txBody>
      </p:sp>
      <p:sp>
        <p:nvSpPr>
          <p:cNvPr id="17" name="TextBox 16"/>
          <p:cNvSpPr txBox="1"/>
          <p:nvPr/>
        </p:nvSpPr>
        <p:spPr>
          <a:xfrm>
            <a:off x="4443636" y="3726180"/>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Normes de la publicité</a:t>
            </a:r>
          </a:p>
        </p:txBody>
      </p:sp>
      <p:sp>
        <p:nvSpPr>
          <p:cNvPr id="18" name="Rectangle 17"/>
          <p:cNvSpPr/>
          <p:nvPr/>
        </p:nvSpPr>
        <p:spPr>
          <a:xfrm>
            <a:off x="932688" y="44058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33900"/>
            <a:ext cx="3291492"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Comparaison sans fondement</a:t>
            </a:r>
          </a:p>
        </p:txBody>
      </p:sp>
      <p:sp>
        <p:nvSpPr>
          <p:cNvPr id="20" name="TextBox 19"/>
          <p:cNvSpPr txBox="1"/>
          <p:nvPr/>
        </p:nvSpPr>
        <p:spPr>
          <a:xfrm>
            <a:off x="4443636" y="4533900"/>
            <a:ext cx="6595914"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Normes de la publicité</a:t>
            </a:r>
          </a:p>
        </p:txBody>
      </p:sp>
      <p:sp>
        <p:nvSpPr>
          <p:cNvPr id="21" name="Rectangle 20"/>
          <p:cNvSpPr/>
          <p:nvPr/>
        </p:nvSpPr>
        <p:spPr>
          <a:xfrm>
            <a:off x="932688" y="52136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341620"/>
            <a:ext cx="3291492"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Langue d'une enseigne</a:t>
            </a:r>
          </a:p>
        </p:txBody>
      </p:sp>
      <p:sp>
        <p:nvSpPr>
          <p:cNvPr id="23" name="TextBox 22"/>
          <p:cNvSpPr txBox="1"/>
          <p:nvPr/>
        </p:nvSpPr>
        <p:spPr>
          <a:xfrm>
            <a:off x="4443636" y="534162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Office québécois de la langue française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l'appel.</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vidéo payée doit annoncer qu'elle est payée.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Recevoir un produit gratuitement n'est pas une contrepartie.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publicité aux moins de treize ans est interdite au Québec.</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loi demande à l'annonceur quel public il visait.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témoignage peut refléter une opinion que la personne n'a plus.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seule organisation reçoit les trois plaintes.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vidéo payée doit annoncer qu'elle est payée.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Recevoir un produit gratuitement n'est pas une contrepartie.   </a:t>
            </a:r>
            <a:r>
              <a:rPr sz="1400" b="1" i="0">
                <a:solidFill>
                  <a:srgbClr val="07734A"/>
                </a:solidFill>
                <a:latin typeface="Verdana"/>
              </a:rPr>
              <a:t>» faux - c'en est une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publicité aux moins de treize ans est interdite au Québec.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loi demande à l'annonceur quel public il visait.   </a:t>
            </a:r>
            <a:r>
              <a:rPr sz="1400" b="1" i="0">
                <a:solidFill>
                  <a:srgbClr val="07734A"/>
                </a:solidFill>
                <a:latin typeface="Verdana"/>
              </a:rPr>
              <a:t>» faux - elle regarde trois éléments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témoignage peut refléter une opinion que la personne n'a plus.   </a:t>
            </a:r>
            <a:r>
              <a:rPr sz="1400" b="1" i="0">
                <a:solidFill>
                  <a:srgbClr val="07734A"/>
                </a:solidFill>
                <a:latin typeface="Verdana"/>
              </a:rPr>
              <a:t>» faux - opinion actuelle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seule organisation reçoit les trois plaintes.   </a:t>
            </a:r>
            <a:r>
              <a:rPr sz="1400" b="1" i="0">
                <a:solidFill>
                  <a:srgbClr val="07734A"/>
                </a:solidFill>
                <a:latin typeface="Verdana"/>
              </a:rPr>
              <a:t>» faux - trois portes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Trouvez une vidéo ou une publication qui présente un produit, et cherchez la mention de commandite.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Y a-t-il un mot qui dit que c'est une publicité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Où est-il placé : au début, à la fin, dans les commentaires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Ce que la publicité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