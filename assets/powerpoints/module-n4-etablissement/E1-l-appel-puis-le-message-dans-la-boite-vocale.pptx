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Avant-dernière séance. Elle se fait presque entièrement debout et par paires, dos à dos : au téléphone, on ne se voit pas, et se voir fausse tout. Prévoir de quoi enregistrer — le téléphone de chaque élève suffit.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premiers objectifs se travaillent dans la première demi-heure, les deux derniers dans la seconde. Ne pas les mélanger : l'appel prépare le message, pas l'inverse.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Présenter le jeu de rôle du module. Trois situations sont offertes : l'enfant malade, l'autobus qui ne passe pas, le cours du soir qu'on arrête. Chacun en choisit une, puis en essaie une deuxième.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choisir avant de commencer. Les élèves qui prennent le troisième sont souvent ceux que la situation concerne vraiment : leur laisser le temps, et ne pas les faire passer devant le groupe.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Grille d'observation pour celui qui écoute dans la paire. Lui donner la feuille et lui demander de cocher : c'est lui qui corrige, pas l'enseignant.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quatrième piste est le vrai critère. Faire écouter deux ou trois enregistrements au groupe, avec l'accord de l'élève, et demander à chaque fois d'écrire le nom et le numéro entendus.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règle de B1 et de B4, reprise une dernière fois comme grille d'évaluation. La laisser affichée pendant tous les enregistrements.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enregistrer dans le module, où l'assistant rend une rétroaction immédiate. Les élèves qui le souhaitent envoient l'enregistrement à l'enseignant ; rien ne part sans leur geste.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en faire un interdit : lire une fois pour se rassurer est utile. C'est le deuxième enregistrement qui se fait sans papier.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meilleur exercice de la séance et le plus court. Ce que le voisin n'a pas pu écrire est exactement ce qu'il faut redire plus lentement. Personne ne discute ce verdict-là.</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Ceux qui écrivent « rien » n'ont pas fait l'écoute croisée : les faire refaire avec un autre voisin au début de E2.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E1  ·  MODULE 17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L'appel, puis le message dans la boîte vocale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productions orales, dans cet ordre. D'abord un appel où quelqu'un décroche et pose des questions ; ensuite un message où personne ne répond et où tout doit sortir du premier coup.</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Prévenir le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téléphoner au secrétariat et justifier un retard, une absence ou un abandon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répondre aux questions du secrétariat sans perdre le fil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laisser un message complet en cinquante secondes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redire ce qu'on a compris avant de raccrocher.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AU TÉLÉPHONE, QUELQU'UN DÉCROCHE PARFOIS</a:t>
            </a:r>
          </a:p>
        </p:txBody>
      </p:sp>
      <p:sp>
        <p:nvSpPr>
          <p:cNvPr id="6" name="Rounded Rectangle 5"/>
          <p:cNvSpPr/>
          <p:nvPr/>
        </p:nvSpPr>
        <p:spPr>
          <a:xfrm>
            <a:off x="566928" y="1225296"/>
            <a:ext cx="11057839" cy="3021583"/>
          </a:xfrm>
          <a:prstGeom prst="roundRect">
            <a:avLst>
              <a:gd name="adj" fmla="val 4841"/>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2198623"/>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L'assistant joue madame Sansregret, au secrétariat. Elle ne voit rien de vous tant que vous ne vous êtes pas nommé.</a:t>
            </a:r>
          </a:p>
        </p:txBody>
      </p:sp>
      <p:sp>
        <p:nvSpPr>
          <p:cNvPr id="8" name="Rounded Rectangle 7"/>
          <p:cNvSpPr/>
          <p:nvPr/>
        </p:nvSpPr>
        <p:spPr>
          <a:xfrm>
            <a:off x="566928" y="4521199"/>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795519"/>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 vous dites seulement « je ne peux pas venir », elle demandera si c'est un retard, une absence ou un abandon, et pour quelle date.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LES TROIS APPELS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Choisissez-en un, puis un autre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746760"/>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L'enfant malade</a:t>
            </a:r>
          </a:p>
        </p:txBody>
      </p:sp>
      <p:sp>
        <p:nvSpPr>
          <p:cNvPr id="9" name="TextBox 8"/>
          <p:cNvSpPr txBox="1"/>
          <p:nvPr/>
        </p:nvSpPr>
        <p:spPr>
          <a:xfrm>
            <a:off x="886968"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Otite, rendez-vous à neuf heures, absente toute la journée.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746760"/>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L'autobus qui ne passe pas</a:t>
            </a:r>
          </a:p>
        </p:txBody>
      </p:sp>
      <p:sp>
        <p:nvSpPr>
          <p:cNvPr id="12" name="TextBox 11"/>
          <p:cNvSpPr txBox="1"/>
          <p:nvPr/>
        </p:nvSpPr>
        <p:spPr>
          <a:xfrm>
            <a:off x="6498183" y="285902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Tempête depuis cinq heures, arrivée vers neuf heures et demie.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746760"/>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cours du soir qu'on arrête</a:t>
            </a:r>
          </a:p>
        </p:txBody>
      </p:sp>
      <p:sp>
        <p:nvSpPr>
          <p:cNvPr id="15" name="TextBox 14"/>
          <p:cNvSpPr txBox="1"/>
          <p:nvPr/>
        </p:nvSpPr>
        <p:spPr>
          <a:xfrm>
            <a:off x="886968"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Horaires changés, abandon à partir du 1er octobre, francisation gardée.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746760"/>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Ce qui change d'un appel à l'autre</a:t>
            </a:r>
          </a:p>
        </p:txBody>
      </p:sp>
      <p:sp>
        <p:nvSpPr>
          <p:cNvPr id="18" name="TextBox 17"/>
          <p:cNvSpPr txBox="1"/>
          <p:nvPr/>
        </p:nvSpPr>
        <p:spPr>
          <a:xfrm>
            <a:off x="6498183" y="5076444"/>
            <a:ext cx="4806543" cy="72999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Le mot de la case, la date, et ce que le secrétariat vous demandera ensuite.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LES NEUF CHOSES À FAIRE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Avant de raccrocher</a:t>
            </a:r>
          </a:p>
        </p:txBody>
      </p:sp>
      <p:sp>
        <p:nvSpPr>
          <p:cNvPr id="7" name="Rounded Rectangle 6"/>
          <p:cNvSpPr/>
          <p:nvPr/>
        </p:nvSpPr>
        <p:spPr>
          <a:xfrm>
            <a:off x="566928" y="1810512"/>
            <a:ext cx="11057839" cy="4181856"/>
          </a:xfrm>
          <a:prstGeom prst="roundRect">
            <a:avLst>
              <a:gd name="adj" fmla="val 349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À QUEL MOMENT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VOUS FAITES</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Dès le bonjour</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Votre nom et votre groupe.</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Tout de suite après</a:t>
            </a:r>
          </a:p>
        </p:txBody>
      </p:sp>
      <p:sp>
        <p:nvSpPr>
          <p:cNvPr id="14" name="TextBox 13"/>
          <p:cNvSpPr txBox="1"/>
          <p:nvPr/>
        </p:nvSpPr>
        <p:spPr>
          <a:xfrm>
            <a:off x="4443636" y="2901696"/>
            <a:ext cx="6595914"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Le mot : retard, absence ou abandon.</a:t>
            </a:r>
          </a:p>
        </p:txBody>
      </p:sp>
      <p:sp>
        <p:nvSpPr>
          <p:cNvPr id="15" name="Rectangle 14"/>
          <p:cNvSpPr/>
          <p:nvPr/>
        </p:nvSpPr>
        <p:spPr>
          <a:xfrm>
            <a:off x="932688" y="32796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07664"/>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Puis</a:t>
            </a:r>
          </a:p>
        </p:txBody>
      </p:sp>
      <p:sp>
        <p:nvSpPr>
          <p:cNvPr id="17" name="TextBox 16"/>
          <p:cNvSpPr txBox="1"/>
          <p:nvPr/>
        </p:nvSpPr>
        <p:spPr>
          <a:xfrm>
            <a:off x="4443636" y="3407664"/>
            <a:ext cx="6595914"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La date exacte, jamais « aujourd'hui » seul.</a:t>
            </a:r>
          </a:p>
        </p:txBody>
      </p:sp>
      <p:sp>
        <p:nvSpPr>
          <p:cNvPr id="18" name="Rectangle 17"/>
          <p:cNvSpPr/>
          <p:nvPr/>
        </p:nvSpPr>
        <p:spPr>
          <a:xfrm>
            <a:off x="932688" y="378561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13631"/>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Puis</a:t>
            </a:r>
          </a:p>
        </p:txBody>
      </p:sp>
      <p:sp>
        <p:nvSpPr>
          <p:cNvPr id="20" name="TextBox 19"/>
          <p:cNvSpPr txBox="1"/>
          <p:nvPr/>
        </p:nvSpPr>
        <p:spPr>
          <a:xfrm>
            <a:off x="4443636" y="3913631"/>
            <a:ext cx="6595914"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Le motif en une phrase, avec parce que ou à cause de.</a:t>
            </a:r>
          </a:p>
        </p:txBody>
      </p:sp>
      <p:sp>
        <p:nvSpPr>
          <p:cNvPr id="21" name="Rectangle 20"/>
          <p:cNvSpPr/>
          <p:nvPr/>
        </p:nvSpPr>
        <p:spPr>
          <a:xfrm>
            <a:off x="932688" y="429158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19600"/>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Vous demandez</a:t>
            </a:r>
          </a:p>
        </p:txBody>
      </p:sp>
      <p:sp>
        <p:nvSpPr>
          <p:cNvPr id="23" name="TextBox 22"/>
          <p:cNvSpPr txBox="1"/>
          <p:nvPr/>
        </p:nvSpPr>
        <p:spPr>
          <a:xfrm>
            <a:off x="4443636" y="4419600"/>
            <a:ext cx="6595914"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Quel papier apporter, et pour quand.</a:t>
            </a:r>
          </a:p>
        </p:txBody>
      </p:sp>
      <p:sp>
        <p:nvSpPr>
          <p:cNvPr id="24" name="Rectangle 23"/>
          <p:cNvSpPr/>
          <p:nvPr/>
        </p:nvSpPr>
        <p:spPr>
          <a:xfrm>
            <a:off x="932688" y="47975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4925568"/>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Vous promettez</a:t>
            </a:r>
          </a:p>
        </p:txBody>
      </p:sp>
      <p:sp>
        <p:nvSpPr>
          <p:cNvPr id="26" name="TextBox 25"/>
          <p:cNvSpPr txBox="1"/>
          <p:nvPr/>
        </p:nvSpPr>
        <p:spPr>
          <a:xfrm>
            <a:off x="4443636" y="4925568"/>
            <a:ext cx="6595914"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Au futur : je serai, je remettrai, je rattraperai.</a:t>
            </a:r>
          </a:p>
        </p:txBody>
      </p:sp>
      <p:sp>
        <p:nvSpPr>
          <p:cNvPr id="27" name="Rectangle 26"/>
          <p:cNvSpPr/>
          <p:nvPr/>
        </p:nvSpPr>
        <p:spPr>
          <a:xfrm>
            <a:off x="932688" y="530352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32688" y="5431536"/>
            <a:ext cx="3291492"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Avant de raccrocher</a:t>
            </a:r>
          </a:p>
        </p:txBody>
      </p:sp>
      <p:sp>
        <p:nvSpPr>
          <p:cNvPr id="29" name="TextBox 28"/>
          <p:cNvSpPr txBox="1"/>
          <p:nvPr/>
        </p:nvSpPr>
        <p:spPr>
          <a:xfrm>
            <a:off x="4443636" y="5431536"/>
            <a:ext cx="6595914"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Vous redites ce que vous avez compris.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Sept heures dix, la boîte vocale se déclenche. Vous avez une minute.</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ppel-cage-escalier.jpg"/>
          <p:cNvPicPr>
            <a:picLocks noChangeAspect="1"/>
          </p:cNvPicPr>
          <p:nvPr/>
        </p:nvPicPr>
        <p:blipFill>
          <a:blip r:embed="rId2"/>
          <a:stretch>
            <a:fillRect/>
          </a:stretch>
        </p:blipFill>
        <p:spPr>
          <a:xfrm>
            <a:off x="7644383" y="2638438"/>
            <a:ext cx="3760927" cy="2522955"/>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Vous avez votre texte sous les yeux : lisez-le une fois pour vous.</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Puis retournez la feuille et dites-le sans regarder.</a:t>
            </a:r>
          </a:p>
        </p:txBody>
      </p:sp>
      <p:sp>
        <p:nvSpPr>
          <p:cNvPr id="15" name="Rounded Rectangle 14"/>
          <p:cNvSpPr/>
          <p:nvPr/>
        </p:nvSpPr>
        <p:spPr>
          <a:xfrm>
            <a:off x="566928" y="410362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Enregistrez-vous avec votre téléphone.</a:t>
            </a:r>
          </a:p>
        </p:txBody>
      </p:sp>
      <p:sp>
        <p:nvSpPr>
          <p:cNvPr id="18" name="Rounded Rectangle 17"/>
          <p:cNvSpPr/>
          <p:nvPr/>
        </p:nvSpPr>
        <p:spPr>
          <a:xfrm>
            <a:off x="566928" y="488950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999228"/>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07238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Réécoutez-vous : sauriez-vous écrire votre propre numéro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CINQUANTE SECONDES, CINQ MORCEAUX</a:t>
            </a:r>
          </a:p>
        </p:txBody>
      </p:sp>
      <p:sp>
        <p:nvSpPr>
          <p:cNvPr id="6" name="Rounded Rectangle 5"/>
          <p:cNvSpPr/>
          <p:nvPr/>
        </p:nvSpPr>
        <p:spPr>
          <a:xfrm>
            <a:off x="566928" y="1225296"/>
            <a:ext cx="11057839" cy="2494788"/>
          </a:xfrm>
          <a:prstGeom prst="roundRect">
            <a:avLst>
              <a:gd name="adj" fmla="val 586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Qui vous êtes. Le mot et la date. Le motif. Ce que vous ferez. Votre numéro, deux fois.</a:t>
            </a:r>
          </a:p>
        </p:txBody>
      </p:sp>
      <p:sp>
        <p:nvSpPr>
          <p:cNvPr id="8" name="Rounded Rectangle 7"/>
          <p:cNvSpPr/>
          <p:nvPr/>
        </p:nvSpPr>
        <p:spPr>
          <a:xfrm>
            <a:off x="566928" y="3994404"/>
            <a:ext cx="11057839" cy="935228"/>
          </a:xfrm>
          <a:prstGeom prst="roundRect">
            <a:avLst>
              <a:gd name="adj" fmla="val 1564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4780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 vous dépassez, coupez dans le motif — jamais dans le numéro.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PRODUCTION ORALE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Votre message, enregistré</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Cinq morceaux, entre quarante-cinq et soixante secondes.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Morceau 1</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Morceau 2</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Morceau 3</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Morceau 4</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Morceau 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LIRE SON TEXTE AU LIEU DE LE DIRE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On entend le papier : la voix descend à chaque fin de ligne.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Vous retournez la feuille et vous dites les cinq morceaux de mémoire.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message lu s'entend tout de suite, et il est plus difficile à comprendre qu'un message dit : les phrases y sont plates et les chiffres passent trop vite. Retournez la feuille.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ÉCOUTE CROISÉE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votre voisin a compris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l'enregistrement d'un camarade et écrivez trois choses.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nom</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groupe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date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motif</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numéro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ce que vous changeriez dans votre message si vous le refaisiez maintenant.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seule chose, la plus importante.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plus souvent : dire le nom et le numéro plus lentement.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E1 · Prévenir le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