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et la plus utile du module hors de la classe. Commencer par écrire les trois au tableau et demander lequel est positif. Personne ne le sait, et c'est justement le contenu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qui change quelque chose : « grâce à » est une phrase que le personnel d'un centre entend rarement, et qui fait toujours plaisir.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règle tient dans le mot qui suit, pas dans le sens : faire chercher au groupe ce qui suit dans chaque exemple avant d'expliquer quoi que ce soit.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deuxième ligne : « à cause de vous, j'ai réussi » se comprend mais sonne comme un reproche. C'est le seul point de la séance qui ne s'apprend pas par la forme.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trois phrases avec « parce que » à partir de motifs réels du groupe. Vérifier chaque fois qu'un sujet et un verbe suivent.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contraction est obligatoire, comme dans « je parle du cours ». Ce n'est pas une règle nouvelle : c'est la même que celle des déterminants contractés, déjà vue au niveau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dernières sont les plus manquées : l'élision de « parce qu' » et la contraction « grâce au ». Les faire écrire au tableau plutôt que dire.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dire à voix haute pourquoi c'est un ennui ou une aide, avant de choisir. Le sens vient d'abord, la forme suit : c'est l'inverse du reste du module.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Donner la sortie de secours : dans le doute, « parce que » convient toujours. Un élève qui n'emploie que « parce que » ne fait jamais de faute de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n'est pas une permission de tout laisser tomber : c'est une reconnaissance de ce que le groupe fait déjà à l'oral, et qui n'est pas fautif. La note écrite, elle, demande le connecteur.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phrases avec « grâce à » sont souvent les plus belles du module : en lire deux ou trois à voix haute au début de C3.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17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Parce que, à cause de, grâce à</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Donner une raison est le cœur du module : justifier, c'est exactement cela. Trois outils, et ils ne se choisissent pas au hasard — l'un sous-entend un ennui, l'autre une aide.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Prévenir le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parce que » devant une phrase complète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à cause de » devant un nom, pour un ennui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grâce à » devant un nom, pour une aide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faire la contraction : à cause du, grâce 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QUI SUIT DÉCIDE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Parce que + une phrase. À cause de + un nom. Grâce à + un nom.</a:t>
            </a:r>
          </a:p>
        </p:txBody>
      </p:sp>
      <p:sp>
        <p:nvSpPr>
          <p:cNvPr id="8" name="Rounded Rectangle 7"/>
          <p:cNvSpPr/>
          <p:nvPr/>
        </p:nvSpPr>
        <p:spPr>
          <a:xfrm>
            <a:off x="566928" y="3467607"/>
            <a:ext cx="11057839" cy="935228"/>
          </a:xfrm>
          <a:prstGeom prst="roundRect">
            <a:avLst>
              <a:gd name="adj" fmla="val 1564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4780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À cause de mon fils est malade » n'existe pas : il faut « parce que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TROIS OUTILS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suit, et ce que ça veut dire</a:t>
            </a:r>
          </a:p>
        </p:txBody>
      </p:sp>
      <p:sp>
        <p:nvSpPr>
          <p:cNvPr id="7" name="Rounded Rectangle 6"/>
          <p:cNvSpPr/>
          <p:nvPr/>
        </p:nvSpPr>
        <p:spPr>
          <a:xfrm>
            <a:off x="566928" y="1810512"/>
            <a:ext cx="11057839" cy="2560320"/>
          </a:xfrm>
          <a:prstGeom prst="roundRect">
            <a:avLst>
              <a:gd name="adj" fmla="val 571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L'OUTIL</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SUIT, ET LE SENS</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parce que</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phrase complète. Aucun jugement : ça convient partout.</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cause de</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nom. La chose a causé un ennui.</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grâce à</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nom. La chose a aidé.</a:t>
            </a:r>
          </a:p>
        </p:txBody>
      </p:sp>
      <p:sp>
        <p:nvSpPr>
          <p:cNvPr id="18" name="Rounded Rectangle 17"/>
          <p:cNvSpPr/>
          <p:nvPr/>
        </p:nvSpPr>
        <p:spPr>
          <a:xfrm>
            <a:off x="566928" y="4608576"/>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864608"/>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Même construction pour les deux derniers, sens opposé.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PARCE 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phrase complète derrière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 forme entière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Je serai absente parce que mon fils est malade.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Devant une voyelle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Je vous rappelle parce qu'il manque un papier. Le e tombe.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Au milieu, jamais au début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Dans une note, « parce que » vient toujours après la première partie.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Ce qui ne se dit pas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parce que la tempête » — il manque le sujet et le verbe.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CONTRACTIONS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 + le, à + le</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FORME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cause de la</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à cause de la neige, à cause de la tempête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cause de l'</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à cause de l'autobus, à cause de l'heure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cause du</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à cause du bruit, à cause du verglas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cause des</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à cause des travaux, à cause des enfants</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grâce au</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grâce au rattrapage, grâce au message</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grâce aux</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grâce aux feuilles gardées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COMPLÉTEZ</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Parce que, à cause de, grâce à</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Attention aux contractions.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serai absente ce matin ___ mon fils a une otite.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arrivée en retard ___ la tempête de neige.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cours a été annulé ___ bruit des travaux.</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son message, elle a appris l'affaire à temps.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rappelle ___ il manque un papier à mon dossier.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rattrapé la matière ___ rattrapage du midi.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Parce que, à cause de, grâce à</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serai absente ce matin ___ mon fils a une otite.   </a:t>
            </a:r>
            <a:r>
              <a:rPr sz="1400" b="1" i="0">
                <a:solidFill>
                  <a:srgbClr val="07734A"/>
                </a:solidFill>
                <a:latin typeface="Verdana"/>
              </a:rPr>
              <a:t>» parce que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est arrivée en retard ___ la tempête de neige.   </a:t>
            </a:r>
            <a:r>
              <a:rPr sz="1400" b="1" i="0">
                <a:solidFill>
                  <a:srgbClr val="07734A"/>
                </a:solidFill>
                <a:latin typeface="Verdana"/>
              </a:rPr>
              <a:t>» à cause de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cours a été annulé ___ bruit des travaux.   </a:t>
            </a:r>
            <a:r>
              <a:rPr sz="1400" b="1" i="0">
                <a:solidFill>
                  <a:srgbClr val="07734A"/>
                </a:solidFill>
                <a:latin typeface="Verdana"/>
              </a:rPr>
              <a:t>» à cause du</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son message, elle a appris l'affaire à temps.   </a:t>
            </a:r>
            <a:r>
              <a:rPr sz="1400" b="1" i="0">
                <a:solidFill>
                  <a:srgbClr val="07734A"/>
                </a:solidFill>
                <a:latin typeface="Verdana"/>
              </a:rPr>
              <a:t>» Grâce à</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rappelle ___ il manque un papier à mon dossier.   </a:t>
            </a:r>
            <a:r>
              <a:rPr sz="1400" b="1" i="0">
                <a:solidFill>
                  <a:srgbClr val="07734A"/>
                </a:solidFill>
                <a:latin typeface="Verdana"/>
              </a:rPr>
              <a:t>» parce qu'</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rattrapé la matière ___ rattrapage du midi.   </a:t>
            </a:r>
            <a:r>
              <a:rPr sz="1400" b="1" i="0">
                <a:solidFill>
                  <a:srgbClr val="07734A"/>
                </a:solidFill>
                <a:latin typeface="Verdana"/>
              </a:rPr>
              <a:t>» grâce 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BON SENS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Ennui ou aide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À cause de, ou grâce à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la neige, je serai en retard.</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Wilner, j'avais le bon numéro.</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des travaux, le local a changé.</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au rattrapage, je n'ai rien manqué.</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 l'autobus, j'ai manqué la première heure.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à votre message, j'ai compris à temps.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Ennui ou aide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la neige, je serai en retard.   </a:t>
            </a:r>
            <a:r>
              <a:rPr sz="1400" b="1" i="0">
                <a:solidFill>
                  <a:srgbClr val="07734A"/>
                </a:solidFill>
                <a:latin typeface="Verdana"/>
              </a:rPr>
              <a:t>» à cause de — c'est un ennui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Wilner, j'avais le bon numéro.   </a:t>
            </a:r>
            <a:r>
              <a:rPr sz="1400" b="1" i="0">
                <a:solidFill>
                  <a:srgbClr val="07734A"/>
                </a:solidFill>
                <a:latin typeface="Verdana"/>
              </a:rPr>
              <a:t>» grâce à — c'est une aide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des travaux, le local a changé.   </a:t>
            </a:r>
            <a:r>
              <a:rPr sz="1400" b="1" i="0">
                <a:solidFill>
                  <a:srgbClr val="07734A"/>
                </a:solidFill>
                <a:latin typeface="Verdana"/>
              </a:rPr>
              <a:t>» à cause — c'est un ennui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au rattrapage, je n'ai rien manqué.   </a:t>
            </a:r>
            <a:r>
              <a:rPr sz="1400" b="1" i="0">
                <a:solidFill>
                  <a:srgbClr val="07734A"/>
                </a:solidFill>
                <a:latin typeface="Verdana"/>
              </a:rPr>
              <a:t>» grâce — c'est une aide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de l'autobus, j'ai manqué la première heure.   </a:t>
            </a:r>
            <a:r>
              <a:rPr sz="1400" b="1" i="0">
                <a:solidFill>
                  <a:srgbClr val="07734A"/>
                </a:solidFill>
                <a:latin typeface="Verdana"/>
              </a:rPr>
              <a:t>» à cause — un ennui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à votre message, j'ai compris à temps.   </a:t>
            </a:r>
            <a:r>
              <a:rPr sz="1400" b="1" i="0">
                <a:solidFill>
                  <a:srgbClr val="07734A"/>
                </a:solidFill>
                <a:latin typeface="Verdana"/>
              </a:rPr>
              <a:t>» grâce — une aide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METTRE UNE PHRASE APRÈS « À CAUSE DE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serai absente à cause de mon fils est malade.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serai absente parce que mon fils est malade.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Après « à cause de », il faut un nom seul : « à cause de mon fils ». Si vous voulez la phrase entière, employez « parce que ». C'est la faute la plus fréquente du module.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CAUSE S'ENTEND MÊME SANS MOT</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Je ne viens pas ce matin ; mon fils est malade.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phrases collées, et tout le monde comprend. Mais à l'écrit, dans une note, mettez le « parce que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phrases : une avec « parce que », une avec « à cause de », une avec « grâce à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Des choses vraies, de votre semaine.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Vérifiez la contraction : du, des, au, aux.</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Prévenir le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