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vocabulaire. La faire tôt : les trois blocs suivants supposent tous ces seize mots connus. Écrire les quatre familles au tableau et les laisser affichées jusqu'à la fin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est celui qui compte le plus, et il sera repris seul en A4. Les trois autres se travaillent aujourd'hui.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piste ouvre le bloc B. Presque personne ne prépare, et presque tout le monde reconnaît que ça se sent. Ne pas commenter : laisser la question ouverte, elle trouvera sa réponse en B1.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répéter avec l'article. « La ligne est occupée » est une phrase toute faite qu'on entend partout : la faire dire deux fois.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Les coordonnées » est toujours au pluriel et surprend. Le faire remarquer, et donner l'équivalent simple : « comment on peut vous joindre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quatre-là reviennent seuls en A4. Aujourd'hui, se contenter de les faire prononcer et écrire : les trois premiers portent tous une voyelle nasale travaillée en A2.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quatrième famille sera le bloc D au complet. Annoncer dès maintenant que ces quatre mots-là vont ensemble : une note porte un motif, une signature, et on en garde une copie.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Masquer la colonne de gauche, faire compléter à l'oral, puis révéler. Les deux dernières demandent de choisir entre deux mots proches : c'est exactement le travail de A4.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six photos sont celles de l'exercice 3 du module. Les projeter une à une et faire décrire avant de donner la phrase : le vocabulaire sort de lui-même, et il sort en phrases complètes.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Vérifier au passage que chacun a le numéro principal du centre dans son téléphone. C'était le billet de sortie de A1 : le moment est venu de le ramasser.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Les articles fautifs se corrigent individuellement : « une poste » et « le boîte vocale » sont les deux qui reviennent.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A3  ·  MODULE 17</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Les seize mots du téléphone et des motifs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Seize mots, quatre familles : ce qu'il y a au bout du fil, ce qu'on laisse comme message, ce qui empêche de venir, et ce qu'on écrit ensuite. Ce sont les mots du module entier.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Prévenir le centre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21203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202688"/>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quatre objets du téléphone : la ligne, le clavier, le poste, la boîte vocale ;</a:t>
            </a:r>
          </a:p>
        </p:txBody>
      </p:sp>
      <p:sp>
        <p:nvSpPr>
          <p:cNvPr id="11" name="Rounded Rectangle 10"/>
          <p:cNvSpPr/>
          <p:nvPr/>
        </p:nvSpPr>
        <p:spPr>
          <a:xfrm>
            <a:off x="566928" y="3006343"/>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1841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266439"/>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32075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les mots du message : le signal sonore, les coordonnées ;</a:t>
            </a:r>
          </a:p>
        </p:txBody>
      </p:sp>
      <p:sp>
        <p:nvSpPr>
          <p:cNvPr id="15" name="Rounded Rectangle 14"/>
          <p:cNvSpPr/>
          <p:nvPr/>
        </p:nvSpPr>
        <p:spPr>
          <a:xfrm>
            <a:off x="566928" y="3892295"/>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070095"/>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152391"/>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4093463"/>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choisir entre retard, absence, abandon et empêchement ;</a:t>
            </a:r>
          </a:p>
        </p:txBody>
      </p:sp>
      <p:sp>
        <p:nvSpPr>
          <p:cNvPr id="19" name="Rounded Rectangle 18"/>
          <p:cNvSpPr/>
          <p:nvPr/>
        </p:nvSpPr>
        <p:spPr>
          <a:xfrm>
            <a:off x="566928" y="4778248"/>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51338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2161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979415"/>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ce qui va sur le papier : une note, un motif, une signature, une copie.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Quelqu'un téléphone debout dans un escalier. Pourquoi là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ppel-cage-escalier.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Où appelez-vous quand vous devez téléphoner au centre ?</a:t>
            </a:r>
          </a:p>
        </p:txBody>
      </p:sp>
      <p:sp>
        <p:nvSpPr>
          <p:cNvPr id="12" name="Rounded Rectangle 11"/>
          <p:cNvSpPr/>
          <p:nvPr/>
        </p:nvSpPr>
        <p:spPr>
          <a:xfrm>
            <a:off x="566928" y="297992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821944"/>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rend un appel difficile : le bruit, la gêne, les mots ?</a:t>
            </a:r>
          </a:p>
        </p:txBody>
      </p:sp>
      <p:sp>
        <p:nvSpPr>
          <p:cNvPr id="15" name="Rounded Rectangle 14"/>
          <p:cNvSpPr/>
          <p:nvPr/>
        </p:nvSpPr>
        <p:spPr>
          <a:xfrm>
            <a:off x="566928" y="410362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4213352"/>
            <a:ext cx="50292" cy="821944"/>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28650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vous avez sous la main quand vous appelez ?</a:t>
            </a:r>
          </a:p>
        </p:txBody>
      </p:sp>
      <p:sp>
        <p:nvSpPr>
          <p:cNvPr id="18" name="Rounded Rectangle 17"/>
          <p:cNvSpPr/>
          <p:nvPr/>
        </p:nvSpPr>
        <p:spPr>
          <a:xfrm>
            <a:off x="566928" y="522732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5337048"/>
            <a:ext cx="50292" cy="821944"/>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41020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vous préparez ce que vous allez dire, ou pas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FAMILLE 1</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qu'il y a au bout du fil</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140172"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la boîte vocale</a:t>
            </a:r>
          </a:p>
        </p:txBody>
      </p:sp>
      <p:sp>
        <p:nvSpPr>
          <p:cNvPr id="9" name="TextBox 8"/>
          <p:cNvSpPr txBox="1"/>
          <p:nvPr/>
        </p:nvSpPr>
        <p:spPr>
          <a:xfrm>
            <a:off x="3347180" y="2121408"/>
            <a:ext cx="7911826"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service qui enregistre votre message quand personne ne décroche.</a:t>
            </a:r>
          </a:p>
        </p:txBody>
      </p:sp>
      <p:sp>
        <p:nvSpPr>
          <p:cNvPr id="10" name="Rectangle 9"/>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106674"/>
            <a:ext cx="2140172"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répondeur</a:t>
            </a:r>
          </a:p>
        </p:txBody>
      </p:sp>
      <p:sp>
        <p:nvSpPr>
          <p:cNvPr id="12" name="TextBox 11"/>
          <p:cNvSpPr txBox="1"/>
          <p:nvPr/>
        </p:nvSpPr>
        <p:spPr>
          <a:xfrm>
            <a:off x="3347180" y="3106674"/>
            <a:ext cx="7911826"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L'appareil ou le service qui répond tout seul.</a:t>
            </a:r>
          </a:p>
        </p:txBody>
      </p:sp>
      <p:sp>
        <p:nvSpPr>
          <p:cNvPr id="13" name="Rectangle 12"/>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91939"/>
            <a:ext cx="2140172"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clavier</a:t>
            </a:r>
          </a:p>
        </p:txBody>
      </p:sp>
      <p:sp>
        <p:nvSpPr>
          <p:cNvPr id="15" name="TextBox 14"/>
          <p:cNvSpPr txBox="1"/>
          <p:nvPr/>
        </p:nvSpPr>
        <p:spPr>
          <a:xfrm>
            <a:off x="3347180" y="4091939"/>
            <a:ext cx="7911826"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Les touches numérotées du téléphone.</a:t>
            </a:r>
          </a:p>
        </p:txBody>
      </p:sp>
      <p:sp>
        <p:nvSpPr>
          <p:cNvPr id="16" name="Rectangle 15"/>
          <p:cNvSpPr/>
          <p:nvPr/>
        </p:nvSpPr>
        <p:spPr>
          <a:xfrm>
            <a:off x="932688" y="493090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077205"/>
            <a:ext cx="2140172"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la ligne</a:t>
            </a:r>
          </a:p>
        </p:txBody>
      </p:sp>
      <p:sp>
        <p:nvSpPr>
          <p:cNvPr id="18" name="TextBox 17"/>
          <p:cNvSpPr txBox="1"/>
          <p:nvPr/>
        </p:nvSpPr>
        <p:spPr>
          <a:xfrm>
            <a:off x="3347180" y="5077205"/>
            <a:ext cx="7911826"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liaison elle-même : libre, occupée ou coupée.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FAMILLE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message qu'on laisse</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381440"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poste</a:t>
            </a:r>
          </a:p>
        </p:txBody>
      </p:sp>
      <p:sp>
        <p:nvSpPr>
          <p:cNvPr id="9" name="TextBox 8"/>
          <p:cNvSpPr txBox="1"/>
          <p:nvPr/>
        </p:nvSpPr>
        <p:spPr>
          <a:xfrm>
            <a:off x="3588448" y="2121408"/>
            <a:ext cx="7670558"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numéro à trois chiffres qui mène au téléphone d'une personne.</a:t>
            </a:r>
          </a:p>
        </p:txBody>
      </p:sp>
      <p:sp>
        <p:nvSpPr>
          <p:cNvPr id="10" name="Rectangle 9"/>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106674"/>
            <a:ext cx="2381440"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signal sonore</a:t>
            </a:r>
          </a:p>
        </p:txBody>
      </p:sp>
      <p:sp>
        <p:nvSpPr>
          <p:cNvPr id="12" name="TextBox 11"/>
          <p:cNvSpPr txBox="1"/>
          <p:nvPr/>
        </p:nvSpPr>
        <p:spPr>
          <a:xfrm>
            <a:off x="3588448" y="3106674"/>
            <a:ext cx="7670558"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petit son qui dit que l'enregistrement commence.</a:t>
            </a:r>
          </a:p>
        </p:txBody>
      </p:sp>
      <p:sp>
        <p:nvSpPr>
          <p:cNvPr id="13" name="Rectangle 12"/>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91939"/>
            <a:ext cx="2381440"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message</a:t>
            </a:r>
          </a:p>
        </p:txBody>
      </p:sp>
      <p:sp>
        <p:nvSpPr>
          <p:cNvPr id="15" name="TextBox 14"/>
          <p:cNvSpPr txBox="1"/>
          <p:nvPr/>
        </p:nvSpPr>
        <p:spPr>
          <a:xfrm>
            <a:off x="3588448" y="4091939"/>
            <a:ext cx="7670558"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Ce qu'on laisse enregistré pour quelqu'un qui n'était pas là.</a:t>
            </a:r>
          </a:p>
        </p:txBody>
      </p:sp>
      <p:sp>
        <p:nvSpPr>
          <p:cNvPr id="16" name="Rectangle 15"/>
          <p:cNvSpPr/>
          <p:nvPr/>
        </p:nvSpPr>
        <p:spPr>
          <a:xfrm>
            <a:off x="932688" y="493090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077205"/>
            <a:ext cx="2381440"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les coordonnées</a:t>
            </a:r>
          </a:p>
        </p:txBody>
      </p:sp>
      <p:sp>
        <p:nvSpPr>
          <p:cNvPr id="18" name="TextBox 17"/>
          <p:cNvSpPr txBox="1"/>
          <p:nvPr/>
        </p:nvSpPr>
        <p:spPr>
          <a:xfrm>
            <a:off x="3588448" y="5077205"/>
            <a:ext cx="7670558"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Ce qui permet de vous joindre : nom, numéro, courriel.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FAMILLE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empêche de venir</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523934"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retard</a:t>
            </a:r>
          </a:p>
        </p:txBody>
      </p:sp>
      <p:sp>
        <p:nvSpPr>
          <p:cNvPr id="9" name="TextBox 8"/>
          <p:cNvSpPr txBox="1"/>
          <p:nvPr/>
        </p:nvSpPr>
        <p:spPr>
          <a:xfrm>
            <a:off x="3730942" y="2121408"/>
            <a:ext cx="7528064"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Arriver après l'heure, mais venir quand même.</a:t>
            </a:r>
          </a:p>
        </p:txBody>
      </p:sp>
      <p:sp>
        <p:nvSpPr>
          <p:cNvPr id="10" name="Rectangle 9"/>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106674"/>
            <a:ext cx="2523934"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absence</a:t>
            </a:r>
          </a:p>
        </p:txBody>
      </p:sp>
      <p:sp>
        <p:nvSpPr>
          <p:cNvPr id="12" name="TextBox 11"/>
          <p:cNvSpPr txBox="1"/>
          <p:nvPr/>
        </p:nvSpPr>
        <p:spPr>
          <a:xfrm>
            <a:off x="3730942" y="3106674"/>
            <a:ext cx="7528064"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Manquer un cours en entier, une journée ou plusieurs.</a:t>
            </a:r>
          </a:p>
        </p:txBody>
      </p:sp>
      <p:sp>
        <p:nvSpPr>
          <p:cNvPr id="13" name="Rectangle 12"/>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91939"/>
            <a:ext cx="2523934"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abandon</a:t>
            </a:r>
          </a:p>
        </p:txBody>
      </p:sp>
      <p:sp>
        <p:nvSpPr>
          <p:cNvPr id="15" name="TextBox 14"/>
          <p:cNvSpPr txBox="1"/>
          <p:nvPr/>
        </p:nvSpPr>
        <p:spPr>
          <a:xfrm>
            <a:off x="3730942" y="4091939"/>
            <a:ext cx="7528064"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Arrêter un cours avant la fin, et le dire officiellement.</a:t>
            </a:r>
          </a:p>
        </p:txBody>
      </p:sp>
      <p:sp>
        <p:nvSpPr>
          <p:cNvPr id="16" name="Rectangle 15"/>
          <p:cNvSpPr/>
          <p:nvPr/>
        </p:nvSpPr>
        <p:spPr>
          <a:xfrm>
            <a:off x="932688" y="493090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077205"/>
            <a:ext cx="2523934"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empêchement</a:t>
            </a:r>
          </a:p>
        </p:txBody>
      </p:sp>
      <p:sp>
        <p:nvSpPr>
          <p:cNvPr id="18" name="TextBox 17"/>
          <p:cNvSpPr txBox="1"/>
          <p:nvPr/>
        </p:nvSpPr>
        <p:spPr>
          <a:xfrm>
            <a:off x="3730942" y="5077205"/>
            <a:ext cx="7528064"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Ce qui survient et vous empêche de venir.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FAMILLE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qu'on écrit ensuite</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049494"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note</a:t>
            </a:r>
          </a:p>
        </p:txBody>
      </p:sp>
      <p:sp>
        <p:nvSpPr>
          <p:cNvPr id="9" name="TextBox 8"/>
          <p:cNvSpPr txBox="1"/>
          <p:nvPr/>
        </p:nvSpPr>
        <p:spPr>
          <a:xfrm>
            <a:off x="3256502" y="2121408"/>
            <a:ext cx="8002504"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court texte écrit et signé qu'on remet pour expliquer.</a:t>
            </a:r>
          </a:p>
        </p:txBody>
      </p:sp>
      <p:sp>
        <p:nvSpPr>
          <p:cNvPr id="10" name="Rectangle 9"/>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106674"/>
            <a:ext cx="2049494"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motif</a:t>
            </a:r>
          </a:p>
        </p:txBody>
      </p:sp>
      <p:sp>
        <p:nvSpPr>
          <p:cNvPr id="12" name="TextBox 11"/>
          <p:cNvSpPr txBox="1"/>
          <p:nvPr/>
        </p:nvSpPr>
        <p:spPr>
          <a:xfrm>
            <a:off x="3256502" y="3106674"/>
            <a:ext cx="8002504"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raison qu'on écrit officiellement.</a:t>
            </a:r>
          </a:p>
        </p:txBody>
      </p:sp>
      <p:sp>
        <p:nvSpPr>
          <p:cNvPr id="13" name="Rectangle 12"/>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91939"/>
            <a:ext cx="2049494"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signature</a:t>
            </a:r>
          </a:p>
        </p:txBody>
      </p:sp>
      <p:sp>
        <p:nvSpPr>
          <p:cNvPr id="15" name="TextBox 14"/>
          <p:cNvSpPr txBox="1"/>
          <p:nvPr/>
        </p:nvSpPr>
        <p:spPr>
          <a:xfrm>
            <a:off x="3256502" y="4091939"/>
            <a:ext cx="8002504"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Votre nom écrit de votre main, qui rend le papier valable.</a:t>
            </a:r>
          </a:p>
        </p:txBody>
      </p:sp>
      <p:sp>
        <p:nvSpPr>
          <p:cNvPr id="16" name="Rectangle 15"/>
          <p:cNvSpPr/>
          <p:nvPr/>
        </p:nvSpPr>
        <p:spPr>
          <a:xfrm>
            <a:off x="932688" y="493090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077205"/>
            <a:ext cx="2049494"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copie</a:t>
            </a:r>
          </a:p>
        </p:txBody>
      </p:sp>
      <p:sp>
        <p:nvSpPr>
          <p:cNvPr id="18" name="TextBox 17"/>
          <p:cNvSpPr txBox="1"/>
          <p:nvPr/>
        </p:nvSpPr>
        <p:spPr>
          <a:xfrm>
            <a:off x="3256502" y="5077205"/>
            <a:ext cx="8002504"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double qu'on garde pour soi quand on remet l'original.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 BON MOT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Six phrases à compléter</a:t>
            </a:r>
          </a:p>
        </p:txBody>
      </p:sp>
      <p:sp>
        <p:nvSpPr>
          <p:cNvPr id="7" name="Rounded Rectangle 6"/>
          <p:cNvSpPr/>
          <p:nvPr/>
        </p:nvSpPr>
        <p:spPr>
          <a:xfrm>
            <a:off x="566928" y="1810512"/>
            <a:ext cx="11057839" cy="3877056"/>
          </a:xfrm>
          <a:prstGeom prst="roundRect">
            <a:avLst>
              <a:gd name="adj" fmla="val 37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 MANQUE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PHRASE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la boîte vocale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Avant huit heures, c'est ___ qui répond.</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le clavier</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Appuyez sur le 2 du ___.</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la ligne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___ était occupée : elle a rappelé plus tard.</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un poste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secrétariat, c'est le ___ 224.</a:t>
            </a:r>
          </a:p>
        </p:txBody>
      </p:sp>
      <p:sp>
        <p:nvSpPr>
          <p:cNvPr id="21" name="Rectangle 20"/>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553712"/>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un retard</a:t>
            </a:r>
          </a:p>
        </p:txBody>
      </p:sp>
      <p:sp>
        <p:nvSpPr>
          <p:cNvPr id="23" name="TextBox 22"/>
          <p:cNvSpPr txBox="1"/>
          <p:nvPr/>
        </p:nvSpPr>
        <p:spPr>
          <a:xfrm>
            <a:off x="4443636" y="4553712"/>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L'autobus n'est pas passé : vingt minutes de ___.</a:t>
            </a:r>
          </a:p>
        </p:txBody>
      </p:sp>
      <p:sp>
        <p:nvSpPr>
          <p:cNvPr id="24" name="Rectangle 23"/>
          <p:cNvSpPr/>
          <p:nvPr/>
        </p:nvSpPr>
        <p:spPr>
          <a:xfrm>
            <a:off x="932688" y="49651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5093207"/>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un empêchement</a:t>
            </a:r>
          </a:p>
        </p:txBody>
      </p:sp>
      <p:sp>
        <p:nvSpPr>
          <p:cNvPr id="26" name="TextBox 25"/>
          <p:cNvSpPr txBox="1"/>
          <p:nvPr/>
        </p:nvSpPr>
        <p:spPr>
          <a:xfrm>
            <a:off x="4443636" y="5093207"/>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Elle a téléphoné dès qu'elle a su qu'elle avait ___.</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ASSOCIATION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photo et la phrase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Quelle photo va avec quelle description ?</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téléphone qui sonne sur un comptoir sans personne derrière.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Quelqu'un qui téléphone debout dans une cage d'escalier vide.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réveille-matin allumé dans une chambre encore sombre.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enfant couché avec un thermomètre à côté.</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arrêt d'autobus sous la neige, avec des gens qui attendent.</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feuille pliée qui passe d'une main à une autre.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photo et la phrase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téléphone qui sonne sur un comptoir sans personne derrière.   </a:t>
            </a:r>
            <a:r>
              <a:rPr sz="1400" b="1" i="0">
                <a:solidFill>
                  <a:srgbClr val="07734A"/>
                </a:solidFill>
                <a:latin typeface="Verdana"/>
              </a:rPr>
              <a:t>» telephone-comptoir-vide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Quelqu'un qui téléphone debout dans une cage d'escalier vide.   </a:t>
            </a:r>
            <a:r>
              <a:rPr sz="1400" b="1" i="0">
                <a:solidFill>
                  <a:srgbClr val="07734A"/>
                </a:solidFill>
                <a:latin typeface="Verdana"/>
              </a:rPr>
              <a:t>» appel-cage-escalier</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réveille-matin allumé dans une chambre encore sombre.   </a:t>
            </a:r>
            <a:r>
              <a:rPr sz="1400" b="1" i="0">
                <a:solidFill>
                  <a:srgbClr val="07734A"/>
                </a:solidFill>
                <a:latin typeface="Verdana"/>
              </a:rPr>
              <a:t>» reveil-avant-aube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enfant couché avec un thermomètre à côté.   </a:t>
            </a:r>
            <a:r>
              <a:rPr sz="1400" b="1" i="0">
                <a:solidFill>
                  <a:srgbClr val="07734A"/>
                </a:solidFill>
                <a:latin typeface="Verdana"/>
              </a:rPr>
              <a:t>» enfant-malade-lit</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arrêt d'autobus sous la neige, avec des gens qui attendent.   </a:t>
            </a:r>
            <a:r>
              <a:rPr sz="1400" b="1" i="0">
                <a:solidFill>
                  <a:srgbClr val="07734A"/>
                </a:solidFill>
                <a:latin typeface="Verdana"/>
              </a:rPr>
              <a:t>» autobus-neige-arret</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feuille pliée qui passe d'une main à une autre.   </a:t>
            </a:r>
            <a:r>
              <a:rPr sz="1400" b="1" i="0">
                <a:solidFill>
                  <a:srgbClr val="07734A"/>
                </a:solidFill>
                <a:latin typeface="Verdana"/>
              </a:rPr>
              <a:t>» note-remise-main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CONFONDRE LE POSTE ET LE NUMÉRO</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J'ai appelé au 224 et ça ne répondait pas.</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J'ai appelé au 450 555-0180, poste 224.</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poste est un numéro interne : il ne fonctionne qu'une fois le numéro principal composé. Composer le poste tout seul ne mène nulle part, et c'est une des raisons pour lesquelles un élève croit que le centre ne répond jamais.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quatre mots de la séance, un par famille, avec leur article.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 mot du téléphone, un du message, un des motifs, un du papier.</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Avec l'article : la, le, un, une.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Prévenir le centre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