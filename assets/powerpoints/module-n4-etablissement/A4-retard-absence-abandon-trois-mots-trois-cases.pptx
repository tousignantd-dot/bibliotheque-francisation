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bloc A. Elle ferme le vocabulaire et ouvre le bloc B. Commencer par écrire les trois mots au tableau, en colonne, et demander au groupe de les définir avant toute explication : les réponses montrent tout de suite où sont les confusions.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paraît mineur et ne l'est pas : un message est écouté deux heures après avoir été laissé, et « aujourd'hui » n'a alors plus de sens.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règle la plus utile du bloc A, et elle vaut aussi au travail, chez le médecin et à la garderie.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le retard est le seul qui ne demande aucun papier. Beaucoup d'élèves ne signalent pas leurs retards en croyant que ce sera compliqué.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piste est celle qui compte : on appelle avant l'heure du cours, pas après. Un retard signalé à neuf heures et demie n'est plus un retard signalé, c'est une nouvelle.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carte évite un malentendu fréquent : « empêchement » donne la raison, pas la nature. On dit « je serai absente à cause d'un empêchement familial », les deux ensemble.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à chacun la date du jour à voix haute, à la québécoise : « lundi le 14 septembre ». La tournure surprend les élèves qui viennent d'ailleurs et qui disent « lundi 14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cinquième est celle qui divise le groupe. Trancher : un départ avant la fin se signale comme un départ, en donnant l'heure. Le centre n'a pas de case pour ça, mais l'enseignant, oui.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chaque phrase debout, à voix haute, comme au téléphone. Ce sont six phrases toutes faites : elles serviront telles quelles en E1.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piège vient d'une bonne intention : on croit qu'un motif détaillé est un motif crédible. Dire au groupe que c'est l'inverse — un motif court est un motif de personne qui sait comment ça marche.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 ils servent en B1, où chacun transformera sa phrase en message complet de cinq morceaux.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A4  ·  MODULE 17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Retard, absence, abandon : trois mots, trois cases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vous téléphonez, la personne du secrétariat ouvre votre dossier et doit cocher quelque chose. Le système ne connaît que trois situations, et « je ne peux pas venir » n'en est aucune.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Prévenir le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le mot juste entre retard, absence et abandon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empêchement » quand la raison est privée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une date exacte plutôt que « aujourd'hui »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donner un motif en une seule phrase.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NOMMEZ LA CASE, PAS VOTRE EMBARRAS</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retard : vous venez plus tard. Une absence : vous ne venez pas. Un abandon : vous ne revenez plus.</a:t>
            </a:r>
          </a:p>
        </p:txBody>
      </p:sp>
      <p:sp>
        <p:nvSpPr>
          <p:cNvPr id="8" name="Rounded Rectangle 7"/>
          <p:cNvSpPr/>
          <p:nvPr/>
        </p:nvSpPr>
        <p:spPr>
          <a:xfrm>
            <a:off x="566928" y="3994404"/>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Je ne peux pas venir » ne dit ni la durée, ni la nature : la personne devra vous rappeler.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TROIS CASES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chacune déclenche</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SUIT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retard</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Rien à fournir. L'enseignant garde vos feuilles.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absence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note écrite et signée, remise au comptoir.</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abandon</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écrit, avant la date limite, sinon un échec.</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Trois mots, trois suites différentes. C'est pour cela qu'on les distingue.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 arrêt d'autobus sous la neige, et pas d'autobus. Qu'est-ce que vous faites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utobus-neige-arret.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appelez, ou vous attendez de voir ?</a:t>
            </a:r>
          </a:p>
        </p:txBody>
      </p:sp>
      <p:sp>
        <p:nvSpPr>
          <p:cNvPr id="12" name="Rounded Rectangle 11"/>
          <p:cNvSpPr/>
          <p:nvPr/>
        </p:nvSpPr>
        <p:spPr>
          <a:xfrm>
            <a:off x="566928" y="264210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dites que c'est un retard ou une absence ?</a:t>
            </a:r>
          </a:p>
        </p:txBody>
      </p:sp>
      <p:sp>
        <p:nvSpPr>
          <p:cNvPr id="15" name="Rounded Rectangle 14"/>
          <p:cNvSpPr/>
          <p:nvPr/>
        </p:nvSpPr>
        <p:spPr>
          <a:xfrm>
            <a:off x="566928" y="376580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quelle heure appelez-vous : maintenant, ou en arrivant ?</a:t>
            </a:r>
          </a:p>
        </p:txBody>
      </p:sp>
      <p:sp>
        <p:nvSpPr>
          <p:cNvPr id="18" name="Rounded Rectangle 17"/>
          <p:cNvSpPr/>
          <p:nvPr/>
        </p:nvSpPr>
        <p:spPr>
          <a:xfrm>
            <a:off x="566928" y="488950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999228"/>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07238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dites en une seule phrase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MOT POLI POUR TOUT LE RESTE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Quand la raison est privée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Un empêchement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Ce qui survient et vous empêche de venir, sans que ce soit votre choix.</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Un empêchement familial</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Précisé, mais toujours sans détail. Personne ne demande la suite.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Ce que ça permet</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Rester exact sans rien raconter de sa vie privée.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Ce que ça ne remplace pas</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mot de la case : dites aussi si c'est un retard ou une absence.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DATE, JAMAIS « AUJOURD'HUI »</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Dites le jour et le quantième : lundi le 14 septembre.</a:t>
            </a:r>
          </a:p>
        </p:txBody>
      </p:sp>
      <p:sp>
        <p:nvSpPr>
          <p:cNvPr id="8" name="Rounded Rectangle 7"/>
          <p:cNvSpPr/>
          <p:nvPr/>
        </p:nvSpPr>
        <p:spPr>
          <a:xfrm>
            <a:off x="566928" y="3467607"/>
            <a:ext cx="11057839" cy="935228"/>
          </a:xfrm>
          <a:prstGeom prst="roundRect">
            <a:avLst>
              <a:gd name="adj" fmla="val 1564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4780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Votre message est écouté deux heures plus tard, parfois le lendemain.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BON MOT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la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Retard, absence, abandon ou empêchement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L'autobus n'est pas passé : j'aurai vingt minutes de ___.</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serai ___ toute la journée de lundi.</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vous écris pour vous annoncer mon ___ du cours du soir.</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un ___ familial ce matin.</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devrai quitter à onze heures : ce n'est pas une ___ complète.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___ annoncé par écrit n'est pas un échec.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la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L'autobus n'est pas passé : j'aurai vingt minutes de ___.   </a:t>
            </a:r>
            <a:r>
              <a:rPr sz="1400" b="1" i="0">
                <a:solidFill>
                  <a:srgbClr val="07734A"/>
                </a:solidFill>
                <a:latin typeface="Verdana"/>
              </a:rPr>
              <a:t>» retard</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serai ___ toute la journée de lundi.   </a:t>
            </a:r>
            <a:r>
              <a:rPr sz="1400" b="1" i="0">
                <a:solidFill>
                  <a:srgbClr val="07734A"/>
                </a:solidFill>
                <a:latin typeface="Verdana"/>
              </a:rPr>
              <a:t>» absente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vous écris pour vous annoncer mon ___ du cours du soir.   </a:t>
            </a:r>
            <a:r>
              <a:rPr sz="1400" b="1" i="0">
                <a:solidFill>
                  <a:srgbClr val="07734A"/>
                </a:solidFill>
                <a:latin typeface="Verdana"/>
              </a:rPr>
              <a:t>» abandon</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un ___ familial ce matin.   </a:t>
            </a:r>
            <a:r>
              <a:rPr sz="1400" b="1" i="0">
                <a:solidFill>
                  <a:srgbClr val="07734A"/>
                </a:solidFill>
                <a:latin typeface="Verdana"/>
              </a:rPr>
              <a:t>» empêchement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devrai quitter à onze heures : ce n'est pas une ___ complète.   </a:t>
            </a:r>
            <a:r>
              <a:rPr sz="1400" b="1" i="0">
                <a:solidFill>
                  <a:srgbClr val="07734A"/>
                </a:solidFill>
                <a:latin typeface="Verdana"/>
              </a:rPr>
              <a:t>» absence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___ annoncé par écrit n'est pas un échec.   </a:t>
            </a:r>
            <a:r>
              <a:rPr sz="1400" b="1" i="0">
                <a:solidFill>
                  <a:srgbClr val="07734A"/>
                </a:solidFill>
                <a:latin typeface="Verdana"/>
              </a:rPr>
              <a:t>» abandon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PHRASE COMPLÈTE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situation, une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Dites la phrase que vous laisseriez.</a:t>
            </a:r>
          </a:p>
        </p:txBody>
      </p:sp>
      <p:sp>
        <p:nvSpPr>
          <p:cNvPr id="8" name="Rounded Rectangle 7"/>
          <p:cNvSpPr/>
          <p:nvPr/>
        </p:nvSpPr>
        <p:spPr>
          <a:xfrm>
            <a:off x="566928" y="2139696"/>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611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251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Votre enfant est malade et vous allez à la clinique.</a:t>
            </a:r>
          </a:p>
        </p:txBody>
      </p:sp>
      <p:sp>
        <p:nvSpPr>
          <p:cNvPr id="12" name="Rounded Rectangle 11"/>
          <p:cNvSpPr/>
          <p:nvPr/>
        </p:nvSpPr>
        <p:spPr>
          <a:xfrm>
            <a:off x="566928" y="3076447"/>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7347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3748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23189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L'autobus n'est pas passé.</a:t>
            </a:r>
          </a:p>
        </p:txBody>
      </p:sp>
      <p:sp>
        <p:nvSpPr>
          <p:cNvPr id="16" name="Rounded Rectangle 15"/>
          <p:cNvSpPr/>
          <p:nvPr/>
        </p:nvSpPr>
        <p:spPr>
          <a:xfrm>
            <a:off x="566928" y="376427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6130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2531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91972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arrêtez le cours du soir.</a:t>
            </a:r>
          </a:p>
        </p:txBody>
      </p:sp>
      <p:sp>
        <p:nvSpPr>
          <p:cNvPr id="20" name="Rounded Rectangle 19"/>
          <p:cNvSpPr/>
          <p:nvPr/>
        </p:nvSpPr>
        <p:spPr>
          <a:xfrm>
            <a:off x="566928" y="4452111"/>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39"/>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7"/>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0755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raison est privée.</a:t>
            </a:r>
          </a:p>
        </p:txBody>
      </p:sp>
      <p:sp>
        <p:nvSpPr>
          <p:cNvPr id="24" name="Rounded Rectangle 23"/>
          <p:cNvSpPr/>
          <p:nvPr/>
        </p:nvSpPr>
        <p:spPr>
          <a:xfrm>
            <a:off x="566928" y="513994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partez avant la fin du cours.</a:t>
            </a:r>
          </a:p>
        </p:txBody>
      </p:sp>
      <p:sp>
        <p:nvSpPr>
          <p:cNvPr id="28" name="Rounded Rectangle 27"/>
          <p:cNvSpPr/>
          <p:nvPr/>
        </p:nvSpPr>
        <p:spPr>
          <a:xfrm>
            <a:off x="566928" y="582777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rapportez le papier d'hier.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situation, une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611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251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Votre enfant est malade et vous allez à la clinique.   </a:t>
            </a:r>
            <a:r>
              <a:rPr sz="1400" b="1" i="0">
                <a:solidFill>
                  <a:srgbClr val="07734A"/>
                </a:solidFill>
                <a:latin typeface="Verdana"/>
              </a:rPr>
              <a:t>» Je serai absente aujourd'hui, lundi le 14, parce que mon fils est malade.</a:t>
            </a:r>
          </a:p>
        </p:txBody>
      </p:sp>
      <p:sp>
        <p:nvSpPr>
          <p:cNvPr id="12" name="Rounded Rectangle 11"/>
          <p:cNvSpPr/>
          <p:nvPr/>
        </p:nvSpPr>
        <p:spPr>
          <a:xfrm>
            <a:off x="566928" y="3076447"/>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7347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3748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23189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L'autobus n'est pas passé.   </a:t>
            </a:r>
            <a:r>
              <a:rPr sz="1400" b="1" i="0">
                <a:solidFill>
                  <a:srgbClr val="07734A"/>
                </a:solidFill>
                <a:latin typeface="Verdana"/>
              </a:rPr>
              <a:t>» J'aurai environ une heure de retard à cause de l'autobus.</a:t>
            </a:r>
          </a:p>
        </p:txBody>
      </p:sp>
      <p:sp>
        <p:nvSpPr>
          <p:cNvPr id="16" name="Rounded Rectangle 15"/>
          <p:cNvSpPr/>
          <p:nvPr/>
        </p:nvSpPr>
        <p:spPr>
          <a:xfrm>
            <a:off x="566928" y="376427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6130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2531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91972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arrêtez le cours du soir.   </a:t>
            </a:r>
            <a:r>
              <a:rPr sz="1400" b="1" i="0">
                <a:solidFill>
                  <a:srgbClr val="07734A"/>
                </a:solidFill>
                <a:latin typeface="Verdana"/>
              </a:rPr>
              <a:t>» Je vous écris pour abandonner le cours d'informatique du soir.</a:t>
            </a:r>
          </a:p>
        </p:txBody>
      </p:sp>
      <p:sp>
        <p:nvSpPr>
          <p:cNvPr id="20" name="Rounded Rectangle 19"/>
          <p:cNvSpPr/>
          <p:nvPr/>
        </p:nvSpPr>
        <p:spPr>
          <a:xfrm>
            <a:off x="566928" y="4452111"/>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39"/>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7"/>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0755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raison est privée.   </a:t>
            </a:r>
            <a:r>
              <a:rPr sz="1400" b="1" i="0">
                <a:solidFill>
                  <a:srgbClr val="07734A"/>
                </a:solidFill>
                <a:latin typeface="Verdana"/>
              </a:rPr>
              <a:t>» J'ai un empêchement familial ce matin et je serai absente.</a:t>
            </a:r>
          </a:p>
        </p:txBody>
      </p:sp>
      <p:sp>
        <p:nvSpPr>
          <p:cNvPr id="24" name="Rounded Rectangle 23"/>
          <p:cNvSpPr/>
          <p:nvPr/>
        </p:nvSpPr>
        <p:spPr>
          <a:xfrm>
            <a:off x="566928" y="513994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partez avant la fin du cours.   </a:t>
            </a:r>
            <a:r>
              <a:rPr sz="1400" b="1" i="0">
                <a:solidFill>
                  <a:srgbClr val="07734A"/>
                </a:solidFill>
                <a:latin typeface="Verdana"/>
              </a:rPr>
              <a:t>» Je devrai quitter à onze heures pour un rendez-vous.</a:t>
            </a:r>
          </a:p>
        </p:txBody>
      </p:sp>
      <p:sp>
        <p:nvSpPr>
          <p:cNvPr id="28" name="Rounded Rectangle 27"/>
          <p:cNvSpPr/>
          <p:nvPr/>
        </p:nvSpPr>
        <p:spPr>
          <a:xfrm>
            <a:off x="566928" y="582777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rapportez le papier d'hier.   </a:t>
            </a:r>
            <a:r>
              <a:rPr sz="1400" b="1" i="0">
                <a:solidFill>
                  <a:srgbClr val="07734A"/>
                </a:solidFill>
                <a:latin typeface="Verdana"/>
              </a:rPr>
              <a:t>» Je vous remets le papier qui justifie mon absence d'hier.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RACONTER LE DÉTAIL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200" b="1" i="0">
                <a:solidFill>
                  <a:srgbClr val="17181A"/>
                </a:solidFill>
                <a:latin typeface="Verdana"/>
              </a:rPr>
              <a:t>Il a commencé à pleurer vers deux heures, après il a vomi, et là j'ai appelé Info-Santé...</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Mon fils est malade et j'ai un rendez-vous à la clinique.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boîte vocale coupe, la personne qui écoute a quarante messages, et l'essentiel se perd dans le milieu. Une phrase, une seule. Personne ne vérifie et personne ne juge.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une phrase complète pour une absence que vous avez eue cette année, avec la date et le motif.</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phrase, avec la date exacte.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motif en une phrase, avec « parce que » ou « à cause de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Prévenir le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