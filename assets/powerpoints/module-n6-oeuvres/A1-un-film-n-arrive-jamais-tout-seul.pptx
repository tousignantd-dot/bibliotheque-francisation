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Ouvrir par une question au groupe : quel est le dernier film que vous avez vu, et qui vous l'a conseillé ? Presque personne ne cite un texte : on cite quelqu'un. C'est justement ce que le module vient compléter.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celui du module entier : savoir d'avance ce qu'on va trouver, c'est déjà la moitié de la compréhension.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sans mauvaise réponse. Beaucoup d'élèves regardent surtout des films de leur pays d'origine ou en version doublée. Ne rien dévaloriser : s'en servir pour comparer les habitudes.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tutoiement est posé dès la troisième réplique, et il tient tout le module. Le faire remarquer : c'est un choix du lieu, pas une familiarité.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compter les trois sur les doigts. Le tableau d'analyse qui suit reprend exactement cette énumération : la préparer ici.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réplique est la phrase du module. La faire répéter par deux élèves. Annoncer ici la production de E2 : dans quatre semaines, chacun écrira son résumé au journal.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tableau de référence du module ; il revient en A4 sous forme d'exercice, puis à chaque ouverture de défi.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Insister : on ne demande pas de tout comprendre, on demande de savoir quoi chercher.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chaque mot avec son article. « Le générique » prend le défini : il n'y en a qu'un par film. Le faire remarquer.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Le dernier surprend : beaucoup d'élèves lisent le résumé pour éviter de regarder.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Les réponses servent en A4 : elles disent quel texte intimide le plus le groupe, et c'est celui-là qu'il faudra travailler le plus lentement.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Un film n'arrive jamais tout seul</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Autour d'un film, il y a toujours trois textes : une bande-annonce, une biographie, une critique. Ils ne servent pas au même travail, et aucun ne remplace le film.</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 film, et ce qu'on en écrit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trois textes qui entourent un film et le générique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d'avance ce que chacun donne, et ce qu'il ne donne pas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 long métrage d'un court métrage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les quatre premiers mots du dossier avec leur article.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Comment choisis-tu un film, et qu'est-ce que tu lis avant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bande-annonce, le résumé, l'avis de quelqu'un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As-tu déjà lu une critique de film dans un journal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tu regardes le générique jusqu'au bout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t'a le plus surpris dans les films d'ici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premier soir au ciné-club</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Écouter d'abord, diapositive masquée.</a:t>
            </a:r>
          </a:p>
        </p:txBody>
      </p:sp>
      <p:sp>
        <p:nvSpPr>
          <p:cNvPr id="8" name="Rounded Rectangle 7"/>
          <p:cNvSpPr/>
          <p:nvPr/>
        </p:nvSpPr>
        <p:spPr>
          <a:xfrm>
            <a:off x="566928" y="2157984"/>
            <a:ext cx="11057839" cy="898144"/>
          </a:xfrm>
          <a:prstGeom prst="roundRect">
            <a:avLst>
              <a:gd name="adj" fmla="val 1628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53134" cy="62382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BRUNO</a:t>
            </a:r>
          </a:p>
        </p:txBody>
      </p:sp>
      <p:sp>
        <p:nvSpPr>
          <p:cNvPr id="10" name="TextBox 9"/>
          <p:cNvSpPr txBox="1"/>
          <p:nvPr/>
        </p:nvSpPr>
        <p:spPr>
          <a:xfrm>
            <a:off x="2385822" y="2322576"/>
            <a:ext cx="8690305" cy="62382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Bonsoir. Vous êtes Thérèse ? Moi, c'est Bruno Salvail, j'anime le ciné-club depuis neuf ans.</a:t>
            </a:r>
          </a:p>
        </p:txBody>
      </p:sp>
      <p:sp>
        <p:nvSpPr>
          <p:cNvPr id="11" name="Rounded Rectangle 10"/>
          <p:cNvSpPr/>
          <p:nvPr/>
        </p:nvSpPr>
        <p:spPr>
          <a:xfrm>
            <a:off x="566928" y="3138424"/>
            <a:ext cx="11057839" cy="898144"/>
          </a:xfrm>
          <a:prstGeom prst="roundRect">
            <a:avLst>
              <a:gd name="adj" fmla="val 1628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303016"/>
            <a:ext cx="1453134" cy="62382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THÉRÈSE</a:t>
            </a:r>
          </a:p>
        </p:txBody>
      </p:sp>
      <p:sp>
        <p:nvSpPr>
          <p:cNvPr id="13" name="TextBox 12"/>
          <p:cNvSpPr txBox="1"/>
          <p:nvPr/>
        </p:nvSpPr>
        <p:spPr>
          <a:xfrm>
            <a:off x="2385822" y="3303016"/>
            <a:ext cx="8690305" cy="62382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Bonsoir. Oui. Je travaille à la résidence à côté. Je passe devant la salle deux fois par jour depuis cinq ans et je ne suis jamais entrée.</a:t>
            </a:r>
          </a:p>
        </p:txBody>
      </p:sp>
      <p:sp>
        <p:nvSpPr>
          <p:cNvPr id="14" name="Rounded Rectangle 13"/>
          <p:cNvSpPr/>
          <p:nvPr/>
        </p:nvSpPr>
        <p:spPr>
          <a:xfrm>
            <a:off x="566928" y="4118864"/>
            <a:ext cx="11057839" cy="898144"/>
          </a:xfrm>
          <a:prstGeom prst="roundRect">
            <a:avLst>
              <a:gd name="adj" fmla="val 1628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283456"/>
            <a:ext cx="1453134" cy="62382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BRUNO</a:t>
            </a:r>
          </a:p>
        </p:txBody>
      </p:sp>
      <p:sp>
        <p:nvSpPr>
          <p:cNvPr id="16" name="TextBox 15"/>
          <p:cNvSpPr txBox="1"/>
          <p:nvPr/>
        </p:nvSpPr>
        <p:spPr>
          <a:xfrm>
            <a:off x="2385822" y="4283456"/>
            <a:ext cx="8690305" cy="62382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Ça arrive plus souvent que tu penses. On peut se tutoyer, ici. Le mercredi, on projette un long métrage, et après, on reste une demi-heure à en parler.</a:t>
            </a:r>
          </a:p>
        </p:txBody>
      </p:sp>
      <p:sp>
        <p:nvSpPr>
          <p:cNvPr id="17" name="Rounded Rectangle 16"/>
          <p:cNvSpPr/>
          <p:nvPr/>
        </p:nvSpPr>
        <p:spPr>
          <a:xfrm>
            <a:off x="566928" y="5099304"/>
            <a:ext cx="11057839" cy="898144"/>
          </a:xfrm>
          <a:prstGeom prst="roundRect">
            <a:avLst>
              <a:gd name="adj" fmla="val 1628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5263895"/>
            <a:ext cx="1453134" cy="62382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THÉRÈSE</a:t>
            </a:r>
          </a:p>
        </p:txBody>
      </p:sp>
      <p:sp>
        <p:nvSpPr>
          <p:cNvPr id="19" name="TextBox 18"/>
          <p:cNvSpPr txBox="1"/>
          <p:nvPr/>
        </p:nvSpPr>
        <p:spPr>
          <a:xfrm>
            <a:off x="2385822" y="5263895"/>
            <a:ext cx="8690305" cy="62382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Je vais être honnête : je comprends les films, mais je ne sais jamais quoi dire après.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trois textes autour d'un film</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5313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BRUNO</a:t>
            </a:r>
          </a:p>
        </p:txBody>
      </p:sp>
      <p:sp>
        <p:nvSpPr>
          <p:cNvPr id="9" name="TextBox 8"/>
          <p:cNvSpPr txBox="1"/>
          <p:nvPr/>
        </p:nvSpPr>
        <p:spPr>
          <a:xfrm>
            <a:off x="2385822" y="1901952"/>
            <a:ext cx="8690305"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y a une chose qui aide, avant même de parler : un film n'arrive jamais tout seul. Il y a toujours trois textes autour de lui.</a:t>
            </a:r>
          </a:p>
        </p:txBody>
      </p:sp>
      <p:sp>
        <p:nvSpPr>
          <p:cNvPr id="10" name="Rounded Rectangle 9"/>
          <p:cNvSpPr/>
          <p:nvPr/>
        </p:nvSpPr>
        <p:spPr>
          <a:xfrm>
            <a:off x="566928" y="28244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45313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THÉRÈSE</a:t>
            </a:r>
          </a:p>
        </p:txBody>
      </p:sp>
      <p:sp>
        <p:nvSpPr>
          <p:cNvPr id="12" name="TextBox 11"/>
          <p:cNvSpPr txBox="1"/>
          <p:nvPr/>
        </p:nvSpPr>
        <p:spPr>
          <a:xfrm>
            <a:off x="2385822" y="2989072"/>
            <a:ext cx="869030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Trois textes ? Je ne vois que le film.</a:t>
            </a:r>
          </a:p>
        </p:txBody>
      </p:sp>
      <p:sp>
        <p:nvSpPr>
          <p:cNvPr id="13" name="Rounded Rectangle 12"/>
          <p:cNvSpPr/>
          <p:nvPr/>
        </p:nvSpPr>
        <p:spPr>
          <a:xfrm>
            <a:off x="566928" y="3573779"/>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453134"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BRUNO</a:t>
            </a:r>
          </a:p>
        </p:txBody>
      </p:sp>
      <p:sp>
        <p:nvSpPr>
          <p:cNvPr id="15" name="TextBox 14"/>
          <p:cNvSpPr txBox="1"/>
          <p:nvPr/>
        </p:nvSpPr>
        <p:spPr>
          <a:xfrm>
            <a:off x="2385822" y="3738371"/>
            <a:ext cx="8690305"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bande-annonce, qu'on projette avant : deux minutes, une voix hors champ, et surtout aucune fin. Ensuite la biographie de la réalisatrice, sur la feuille verte.</a:t>
            </a:r>
          </a:p>
        </p:txBody>
      </p:sp>
      <p:sp>
        <p:nvSpPr>
          <p:cNvPr id="16" name="Rounded Rectangle 15"/>
          <p:cNvSpPr/>
          <p:nvPr/>
        </p:nvSpPr>
        <p:spPr>
          <a:xfrm>
            <a:off x="566928" y="499871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163311"/>
            <a:ext cx="145313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THÉRÈSE</a:t>
            </a:r>
          </a:p>
        </p:txBody>
      </p:sp>
      <p:sp>
        <p:nvSpPr>
          <p:cNvPr id="18" name="TextBox 17"/>
          <p:cNvSpPr txBox="1"/>
          <p:nvPr/>
        </p:nvSpPr>
        <p:spPr>
          <a:xfrm>
            <a:off x="2385822" y="5163311"/>
            <a:ext cx="869030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le troisième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qu'aucun des trois ne donne</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5313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BRUNO</a:t>
            </a:r>
          </a:p>
        </p:txBody>
      </p:sp>
      <p:sp>
        <p:nvSpPr>
          <p:cNvPr id="9" name="TextBox 8"/>
          <p:cNvSpPr txBox="1"/>
          <p:nvPr/>
        </p:nvSpPr>
        <p:spPr>
          <a:xfrm>
            <a:off x="2385822" y="1901952"/>
            <a:ext cx="8690305"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critique. Celle-là paraît après, dans le journal. C'est le seul des trois où quelqu'un dit « moi, je pense que ».</a:t>
            </a:r>
          </a:p>
        </p:txBody>
      </p:sp>
      <p:sp>
        <p:nvSpPr>
          <p:cNvPr id="10" name="Rounded Rectangle 9"/>
          <p:cNvSpPr/>
          <p:nvPr/>
        </p:nvSpPr>
        <p:spPr>
          <a:xfrm>
            <a:off x="566928" y="28244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45313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THÉRÈSE</a:t>
            </a:r>
          </a:p>
        </p:txBody>
      </p:sp>
      <p:sp>
        <p:nvSpPr>
          <p:cNvPr id="12" name="TextBox 11"/>
          <p:cNvSpPr txBox="1"/>
          <p:nvPr/>
        </p:nvSpPr>
        <p:spPr>
          <a:xfrm>
            <a:off x="2385822" y="2989072"/>
            <a:ext cx="869030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Alors si je veux savoir ce qui se passe dans le film, je lis laquelle ?</a:t>
            </a:r>
          </a:p>
        </p:txBody>
      </p:sp>
      <p:sp>
        <p:nvSpPr>
          <p:cNvPr id="13" name="Rounded Rectangle 12"/>
          <p:cNvSpPr/>
          <p:nvPr/>
        </p:nvSpPr>
        <p:spPr>
          <a:xfrm>
            <a:off x="566928" y="35737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45313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BRUNO</a:t>
            </a:r>
          </a:p>
        </p:txBody>
      </p:sp>
      <p:sp>
        <p:nvSpPr>
          <p:cNvPr id="15" name="TextBox 14"/>
          <p:cNvSpPr txBox="1"/>
          <p:nvPr/>
        </p:nvSpPr>
        <p:spPr>
          <a:xfrm>
            <a:off x="2385822" y="3738371"/>
            <a:ext cx="8690305"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Aucune, honnêtement. Tu regardes le film. Le déroulement, lui, il n'est nulle part ailleurs.</a:t>
            </a:r>
          </a:p>
        </p:txBody>
      </p:sp>
      <p:sp>
        <p:nvSpPr>
          <p:cNvPr id="16" name="Rounded Rectangle 15"/>
          <p:cNvSpPr/>
          <p:nvPr/>
        </p:nvSpPr>
        <p:spPr>
          <a:xfrm>
            <a:off x="566928" y="466089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825491"/>
            <a:ext cx="145313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THÉRÈSE</a:t>
            </a:r>
          </a:p>
        </p:txBody>
      </p:sp>
      <p:sp>
        <p:nvSpPr>
          <p:cNvPr id="18" name="TextBox 17"/>
          <p:cNvSpPr txBox="1"/>
          <p:nvPr/>
        </p:nvSpPr>
        <p:spPr>
          <a:xfrm>
            <a:off x="2385822" y="4825491"/>
            <a:ext cx="869030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déroulement, c'est l'ordre des choses qui arrivent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trois textes, et ce que chacun donne</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TEXTE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TU Y TROUVES</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La bande-annonce</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trois images fortes et aucune fin, pour donner envie</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La biographie</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des dates et un parcours, pour situer la personne</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La critique</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 avis signé, qui juge autant qu'il raconte</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Le résumé</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l'histoire en deux paragraphes, arrêtée avant la fin</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Le film</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 déroulement complet, qu'on ne trouve nulle part ailleurs</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Les quatre textes peuvent parler du même film sans jamais dire la même chose.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SAVOIR D'AVANCE CE QU'ON VA TROUVER</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Reconnaître le genre d'un texte, c'est déjà avoir compris la moitié du travail.</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Devant une bande-annonce, tu cherches une envie. Devant une biographie, tu cherches un parcours. Devant une critique, tu cherches un avis et la raison qui l'appuie. Ce n'est pas la même lecture, et ce n'est pas la même attente.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premiers mots, avec leur article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865596"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ciné-club</a:t>
            </a:r>
          </a:p>
        </p:txBody>
      </p:sp>
      <p:sp>
        <p:nvSpPr>
          <p:cNvPr id="9" name="TextBox 8"/>
          <p:cNvSpPr txBox="1"/>
          <p:nvPr/>
        </p:nvSpPr>
        <p:spPr>
          <a:xfrm>
            <a:off x="4072604" y="2121408"/>
            <a:ext cx="7186402"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groupe qui regarde un film ensemble et qui en discute tout de suite après.</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2865596"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long métrage</a:t>
            </a:r>
          </a:p>
        </p:txBody>
      </p:sp>
      <p:sp>
        <p:nvSpPr>
          <p:cNvPr id="12" name="TextBox 11"/>
          <p:cNvSpPr txBox="1"/>
          <p:nvPr/>
        </p:nvSpPr>
        <p:spPr>
          <a:xfrm>
            <a:off x="4072604" y="3106674"/>
            <a:ext cx="7186402"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film qui dure plus d'une heure, celui qu'on va voir en salle.</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2865596"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bande-annonce</a:t>
            </a:r>
          </a:p>
        </p:txBody>
      </p:sp>
      <p:sp>
        <p:nvSpPr>
          <p:cNvPr id="15" name="TextBox 14"/>
          <p:cNvSpPr txBox="1"/>
          <p:nvPr/>
        </p:nvSpPr>
        <p:spPr>
          <a:xfrm>
            <a:off x="4072604" y="4091939"/>
            <a:ext cx="7186402"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court montage projeté avant le film, qui donne envie sans dire la fin.</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2865596"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générique</a:t>
            </a:r>
          </a:p>
        </p:txBody>
      </p:sp>
      <p:sp>
        <p:nvSpPr>
          <p:cNvPr id="18" name="TextBox 17"/>
          <p:cNvSpPr txBox="1"/>
          <p:nvPr/>
        </p:nvSpPr>
        <p:spPr>
          <a:xfrm>
            <a:off x="4072604" y="5077205"/>
            <a:ext cx="7186402"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liste des noms qui défile au début ou à la fin, et qui dit qui a fait quoi.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la conversation de Thérèse et de Bruno.</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Thérèse passe devant la salle depuis cinq ans sans y être entrée.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Bruno anime le ciné-club depuis neuf ans.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Au ciné-club, chacun repart tout de suite après le film.</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bande-annonce est faite pour donner envie, pas pour informer.</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critique est le seul des trois textes où quelqu'un dit « je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Pour savoir ce qui se passe dans le film, Bruno conseille la critique.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Thérèse passe devant la salle depuis cinq ans sans y être entrée.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Bruno anime le ciné-club depuis neuf ans.   </a:t>
            </a:r>
            <a:r>
              <a:rPr sz="1400" b="1" i="0">
                <a:solidFill>
                  <a:srgbClr val="07734A"/>
                </a:solidFill>
                <a:latin typeface="Verdana"/>
              </a:rPr>
              <a:t>» vrai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Au ciné-club, chacun repart tout de suite après le film.   </a:t>
            </a:r>
            <a:r>
              <a:rPr sz="1400" b="1" i="0">
                <a:solidFill>
                  <a:srgbClr val="07734A"/>
                </a:solidFill>
                <a:latin typeface="Verdana"/>
              </a:rPr>
              <a:t>» faux - on reste une demi-heure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bande-annonce est faite pour donner envie, pas pour informer.   </a:t>
            </a:r>
            <a:r>
              <a:rPr sz="1400" b="1" i="0">
                <a:solidFill>
                  <a:srgbClr val="07734A"/>
                </a:solidFill>
                <a:latin typeface="Verdana"/>
              </a:rPr>
              <a:t>» vrai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critique est le seul des trois textes où quelqu'un dit « je ».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Pour savoir ce qui se passe dans le film, Bruno conseille la critique.   </a:t>
            </a:r>
            <a:r>
              <a:rPr sz="1400" b="1" i="0">
                <a:solidFill>
                  <a:srgbClr val="07734A"/>
                </a:solidFill>
                <a:latin typeface="Verdana"/>
              </a:rPr>
              <a:t>» faux - il conseille de regarder le film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Quel texte voudrais-tu apprendre à lire en premier, et pourquoi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suffit.</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Pense à ce que tu lis déjà, même dans ta langue.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 film, et ce qu'on en écrit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