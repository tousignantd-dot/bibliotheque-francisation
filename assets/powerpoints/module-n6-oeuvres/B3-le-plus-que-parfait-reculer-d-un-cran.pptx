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séance du Défi 1, et la plus grammaticale du bloc. Faire le lien avec B2 : ce que les trois signaux font au cinéma, le plus-que-parfait le fait à l'écrit.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celui de la production écrite de E2 : un résumé de ce film sans plus-que-parfait sera confus, forcément.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chercher. La réponse — c'est le verbe qui le dit — est le cœur de la séance, et elle vient presque toujours du groupe.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Écrire les trois phrases au tableau l'une sous l'autre : la progression se voit mieux à la verticale.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Cette phrase rassure : les élèves croient souvent découvrir un temps nouveau, alors qu'ils n'en apprennent qu'une moitié.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Ne pas ouvrir la question de l'accord avec le COD placé avant : ce n'est pas au programme du niveau 6 et ça noie la règle simple.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items 2 et 4 sont les deux qui portent l'accord. Les corriger en dernier, ensemble, pour que la règle se voie deux fois de suite.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faute la plus fréquente dans les résumés de E2, et la plus invisible pour celui qui écrit. Le montrer maintenant coûte moins cher que de le corriger dans vingt copies.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emplois, tous dans le dossier. Faire chercher la phrase exacte dans la transcription pour les deux premiers.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billets où les deux phrases ne se suivent pas montrent que la notion d'antériorité n'est pas passée : reprendre ces élèves en B4.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B3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plus-que-parfait : reculer d'un cran</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film montre les images ; un texte, lui, n'a que ce temps-là pour dire au lecteur qu'il vient de reculer de quarante ans.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film, et ce qu'on en écrit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plus-que-parfait à l'écoute et à la lecture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le fabriquer avec l'auxiliaire à l'imparfait et le participe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accorder le participe quand l'auxiliaire est « être »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l'employer pour placer un retour en arrière dans un récit.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Ces deux phrases racontent-elles la même chose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Elle a lu la lettre.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La lettre avait été écrite en 1978.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des deux actions vient en premier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le sais-tu, sans qu'aucune date ne soit donnée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moments, trois temps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TEMPS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PLACE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présent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lit la lettre. - maintenant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passé composé</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a lu la lettre samedi. - un moment du passé</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plus-que-parfait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lettre avait été écrite en 1978. - avant ce moment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comment le faire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auxiliaire à l'imparfait + participe passé</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plus-que-parfait recule toujours d'un cran, jamais de deux.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COMMENT IL SE FABRIQUE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L'auxiliaire à l'imparfait, puis le participe passé. Rien de plus.</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Elle avait pris. Il était parti. Elles s'étaient vues. Si vous savez faire le passé composé, vous savez déjà faire le plus-que-parfait : c'est le même participe, avec « avait » ou « était » à la place de « a » et « est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L'ACCORD AVEC « ÊTRE »</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Avec « était », le participe s'accorde avec le sujet - comme au passé composé.</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Il était parti. Elle était partie. Elles étaient venues. C'est exactement la règle que vous connaissez déjà : rien de nouveau ne s'ajoute ici. Avec « avait », pas d'accord avec le sujet.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Mettez au plus-que-parfait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la deuxième phrase avec le verbe entre parenthèses.</a:t>
            </a:r>
          </a:p>
        </p:txBody>
      </p:sp>
      <p:sp>
        <p:nvSpPr>
          <p:cNvPr id="8" name="Rounded Rectangle 7"/>
          <p:cNvSpPr/>
          <p:nvPr/>
        </p:nvSpPr>
        <p:spPr>
          <a:xfrm>
            <a:off x="566928" y="2139696"/>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56565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62966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Estelle arrive le soir. Elle ... (prendre) l'autobus du matin.</a:t>
            </a:r>
          </a:p>
        </p:txBody>
      </p:sp>
      <p:sp>
        <p:nvSpPr>
          <p:cNvPr id="12" name="Rounded Rectangle 11"/>
          <p:cNvSpPr/>
          <p:nvPr/>
        </p:nvSpPr>
        <p:spPr>
          <a:xfrm>
            <a:off x="6159855" y="2139696"/>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56565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62966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Elle trouve la lettre. Quelqu'un l' ... (écrire) en 1978.</a:t>
            </a:r>
          </a:p>
        </p:txBody>
      </p:sp>
      <p:sp>
        <p:nvSpPr>
          <p:cNvPr id="16" name="Rounded Rectangle 15"/>
          <p:cNvSpPr/>
          <p:nvPr/>
        </p:nvSpPr>
        <p:spPr>
          <a:xfrm>
            <a:off x="566928" y="3485388"/>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91134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7535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40836"/>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film tient l'affiche onze semaines. Il y ... (être présenté) en premier.</a:t>
            </a:r>
          </a:p>
        </p:txBody>
      </p:sp>
      <p:sp>
        <p:nvSpPr>
          <p:cNvPr id="20" name="Rounded Rectangle 19"/>
          <p:cNvSpPr/>
          <p:nvPr/>
        </p:nvSpPr>
        <p:spPr>
          <a:xfrm>
            <a:off x="6159855" y="3485388"/>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91134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97535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640836"/>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Réal n'apparaît jamais aujourd'hui. Il ... (partir) un matin de novembre.</a:t>
            </a:r>
          </a:p>
        </p:txBody>
      </p:sp>
      <p:sp>
        <p:nvSpPr>
          <p:cNvPr id="24" name="Rounded Rectangle 23"/>
          <p:cNvSpPr/>
          <p:nvPr/>
        </p:nvSpPr>
        <p:spPr>
          <a:xfrm>
            <a:off x="566928" y="4831080"/>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570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210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986528"/>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mère n'en parlait plus. Elle ... (ranger) toutes les photos.</a:t>
            </a:r>
          </a:p>
        </p:txBody>
      </p:sp>
      <p:sp>
        <p:nvSpPr>
          <p:cNvPr id="28" name="Rounded Rectangle 27"/>
          <p:cNvSpPr/>
          <p:nvPr/>
        </p:nvSpPr>
        <p:spPr>
          <a:xfrm>
            <a:off x="6159855" y="4831080"/>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52570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53210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986528"/>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Thérèse ne comprend pas la scène. Elle n' ... (entendre) la phrase.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Mettez au plus-que-parfait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56565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62966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Estelle arrive le soir. Elle ... (prendre) l'autobus du matin.   </a:t>
            </a:r>
            <a:r>
              <a:rPr sz="1700" b="1" i="0">
                <a:solidFill>
                  <a:srgbClr val="07734A"/>
                </a:solidFill>
                <a:latin typeface="Verdana"/>
              </a:rPr>
              <a:t>» avait pris</a:t>
            </a:r>
          </a:p>
        </p:txBody>
      </p:sp>
      <p:sp>
        <p:nvSpPr>
          <p:cNvPr id="12" name="Rounded Rectangle 11"/>
          <p:cNvSpPr/>
          <p:nvPr/>
        </p:nvSpPr>
        <p:spPr>
          <a:xfrm>
            <a:off x="6159855" y="2139696"/>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56565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62966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Elle trouve la lettre. Quelqu'un l' ... (écrire) en 1978.   </a:t>
            </a:r>
            <a:r>
              <a:rPr sz="1700" b="1" i="0">
                <a:solidFill>
                  <a:srgbClr val="07734A"/>
                </a:solidFill>
                <a:latin typeface="Verdana"/>
              </a:rPr>
              <a:t>» avait écrite</a:t>
            </a:r>
          </a:p>
        </p:txBody>
      </p:sp>
      <p:sp>
        <p:nvSpPr>
          <p:cNvPr id="16" name="Rounded Rectangle 15"/>
          <p:cNvSpPr/>
          <p:nvPr/>
        </p:nvSpPr>
        <p:spPr>
          <a:xfrm>
            <a:off x="566928" y="3485388"/>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91134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7535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40836"/>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film tient l'affiche onze semaines. Il y ... (être présenté) en premier.   </a:t>
            </a:r>
            <a:r>
              <a:rPr sz="1700" b="1" i="0">
                <a:solidFill>
                  <a:srgbClr val="07734A"/>
                </a:solidFill>
                <a:latin typeface="Verdana"/>
              </a:rPr>
              <a:t>» avait été présenté</a:t>
            </a:r>
          </a:p>
        </p:txBody>
      </p:sp>
      <p:sp>
        <p:nvSpPr>
          <p:cNvPr id="20" name="Rounded Rectangle 19"/>
          <p:cNvSpPr/>
          <p:nvPr/>
        </p:nvSpPr>
        <p:spPr>
          <a:xfrm>
            <a:off x="6159855" y="3485388"/>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91134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97535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640836"/>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Réal n'apparaît jamais aujourd'hui. Il ... (partir) un matin de novembre.   </a:t>
            </a:r>
            <a:r>
              <a:rPr sz="1700" b="1" i="0">
                <a:solidFill>
                  <a:srgbClr val="07734A"/>
                </a:solidFill>
                <a:latin typeface="Verdana"/>
              </a:rPr>
              <a:t>» était parti</a:t>
            </a:r>
          </a:p>
        </p:txBody>
      </p:sp>
      <p:sp>
        <p:nvSpPr>
          <p:cNvPr id="24" name="Rounded Rectangle 23"/>
          <p:cNvSpPr/>
          <p:nvPr/>
        </p:nvSpPr>
        <p:spPr>
          <a:xfrm>
            <a:off x="566928" y="4831080"/>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570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210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986528"/>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mère n'en parlait plus. Elle ... (ranger) toutes les photos.   </a:t>
            </a:r>
            <a:r>
              <a:rPr sz="1700" b="1" i="0">
                <a:solidFill>
                  <a:srgbClr val="07734A"/>
                </a:solidFill>
                <a:latin typeface="Verdana"/>
              </a:rPr>
              <a:t>» avait rangé</a:t>
            </a:r>
          </a:p>
        </p:txBody>
      </p:sp>
      <p:sp>
        <p:nvSpPr>
          <p:cNvPr id="28" name="Rounded Rectangle 27"/>
          <p:cNvSpPr/>
          <p:nvPr/>
        </p:nvSpPr>
        <p:spPr>
          <a:xfrm>
            <a:off x="6159855" y="4831080"/>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52570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53210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986528"/>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Thérèse ne comprend pas la scène. Elle n' ... (entendre) la phrase.   </a:t>
            </a:r>
            <a:r>
              <a:rPr sz="1700" b="1" i="0">
                <a:solidFill>
                  <a:srgbClr val="07734A"/>
                </a:solidFill>
                <a:latin typeface="Verdana"/>
              </a:rPr>
              <a:t>» avait pas entendu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TOUT RACONTER AU PASSÉ COMPOSÉ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a pris l'autobus du matin, mais elle arrive le soir.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avait pris l'autobus du matin, mais elle arrive le soir.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Avec le passé composé, les deux actions paraissent au même moment, et le lecteur cherche pourquoi ça ne colle pas. À l'oral, le contexte fait le travail et personne ne s'en aperçoit ; à l'écrit, il n'y a pas de contexte, et c'est le verbe qui doit tout dire.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OÙ IL SERT VRAIMENT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endroits du module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Dans la bande-annonce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le village où elle avait grandi » : le passé du personnage.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Dans le film</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les quatre retours en arrière, que l'image montre et que le texte dit.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Dans la biographie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où il avait été présenté en premier » : une date avant une autre.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Dans ton résumé</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chaque fois que tu racontes un retour en arrière, en E2.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deux phrases : une au passé composé, une au plus-que-parfait.</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Par exemple : « J'ai déménagé en juin. J'avais visité l'appartement en mars. »</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Les deux phrases doivent se suivre.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 film, et ce qu'on en écrit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