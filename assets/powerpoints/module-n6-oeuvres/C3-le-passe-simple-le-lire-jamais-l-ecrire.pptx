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Troisième séance du Défi 2. Ouvrir en rassurant : personne ne demandera jamais d'écrire au passé simple, ni dans cette classe ni à l'examen. La séance sert à lire, et à lire seulement.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le seul vrai piège de la séance, et il coûte cher : une lettre, et quarante ans d'écart.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piste est celle qui surprend : non, ce n'est pas plus ancien. La différence est de registre, pas de sens, et beaucoup d'élèves croient le contraire.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Ne pas donner le tableau complet de conjugaison : il découragerait sans rien apporter.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phrase qui débloque la séance : les élèves cherchent une nuance de sens qui n'existe pas.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 redire au moment de la production écrite de E2 : un résumé de film s'écrit au présent ou au passé composé, jamais au passé simple.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items 3, 6 et 7 prennent l'auxiliaire « être » : les regrouper à la correction pour que la règle se voie trois fois de suite.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les deux formes l'une sous l'autre au tableau. La différence se voit mal à l'écran et bien sur un tableau.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carte est celle qui rassure le plus. La lire à voix haute et passer à la suite.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Les billets faux portent presque tous sur un verbe en -int : les reprendre en C4, en trente secondes.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C3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passé simple : le lire, jamais l'écrire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temps qu'on lit toute sa vie et qu'on ne dit jamais. Le programme du niveau 6 en demande une seule chose : le reconnaître, et l'associer au passé composé.</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 film, et ce qu'on en écrit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passé simple à la 3e personne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le traduire en passé composé dans sa tête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quatre terminaisons qui reviennent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ne pas confondre « elle vint » et « elle vient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Ces verbes, tu les dirais comment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naquit · elle entra · il fut · le public revint</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ces actions sont finies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qu'elles sont plus anciennes que « elle est née »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as-tu déjà rencontré ces formes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terminaisons, à la 3e personne</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TERMINAISON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LES VERBES</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-a</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elle tourna, elle quitta, elle entra</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-it</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elle partit, il finit, elle sortit</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-ut</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il fut, elle put, il voulut</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-int</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elle vint, il tint, elle revint</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au pluriel</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elles tournèrent, ils partirent, ils furent</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La 3e personne suffit : c'est la seule qu'on rencontre vraiment dans un texte.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SENS, EXACTEMENT</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passé simple dit la même chose que le passé composé.</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action finie, à un moment précis du passé. Rien de plus ancien, rien de plus solennel. La différence est de registre : l'un s'écrit, l'autre se parle. « Elle naquit » et « elle est née » racontent exactement le même fait.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CE QU'ON EN DEMANDE</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reconnaître et le traduire. Jamais l'écrire.</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Écrire un passé simple à ce stade est exactement ce qu'il ne faut pas faire : une forme inventée se voit tout de suite, et le passé composé est juste partout, tout le temps. Dans un courriel, un message ou une consigne, le passé simple ne s'emploie jamais.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GRAMMAIRE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Traduisez en passé composé</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Récrivez chaque verbe comme on le dirait à voix haute.</a:t>
            </a:r>
          </a:p>
        </p:txBody>
      </p:sp>
      <p:sp>
        <p:nvSpPr>
          <p:cNvPr id="8" name="Rounded Rectangle 7"/>
          <p:cNvSpPr/>
          <p:nvPr/>
        </p:nvSpPr>
        <p:spPr>
          <a:xfrm>
            <a:off x="566928" y="2139696"/>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9674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6075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elle naquit à Rimouski</a:t>
            </a:r>
          </a:p>
        </p:txBody>
      </p:sp>
      <p:sp>
        <p:nvSpPr>
          <p:cNvPr id="12" name="Rounded Rectangle 11"/>
          <p:cNvSpPr/>
          <p:nvPr/>
        </p:nvSpPr>
        <p:spPr>
          <a:xfrm>
            <a:off x="6159855" y="2139696"/>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39674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6075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elle quitta la Gaspésie</a:t>
            </a:r>
          </a:p>
        </p:txBody>
      </p:sp>
      <p:sp>
        <p:nvSpPr>
          <p:cNvPr id="16" name="Rounded Rectangle 15"/>
          <p:cNvSpPr/>
          <p:nvPr/>
        </p:nvSpPr>
        <p:spPr>
          <a:xfrm>
            <a:off x="566928" y="3147568"/>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4046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46862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303016"/>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elle entra dans une salle de montage</a:t>
            </a:r>
          </a:p>
        </p:txBody>
      </p:sp>
      <p:sp>
        <p:nvSpPr>
          <p:cNvPr id="20" name="Rounded Rectangle 19"/>
          <p:cNvSpPr/>
          <p:nvPr/>
        </p:nvSpPr>
        <p:spPr>
          <a:xfrm>
            <a:off x="6159855" y="3147568"/>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4046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46862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303016"/>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le film sortit en 1994</a:t>
            </a:r>
          </a:p>
        </p:txBody>
      </p:sp>
      <p:sp>
        <p:nvSpPr>
          <p:cNvPr id="24" name="Rounded Rectangle 23"/>
          <p:cNvSpPr/>
          <p:nvPr/>
        </p:nvSpPr>
        <p:spPr>
          <a:xfrm>
            <a:off x="566928" y="4155440"/>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4124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4764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310888"/>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la critique fut sévère</a:t>
            </a:r>
          </a:p>
        </p:txBody>
      </p:sp>
      <p:sp>
        <p:nvSpPr>
          <p:cNvPr id="28" name="Rounded Rectangle 27"/>
          <p:cNvSpPr/>
          <p:nvPr/>
        </p:nvSpPr>
        <p:spPr>
          <a:xfrm>
            <a:off x="6159855" y="4155440"/>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4124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4764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310888"/>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le public revint</a:t>
            </a:r>
          </a:p>
        </p:txBody>
      </p:sp>
      <p:sp>
        <p:nvSpPr>
          <p:cNvPr id="32" name="Rounded Rectangle 31"/>
          <p:cNvSpPr/>
          <p:nvPr/>
        </p:nvSpPr>
        <p:spPr>
          <a:xfrm>
            <a:off x="566928" y="5163312"/>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542036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548436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7</a:t>
            </a:r>
          </a:p>
        </p:txBody>
      </p:sp>
      <p:sp>
        <p:nvSpPr>
          <p:cNvPr id="35" name="TextBox 34"/>
          <p:cNvSpPr txBox="1"/>
          <p:nvPr/>
        </p:nvSpPr>
        <p:spPr>
          <a:xfrm>
            <a:off x="1344168" y="5318760"/>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elle y vint</a:t>
            </a:r>
          </a:p>
        </p:txBody>
      </p:sp>
      <p:sp>
        <p:nvSpPr>
          <p:cNvPr id="36" name="Rounded Rectangle 35"/>
          <p:cNvSpPr/>
          <p:nvPr/>
        </p:nvSpPr>
        <p:spPr>
          <a:xfrm>
            <a:off x="6159855" y="5163312"/>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434175" y="542036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34175" y="548436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8</a:t>
            </a:r>
          </a:p>
        </p:txBody>
      </p:sp>
      <p:sp>
        <p:nvSpPr>
          <p:cNvPr id="39" name="TextBox 38"/>
          <p:cNvSpPr txBox="1"/>
          <p:nvPr/>
        </p:nvSpPr>
        <p:spPr>
          <a:xfrm>
            <a:off x="6937095" y="5318760"/>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elle refusa de parler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Traduisez en passé composé</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9674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6075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elle naquit à Rimouski   </a:t>
            </a:r>
            <a:r>
              <a:rPr sz="1600" b="1" i="0">
                <a:solidFill>
                  <a:srgbClr val="07734A"/>
                </a:solidFill>
                <a:latin typeface="Verdana"/>
              </a:rPr>
              <a:t>» elle est née à Rimouski</a:t>
            </a:r>
          </a:p>
        </p:txBody>
      </p:sp>
      <p:sp>
        <p:nvSpPr>
          <p:cNvPr id="12" name="Rounded Rectangle 11"/>
          <p:cNvSpPr/>
          <p:nvPr/>
        </p:nvSpPr>
        <p:spPr>
          <a:xfrm>
            <a:off x="6159855" y="2139696"/>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39674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6075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elle quitta la Gaspésie   </a:t>
            </a:r>
            <a:r>
              <a:rPr sz="1600" b="1" i="0">
                <a:solidFill>
                  <a:srgbClr val="07734A"/>
                </a:solidFill>
                <a:latin typeface="Verdana"/>
              </a:rPr>
              <a:t>» elle a quitté la Gaspésie</a:t>
            </a:r>
          </a:p>
        </p:txBody>
      </p:sp>
      <p:sp>
        <p:nvSpPr>
          <p:cNvPr id="16" name="Rounded Rectangle 15"/>
          <p:cNvSpPr/>
          <p:nvPr/>
        </p:nvSpPr>
        <p:spPr>
          <a:xfrm>
            <a:off x="566928" y="3147568"/>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4046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46862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303016"/>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elle entra dans une salle de montage   </a:t>
            </a:r>
            <a:r>
              <a:rPr sz="1600" b="1" i="0">
                <a:solidFill>
                  <a:srgbClr val="07734A"/>
                </a:solidFill>
                <a:latin typeface="Verdana"/>
              </a:rPr>
              <a:t>» elle est entrée dans une salle de montage</a:t>
            </a:r>
          </a:p>
        </p:txBody>
      </p:sp>
      <p:sp>
        <p:nvSpPr>
          <p:cNvPr id="20" name="Rounded Rectangle 19"/>
          <p:cNvSpPr/>
          <p:nvPr/>
        </p:nvSpPr>
        <p:spPr>
          <a:xfrm>
            <a:off x="6159855" y="3147568"/>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4046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46862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303016"/>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le film sortit en 1994   </a:t>
            </a:r>
            <a:r>
              <a:rPr sz="1600" b="1" i="0">
                <a:solidFill>
                  <a:srgbClr val="07734A"/>
                </a:solidFill>
                <a:latin typeface="Verdana"/>
              </a:rPr>
              <a:t>» le film est sorti en 1994</a:t>
            </a:r>
          </a:p>
        </p:txBody>
      </p:sp>
      <p:sp>
        <p:nvSpPr>
          <p:cNvPr id="24" name="Rounded Rectangle 23"/>
          <p:cNvSpPr/>
          <p:nvPr/>
        </p:nvSpPr>
        <p:spPr>
          <a:xfrm>
            <a:off x="566928" y="4155440"/>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4124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4764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310888"/>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la critique fut sévère   </a:t>
            </a:r>
            <a:r>
              <a:rPr sz="1600" b="1" i="0">
                <a:solidFill>
                  <a:srgbClr val="07734A"/>
                </a:solidFill>
                <a:latin typeface="Verdana"/>
              </a:rPr>
              <a:t>» la critique a été sévère</a:t>
            </a:r>
          </a:p>
        </p:txBody>
      </p:sp>
      <p:sp>
        <p:nvSpPr>
          <p:cNvPr id="28" name="Rounded Rectangle 27"/>
          <p:cNvSpPr/>
          <p:nvPr/>
        </p:nvSpPr>
        <p:spPr>
          <a:xfrm>
            <a:off x="6159855" y="4155440"/>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4124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4764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310888"/>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le public revint   </a:t>
            </a:r>
            <a:r>
              <a:rPr sz="1600" b="1" i="0">
                <a:solidFill>
                  <a:srgbClr val="07734A"/>
                </a:solidFill>
                <a:latin typeface="Verdana"/>
              </a:rPr>
              <a:t>» le public est revenu</a:t>
            </a:r>
          </a:p>
        </p:txBody>
      </p:sp>
      <p:sp>
        <p:nvSpPr>
          <p:cNvPr id="32" name="Rounded Rectangle 31"/>
          <p:cNvSpPr/>
          <p:nvPr/>
        </p:nvSpPr>
        <p:spPr>
          <a:xfrm>
            <a:off x="566928" y="5163312"/>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542036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548436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7</a:t>
            </a:r>
          </a:p>
        </p:txBody>
      </p:sp>
      <p:sp>
        <p:nvSpPr>
          <p:cNvPr id="35" name="TextBox 34"/>
          <p:cNvSpPr txBox="1"/>
          <p:nvPr/>
        </p:nvSpPr>
        <p:spPr>
          <a:xfrm>
            <a:off x="1344168" y="5318760"/>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elle y vint   </a:t>
            </a:r>
            <a:r>
              <a:rPr sz="1600" b="1" i="0">
                <a:solidFill>
                  <a:srgbClr val="07734A"/>
                </a:solidFill>
                <a:latin typeface="Verdana"/>
              </a:rPr>
              <a:t>» elle y est venue</a:t>
            </a:r>
          </a:p>
        </p:txBody>
      </p:sp>
      <p:sp>
        <p:nvSpPr>
          <p:cNvPr id="36" name="Rounded Rectangle 35"/>
          <p:cNvSpPr/>
          <p:nvPr/>
        </p:nvSpPr>
        <p:spPr>
          <a:xfrm>
            <a:off x="6159855" y="5163312"/>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434175" y="542036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34175" y="548436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8</a:t>
            </a:r>
          </a:p>
        </p:txBody>
      </p:sp>
      <p:sp>
        <p:nvSpPr>
          <p:cNvPr id="39" name="TextBox 38"/>
          <p:cNvSpPr txBox="1"/>
          <p:nvPr/>
        </p:nvSpPr>
        <p:spPr>
          <a:xfrm>
            <a:off x="6937095" y="5318760"/>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elle refusa de parler   </a:t>
            </a:r>
            <a:r>
              <a:rPr sz="1600" b="1" i="0">
                <a:solidFill>
                  <a:srgbClr val="07734A"/>
                </a:solidFill>
                <a:latin typeface="Verdana"/>
              </a:rPr>
              <a:t>» elle a refusé de parler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LIRE « ELLE VINT » COMME « ELLE VIENT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Elle vint à la rétrospective : elle vient à la rétrospective.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Elle vint à la rétrospective : elle est venue à la rétrospective.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seule lettre, et quarante ans d'écart. Dans une biographie, c'est presque toujours le passé — mais la seule façon d'en être sûr est de regarder la date de la phrase. Ici, 2016 : elle est venue, et c'est fini.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OÙ VOUS LE RENCONTREREZ</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Et où vous ne le verrez jamais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Dans les biographies</a:t>
            </a:r>
          </a:p>
        </p:txBody>
      </p:sp>
      <p:sp>
        <p:nvSpPr>
          <p:cNvPr id="9" name="TextBox 8"/>
          <p:cNvSpPr txBox="1"/>
          <p:nvPr/>
        </p:nvSpPr>
        <p:spPr>
          <a:xfrm>
            <a:off x="886968"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celle de la feuille verte en est pleine, du premier au dernier verbe.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Dans les romans et les contes</a:t>
            </a:r>
          </a:p>
        </p:txBody>
      </p:sp>
      <p:sp>
        <p:nvSpPr>
          <p:cNvPr id="12" name="TextBox 11"/>
          <p:cNvSpPr txBox="1"/>
          <p:nvPr/>
        </p:nvSpPr>
        <p:spPr>
          <a:xfrm>
            <a:off x="6498183"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c'est le temps du récit écrit, en français comme dans les traductions.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Dans les documentaires</a:t>
            </a:r>
          </a:p>
        </p:txBody>
      </p:sp>
      <p:sp>
        <p:nvSpPr>
          <p:cNvPr id="15" name="TextBox 14"/>
          <p:cNvSpPr txBox="1"/>
          <p:nvPr/>
        </p:nvSpPr>
        <p:spPr>
          <a:xfrm>
            <a:off x="886968"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voix hors champ le lit ; elle ne l'improvise jamais.</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Jamais dans un courriel</a:t>
            </a:r>
          </a:p>
        </p:txBody>
      </p:sp>
      <p:sp>
        <p:nvSpPr>
          <p:cNvPr id="18" name="TextBox 17"/>
          <p:cNvSpPr txBox="1"/>
          <p:nvPr/>
        </p:nvSpPr>
        <p:spPr>
          <a:xfrm>
            <a:off x="6498183"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ni dans un message, ni dans une consigne, ni dans une conversation.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Recopie un verbe au passé simple de la feuille verte, et traduis-le.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 verbe, et sa version parlée.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Par exemple : « elle apprit » - « elle a appris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Un film, et ce qu'on en écrit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