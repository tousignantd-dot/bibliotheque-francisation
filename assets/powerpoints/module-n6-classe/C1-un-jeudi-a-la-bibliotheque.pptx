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Le dialogue fait vingt et une répliques et il est construit comme une leçon dans la leçon : la bibliothécaire pose deux questions à chaque document, toujours les mêmes.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— « qu'est-ce que cette personne veut ? » — est celle qui manque le plus souvent, et c'est elle qui rend un travail honnête.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— n'en choisir aucun et écrire pourquoi ils diffèrent — n'apparaît presque jamais spontanément. La laisser venir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noter les deux questions au tableau et les y laisser toute la séance. Tout le reste s'y rapporte.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temps du défi 2 apparaissent ici : le passé simple et le plus-que-parfait. Ils seront travaillés en C5 ; ici, il s'agit de les entendre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réplique la plus importante du module. La faire reformuler par deux élèves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Relier explicitement à la ligne « contenu » de la grille, vue en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transformer deux phrases d'opinion mal présentées,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`t2vf` du module. La troisième affirmation prépare le plus-que-parfait de la séance C5.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Les équipes qui n'ont pas encore de source le disent ici, et il reste assez de temps pour les aider.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jeudi à la bibliothèque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documents sur le même sujet, et pas un qui dise la même chose que l'autre. Aucun ne ment : ils ne font pas le même travail.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à un document les deux questions qui comptent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source de faits d'une source d'opinions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le titre, l'auteur et la date pendant qu'on lit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peut recopier, et comment.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Trois documents disent trois choses différentes. Lequel croire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plus récent ? Le plus officiel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vraiment en choisir un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feriez-vous des deux autres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questions par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quelles sont les deux questions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68792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DANIÈLE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0613" y="2322576"/>
            <a:ext cx="845551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Alors, l'équipe du bac brun. Vous avez apporté ce que vous avez trouvé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36316"/>
            <a:ext cx="168792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MILAGROS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0613" y="3036316"/>
            <a:ext cx="845551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documents. Mais plus on les lit, moins on comprend.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85463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50056"/>
            <a:ext cx="1687925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DANIÈLE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0613" y="3750056"/>
            <a:ext cx="8455513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bon signe. Étalez-les. On va les regarder un par un, et je vais vous poser à chaque fois les deux mêmes questions : qui parle, et qu'est-ce que cette personne veut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068316"/>
            <a:ext cx="168792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0613" y="5068316"/>
            <a:ext cx="845551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premier vient du site de la ville. C'est une page qui explique la collecte : ce qu'on met dans le bac, ce qu'on n'y met pas, et pourquoi.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page de la ville, et le bulletin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écoute : quels temps de verbe sont nommés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129284"/>
          </a:xfrm>
          <a:prstGeom prst="roundRect">
            <a:avLst>
              <a:gd name="adj" fmla="val 1295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87925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DANIÈLE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0613" y="2322576"/>
            <a:ext cx="8455513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veut que la collecte fonctionne. Ce n'est pas un défaut, c'est un fait à savoir : cette page vous donnera très bien la liste des matières acceptées, et elle ne vous dira jamais ce qui a mal marché la première année.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34156"/>
            <a:ext cx="168792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MILAGROS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0613" y="3534156"/>
            <a:ext cx="8455513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deuxième, c'est un article du bulletin municipal. Il raconte l'histoire de la collecte. C'est écrit d'une drôle de façon : « le conseil adopta le règlement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14444"/>
            <a:ext cx="11057839" cy="862584"/>
          </a:xfrm>
          <a:prstGeom prst="roundRect">
            <a:avLst>
              <a:gd name="adj" fmla="val 1696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79035"/>
            <a:ext cx="168792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DANIÈLE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0613" y="4479035"/>
            <a:ext cx="8455513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passé simple. On ne le parle jamais et on l'écrit encore souvent, dans les historiques surtout. Traduisez-le en passé composé dans votre tête et continuez.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423915"/>
            <a:ext cx="168792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MILAGROS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0613" y="5423915"/>
            <a:ext cx="8455513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J'ai buté sur une phrase. « La ville avait distribué les bacs en avril, mais la collecte ne commença qu'en juin.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lettre, et ce qu'on en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Troisième écoute : que faut-il faire des contradictions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68792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0613" y="2322576"/>
            <a:ext cx="8455513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troisième, c'est une lettre. Une dame écrit au bulletin pour dire que le compostage ne sert à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02864"/>
            <a:ext cx="11057839" cy="862584"/>
          </a:xfrm>
          <a:prstGeom prst="roundRect">
            <a:avLst>
              <a:gd name="adj" fmla="val 1696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267456"/>
            <a:ext cx="168792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DANIÈLE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0613" y="3267456"/>
            <a:ext cx="8455513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veut convaincre. Ce n'est pas une source de faits, c'est une source d'opinions — et vous en avez besoin, à condition de la présenter pour ce qu'elle 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12336"/>
            <a:ext cx="1687925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MILAGROS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0613" y="4212336"/>
            <a:ext cx="8455513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Mais alors, laquelle des trois a raison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25924"/>
            <a:ext cx="11057839" cy="862584"/>
          </a:xfrm>
          <a:prstGeom prst="roundRect">
            <a:avLst>
              <a:gd name="adj" fmla="val 1696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90515"/>
            <a:ext cx="168792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DANIÈLE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0613" y="4890515"/>
            <a:ext cx="8455513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Aucune ne ment. Vous les mettez côte à côte, vous notez à quel endroit elles se contredisent, et vous l'écrivez. C'est ça, votre travail — pas de choisir un gagnant.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documents,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page de la ville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explique une règle et veut qu'elle soit suivie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l'article du bulletin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raconte ce qui est arrivé, avec des 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lettre au journal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 un avis et veut convaincre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 ne ment. Les présenter pour ce qu'ils sont vaut huit points sur vingt.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OPINION S'ANNONCE COMME UNE OPINION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Selon une lectrice du bulletin, la collecte ne fonctionne pas » — jamais « il est prouvé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exactement ce que la grille appelle « distinguer ce qu'un document affirme de ce que l'équipe en pense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au besoin,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se demander qui parle et ce que cette personne veut.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bulletin est écrit au passé simple parce que c'est un historique.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bacs sont arrivés en même temps que la collecte a commencé.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de la lectrice est une source de faits.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doit choisir laquelle des trois a raison.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note le titre, l'auteur et la date pendant qu'on 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se demander qui parle et ce que cette personne veut.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bulletin est écrit au passé simple parce que c'est un historique.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bacs sont arrivés en même temps que la collecte a commencé.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: deux mois avant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lettre de la lectrice est une source de faits.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: d'opinions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doit choisir laquelle des trois a 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: elle écrit pourquoi elles diffèrent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note le titre, l'auteur et la date pendant qu'on lit.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 une de tes sources et dis ce qu'elle veut.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parle ? Qu'est-ce que cette personne ou cet organisme veut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