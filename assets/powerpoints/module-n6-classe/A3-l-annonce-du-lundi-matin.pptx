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d'écoute. Le dialogue fait vingt et une répliques : prévoir trois écoutes complètes et ne pas s'excuser de la longueur — au niveau 6, le programme vise des discours détaillés et structurés.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distinction consigne / conseil est le point difficile : « prenez celui qui vous fâche » est un conseil, « trois sources au minimum » est une obligation.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Recueillir trois réponses, les noter au tableau, et y revenir à la fin de la séance. Presque toujours, personne ne propose de lire la consigne au complet.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Quatre répliques par page : au-delà, le corps du texte descend au plancher et la diapositive ne se lit plus du fond de la classe.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relever à l'oral : trois semaines, trois personnes, huit sujets, cinq minutes. Quatre chiffres, tous dits une seule fois.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 cœur du module. Les sources qui se contredisent ne sont pas un problème à résoudre : ce sont elles qui donnent au travail quelque chose à dire.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Demander pourquoi le dernier conseil coûte cher : la réponse arrive à la séance B1.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l'exercice `prVF` du module. La quatrième affirmation est celle qui divise : y revenir même si le groupe répond juste.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minutes. Les réponses se partagent presque toujours entre l'échéance et les trois sources ; les deux sont bonnes, et la comparaison lance la séance suivante.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A3  ·  MODULE 10</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L'annonce du lundi matin</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enseignante annonce un travail de recherche. En trois minutes, elle donne le nombre de personnes, le nombre de sources, la durée de l'exposé et une échéance. Tout est dit une fois.</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Un travail de recherche en équipe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Un travail de recherche en équipe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suivre une annonce longue sans en perdre le fil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relever les chiffres qu'on ne dit qu'une fois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ce qui est une consigne et ce qui est un conseil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pourquoi trois sources valent mieux qu'une.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Un travail de recherche en équipe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AVANT D'ÉCOUTER</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Que feriez-vous en premier, si on vous annonçait ça ce matin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Choisir le sujet ? Chercher tout de suite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Avec qui vous mettriez-vous, et pourquoi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que vous voudriez savoir avant de commencer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Un travail de recherche en équipe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ÉCOUTE 1</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L'annonce, premières répliques</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Première écoute : ne rien noter, seulement écouter.</a:t>
            </a:r>
          </a:p>
        </p:txBody>
      </p:sp>
      <p:sp>
        <p:nvSpPr>
          <p:cNvPr id="8" name="TextBox 7"/>
          <p:cNvSpPr txBox="1"/>
          <p:nvPr/>
        </p:nvSpPr>
        <p:spPr>
          <a:xfrm>
            <a:off x="932688" y="2322576"/>
            <a:ext cx="1687925" cy="694944"/>
          </a:xfrm>
          <a:prstGeom prst="rect">
            <a:avLst/>
          </a:prstGeom>
          <a:noFill/>
        </p:spPr>
        <p:txBody>
          <a:bodyPr wrap="square" lIns="0" rIns="0" tIns="0" bIns="0" anchor="t">
            <a:spAutoFit/>
          </a:bodyPr>
          <a:lstStyle/>
          <a:p>
            <a:pPr algn="l">
              <a:lnSpc>
                <a:spcPct val="135000"/>
              </a:lnSpc>
            </a:pPr>
            <a:r>
              <a:rPr sz="1800" b="1" i="0">
                <a:solidFill>
                  <a:srgbClr val="1D6B8F"/>
                </a:solidFill>
                <a:latin typeface="Verdana"/>
              </a:rPr>
              <a:t>MIREILLE</a:t>
            </a:r>
          </a:p>
        </p:txBody>
      </p:sp>
      <p:sp>
        <p:nvSpPr>
          <p:cNvPr id="9" name="TextBox 8"/>
          <p:cNvSpPr txBox="1"/>
          <p:nvPr/>
        </p:nvSpPr>
        <p:spPr>
          <a:xfrm>
            <a:off x="2620613" y="2322576"/>
            <a:ext cx="8455513" cy="694944"/>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Avant qu'on ouvre le cahier, j'ai quelque chose à vous annoncer, et j'aime autant vous le dire tout de suite : ça va durer trois semaines.</a:t>
            </a:r>
          </a:p>
        </p:txBody>
      </p:sp>
      <p:sp>
        <p:nvSpPr>
          <p:cNvPr id="10" name="TextBox 9"/>
          <p:cNvSpPr txBox="1"/>
          <p:nvPr/>
        </p:nvSpPr>
        <p:spPr>
          <a:xfrm>
            <a:off x="932688" y="3374136"/>
            <a:ext cx="1687925" cy="374904"/>
          </a:xfrm>
          <a:prstGeom prst="rect">
            <a:avLst/>
          </a:prstGeom>
          <a:noFill/>
        </p:spPr>
        <p:txBody>
          <a:bodyPr wrap="square" lIns="0" rIns="0" tIns="0" bIns="0" anchor="t">
            <a:spAutoFit/>
          </a:bodyPr>
          <a:lstStyle/>
          <a:p>
            <a:pPr algn="l">
              <a:lnSpc>
                <a:spcPct val="135000"/>
              </a:lnSpc>
            </a:pPr>
            <a:r>
              <a:rPr sz="1800" b="1" i="0">
                <a:solidFill>
                  <a:srgbClr val="1D6B8F"/>
                </a:solidFill>
                <a:latin typeface="Verdana"/>
              </a:rPr>
              <a:t>MILAGROS</a:t>
            </a:r>
          </a:p>
        </p:txBody>
      </p:sp>
      <p:sp>
        <p:nvSpPr>
          <p:cNvPr id="11" name="TextBox 10"/>
          <p:cNvSpPr txBox="1"/>
          <p:nvPr/>
        </p:nvSpPr>
        <p:spPr>
          <a:xfrm>
            <a:off x="2620613" y="3374136"/>
            <a:ext cx="8455513" cy="374904"/>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Trois semaines de quoi, madame ?</a:t>
            </a:r>
          </a:p>
        </p:txBody>
      </p:sp>
      <p:sp>
        <p:nvSpPr>
          <p:cNvPr id="12" name="Rounded Rectangle 11"/>
          <p:cNvSpPr/>
          <p:nvPr/>
        </p:nvSpPr>
        <p:spPr>
          <a:xfrm>
            <a:off x="566928" y="3941063"/>
            <a:ext cx="11057839" cy="1289303"/>
          </a:xfrm>
          <a:prstGeom prst="roundRect">
            <a:avLst>
              <a:gd name="adj" fmla="val 11347"/>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4105655"/>
            <a:ext cx="1687925" cy="1014983"/>
          </a:xfrm>
          <a:prstGeom prst="rect">
            <a:avLst/>
          </a:prstGeom>
          <a:noFill/>
        </p:spPr>
        <p:txBody>
          <a:bodyPr wrap="square" lIns="0" rIns="0" tIns="0" bIns="0" anchor="t">
            <a:spAutoFit/>
          </a:bodyPr>
          <a:lstStyle/>
          <a:p>
            <a:pPr algn="l">
              <a:lnSpc>
                <a:spcPct val="135000"/>
              </a:lnSpc>
            </a:pPr>
            <a:r>
              <a:rPr sz="1800" b="1" i="0">
                <a:solidFill>
                  <a:srgbClr val="1D6B8F"/>
                </a:solidFill>
                <a:latin typeface="Verdana"/>
              </a:rPr>
              <a:t>MIREILLE</a:t>
            </a:r>
          </a:p>
        </p:txBody>
      </p:sp>
      <p:sp>
        <p:nvSpPr>
          <p:cNvPr id="14" name="TextBox 13"/>
          <p:cNvSpPr txBox="1"/>
          <p:nvPr/>
        </p:nvSpPr>
        <p:spPr>
          <a:xfrm>
            <a:off x="2620613" y="4105655"/>
            <a:ext cx="8455513" cy="1014983"/>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D'un travail de recherche. En équipe de trois. Chaque équipe choisit un sujet dans une liste, cherche de l'information, écrit un court texte et vient présenter ce qu'elle a trouvé devant la classe.</a:t>
            </a:r>
          </a:p>
        </p:txBody>
      </p:sp>
      <p:sp>
        <p:nvSpPr>
          <p:cNvPr id="15" name="TextBox 14"/>
          <p:cNvSpPr txBox="1"/>
          <p:nvPr/>
        </p:nvSpPr>
        <p:spPr>
          <a:xfrm>
            <a:off x="932688" y="5477255"/>
            <a:ext cx="1687925" cy="374904"/>
          </a:xfrm>
          <a:prstGeom prst="rect">
            <a:avLst/>
          </a:prstGeom>
          <a:noFill/>
        </p:spPr>
        <p:txBody>
          <a:bodyPr wrap="square" lIns="0" rIns="0" tIns="0" bIns="0" anchor="t">
            <a:spAutoFit/>
          </a:bodyPr>
          <a:lstStyle/>
          <a:p>
            <a:pPr algn="l">
              <a:lnSpc>
                <a:spcPct val="135000"/>
              </a:lnSpc>
            </a:pPr>
            <a:r>
              <a:rPr sz="1800" b="1" i="0">
                <a:solidFill>
                  <a:srgbClr val="1D6B8F"/>
                </a:solidFill>
                <a:latin typeface="Verdana"/>
              </a:rPr>
              <a:t>YOUSSEF</a:t>
            </a:r>
          </a:p>
        </p:txBody>
      </p:sp>
      <p:sp>
        <p:nvSpPr>
          <p:cNvPr id="16" name="TextBox 15"/>
          <p:cNvSpPr txBox="1"/>
          <p:nvPr/>
        </p:nvSpPr>
        <p:spPr>
          <a:xfrm>
            <a:off x="2620613" y="5477255"/>
            <a:ext cx="8455513" cy="374904"/>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Un exposé ? Devant tout le monde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Un travail de recherche en équipe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ÉCOUTE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qu'on attend vraiment</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Deuxième écoute : notez les chiffres.</a:t>
            </a:r>
          </a:p>
        </p:txBody>
      </p:sp>
      <p:sp>
        <p:nvSpPr>
          <p:cNvPr id="8" name="Rounded Rectangle 7"/>
          <p:cNvSpPr/>
          <p:nvPr/>
        </p:nvSpPr>
        <p:spPr>
          <a:xfrm>
            <a:off x="566928" y="2157984"/>
            <a:ext cx="11057839" cy="1129284"/>
          </a:xfrm>
          <a:prstGeom prst="roundRect">
            <a:avLst>
              <a:gd name="adj" fmla="val 12955"/>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687925" cy="854963"/>
          </a:xfrm>
          <a:prstGeom prst="rect">
            <a:avLst/>
          </a:prstGeom>
          <a:noFill/>
        </p:spPr>
        <p:txBody>
          <a:bodyPr wrap="square" lIns="0" rIns="0" tIns="0" bIns="0" anchor="t">
            <a:spAutoFit/>
          </a:bodyPr>
          <a:lstStyle/>
          <a:p>
            <a:pPr algn="l">
              <a:lnSpc>
                <a:spcPct val="135000"/>
              </a:lnSpc>
            </a:pPr>
            <a:r>
              <a:rPr sz="1500" b="1" i="0">
                <a:solidFill>
                  <a:srgbClr val="1D6B8F"/>
                </a:solidFill>
                <a:latin typeface="Verdana"/>
              </a:rPr>
              <a:t>MIREILLE</a:t>
            </a:r>
          </a:p>
        </p:txBody>
      </p:sp>
      <p:sp>
        <p:nvSpPr>
          <p:cNvPr id="10" name="TextBox 9"/>
          <p:cNvSpPr txBox="1"/>
          <p:nvPr/>
        </p:nvSpPr>
        <p:spPr>
          <a:xfrm>
            <a:off x="2620613" y="2322576"/>
            <a:ext cx="8455513" cy="854963"/>
          </a:xfrm>
          <a:prstGeom prst="rect">
            <a:avLst/>
          </a:prstGeom>
          <a:noFill/>
        </p:spPr>
        <p:txBody>
          <a:bodyPr wrap="square" lIns="0" rIns="0" tIns="0" bIns="0" anchor="t">
            <a:spAutoFit/>
          </a:bodyPr>
          <a:lstStyle/>
          <a:p>
            <a:pPr algn="l">
              <a:lnSpc>
                <a:spcPct val="140000"/>
              </a:lnSpc>
            </a:pPr>
            <a:r>
              <a:rPr sz="1500" b="0" i="0">
                <a:solidFill>
                  <a:srgbClr val="3A3D40"/>
                </a:solidFill>
                <a:latin typeface="Verdana"/>
              </a:rPr>
              <a:t>Un compte rendu, plutôt. Cinq minutes par équipe. Ce n'est pas un concours : personne ne va vous demander d'être drôle. On veut savoir ce que vous avez trouvé et d'où ça vient.</a:t>
            </a:r>
          </a:p>
        </p:txBody>
      </p:sp>
      <p:sp>
        <p:nvSpPr>
          <p:cNvPr id="11" name="TextBox 10"/>
          <p:cNvSpPr txBox="1"/>
          <p:nvPr/>
        </p:nvSpPr>
        <p:spPr>
          <a:xfrm>
            <a:off x="932688" y="3534156"/>
            <a:ext cx="1687925" cy="588264"/>
          </a:xfrm>
          <a:prstGeom prst="rect">
            <a:avLst/>
          </a:prstGeom>
          <a:noFill/>
        </p:spPr>
        <p:txBody>
          <a:bodyPr wrap="square" lIns="0" rIns="0" tIns="0" bIns="0" anchor="t">
            <a:spAutoFit/>
          </a:bodyPr>
          <a:lstStyle/>
          <a:p>
            <a:pPr algn="l">
              <a:lnSpc>
                <a:spcPct val="135000"/>
              </a:lnSpc>
            </a:pPr>
            <a:r>
              <a:rPr sz="1500" b="1" i="0">
                <a:solidFill>
                  <a:srgbClr val="1D6B8F"/>
                </a:solidFill>
                <a:latin typeface="Verdana"/>
              </a:rPr>
              <a:t>MILAGROS</a:t>
            </a:r>
          </a:p>
        </p:txBody>
      </p:sp>
      <p:sp>
        <p:nvSpPr>
          <p:cNvPr id="12" name="TextBox 11"/>
          <p:cNvSpPr txBox="1"/>
          <p:nvPr/>
        </p:nvSpPr>
        <p:spPr>
          <a:xfrm>
            <a:off x="2620613" y="3534156"/>
            <a:ext cx="8455513" cy="588264"/>
          </a:xfrm>
          <a:prstGeom prst="rect">
            <a:avLst/>
          </a:prstGeom>
          <a:noFill/>
        </p:spPr>
        <p:txBody>
          <a:bodyPr wrap="square" lIns="0" rIns="0" tIns="0" bIns="0" anchor="t">
            <a:spAutoFit/>
          </a:bodyPr>
          <a:lstStyle/>
          <a:p>
            <a:pPr algn="l">
              <a:lnSpc>
                <a:spcPct val="140000"/>
              </a:lnSpc>
            </a:pPr>
            <a:r>
              <a:rPr sz="1500" b="0" i="0">
                <a:solidFill>
                  <a:srgbClr val="3A3D40"/>
                </a:solidFill>
                <a:latin typeface="Verdana"/>
              </a:rPr>
              <a:t>Et le sujet, on le choisit vraiment ? Ou bien il est déjà choisi et vous nous laissez croire qu'on choisit ?</a:t>
            </a:r>
          </a:p>
        </p:txBody>
      </p:sp>
      <p:sp>
        <p:nvSpPr>
          <p:cNvPr id="13" name="TextBox 12"/>
          <p:cNvSpPr txBox="1"/>
          <p:nvPr/>
        </p:nvSpPr>
        <p:spPr>
          <a:xfrm>
            <a:off x="932688" y="4479035"/>
            <a:ext cx="1687925" cy="854963"/>
          </a:xfrm>
          <a:prstGeom prst="rect">
            <a:avLst/>
          </a:prstGeom>
          <a:noFill/>
        </p:spPr>
        <p:txBody>
          <a:bodyPr wrap="square" lIns="0" rIns="0" tIns="0" bIns="0" anchor="t">
            <a:spAutoFit/>
          </a:bodyPr>
          <a:lstStyle/>
          <a:p>
            <a:pPr algn="l">
              <a:lnSpc>
                <a:spcPct val="135000"/>
              </a:lnSpc>
            </a:pPr>
            <a:r>
              <a:rPr sz="1500" b="1" i="0">
                <a:solidFill>
                  <a:srgbClr val="1D6B8F"/>
                </a:solidFill>
                <a:latin typeface="Verdana"/>
              </a:rPr>
              <a:t>MIREILLE</a:t>
            </a:r>
          </a:p>
        </p:txBody>
      </p:sp>
      <p:sp>
        <p:nvSpPr>
          <p:cNvPr id="14" name="TextBox 13"/>
          <p:cNvSpPr txBox="1"/>
          <p:nvPr/>
        </p:nvSpPr>
        <p:spPr>
          <a:xfrm>
            <a:off x="2620613" y="4479035"/>
            <a:ext cx="8455513" cy="854963"/>
          </a:xfrm>
          <a:prstGeom prst="rect">
            <a:avLst/>
          </a:prstGeom>
          <a:noFill/>
        </p:spPr>
        <p:txBody>
          <a:bodyPr wrap="square" lIns="0" rIns="0" tIns="0" bIns="0" anchor="t">
            <a:spAutoFit/>
          </a:bodyPr>
          <a:lstStyle/>
          <a:p>
            <a:pPr algn="l">
              <a:lnSpc>
                <a:spcPct val="140000"/>
              </a:lnSpc>
            </a:pPr>
            <a:r>
              <a:rPr sz="1500" b="0" i="0">
                <a:solidFill>
                  <a:srgbClr val="3A3D40"/>
                </a:solidFill>
                <a:latin typeface="Verdana"/>
              </a:rPr>
              <a:t>Vous choisissez vraiment. Il y a huit sujets sur la feuille et ils touchent tous la ville : la collecte des matières organiques, le transport en commun, les bibliothèques de quartier, l'eau potable…</a:t>
            </a:r>
          </a:p>
        </p:txBody>
      </p:sp>
      <p:sp>
        <p:nvSpPr>
          <p:cNvPr id="15" name="TextBox 14"/>
          <p:cNvSpPr txBox="1"/>
          <p:nvPr/>
        </p:nvSpPr>
        <p:spPr>
          <a:xfrm>
            <a:off x="932688" y="5690615"/>
            <a:ext cx="1687925" cy="321563"/>
          </a:xfrm>
          <a:prstGeom prst="rect">
            <a:avLst/>
          </a:prstGeom>
          <a:noFill/>
        </p:spPr>
        <p:txBody>
          <a:bodyPr wrap="square" lIns="0" rIns="0" tIns="0" bIns="0" anchor="t">
            <a:spAutoFit/>
          </a:bodyPr>
          <a:lstStyle/>
          <a:p>
            <a:pPr algn="l">
              <a:lnSpc>
                <a:spcPct val="135000"/>
              </a:lnSpc>
            </a:pPr>
            <a:r>
              <a:rPr sz="1500" b="1" i="0">
                <a:solidFill>
                  <a:srgbClr val="1D6B8F"/>
                </a:solidFill>
                <a:latin typeface="Verdana"/>
              </a:rPr>
              <a:t>MIREILLE</a:t>
            </a:r>
          </a:p>
        </p:txBody>
      </p:sp>
      <p:sp>
        <p:nvSpPr>
          <p:cNvPr id="16" name="TextBox 15"/>
          <p:cNvSpPr txBox="1"/>
          <p:nvPr/>
        </p:nvSpPr>
        <p:spPr>
          <a:xfrm>
            <a:off x="2620613" y="5690615"/>
            <a:ext cx="8455513" cy="321563"/>
          </a:xfrm>
          <a:prstGeom prst="rect">
            <a:avLst/>
          </a:prstGeom>
          <a:noFill/>
        </p:spPr>
        <p:txBody>
          <a:bodyPr wrap="square" lIns="0" rIns="0" tIns="0" bIns="0" anchor="t">
            <a:spAutoFit/>
          </a:bodyPr>
          <a:lstStyle/>
          <a:p>
            <a:pPr algn="l">
              <a:lnSpc>
                <a:spcPct val="140000"/>
              </a:lnSpc>
            </a:pPr>
            <a:r>
              <a:rPr sz="1500" b="0" i="0">
                <a:solidFill>
                  <a:srgbClr val="3A3D40"/>
                </a:solidFill>
                <a:latin typeface="Verdana"/>
              </a:rPr>
              <a:t>Prenez celui qui vous fâche ou celui qui vous intrigue, ça revient au même.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Un travail de recherche en équipe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ÉCOUTE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sources, et ce qu'on en fait</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Troisième écoute : qu'est-ce qui est demandé, exactement ?</a:t>
            </a:r>
          </a:p>
        </p:txBody>
      </p:sp>
      <p:sp>
        <p:nvSpPr>
          <p:cNvPr id="8" name="Rounded Rectangle 7"/>
          <p:cNvSpPr/>
          <p:nvPr/>
        </p:nvSpPr>
        <p:spPr>
          <a:xfrm>
            <a:off x="566928" y="2157984"/>
            <a:ext cx="11057839" cy="898144"/>
          </a:xfrm>
          <a:prstGeom prst="roundRect">
            <a:avLst>
              <a:gd name="adj" fmla="val 16289"/>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548669" cy="623824"/>
          </a:xfrm>
          <a:prstGeom prst="rect">
            <a:avLst/>
          </a:prstGeom>
          <a:noFill/>
        </p:spPr>
        <p:txBody>
          <a:bodyPr wrap="square" lIns="0" rIns="0" tIns="0" bIns="0" anchor="t">
            <a:spAutoFit/>
          </a:bodyPr>
          <a:lstStyle/>
          <a:p>
            <a:pPr algn="l">
              <a:lnSpc>
                <a:spcPct val="135000"/>
              </a:lnSpc>
            </a:pPr>
            <a:r>
              <a:rPr sz="1600" b="1" i="0">
                <a:solidFill>
                  <a:srgbClr val="1D6B8F"/>
                </a:solidFill>
                <a:latin typeface="Verdana"/>
              </a:rPr>
              <a:t>MIREILLE</a:t>
            </a:r>
          </a:p>
        </p:txBody>
      </p:sp>
      <p:sp>
        <p:nvSpPr>
          <p:cNvPr id="10" name="TextBox 9"/>
          <p:cNvSpPr txBox="1"/>
          <p:nvPr/>
        </p:nvSpPr>
        <p:spPr>
          <a:xfrm>
            <a:off x="2481357" y="2322576"/>
            <a:ext cx="8594769" cy="623824"/>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Vous aurez trois sources au minimum, et pas trois fois la même. Madame Ouimet, à la bibliothèque du centre, vous montrera comment on juge une source.</a:t>
            </a:r>
          </a:p>
        </p:txBody>
      </p:sp>
      <p:sp>
        <p:nvSpPr>
          <p:cNvPr id="11" name="TextBox 10"/>
          <p:cNvSpPr txBox="1"/>
          <p:nvPr/>
        </p:nvSpPr>
        <p:spPr>
          <a:xfrm>
            <a:off x="932688" y="3303016"/>
            <a:ext cx="1548669" cy="339344"/>
          </a:xfrm>
          <a:prstGeom prst="rect">
            <a:avLst/>
          </a:prstGeom>
          <a:noFill/>
        </p:spPr>
        <p:txBody>
          <a:bodyPr wrap="square" lIns="0" rIns="0" tIns="0" bIns="0" anchor="t">
            <a:spAutoFit/>
          </a:bodyPr>
          <a:lstStyle/>
          <a:p>
            <a:pPr algn="l">
              <a:lnSpc>
                <a:spcPct val="135000"/>
              </a:lnSpc>
            </a:pPr>
            <a:r>
              <a:rPr sz="1600" b="1" i="0">
                <a:solidFill>
                  <a:srgbClr val="1D6B8F"/>
                </a:solidFill>
                <a:latin typeface="Verdana"/>
              </a:rPr>
              <a:t>YOUSSEF</a:t>
            </a:r>
          </a:p>
        </p:txBody>
      </p:sp>
      <p:sp>
        <p:nvSpPr>
          <p:cNvPr id="12" name="TextBox 11"/>
          <p:cNvSpPr txBox="1"/>
          <p:nvPr/>
        </p:nvSpPr>
        <p:spPr>
          <a:xfrm>
            <a:off x="2481357" y="3303016"/>
            <a:ext cx="8594769" cy="339344"/>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Et si les trois ne disent pas la même chose ?</a:t>
            </a:r>
          </a:p>
        </p:txBody>
      </p:sp>
      <p:sp>
        <p:nvSpPr>
          <p:cNvPr id="13" name="Rounded Rectangle 12"/>
          <p:cNvSpPr/>
          <p:nvPr/>
        </p:nvSpPr>
        <p:spPr>
          <a:xfrm>
            <a:off x="566928" y="3834384"/>
            <a:ext cx="11057839" cy="898144"/>
          </a:xfrm>
          <a:prstGeom prst="roundRect">
            <a:avLst>
              <a:gd name="adj" fmla="val 16289"/>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998975"/>
            <a:ext cx="1548669" cy="623824"/>
          </a:xfrm>
          <a:prstGeom prst="rect">
            <a:avLst/>
          </a:prstGeom>
          <a:noFill/>
        </p:spPr>
        <p:txBody>
          <a:bodyPr wrap="square" lIns="0" rIns="0" tIns="0" bIns="0" anchor="t">
            <a:spAutoFit/>
          </a:bodyPr>
          <a:lstStyle/>
          <a:p>
            <a:pPr algn="l">
              <a:lnSpc>
                <a:spcPct val="135000"/>
              </a:lnSpc>
            </a:pPr>
            <a:r>
              <a:rPr sz="1600" b="1" i="0">
                <a:solidFill>
                  <a:srgbClr val="1D6B8F"/>
                </a:solidFill>
                <a:latin typeface="Verdana"/>
              </a:rPr>
              <a:t>MIREILLE</a:t>
            </a:r>
          </a:p>
        </p:txBody>
      </p:sp>
      <p:sp>
        <p:nvSpPr>
          <p:cNvPr id="15" name="TextBox 14"/>
          <p:cNvSpPr txBox="1"/>
          <p:nvPr/>
        </p:nvSpPr>
        <p:spPr>
          <a:xfrm>
            <a:off x="2481357" y="3998975"/>
            <a:ext cx="8594769" cy="623824"/>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Alors vous aurez enfin quelque chose à écrire. Un travail où tout le monde est d'accord n'apprend rien à personne.</a:t>
            </a:r>
          </a:p>
        </p:txBody>
      </p:sp>
      <p:sp>
        <p:nvSpPr>
          <p:cNvPr id="16" name="TextBox 15"/>
          <p:cNvSpPr txBox="1"/>
          <p:nvPr/>
        </p:nvSpPr>
        <p:spPr>
          <a:xfrm>
            <a:off x="932688" y="4979415"/>
            <a:ext cx="1548669" cy="623824"/>
          </a:xfrm>
          <a:prstGeom prst="rect">
            <a:avLst/>
          </a:prstGeom>
          <a:noFill/>
        </p:spPr>
        <p:txBody>
          <a:bodyPr wrap="square" lIns="0" rIns="0" tIns="0" bIns="0" anchor="t">
            <a:spAutoFit/>
          </a:bodyPr>
          <a:lstStyle/>
          <a:p>
            <a:pPr algn="l">
              <a:lnSpc>
                <a:spcPct val="135000"/>
              </a:lnSpc>
            </a:pPr>
            <a:r>
              <a:rPr sz="1600" b="1" i="0">
                <a:solidFill>
                  <a:srgbClr val="1D6B8F"/>
                </a:solidFill>
                <a:latin typeface="Verdana"/>
              </a:rPr>
              <a:t>MIREILLE</a:t>
            </a:r>
          </a:p>
        </p:txBody>
      </p:sp>
      <p:sp>
        <p:nvSpPr>
          <p:cNvPr id="17" name="TextBox 16"/>
          <p:cNvSpPr txBox="1"/>
          <p:nvPr/>
        </p:nvSpPr>
        <p:spPr>
          <a:xfrm>
            <a:off x="2481357" y="4979415"/>
            <a:ext cx="8594769" cy="623824"/>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Ce que je veux lire, c'est : voici ce que dit l'un, voici ce que dit l'autre, et voici pourquoi ils ne s'entendent pas.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Un travail de recherche en équipe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Consigne ou conseil ?</a:t>
            </a:r>
          </a:p>
        </p:txBody>
      </p:sp>
      <p:sp>
        <p:nvSpPr>
          <p:cNvPr id="7" name="Rounded Rectangle 6"/>
          <p:cNvSpPr/>
          <p:nvPr/>
        </p:nvSpPr>
        <p:spPr>
          <a:xfrm>
            <a:off x="566928" y="1810512"/>
            <a:ext cx="11057839" cy="3253740"/>
          </a:xfrm>
          <a:prstGeom prst="roundRect">
            <a:avLst>
              <a:gd name="adj" fmla="val 449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QUI EST DIT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 ÇA VAUT</a:t>
            </a:r>
          </a:p>
        </p:txBody>
      </p:sp>
      <p:sp>
        <p:nvSpPr>
          <p:cNvPr id="10" name="TextBox 9"/>
          <p:cNvSpPr txBox="1"/>
          <p:nvPr/>
        </p:nvSpPr>
        <p:spPr>
          <a:xfrm>
            <a:off x="932688" y="2395728"/>
            <a:ext cx="3291492"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équipe de trois</a:t>
            </a:r>
          </a:p>
        </p:txBody>
      </p:sp>
      <p:sp>
        <p:nvSpPr>
          <p:cNvPr id="11" name="TextBox 10"/>
          <p:cNvSpPr txBox="1"/>
          <p:nvPr/>
        </p:nvSpPr>
        <p:spPr>
          <a:xfrm>
            <a:off x="4443636" y="2395728"/>
            <a:ext cx="6595914" cy="321564"/>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consigne : ce n'est pas négociable</a:t>
            </a:r>
          </a:p>
        </p:txBody>
      </p:sp>
      <p:sp>
        <p:nvSpPr>
          <p:cNvPr id="12" name="Rectangle 11"/>
          <p:cNvSpPr/>
          <p:nvPr/>
        </p:nvSpPr>
        <p:spPr>
          <a:xfrm>
            <a:off x="932688" y="279044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18460"/>
            <a:ext cx="3291492"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trois sources au moins</a:t>
            </a:r>
          </a:p>
        </p:txBody>
      </p:sp>
      <p:sp>
        <p:nvSpPr>
          <p:cNvPr id="14" name="TextBox 13"/>
          <p:cNvSpPr txBox="1"/>
          <p:nvPr/>
        </p:nvSpPr>
        <p:spPr>
          <a:xfrm>
            <a:off x="4443636" y="2918460"/>
            <a:ext cx="6595914" cy="321564"/>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consigne : c'est un minimum chiffré</a:t>
            </a:r>
          </a:p>
        </p:txBody>
      </p:sp>
      <p:sp>
        <p:nvSpPr>
          <p:cNvPr id="15" name="Rectangle 14"/>
          <p:cNvSpPr/>
          <p:nvPr/>
        </p:nvSpPr>
        <p:spPr>
          <a:xfrm>
            <a:off x="932688" y="331317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41192"/>
            <a:ext cx="3291492"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cinq minutes par équipe</a:t>
            </a:r>
          </a:p>
        </p:txBody>
      </p:sp>
      <p:sp>
        <p:nvSpPr>
          <p:cNvPr id="17" name="TextBox 16"/>
          <p:cNvSpPr txBox="1"/>
          <p:nvPr/>
        </p:nvSpPr>
        <p:spPr>
          <a:xfrm>
            <a:off x="4443636" y="3441192"/>
            <a:ext cx="6595914" cy="321564"/>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consigne : le temps est compté</a:t>
            </a:r>
          </a:p>
        </p:txBody>
      </p:sp>
      <p:sp>
        <p:nvSpPr>
          <p:cNvPr id="18" name="Rectangle 17"/>
          <p:cNvSpPr/>
          <p:nvPr/>
        </p:nvSpPr>
        <p:spPr>
          <a:xfrm>
            <a:off x="932688" y="38359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963924"/>
            <a:ext cx="3291492"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prenez ce qui vous fâche</a:t>
            </a:r>
          </a:p>
        </p:txBody>
      </p:sp>
      <p:sp>
        <p:nvSpPr>
          <p:cNvPr id="20" name="TextBox 19"/>
          <p:cNvSpPr txBox="1"/>
          <p:nvPr/>
        </p:nvSpPr>
        <p:spPr>
          <a:xfrm>
            <a:off x="4443636" y="3963924"/>
            <a:ext cx="6595914" cy="321564"/>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conseil : personne ne vérifiera</a:t>
            </a:r>
          </a:p>
        </p:txBody>
      </p:sp>
      <p:sp>
        <p:nvSpPr>
          <p:cNvPr id="21" name="Rectangle 20"/>
          <p:cNvSpPr/>
          <p:nvPr/>
        </p:nvSpPr>
        <p:spPr>
          <a:xfrm>
            <a:off x="932688" y="435864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486656"/>
            <a:ext cx="3291492"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lisez la feuille ce soir</a:t>
            </a:r>
          </a:p>
        </p:txBody>
      </p:sp>
      <p:sp>
        <p:nvSpPr>
          <p:cNvPr id="23" name="TextBox 22"/>
          <p:cNvSpPr txBox="1"/>
          <p:nvPr/>
        </p:nvSpPr>
        <p:spPr>
          <a:xfrm>
            <a:off x="4443636" y="4486656"/>
            <a:ext cx="6595914" cy="321564"/>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conseil, mais celui qui coûte le plus cher</a:t>
            </a:r>
          </a:p>
        </p:txBody>
      </p:sp>
      <p:sp>
        <p:nvSpPr>
          <p:cNvPr id="24" name="Rounded Rectangle 23"/>
          <p:cNvSpPr/>
          <p:nvPr/>
        </p:nvSpPr>
        <p:spPr>
          <a:xfrm>
            <a:off x="566928" y="5301996"/>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69264" y="5558028"/>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Un conseil n'oblige à rien — et c'est pourtant celui-là qui décide de la note.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Un travail de recherche en équipe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PRATIQUE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Réécoutez au besoin, puis répondez.</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travail de recherche se fait seul.</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Chaque équipe choisit son sujet dans une liste de huit.</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faut trois sources, et pas trois fois la même.</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Si les sources se contredisent, il faut en enlever une.</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grille d'évaluation est donnée avec la consigne.</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compte rendu dure vingt minutes.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Un travail de recherche en équipe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travail de recherche se fait seul.   </a:t>
            </a:r>
            <a:r>
              <a:rPr sz="1400" b="1" i="0">
                <a:solidFill>
                  <a:srgbClr val="07734A"/>
                </a:solidFill>
                <a:latin typeface="Verdana"/>
              </a:rPr>
              <a:t>» faux : en équipe de trois</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Chaque équipe choisit son sujet dans une liste de huit.   </a:t>
            </a:r>
            <a:r>
              <a:rPr sz="1400" b="1" i="0">
                <a:solidFill>
                  <a:srgbClr val="07734A"/>
                </a:solidFill>
                <a:latin typeface="Verdana"/>
              </a:rPr>
              <a:t>» vrai</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faut trois sources, et pas trois fois la même.   </a:t>
            </a:r>
            <a:r>
              <a:rPr sz="1400" b="1" i="0">
                <a:solidFill>
                  <a:srgbClr val="07734A"/>
                </a:solidFill>
                <a:latin typeface="Verdana"/>
              </a:rPr>
              <a:t>» vrai</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Si les sources se contredisent, il faut en enlever une.   </a:t>
            </a:r>
            <a:r>
              <a:rPr sz="1400" b="1" i="0">
                <a:solidFill>
                  <a:srgbClr val="07734A"/>
                </a:solidFill>
                <a:latin typeface="Verdana"/>
              </a:rPr>
              <a:t>» faux : il faut l'écrire</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grille d'évaluation est donnée avec la consigne.   </a:t>
            </a:r>
            <a:r>
              <a:rPr sz="1400" b="1" i="0">
                <a:solidFill>
                  <a:srgbClr val="07734A"/>
                </a:solidFill>
                <a:latin typeface="Verdana"/>
              </a:rPr>
              <a:t>» vrai</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compte rendu dure vingt minutes.   </a:t>
            </a:r>
            <a:r>
              <a:rPr sz="1400" b="1" i="0">
                <a:solidFill>
                  <a:srgbClr val="07734A"/>
                </a:solidFill>
                <a:latin typeface="Verdana"/>
              </a:rPr>
              <a:t>» faux : cinq minutes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Un travail de recherche en équipe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Écris la phrase de l'annonce qui te semble la plus importante.</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Puis, en dessous : pourquoi celle-là ?</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Deux phrases en tout, pas plus.</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Un travail de recherche en équipe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