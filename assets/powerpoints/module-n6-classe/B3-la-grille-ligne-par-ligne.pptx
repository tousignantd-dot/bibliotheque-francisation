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d'adultes n'ont jamais vu une grille d'évaluation avant leur note. Le dire : ce n'est pas une faveur qu'on leur fait, c'est la façon normale de travailler.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point vaut la séance à lui seul : l'accent et la vitesse ne sont évalués nulle part, et cette inquiétude fait taire des adultes qui auraient beaucoup à dire.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Noter les réponses au tableau et les comparer à la grille. L'écart est le vrai contenu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note du bas est celle que les élèves retiennent le mieux, et elle change l'ambiance des équipes.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chercher le mot de la ligne « langue » : il n'y en a pas un seul, et c'est justement ce qui rend cette ligne la moins claire.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 n'est pas un conseil pour travailler moins : c'est un conseil pour ne pas remettre deux semaines de travail habillées en dix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`t1grille` du module, du type `texte`. En classe, faire surligner les cinq passages sur la feuille de grille distribuée.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dire lentement et une seule fois. C'est souvent la phrase la plus utile de tout le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Les réponses honnêtes sont presque toujours « organisation » : c'est le moment de rappeler que ces quatre points-là se gagnent en vingt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B3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grille, ligne par ligne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lignes, vingt points. Lue avant d'écrire, une grille dit où mettre son temps ; lue après la note, elle ne fait qu'expliquer ce qu'on ne peut plus changer.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travail de recherche en équipe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grille avant d'écrire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dans chaque ligne le mot qui décide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répartir son temps selon le barème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 n'est jamais évalué.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POUR COMMENCER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000" b="1" i="0">
                <a:solidFill>
                  <a:srgbClr val="17181A"/>
                </a:solidFill>
                <a:latin typeface="Verdana"/>
              </a:rPr>
              <a:t>Sur quoi croyez-vous qu'un travail écrit est noté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nombre de pages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nombre de fautes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Autre chose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Vingt points, quatre lignes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DEMANDE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Contenu — 8</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rapporter les sources et distinguer le fait de l'avis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Sources — 4</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trois sources nommées, avec leur date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Langue — 4</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phrase, les accords, la ponctuation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Organisation — 4</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paragraphe par idée, des mots qui relient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note va à chaque personne selon sa partie, pas à l'équipe en bloc.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CHAQUE LIGNE CONTIENT UN MOT QUI DÉCIDE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Contenu : distingue. Sources : nommée. Organisation : relient.</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Soulignez ce mot-là. C'est lui que la personne qui corrige cherchera dans votre texte, et rien d'autre.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mettre son temps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FAIT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RAPPORTE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lire et comparer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8 points, et deux semaines de travail</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nommer ses sources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points, quelques minutes par source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relire sa langue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points, une heure à trois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découper et aérer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points, vingt minutes le dernier soir</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quatre derniers points sont les moins chers du barème — et les plus souvent perdus.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le passage qui répond</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question, dites où se trouve la réponse dans la grille.</a:t>
            </a:r>
          </a:p>
        </p:txBody>
      </p:sp>
      <p:sp>
        <p:nvSpPr>
          <p:cNvPr id="8" name="Rounded Rectangle 7"/>
          <p:cNvSpPr/>
          <p:nvPr/>
        </p:nvSpPr>
        <p:spPr>
          <a:xfrm>
            <a:off x="566928" y="2139696"/>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4561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962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Sur combien de points ?</a:t>
            </a:r>
          </a:p>
        </p:txBody>
      </p:sp>
      <p:sp>
        <p:nvSpPr>
          <p:cNvPr id="12" name="Rounded Rectangle 11"/>
          <p:cNvSpPr/>
          <p:nvPr/>
        </p:nvSpPr>
        <p:spPr>
          <a:xfrm>
            <a:off x="566928" y="2845307"/>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512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152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00755"/>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Que demande la ligne contenu ?</a:t>
            </a:r>
          </a:p>
        </p:txBody>
      </p:sp>
      <p:sp>
        <p:nvSpPr>
          <p:cNvPr id="16" name="Rounded Rectangle 15"/>
          <p:cNvSpPr/>
          <p:nvPr/>
        </p:nvSpPr>
        <p:spPr>
          <a:xfrm>
            <a:off x="566928" y="3550920"/>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568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7208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706368"/>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Quelles conditions pour les sources ?</a:t>
            </a:r>
          </a:p>
        </p:txBody>
      </p:sp>
      <p:sp>
        <p:nvSpPr>
          <p:cNvPr id="20" name="Rounded Rectangle 19"/>
          <p:cNvSpPr/>
          <p:nvPr/>
        </p:nvSpPr>
        <p:spPr>
          <a:xfrm>
            <a:off x="566928" y="4256532"/>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6245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2645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4119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Qu'est-ce qui est évalué en langue ?</a:t>
            </a:r>
          </a:p>
        </p:txBody>
      </p:sp>
      <p:sp>
        <p:nvSpPr>
          <p:cNvPr id="24" name="Rounded Rectangle 23"/>
          <p:cNvSpPr/>
          <p:nvPr/>
        </p:nvSpPr>
        <p:spPr>
          <a:xfrm>
            <a:off x="566928" y="4962144"/>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0141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26542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117592"/>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Comment gagner les points d'organisation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le passage qui répond</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4561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962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Sur combien de points ?   </a:t>
            </a:r>
            <a:r>
              <a:rPr sz="1500" b="1" i="0">
                <a:solidFill>
                  <a:srgbClr val="07734A"/>
                </a:solidFill>
                <a:latin typeface="Verdana"/>
              </a:rPr>
              <a:t>» « Le travail est noté sur vingt points »</a:t>
            </a:r>
          </a:p>
        </p:txBody>
      </p:sp>
      <p:sp>
        <p:nvSpPr>
          <p:cNvPr id="12" name="Rounded Rectangle 11"/>
          <p:cNvSpPr/>
          <p:nvPr/>
        </p:nvSpPr>
        <p:spPr>
          <a:xfrm>
            <a:off x="566928" y="2845307"/>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512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152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00755"/>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Que demande la ligne contenu ?   </a:t>
            </a:r>
            <a:r>
              <a:rPr sz="1500" b="1" i="0">
                <a:solidFill>
                  <a:srgbClr val="07734A"/>
                </a:solidFill>
                <a:latin typeface="Verdana"/>
              </a:rPr>
              <a:t>» « rapporte ce que disent ses sources et distingue »</a:t>
            </a:r>
          </a:p>
        </p:txBody>
      </p:sp>
      <p:sp>
        <p:nvSpPr>
          <p:cNvPr id="16" name="Rounded Rectangle 15"/>
          <p:cNvSpPr/>
          <p:nvPr/>
        </p:nvSpPr>
        <p:spPr>
          <a:xfrm>
            <a:off x="566928" y="3550920"/>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568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7208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706368"/>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Quelles conditions pour les sources ?   </a:t>
            </a:r>
            <a:r>
              <a:rPr sz="1500" b="1" i="0">
                <a:solidFill>
                  <a:srgbClr val="07734A"/>
                </a:solidFill>
                <a:latin typeface="Verdana"/>
              </a:rPr>
              <a:t>» « trois au moins, de genres différents, nommées »</a:t>
            </a:r>
          </a:p>
        </p:txBody>
      </p:sp>
      <p:sp>
        <p:nvSpPr>
          <p:cNvPr id="20" name="Rounded Rectangle 19"/>
          <p:cNvSpPr/>
          <p:nvPr/>
        </p:nvSpPr>
        <p:spPr>
          <a:xfrm>
            <a:off x="566928" y="4256532"/>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6245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2645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4119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Qu'est-ce qui est évalué en langue ?   </a:t>
            </a:r>
            <a:r>
              <a:rPr sz="1500" b="1" i="0">
                <a:solidFill>
                  <a:srgbClr val="07734A"/>
                </a:solidFill>
                <a:latin typeface="Verdana"/>
              </a:rPr>
              <a:t>» « la construction de la phrase, les accords, la ponctuation »</a:t>
            </a:r>
          </a:p>
        </p:txBody>
      </p:sp>
      <p:sp>
        <p:nvSpPr>
          <p:cNvPr id="24" name="Rounded Rectangle 23"/>
          <p:cNvSpPr/>
          <p:nvPr/>
        </p:nvSpPr>
        <p:spPr>
          <a:xfrm>
            <a:off x="566928" y="4962144"/>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0141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26542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117592"/>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Comment gagner les points d'organisation ?   </a:t>
            </a:r>
            <a:r>
              <a:rPr sz="1500" b="1" i="0">
                <a:solidFill>
                  <a:srgbClr val="07734A"/>
                </a:solidFill>
                <a:latin typeface="Verdana"/>
              </a:rPr>
              <a:t>» « un paragraphe par idée, un blanc, des mots qui relient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ÉVALUATION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s'inquiéter de son accent avant de remettre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relire ce que la grille évalue vraiment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L'accent n'est évalué nulle part, ni dans cette grille ni dans aucun critère du programme. La vitesse non plus. Un exposé lent et clair vaut mieux qu'un exposé rapide, et la ligne « langue » ne parle que de phrases, d'accords et de ponctuation.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Sur quelle ligne de la grille ton équipe va-t-elle perdre des points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Nomme la ligne, puis dis ce que vous allez faire pour l'éviter.</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Deux phrases.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travail de recherche en équipe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