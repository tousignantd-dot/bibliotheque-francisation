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grammaire du texte, la plus utile du module hors de la classe : elle sert dans une lettre, une critique, un compte rendu. Les items font deux phrases, prévoir plus de temps qu'à l'habitude.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quatrième objectif est celui qui distingue un texte de niveau 7 : la substitution lexicale ajoute un jugement, et c'est là que passe l'opinion dans une critique.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dernier point est la séance : deux noms devant, un pronom derrière, et le lecteur ne sait plus. C'est ce qu'on appelle la reprise floue.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 deuxième cas surprend : un pronom qui remplace toute une phrase, et non un nom.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Beaucoup d'élèves cherchent le référent et croient avoir manqué une phrase. Les rassurer : il n'y en a pas.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deuxième carte est la plus importante pour D2 : c'est ainsi qu'une critique fait passer son opinion sans jamais l'annoncer.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Erreur très fréquente à l'écrit et jamais à l'oral, où le contexte et le regard suffisent. La montrer sur un texte d'élève de A4, anonymement.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`t2repr` du module, qui en compte dix. Faire relire les deux phrases ensemble à voix haute : la première décide, et l'oreille tranche mieux que la règle.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Dix minutes, puis lecture croisée en dyades. Le contrôle est simple : le mot « film » ne doit plus apparaître qu'une fois.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Les billets où la reprise est floue se repèrent en trois secondes et font une excellente ouverture pour C4.</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C3  ·  MODULE 9</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Ils, le, en : reprendre sans répéter</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texte tient par ses reprises. C'est ce qui sépare une suite de phrases d'un texte, et c'est aussi ce qui rend un texte impossible à suivre quand la reprise est floue.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 que j'en pense, et pourquoi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retrouver ce qu'un pronom reprend dans la phrase précédente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le « ils » qui ne reprend personne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 le » pour une phrase entière, « en » pour un groupe en de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reprendre par un autre mot plutôt que par un pronom.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PRÉPARATION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 se passe-t-il si l'on répète le nom à chaque phrase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Lisez tout haut : « Le film... Le film... Le film...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correct, alors pourquoi est-ce insupportable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si l'on met un pronom partout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Quand un pronom devient-il dangereux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façons de reprendre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PROCÉDÉ</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UN EXEMPLE DE LA CHANSON</a:t>
            </a:r>
          </a:p>
        </p:txBody>
      </p:sp>
      <p:sp>
        <p:nvSpPr>
          <p:cNvPr id="10" name="TextBox 9"/>
          <p:cNvSpPr txBox="1"/>
          <p:nvPr/>
        </p:nvSpPr>
        <p:spPr>
          <a:xfrm>
            <a:off x="932688" y="2395728"/>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pronom</a:t>
            </a:r>
          </a:p>
        </p:txBody>
      </p:sp>
      <p:sp>
        <p:nvSpPr>
          <p:cNvPr id="11" name="TextBox 10"/>
          <p:cNvSpPr txBox="1"/>
          <p:nvPr/>
        </p:nvSpPr>
        <p:spPr>
          <a:xfrm>
            <a:off x="4443636" y="2395728"/>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rampe est neuve, ils l'ont refaite</a:t>
            </a:r>
          </a:p>
        </p:txBody>
      </p:sp>
      <p:sp>
        <p:nvSpPr>
          <p:cNvPr id="12" name="Rectangle 11"/>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35224"/>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 le » pour une phrase</a:t>
            </a:r>
          </a:p>
        </p:txBody>
      </p:sp>
      <p:sp>
        <p:nvSpPr>
          <p:cNvPr id="14" name="TextBox 13"/>
          <p:cNvSpPr txBox="1"/>
          <p:nvPr/>
        </p:nvSpPr>
        <p:spPr>
          <a:xfrm>
            <a:off x="4443636" y="2935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j'avais dit l'an prochain, je l'ai dit neuf fois</a:t>
            </a:r>
          </a:p>
        </p:txBody>
      </p:sp>
      <p:sp>
        <p:nvSpPr>
          <p:cNvPr id="15" name="Rectangle 14"/>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74720"/>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 en » pour un « de »</a:t>
            </a:r>
          </a:p>
        </p:txBody>
      </p:sp>
      <p:sp>
        <p:nvSpPr>
          <p:cNvPr id="17" name="TextBox 16"/>
          <p:cNvSpPr txBox="1"/>
          <p:nvPr/>
        </p:nvSpPr>
        <p:spPr>
          <a:xfrm>
            <a:off x="4443636" y="3474720"/>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elle parle de son escalier, elle en parle tout le temps</a:t>
            </a:r>
          </a:p>
        </p:txBody>
      </p:sp>
      <p:sp>
        <p:nvSpPr>
          <p:cNvPr id="18" name="Rectangle 17"/>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014215"/>
            <a:ext cx="3291492" cy="338328"/>
          </a:xfrm>
          <a:prstGeom prst="rect">
            <a:avLst/>
          </a:prstGeom>
          <a:noFill/>
        </p:spPr>
        <p:txBody>
          <a:bodyPr wrap="square" lIns="0" rIns="0" tIns="0" bIns="0" anchor="t">
            <a:spAutoFit/>
          </a:bodyPr>
          <a:lstStyle/>
          <a:p>
            <a:pPr algn="l">
              <a:lnSpc>
                <a:spcPct val="132000"/>
              </a:lnSpc>
            </a:pPr>
            <a:r>
              <a:rPr sz="1800" b="1" i="0">
                <a:solidFill>
                  <a:srgbClr val="B45309"/>
                </a:solidFill>
                <a:latin typeface="Verdana"/>
              </a:rPr>
              <a:t>Un autre mot</a:t>
            </a:r>
          </a:p>
        </p:txBody>
      </p:sp>
      <p:sp>
        <p:nvSpPr>
          <p:cNvPr id="20" name="TextBox 19"/>
          <p:cNvSpPr txBox="1"/>
          <p:nvPr/>
        </p:nvSpPr>
        <p:spPr>
          <a:xfrm>
            <a:off x="4443636" y="4014215"/>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la chanson, la pièce, ce refrain-là, l'œuvre</a:t>
            </a:r>
          </a:p>
        </p:txBody>
      </p:sp>
      <p:sp>
        <p:nvSpPr>
          <p:cNvPr id="21" name="Rounded Rectangle 20"/>
          <p:cNvSpPr/>
          <p:nvPr/>
        </p:nvSpPr>
        <p:spPr>
          <a:xfrm>
            <a:off x="566928" y="4846320"/>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69264" y="5102352"/>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Cherchez la préposition du verbe : « de » appelle en, un lieu appelle 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 ILS » DU FRANÇAIS NE REPREND PAS TOUJOURS QUELQU'UN</a:t>
            </a:r>
          </a:p>
        </p:txBody>
      </p:sp>
      <p:sp>
        <p:nvSpPr>
          <p:cNvPr id="6" name="Rounded Rectangle 5"/>
          <p:cNvSpPr/>
          <p:nvPr/>
        </p:nvSpPr>
        <p:spPr>
          <a:xfrm>
            <a:off x="566928" y="1225296"/>
            <a:ext cx="11057839" cy="2494788"/>
          </a:xfrm>
          <a:prstGeom prst="roundRect">
            <a:avLst>
              <a:gd name="adj" fmla="val 586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 Ils ont encore augmenté le loyer » : personne n'a été nommé, et tout le monde comprend.</a:t>
            </a:r>
          </a:p>
        </p:txBody>
      </p:sp>
      <p:sp>
        <p:nvSpPr>
          <p:cNvPr id="8" name="Rounded Rectangle 7"/>
          <p:cNvSpPr/>
          <p:nvPr/>
        </p:nvSpPr>
        <p:spPr>
          <a:xfrm>
            <a:off x="566928" y="3994404"/>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Il désigne ceux qui décident et qu'on ne rencontre pas. Ce n'est pas une faute, c'est un emploi courant — et dans la chanson, c'est un choix : nommer le propriétaire en aurait fait une plainte.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Reprendre par un autre mot</a:t>
            </a:r>
          </a:p>
        </p:txBody>
      </p:sp>
      <p:sp>
        <p:nvSpPr>
          <p:cNvPr id="7" name="Rounded Rectangle 6"/>
          <p:cNvSpPr/>
          <p:nvPr/>
        </p:nvSpPr>
        <p:spPr>
          <a:xfrm>
            <a:off x="566928" y="1810512"/>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Neutre</a:t>
            </a:r>
          </a:p>
        </p:txBody>
      </p:sp>
      <p:sp>
        <p:nvSpPr>
          <p:cNvPr id="9" name="TextBox 8"/>
          <p:cNvSpPr txBox="1"/>
          <p:nvPr/>
        </p:nvSpPr>
        <p:spPr>
          <a:xfrm>
            <a:off x="886968" y="2349500"/>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le film, le long métrage, l'œuvre</a:t>
            </a:r>
          </a:p>
        </p:txBody>
      </p:sp>
      <p:sp>
        <p:nvSpPr>
          <p:cNvPr id="10" name="Rounded Rectangle 9"/>
          <p:cNvSpPr/>
          <p:nvPr/>
        </p:nvSpPr>
        <p:spPr>
          <a:xfrm>
            <a:off x="566928" y="2919222"/>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86968" y="3193541"/>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Avec un jugement</a:t>
            </a:r>
          </a:p>
        </p:txBody>
      </p:sp>
      <p:sp>
        <p:nvSpPr>
          <p:cNvPr id="12" name="TextBox 11"/>
          <p:cNvSpPr txBox="1"/>
          <p:nvPr/>
        </p:nvSpPr>
        <p:spPr>
          <a:xfrm>
            <a:off x="886968" y="3458209"/>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cette petite merveille, ce long métrage bavard</a:t>
            </a:r>
          </a:p>
        </p:txBody>
      </p:sp>
      <p:sp>
        <p:nvSpPr>
          <p:cNvPr id="13" name="Rounded Rectangle 12"/>
          <p:cNvSpPr/>
          <p:nvPr/>
        </p:nvSpPr>
        <p:spPr>
          <a:xfrm>
            <a:off x="566928" y="4027931"/>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1"/>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Plus général</a:t>
            </a:r>
          </a:p>
        </p:txBody>
      </p:sp>
      <p:sp>
        <p:nvSpPr>
          <p:cNvPr id="15" name="TextBox 14"/>
          <p:cNvSpPr txBox="1"/>
          <p:nvPr/>
        </p:nvSpPr>
        <p:spPr>
          <a:xfrm>
            <a:off x="886968" y="4566920"/>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pièce, le spectacle, l'ouvrage</a:t>
            </a:r>
          </a:p>
        </p:txBody>
      </p:sp>
      <p:sp>
        <p:nvSpPr>
          <p:cNvPr id="16" name="Rounded Rectangle 15"/>
          <p:cNvSpPr/>
          <p:nvPr/>
        </p:nvSpPr>
        <p:spPr>
          <a:xfrm>
            <a:off x="566928" y="5136642"/>
            <a:ext cx="11057839" cy="944118"/>
          </a:xfrm>
          <a:prstGeom prst="roundRect">
            <a:avLst>
              <a:gd name="adj" fmla="val 15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86968" y="5410962"/>
            <a:ext cx="10417759" cy="237236"/>
          </a:xfrm>
          <a:prstGeom prst="rect">
            <a:avLst/>
          </a:prstGeom>
          <a:noFill/>
        </p:spPr>
        <p:txBody>
          <a:bodyPr wrap="square" lIns="0" rIns="0" tIns="0" bIns="0" anchor="t">
            <a:spAutoFit/>
          </a:bodyPr>
          <a:lstStyle/>
          <a:p>
            <a:pPr algn="l">
              <a:lnSpc>
                <a:spcPct val="118000"/>
              </a:lnSpc>
            </a:pPr>
            <a:r>
              <a:rPr sz="1400" b="1" i="0">
                <a:solidFill>
                  <a:srgbClr val="B45309"/>
                </a:solidFill>
                <a:latin typeface="Verdana"/>
              </a:rPr>
              <a:t>Une phrase devenue un nom</a:t>
            </a:r>
          </a:p>
        </p:txBody>
      </p:sp>
      <p:sp>
        <p:nvSpPr>
          <p:cNvPr id="18" name="TextBox 17"/>
          <p:cNvSpPr txBox="1"/>
          <p:nvPr/>
        </p:nvSpPr>
        <p:spPr>
          <a:xfrm>
            <a:off x="886968" y="5675630"/>
            <a:ext cx="10417759" cy="130809"/>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j'avais dit l'an prochain, cette promesse-là</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ÉCRIT</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Marilou parle à Ghyslaine de sa chanson. Elle l'aime.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300" b="1" i="0">
                <a:solidFill>
                  <a:srgbClr val="17181A"/>
                </a:solidFill>
                <a:latin typeface="Verdana"/>
              </a:rPr>
              <a:t>« Marilou parle à Ghyslaine de sa chanson. Marilou l'aime beaucoup.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noms de femmes devant, un « elle » derrière : le lecteur ne sait pas laquelle. Quand deux référents possibles précèdent, on reprend le nom, ou l'on récrit la phrase. Le pronom est le plus léger des procédés et le moins tolérant à l'ambiguïté.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GRAMMAIRE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reprise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Relisez les deux phrases ensemble avant de répondre.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rampe est neuve. Ils ___ ont refaite en septembre.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ont refait la rampe, et on ne sait pas qui.</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J'avais dit l'an prochain. Je ___ ai dit neuf fois.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parle de son escalier. Elle ___ parle depuis neuf ans.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boîte est dans le corridor. Elle ___ est depuis neuf ans.</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a reçu trois propositions. ___ trois entrent dans le budget.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Complétez la reprise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rampe est neuve. Ils ___ ont refaite en septembre.   </a:t>
            </a:r>
            <a:r>
              <a:rPr sz="1400" b="1" i="0">
                <a:solidFill>
                  <a:srgbClr val="07734A"/>
                </a:solidFill>
                <a:latin typeface="Verdana"/>
              </a:rPr>
              <a:t>» l'</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___ ont refait la rampe, et on ne sait pas qui.   </a:t>
            </a:r>
            <a:r>
              <a:rPr sz="1400" b="1" i="0">
                <a:solidFill>
                  <a:srgbClr val="07734A"/>
                </a:solidFill>
                <a:latin typeface="Verdana"/>
              </a:rPr>
              <a:t>» Ils</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J'avais dit l'an prochain. Je ___ ai dit neuf fois.   </a:t>
            </a:r>
            <a:r>
              <a:rPr sz="1400" b="1" i="0">
                <a:solidFill>
                  <a:srgbClr val="07734A"/>
                </a:solidFill>
                <a:latin typeface="Verdana"/>
              </a:rPr>
              <a:t>» l'</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parle de son escalier. Elle ___ parle depuis neuf ans.   </a:t>
            </a:r>
            <a:r>
              <a:rPr sz="1400" b="1" i="0">
                <a:solidFill>
                  <a:srgbClr val="07734A"/>
                </a:solidFill>
                <a:latin typeface="Verdana"/>
              </a:rPr>
              <a:t>» en</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boîte est dans le corridor. Elle ___ est depuis neuf ans.   </a:t>
            </a:r>
            <a:r>
              <a:rPr sz="1400" b="1" i="0">
                <a:solidFill>
                  <a:srgbClr val="07734A"/>
                </a:solidFill>
                <a:latin typeface="Verdana"/>
              </a:rPr>
              <a:t>» y</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comité a reçu trois propositions. ___ trois entrent dans le budget.   </a:t>
            </a:r>
            <a:r>
              <a:rPr sz="1400" b="1" i="0">
                <a:solidFill>
                  <a:srgbClr val="07734A"/>
                </a:solidFill>
                <a:latin typeface="Verdana"/>
              </a:rPr>
              <a:t>» 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PRODUCTION ÉCRITE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même paragraphe, sans répétition</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Récrivez en variant les reprises.</a:t>
            </a:r>
          </a:p>
        </p:txBody>
      </p:sp>
      <p:sp>
        <p:nvSpPr>
          <p:cNvPr id="8" name="Rounded Rectangle 7"/>
          <p:cNvSpPr/>
          <p:nvPr/>
        </p:nvSpPr>
        <p:spPr>
          <a:xfrm>
            <a:off x="566928" y="2139696"/>
            <a:ext cx="11057839"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Texte de départ</a:t>
            </a:r>
          </a:p>
        </p:txBody>
      </p:sp>
      <p:sp>
        <p:nvSpPr>
          <p:cNvPr id="12" name="Rounded Rectangle 11"/>
          <p:cNvSpPr/>
          <p:nvPr/>
        </p:nvSpPr>
        <p:spPr>
          <a:xfrm>
            <a:off x="566928" y="325424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395725"/>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459733"/>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340969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reprise par pronom</a:t>
            </a:r>
          </a:p>
        </p:txBody>
      </p:sp>
      <p:sp>
        <p:nvSpPr>
          <p:cNvPr id="16" name="Rounded Rectangle 15"/>
          <p:cNvSpPr/>
          <p:nvPr/>
        </p:nvSpPr>
        <p:spPr>
          <a:xfrm>
            <a:off x="566928" y="403098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417245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4236466"/>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418642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reprise par un autre mot</a:t>
            </a:r>
          </a:p>
        </p:txBody>
      </p:sp>
      <p:sp>
        <p:nvSpPr>
          <p:cNvPr id="20" name="Rounded Rectangle 19"/>
          <p:cNvSpPr/>
          <p:nvPr/>
        </p:nvSpPr>
        <p:spPr>
          <a:xfrm>
            <a:off x="566928" y="4807711"/>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94919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501319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963159"/>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Une reprise avec un jugement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deux phrases sur une œuvre, la seconde reprenant la première.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Sans répéter le nom de l'œuvre.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Soulignez la reprise.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C3 · Ce que j'en pense, et pourquoi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