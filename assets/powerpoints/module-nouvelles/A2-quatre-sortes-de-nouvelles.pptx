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Écrire les trois exemples du chapeau au tableau et demander au groupe de les classer avant toute explication. Le classement spontané confond souvent importance et portée.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clé de la séance : trois catégories de territoire, une catégorie de sujet. Elles ne se classent pas sur le même axe.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centrale. Beaucoup d'élèves classent selon ce qui les touche : corriger explicitement.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troisième carte est le critère le plus fiable. Faire l'appliquer à chaque énoncé de l'exercice.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réponse par le territoire ou par le sujet. Ne jamais accepter « parce que c'est important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premier item est volontairement ambigu. Laisser le groupe argumenter : les deux réponses se défendent, et c'est instructif.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donner par chacun une nouvelle qui l'a touché personnellement, puis la classer. L'exercice est éclairant.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Nuance fine mais utile. Donner trois exemples de feux à Montréal, de portées différentes.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que la première phrase suffit presque toujours à classer. C'est un réflexe d'écoute utile.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Dix minutes. Faire classer les nouvelles apportées par le groupe au tableau, en quatre colonnes. Le tableau collectif vaut mieux que l'exercice individuel.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titres serviront en E1, où chacun développera l'un d'eux en un vrai fait divers.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SÉANCE A2  ·  MODULE 6</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Quatre sortes de nouvelles</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feu de forêt en Australie, une piste cyclable à Alma, un cycliste qui heurte un chevreuil. Trois nouvelles, trois catégories — et le classement n'est pas une question d'importance.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C'est l'heure des nouvelles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une nouvelle régionale, nationale et internationale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un fait divers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classer une nouvelle d'après sa portée, pas son importance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la catégorie d'une nouvelle qu'on entend.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catégories</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4117598"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CATÉGORIE</a:t>
            </a:r>
          </a:p>
        </p:txBody>
      </p:sp>
      <p:sp>
        <p:nvSpPr>
          <p:cNvPr id="9" name="TextBox 8"/>
          <p:cNvSpPr txBox="1"/>
          <p:nvPr/>
        </p:nvSpPr>
        <p:spPr>
          <a:xfrm>
            <a:off x="5269742" y="1975104"/>
            <a:ext cx="5769809"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QU'ELLE TOUCHE</a:t>
            </a:r>
          </a:p>
        </p:txBody>
      </p:sp>
      <p:sp>
        <p:nvSpPr>
          <p:cNvPr id="10" name="TextBox 9"/>
          <p:cNvSpPr txBox="1"/>
          <p:nvPr/>
        </p:nvSpPr>
        <p:spPr>
          <a:xfrm>
            <a:off x="932688" y="2395728"/>
            <a:ext cx="4117598"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une nouvelle régionale</a:t>
            </a:r>
          </a:p>
        </p:txBody>
      </p:sp>
      <p:sp>
        <p:nvSpPr>
          <p:cNvPr id="11" name="TextBox 10"/>
          <p:cNvSpPr txBox="1"/>
          <p:nvPr/>
        </p:nvSpPr>
        <p:spPr>
          <a:xfrm>
            <a:off x="5269742" y="2395728"/>
            <a:ext cx="5769809"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région de la province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4117598"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une nouvelle nationale</a:t>
            </a:r>
          </a:p>
        </p:txBody>
      </p:sp>
      <p:sp>
        <p:nvSpPr>
          <p:cNvPr id="14" name="TextBox 13"/>
          <p:cNvSpPr txBox="1"/>
          <p:nvPr/>
        </p:nvSpPr>
        <p:spPr>
          <a:xfrm>
            <a:off x="5269742" y="2935224"/>
            <a:ext cx="5769809"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province ou le pays</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4117598"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une nouvelle internationale</a:t>
            </a:r>
          </a:p>
        </p:txBody>
      </p:sp>
      <p:sp>
        <p:nvSpPr>
          <p:cNvPr id="17" name="TextBox 16"/>
          <p:cNvSpPr txBox="1"/>
          <p:nvPr/>
        </p:nvSpPr>
        <p:spPr>
          <a:xfrm>
            <a:off x="5269742" y="3474720"/>
            <a:ext cx="5769809"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l'extérieur du pays</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4117598"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un fait divers</a:t>
            </a:r>
          </a:p>
        </p:txBody>
      </p:sp>
      <p:sp>
        <p:nvSpPr>
          <p:cNvPr id="20" name="TextBox 19"/>
          <p:cNvSpPr txBox="1"/>
          <p:nvPr/>
        </p:nvSpPr>
        <p:spPr>
          <a:xfrm>
            <a:off x="5269742" y="4014215"/>
            <a:ext cx="5769809"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des faits quotidiens qui attirent la curiosité</a:t>
            </a:r>
          </a:p>
        </p:txBody>
      </p:sp>
      <p:sp>
        <p:nvSpPr>
          <p:cNvPr id="21" name="Rounded Rectangle 20"/>
          <p:cNvSpPr/>
          <p:nvPr/>
        </p:nvSpPr>
        <p:spPr>
          <a:xfrm>
            <a:off x="566928" y="4846320"/>
            <a:ext cx="11057839" cy="1175004"/>
          </a:xfrm>
          <a:prstGeom prst="roundRect">
            <a:avLst>
              <a:gd name="adj" fmla="val 12451"/>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71780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Les trois premières se distinguent par le territoire. Le fait divers, lui, se distingue par le sujet.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LA RÈGLE</a:t>
            </a:r>
          </a:p>
        </p:txBody>
      </p:sp>
      <p:sp>
        <p:nvSpPr>
          <p:cNvPr id="6" name="Rounded Rectangle 5"/>
          <p:cNvSpPr/>
          <p:nvPr/>
        </p:nvSpPr>
        <p:spPr>
          <a:xfrm>
            <a:off x="566928" y="1225296"/>
            <a:ext cx="11057839" cy="1441196"/>
          </a:xfrm>
          <a:prstGeom prst="roundRect">
            <a:avLst>
              <a:gd name="adj" fmla="val 10151"/>
            </a:avLst>
          </a:prstGeom>
          <a:solidFill>
            <a:srgbClr val="E3F1E7"/>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La portée, pas l'importance.</a:t>
            </a:r>
          </a:p>
        </p:txBody>
      </p:sp>
      <p:sp>
        <p:nvSpPr>
          <p:cNvPr id="8" name="Rounded Rectangle 7"/>
          <p:cNvSpPr/>
          <p:nvPr/>
        </p:nvSpPr>
        <p:spPr>
          <a:xfrm>
            <a:off x="566928" y="2940812"/>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piste cyclable à Alma est une nouvelle régionale même si elle compte beaucoup pour les gens d'Alma. Un feu de forêt en Australie est international même s'il n'a aucun effet ici. La question est : quel territoire est concerné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Comment reconnaître un fait divers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42138"/>
          </a:xfrm>
          <a:prstGeom prst="rect">
            <a:avLst/>
          </a:prstGeom>
          <a:noFill/>
        </p:spPr>
        <p:txBody>
          <a:bodyPr wrap="square" lIns="0" rIns="0" tIns="0" bIns="0" anchor="t">
            <a:spAutoFit/>
          </a:bodyPr>
          <a:lstStyle/>
          <a:p>
            <a:pPr algn="l">
              <a:lnSpc>
                <a:spcPct val="118000"/>
              </a:lnSpc>
            </a:pPr>
            <a:r>
              <a:rPr sz="2100" b="1" i="0">
                <a:solidFill>
                  <a:srgbClr val="166534"/>
                </a:solidFill>
                <a:latin typeface="Verdana"/>
              </a:rPr>
              <a:t>Un événement unique</a:t>
            </a:r>
          </a:p>
        </p:txBody>
      </p:sp>
      <p:sp>
        <p:nvSpPr>
          <p:cNvPr id="9" name="TextBox 8"/>
          <p:cNvSpPr txBox="1"/>
          <p:nvPr/>
        </p:nvSpPr>
        <p:spPr>
          <a:xfrm>
            <a:off x="886968" y="2454402"/>
            <a:ext cx="4806543" cy="1134618"/>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 accident, un sauvetage, une découverte étrange. Ce n'est pas une tendance ni une décision politique : c'est quelque chose qui est arrivé une fois.</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42138"/>
          </a:xfrm>
          <a:prstGeom prst="rect">
            <a:avLst/>
          </a:prstGeom>
          <a:noFill/>
        </p:spPr>
        <p:txBody>
          <a:bodyPr wrap="square" lIns="0" rIns="0" tIns="0" bIns="0" anchor="t">
            <a:spAutoFit/>
          </a:bodyPr>
          <a:lstStyle/>
          <a:p>
            <a:pPr algn="l">
              <a:lnSpc>
                <a:spcPct val="118000"/>
              </a:lnSpc>
            </a:pPr>
            <a:r>
              <a:rPr sz="2100" b="1" i="0">
                <a:solidFill>
                  <a:srgbClr val="166534"/>
                </a:solidFill>
                <a:latin typeface="Verdana"/>
              </a:rPr>
              <a:t>Des personnes ordinaires</a:t>
            </a:r>
          </a:p>
        </p:txBody>
      </p:sp>
      <p:sp>
        <p:nvSpPr>
          <p:cNvPr id="12" name="TextBox 11"/>
          <p:cNvSpPr txBox="1"/>
          <p:nvPr/>
        </p:nvSpPr>
        <p:spPr>
          <a:xfrm>
            <a:off x="6498183" y="2454402"/>
            <a:ext cx="4806543" cy="1134618"/>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Une fillette, un cycliste, une voisine. Pas de ministre, pas d'entreprise, pas d'institution en vedette.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42138"/>
          </a:xfrm>
          <a:prstGeom prst="rect">
            <a:avLst/>
          </a:prstGeom>
          <a:noFill/>
        </p:spPr>
        <p:txBody>
          <a:bodyPr wrap="square" lIns="0" rIns="0" tIns="0" bIns="0" anchor="t">
            <a:spAutoFit/>
          </a:bodyPr>
          <a:lstStyle/>
          <a:p>
            <a:pPr algn="l">
              <a:lnSpc>
                <a:spcPct val="118000"/>
              </a:lnSpc>
            </a:pPr>
            <a:r>
              <a:rPr sz="2100" b="1" i="0">
                <a:solidFill>
                  <a:srgbClr val="166534"/>
                </a:solidFill>
                <a:latin typeface="Verdana"/>
              </a:rPr>
              <a:t>Aucune conséquence générale</a:t>
            </a:r>
          </a:p>
        </p:txBody>
      </p:sp>
      <p:sp>
        <p:nvSpPr>
          <p:cNvPr id="15" name="TextBox 14"/>
          <p:cNvSpPr txBox="1"/>
          <p:nvPr/>
        </p:nvSpPr>
        <p:spPr>
          <a:xfrm>
            <a:off x="886968" y="4671822"/>
            <a:ext cx="4806543" cy="1134618"/>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 chat retrouvé ne change rien pour personne d'autre que sa famille. C'est ce qui distingue le fait divers de la nouvelle nationale.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42138"/>
          </a:xfrm>
          <a:prstGeom prst="rect">
            <a:avLst/>
          </a:prstGeom>
          <a:noFill/>
        </p:spPr>
        <p:txBody>
          <a:bodyPr wrap="square" lIns="0" rIns="0" tIns="0" bIns="0" anchor="t">
            <a:spAutoFit/>
          </a:bodyPr>
          <a:lstStyle/>
          <a:p>
            <a:pPr algn="l">
              <a:lnSpc>
                <a:spcPct val="118000"/>
              </a:lnSpc>
            </a:pPr>
            <a:r>
              <a:rPr sz="2100" b="1" i="0">
                <a:solidFill>
                  <a:srgbClr val="166534"/>
                </a:solidFill>
                <a:latin typeface="Verdana"/>
              </a:rPr>
              <a:t>Ce qui attire la curiosité</a:t>
            </a:r>
          </a:p>
        </p:txBody>
      </p:sp>
      <p:sp>
        <p:nvSpPr>
          <p:cNvPr id="18" name="TextBox 17"/>
          <p:cNvSpPr txBox="1"/>
          <p:nvPr/>
        </p:nvSpPr>
        <p:spPr>
          <a:xfrm>
            <a:off x="6498183" y="4671822"/>
            <a:ext cx="4806543" cy="1134618"/>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 fait divers est raconté parce qu'il touche, surprend ou émeut — pas parce qu'il faut le savoir.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 · 1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Classez la nouvelle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Fait divers, régionale, nationale ou internationale ?</a:t>
            </a:r>
          </a:p>
        </p:txBody>
      </p:sp>
      <p:sp>
        <p:nvSpPr>
          <p:cNvPr id="8" name="Rounded Rectangle 7"/>
          <p:cNvSpPr/>
          <p:nvPr/>
        </p:nvSpPr>
        <p:spPr>
          <a:xfrm>
            <a:off x="566928" y="2139696"/>
            <a:ext cx="11057839" cy="844296"/>
          </a:xfrm>
          <a:prstGeom prst="roundRect">
            <a:avLst>
              <a:gd name="adj" fmla="val 173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7896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4297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5699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En Australie, des feux de forêt forcent l'évacuation de plusieurs villages.</a:t>
            </a:r>
          </a:p>
        </p:txBody>
      </p:sp>
      <p:sp>
        <p:nvSpPr>
          <p:cNvPr id="12" name="Rounded Rectangle 11"/>
          <p:cNvSpPr/>
          <p:nvPr/>
        </p:nvSpPr>
        <p:spPr>
          <a:xfrm>
            <a:off x="566928" y="3112008"/>
            <a:ext cx="11057839" cy="577596"/>
          </a:xfrm>
          <a:prstGeom prst="roundRect">
            <a:avLst>
              <a:gd name="adj" fmla="val 2532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217926"/>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8193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267456"/>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Une pénurie de main-d'œuvre touche plusieurs secteurs au Canada.</a:t>
            </a:r>
          </a:p>
        </p:txBody>
      </p:sp>
      <p:sp>
        <p:nvSpPr>
          <p:cNvPr id="16" name="Rounded Rectangle 15"/>
          <p:cNvSpPr/>
          <p:nvPr/>
        </p:nvSpPr>
        <p:spPr>
          <a:xfrm>
            <a:off x="566928" y="3817620"/>
            <a:ext cx="11057839" cy="844296"/>
          </a:xfrm>
          <a:prstGeom prst="roundRect">
            <a:avLst>
              <a:gd name="adj" fmla="val 173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05688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12089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973068"/>
            <a:ext cx="10097719" cy="5699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Un cycliste entre en collision avec un chevreuil sur une route de campagne.</a:t>
            </a:r>
          </a:p>
        </p:txBody>
      </p:sp>
      <p:sp>
        <p:nvSpPr>
          <p:cNvPr id="20" name="Rounded Rectangle 19"/>
          <p:cNvSpPr/>
          <p:nvPr/>
        </p:nvSpPr>
        <p:spPr>
          <a:xfrm>
            <a:off x="566928" y="4789932"/>
            <a:ext cx="11057839" cy="577596"/>
          </a:xfrm>
          <a:prstGeom prst="roundRect">
            <a:avLst>
              <a:gd name="adj" fmla="val 2532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89585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95985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945380"/>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Une nouvelle piste cyclable aménagée à Alma.</a:t>
            </a:r>
          </a:p>
        </p:txBody>
      </p:sp>
      <p:sp>
        <p:nvSpPr>
          <p:cNvPr id="24" name="Rounded Rectangle 23"/>
          <p:cNvSpPr/>
          <p:nvPr/>
        </p:nvSpPr>
        <p:spPr>
          <a:xfrm>
            <a:off x="566928" y="5495544"/>
            <a:ext cx="11057839" cy="577596"/>
          </a:xfrm>
          <a:prstGeom prst="roundRect">
            <a:avLst>
              <a:gd name="adj" fmla="val 2532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60146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66547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650992"/>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L'endettement des ménages canadiens continue d'augmenter.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Classez la nouvelle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844296"/>
          </a:xfrm>
          <a:prstGeom prst="roundRect">
            <a:avLst>
              <a:gd name="adj" fmla="val 173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7896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4297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5699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En Australie, des feux de forêt forcent l'évacuation de plusieurs villages.   </a:t>
            </a:r>
            <a:r>
              <a:rPr sz="1500" b="1" i="0">
                <a:solidFill>
                  <a:srgbClr val="07734A"/>
                </a:solidFill>
                <a:latin typeface="Verdana"/>
              </a:rPr>
              <a:t>» internationale — hors du pays</a:t>
            </a:r>
          </a:p>
        </p:txBody>
      </p:sp>
      <p:sp>
        <p:nvSpPr>
          <p:cNvPr id="12" name="Rounded Rectangle 11"/>
          <p:cNvSpPr/>
          <p:nvPr/>
        </p:nvSpPr>
        <p:spPr>
          <a:xfrm>
            <a:off x="566928" y="3112008"/>
            <a:ext cx="11057839" cy="577596"/>
          </a:xfrm>
          <a:prstGeom prst="roundRect">
            <a:avLst>
              <a:gd name="adj" fmla="val 25329"/>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217926"/>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8193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267456"/>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Une pénurie de main-d'œuvre touche plusieurs secteurs au Canada.   </a:t>
            </a:r>
            <a:r>
              <a:rPr sz="1500" b="1" i="0">
                <a:solidFill>
                  <a:srgbClr val="07734A"/>
                </a:solidFill>
                <a:latin typeface="Verdana"/>
              </a:rPr>
              <a:t>» nationale — tout le pays</a:t>
            </a:r>
          </a:p>
        </p:txBody>
      </p:sp>
      <p:sp>
        <p:nvSpPr>
          <p:cNvPr id="16" name="Rounded Rectangle 15"/>
          <p:cNvSpPr/>
          <p:nvPr/>
        </p:nvSpPr>
        <p:spPr>
          <a:xfrm>
            <a:off x="566928" y="3817620"/>
            <a:ext cx="11057839" cy="844296"/>
          </a:xfrm>
          <a:prstGeom prst="roundRect">
            <a:avLst>
              <a:gd name="adj" fmla="val 173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05688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12089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973068"/>
            <a:ext cx="10097719" cy="5699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Un cycliste entre en collision avec un chevreuil sur une route de campagne.   </a:t>
            </a:r>
            <a:r>
              <a:rPr sz="1500" b="1" i="0">
                <a:solidFill>
                  <a:srgbClr val="07734A"/>
                </a:solidFill>
                <a:latin typeface="Verdana"/>
              </a:rPr>
              <a:t>» fait divers — un événement unique</a:t>
            </a:r>
          </a:p>
        </p:txBody>
      </p:sp>
      <p:sp>
        <p:nvSpPr>
          <p:cNvPr id="20" name="Rounded Rectangle 19"/>
          <p:cNvSpPr/>
          <p:nvPr/>
        </p:nvSpPr>
        <p:spPr>
          <a:xfrm>
            <a:off x="566928" y="4789932"/>
            <a:ext cx="11057839" cy="577596"/>
          </a:xfrm>
          <a:prstGeom prst="roundRect">
            <a:avLst>
              <a:gd name="adj" fmla="val 25329"/>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89585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95985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945380"/>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Une nouvelle piste cyclable aménagée à Alma.   </a:t>
            </a:r>
            <a:r>
              <a:rPr sz="1500" b="1" i="0">
                <a:solidFill>
                  <a:srgbClr val="07734A"/>
                </a:solidFill>
                <a:latin typeface="Verdana"/>
              </a:rPr>
              <a:t>» régionale — une ville</a:t>
            </a:r>
          </a:p>
        </p:txBody>
      </p:sp>
      <p:sp>
        <p:nvSpPr>
          <p:cNvPr id="24" name="Rounded Rectangle 23"/>
          <p:cNvSpPr/>
          <p:nvPr/>
        </p:nvSpPr>
        <p:spPr>
          <a:xfrm>
            <a:off x="566928" y="5495544"/>
            <a:ext cx="11057839" cy="577596"/>
          </a:xfrm>
          <a:prstGeom prst="roundRect">
            <a:avLst>
              <a:gd name="adj" fmla="val 25329"/>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60146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66547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650992"/>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L'endettement des ménages canadiens continue d'augmenter.   </a:t>
            </a:r>
            <a:r>
              <a:rPr sz="1500" b="1" i="0">
                <a:solidFill>
                  <a:srgbClr val="07734A"/>
                </a:solidFill>
                <a:latin typeface="Verdana"/>
              </a:rPr>
              <a:t>» nationale — une tendance au pays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 · 2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Régionale ou fait divers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Le plus difficile : les deux se passent près de chez nous.</a:t>
            </a:r>
          </a:p>
        </p:txBody>
      </p:sp>
      <p:sp>
        <p:nvSpPr>
          <p:cNvPr id="8" name="Rounded Rectangle 7"/>
          <p:cNvSpPr/>
          <p:nvPr/>
        </p:nvSpPr>
        <p:spPr>
          <a:xfrm>
            <a:off x="566928" y="2139696"/>
            <a:ext cx="11057839"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9674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60751"/>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Une école de Longueuil amasse deux cents paires de mitaines.</a:t>
            </a:r>
          </a:p>
        </p:txBody>
      </p:sp>
      <p:sp>
        <p:nvSpPr>
          <p:cNvPr id="12" name="Rounded Rectangle 11"/>
          <p:cNvSpPr/>
          <p:nvPr/>
        </p:nvSpPr>
        <p:spPr>
          <a:xfrm>
            <a:off x="566928" y="3147568"/>
            <a:ext cx="11057839"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404616"/>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46862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303016"/>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La Ville de Longueuil augmente les taxes de deux pour cent.</a:t>
            </a:r>
          </a:p>
        </p:txBody>
      </p:sp>
      <p:sp>
        <p:nvSpPr>
          <p:cNvPr id="16" name="Rounded Rectangle 15"/>
          <p:cNvSpPr/>
          <p:nvPr/>
        </p:nvSpPr>
        <p:spPr>
          <a:xfrm>
            <a:off x="566928" y="4155440"/>
            <a:ext cx="11057839"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41248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47649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4310888"/>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Une fillette retrouve son chat grâce à une affiche.</a:t>
            </a:r>
          </a:p>
        </p:txBody>
      </p:sp>
      <p:sp>
        <p:nvSpPr>
          <p:cNvPr id="20" name="Rounded Rectangle 19"/>
          <p:cNvSpPr/>
          <p:nvPr/>
        </p:nvSpPr>
        <p:spPr>
          <a:xfrm>
            <a:off x="566928" y="5163312"/>
            <a:ext cx="11057839" cy="595376"/>
          </a:xfrm>
          <a:prstGeom prst="roundRect">
            <a:avLst>
              <a:gd name="adj" fmla="val 245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27812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34212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5318760"/>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 nouveau CHSLD ouvrira à Sherbrooke l'an prochain.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Régionale ou fait divers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9674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60751"/>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Une école de Longueuil amasse deux cents paires de mitaines.   </a:t>
            </a:r>
            <a:r>
              <a:rPr sz="1600" b="1" i="0">
                <a:solidFill>
                  <a:srgbClr val="07734A"/>
                </a:solidFill>
                <a:latin typeface="Verdana"/>
              </a:rPr>
              <a:t>» fait divers ou régionale — les deux se défendent</a:t>
            </a:r>
          </a:p>
        </p:txBody>
      </p:sp>
      <p:sp>
        <p:nvSpPr>
          <p:cNvPr id="12" name="Rounded Rectangle 11"/>
          <p:cNvSpPr/>
          <p:nvPr/>
        </p:nvSpPr>
        <p:spPr>
          <a:xfrm>
            <a:off x="566928" y="3147568"/>
            <a:ext cx="11057839"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404616"/>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46862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303016"/>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La Ville de Longueuil augmente les taxes de deux pour cent.   </a:t>
            </a:r>
            <a:r>
              <a:rPr sz="1600" b="1" i="0">
                <a:solidFill>
                  <a:srgbClr val="07734A"/>
                </a:solidFill>
                <a:latin typeface="Verdana"/>
              </a:rPr>
              <a:t>» régionale — une décision qui touche tout le monde</a:t>
            </a:r>
          </a:p>
        </p:txBody>
      </p:sp>
      <p:sp>
        <p:nvSpPr>
          <p:cNvPr id="16" name="Rounded Rectangle 15"/>
          <p:cNvSpPr/>
          <p:nvPr/>
        </p:nvSpPr>
        <p:spPr>
          <a:xfrm>
            <a:off x="566928" y="4155440"/>
            <a:ext cx="11057839"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41248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47649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4310888"/>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Une fillette retrouve son chat grâce à une affiche.   </a:t>
            </a:r>
            <a:r>
              <a:rPr sz="1600" b="1" i="0">
                <a:solidFill>
                  <a:srgbClr val="07734A"/>
                </a:solidFill>
                <a:latin typeface="Verdana"/>
              </a:rPr>
              <a:t>» fait divers — un événement unique, sans conséquence générale</a:t>
            </a:r>
          </a:p>
        </p:txBody>
      </p:sp>
      <p:sp>
        <p:nvSpPr>
          <p:cNvPr id="20" name="Rounded Rectangle 19"/>
          <p:cNvSpPr/>
          <p:nvPr/>
        </p:nvSpPr>
        <p:spPr>
          <a:xfrm>
            <a:off x="566928" y="5163312"/>
            <a:ext cx="11057839" cy="595376"/>
          </a:xfrm>
          <a:prstGeom prst="roundRect">
            <a:avLst>
              <a:gd name="adj" fmla="val 24573"/>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27812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34212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5318760"/>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 nouveau CHSLD ouvrira à Sherbrooke l'an prochain.   </a:t>
            </a:r>
            <a:r>
              <a:rPr sz="1600" b="1" i="0">
                <a:solidFill>
                  <a:srgbClr val="07734A"/>
                </a:solidFill>
                <a:latin typeface="Verdana"/>
              </a:rPr>
              <a:t>» régionale — un service pour la région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LE PIÈGE DE L'IMPORTANCE PERSONNELLE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C'est une nouvelle nationale, parce que ça me concerne beaucoup.</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La catégorie dépend du territoire touché, pas de moi.</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nouvelle qui vous concerne personnellement peut être régionale, ou même un fait divers. La catégorie ne juge pas de la valeur : elle dit seulement qui est concerné.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LE PIÈGE DU LIEU MENTIONNÉ</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Un feu à Montréal : c'est régional, parce que Montréal est nommé.</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Cela dépend : un feu chez un particulier est un fait divers.</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nom d'une ville n'en fait pas une nouvelle régionale. Ce qui compte est l'étendue de ce qui est touché : un immeuble, un quartier, une ville entière ? Le lieu est un indice, pas une preuve.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 · 3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Trouvez la catégorie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D'après le début de la nouvelle.</a:t>
            </a:r>
          </a:p>
        </p:txBody>
      </p:sp>
      <p:sp>
        <p:nvSpPr>
          <p:cNvPr id="8" name="Rounded Rectangle 7"/>
          <p:cNvSpPr/>
          <p:nvPr/>
        </p:nvSpPr>
        <p:spPr>
          <a:xfrm>
            <a:off x="566928" y="2139696"/>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63393"/>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27401"/>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Le gouvernement du Québec annonce un investissement en santé… »</a:t>
            </a:r>
          </a:p>
        </p:txBody>
      </p:sp>
      <p:sp>
        <p:nvSpPr>
          <p:cNvPr id="12" name="Rounded Rectangle 11"/>
          <p:cNvSpPr/>
          <p:nvPr/>
        </p:nvSpPr>
        <p:spPr>
          <a:xfrm>
            <a:off x="566928" y="2880868"/>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04566"/>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6857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36316"/>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Deux passants ont secouru un cycliste blessé à Trois-Pistoles… »</a:t>
            </a:r>
          </a:p>
        </p:txBody>
      </p:sp>
      <p:sp>
        <p:nvSpPr>
          <p:cNvPr id="16" name="Rounded Rectangle 15"/>
          <p:cNvSpPr/>
          <p:nvPr/>
        </p:nvSpPr>
        <p:spPr>
          <a:xfrm>
            <a:off x="566928" y="3622040"/>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7457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097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777488"/>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La bibliothèque de Rimouski prolonge ses heures d'ouverture… »</a:t>
            </a:r>
          </a:p>
        </p:txBody>
      </p:sp>
      <p:sp>
        <p:nvSpPr>
          <p:cNvPr id="20" name="Rounded Rectangle 19"/>
          <p:cNvSpPr/>
          <p:nvPr/>
        </p:nvSpPr>
        <p:spPr>
          <a:xfrm>
            <a:off x="566928" y="4363212"/>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48691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55091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518660"/>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Une tempête frappe la côte est des États-Unis… »</a:t>
            </a:r>
          </a:p>
        </p:txBody>
      </p:sp>
      <p:sp>
        <p:nvSpPr>
          <p:cNvPr id="24" name="Rounded Rectangle 23"/>
          <p:cNvSpPr/>
          <p:nvPr/>
        </p:nvSpPr>
        <p:spPr>
          <a:xfrm>
            <a:off x="566928" y="5104384"/>
            <a:ext cx="11057839" cy="915416"/>
          </a:xfrm>
          <a:prstGeom prst="roundRect">
            <a:avLst>
              <a:gd name="adj" fmla="val 1598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7921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4322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259832"/>
            <a:ext cx="10097719"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Les élèves d'une classe de Victoriaville tournent un documentaire…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Trouvez la catégorie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63393"/>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27401"/>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Le gouvernement du Québec annonce un investissement en santé… »   </a:t>
            </a:r>
            <a:r>
              <a:rPr sz="1700" b="1" i="0">
                <a:solidFill>
                  <a:srgbClr val="07734A"/>
                </a:solidFill>
                <a:latin typeface="Verdana"/>
              </a:rPr>
              <a:t>» nationale</a:t>
            </a:r>
          </a:p>
        </p:txBody>
      </p:sp>
      <p:sp>
        <p:nvSpPr>
          <p:cNvPr id="12" name="Rounded Rectangle 11"/>
          <p:cNvSpPr/>
          <p:nvPr/>
        </p:nvSpPr>
        <p:spPr>
          <a:xfrm>
            <a:off x="566928" y="2880868"/>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04566"/>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6857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36316"/>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Deux passants ont secouru un cycliste blessé à Trois-Pistoles… »   </a:t>
            </a:r>
            <a:r>
              <a:rPr sz="1700" b="1" i="0">
                <a:solidFill>
                  <a:srgbClr val="07734A"/>
                </a:solidFill>
                <a:latin typeface="Verdana"/>
              </a:rPr>
              <a:t>» fait divers</a:t>
            </a:r>
          </a:p>
        </p:txBody>
      </p:sp>
      <p:sp>
        <p:nvSpPr>
          <p:cNvPr id="16" name="Rounded Rectangle 15"/>
          <p:cNvSpPr/>
          <p:nvPr/>
        </p:nvSpPr>
        <p:spPr>
          <a:xfrm>
            <a:off x="566928" y="3622040"/>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7457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097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777488"/>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La bibliothèque de Rimouski prolonge ses heures d'ouverture… »   </a:t>
            </a:r>
            <a:r>
              <a:rPr sz="1700" b="1" i="0">
                <a:solidFill>
                  <a:srgbClr val="07734A"/>
                </a:solidFill>
                <a:latin typeface="Verdana"/>
              </a:rPr>
              <a:t>» régionale</a:t>
            </a:r>
          </a:p>
        </p:txBody>
      </p:sp>
      <p:sp>
        <p:nvSpPr>
          <p:cNvPr id="20" name="Rounded Rectangle 19"/>
          <p:cNvSpPr/>
          <p:nvPr/>
        </p:nvSpPr>
        <p:spPr>
          <a:xfrm>
            <a:off x="566928" y="4363212"/>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48691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55091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518660"/>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Une tempête frappe la côte est des États-Unis… »   </a:t>
            </a:r>
            <a:r>
              <a:rPr sz="1700" b="1" i="0">
                <a:solidFill>
                  <a:srgbClr val="07734A"/>
                </a:solidFill>
                <a:latin typeface="Verdana"/>
              </a:rPr>
              <a:t>» internationale</a:t>
            </a:r>
          </a:p>
        </p:txBody>
      </p:sp>
      <p:sp>
        <p:nvSpPr>
          <p:cNvPr id="24" name="Rounded Rectangle 23"/>
          <p:cNvSpPr/>
          <p:nvPr/>
        </p:nvSpPr>
        <p:spPr>
          <a:xfrm>
            <a:off x="566928" y="5104384"/>
            <a:ext cx="11057839" cy="915416"/>
          </a:xfrm>
          <a:prstGeom prst="roundRect">
            <a:avLst>
              <a:gd name="adj" fmla="val 1598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7921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4322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259832"/>
            <a:ext cx="10097719"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Les élèves d'une classe de Victoriaville tournent un documentaire… »   </a:t>
            </a:r>
            <a:r>
              <a:rPr sz="1700" b="1" i="0">
                <a:solidFill>
                  <a:srgbClr val="07734A"/>
                </a:solidFill>
                <a:latin typeface="Verdana"/>
              </a:rPr>
              <a:t>» fait divers ou régionale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 · 4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Classez vos propres nouvelles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Reprenez le billet de la séance A1.</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Votre nouvelle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justification</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autre nouvelle de la semaine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quatre titres de nouvelles, un par catégorie.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régionale, une nationale, une internationale, un fait divers.</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 titre court : cinq à huit mots.</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