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Écrire les trois exemples du chapeau au tableau et demander au groupe de les classer avant toute explication. Le classement spontané confond souvent importance et portée.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les objectifs à voix haute. Y revenir au billet de sortie.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la clé de la séance : trois catégories de territoire, une catégorie de sujet. Elles ne se classent pas sur le même axe.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 centrale. Beaucoup d'élèves classent selon ce qui les touche : corriger explicitement.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troisième carte est le critère le plus fiable. Faire l'appliquer à chaque énoncé de l'exercice.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justifier chaque réponse par le territoire ou par le sujet. Ne jamais accepter « parce que c'est important ».</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premier item est volontairement ambigu. Laisser le groupe argumenter : les deux réponses se défendent, et c'est instructif.</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donner par chacun une nouvelle qui l'a touché personnellement, puis la classer. L'exercice est éclairant.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Nuance fine mais utile. Donner trois exemples de feux à Montréal, de portées différentes.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remarquer que la première phrase suffit presque toujours à classer. C'est un réflexe d'écoute utile.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Dix minutes. Faire classer les nouvelles apportées par le groupe au tableau, en quatre colonnes. Le tableau collectif vaut mieux que l'exercice individuel.</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Écrire « voisine » et « poisson » au tableau et faire entourer ce qui suit et précède le s. La règle se déduit sans être dite.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doublement du s est une conséquence de la règle, pas une exception : le dire dans ce sens-là évite une liste à mémoriser.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la paire à retenir de la séance. La faire écrire dans le cahier avec un dessin à côté de chaque mot.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huit mots de l'exercice de sons du module en ligne, dans le même ordre. Après la correction, faire justifier chaque réponse par la position du 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troisième phrase contient les deux sons : la faire relire deux fois, une fois lentement, une fois au rythme d'un bulletin.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 titres serviront en E1, où chacun développera l'un d'eux en un vrai fait divers.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SÉANCE A2  ·  MODULE 6</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Quatre sortes de nouvelles</a:t>
            </a:r>
          </a:p>
        </p:txBody>
      </p:sp>
      <p:sp>
        <p:nvSpPr>
          <p:cNvPr id="5" name="Rounded Rectangle 4"/>
          <p:cNvSpPr/>
          <p:nvPr/>
        </p:nvSpPr>
        <p:spPr>
          <a:xfrm>
            <a:off x="566928" y="3794760"/>
            <a:ext cx="9960559" cy="1763268"/>
          </a:xfrm>
          <a:prstGeom prst="roundRect">
            <a:avLst>
              <a:gd name="adj" fmla="val 829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Un feu de forêt en Australie, une piste cyclable à Alma, un cycliste qui heurte un chevreuil. Trois nouvelles, trois catégories — et le classement n'est pas une question d'importance.</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60 minutes  ·  C'est l'heure des nouvelles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C'est l'heure des nouvelles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distinguer une nouvelle régionale, nationale et internationale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reconnaître un fait divers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classer une nouvelle d'après sa portée, pas son importance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nommer la catégorie d'une nouvelle qu'on entend ;</a:t>
            </a:r>
          </a:p>
        </p:txBody>
      </p:sp>
      <p:sp>
        <p:nvSpPr>
          <p:cNvPr id="23" name="Rounded Rectangle 22"/>
          <p:cNvSpPr/>
          <p:nvPr/>
        </p:nvSpPr>
        <p:spPr>
          <a:xfrm>
            <a:off x="566928" y="5308600"/>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ounded Rectangle 23"/>
          <p:cNvSpPr/>
          <p:nvPr/>
        </p:nvSpPr>
        <p:spPr>
          <a:xfrm>
            <a:off x="804672" y="5486400"/>
            <a:ext cx="402336" cy="402336"/>
          </a:xfrm>
          <a:prstGeom prst="roundRect">
            <a:avLst>
              <a:gd name="adj" fmla="val 31818"/>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804672" y="5568696"/>
            <a:ext cx="402336" cy="274320"/>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5</a:t>
            </a:r>
          </a:p>
        </p:txBody>
      </p:sp>
      <p:sp>
        <p:nvSpPr>
          <p:cNvPr id="26" name="TextBox 25"/>
          <p:cNvSpPr txBox="1"/>
          <p:nvPr/>
        </p:nvSpPr>
        <p:spPr>
          <a:xfrm>
            <a:off x="1408176" y="5509768"/>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distinguer le son « s » du son « z » dans le vocabulaire du bulletin.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C'est l'heure des nouvelles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Quatre catégories</a:t>
            </a:r>
          </a:p>
        </p:txBody>
      </p:sp>
      <p:sp>
        <p:nvSpPr>
          <p:cNvPr id="7" name="Rounded Rectangle 6"/>
          <p:cNvSpPr/>
          <p:nvPr/>
        </p:nvSpPr>
        <p:spPr>
          <a:xfrm>
            <a:off x="566928" y="1810512"/>
            <a:ext cx="11057839" cy="2798064"/>
          </a:xfrm>
          <a:prstGeom prst="roundRect">
            <a:avLst>
              <a:gd name="adj" fmla="val 522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4117598"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LA CATÉGORIE</a:t>
            </a:r>
          </a:p>
        </p:txBody>
      </p:sp>
      <p:sp>
        <p:nvSpPr>
          <p:cNvPr id="9" name="TextBox 8"/>
          <p:cNvSpPr txBox="1"/>
          <p:nvPr/>
        </p:nvSpPr>
        <p:spPr>
          <a:xfrm>
            <a:off x="5269742" y="1975104"/>
            <a:ext cx="5769809"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QU'ELLE TOUCHE</a:t>
            </a:r>
          </a:p>
        </p:txBody>
      </p:sp>
      <p:sp>
        <p:nvSpPr>
          <p:cNvPr id="10" name="TextBox 9"/>
          <p:cNvSpPr txBox="1"/>
          <p:nvPr/>
        </p:nvSpPr>
        <p:spPr>
          <a:xfrm>
            <a:off x="932688" y="2395728"/>
            <a:ext cx="4117598" cy="338328"/>
          </a:xfrm>
          <a:prstGeom prst="rect">
            <a:avLst/>
          </a:prstGeom>
          <a:noFill/>
        </p:spPr>
        <p:txBody>
          <a:bodyPr wrap="square" lIns="0" rIns="0" tIns="0" bIns="0" anchor="t">
            <a:spAutoFit/>
          </a:bodyPr>
          <a:lstStyle/>
          <a:p>
            <a:pPr algn="l">
              <a:lnSpc>
                <a:spcPct val="132000"/>
              </a:lnSpc>
            </a:pPr>
            <a:r>
              <a:rPr sz="1800" b="1" i="0">
                <a:solidFill>
                  <a:srgbClr val="A5335F"/>
                </a:solidFill>
                <a:latin typeface="Verdana"/>
              </a:rPr>
              <a:t>une nouvelle régionale</a:t>
            </a:r>
          </a:p>
        </p:txBody>
      </p:sp>
      <p:sp>
        <p:nvSpPr>
          <p:cNvPr id="11" name="TextBox 10"/>
          <p:cNvSpPr txBox="1"/>
          <p:nvPr/>
        </p:nvSpPr>
        <p:spPr>
          <a:xfrm>
            <a:off x="5269742" y="2395728"/>
            <a:ext cx="5769809"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une région de la province</a:t>
            </a:r>
          </a:p>
        </p:txBody>
      </p:sp>
      <p:sp>
        <p:nvSpPr>
          <p:cNvPr id="12" name="Rectangle 11"/>
          <p:cNvSpPr/>
          <p:nvPr/>
        </p:nvSpPr>
        <p:spPr>
          <a:xfrm>
            <a:off x="932688" y="2807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35224"/>
            <a:ext cx="4117598" cy="338328"/>
          </a:xfrm>
          <a:prstGeom prst="rect">
            <a:avLst/>
          </a:prstGeom>
          <a:noFill/>
        </p:spPr>
        <p:txBody>
          <a:bodyPr wrap="square" lIns="0" rIns="0" tIns="0" bIns="0" anchor="t">
            <a:spAutoFit/>
          </a:bodyPr>
          <a:lstStyle/>
          <a:p>
            <a:pPr algn="l">
              <a:lnSpc>
                <a:spcPct val="132000"/>
              </a:lnSpc>
            </a:pPr>
            <a:r>
              <a:rPr sz="1800" b="1" i="0">
                <a:solidFill>
                  <a:srgbClr val="A5335F"/>
                </a:solidFill>
                <a:latin typeface="Verdana"/>
              </a:rPr>
              <a:t>une nouvelle nationale</a:t>
            </a:r>
          </a:p>
        </p:txBody>
      </p:sp>
      <p:sp>
        <p:nvSpPr>
          <p:cNvPr id="14" name="TextBox 13"/>
          <p:cNvSpPr txBox="1"/>
          <p:nvPr/>
        </p:nvSpPr>
        <p:spPr>
          <a:xfrm>
            <a:off x="5269742" y="2935224"/>
            <a:ext cx="5769809"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la province ou le pays</a:t>
            </a:r>
          </a:p>
        </p:txBody>
      </p:sp>
      <p:sp>
        <p:nvSpPr>
          <p:cNvPr id="15" name="Rectangle 14"/>
          <p:cNvSpPr/>
          <p:nvPr/>
        </p:nvSpPr>
        <p:spPr>
          <a:xfrm>
            <a:off x="932688" y="33467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74720"/>
            <a:ext cx="4117598" cy="338328"/>
          </a:xfrm>
          <a:prstGeom prst="rect">
            <a:avLst/>
          </a:prstGeom>
          <a:noFill/>
        </p:spPr>
        <p:txBody>
          <a:bodyPr wrap="square" lIns="0" rIns="0" tIns="0" bIns="0" anchor="t">
            <a:spAutoFit/>
          </a:bodyPr>
          <a:lstStyle/>
          <a:p>
            <a:pPr algn="l">
              <a:lnSpc>
                <a:spcPct val="132000"/>
              </a:lnSpc>
            </a:pPr>
            <a:r>
              <a:rPr sz="1800" b="1" i="0">
                <a:solidFill>
                  <a:srgbClr val="A5335F"/>
                </a:solidFill>
                <a:latin typeface="Verdana"/>
              </a:rPr>
              <a:t>une nouvelle internationale</a:t>
            </a:r>
          </a:p>
        </p:txBody>
      </p:sp>
      <p:sp>
        <p:nvSpPr>
          <p:cNvPr id="17" name="TextBox 16"/>
          <p:cNvSpPr txBox="1"/>
          <p:nvPr/>
        </p:nvSpPr>
        <p:spPr>
          <a:xfrm>
            <a:off x="5269742" y="3474720"/>
            <a:ext cx="5769809"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l'extérieur du pays</a:t>
            </a:r>
          </a:p>
        </p:txBody>
      </p:sp>
      <p:sp>
        <p:nvSpPr>
          <p:cNvPr id="18" name="Rectangle 17"/>
          <p:cNvSpPr/>
          <p:nvPr/>
        </p:nvSpPr>
        <p:spPr>
          <a:xfrm>
            <a:off x="932688" y="388620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014215"/>
            <a:ext cx="4117598" cy="338328"/>
          </a:xfrm>
          <a:prstGeom prst="rect">
            <a:avLst/>
          </a:prstGeom>
          <a:noFill/>
        </p:spPr>
        <p:txBody>
          <a:bodyPr wrap="square" lIns="0" rIns="0" tIns="0" bIns="0" anchor="t">
            <a:spAutoFit/>
          </a:bodyPr>
          <a:lstStyle/>
          <a:p>
            <a:pPr algn="l">
              <a:lnSpc>
                <a:spcPct val="132000"/>
              </a:lnSpc>
            </a:pPr>
            <a:r>
              <a:rPr sz="1800" b="1" i="0">
                <a:solidFill>
                  <a:srgbClr val="A5335F"/>
                </a:solidFill>
                <a:latin typeface="Verdana"/>
              </a:rPr>
              <a:t>un fait divers</a:t>
            </a:r>
          </a:p>
        </p:txBody>
      </p:sp>
      <p:sp>
        <p:nvSpPr>
          <p:cNvPr id="20" name="TextBox 19"/>
          <p:cNvSpPr txBox="1"/>
          <p:nvPr/>
        </p:nvSpPr>
        <p:spPr>
          <a:xfrm>
            <a:off x="5269742" y="4014215"/>
            <a:ext cx="5769809"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des faits quotidiens qui attirent la curiosité</a:t>
            </a:r>
          </a:p>
        </p:txBody>
      </p:sp>
      <p:sp>
        <p:nvSpPr>
          <p:cNvPr id="21" name="Rounded Rectangle 20"/>
          <p:cNvSpPr/>
          <p:nvPr/>
        </p:nvSpPr>
        <p:spPr>
          <a:xfrm>
            <a:off x="566928" y="4846320"/>
            <a:ext cx="11057839" cy="1175004"/>
          </a:xfrm>
          <a:prstGeom prst="roundRect">
            <a:avLst>
              <a:gd name="adj" fmla="val 12451"/>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69264" y="5102352"/>
            <a:ext cx="10234879" cy="717804"/>
          </a:xfrm>
          <a:prstGeom prst="rect">
            <a:avLst/>
          </a:prstGeom>
          <a:noFill/>
        </p:spPr>
        <p:txBody>
          <a:bodyPr wrap="square" lIns="0" rIns="0" tIns="0" bIns="0" anchor="t">
            <a:spAutoFit/>
          </a:bodyPr>
          <a:lstStyle/>
          <a:p>
            <a:pPr algn="l">
              <a:lnSpc>
                <a:spcPct val="145000"/>
              </a:lnSpc>
            </a:pPr>
            <a:r>
              <a:rPr sz="1800" b="0" i="0">
                <a:solidFill>
                  <a:srgbClr val="4B4F52"/>
                </a:solidFill>
                <a:latin typeface="Verdana"/>
              </a:rPr>
              <a:t>Les trois premières se distinguent par le territoire. Le fait divers, lui, se distingue par le sujet.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C'est l'heure des nouvelles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LA RÈGLE</a:t>
            </a:r>
          </a:p>
        </p:txBody>
      </p:sp>
      <p:sp>
        <p:nvSpPr>
          <p:cNvPr id="6" name="Rounded Rectangle 5"/>
          <p:cNvSpPr/>
          <p:nvPr/>
        </p:nvSpPr>
        <p:spPr>
          <a:xfrm>
            <a:off x="566928" y="1225296"/>
            <a:ext cx="11057839" cy="1441196"/>
          </a:xfrm>
          <a:prstGeom prst="roundRect">
            <a:avLst>
              <a:gd name="adj" fmla="val 10151"/>
            </a:avLst>
          </a:prstGeom>
          <a:solidFill>
            <a:srgbClr val="FCE9F0"/>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618235"/>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La portée, pas l'importance.</a:t>
            </a:r>
          </a:p>
        </p:txBody>
      </p:sp>
      <p:sp>
        <p:nvSpPr>
          <p:cNvPr id="8" name="Rounded Rectangle 7"/>
          <p:cNvSpPr/>
          <p:nvPr/>
        </p:nvSpPr>
        <p:spPr>
          <a:xfrm>
            <a:off x="566928" y="2940812"/>
            <a:ext cx="11057839" cy="1671827"/>
          </a:xfrm>
          <a:prstGeom prst="roundRect">
            <a:avLst>
              <a:gd name="adj" fmla="val 875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215132"/>
            <a:ext cx="10234879" cy="12146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Une piste cyclable à Alma est une nouvelle régionale même si elle compte beaucoup pour les gens d'Alma. Un feu de forêt en Australie est international même s'il n'a aucun effet ici. La question est : quel territoire est concerné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C'est l'heure des nouvelles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Comment reconnaître un fait divers</a:t>
            </a:r>
          </a:p>
        </p:txBody>
      </p:sp>
      <p:sp>
        <p:nvSpPr>
          <p:cNvPr id="7" name="Rounded Rectangle 6"/>
          <p:cNvSpPr/>
          <p:nvPr/>
        </p:nvSpPr>
        <p:spPr>
          <a:xfrm>
            <a:off x="566928"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342138"/>
          </a:xfrm>
          <a:prstGeom prst="rect">
            <a:avLst/>
          </a:prstGeom>
          <a:noFill/>
        </p:spPr>
        <p:txBody>
          <a:bodyPr wrap="square" lIns="0" rIns="0" tIns="0" bIns="0" anchor="t">
            <a:spAutoFit/>
          </a:bodyPr>
          <a:lstStyle/>
          <a:p>
            <a:pPr algn="l">
              <a:lnSpc>
                <a:spcPct val="118000"/>
              </a:lnSpc>
            </a:pPr>
            <a:r>
              <a:rPr sz="2100" b="1" i="0">
                <a:solidFill>
                  <a:srgbClr val="A5335F"/>
                </a:solidFill>
                <a:latin typeface="Verdana"/>
              </a:rPr>
              <a:t>Un événement unique</a:t>
            </a:r>
          </a:p>
        </p:txBody>
      </p:sp>
      <p:sp>
        <p:nvSpPr>
          <p:cNvPr id="9" name="TextBox 8"/>
          <p:cNvSpPr txBox="1"/>
          <p:nvPr/>
        </p:nvSpPr>
        <p:spPr>
          <a:xfrm>
            <a:off x="886968" y="2454402"/>
            <a:ext cx="4806543" cy="1134618"/>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Un accident, un sauvetage, une découverte étrange. Ce n'est pas une tendance ni une décision politique : c'est quelque chose qui est arrivé une fois.</a:t>
            </a:r>
          </a:p>
        </p:txBody>
      </p:sp>
      <p:sp>
        <p:nvSpPr>
          <p:cNvPr id="10" name="Rounded Rectangle 9"/>
          <p:cNvSpPr/>
          <p:nvPr/>
        </p:nvSpPr>
        <p:spPr>
          <a:xfrm>
            <a:off x="6178143"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342138"/>
          </a:xfrm>
          <a:prstGeom prst="rect">
            <a:avLst/>
          </a:prstGeom>
          <a:noFill/>
        </p:spPr>
        <p:txBody>
          <a:bodyPr wrap="square" lIns="0" rIns="0" tIns="0" bIns="0" anchor="t">
            <a:spAutoFit/>
          </a:bodyPr>
          <a:lstStyle/>
          <a:p>
            <a:pPr algn="l">
              <a:lnSpc>
                <a:spcPct val="118000"/>
              </a:lnSpc>
            </a:pPr>
            <a:r>
              <a:rPr sz="2100" b="1" i="0">
                <a:solidFill>
                  <a:srgbClr val="A5335F"/>
                </a:solidFill>
                <a:latin typeface="Verdana"/>
              </a:rPr>
              <a:t>Des personnes ordinaires</a:t>
            </a:r>
          </a:p>
        </p:txBody>
      </p:sp>
      <p:sp>
        <p:nvSpPr>
          <p:cNvPr id="12" name="TextBox 11"/>
          <p:cNvSpPr txBox="1"/>
          <p:nvPr/>
        </p:nvSpPr>
        <p:spPr>
          <a:xfrm>
            <a:off x="6498183" y="2454402"/>
            <a:ext cx="4806543" cy="1134618"/>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Une fillette, un cycliste, une voisine. Pas de ministre, pas d'entreprise, pas d'institution en vedette.</a:t>
            </a:r>
          </a:p>
        </p:txBody>
      </p:sp>
      <p:sp>
        <p:nvSpPr>
          <p:cNvPr id="13" name="Rounded Rectangle 12"/>
          <p:cNvSpPr/>
          <p:nvPr/>
        </p:nvSpPr>
        <p:spPr>
          <a:xfrm>
            <a:off x="566928"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4302252"/>
            <a:ext cx="4806543" cy="342138"/>
          </a:xfrm>
          <a:prstGeom prst="rect">
            <a:avLst/>
          </a:prstGeom>
          <a:noFill/>
        </p:spPr>
        <p:txBody>
          <a:bodyPr wrap="square" lIns="0" rIns="0" tIns="0" bIns="0" anchor="t">
            <a:spAutoFit/>
          </a:bodyPr>
          <a:lstStyle/>
          <a:p>
            <a:pPr algn="l">
              <a:lnSpc>
                <a:spcPct val="118000"/>
              </a:lnSpc>
            </a:pPr>
            <a:r>
              <a:rPr sz="2100" b="1" i="0">
                <a:solidFill>
                  <a:srgbClr val="A5335F"/>
                </a:solidFill>
                <a:latin typeface="Verdana"/>
              </a:rPr>
              <a:t>Aucune conséquence générale</a:t>
            </a:r>
          </a:p>
        </p:txBody>
      </p:sp>
      <p:sp>
        <p:nvSpPr>
          <p:cNvPr id="15" name="TextBox 14"/>
          <p:cNvSpPr txBox="1"/>
          <p:nvPr/>
        </p:nvSpPr>
        <p:spPr>
          <a:xfrm>
            <a:off x="886968" y="4671822"/>
            <a:ext cx="4806543" cy="1134618"/>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Le chat retrouvé ne change rien pour personne d'autre que sa famille. C'est ce qui distingue le fait divers de la nouvelle nationale.</a:t>
            </a:r>
          </a:p>
        </p:txBody>
      </p:sp>
      <p:sp>
        <p:nvSpPr>
          <p:cNvPr id="16" name="Rounded Rectangle 15"/>
          <p:cNvSpPr/>
          <p:nvPr/>
        </p:nvSpPr>
        <p:spPr>
          <a:xfrm>
            <a:off x="6178143"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98183" y="4302252"/>
            <a:ext cx="4806543" cy="342138"/>
          </a:xfrm>
          <a:prstGeom prst="rect">
            <a:avLst/>
          </a:prstGeom>
          <a:noFill/>
        </p:spPr>
        <p:txBody>
          <a:bodyPr wrap="square" lIns="0" rIns="0" tIns="0" bIns="0" anchor="t">
            <a:spAutoFit/>
          </a:bodyPr>
          <a:lstStyle/>
          <a:p>
            <a:pPr algn="l">
              <a:lnSpc>
                <a:spcPct val="118000"/>
              </a:lnSpc>
            </a:pPr>
            <a:r>
              <a:rPr sz="2100" b="1" i="0">
                <a:solidFill>
                  <a:srgbClr val="A5335F"/>
                </a:solidFill>
                <a:latin typeface="Verdana"/>
              </a:rPr>
              <a:t>Ce qui attire la curiosité</a:t>
            </a:r>
          </a:p>
        </p:txBody>
      </p:sp>
      <p:sp>
        <p:nvSpPr>
          <p:cNvPr id="18" name="TextBox 17"/>
          <p:cNvSpPr txBox="1"/>
          <p:nvPr/>
        </p:nvSpPr>
        <p:spPr>
          <a:xfrm>
            <a:off x="6498183" y="4671822"/>
            <a:ext cx="4806543" cy="1134618"/>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Le fait divers est raconté parce qu'il touche, surprend ou émeut — pas parce qu'il faut le savoir.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C'est l'heure des nouvelles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PRATIQUE · 1 DE 6</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Classez la nouvelle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Fait divers, régionale, nationale ou internationale ?</a:t>
            </a:r>
          </a:p>
        </p:txBody>
      </p:sp>
      <p:sp>
        <p:nvSpPr>
          <p:cNvPr id="8" name="Rounded Rectangle 7"/>
          <p:cNvSpPr/>
          <p:nvPr/>
        </p:nvSpPr>
        <p:spPr>
          <a:xfrm>
            <a:off x="566928" y="2139696"/>
            <a:ext cx="11057839" cy="844296"/>
          </a:xfrm>
          <a:prstGeom prst="roundRect">
            <a:avLst>
              <a:gd name="adj" fmla="val 1732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378964"/>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442972"/>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1</a:t>
            </a:r>
          </a:p>
        </p:txBody>
      </p:sp>
      <p:sp>
        <p:nvSpPr>
          <p:cNvPr id="11" name="TextBox 10"/>
          <p:cNvSpPr txBox="1"/>
          <p:nvPr/>
        </p:nvSpPr>
        <p:spPr>
          <a:xfrm>
            <a:off x="1344168" y="2295144"/>
            <a:ext cx="10097719" cy="569976"/>
          </a:xfrm>
          <a:prstGeom prst="rect">
            <a:avLst/>
          </a:prstGeom>
          <a:noFill/>
        </p:spPr>
        <p:txBody>
          <a:bodyPr wrap="square" lIns="0" rIns="0" tIns="0" bIns="0" anchor="t">
            <a:spAutoFit/>
          </a:bodyPr>
          <a:lstStyle/>
          <a:p>
            <a:pPr algn="l">
              <a:lnSpc>
                <a:spcPct val="140000"/>
              </a:lnSpc>
            </a:pPr>
            <a:r>
              <a:rPr sz="1500" b="0" i="0">
                <a:solidFill>
                  <a:srgbClr val="3A3D40"/>
                </a:solidFill>
                <a:latin typeface="Verdana"/>
              </a:rPr>
              <a:t>En Australie, des feux de forêt forcent l'évacuation de plusieurs villages.</a:t>
            </a:r>
          </a:p>
        </p:txBody>
      </p:sp>
      <p:sp>
        <p:nvSpPr>
          <p:cNvPr id="12" name="Rounded Rectangle 11"/>
          <p:cNvSpPr/>
          <p:nvPr/>
        </p:nvSpPr>
        <p:spPr>
          <a:xfrm>
            <a:off x="566928" y="3112008"/>
            <a:ext cx="11057839" cy="577596"/>
          </a:xfrm>
          <a:prstGeom prst="roundRect">
            <a:avLst>
              <a:gd name="adj" fmla="val 2532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217926"/>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281933"/>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2</a:t>
            </a:r>
          </a:p>
        </p:txBody>
      </p:sp>
      <p:sp>
        <p:nvSpPr>
          <p:cNvPr id="15" name="TextBox 14"/>
          <p:cNvSpPr txBox="1"/>
          <p:nvPr/>
        </p:nvSpPr>
        <p:spPr>
          <a:xfrm>
            <a:off x="1344168" y="3267456"/>
            <a:ext cx="10097719" cy="303276"/>
          </a:xfrm>
          <a:prstGeom prst="rect">
            <a:avLst/>
          </a:prstGeom>
          <a:noFill/>
        </p:spPr>
        <p:txBody>
          <a:bodyPr wrap="square" lIns="0" rIns="0" tIns="0" bIns="0" anchor="t">
            <a:spAutoFit/>
          </a:bodyPr>
          <a:lstStyle/>
          <a:p>
            <a:pPr algn="l">
              <a:lnSpc>
                <a:spcPct val="140000"/>
              </a:lnSpc>
            </a:pPr>
            <a:r>
              <a:rPr sz="1500" b="0" i="0">
                <a:solidFill>
                  <a:srgbClr val="3A3D40"/>
                </a:solidFill>
                <a:latin typeface="Verdana"/>
              </a:rPr>
              <a:t>Une pénurie de main-d'œuvre touche plusieurs secteurs au Canada.</a:t>
            </a:r>
          </a:p>
        </p:txBody>
      </p:sp>
      <p:sp>
        <p:nvSpPr>
          <p:cNvPr id="16" name="Rounded Rectangle 15"/>
          <p:cNvSpPr/>
          <p:nvPr/>
        </p:nvSpPr>
        <p:spPr>
          <a:xfrm>
            <a:off x="566928" y="3817620"/>
            <a:ext cx="11057839" cy="844296"/>
          </a:xfrm>
          <a:prstGeom prst="roundRect">
            <a:avLst>
              <a:gd name="adj" fmla="val 1732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4056888"/>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4120896"/>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3</a:t>
            </a:r>
          </a:p>
        </p:txBody>
      </p:sp>
      <p:sp>
        <p:nvSpPr>
          <p:cNvPr id="19" name="TextBox 18"/>
          <p:cNvSpPr txBox="1"/>
          <p:nvPr/>
        </p:nvSpPr>
        <p:spPr>
          <a:xfrm>
            <a:off x="1344168" y="3973068"/>
            <a:ext cx="10097719" cy="569976"/>
          </a:xfrm>
          <a:prstGeom prst="rect">
            <a:avLst/>
          </a:prstGeom>
          <a:noFill/>
        </p:spPr>
        <p:txBody>
          <a:bodyPr wrap="square" lIns="0" rIns="0" tIns="0" bIns="0" anchor="t">
            <a:spAutoFit/>
          </a:bodyPr>
          <a:lstStyle/>
          <a:p>
            <a:pPr algn="l">
              <a:lnSpc>
                <a:spcPct val="140000"/>
              </a:lnSpc>
            </a:pPr>
            <a:r>
              <a:rPr sz="1500" b="0" i="0">
                <a:solidFill>
                  <a:srgbClr val="3A3D40"/>
                </a:solidFill>
                <a:latin typeface="Verdana"/>
              </a:rPr>
              <a:t>Un cycliste entre en collision avec un chevreuil sur une route de campagne.</a:t>
            </a:r>
          </a:p>
        </p:txBody>
      </p:sp>
      <p:sp>
        <p:nvSpPr>
          <p:cNvPr id="20" name="Rounded Rectangle 19"/>
          <p:cNvSpPr/>
          <p:nvPr/>
        </p:nvSpPr>
        <p:spPr>
          <a:xfrm>
            <a:off x="566928" y="4789932"/>
            <a:ext cx="11057839" cy="577596"/>
          </a:xfrm>
          <a:prstGeom prst="roundRect">
            <a:avLst>
              <a:gd name="adj" fmla="val 2532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895850"/>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959858"/>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4</a:t>
            </a:r>
          </a:p>
        </p:txBody>
      </p:sp>
      <p:sp>
        <p:nvSpPr>
          <p:cNvPr id="23" name="TextBox 22"/>
          <p:cNvSpPr txBox="1"/>
          <p:nvPr/>
        </p:nvSpPr>
        <p:spPr>
          <a:xfrm>
            <a:off x="1344168" y="4945380"/>
            <a:ext cx="10097719" cy="303276"/>
          </a:xfrm>
          <a:prstGeom prst="rect">
            <a:avLst/>
          </a:prstGeom>
          <a:noFill/>
        </p:spPr>
        <p:txBody>
          <a:bodyPr wrap="square" lIns="0" rIns="0" tIns="0" bIns="0" anchor="t">
            <a:spAutoFit/>
          </a:bodyPr>
          <a:lstStyle/>
          <a:p>
            <a:pPr algn="l">
              <a:lnSpc>
                <a:spcPct val="140000"/>
              </a:lnSpc>
            </a:pPr>
            <a:r>
              <a:rPr sz="1500" b="0" i="0">
                <a:solidFill>
                  <a:srgbClr val="3A3D40"/>
                </a:solidFill>
                <a:latin typeface="Verdana"/>
              </a:rPr>
              <a:t>Une nouvelle piste cyclable aménagée à Alma.</a:t>
            </a:r>
          </a:p>
        </p:txBody>
      </p:sp>
      <p:sp>
        <p:nvSpPr>
          <p:cNvPr id="24" name="Rounded Rectangle 23"/>
          <p:cNvSpPr/>
          <p:nvPr/>
        </p:nvSpPr>
        <p:spPr>
          <a:xfrm>
            <a:off x="566928" y="5495544"/>
            <a:ext cx="11057839" cy="577596"/>
          </a:xfrm>
          <a:prstGeom prst="roundRect">
            <a:avLst>
              <a:gd name="adj" fmla="val 2532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5601462"/>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665470"/>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5</a:t>
            </a:r>
          </a:p>
        </p:txBody>
      </p:sp>
      <p:sp>
        <p:nvSpPr>
          <p:cNvPr id="27" name="TextBox 26"/>
          <p:cNvSpPr txBox="1"/>
          <p:nvPr/>
        </p:nvSpPr>
        <p:spPr>
          <a:xfrm>
            <a:off x="1344168" y="5650992"/>
            <a:ext cx="10097719" cy="303276"/>
          </a:xfrm>
          <a:prstGeom prst="rect">
            <a:avLst/>
          </a:prstGeom>
          <a:noFill/>
        </p:spPr>
        <p:txBody>
          <a:bodyPr wrap="square" lIns="0" rIns="0" tIns="0" bIns="0" anchor="t">
            <a:spAutoFit/>
          </a:bodyPr>
          <a:lstStyle/>
          <a:p>
            <a:pPr algn="l">
              <a:lnSpc>
                <a:spcPct val="140000"/>
              </a:lnSpc>
            </a:pPr>
            <a:r>
              <a:rPr sz="1500" b="0" i="0">
                <a:solidFill>
                  <a:srgbClr val="3A3D40"/>
                </a:solidFill>
                <a:latin typeface="Verdana"/>
              </a:rPr>
              <a:t>L'endettement des ménages canadiens continue d'augmenter.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C'est l'heure des nouvelles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Classez la nouvelle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844296"/>
          </a:xfrm>
          <a:prstGeom prst="roundRect">
            <a:avLst>
              <a:gd name="adj" fmla="val 17328"/>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378964"/>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442972"/>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1</a:t>
            </a:r>
          </a:p>
        </p:txBody>
      </p:sp>
      <p:sp>
        <p:nvSpPr>
          <p:cNvPr id="11" name="TextBox 10"/>
          <p:cNvSpPr txBox="1"/>
          <p:nvPr/>
        </p:nvSpPr>
        <p:spPr>
          <a:xfrm>
            <a:off x="1344168" y="2295144"/>
            <a:ext cx="10097719" cy="569976"/>
          </a:xfrm>
          <a:prstGeom prst="rect">
            <a:avLst/>
          </a:prstGeom>
          <a:noFill/>
        </p:spPr>
        <p:txBody>
          <a:bodyPr wrap="square" lIns="0" rIns="0" tIns="0" bIns="0" anchor="t">
            <a:spAutoFit/>
          </a:bodyPr>
          <a:lstStyle/>
          <a:p>
            <a:pPr algn="l">
              <a:lnSpc>
                <a:spcPct val="140000"/>
              </a:lnSpc>
            </a:pPr>
            <a:r>
              <a:rPr sz="1500" b="0" i="0">
                <a:solidFill>
                  <a:srgbClr val="3A3D40"/>
                </a:solidFill>
                <a:latin typeface="Verdana"/>
              </a:rPr>
              <a:t>En Australie, des feux de forêt forcent l'évacuation de plusieurs villages.   </a:t>
            </a:r>
            <a:r>
              <a:rPr sz="1500" b="1" i="0">
                <a:solidFill>
                  <a:srgbClr val="07734A"/>
                </a:solidFill>
                <a:latin typeface="Verdana"/>
              </a:rPr>
              <a:t>» internationale — hors du pays</a:t>
            </a:r>
          </a:p>
        </p:txBody>
      </p:sp>
      <p:sp>
        <p:nvSpPr>
          <p:cNvPr id="12" name="Rounded Rectangle 11"/>
          <p:cNvSpPr/>
          <p:nvPr/>
        </p:nvSpPr>
        <p:spPr>
          <a:xfrm>
            <a:off x="566928" y="3112008"/>
            <a:ext cx="11057839" cy="577596"/>
          </a:xfrm>
          <a:prstGeom prst="roundRect">
            <a:avLst>
              <a:gd name="adj" fmla="val 25329"/>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217926"/>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281933"/>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2</a:t>
            </a:r>
          </a:p>
        </p:txBody>
      </p:sp>
      <p:sp>
        <p:nvSpPr>
          <p:cNvPr id="15" name="TextBox 14"/>
          <p:cNvSpPr txBox="1"/>
          <p:nvPr/>
        </p:nvSpPr>
        <p:spPr>
          <a:xfrm>
            <a:off x="1344168" y="3267456"/>
            <a:ext cx="10097719" cy="303276"/>
          </a:xfrm>
          <a:prstGeom prst="rect">
            <a:avLst/>
          </a:prstGeom>
          <a:noFill/>
        </p:spPr>
        <p:txBody>
          <a:bodyPr wrap="square" lIns="0" rIns="0" tIns="0" bIns="0" anchor="t">
            <a:spAutoFit/>
          </a:bodyPr>
          <a:lstStyle/>
          <a:p>
            <a:pPr algn="l">
              <a:lnSpc>
                <a:spcPct val="140000"/>
              </a:lnSpc>
            </a:pPr>
            <a:r>
              <a:rPr sz="1500" b="0" i="0">
                <a:solidFill>
                  <a:srgbClr val="3A3D40"/>
                </a:solidFill>
                <a:latin typeface="Verdana"/>
              </a:rPr>
              <a:t>Une pénurie de main-d'œuvre touche plusieurs secteurs au Canada.   </a:t>
            </a:r>
            <a:r>
              <a:rPr sz="1500" b="1" i="0">
                <a:solidFill>
                  <a:srgbClr val="07734A"/>
                </a:solidFill>
                <a:latin typeface="Verdana"/>
              </a:rPr>
              <a:t>» nationale — tout le pays</a:t>
            </a:r>
          </a:p>
        </p:txBody>
      </p:sp>
      <p:sp>
        <p:nvSpPr>
          <p:cNvPr id="16" name="Rounded Rectangle 15"/>
          <p:cNvSpPr/>
          <p:nvPr/>
        </p:nvSpPr>
        <p:spPr>
          <a:xfrm>
            <a:off x="566928" y="3817620"/>
            <a:ext cx="11057839" cy="844296"/>
          </a:xfrm>
          <a:prstGeom prst="roundRect">
            <a:avLst>
              <a:gd name="adj" fmla="val 17328"/>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4056888"/>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4120896"/>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3</a:t>
            </a:r>
          </a:p>
        </p:txBody>
      </p:sp>
      <p:sp>
        <p:nvSpPr>
          <p:cNvPr id="19" name="TextBox 18"/>
          <p:cNvSpPr txBox="1"/>
          <p:nvPr/>
        </p:nvSpPr>
        <p:spPr>
          <a:xfrm>
            <a:off x="1344168" y="3973068"/>
            <a:ext cx="10097719" cy="569976"/>
          </a:xfrm>
          <a:prstGeom prst="rect">
            <a:avLst/>
          </a:prstGeom>
          <a:noFill/>
        </p:spPr>
        <p:txBody>
          <a:bodyPr wrap="square" lIns="0" rIns="0" tIns="0" bIns="0" anchor="t">
            <a:spAutoFit/>
          </a:bodyPr>
          <a:lstStyle/>
          <a:p>
            <a:pPr algn="l">
              <a:lnSpc>
                <a:spcPct val="140000"/>
              </a:lnSpc>
            </a:pPr>
            <a:r>
              <a:rPr sz="1500" b="0" i="0">
                <a:solidFill>
                  <a:srgbClr val="3A3D40"/>
                </a:solidFill>
                <a:latin typeface="Verdana"/>
              </a:rPr>
              <a:t>Un cycliste entre en collision avec un chevreuil sur une route de campagne.   </a:t>
            </a:r>
            <a:r>
              <a:rPr sz="1500" b="1" i="0">
                <a:solidFill>
                  <a:srgbClr val="07734A"/>
                </a:solidFill>
                <a:latin typeface="Verdana"/>
              </a:rPr>
              <a:t>» fait divers — un événement unique</a:t>
            </a:r>
          </a:p>
        </p:txBody>
      </p:sp>
      <p:sp>
        <p:nvSpPr>
          <p:cNvPr id="20" name="Rounded Rectangle 19"/>
          <p:cNvSpPr/>
          <p:nvPr/>
        </p:nvSpPr>
        <p:spPr>
          <a:xfrm>
            <a:off x="566928" y="4789932"/>
            <a:ext cx="11057839" cy="577596"/>
          </a:xfrm>
          <a:prstGeom prst="roundRect">
            <a:avLst>
              <a:gd name="adj" fmla="val 25329"/>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895850"/>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959858"/>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4</a:t>
            </a:r>
          </a:p>
        </p:txBody>
      </p:sp>
      <p:sp>
        <p:nvSpPr>
          <p:cNvPr id="23" name="TextBox 22"/>
          <p:cNvSpPr txBox="1"/>
          <p:nvPr/>
        </p:nvSpPr>
        <p:spPr>
          <a:xfrm>
            <a:off x="1344168" y="4945380"/>
            <a:ext cx="10097719" cy="303276"/>
          </a:xfrm>
          <a:prstGeom prst="rect">
            <a:avLst/>
          </a:prstGeom>
          <a:noFill/>
        </p:spPr>
        <p:txBody>
          <a:bodyPr wrap="square" lIns="0" rIns="0" tIns="0" bIns="0" anchor="t">
            <a:spAutoFit/>
          </a:bodyPr>
          <a:lstStyle/>
          <a:p>
            <a:pPr algn="l">
              <a:lnSpc>
                <a:spcPct val="140000"/>
              </a:lnSpc>
            </a:pPr>
            <a:r>
              <a:rPr sz="1500" b="0" i="0">
                <a:solidFill>
                  <a:srgbClr val="3A3D40"/>
                </a:solidFill>
                <a:latin typeface="Verdana"/>
              </a:rPr>
              <a:t>Une nouvelle piste cyclable aménagée à Alma.   </a:t>
            </a:r>
            <a:r>
              <a:rPr sz="1500" b="1" i="0">
                <a:solidFill>
                  <a:srgbClr val="07734A"/>
                </a:solidFill>
                <a:latin typeface="Verdana"/>
              </a:rPr>
              <a:t>» régionale — une ville</a:t>
            </a:r>
          </a:p>
        </p:txBody>
      </p:sp>
      <p:sp>
        <p:nvSpPr>
          <p:cNvPr id="24" name="Rounded Rectangle 23"/>
          <p:cNvSpPr/>
          <p:nvPr/>
        </p:nvSpPr>
        <p:spPr>
          <a:xfrm>
            <a:off x="566928" y="5495544"/>
            <a:ext cx="11057839" cy="577596"/>
          </a:xfrm>
          <a:prstGeom prst="roundRect">
            <a:avLst>
              <a:gd name="adj" fmla="val 25329"/>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5601462"/>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665470"/>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5</a:t>
            </a:r>
          </a:p>
        </p:txBody>
      </p:sp>
      <p:sp>
        <p:nvSpPr>
          <p:cNvPr id="27" name="TextBox 26"/>
          <p:cNvSpPr txBox="1"/>
          <p:nvPr/>
        </p:nvSpPr>
        <p:spPr>
          <a:xfrm>
            <a:off x="1344168" y="5650992"/>
            <a:ext cx="10097719" cy="303276"/>
          </a:xfrm>
          <a:prstGeom prst="rect">
            <a:avLst/>
          </a:prstGeom>
          <a:noFill/>
        </p:spPr>
        <p:txBody>
          <a:bodyPr wrap="square" lIns="0" rIns="0" tIns="0" bIns="0" anchor="t">
            <a:spAutoFit/>
          </a:bodyPr>
          <a:lstStyle/>
          <a:p>
            <a:pPr algn="l">
              <a:lnSpc>
                <a:spcPct val="140000"/>
              </a:lnSpc>
            </a:pPr>
            <a:r>
              <a:rPr sz="1500" b="0" i="0">
                <a:solidFill>
                  <a:srgbClr val="3A3D40"/>
                </a:solidFill>
                <a:latin typeface="Verdana"/>
              </a:rPr>
              <a:t>L'endettement des ménages canadiens continue d'augmenter.   </a:t>
            </a:r>
            <a:r>
              <a:rPr sz="1500" b="1" i="0">
                <a:solidFill>
                  <a:srgbClr val="07734A"/>
                </a:solidFill>
                <a:latin typeface="Verdana"/>
              </a:rPr>
              <a:t>» nationale — une tendance au pays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C'est l'heure des nouvelles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PRATIQUE · 2 DE 6</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Régionale ou fait divers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Le plus difficile : les deux se passent près de chez nous.</a:t>
            </a:r>
          </a:p>
        </p:txBody>
      </p:sp>
      <p:sp>
        <p:nvSpPr>
          <p:cNvPr id="8" name="Rounded Rectangle 7"/>
          <p:cNvSpPr/>
          <p:nvPr/>
        </p:nvSpPr>
        <p:spPr>
          <a:xfrm>
            <a:off x="566928" y="2139696"/>
            <a:ext cx="11057839" cy="879856"/>
          </a:xfrm>
          <a:prstGeom prst="roundRect">
            <a:avLst>
              <a:gd name="adj" fmla="val 1662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396744"/>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460751"/>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1</a:t>
            </a:r>
          </a:p>
        </p:txBody>
      </p:sp>
      <p:sp>
        <p:nvSpPr>
          <p:cNvPr id="11" name="TextBox 10"/>
          <p:cNvSpPr txBox="1"/>
          <p:nvPr/>
        </p:nvSpPr>
        <p:spPr>
          <a:xfrm>
            <a:off x="1344168" y="2295144"/>
            <a:ext cx="10097719" cy="605536"/>
          </a:xfrm>
          <a:prstGeom prst="rect">
            <a:avLst/>
          </a:prstGeom>
          <a:noFill/>
        </p:spPr>
        <p:txBody>
          <a:bodyPr wrap="square" lIns="0" rIns="0" tIns="0" bIns="0" anchor="t">
            <a:spAutoFit/>
          </a:bodyPr>
          <a:lstStyle/>
          <a:p>
            <a:pPr algn="l">
              <a:lnSpc>
                <a:spcPct val="140000"/>
              </a:lnSpc>
            </a:pPr>
            <a:r>
              <a:rPr sz="1600" b="0" i="0">
                <a:solidFill>
                  <a:srgbClr val="3A3D40"/>
                </a:solidFill>
                <a:latin typeface="Verdana"/>
              </a:rPr>
              <a:t>Une école de Longueuil amasse deux cents paires de mitaines.</a:t>
            </a:r>
          </a:p>
        </p:txBody>
      </p:sp>
      <p:sp>
        <p:nvSpPr>
          <p:cNvPr id="12" name="Rounded Rectangle 11"/>
          <p:cNvSpPr/>
          <p:nvPr/>
        </p:nvSpPr>
        <p:spPr>
          <a:xfrm>
            <a:off x="566928" y="3147568"/>
            <a:ext cx="11057839" cy="879856"/>
          </a:xfrm>
          <a:prstGeom prst="roundRect">
            <a:avLst>
              <a:gd name="adj" fmla="val 1662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404616"/>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468623"/>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2</a:t>
            </a:r>
          </a:p>
        </p:txBody>
      </p:sp>
      <p:sp>
        <p:nvSpPr>
          <p:cNvPr id="15" name="TextBox 14"/>
          <p:cNvSpPr txBox="1"/>
          <p:nvPr/>
        </p:nvSpPr>
        <p:spPr>
          <a:xfrm>
            <a:off x="1344168" y="3303016"/>
            <a:ext cx="10097719" cy="605536"/>
          </a:xfrm>
          <a:prstGeom prst="rect">
            <a:avLst/>
          </a:prstGeom>
          <a:noFill/>
        </p:spPr>
        <p:txBody>
          <a:bodyPr wrap="square" lIns="0" rIns="0" tIns="0" bIns="0" anchor="t">
            <a:spAutoFit/>
          </a:bodyPr>
          <a:lstStyle/>
          <a:p>
            <a:pPr algn="l">
              <a:lnSpc>
                <a:spcPct val="140000"/>
              </a:lnSpc>
            </a:pPr>
            <a:r>
              <a:rPr sz="1600" b="0" i="0">
                <a:solidFill>
                  <a:srgbClr val="3A3D40"/>
                </a:solidFill>
                <a:latin typeface="Verdana"/>
              </a:rPr>
              <a:t>La Ville de Longueuil augmente les taxes de deux pour cent.</a:t>
            </a:r>
          </a:p>
        </p:txBody>
      </p:sp>
      <p:sp>
        <p:nvSpPr>
          <p:cNvPr id="16" name="Rounded Rectangle 15"/>
          <p:cNvSpPr/>
          <p:nvPr/>
        </p:nvSpPr>
        <p:spPr>
          <a:xfrm>
            <a:off x="566928" y="4155440"/>
            <a:ext cx="11057839" cy="879856"/>
          </a:xfrm>
          <a:prstGeom prst="roundRect">
            <a:avLst>
              <a:gd name="adj" fmla="val 1662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4412488"/>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4476496"/>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3</a:t>
            </a:r>
          </a:p>
        </p:txBody>
      </p:sp>
      <p:sp>
        <p:nvSpPr>
          <p:cNvPr id="19" name="TextBox 18"/>
          <p:cNvSpPr txBox="1"/>
          <p:nvPr/>
        </p:nvSpPr>
        <p:spPr>
          <a:xfrm>
            <a:off x="1344168" y="4310888"/>
            <a:ext cx="10097719" cy="605536"/>
          </a:xfrm>
          <a:prstGeom prst="rect">
            <a:avLst/>
          </a:prstGeom>
          <a:noFill/>
        </p:spPr>
        <p:txBody>
          <a:bodyPr wrap="square" lIns="0" rIns="0" tIns="0" bIns="0" anchor="t">
            <a:spAutoFit/>
          </a:bodyPr>
          <a:lstStyle/>
          <a:p>
            <a:pPr algn="l">
              <a:lnSpc>
                <a:spcPct val="140000"/>
              </a:lnSpc>
            </a:pPr>
            <a:r>
              <a:rPr sz="1600" b="0" i="0">
                <a:solidFill>
                  <a:srgbClr val="3A3D40"/>
                </a:solidFill>
                <a:latin typeface="Verdana"/>
              </a:rPr>
              <a:t>Une fillette retrouve son chat grâce à une affiche.</a:t>
            </a:r>
          </a:p>
        </p:txBody>
      </p:sp>
      <p:sp>
        <p:nvSpPr>
          <p:cNvPr id="20" name="Rounded Rectangle 19"/>
          <p:cNvSpPr/>
          <p:nvPr/>
        </p:nvSpPr>
        <p:spPr>
          <a:xfrm>
            <a:off x="566928" y="5163312"/>
            <a:ext cx="11057839" cy="595376"/>
          </a:xfrm>
          <a:prstGeom prst="roundRect">
            <a:avLst>
              <a:gd name="adj" fmla="val 2457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5278120"/>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5342128"/>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4</a:t>
            </a:r>
          </a:p>
        </p:txBody>
      </p:sp>
      <p:sp>
        <p:nvSpPr>
          <p:cNvPr id="23" name="TextBox 22"/>
          <p:cNvSpPr txBox="1"/>
          <p:nvPr/>
        </p:nvSpPr>
        <p:spPr>
          <a:xfrm>
            <a:off x="1344168" y="5318760"/>
            <a:ext cx="10097719" cy="321056"/>
          </a:xfrm>
          <a:prstGeom prst="rect">
            <a:avLst/>
          </a:prstGeom>
          <a:noFill/>
        </p:spPr>
        <p:txBody>
          <a:bodyPr wrap="square" lIns="0" rIns="0" tIns="0" bIns="0" anchor="t">
            <a:spAutoFit/>
          </a:bodyPr>
          <a:lstStyle/>
          <a:p>
            <a:pPr algn="l">
              <a:lnSpc>
                <a:spcPct val="140000"/>
              </a:lnSpc>
            </a:pPr>
            <a:r>
              <a:rPr sz="1600" b="0" i="0">
                <a:solidFill>
                  <a:srgbClr val="3A3D40"/>
                </a:solidFill>
                <a:latin typeface="Verdana"/>
              </a:rPr>
              <a:t>Un nouveau CHSLD ouvrira à Sherbrooke l'an prochain.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C'est l'heure des nouvelles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Régionale ou fait divers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879856"/>
          </a:xfrm>
          <a:prstGeom prst="roundRect">
            <a:avLst>
              <a:gd name="adj" fmla="val 16628"/>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396744"/>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460751"/>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1</a:t>
            </a:r>
          </a:p>
        </p:txBody>
      </p:sp>
      <p:sp>
        <p:nvSpPr>
          <p:cNvPr id="11" name="TextBox 10"/>
          <p:cNvSpPr txBox="1"/>
          <p:nvPr/>
        </p:nvSpPr>
        <p:spPr>
          <a:xfrm>
            <a:off x="1344168" y="2295144"/>
            <a:ext cx="10097719" cy="605536"/>
          </a:xfrm>
          <a:prstGeom prst="rect">
            <a:avLst/>
          </a:prstGeom>
          <a:noFill/>
        </p:spPr>
        <p:txBody>
          <a:bodyPr wrap="square" lIns="0" rIns="0" tIns="0" bIns="0" anchor="t">
            <a:spAutoFit/>
          </a:bodyPr>
          <a:lstStyle/>
          <a:p>
            <a:pPr algn="l">
              <a:lnSpc>
                <a:spcPct val="140000"/>
              </a:lnSpc>
            </a:pPr>
            <a:r>
              <a:rPr sz="1600" b="0" i="0">
                <a:solidFill>
                  <a:srgbClr val="3A3D40"/>
                </a:solidFill>
                <a:latin typeface="Verdana"/>
              </a:rPr>
              <a:t>Une école de Longueuil amasse deux cents paires de mitaines.   </a:t>
            </a:r>
            <a:r>
              <a:rPr sz="1600" b="1" i="0">
                <a:solidFill>
                  <a:srgbClr val="07734A"/>
                </a:solidFill>
                <a:latin typeface="Verdana"/>
              </a:rPr>
              <a:t>» fait divers ou régionale — les deux se défendent</a:t>
            </a:r>
          </a:p>
        </p:txBody>
      </p:sp>
      <p:sp>
        <p:nvSpPr>
          <p:cNvPr id="12" name="Rounded Rectangle 11"/>
          <p:cNvSpPr/>
          <p:nvPr/>
        </p:nvSpPr>
        <p:spPr>
          <a:xfrm>
            <a:off x="566928" y="3147568"/>
            <a:ext cx="11057839" cy="879856"/>
          </a:xfrm>
          <a:prstGeom prst="roundRect">
            <a:avLst>
              <a:gd name="adj" fmla="val 16628"/>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404616"/>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468623"/>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2</a:t>
            </a:r>
          </a:p>
        </p:txBody>
      </p:sp>
      <p:sp>
        <p:nvSpPr>
          <p:cNvPr id="15" name="TextBox 14"/>
          <p:cNvSpPr txBox="1"/>
          <p:nvPr/>
        </p:nvSpPr>
        <p:spPr>
          <a:xfrm>
            <a:off x="1344168" y="3303016"/>
            <a:ext cx="10097719" cy="605536"/>
          </a:xfrm>
          <a:prstGeom prst="rect">
            <a:avLst/>
          </a:prstGeom>
          <a:noFill/>
        </p:spPr>
        <p:txBody>
          <a:bodyPr wrap="square" lIns="0" rIns="0" tIns="0" bIns="0" anchor="t">
            <a:spAutoFit/>
          </a:bodyPr>
          <a:lstStyle/>
          <a:p>
            <a:pPr algn="l">
              <a:lnSpc>
                <a:spcPct val="140000"/>
              </a:lnSpc>
            </a:pPr>
            <a:r>
              <a:rPr sz="1600" b="0" i="0">
                <a:solidFill>
                  <a:srgbClr val="3A3D40"/>
                </a:solidFill>
                <a:latin typeface="Verdana"/>
              </a:rPr>
              <a:t>La Ville de Longueuil augmente les taxes de deux pour cent.   </a:t>
            </a:r>
            <a:r>
              <a:rPr sz="1600" b="1" i="0">
                <a:solidFill>
                  <a:srgbClr val="07734A"/>
                </a:solidFill>
                <a:latin typeface="Verdana"/>
              </a:rPr>
              <a:t>» régionale — une décision qui touche tout le monde</a:t>
            </a:r>
          </a:p>
        </p:txBody>
      </p:sp>
      <p:sp>
        <p:nvSpPr>
          <p:cNvPr id="16" name="Rounded Rectangle 15"/>
          <p:cNvSpPr/>
          <p:nvPr/>
        </p:nvSpPr>
        <p:spPr>
          <a:xfrm>
            <a:off x="566928" y="4155440"/>
            <a:ext cx="11057839" cy="879856"/>
          </a:xfrm>
          <a:prstGeom prst="roundRect">
            <a:avLst>
              <a:gd name="adj" fmla="val 16628"/>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4412488"/>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4476496"/>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3</a:t>
            </a:r>
          </a:p>
        </p:txBody>
      </p:sp>
      <p:sp>
        <p:nvSpPr>
          <p:cNvPr id="19" name="TextBox 18"/>
          <p:cNvSpPr txBox="1"/>
          <p:nvPr/>
        </p:nvSpPr>
        <p:spPr>
          <a:xfrm>
            <a:off x="1344168" y="4310888"/>
            <a:ext cx="10097719" cy="605536"/>
          </a:xfrm>
          <a:prstGeom prst="rect">
            <a:avLst/>
          </a:prstGeom>
          <a:noFill/>
        </p:spPr>
        <p:txBody>
          <a:bodyPr wrap="square" lIns="0" rIns="0" tIns="0" bIns="0" anchor="t">
            <a:spAutoFit/>
          </a:bodyPr>
          <a:lstStyle/>
          <a:p>
            <a:pPr algn="l">
              <a:lnSpc>
                <a:spcPct val="140000"/>
              </a:lnSpc>
            </a:pPr>
            <a:r>
              <a:rPr sz="1600" b="0" i="0">
                <a:solidFill>
                  <a:srgbClr val="3A3D40"/>
                </a:solidFill>
                <a:latin typeface="Verdana"/>
              </a:rPr>
              <a:t>Une fillette retrouve son chat grâce à une affiche.   </a:t>
            </a:r>
            <a:r>
              <a:rPr sz="1600" b="1" i="0">
                <a:solidFill>
                  <a:srgbClr val="07734A"/>
                </a:solidFill>
                <a:latin typeface="Verdana"/>
              </a:rPr>
              <a:t>» fait divers — un événement unique, sans conséquence générale</a:t>
            </a:r>
          </a:p>
        </p:txBody>
      </p:sp>
      <p:sp>
        <p:nvSpPr>
          <p:cNvPr id="20" name="Rounded Rectangle 19"/>
          <p:cNvSpPr/>
          <p:nvPr/>
        </p:nvSpPr>
        <p:spPr>
          <a:xfrm>
            <a:off x="566928" y="5163312"/>
            <a:ext cx="11057839" cy="595376"/>
          </a:xfrm>
          <a:prstGeom prst="roundRect">
            <a:avLst>
              <a:gd name="adj" fmla="val 24573"/>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5278120"/>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5342128"/>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4</a:t>
            </a:r>
          </a:p>
        </p:txBody>
      </p:sp>
      <p:sp>
        <p:nvSpPr>
          <p:cNvPr id="23" name="TextBox 22"/>
          <p:cNvSpPr txBox="1"/>
          <p:nvPr/>
        </p:nvSpPr>
        <p:spPr>
          <a:xfrm>
            <a:off x="1344168" y="5318760"/>
            <a:ext cx="10097719" cy="321056"/>
          </a:xfrm>
          <a:prstGeom prst="rect">
            <a:avLst/>
          </a:prstGeom>
          <a:noFill/>
        </p:spPr>
        <p:txBody>
          <a:bodyPr wrap="square" lIns="0" rIns="0" tIns="0" bIns="0" anchor="t">
            <a:spAutoFit/>
          </a:bodyPr>
          <a:lstStyle/>
          <a:p>
            <a:pPr algn="l">
              <a:lnSpc>
                <a:spcPct val="140000"/>
              </a:lnSpc>
            </a:pPr>
            <a:r>
              <a:rPr sz="1600" b="0" i="0">
                <a:solidFill>
                  <a:srgbClr val="3A3D40"/>
                </a:solidFill>
                <a:latin typeface="Verdana"/>
              </a:rPr>
              <a:t>Un nouveau CHSLD ouvrira à Sherbrooke l'an prochain.   </a:t>
            </a:r>
            <a:r>
              <a:rPr sz="1600" b="1" i="0">
                <a:solidFill>
                  <a:srgbClr val="07734A"/>
                </a:solidFill>
                <a:latin typeface="Verdana"/>
              </a:rPr>
              <a:t>» régionale — un service pour la région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C'est l'heure des nouvelles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LE PIÈGE DE L'IMPORTANCE PERSONNELLE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C'est une nouvelle nationale, parce que ça me concerne beaucoup.</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La catégorie dépend du territoire touché, pas de moi.</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Une nouvelle qui vous concerne personnellement peut être régionale, ou même un fait divers. La catégorie ne juge pas de la valeur : elle dit seulement qui est concerné.</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C'est l'heure des nouvelles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LE PIÈGE DU LIEU MENTIONNÉ</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Un feu à Montréal : c'est régional, parce que Montréal est nommé.</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Cela dépend : un feu chez un particulier est un fait divers.</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Le nom d'une ville n'en fait pas une nouvelle régionale. Ce qui compte est l'étendue de ce qui est touché : un immeuble, un quartier, une ville entière ? Le lieu est un indice, pas une preuve.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C'est l'heure des nouvelles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PRATIQUE · 3 DE 6</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Trouvez la catégorie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D'après le début de la nouvelle.</a:t>
            </a:r>
          </a:p>
        </p:txBody>
      </p:sp>
      <p:sp>
        <p:nvSpPr>
          <p:cNvPr id="8" name="Rounded Rectangle 7"/>
          <p:cNvSpPr/>
          <p:nvPr/>
        </p:nvSpPr>
        <p:spPr>
          <a:xfrm>
            <a:off x="566928" y="2139696"/>
            <a:ext cx="11057839" cy="613156"/>
          </a:xfrm>
          <a:prstGeom prst="roundRect">
            <a:avLst>
              <a:gd name="adj" fmla="val 2386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63393"/>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27401"/>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1</a:t>
            </a:r>
          </a:p>
        </p:txBody>
      </p:sp>
      <p:sp>
        <p:nvSpPr>
          <p:cNvPr id="11" name="TextBox 10"/>
          <p:cNvSpPr txBox="1"/>
          <p:nvPr/>
        </p:nvSpPr>
        <p:spPr>
          <a:xfrm>
            <a:off x="1344168" y="2295144"/>
            <a:ext cx="10097719" cy="338836"/>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 Le gouvernement du Québec annonce un investissement en santé… »</a:t>
            </a:r>
          </a:p>
        </p:txBody>
      </p:sp>
      <p:sp>
        <p:nvSpPr>
          <p:cNvPr id="12" name="Rounded Rectangle 11"/>
          <p:cNvSpPr/>
          <p:nvPr/>
        </p:nvSpPr>
        <p:spPr>
          <a:xfrm>
            <a:off x="566928" y="2880868"/>
            <a:ext cx="11057839" cy="613156"/>
          </a:xfrm>
          <a:prstGeom prst="roundRect">
            <a:avLst>
              <a:gd name="adj" fmla="val 2386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04566"/>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068573"/>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2</a:t>
            </a:r>
          </a:p>
        </p:txBody>
      </p:sp>
      <p:sp>
        <p:nvSpPr>
          <p:cNvPr id="15" name="TextBox 14"/>
          <p:cNvSpPr txBox="1"/>
          <p:nvPr/>
        </p:nvSpPr>
        <p:spPr>
          <a:xfrm>
            <a:off x="1344168" y="3036316"/>
            <a:ext cx="10097719" cy="338836"/>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 Deux passants ont secouru un cycliste blessé à Trois-Pistoles… »</a:t>
            </a:r>
          </a:p>
        </p:txBody>
      </p:sp>
      <p:sp>
        <p:nvSpPr>
          <p:cNvPr id="16" name="Rounded Rectangle 15"/>
          <p:cNvSpPr/>
          <p:nvPr/>
        </p:nvSpPr>
        <p:spPr>
          <a:xfrm>
            <a:off x="566928" y="3622040"/>
            <a:ext cx="11057839" cy="613156"/>
          </a:xfrm>
          <a:prstGeom prst="roundRect">
            <a:avLst>
              <a:gd name="adj" fmla="val 2386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745738"/>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809746"/>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3</a:t>
            </a:r>
          </a:p>
        </p:txBody>
      </p:sp>
      <p:sp>
        <p:nvSpPr>
          <p:cNvPr id="19" name="TextBox 18"/>
          <p:cNvSpPr txBox="1"/>
          <p:nvPr/>
        </p:nvSpPr>
        <p:spPr>
          <a:xfrm>
            <a:off x="1344168" y="3777488"/>
            <a:ext cx="10097719" cy="338836"/>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 La bibliothèque de Rimouski prolonge ses heures d'ouverture… »</a:t>
            </a:r>
          </a:p>
        </p:txBody>
      </p:sp>
      <p:sp>
        <p:nvSpPr>
          <p:cNvPr id="20" name="Rounded Rectangle 19"/>
          <p:cNvSpPr/>
          <p:nvPr/>
        </p:nvSpPr>
        <p:spPr>
          <a:xfrm>
            <a:off x="566928" y="4363212"/>
            <a:ext cx="11057839" cy="613156"/>
          </a:xfrm>
          <a:prstGeom prst="roundRect">
            <a:avLst>
              <a:gd name="adj" fmla="val 2386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486910"/>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550918"/>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4</a:t>
            </a:r>
          </a:p>
        </p:txBody>
      </p:sp>
      <p:sp>
        <p:nvSpPr>
          <p:cNvPr id="23" name="TextBox 22"/>
          <p:cNvSpPr txBox="1"/>
          <p:nvPr/>
        </p:nvSpPr>
        <p:spPr>
          <a:xfrm>
            <a:off x="1344168" y="4518660"/>
            <a:ext cx="10097719" cy="338836"/>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 Une tempête frappe la côte est des États-Unis… »</a:t>
            </a:r>
          </a:p>
        </p:txBody>
      </p:sp>
      <p:sp>
        <p:nvSpPr>
          <p:cNvPr id="24" name="Rounded Rectangle 23"/>
          <p:cNvSpPr/>
          <p:nvPr/>
        </p:nvSpPr>
        <p:spPr>
          <a:xfrm>
            <a:off x="566928" y="5104384"/>
            <a:ext cx="11057839" cy="915416"/>
          </a:xfrm>
          <a:prstGeom prst="roundRect">
            <a:avLst>
              <a:gd name="adj" fmla="val 1598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5379212"/>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443220"/>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5</a:t>
            </a:r>
          </a:p>
        </p:txBody>
      </p:sp>
      <p:sp>
        <p:nvSpPr>
          <p:cNvPr id="27" name="TextBox 26"/>
          <p:cNvSpPr txBox="1"/>
          <p:nvPr/>
        </p:nvSpPr>
        <p:spPr>
          <a:xfrm>
            <a:off x="1344168" y="5259832"/>
            <a:ext cx="10097719" cy="641095"/>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 Les élèves d'une classe de Victoriaville tournent un documentaire…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C'est l'heure des nouvelles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Trouvez la catégorie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613156"/>
          </a:xfrm>
          <a:prstGeom prst="roundRect">
            <a:avLst>
              <a:gd name="adj" fmla="val 2386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63393"/>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27401"/>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1</a:t>
            </a:r>
          </a:p>
        </p:txBody>
      </p:sp>
      <p:sp>
        <p:nvSpPr>
          <p:cNvPr id="11" name="TextBox 10"/>
          <p:cNvSpPr txBox="1"/>
          <p:nvPr/>
        </p:nvSpPr>
        <p:spPr>
          <a:xfrm>
            <a:off x="1344168" y="2295144"/>
            <a:ext cx="10097719" cy="338836"/>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 Le gouvernement du Québec annonce un investissement en santé… »   </a:t>
            </a:r>
            <a:r>
              <a:rPr sz="1700" b="1" i="0">
                <a:solidFill>
                  <a:srgbClr val="07734A"/>
                </a:solidFill>
                <a:latin typeface="Verdana"/>
              </a:rPr>
              <a:t>» nationale</a:t>
            </a:r>
          </a:p>
        </p:txBody>
      </p:sp>
      <p:sp>
        <p:nvSpPr>
          <p:cNvPr id="12" name="Rounded Rectangle 11"/>
          <p:cNvSpPr/>
          <p:nvPr/>
        </p:nvSpPr>
        <p:spPr>
          <a:xfrm>
            <a:off x="566928" y="2880868"/>
            <a:ext cx="11057839" cy="613156"/>
          </a:xfrm>
          <a:prstGeom prst="roundRect">
            <a:avLst>
              <a:gd name="adj" fmla="val 2386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04566"/>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068573"/>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2</a:t>
            </a:r>
          </a:p>
        </p:txBody>
      </p:sp>
      <p:sp>
        <p:nvSpPr>
          <p:cNvPr id="15" name="TextBox 14"/>
          <p:cNvSpPr txBox="1"/>
          <p:nvPr/>
        </p:nvSpPr>
        <p:spPr>
          <a:xfrm>
            <a:off x="1344168" y="3036316"/>
            <a:ext cx="10097719" cy="338836"/>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 Deux passants ont secouru un cycliste blessé à Trois-Pistoles… »   </a:t>
            </a:r>
            <a:r>
              <a:rPr sz="1700" b="1" i="0">
                <a:solidFill>
                  <a:srgbClr val="07734A"/>
                </a:solidFill>
                <a:latin typeface="Verdana"/>
              </a:rPr>
              <a:t>» fait divers</a:t>
            </a:r>
          </a:p>
        </p:txBody>
      </p:sp>
      <p:sp>
        <p:nvSpPr>
          <p:cNvPr id="16" name="Rounded Rectangle 15"/>
          <p:cNvSpPr/>
          <p:nvPr/>
        </p:nvSpPr>
        <p:spPr>
          <a:xfrm>
            <a:off x="566928" y="3622040"/>
            <a:ext cx="11057839" cy="613156"/>
          </a:xfrm>
          <a:prstGeom prst="roundRect">
            <a:avLst>
              <a:gd name="adj" fmla="val 2386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745738"/>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809746"/>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3</a:t>
            </a:r>
          </a:p>
        </p:txBody>
      </p:sp>
      <p:sp>
        <p:nvSpPr>
          <p:cNvPr id="19" name="TextBox 18"/>
          <p:cNvSpPr txBox="1"/>
          <p:nvPr/>
        </p:nvSpPr>
        <p:spPr>
          <a:xfrm>
            <a:off x="1344168" y="3777488"/>
            <a:ext cx="10097719" cy="338836"/>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 La bibliothèque de Rimouski prolonge ses heures d'ouverture… »   </a:t>
            </a:r>
            <a:r>
              <a:rPr sz="1700" b="1" i="0">
                <a:solidFill>
                  <a:srgbClr val="07734A"/>
                </a:solidFill>
                <a:latin typeface="Verdana"/>
              </a:rPr>
              <a:t>» régionale</a:t>
            </a:r>
          </a:p>
        </p:txBody>
      </p:sp>
      <p:sp>
        <p:nvSpPr>
          <p:cNvPr id="20" name="Rounded Rectangle 19"/>
          <p:cNvSpPr/>
          <p:nvPr/>
        </p:nvSpPr>
        <p:spPr>
          <a:xfrm>
            <a:off x="566928" y="4363212"/>
            <a:ext cx="11057839" cy="613156"/>
          </a:xfrm>
          <a:prstGeom prst="roundRect">
            <a:avLst>
              <a:gd name="adj" fmla="val 2386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486910"/>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550918"/>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4</a:t>
            </a:r>
          </a:p>
        </p:txBody>
      </p:sp>
      <p:sp>
        <p:nvSpPr>
          <p:cNvPr id="23" name="TextBox 22"/>
          <p:cNvSpPr txBox="1"/>
          <p:nvPr/>
        </p:nvSpPr>
        <p:spPr>
          <a:xfrm>
            <a:off x="1344168" y="4518660"/>
            <a:ext cx="10097719" cy="338836"/>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 Une tempête frappe la côte est des États-Unis… »   </a:t>
            </a:r>
            <a:r>
              <a:rPr sz="1700" b="1" i="0">
                <a:solidFill>
                  <a:srgbClr val="07734A"/>
                </a:solidFill>
                <a:latin typeface="Verdana"/>
              </a:rPr>
              <a:t>» internationale</a:t>
            </a:r>
          </a:p>
        </p:txBody>
      </p:sp>
      <p:sp>
        <p:nvSpPr>
          <p:cNvPr id="24" name="Rounded Rectangle 23"/>
          <p:cNvSpPr/>
          <p:nvPr/>
        </p:nvSpPr>
        <p:spPr>
          <a:xfrm>
            <a:off x="566928" y="5104384"/>
            <a:ext cx="11057839" cy="915416"/>
          </a:xfrm>
          <a:prstGeom prst="roundRect">
            <a:avLst>
              <a:gd name="adj" fmla="val 1598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5379212"/>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443220"/>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5</a:t>
            </a:r>
          </a:p>
        </p:txBody>
      </p:sp>
      <p:sp>
        <p:nvSpPr>
          <p:cNvPr id="27" name="TextBox 26"/>
          <p:cNvSpPr txBox="1"/>
          <p:nvPr/>
        </p:nvSpPr>
        <p:spPr>
          <a:xfrm>
            <a:off x="1344168" y="5259832"/>
            <a:ext cx="10097719" cy="641095"/>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 Les élèves d'une classe de Victoriaville tournent un documentaire… »   </a:t>
            </a:r>
            <a:r>
              <a:rPr sz="1700" b="1" i="0">
                <a:solidFill>
                  <a:srgbClr val="07734A"/>
                </a:solidFill>
                <a:latin typeface="Verdana"/>
              </a:rPr>
              <a:t>» fait divers ou régionale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C'est l'heure des nouvelles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PRATIQUE · 4 DE 6</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Classez vos propres nouvelles</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Reprenez le billet de la séance A1.</a:t>
            </a:r>
          </a:p>
        </p:txBody>
      </p:sp>
      <p:sp>
        <p:nvSpPr>
          <p:cNvPr id="8" name="Rounded Rectangle 7"/>
          <p:cNvSpPr/>
          <p:nvPr/>
        </p:nvSpPr>
        <p:spPr>
          <a:xfrm>
            <a:off x="566928" y="2139696"/>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81174"/>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45182"/>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1</a:t>
            </a:r>
          </a:p>
        </p:txBody>
      </p:sp>
      <p:sp>
        <p:nvSpPr>
          <p:cNvPr id="11" name="TextBox 10"/>
          <p:cNvSpPr txBox="1"/>
          <p:nvPr/>
        </p:nvSpPr>
        <p:spPr>
          <a:xfrm>
            <a:off x="1344168" y="2295144"/>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Votre nouvelle</a:t>
            </a:r>
          </a:p>
        </p:txBody>
      </p:sp>
      <p:sp>
        <p:nvSpPr>
          <p:cNvPr id="12" name="Rounded Rectangle 11"/>
          <p:cNvSpPr/>
          <p:nvPr/>
        </p:nvSpPr>
        <p:spPr>
          <a:xfrm>
            <a:off x="566928" y="2916428"/>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57905"/>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121913"/>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2</a:t>
            </a:r>
          </a:p>
        </p:txBody>
      </p:sp>
      <p:sp>
        <p:nvSpPr>
          <p:cNvPr id="15" name="TextBox 14"/>
          <p:cNvSpPr txBox="1"/>
          <p:nvPr/>
        </p:nvSpPr>
        <p:spPr>
          <a:xfrm>
            <a:off x="1344168" y="3071876"/>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La justification</a:t>
            </a:r>
          </a:p>
        </p:txBody>
      </p:sp>
      <p:sp>
        <p:nvSpPr>
          <p:cNvPr id="16" name="Rounded Rectangle 15"/>
          <p:cNvSpPr/>
          <p:nvPr/>
        </p:nvSpPr>
        <p:spPr>
          <a:xfrm>
            <a:off x="566928" y="3693160"/>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834638"/>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898646"/>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3</a:t>
            </a:r>
          </a:p>
        </p:txBody>
      </p:sp>
      <p:sp>
        <p:nvSpPr>
          <p:cNvPr id="19" name="TextBox 18"/>
          <p:cNvSpPr txBox="1"/>
          <p:nvPr/>
        </p:nvSpPr>
        <p:spPr>
          <a:xfrm>
            <a:off x="1344168" y="3848608"/>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Une autre nouvelle de la semaine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C'est l'heure des nouvelles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LA LETTRE S NE DIT PAS TOUJOURS LE MÊME SON</a:t>
            </a:r>
          </a:p>
        </p:txBody>
      </p:sp>
      <p:sp>
        <p:nvSpPr>
          <p:cNvPr id="6" name="Rounded Rectangle 5"/>
          <p:cNvSpPr/>
          <p:nvPr/>
        </p:nvSpPr>
        <p:spPr>
          <a:xfrm>
            <a:off x="566928" y="1225296"/>
            <a:ext cx="11057839" cy="1967991"/>
          </a:xfrm>
          <a:prstGeom prst="roundRect">
            <a:avLst>
              <a:gd name="adj" fmla="val 7434"/>
            </a:avLst>
          </a:prstGeom>
          <a:solidFill>
            <a:srgbClr val="FCE9F0"/>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145032"/>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Entre deux voyelles, un seul s se dit « z ».</a:t>
            </a:r>
          </a:p>
        </p:txBody>
      </p:sp>
      <p:sp>
        <p:nvSpPr>
          <p:cNvPr id="8" name="Rounded Rectangle 7"/>
          <p:cNvSpPr/>
          <p:nvPr/>
        </p:nvSpPr>
        <p:spPr>
          <a:xfrm>
            <a:off x="566928" y="3467607"/>
            <a:ext cx="11057839" cy="1671827"/>
          </a:xfrm>
          <a:prstGeom prst="roundRect">
            <a:avLst>
              <a:gd name="adj" fmla="val 875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741927"/>
            <a:ext cx="10234879" cy="12146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 Voisine » et « succès » sont deux mots de la même nouvelle. Le premier a le son « z », le second le son « s ». La règle se voit à l'écrit : il suffit de regarder ce qui entoure le 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C'est l'heure des nouvelles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Les deux sons dans les mots du bulletin</a:t>
            </a:r>
          </a:p>
        </p:txBody>
      </p:sp>
      <p:sp>
        <p:nvSpPr>
          <p:cNvPr id="7" name="Rounded Rectangle 6"/>
          <p:cNvSpPr/>
          <p:nvPr/>
        </p:nvSpPr>
        <p:spPr>
          <a:xfrm>
            <a:off x="566928" y="1810512"/>
            <a:ext cx="11057839" cy="2624328"/>
          </a:xfrm>
          <a:prstGeom prst="roundRect">
            <a:avLst>
              <a:gd name="adj" fmla="val 557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22650"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LE SON</a:t>
            </a:r>
          </a:p>
        </p:txBody>
      </p:sp>
      <p:sp>
        <p:nvSpPr>
          <p:cNvPr id="9" name="TextBox 8"/>
          <p:cNvSpPr txBox="1"/>
          <p:nvPr/>
        </p:nvSpPr>
        <p:spPr>
          <a:xfrm>
            <a:off x="4374794" y="1975104"/>
            <a:ext cx="3222650"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IL S'ÉCRIT</a:t>
            </a:r>
          </a:p>
        </p:txBody>
      </p:sp>
      <p:sp>
        <p:nvSpPr>
          <p:cNvPr id="10" name="TextBox 9"/>
          <p:cNvSpPr txBox="1"/>
          <p:nvPr/>
        </p:nvSpPr>
        <p:spPr>
          <a:xfrm>
            <a:off x="7816900" y="1975104"/>
            <a:ext cx="3222650"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MOTS DU MODULE</a:t>
            </a:r>
          </a:p>
        </p:txBody>
      </p:sp>
      <p:sp>
        <p:nvSpPr>
          <p:cNvPr id="11" name="TextBox 10"/>
          <p:cNvSpPr txBox="1"/>
          <p:nvPr/>
        </p:nvSpPr>
        <p:spPr>
          <a:xfrm>
            <a:off x="932688" y="2395728"/>
            <a:ext cx="3222650" cy="640080"/>
          </a:xfrm>
          <a:prstGeom prst="rect">
            <a:avLst/>
          </a:prstGeom>
          <a:noFill/>
        </p:spPr>
        <p:txBody>
          <a:bodyPr wrap="square" lIns="0" rIns="0" tIns="0" bIns="0" anchor="t">
            <a:spAutoFit/>
          </a:bodyPr>
          <a:lstStyle/>
          <a:p>
            <a:pPr algn="l">
              <a:lnSpc>
                <a:spcPct val="132000"/>
              </a:lnSpc>
            </a:pPr>
            <a:r>
              <a:rPr sz="1800" b="1" i="0">
                <a:solidFill>
                  <a:srgbClr val="A5335F"/>
                </a:solidFill>
                <a:latin typeface="Verdana"/>
              </a:rPr>
              <a:t>le son « z »</a:t>
            </a:r>
          </a:p>
        </p:txBody>
      </p:sp>
      <p:sp>
        <p:nvSpPr>
          <p:cNvPr id="12" name="TextBox 11"/>
          <p:cNvSpPr txBox="1"/>
          <p:nvPr/>
        </p:nvSpPr>
        <p:spPr>
          <a:xfrm>
            <a:off x="4374794" y="2395728"/>
            <a:ext cx="3222650" cy="640080"/>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un seul s entre deux voyelles</a:t>
            </a:r>
          </a:p>
        </p:txBody>
      </p:sp>
      <p:sp>
        <p:nvSpPr>
          <p:cNvPr id="13" name="TextBox 12"/>
          <p:cNvSpPr txBox="1"/>
          <p:nvPr/>
        </p:nvSpPr>
        <p:spPr>
          <a:xfrm>
            <a:off x="7816900" y="2395728"/>
            <a:ext cx="3222650" cy="640080"/>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voisine, organisée, organisme, visite</a:t>
            </a:r>
          </a:p>
        </p:txBody>
      </p:sp>
      <p:sp>
        <p:nvSpPr>
          <p:cNvPr id="14" name="Rectangle 13"/>
          <p:cNvSpPr/>
          <p:nvPr/>
        </p:nvSpPr>
        <p:spPr>
          <a:xfrm>
            <a:off x="932688" y="310896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32688" y="3236976"/>
            <a:ext cx="3222650" cy="941832"/>
          </a:xfrm>
          <a:prstGeom prst="rect">
            <a:avLst/>
          </a:prstGeom>
          <a:noFill/>
        </p:spPr>
        <p:txBody>
          <a:bodyPr wrap="square" lIns="0" rIns="0" tIns="0" bIns="0" anchor="t">
            <a:spAutoFit/>
          </a:bodyPr>
          <a:lstStyle/>
          <a:p>
            <a:pPr algn="l">
              <a:lnSpc>
                <a:spcPct val="132000"/>
              </a:lnSpc>
            </a:pPr>
            <a:r>
              <a:rPr sz="1800" b="1" i="0">
                <a:solidFill>
                  <a:srgbClr val="A5335F"/>
                </a:solidFill>
                <a:latin typeface="Verdana"/>
              </a:rPr>
              <a:t>le son « s »</a:t>
            </a:r>
          </a:p>
        </p:txBody>
      </p:sp>
      <p:sp>
        <p:nvSpPr>
          <p:cNvPr id="16" name="TextBox 15"/>
          <p:cNvSpPr txBox="1"/>
          <p:nvPr/>
        </p:nvSpPr>
        <p:spPr>
          <a:xfrm>
            <a:off x="4374794" y="3236976"/>
            <a:ext cx="3222650" cy="941832"/>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ss, ou s après une consonne ou en début de mot</a:t>
            </a:r>
          </a:p>
        </p:txBody>
      </p:sp>
      <p:sp>
        <p:nvSpPr>
          <p:cNvPr id="17" name="TextBox 16"/>
          <p:cNvSpPr txBox="1"/>
          <p:nvPr/>
        </p:nvSpPr>
        <p:spPr>
          <a:xfrm>
            <a:off x="7816900" y="3236976"/>
            <a:ext cx="3222650" cy="941832"/>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succès, amassé, cents, personne</a:t>
            </a:r>
          </a:p>
        </p:txBody>
      </p:sp>
      <p:sp>
        <p:nvSpPr>
          <p:cNvPr id="18" name="Rounded Rectangle 17"/>
          <p:cNvSpPr/>
          <p:nvPr/>
        </p:nvSpPr>
        <p:spPr>
          <a:xfrm>
            <a:off x="566928" y="4672583"/>
            <a:ext cx="11057839" cy="1175004"/>
          </a:xfrm>
          <a:prstGeom prst="roundRect">
            <a:avLst>
              <a:gd name="adj" fmla="val 12451"/>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69264" y="4928616"/>
            <a:ext cx="10234879" cy="717804"/>
          </a:xfrm>
          <a:prstGeom prst="rect">
            <a:avLst/>
          </a:prstGeom>
          <a:noFill/>
        </p:spPr>
        <p:txBody>
          <a:bodyPr wrap="square" lIns="0" rIns="0" tIns="0" bIns="0" anchor="t">
            <a:spAutoFit/>
          </a:bodyPr>
          <a:lstStyle/>
          <a:p>
            <a:pPr algn="l">
              <a:lnSpc>
                <a:spcPct val="145000"/>
              </a:lnSpc>
            </a:pPr>
            <a:r>
              <a:rPr sz="1800" b="0" i="0">
                <a:solidFill>
                  <a:srgbClr val="4B4F52"/>
                </a:solidFill>
                <a:latin typeface="Verdana"/>
              </a:rPr>
              <a:t>C'est pour cette raison qu'on double le s dans « amassé » : sans le second s, on lirait « amazé ».</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C'est l'heure des nouvelles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LE PIÈGE DE « POISSON » ET « POISON »</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poison, quand on veut dire poisson</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poisson — deux s, donc le son « s »</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Un seul s change le mot du tout au tout : un poisson se mange, un poison tue. La paire est célèbre parce qu'elle montre que la règle n'est pas une politesse d'orthographe — elle porte le sens.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C'est l'heure des nouvelles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PRATIQUE · 5 DE 6</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Quel son entendez-vous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Écoutez le mot, écrivez « s » ou « z ».</a:t>
            </a:r>
          </a:p>
        </p:txBody>
      </p:sp>
      <p:sp>
        <p:nvSpPr>
          <p:cNvPr id="8" name="Rounded Rectangle 7"/>
          <p:cNvSpPr/>
          <p:nvPr/>
        </p:nvSpPr>
        <p:spPr>
          <a:xfrm>
            <a:off x="566928" y="2139696"/>
            <a:ext cx="5464911"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81174"/>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45182"/>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1</a:t>
            </a:r>
          </a:p>
        </p:txBody>
      </p:sp>
      <p:sp>
        <p:nvSpPr>
          <p:cNvPr id="11" name="TextBox 10"/>
          <p:cNvSpPr txBox="1"/>
          <p:nvPr/>
        </p:nvSpPr>
        <p:spPr>
          <a:xfrm>
            <a:off x="1344168" y="2295144"/>
            <a:ext cx="4504791"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voisine</a:t>
            </a:r>
          </a:p>
        </p:txBody>
      </p:sp>
      <p:sp>
        <p:nvSpPr>
          <p:cNvPr id="12" name="Rounded Rectangle 11"/>
          <p:cNvSpPr/>
          <p:nvPr/>
        </p:nvSpPr>
        <p:spPr>
          <a:xfrm>
            <a:off x="6159855" y="2139696"/>
            <a:ext cx="5464911"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6434175" y="2281174"/>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34175" y="2345182"/>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2</a:t>
            </a:r>
          </a:p>
        </p:txBody>
      </p:sp>
      <p:sp>
        <p:nvSpPr>
          <p:cNvPr id="15" name="TextBox 14"/>
          <p:cNvSpPr txBox="1"/>
          <p:nvPr/>
        </p:nvSpPr>
        <p:spPr>
          <a:xfrm>
            <a:off x="6937095" y="2295144"/>
            <a:ext cx="4504791"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succès</a:t>
            </a:r>
          </a:p>
        </p:txBody>
      </p:sp>
      <p:sp>
        <p:nvSpPr>
          <p:cNvPr id="16" name="Rounded Rectangle 15"/>
          <p:cNvSpPr/>
          <p:nvPr/>
        </p:nvSpPr>
        <p:spPr>
          <a:xfrm>
            <a:off x="566928" y="2916428"/>
            <a:ext cx="5464911"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057905"/>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121913"/>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3</a:t>
            </a:r>
          </a:p>
        </p:txBody>
      </p:sp>
      <p:sp>
        <p:nvSpPr>
          <p:cNvPr id="19" name="TextBox 18"/>
          <p:cNvSpPr txBox="1"/>
          <p:nvPr/>
        </p:nvSpPr>
        <p:spPr>
          <a:xfrm>
            <a:off x="1344168" y="3071876"/>
            <a:ext cx="4504791"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organisée</a:t>
            </a:r>
          </a:p>
        </p:txBody>
      </p:sp>
      <p:sp>
        <p:nvSpPr>
          <p:cNvPr id="20" name="Rounded Rectangle 19"/>
          <p:cNvSpPr/>
          <p:nvPr/>
        </p:nvSpPr>
        <p:spPr>
          <a:xfrm>
            <a:off x="6159855" y="2916428"/>
            <a:ext cx="5464911"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6434175" y="3057905"/>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434175" y="3121913"/>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4</a:t>
            </a:r>
          </a:p>
        </p:txBody>
      </p:sp>
      <p:sp>
        <p:nvSpPr>
          <p:cNvPr id="23" name="TextBox 22"/>
          <p:cNvSpPr txBox="1"/>
          <p:nvPr/>
        </p:nvSpPr>
        <p:spPr>
          <a:xfrm>
            <a:off x="6937095" y="3071876"/>
            <a:ext cx="4504791"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amassé</a:t>
            </a:r>
          </a:p>
        </p:txBody>
      </p:sp>
      <p:sp>
        <p:nvSpPr>
          <p:cNvPr id="24" name="Rounded Rectangle 23"/>
          <p:cNvSpPr/>
          <p:nvPr/>
        </p:nvSpPr>
        <p:spPr>
          <a:xfrm>
            <a:off x="566928" y="3693160"/>
            <a:ext cx="5464911"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3834638"/>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3898646"/>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5</a:t>
            </a:r>
          </a:p>
        </p:txBody>
      </p:sp>
      <p:sp>
        <p:nvSpPr>
          <p:cNvPr id="27" name="TextBox 26"/>
          <p:cNvSpPr txBox="1"/>
          <p:nvPr/>
        </p:nvSpPr>
        <p:spPr>
          <a:xfrm>
            <a:off x="1344168" y="3848608"/>
            <a:ext cx="4504791"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organisme</a:t>
            </a:r>
          </a:p>
        </p:txBody>
      </p:sp>
      <p:sp>
        <p:nvSpPr>
          <p:cNvPr id="28" name="Rounded Rectangle 27"/>
          <p:cNvSpPr/>
          <p:nvPr/>
        </p:nvSpPr>
        <p:spPr>
          <a:xfrm>
            <a:off x="6159855" y="3693160"/>
            <a:ext cx="5464911"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6434175" y="3834638"/>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434175" y="3898646"/>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6</a:t>
            </a:r>
          </a:p>
        </p:txBody>
      </p:sp>
      <p:sp>
        <p:nvSpPr>
          <p:cNvPr id="31" name="TextBox 30"/>
          <p:cNvSpPr txBox="1"/>
          <p:nvPr/>
        </p:nvSpPr>
        <p:spPr>
          <a:xfrm>
            <a:off x="6937095" y="3848608"/>
            <a:ext cx="4504791"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cents</a:t>
            </a:r>
          </a:p>
        </p:txBody>
      </p:sp>
      <p:sp>
        <p:nvSpPr>
          <p:cNvPr id="32" name="Rounded Rectangle 31"/>
          <p:cNvSpPr/>
          <p:nvPr/>
        </p:nvSpPr>
        <p:spPr>
          <a:xfrm>
            <a:off x="566928" y="4469892"/>
            <a:ext cx="5464911"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ounded Rectangle 32"/>
          <p:cNvSpPr/>
          <p:nvPr/>
        </p:nvSpPr>
        <p:spPr>
          <a:xfrm>
            <a:off x="841247" y="4611370"/>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841247" y="4675378"/>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7</a:t>
            </a:r>
          </a:p>
        </p:txBody>
      </p:sp>
      <p:sp>
        <p:nvSpPr>
          <p:cNvPr id="35" name="TextBox 34"/>
          <p:cNvSpPr txBox="1"/>
          <p:nvPr/>
        </p:nvSpPr>
        <p:spPr>
          <a:xfrm>
            <a:off x="1344168" y="4625340"/>
            <a:ext cx="4504791"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visite</a:t>
            </a:r>
          </a:p>
        </p:txBody>
      </p:sp>
      <p:sp>
        <p:nvSpPr>
          <p:cNvPr id="36" name="Rounded Rectangle 35"/>
          <p:cNvSpPr/>
          <p:nvPr/>
        </p:nvSpPr>
        <p:spPr>
          <a:xfrm>
            <a:off x="6159855" y="4469892"/>
            <a:ext cx="5464911"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ounded Rectangle 36"/>
          <p:cNvSpPr/>
          <p:nvPr/>
        </p:nvSpPr>
        <p:spPr>
          <a:xfrm>
            <a:off x="6434175" y="4611370"/>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434175" y="4675378"/>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8</a:t>
            </a:r>
          </a:p>
        </p:txBody>
      </p:sp>
      <p:sp>
        <p:nvSpPr>
          <p:cNvPr id="39" name="TextBox 38"/>
          <p:cNvSpPr txBox="1"/>
          <p:nvPr/>
        </p:nvSpPr>
        <p:spPr>
          <a:xfrm>
            <a:off x="6937095" y="4625340"/>
            <a:ext cx="4504791"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personne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C'est l'heure des nouvelles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Quel son entendez-vous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5464911"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81174"/>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45182"/>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1</a:t>
            </a:r>
          </a:p>
        </p:txBody>
      </p:sp>
      <p:sp>
        <p:nvSpPr>
          <p:cNvPr id="11" name="TextBox 10"/>
          <p:cNvSpPr txBox="1"/>
          <p:nvPr/>
        </p:nvSpPr>
        <p:spPr>
          <a:xfrm>
            <a:off x="1344168" y="2295144"/>
            <a:ext cx="4504791"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voisine   </a:t>
            </a:r>
            <a:r>
              <a:rPr sz="1900" b="1" i="0">
                <a:solidFill>
                  <a:srgbClr val="07734A"/>
                </a:solidFill>
                <a:latin typeface="Verdana"/>
              </a:rPr>
              <a:t>» le son « z »</a:t>
            </a:r>
          </a:p>
        </p:txBody>
      </p:sp>
      <p:sp>
        <p:nvSpPr>
          <p:cNvPr id="12" name="Rounded Rectangle 11"/>
          <p:cNvSpPr/>
          <p:nvPr/>
        </p:nvSpPr>
        <p:spPr>
          <a:xfrm>
            <a:off x="6159855" y="2139696"/>
            <a:ext cx="5464911"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6434175" y="2281174"/>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34175" y="2345182"/>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2</a:t>
            </a:r>
          </a:p>
        </p:txBody>
      </p:sp>
      <p:sp>
        <p:nvSpPr>
          <p:cNvPr id="15" name="TextBox 14"/>
          <p:cNvSpPr txBox="1"/>
          <p:nvPr/>
        </p:nvSpPr>
        <p:spPr>
          <a:xfrm>
            <a:off x="6937095" y="2295144"/>
            <a:ext cx="4504791"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succès   </a:t>
            </a:r>
            <a:r>
              <a:rPr sz="1900" b="1" i="0">
                <a:solidFill>
                  <a:srgbClr val="07734A"/>
                </a:solidFill>
                <a:latin typeface="Verdana"/>
              </a:rPr>
              <a:t>» le son « s »</a:t>
            </a:r>
          </a:p>
        </p:txBody>
      </p:sp>
      <p:sp>
        <p:nvSpPr>
          <p:cNvPr id="16" name="Rounded Rectangle 15"/>
          <p:cNvSpPr/>
          <p:nvPr/>
        </p:nvSpPr>
        <p:spPr>
          <a:xfrm>
            <a:off x="566928" y="2916428"/>
            <a:ext cx="5464911"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057905"/>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121913"/>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3</a:t>
            </a:r>
          </a:p>
        </p:txBody>
      </p:sp>
      <p:sp>
        <p:nvSpPr>
          <p:cNvPr id="19" name="TextBox 18"/>
          <p:cNvSpPr txBox="1"/>
          <p:nvPr/>
        </p:nvSpPr>
        <p:spPr>
          <a:xfrm>
            <a:off x="1344168" y="3071876"/>
            <a:ext cx="4504791"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organisée   </a:t>
            </a:r>
            <a:r>
              <a:rPr sz="1900" b="1" i="0">
                <a:solidFill>
                  <a:srgbClr val="07734A"/>
                </a:solidFill>
                <a:latin typeface="Verdana"/>
              </a:rPr>
              <a:t>» le son « z »</a:t>
            </a:r>
          </a:p>
        </p:txBody>
      </p:sp>
      <p:sp>
        <p:nvSpPr>
          <p:cNvPr id="20" name="Rounded Rectangle 19"/>
          <p:cNvSpPr/>
          <p:nvPr/>
        </p:nvSpPr>
        <p:spPr>
          <a:xfrm>
            <a:off x="6159855" y="2916428"/>
            <a:ext cx="5464911"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6434175" y="3057905"/>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434175" y="3121913"/>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4</a:t>
            </a:r>
          </a:p>
        </p:txBody>
      </p:sp>
      <p:sp>
        <p:nvSpPr>
          <p:cNvPr id="23" name="TextBox 22"/>
          <p:cNvSpPr txBox="1"/>
          <p:nvPr/>
        </p:nvSpPr>
        <p:spPr>
          <a:xfrm>
            <a:off x="6937095" y="3071876"/>
            <a:ext cx="4504791"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amassé   </a:t>
            </a:r>
            <a:r>
              <a:rPr sz="1900" b="1" i="0">
                <a:solidFill>
                  <a:srgbClr val="07734A"/>
                </a:solidFill>
                <a:latin typeface="Verdana"/>
              </a:rPr>
              <a:t>» le son « s »</a:t>
            </a:r>
          </a:p>
        </p:txBody>
      </p:sp>
      <p:sp>
        <p:nvSpPr>
          <p:cNvPr id="24" name="Rounded Rectangle 23"/>
          <p:cNvSpPr/>
          <p:nvPr/>
        </p:nvSpPr>
        <p:spPr>
          <a:xfrm>
            <a:off x="566928" y="3693160"/>
            <a:ext cx="5464911"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3834638"/>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3898646"/>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5</a:t>
            </a:r>
          </a:p>
        </p:txBody>
      </p:sp>
      <p:sp>
        <p:nvSpPr>
          <p:cNvPr id="27" name="TextBox 26"/>
          <p:cNvSpPr txBox="1"/>
          <p:nvPr/>
        </p:nvSpPr>
        <p:spPr>
          <a:xfrm>
            <a:off x="1344168" y="3848608"/>
            <a:ext cx="4504791"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organisme   </a:t>
            </a:r>
            <a:r>
              <a:rPr sz="1900" b="1" i="0">
                <a:solidFill>
                  <a:srgbClr val="07734A"/>
                </a:solidFill>
                <a:latin typeface="Verdana"/>
              </a:rPr>
              <a:t>» le son « z »</a:t>
            </a:r>
          </a:p>
        </p:txBody>
      </p:sp>
      <p:sp>
        <p:nvSpPr>
          <p:cNvPr id="28" name="Rounded Rectangle 27"/>
          <p:cNvSpPr/>
          <p:nvPr/>
        </p:nvSpPr>
        <p:spPr>
          <a:xfrm>
            <a:off x="6159855" y="3693160"/>
            <a:ext cx="5464911"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6434175" y="3834638"/>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434175" y="3898646"/>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6</a:t>
            </a:r>
          </a:p>
        </p:txBody>
      </p:sp>
      <p:sp>
        <p:nvSpPr>
          <p:cNvPr id="31" name="TextBox 30"/>
          <p:cNvSpPr txBox="1"/>
          <p:nvPr/>
        </p:nvSpPr>
        <p:spPr>
          <a:xfrm>
            <a:off x="6937095" y="3848608"/>
            <a:ext cx="4504791"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cents   </a:t>
            </a:r>
            <a:r>
              <a:rPr sz="1900" b="1" i="0">
                <a:solidFill>
                  <a:srgbClr val="07734A"/>
                </a:solidFill>
                <a:latin typeface="Verdana"/>
              </a:rPr>
              <a:t>» le son « s »</a:t>
            </a:r>
          </a:p>
        </p:txBody>
      </p:sp>
      <p:sp>
        <p:nvSpPr>
          <p:cNvPr id="32" name="Rounded Rectangle 31"/>
          <p:cNvSpPr/>
          <p:nvPr/>
        </p:nvSpPr>
        <p:spPr>
          <a:xfrm>
            <a:off x="566928" y="4469892"/>
            <a:ext cx="5464911"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ounded Rectangle 32"/>
          <p:cNvSpPr/>
          <p:nvPr/>
        </p:nvSpPr>
        <p:spPr>
          <a:xfrm>
            <a:off x="841247" y="4611370"/>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841247" y="4675378"/>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7</a:t>
            </a:r>
          </a:p>
        </p:txBody>
      </p:sp>
      <p:sp>
        <p:nvSpPr>
          <p:cNvPr id="35" name="TextBox 34"/>
          <p:cNvSpPr txBox="1"/>
          <p:nvPr/>
        </p:nvSpPr>
        <p:spPr>
          <a:xfrm>
            <a:off x="1344168" y="4625340"/>
            <a:ext cx="4504791"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visite   </a:t>
            </a:r>
            <a:r>
              <a:rPr sz="1900" b="1" i="0">
                <a:solidFill>
                  <a:srgbClr val="07734A"/>
                </a:solidFill>
                <a:latin typeface="Verdana"/>
              </a:rPr>
              <a:t>» le son « z »</a:t>
            </a:r>
          </a:p>
        </p:txBody>
      </p:sp>
      <p:sp>
        <p:nvSpPr>
          <p:cNvPr id="36" name="Rounded Rectangle 35"/>
          <p:cNvSpPr/>
          <p:nvPr/>
        </p:nvSpPr>
        <p:spPr>
          <a:xfrm>
            <a:off x="6159855" y="4469892"/>
            <a:ext cx="5464911"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ounded Rectangle 36"/>
          <p:cNvSpPr/>
          <p:nvPr/>
        </p:nvSpPr>
        <p:spPr>
          <a:xfrm>
            <a:off x="6434175" y="4611370"/>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434175" y="4675378"/>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8</a:t>
            </a:r>
          </a:p>
        </p:txBody>
      </p:sp>
      <p:sp>
        <p:nvSpPr>
          <p:cNvPr id="39" name="TextBox 38"/>
          <p:cNvSpPr txBox="1"/>
          <p:nvPr/>
        </p:nvSpPr>
        <p:spPr>
          <a:xfrm>
            <a:off x="6937095" y="4625340"/>
            <a:ext cx="4504791"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personne   </a:t>
            </a:r>
            <a:r>
              <a:rPr sz="1900" b="1" i="0">
                <a:solidFill>
                  <a:srgbClr val="07734A"/>
                </a:solidFill>
                <a:latin typeface="Verdana"/>
              </a:rPr>
              <a:t>» le son « s »</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C'est l'heure des nouvelles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PRATIQUE · 6 DE 6</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Trois phrases de nouvelle à lire à voix haute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Chacun lit une phrase. Le groupe ne corrige que les s et les z.</a:t>
            </a:r>
          </a:p>
        </p:txBody>
      </p:sp>
      <p:sp>
        <p:nvSpPr>
          <p:cNvPr id="8" name="Rounded Rectangle 7"/>
          <p:cNvSpPr/>
          <p:nvPr/>
        </p:nvSpPr>
        <p:spPr>
          <a:xfrm>
            <a:off x="566928" y="2139696"/>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81174"/>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45182"/>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1</a:t>
            </a:r>
          </a:p>
        </p:txBody>
      </p:sp>
      <p:sp>
        <p:nvSpPr>
          <p:cNvPr id="11" name="TextBox 10"/>
          <p:cNvSpPr txBox="1"/>
          <p:nvPr/>
        </p:nvSpPr>
        <p:spPr>
          <a:xfrm>
            <a:off x="1344168" y="2295144"/>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La voisine a retrouvé le chat de la fillette.</a:t>
            </a:r>
          </a:p>
        </p:txBody>
      </p:sp>
      <p:sp>
        <p:nvSpPr>
          <p:cNvPr id="12" name="Rounded Rectangle 11"/>
          <p:cNvSpPr/>
          <p:nvPr/>
        </p:nvSpPr>
        <p:spPr>
          <a:xfrm>
            <a:off x="566928" y="2916428"/>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57905"/>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121913"/>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2</a:t>
            </a:r>
          </a:p>
        </p:txBody>
      </p:sp>
      <p:sp>
        <p:nvSpPr>
          <p:cNvPr id="15" name="TextBox 14"/>
          <p:cNvSpPr txBox="1"/>
          <p:nvPr/>
        </p:nvSpPr>
        <p:spPr>
          <a:xfrm>
            <a:off x="1344168" y="3071876"/>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Les élèves ont amassé deux cents paires de mitaines.</a:t>
            </a:r>
          </a:p>
        </p:txBody>
      </p:sp>
      <p:sp>
        <p:nvSpPr>
          <p:cNvPr id="16" name="Rounded Rectangle 15"/>
          <p:cNvSpPr/>
          <p:nvPr/>
        </p:nvSpPr>
        <p:spPr>
          <a:xfrm>
            <a:off x="566928" y="3693160"/>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834638"/>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898646"/>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3</a:t>
            </a:r>
          </a:p>
        </p:txBody>
      </p:sp>
      <p:sp>
        <p:nvSpPr>
          <p:cNvPr id="19" name="TextBox 18"/>
          <p:cNvSpPr txBox="1"/>
          <p:nvPr/>
        </p:nvSpPr>
        <p:spPr>
          <a:xfrm>
            <a:off x="1344168" y="3848608"/>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La collecte organisée par la classe a eu un franc succès.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C'est l'heure des nouvelles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21</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Trois phrases de nouvelle à lire à voix haute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81174"/>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45182"/>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1</a:t>
            </a:r>
          </a:p>
        </p:txBody>
      </p:sp>
      <p:sp>
        <p:nvSpPr>
          <p:cNvPr id="11" name="TextBox 10"/>
          <p:cNvSpPr txBox="1"/>
          <p:nvPr/>
        </p:nvSpPr>
        <p:spPr>
          <a:xfrm>
            <a:off x="1344168" y="2295144"/>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La voisine a retrouvé le chat de la fillette.   </a:t>
            </a:r>
            <a:r>
              <a:rPr sz="1900" b="1" i="0">
                <a:solidFill>
                  <a:srgbClr val="07734A"/>
                </a:solidFill>
                <a:latin typeface="Verdana"/>
              </a:rPr>
              <a:t>» z</a:t>
            </a:r>
          </a:p>
        </p:txBody>
      </p:sp>
      <p:sp>
        <p:nvSpPr>
          <p:cNvPr id="12" name="Rounded Rectangle 11"/>
          <p:cNvSpPr/>
          <p:nvPr/>
        </p:nvSpPr>
        <p:spPr>
          <a:xfrm>
            <a:off x="566928" y="2916428"/>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57905"/>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121913"/>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2</a:t>
            </a:r>
          </a:p>
        </p:txBody>
      </p:sp>
      <p:sp>
        <p:nvSpPr>
          <p:cNvPr id="15" name="TextBox 14"/>
          <p:cNvSpPr txBox="1"/>
          <p:nvPr/>
        </p:nvSpPr>
        <p:spPr>
          <a:xfrm>
            <a:off x="1344168" y="3071876"/>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Les élèves ont amassé deux cents paires de mitaines.   </a:t>
            </a:r>
            <a:r>
              <a:rPr sz="1900" b="1" i="0">
                <a:solidFill>
                  <a:srgbClr val="07734A"/>
                </a:solidFill>
                <a:latin typeface="Verdana"/>
              </a:rPr>
              <a:t>» s · s</a:t>
            </a:r>
          </a:p>
        </p:txBody>
      </p:sp>
      <p:sp>
        <p:nvSpPr>
          <p:cNvPr id="16" name="Rounded Rectangle 15"/>
          <p:cNvSpPr/>
          <p:nvPr/>
        </p:nvSpPr>
        <p:spPr>
          <a:xfrm>
            <a:off x="566928" y="3693160"/>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834638"/>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898646"/>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3</a:t>
            </a:r>
          </a:p>
        </p:txBody>
      </p:sp>
      <p:sp>
        <p:nvSpPr>
          <p:cNvPr id="19" name="TextBox 18"/>
          <p:cNvSpPr txBox="1"/>
          <p:nvPr/>
        </p:nvSpPr>
        <p:spPr>
          <a:xfrm>
            <a:off x="1344168" y="3848608"/>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La collecte organisée par la classe a eu un franc succès.   </a:t>
            </a:r>
            <a:r>
              <a:rPr sz="1900" b="1" i="0">
                <a:solidFill>
                  <a:srgbClr val="07734A"/>
                </a:solidFill>
                <a:latin typeface="Verdana"/>
              </a:rPr>
              <a:t>» z · 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C'est l'heure des nouvelles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22</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Écrivez quatre titres de nouvelles, un par catégorie.</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Une régionale, une nationale, une internationale, un fait divers.</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Un titre court : cinq à huit mots.</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C'est l'heure des nouvelles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