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trois exemples du chapeau au tableau et demander au groupe de les classer avant toute explication. Le classement spontané confond souvent importance et portée.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clé de la séance : trois catégories de territoire, une catégorie de sujet. Elles ne se classent pas sur le même axe.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Beaucoup d'élèves classent selon ce qui les touche : corriger explicitement.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carte est le critère le plus fiable. Faire l'appliquer à chaque énoncé de l'exercice.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par le territoire ou par le sujet. Ne jamais accepter « parce que c'est important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item est volontairement ambigu. Laisser le groupe argumenter : les deux réponses se défendent, et c'est instructif.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donner par chacun une nouvelle qui l'a touché personnellement, puis la classer. L'exercice est éclairant.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Nuance fine mais utile. Donner trois exemples de feux à Montréal, de portées différentes.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la première phrase suffit presque toujours à classer. C'est un réflexe d'écoute utile.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Dix minutes. Faire classer les nouvelles apportées par le groupe au tableau, en quatre colonnes. Le tableau collectif vaut mieux que l'exercice individuel.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 voisine » et « poisson » au tableau et faire entourer ce qui suit et précède le s. La règle se déduit sans être dite.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doublement du s est une conséquence de la règle, pas une exception : le dire dans ce sens-là évite une liste à mémoriser.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paire à retenir de la séance. La faire écrire dans le cahier avec un dessin à côté de chaque mot.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huit mots de l'exercice de sons du module en ligne, dans le même ordre. Après la correction, faire justifier chaque réponse par la position du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phrase contient les deux sons : la faire relire deux fois, une fois lentement, une fois au rythme d'un bulletin.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titres serviront en E1, où chacun développera l'un d'eux en un vrai fait divers.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A2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Quatre sortes de nouvelles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feu de forêt en Australie, une piste cyclable à Alma, un cycliste qui heurte un chevreuil. Trois nouvelles, trois catégories — et le classement n'est pas une question d'importance.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C'est l'heure des nouvelles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nouvelle régionale, nationale et internationale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fait divers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classer une nouvelle d'après sa portée, pas son importance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la catégorie d'une nouvelle qu'on entend ;</a:t>
            </a:r>
          </a:p>
        </p:txBody>
      </p:sp>
      <p:sp>
        <p:nvSpPr>
          <p:cNvPr id="23" name="Rounded Rectangle 22"/>
          <p:cNvSpPr/>
          <p:nvPr/>
        </p:nvSpPr>
        <p:spPr>
          <a:xfrm>
            <a:off x="566928" y="5308600"/>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04672" y="5486400"/>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4672" y="5568696"/>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6" name="TextBox 25"/>
          <p:cNvSpPr txBox="1"/>
          <p:nvPr/>
        </p:nvSpPr>
        <p:spPr>
          <a:xfrm>
            <a:off x="1408176" y="5509768"/>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le son « s » du son « z » dans le vocabulaire du bulletin.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catégories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4117598"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CATÉGORIE</a:t>
            </a:r>
          </a:p>
        </p:txBody>
      </p:sp>
      <p:sp>
        <p:nvSpPr>
          <p:cNvPr id="9" name="TextBox 8"/>
          <p:cNvSpPr txBox="1"/>
          <p:nvPr/>
        </p:nvSpPr>
        <p:spPr>
          <a:xfrm>
            <a:off x="5269742" y="1975104"/>
            <a:ext cx="5769809"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TOUCHE</a:t>
            </a:r>
          </a:p>
        </p:txBody>
      </p:sp>
      <p:sp>
        <p:nvSpPr>
          <p:cNvPr id="10" name="TextBox 9"/>
          <p:cNvSpPr txBox="1"/>
          <p:nvPr/>
        </p:nvSpPr>
        <p:spPr>
          <a:xfrm>
            <a:off x="932688" y="2395728"/>
            <a:ext cx="4117598"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une nouvelle régionale</a:t>
            </a:r>
          </a:p>
        </p:txBody>
      </p:sp>
      <p:sp>
        <p:nvSpPr>
          <p:cNvPr id="11" name="TextBox 10"/>
          <p:cNvSpPr txBox="1"/>
          <p:nvPr/>
        </p:nvSpPr>
        <p:spPr>
          <a:xfrm>
            <a:off x="5269742" y="2395728"/>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région de la province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4117598"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une nouvelle nationale</a:t>
            </a:r>
          </a:p>
        </p:txBody>
      </p:sp>
      <p:sp>
        <p:nvSpPr>
          <p:cNvPr id="14" name="TextBox 13"/>
          <p:cNvSpPr txBox="1"/>
          <p:nvPr/>
        </p:nvSpPr>
        <p:spPr>
          <a:xfrm>
            <a:off x="5269742" y="2935224"/>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province ou le pays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4117598"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une nouvelle internationale</a:t>
            </a:r>
          </a:p>
        </p:txBody>
      </p:sp>
      <p:sp>
        <p:nvSpPr>
          <p:cNvPr id="17" name="TextBox 16"/>
          <p:cNvSpPr txBox="1"/>
          <p:nvPr/>
        </p:nvSpPr>
        <p:spPr>
          <a:xfrm>
            <a:off x="5269742" y="3474720"/>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l'extérieur du pays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4117598"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 fait divers</a:t>
            </a:r>
          </a:p>
        </p:txBody>
      </p:sp>
      <p:sp>
        <p:nvSpPr>
          <p:cNvPr id="20" name="TextBox 19"/>
          <p:cNvSpPr txBox="1"/>
          <p:nvPr/>
        </p:nvSpPr>
        <p:spPr>
          <a:xfrm>
            <a:off x="5269742" y="4014215"/>
            <a:ext cx="5769809"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 faits quotidiens qui attirent la curiosité</a:t>
            </a:r>
          </a:p>
        </p:txBody>
      </p:sp>
      <p:sp>
        <p:nvSpPr>
          <p:cNvPr id="21" name="Rounded Rectangle 20"/>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trois premières se distinguent par le territoire. Le fait divers, lui, se distingue par le sujet.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RÈGLE</a:t>
            </a:r>
          </a:p>
        </p:txBody>
      </p:sp>
      <p:sp>
        <p:nvSpPr>
          <p:cNvPr id="6" name="Rounded Rectangle 5"/>
          <p:cNvSpPr/>
          <p:nvPr/>
        </p:nvSpPr>
        <p:spPr>
          <a:xfrm>
            <a:off x="566928" y="1225296"/>
            <a:ext cx="11057839" cy="1441196"/>
          </a:xfrm>
          <a:prstGeom prst="roundRect">
            <a:avLst>
              <a:gd name="adj" fmla="val 10151"/>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portée, pas l'importance.</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piste cyclable à Alma est une nouvelle régionale même si elle compte beaucoup pour les gens d'Alma. Un feu de forêt en Australie est international même s'il n'a aucun effet ici. La question est : quel territoire est concerné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Comment reconnaître un fait divers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Un événement unique</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accident, un sauvetage, une découverte étrange. Ce n'est pas une tendance ni une décision politique : c'est quelque chose qui est arrivé une fois.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Des personnes ordinaires</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Une fillette, un cycliste, une voisine. Pas de ministre, pas d'entreprise, pas d'institution en vedette.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Aucune conséquence générale</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chat retrouvé ne change rien pour personne d'autre que sa famille. C'est ce qui distingue le fait divers de la nouvelle nationale.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Ce qui attire la curiosité</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fait divers est raconté parce qu'il touche, surprend ou émeut — pas parce qu'il faut le savoir.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1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la nouvelle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Fait divers, régionale, nationale ou internationale ?</a:t>
            </a:r>
          </a:p>
        </p:txBody>
      </p:sp>
      <p:sp>
        <p:nvSpPr>
          <p:cNvPr id="8" name="Rounded Rectangle 7"/>
          <p:cNvSpPr/>
          <p:nvPr/>
        </p:nvSpPr>
        <p:spPr>
          <a:xfrm>
            <a:off x="566928" y="2139696"/>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7896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4297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En Australie, des feux de forêt forcent l'évacuation de plusieurs villages.</a:t>
            </a:r>
          </a:p>
        </p:txBody>
      </p:sp>
      <p:sp>
        <p:nvSpPr>
          <p:cNvPr id="12" name="Rounded Rectangle 11"/>
          <p:cNvSpPr/>
          <p:nvPr/>
        </p:nvSpPr>
        <p:spPr>
          <a:xfrm>
            <a:off x="566928" y="3112008"/>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1792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8193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267456"/>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pénurie de main-d'œuvre touche plusieurs secteurs au Canada.</a:t>
            </a:r>
          </a:p>
        </p:txBody>
      </p:sp>
      <p:sp>
        <p:nvSpPr>
          <p:cNvPr id="16" name="Rounded Rectangle 15"/>
          <p:cNvSpPr/>
          <p:nvPr/>
        </p:nvSpPr>
        <p:spPr>
          <a:xfrm>
            <a:off x="566928" y="3817620"/>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568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2089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9730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 cycliste entre en collision avec un chevreuil sur une route de campagne.</a:t>
            </a:r>
          </a:p>
        </p:txBody>
      </p:sp>
      <p:sp>
        <p:nvSpPr>
          <p:cNvPr id="20" name="Rounded Rectangle 19"/>
          <p:cNvSpPr/>
          <p:nvPr/>
        </p:nvSpPr>
        <p:spPr>
          <a:xfrm>
            <a:off x="566928" y="4789932"/>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89585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95985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9453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nouvelle piste cyclable aménagée à Alma.</a:t>
            </a:r>
          </a:p>
        </p:txBody>
      </p:sp>
      <p:sp>
        <p:nvSpPr>
          <p:cNvPr id="24" name="Rounded Rectangle 23"/>
          <p:cNvSpPr/>
          <p:nvPr/>
        </p:nvSpPr>
        <p:spPr>
          <a:xfrm>
            <a:off x="566928" y="5495544"/>
            <a:ext cx="11057839" cy="577596"/>
          </a:xfrm>
          <a:prstGeom prst="roundRect">
            <a:avLst>
              <a:gd name="adj" fmla="val 2532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60146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66547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650992"/>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L'endettement des ménages canadiens continue d'augmenter.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la nouvelle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7896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4297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En Australie, des feux de forêt forcent l'évacuation de plusieurs villages.   </a:t>
            </a:r>
            <a:r>
              <a:rPr sz="1500" b="1" i="0">
                <a:solidFill>
                  <a:srgbClr val="07734A"/>
                </a:solidFill>
                <a:latin typeface="Verdana"/>
              </a:rPr>
              <a:t>» internationale — hors du pays</a:t>
            </a:r>
          </a:p>
        </p:txBody>
      </p:sp>
      <p:sp>
        <p:nvSpPr>
          <p:cNvPr id="12" name="Rounded Rectangle 11"/>
          <p:cNvSpPr/>
          <p:nvPr/>
        </p:nvSpPr>
        <p:spPr>
          <a:xfrm>
            <a:off x="566928" y="3112008"/>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1792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8193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267456"/>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pénurie de main-d'œuvre touche plusieurs secteurs au Canada.   </a:t>
            </a:r>
            <a:r>
              <a:rPr sz="1500" b="1" i="0">
                <a:solidFill>
                  <a:srgbClr val="07734A"/>
                </a:solidFill>
                <a:latin typeface="Verdana"/>
              </a:rPr>
              <a:t>» nationale — tout le pays</a:t>
            </a:r>
          </a:p>
        </p:txBody>
      </p:sp>
      <p:sp>
        <p:nvSpPr>
          <p:cNvPr id="16" name="Rounded Rectangle 15"/>
          <p:cNvSpPr/>
          <p:nvPr/>
        </p:nvSpPr>
        <p:spPr>
          <a:xfrm>
            <a:off x="566928" y="3817620"/>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0568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2089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9730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 cycliste entre en collision avec un chevreuil sur une route de campagne.   </a:t>
            </a:r>
            <a:r>
              <a:rPr sz="1500" b="1" i="0">
                <a:solidFill>
                  <a:srgbClr val="07734A"/>
                </a:solidFill>
                <a:latin typeface="Verdana"/>
              </a:rPr>
              <a:t>» fait divers — un événement unique</a:t>
            </a:r>
          </a:p>
        </p:txBody>
      </p:sp>
      <p:sp>
        <p:nvSpPr>
          <p:cNvPr id="20" name="Rounded Rectangle 19"/>
          <p:cNvSpPr/>
          <p:nvPr/>
        </p:nvSpPr>
        <p:spPr>
          <a:xfrm>
            <a:off x="566928" y="4789932"/>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89585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95985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945380"/>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Une nouvelle piste cyclable aménagée à Alma.   </a:t>
            </a:r>
            <a:r>
              <a:rPr sz="1500" b="1" i="0">
                <a:solidFill>
                  <a:srgbClr val="07734A"/>
                </a:solidFill>
                <a:latin typeface="Verdana"/>
              </a:rPr>
              <a:t>» régionale — une ville</a:t>
            </a:r>
          </a:p>
        </p:txBody>
      </p:sp>
      <p:sp>
        <p:nvSpPr>
          <p:cNvPr id="24" name="Rounded Rectangle 23"/>
          <p:cNvSpPr/>
          <p:nvPr/>
        </p:nvSpPr>
        <p:spPr>
          <a:xfrm>
            <a:off x="566928" y="5495544"/>
            <a:ext cx="11057839" cy="577596"/>
          </a:xfrm>
          <a:prstGeom prst="roundRect">
            <a:avLst>
              <a:gd name="adj" fmla="val 25329"/>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60146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66547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650992"/>
            <a:ext cx="10097719" cy="3032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L'endettement des ménages canadiens continue d'augmenter.   </a:t>
            </a:r>
            <a:r>
              <a:rPr sz="1500" b="1" i="0">
                <a:solidFill>
                  <a:srgbClr val="07734A"/>
                </a:solidFill>
                <a:latin typeface="Verdana"/>
              </a:rPr>
              <a:t>» nationale — une tendance au pays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2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Régionale ou fait divers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plus difficile : les deux se passent près de chez nous.</a:t>
            </a:r>
          </a:p>
        </p:txBody>
      </p:sp>
      <p:sp>
        <p:nvSpPr>
          <p:cNvPr id="8" name="Rounded Rectangle 7"/>
          <p:cNvSpPr/>
          <p:nvPr/>
        </p:nvSpPr>
        <p:spPr>
          <a:xfrm>
            <a:off x="566928" y="2139696"/>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école de Longueuil amasse deux cents paires de mitaines.</a:t>
            </a:r>
          </a:p>
        </p:txBody>
      </p:sp>
      <p:sp>
        <p:nvSpPr>
          <p:cNvPr id="12" name="Rounded Rectangle 11"/>
          <p:cNvSpPr/>
          <p:nvPr/>
        </p:nvSpPr>
        <p:spPr>
          <a:xfrm>
            <a:off x="566928" y="3147568"/>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40461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303016"/>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Ville de Longueuil augmente les taxes de deux pour cent.</a:t>
            </a:r>
          </a:p>
        </p:txBody>
      </p:sp>
      <p:sp>
        <p:nvSpPr>
          <p:cNvPr id="16" name="Rounded Rectangle 15"/>
          <p:cNvSpPr/>
          <p:nvPr/>
        </p:nvSpPr>
        <p:spPr>
          <a:xfrm>
            <a:off x="566928" y="4155440"/>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124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431088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fillette retrouve son chat grâce à une affiche.</a:t>
            </a:r>
          </a:p>
        </p:txBody>
      </p:sp>
      <p:sp>
        <p:nvSpPr>
          <p:cNvPr id="20" name="Rounded Rectangle 19"/>
          <p:cNvSpPr/>
          <p:nvPr/>
        </p:nvSpPr>
        <p:spPr>
          <a:xfrm>
            <a:off x="566928" y="5163312"/>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781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421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531876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nouveau CHSLD ouvrira à Sherbrooke l'an prochain.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Régionale ou fait divers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école de Longueuil amasse deux cents paires de mitaines.   </a:t>
            </a:r>
            <a:r>
              <a:rPr sz="1600" b="1" i="0">
                <a:solidFill>
                  <a:srgbClr val="07734A"/>
                </a:solidFill>
                <a:latin typeface="Verdana"/>
              </a:rPr>
              <a:t>» fait divers ou régionale — les deux se défendent</a:t>
            </a:r>
          </a:p>
        </p:txBody>
      </p:sp>
      <p:sp>
        <p:nvSpPr>
          <p:cNvPr id="12" name="Rounded Rectangle 11"/>
          <p:cNvSpPr/>
          <p:nvPr/>
        </p:nvSpPr>
        <p:spPr>
          <a:xfrm>
            <a:off x="566928" y="3147568"/>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40461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303016"/>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Ville de Longueuil augmente les taxes de deux pour cent.   </a:t>
            </a:r>
            <a:r>
              <a:rPr sz="1600" b="1" i="0">
                <a:solidFill>
                  <a:srgbClr val="07734A"/>
                </a:solidFill>
                <a:latin typeface="Verdana"/>
              </a:rPr>
              <a:t>» régionale — une décision qui touche tout le monde</a:t>
            </a:r>
          </a:p>
        </p:txBody>
      </p:sp>
      <p:sp>
        <p:nvSpPr>
          <p:cNvPr id="16" name="Rounded Rectangle 15"/>
          <p:cNvSpPr/>
          <p:nvPr/>
        </p:nvSpPr>
        <p:spPr>
          <a:xfrm>
            <a:off x="566928" y="4155440"/>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124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431088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fillette retrouve son chat grâce à une affiche.   </a:t>
            </a:r>
            <a:r>
              <a:rPr sz="1600" b="1" i="0">
                <a:solidFill>
                  <a:srgbClr val="07734A"/>
                </a:solidFill>
                <a:latin typeface="Verdana"/>
              </a:rPr>
              <a:t>» fait divers — un événement unique, sans conséquence générale</a:t>
            </a:r>
          </a:p>
        </p:txBody>
      </p:sp>
      <p:sp>
        <p:nvSpPr>
          <p:cNvPr id="20" name="Rounded Rectangle 19"/>
          <p:cNvSpPr/>
          <p:nvPr/>
        </p:nvSpPr>
        <p:spPr>
          <a:xfrm>
            <a:off x="566928" y="5163312"/>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781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421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531876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nouveau CHSLD ouvrira à Sherbrooke l'an prochain.   </a:t>
            </a:r>
            <a:r>
              <a:rPr sz="1600" b="1" i="0">
                <a:solidFill>
                  <a:srgbClr val="07734A"/>
                </a:solidFill>
                <a:latin typeface="Verdana"/>
              </a:rPr>
              <a:t>» régionale — un service pour la région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DE L'IMPORTANCE PERSONNELLE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C'est une nouvelle nationale, parce que ça me concerne beaucoup.</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catégorie dépend du territoire touché, pas de moi.</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nouvelle qui vous concerne personnellement peut être régionale, ou même un fait divers. La catégorie ne juge pas de la valeur : elle dit seulement qui est concerné.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DU LIEU MENTIONNÉ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Un feu à Montréal : c'est régional, parce que Montréal est nommé.</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Cela dépend : un feu chez un particulier est un fait divers.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nom d'une ville n'en fait pas une nouvelle régionale. Ce qui compte est l'étendue de ce qui est touché : un immeuble, un quartier, une ville entière ? Le lieu est un indice, pas une preuve.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3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Trouvez la catégorie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le début de la nouvelle.</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 gouvernement du Québec annonce un investissement en santé… »</a:t>
            </a:r>
          </a:p>
        </p:txBody>
      </p:sp>
      <p:sp>
        <p:nvSpPr>
          <p:cNvPr id="12" name="Rounded Rectangle 11"/>
          <p:cNvSpPr/>
          <p:nvPr/>
        </p:nvSpPr>
        <p:spPr>
          <a:xfrm>
            <a:off x="566928" y="2880868"/>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Deux passants ont secouru un cycliste blessé à Trois-Pistoles… »</a:t>
            </a:r>
          </a:p>
        </p:txBody>
      </p:sp>
      <p:sp>
        <p:nvSpPr>
          <p:cNvPr id="16" name="Rounded Rectangle 15"/>
          <p:cNvSpPr/>
          <p:nvPr/>
        </p:nvSpPr>
        <p:spPr>
          <a:xfrm>
            <a:off x="566928" y="3622040"/>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La bibliothèque de Rimouski prolonge ses heures d'ouverture… »</a:t>
            </a:r>
          </a:p>
        </p:txBody>
      </p:sp>
      <p:sp>
        <p:nvSpPr>
          <p:cNvPr id="20" name="Rounded Rectangle 19"/>
          <p:cNvSpPr/>
          <p:nvPr/>
        </p:nvSpPr>
        <p:spPr>
          <a:xfrm>
            <a:off x="566928" y="436321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Une tempête frappe la côte est des États-Unis… »</a:t>
            </a:r>
          </a:p>
        </p:txBody>
      </p:sp>
      <p:sp>
        <p:nvSpPr>
          <p:cNvPr id="24" name="Rounded Rectangle 23"/>
          <p:cNvSpPr/>
          <p:nvPr/>
        </p:nvSpPr>
        <p:spPr>
          <a:xfrm>
            <a:off x="566928" y="5104384"/>
            <a:ext cx="11057839"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Les élèves d'une classe de Victoriaville tournent un documentaire…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Trouvez la catégorie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 gouvernement du Québec annonce un investissement en santé… »   </a:t>
            </a:r>
            <a:r>
              <a:rPr sz="1700" b="1" i="0">
                <a:solidFill>
                  <a:srgbClr val="07734A"/>
                </a:solidFill>
                <a:latin typeface="Verdana"/>
              </a:rPr>
              <a:t>» nationale</a:t>
            </a:r>
          </a:p>
        </p:txBody>
      </p:sp>
      <p:sp>
        <p:nvSpPr>
          <p:cNvPr id="12" name="Rounded Rectangle 11"/>
          <p:cNvSpPr/>
          <p:nvPr/>
        </p:nvSpPr>
        <p:spPr>
          <a:xfrm>
            <a:off x="566928" y="2880868"/>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Deux passants ont secouru un cycliste blessé à Trois-Pistoles… »   </a:t>
            </a:r>
            <a:r>
              <a:rPr sz="1700" b="1" i="0">
                <a:solidFill>
                  <a:srgbClr val="07734A"/>
                </a:solidFill>
                <a:latin typeface="Verdana"/>
              </a:rPr>
              <a:t>» fait divers</a:t>
            </a:r>
          </a:p>
        </p:txBody>
      </p:sp>
      <p:sp>
        <p:nvSpPr>
          <p:cNvPr id="16" name="Rounded Rectangle 15"/>
          <p:cNvSpPr/>
          <p:nvPr/>
        </p:nvSpPr>
        <p:spPr>
          <a:xfrm>
            <a:off x="566928" y="3622040"/>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La bibliothèque de Rimouski prolonge ses heures d'ouverture… »   </a:t>
            </a:r>
            <a:r>
              <a:rPr sz="1700" b="1" i="0">
                <a:solidFill>
                  <a:srgbClr val="07734A"/>
                </a:solidFill>
                <a:latin typeface="Verdana"/>
              </a:rPr>
              <a:t>» régionale</a:t>
            </a:r>
          </a:p>
        </p:txBody>
      </p:sp>
      <p:sp>
        <p:nvSpPr>
          <p:cNvPr id="20" name="Rounded Rectangle 19"/>
          <p:cNvSpPr/>
          <p:nvPr/>
        </p:nvSpPr>
        <p:spPr>
          <a:xfrm>
            <a:off x="566928" y="436321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Une tempête frappe la côte est des États-Unis… »   </a:t>
            </a:r>
            <a:r>
              <a:rPr sz="1700" b="1" i="0">
                <a:solidFill>
                  <a:srgbClr val="07734A"/>
                </a:solidFill>
                <a:latin typeface="Verdana"/>
              </a:rPr>
              <a:t>» internationale</a:t>
            </a:r>
          </a:p>
        </p:txBody>
      </p:sp>
      <p:sp>
        <p:nvSpPr>
          <p:cNvPr id="24" name="Rounded Rectangle 23"/>
          <p:cNvSpPr/>
          <p:nvPr/>
        </p:nvSpPr>
        <p:spPr>
          <a:xfrm>
            <a:off x="566928" y="5104384"/>
            <a:ext cx="11057839"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Les élèves d'une classe de Victoriaville tournent un documentaire… »   </a:t>
            </a:r>
            <a:r>
              <a:rPr sz="1700" b="1" i="0">
                <a:solidFill>
                  <a:srgbClr val="07734A"/>
                </a:solidFill>
                <a:latin typeface="Verdana"/>
              </a:rPr>
              <a:t>» fait divers ou régionale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4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Classez vos propres nouvelles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Reprenez le billet de la séance A1.</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Votre nouvelle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justification</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autre nouvelle de la semaine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LETTRE S NE DIT PAS TOUJOURS LE MÊME SON</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Entre deux voyelles, un seul s se dit « z ».</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Voisine » et « succès » sont deux mots de la même nouvelle. Le premier a le son « z », le second le son « s ». La règle se voit à l'écrit : il suffit de regarder ce qui entoure le 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deux sons dans les mots du bulletin</a:t>
            </a:r>
          </a:p>
        </p:txBody>
      </p:sp>
      <p:sp>
        <p:nvSpPr>
          <p:cNvPr id="7" name="Rounded Rectangle 6"/>
          <p:cNvSpPr/>
          <p:nvPr/>
        </p:nvSpPr>
        <p:spPr>
          <a:xfrm>
            <a:off x="566928" y="1810512"/>
            <a:ext cx="11057839" cy="2624328"/>
          </a:xfrm>
          <a:prstGeom prst="roundRect">
            <a:avLst>
              <a:gd name="adj" fmla="val 557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IL S'ÉCRIT</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MOTS DU MODULE</a:t>
            </a:r>
          </a:p>
        </p:txBody>
      </p:sp>
      <p:sp>
        <p:nvSpPr>
          <p:cNvPr id="11" name="TextBox 10"/>
          <p:cNvSpPr txBox="1"/>
          <p:nvPr/>
        </p:nvSpPr>
        <p:spPr>
          <a:xfrm>
            <a:off x="932688" y="2395728"/>
            <a:ext cx="3222650"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son « z »</a:t>
            </a:r>
          </a:p>
        </p:txBody>
      </p:sp>
      <p:sp>
        <p:nvSpPr>
          <p:cNvPr id="12" name="TextBox 11"/>
          <p:cNvSpPr txBox="1"/>
          <p:nvPr/>
        </p:nvSpPr>
        <p:spPr>
          <a:xfrm>
            <a:off x="4374794"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seul s entre deux voyelles</a:t>
            </a:r>
          </a:p>
        </p:txBody>
      </p:sp>
      <p:sp>
        <p:nvSpPr>
          <p:cNvPr id="13" name="TextBox 12"/>
          <p:cNvSpPr txBox="1"/>
          <p:nvPr/>
        </p:nvSpPr>
        <p:spPr>
          <a:xfrm>
            <a:off x="7816900"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voisine, organisée, organisme, visite</a:t>
            </a:r>
          </a:p>
        </p:txBody>
      </p:sp>
      <p:sp>
        <p:nvSpPr>
          <p:cNvPr id="14" name="Rectangle 13"/>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236976"/>
            <a:ext cx="3222650" cy="941832"/>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son « s »</a:t>
            </a:r>
          </a:p>
        </p:txBody>
      </p:sp>
      <p:sp>
        <p:nvSpPr>
          <p:cNvPr id="16" name="TextBox 15"/>
          <p:cNvSpPr txBox="1"/>
          <p:nvPr/>
        </p:nvSpPr>
        <p:spPr>
          <a:xfrm>
            <a:off x="4374794" y="3236976"/>
            <a:ext cx="3222650" cy="941832"/>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ss, ou s après une consonne ou en début de mot</a:t>
            </a:r>
          </a:p>
        </p:txBody>
      </p:sp>
      <p:sp>
        <p:nvSpPr>
          <p:cNvPr id="17" name="TextBox 16"/>
          <p:cNvSpPr txBox="1"/>
          <p:nvPr/>
        </p:nvSpPr>
        <p:spPr>
          <a:xfrm>
            <a:off x="7816900" y="3236976"/>
            <a:ext cx="3222650" cy="941832"/>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succès, amassé, cents, personne</a:t>
            </a:r>
          </a:p>
        </p:txBody>
      </p:sp>
      <p:sp>
        <p:nvSpPr>
          <p:cNvPr id="18" name="Rounded Rectangle 17"/>
          <p:cNvSpPr/>
          <p:nvPr/>
        </p:nvSpPr>
        <p:spPr>
          <a:xfrm>
            <a:off x="566928" y="4672583"/>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928616"/>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C'est pour cette raison qu'on double le s dans « amassé » : sans le second s, on lirait « amazé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DE « POISSON » ET « POISON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poison, quand on veut dire poisson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poisson — deux s, donc le son « s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seul s change le mot du tout au tout : un poisson se mange, un poison tue. La paire est célèbre parce qu'elle montre que la règle n'est pas une politesse d'orthographe — elle porte le sens.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5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son entendez-vous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le mot, écrivez « s » ou « z ».</a:t>
            </a:r>
          </a:p>
        </p:txBody>
      </p:sp>
      <p:sp>
        <p:nvSpPr>
          <p:cNvPr id="8" name="Rounded Rectangle 7"/>
          <p:cNvSpPr/>
          <p:nvPr/>
        </p:nvSpPr>
        <p:spPr>
          <a:xfrm>
            <a:off x="566928"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voisine</a:t>
            </a:r>
          </a:p>
        </p:txBody>
      </p:sp>
      <p:sp>
        <p:nvSpPr>
          <p:cNvPr id="12" name="Rounded Rectangle 11"/>
          <p:cNvSpPr/>
          <p:nvPr/>
        </p:nvSpPr>
        <p:spPr>
          <a:xfrm>
            <a:off x="6159855"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succès</a:t>
            </a:r>
          </a:p>
        </p:txBody>
      </p:sp>
      <p:sp>
        <p:nvSpPr>
          <p:cNvPr id="16" name="Rounded Rectangle 15"/>
          <p:cNvSpPr/>
          <p:nvPr/>
        </p:nvSpPr>
        <p:spPr>
          <a:xfrm>
            <a:off x="566928"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organisée</a:t>
            </a:r>
          </a:p>
        </p:txBody>
      </p:sp>
      <p:sp>
        <p:nvSpPr>
          <p:cNvPr id="20" name="Rounded Rectangle 19"/>
          <p:cNvSpPr/>
          <p:nvPr/>
        </p:nvSpPr>
        <p:spPr>
          <a:xfrm>
            <a:off x="6159855"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amassé</a:t>
            </a:r>
          </a:p>
        </p:txBody>
      </p:sp>
      <p:sp>
        <p:nvSpPr>
          <p:cNvPr id="24" name="Rounded Rectangle 23"/>
          <p:cNvSpPr/>
          <p:nvPr/>
        </p:nvSpPr>
        <p:spPr>
          <a:xfrm>
            <a:off x="566928"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organisme</a:t>
            </a:r>
          </a:p>
        </p:txBody>
      </p:sp>
      <p:sp>
        <p:nvSpPr>
          <p:cNvPr id="28" name="Rounded Rectangle 27"/>
          <p:cNvSpPr/>
          <p:nvPr/>
        </p:nvSpPr>
        <p:spPr>
          <a:xfrm>
            <a:off x="6159855"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cents</a:t>
            </a:r>
          </a:p>
        </p:txBody>
      </p:sp>
      <p:sp>
        <p:nvSpPr>
          <p:cNvPr id="32" name="Rounded Rectangle 31"/>
          <p:cNvSpPr/>
          <p:nvPr/>
        </p:nvSpPr>
        <p:spPr>
          <a:xfrm>
            <a:off x="566928"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visite</a:t>
            </a:r>
          </a:p>
        </p:txBody>
      </p:sp>
      <p:sp>
        <p:nvSpPr>
          <p:cNvPr id="36" name="Rounded Rectangle 35"/>
          <p:cNvSpPr/>
          <p:nvPr/>
        </p:nvSpPr>
        <p:spPr>
          <a:xfrm>
            <a:off x="6159855"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personne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son entendez-vous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voisine   </a:t>
            </a:r>
            <a:r>
              <a:rPr sz="1900" b="1" i="0">
                <a:solidFill>
                  <a:srgbClr val="07734A"/>
                </a:solidFill>
                <a:latin typeface="Verdana"/>
              </a:rPr>
              <a:t>» le son « z »</a:t>
            </a:r>
          </a:p>
        </p:txBody>
      </p:sp>
      <p:sp>
        <p:nvSpPr>
          <p:cNvPr id="12" name="Rounded Rectangle 11"/>
          <p:cNvSpPr/>
          <p:nvPr/>
        </p:nvSpPr>
        <p:spPr>
          <a:xfrm>
            <a:off x="6159855"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succès   </a:t>
            </a:r>
            <a:r>
              <a:rPr sz="1900" b="1" i="0">
                <a:solidFill>
                  <a:srgbClr val="07734A"/>
                </a:solidFill>
                <a:latin typeface="Verdana"/>
              </a:rPr>
              <a:t>» le son « s »</a:t>
            </a:r>
          </a:p>
        </p:txBody>
      </p:sp>
      <p:sp>
        <p:nvSpPr>
          <p:cNvPr id="16" name="Rounded Rectangle 15"/>
          <p:cNvSpPr/>
          <p:nvPr/>
        </p:nvSpPr>
        <p:spPr>
          <a:xfrm>
            <a:off x="566928"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organisée   </a:t>
            </a:r>
            <a:r>
              <a:rPr sz="1900" b="1" i="0">
                <a:solidFill>
                  <a:srgbClr val="07734A"/>
                </a:solidFill>
                <a:latin typeface="Verdana"/>
              </a:rPr>
              <a:t>» le son « z »</a:t>
            </a:r>
          </a:p>
        </p:txBody>
      </p:sp>
      <p:sp>
        <p:nvSpPr>
          <p:cNvPr id="20" name="Rounded Rectangle 19"/>
          <p:cNvSpPr/>
          <p:nvPr/>
        </p:nvSpPr>
        <p:spPr>
          <a:xfrm>
            <a:off x="6159855"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amassé   </a:t>
            </a:r>
            <a:r>
              <a:rPr sz="1900" b="1" i="0">
                <a:solidFill>
                  <a:srgbClr val="07734A"/>
                </a:solidFill>
                <a:latin typeface="Verdana"/>
              </a:rPr>
              <a:t>» le son « s »</a:t>
            </a:r>
          </a:p>
        </p:txBody>
      </p:sp>
      <p:sp>
        <p:nvSpPr>
          <p:cNvPr id="24" name="Rounded Rectangle 23"/>
          <p:cNvSpPr/>
          <p:nvPr/>
        </p:nvSpPr>
        <p:spPr>
          <a:xfrm>
            <a:off x="566928"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organisme   </a:t>
            </a:r>
            <a:r>
              <a:rPr sz="1900" b="1" i="0">
                <a:solidFill>
                  <a:srgbClr val="07734A"/>
                </a:solidFill>
                <a:latin typeface="Verdana"/>
              </a:rPr>
              <a:t>» le son « z »</a:t>
            </a:r>
          </a:p>
        </p:txBody>
      </p:sp>
      <p:sp>
        <p:nvSpPr>
          <p:cNvPr id="28" name="Rounded Rectangle 27"/>
          <p:cNvSpPr/>
          <p:nvPr/>
        </p:nvSpPr>
        <p:spPr>
          <a:xfrm>
            <a:off x="6159855"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cents   </a:t>
            </a:r>
            <a:r>
              <a:rPr sz="1900" b="1" i="0">
                <a:solidFill>
                  <a:srgbClr val="07734A"/>
                </a:solidFill>
                <a:latin typeface="Verdana"/>
              </a:rPr>
              <a:t>» le son « s »</a:t>
            </a:r>
          </a:p>
        </p:txBody>
      </p:sp>
      <p:sp>
        <p:nvSpPr>
          <p:cNvPr id="32" name="Rounded Rectangle 31"/>
          <p:cNvSpPr/>
          <p:nvPr/>
        </p:nvSpPr>
        <p:spPr>
          <a:xfrm>
            <a:off x="566928"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visite   </a:t>
            </a:r>
            <a:r>
              <a:rPr sz="1900" b="1" i="0">
                <a:solidFill>
                  <a:srgbClr val="07734A"/>
                </a:solidFill>
                <a:latin typeface="Verdana"/>
              </a:rPr>
              <a:t>» le son « z »</a:t>
            </a:r>
          </a:p>
        </p:txBody>
      </p:sp>
      <p:sp>
        <p:nvSpPr>
          <p:cNvPr id="36" name="Rounded Rectangle 35"/>
          <p:cNvSpPr/>
          <p:nvPr/>
        </p:nvSpPr>
        <p:spPr>
          <a:xfrm>
            <a:off x="6159855"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personne   </a:t>
            </a:r>
            <a:r>
              <a:rPr sz="1900" b="1" i="0">
                <a:solidFill>
                  <a:srgbClr val="07734A"/>
                </a:solidFill>
                <a:latin typeface="Verdana"/>
              </a:rPr>
              <a:t>» le son « s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6 DE 6</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de nouvelle à lire à voix haute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Chacun lit une phrase. Le groupe ne corrige que les s et les z.</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voisine a retrouvé le chat de la fillette.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élèves ont amassé deux cents paires de mitaines.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collecte organisée par la classe a eu un franc succès.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de nouvelle à lire à voix haute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voisine a retrouvé le chat de la fillette.   </a:t>
            </a:r>
            <a:r>
              <a:rPr sz="1900" b="1" i="0">
                <a:solidFill>
                  <a:srgbClr val="07734A"/>
                </a:solidFill>
                <a:latin typeface="Verdana"/>
              </a:rPr>
              <a:t>» z</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élèves ont amassé deux cents paires de mitaines.   </a:t>
            </a:r>
            <a:r>
              <a:rPr sz="1900" b="1" i="0">
                <a:solidFill>
                  <a:srgbClr val="07734A"/>
                </a:solidFill>
                <a:latin typeface="Verdana"/>
              </a:rPr>
              <a:t>» s · 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collecte organisée par la classe a eu un franc succès.   </a:t>
            </a:r>
            <a:r>
              <a:rPr sz="1900" b="1" i="0">
                <a:solidFill>
                  <a:srgbClr val="07734A"/>
                </a:solidFill>
                <a:latin typeface="Verdana"/>
              </a:rPr>
              <a:t>» z · 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quatre titres de nouvelles, un par catégorie.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régionale, une nationale, une internationale, un fait divers.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titre court : cinq à huit mots.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C'est l'heure des nouvelles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