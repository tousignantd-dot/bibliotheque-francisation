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Ouverture du module 5. Demander qui écoute ou lit les nouvelles en français, et sur quel support. Les réponses varient beaucoup et orientent tout le module.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Cinq minutes en grand groupe. La deuxième question est la plus utile : elle nomme la difficulté réelle, et les noms propres arrivent souvent en tête.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remarquer la deuxième carte : le journaliste et Dany ne donnent pas la même date. C'est fréquent, et c'est un point d'écoute fine.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Passer l'audio de « Je découvre ». Faire compter les informations de la première phrase du journaliste : quand, où, qui, quoi, combien, pour qui. Six en une phrase.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C'est Noah qui a eu l'idée » : la construction du défi 1. La signaler sans l'expliquer — elle sera le sujet de la séance B3.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chiffres à comparer : trente, puis deux cents. Une nouvelle donne souvent un chiffre de départ et un chiffre d'arrivée.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Écrire les cinq questions au tableau et les y laisser tout le module. C'est la grille d'écoute et de lecture de toutes les séances.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retrouver les cinq réponses dans le texte du dialogue, avant d'afficher la colonne de droite.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 cinq mots sont le sujet de la séance A2. Les installer ici, les travailler là-bas.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 franc succès » et « à ce jour » sont des expressions figées : les faire employer telles quelles, sans les décomposer.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deux dernières questions demandent une écoute fine : les réponses sont dans les répliques des amis, pas dans le reportage.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l'expérience : réécouter le reportage en ne cherchant que « où ». Presque tout le monde l'obtient, alors que la compréhension globale reste partielle.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Ces nouvelles serviront en A2, où l'on classera celles du groupe selon leur portée.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A1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 collecte de mitaines</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Marc, Sophie et Dany regardent le bulletin régional. Le reportage parle de la classe de Sophie : deux cents paires de mitaines amassées en quelques semaines, à partir de l'idée d'un seul élève.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C'est l'heure des nouvelles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 reportage court à la radio ou à la télévision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repérer les informations essentielles d'une nouvelle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ce que dit le journaliste de ce que disent les gens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 vocabulaire des médias.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MISE EN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Vous écoutez les nouvelles. Qu'est-ce que vous retenez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que vous comprenez d'un bulletin en français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est le plus difficile : la vitesse, les mots, les noms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que vous écoutez les nouvelles dans une autre langue aussi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vous intéresse le plus : le local, le national, le monde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 SITUATION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le reportage raconte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Ce qui s'est passé</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Des élèves de troisième secondaire ont amassé plus de deux cents paires de mitaines et de tuques pour les enfants du quartier.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Où et quand</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Dans une école de Longueuil. Le reportage dit « hier » ; Dany précise que la collecte était avant-hier.</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Qui a eu l'idée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Noah, un élève de la classe. Il en a parlé à son enseignante dès septembre.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Qui a aidé</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L'organisme Les Cœurs d'hiver. Une nouvelle mentionne presque toujours un organisme ou une institution.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1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reportage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d'abord l'enregistrement, diapo masquée. Lisez ensuite.</a:t>
            </a:r>
          </a:p>
        </p:txBody>
      </p:sp>
      <p:sp>
        <p:nvSpPr>
          <p:cNvPr id="8" name="TextBox 7"/>
          <p:cNvSpPr txBox="1"/>
          <p:nvPr/>
        </p:nvSpPr>
        <p:spPr>
          <a:xfrm>
            <a:off x="932688" y="2322576"/>
            <a:ext cx="2499169"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MARC</a:t>
            </a:r>
          </a:p>
        </p:txBody>
      </p:sp>
      <p:sp>
        <p:nvSpPr>
          <p:cNvPr id="9" name="TextBox 8"/>
          <p:cNvSpPr txBox="1"/>
          <p:nvPr/>
        </p:nvSpPr>
        <p:spPr>
          <a:xfrm>
            <a:off x="3431857" y="2322576"/>
            <a:ext cx="764426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Chut, écoutez ! Ils parlent de la collecte de mitaines organisée par la classe de Sophie !</a:t>
            </a:r>
          </a:p>
        </p:txBody>
      </p:sp>
      <p:sp>
        <p:nvSpPr>
          <p:cNvPr id="10" name="Rounded Rectangle 9"/>
          <p:cNvSpPr/>
          <p:nvPr/>
        </p:nvSpPr>
        <p:spPr>
          <a:xfrm>
            <a:off x="566928" y="3245103"/>
            <a:ext cx="11057839" cy="1342644"/>
          </a:xfrm>
          <a:prstGeom prst="roundRect">
            <a:avLst>
              <a:gd name="adj" fmla="val 10896"/>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3409696"/>
            <a:ext cx="2499169" cy="1068324"/>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LE JOURNALISTE</a:t>
            </a:r>
          </a:p>
        </p:txBody>
      </p:sp>
      <p:sp>
        <p:nvSpPr>
          <p:cNvPr id="12" name="TextBox 11"/>
          <p:cNvSpPr txBox="1"/>
          <p:nvPr/>
        </p:nvSpPr>
        <p:spPr>
          <a:xfrm>
            <a:off x="3431857" y="3409696"/>
            <a:ext cx="7644269" cy="1068324"/>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Hier, dans une école de Longueuil, des élèves de 3e secondaire ont amassé plus de deux cents paires de mitaines et de tuques pour les enfants du quartier.</a:t>
            </a:r>
          </a:p>
        </p:txBody>
      </p:sp>
      <p:sp>
        <p:nvSpPr>
          <p:cNvPr id="13" name="Rounded Rectangle 12"/>
          <p:cNvSpPr/>
          <p:nvPr/>
        </p:nvSpPr>
        <p:spPr>
          <a:xfrm>
            <a:off x="566928" y="4670044"/>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4834636"/>
            <a:ext cx="2499169"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LE JOURNALISTE</a:t>
            </a:r>
          </a:p>
        </p:txBody>
      </p:sp>
      <p:sp>
        <p:nvSpPr>
          <p:cNvPr id="15" name="TextBox 14"/>
          <p:cNvSpPr txBox="1"/>
          <p:nvPr/>
        </p:nvSpPr>
        <p:spPr>
          <a:xfrm>
            <a:off x="3431857" y="4834636"/>
            <a:ext cx="7644269"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L'activité a été organisée avec l'aide de l'organisme Les Cœurs d'hiver.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2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C'est Noah qui a eu l'idée</a:t>
            </a:r>
          </a:p>
        </p:txBody>
      </p:sp>
      <p:sp>
        <p:nvSpPr>
          <p:cNvPr id="7" name="Rounded Rectangle 6"/>
          <p:cNvSpPr/>
          <p:nvPr/>
        </p:nvSpPr>
        <p:spPr>
          <a:xfrm>
            <a:off x="566928" y="1737360"/>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1209"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DANY</a:t>
            </a:r>
          </a:p>
        </p:txBody>
      </p:sp>
      <p:sp>
        <p:nvSpPr>
          <p:cNvPr id="9" name="TextBox 8"/>
          <p:cNvSpPr txBox="1"/>
          <p:nvPr/>
        </p:nvSpPr>
        <p:spPr>
          <a:xfrm>
            <a:off x="2223897" y="1901952"/>
            <a:ext cx="885223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c'est vrai ! C'était avant-hier, la collecte !</a:t>
            </a:r>
          </a:p>
        </p:txBody>
      </p:sp>
      <p:sp>
        <p:nvSpPr>
          <p:cNvPr id="10" name="Rounded Rectangle 9"/>
          <p:cNvSpPr/>
          <p:nvPr/>
        </p:nvSpPr>
        <p:spPr>
          <a:xfrm>
            <a:off x="566928" y="2486659"/>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1291209"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SOPHIE</a:t>
            </a:r>
          </a:p>
        </p:txBody>
      </p:sp>
      <p:sp>
        <p:nvSpPr>
          <p:cNvPr id="12" name="TextBox 11"/>
          <p:cNvSpPr txBox="1"/>
          <p:nvPr/>
        </p:nvSpPr>
        <p:spPr>
          <a:xfrm>
            <a:off x="2223897" y="2651252"/>
            <a:ext cx="8852230"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Noah qui a eu l'idée. Il en a parlé à son enseignante dès septembre !</a:t>
            </a:r>
          </a:p>
        </p:txBody>
      </p:sp>
      <p:sp>
        <p:nvSpPr>
          <p:cNvPr id="13" name="TextBox 12"/>
          <p:cNvSpPr txBox="1"/>
          <p:nvPr/>
        </p:nvSpPr>
        <p:spPr>
          <a:xfrm>
            <a:off x="932688" y="3738371"/>
            <a:ext cx="1291209"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DANY</a:t>
            </a:r>
          </a:p>
        </p:txBody>
      </p:sp>
      <p:sp>
        <p:nvSpPr>
          <p:cNvPr id="14" name="TextBox 13"/>
          <p:cNvSpPr txBox="1"/>
          <p:nvPr/>
        </p:nvSpPr>
        <p:spPr>
          <a:xfrm>
            <a:off x="2223897" y="3738371"/>
            <a:ext cx="885223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Noah était tellement content quand il a vu toutes les boîtes pleines.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DIALOGUE · 3 DE 3</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Trente paires, puis deux cents</a:t>
            </a:r>
          </a:p>
        </p:txBody>
      </p:sp>
      <p:sp>
        <p:nvSpPr>
          <p:cNvPr id="7" name="Rounded Rectangle 6"/>
          <p:cNvSpPr/>
          <p:nvPr/>
        </p:nvSpPr>
        <p:spPr>
          <a:xfrm>
            <a:off x="566928" y="1737360"/>
            <a:ext cx="11057839" cy="1004823"/>
          </a:xfrm>
          <a:prstGeom prst="roundRect">
            <a:avLst>
              <a:gd name="adj" fmla="val 14560"/>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1291209" cy="73050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SOPHIE</a:t>
            </a:r>
          </a:p>
        </p:txBody>
      </p:sp>
      <p:sp>
        <p:nvSpPr>
          <p:cNvPr id="9" name="TextBox 8"/>
          <p:cNvSpPr txBox="1"/>
          <p:nvPr/>
        </p:nvSpPr>
        <p:spPr>
          <a:xfrm>
            <a:off x="2223897" y="1901952"/>
            <a:ext cx="8852230" cy="73050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dire qu'avant-hier, il n'y avait que trente paires de mitaines dans les boîtes. Aujourd'hui, il y en a plus de deux cents !</a:t>
            </a:r>
          </a:p>
        </p:txBody>
      </p:sp>
      <p:sp>
        <p:nvSpPr>
          <p:cNvPr id="10" name="Rounded Rectangle 9"/>
          <p:cNvSpPr/>
          <p:nvPr/>
        </p:nvSpPr>
        <p:spPr>
          <a:xfrm>
            <a:off x="566928" y="2824479"/>
            <a:ext cx="11057839" cy="667003"/>
          </a:xfrm>
          <a:prstGeom prst="roundRect">
            <a:avLst>
              <a:gd name="adj" fmla="val 219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89072"/>
            <a:ext cx="1291209" cy="392683"/>
          </a:xfrm>
          <a:prstGeom prst="rect">
            <a:avLst/>
          </a:prstGeom>
          <a:noFill/>
        </p:spPr>
        <p:txBody>
          <a:bodyPr wrap="square" lIns="0" rIns="0" tIns="0" bIns="0" anchor="t">
            <a:spAutoFit/>
          </a:bodyPr>
          <a:lstStyle/>
          <a:p>
            <a:pPr algn="l">
              <a:lnSpc>
                <a:spcPct val="135000"/>
              </a:lnSpc>
            </a:pPr>
            <a:r>
              <a:rPr sz="1900" b="1" i="0">
                <a:solidFill>
                  <a:srgbClr val="0D7A6F"/>
                </a:solidFill>
                <a:latin typeface="Verdana"/>
              </a:rPr>
              <a:t>MARC</a:t>
            </a:r>
          </a:p>
        </p:txBody>
      </p:sp>
      <p:sp>
        <p:nvSpPr>
          <p:cNvPr id="12" name="TextBox 11"/>
          <p:cNvSpPr txBox="1"/>
          <p:nvPr/>
        </p:nvSpPr>
        <p:spPr>
          <a:xfrm>
            <a:off x="2223897" y="2989072"/>
            <a:ext cx="8852230"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C'est Noah qu'on doit remercier pour cette belle initiative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LA RÈGLE DU MODULE</a:t>
            </a:r>
          </a:p>
        </p:txBody>
      </p:sp>
      <p:sp>
        <p:nvSpPr>
          <p:cNvPr id="6" name="Rounded Rectangle 5"/>
          <p:cNvSpPr/>
          <p:nvPr/>
        </p:nvSpPr>
        <p:spPr>
          <a:xfrm>
            <a:off x="566928" y="1225296"/>
            <a:ext cx="11057839" cy="1967991"/>
          </a:xfrm>
          <a:prstGeom prst="roundRect">
            <a:avLst>
              <a:gd name="adj" fmla="val 743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nouvelle répond à cinq questions : qui, quoi, où, quand, pourquoi.</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Le journaliste les donne presque toujours dans les deux premières phrases. Écouter en cherchant ces cinq réponses est beaucoup plus efficace qu'essayer de tout comprendre.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reportage, selon les cinq questions</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QUESTION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RÉPONSE</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qui ?</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des élèves de 3e secondaire</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quoi ?</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ils ont amassé 200 paires de mitaines et de tuques</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où ?</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dans une école de Longueuil</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quand ?</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hier, selon le journaliste</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pourquoi ?</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pour les enfants du quartier</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Cinq réponses en deux phrases. C'est la densité normale d'un reportage : il n'y a presque rien à jeter.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sortes de nouvelles</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394239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fait divers</a:t>
            </a:r>
          </a:p>
        </p:txBody>
      </p:sp>
      <p:sp>
        <p:nvSpPr>
          <p:cNvPr id="9" name="TextBox 8"/>
          <p:cNvSpPr txBox="1"/>
          <p:nvPr/>
        </p:nvSpPr>
        <p:spPr>
          <a:xfrm>
            <a:off x="5149405" y="2121408"/>
            <a:ext cx="6109601"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Une nouvelle sur des faits quotidiens qui attire la curiosité.</a:t>
            </a:r>
          </a:p>
        </p:txBody>
      </p:sp>
      <p:sp>
        <p:nvSpPr>
          <p:cNvPr id="10" name="Rectangle 9"/>
          <p:cNvSpPr/>
          <p:nvPr/>
        </p:nvSpPr>
        <p:spPr>
          <a:xfrm>
            <a:off x="932688" y="27633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909620"/>
            <a:ext cx="394239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nouvelle régionale</a:t>
            </a:r>
          </a:p>
        </p:txBody>
      </p:sp>
      <p:sp>
        <p:nvSpPr>
          <p:cNvPr id="12" name="TextBox 11"/>
          <p:cNvSpPr txBox="1"/>
          <p:nvPr/>
        </p:nvSpPr>
        <p:spPr>
          <a:xfrm>
            <a:off x="5149405" y="2909620"/>
            <a:ext cx="610960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nouvelle qui touche une région de la province.</a:t>
            </a:r>
          </a:p>
        </p:txBody>
      </p:sp>
      <p:sp>
        <p:nvSpPr>
          <p:cNvPr id="13" name="Rectangle 12"/>
          <p:cNvSpPr/>
          <p:nvPr/>
        </p:nvSpPr>
        <p:spPr>
          <a:xfrm>
            <a:off x="932688" y="3551529"/>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697833"/>
            <a:ext cx="394239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nouvelle nationale</a:t>
            </a:r>
          </a:p>
        </p:txBody>
      </p:sp>
      <p:sp>
        <p:nvSpPr>
          <p:cNvPr id="15" name="TextBox 14"/>
          <p:cNvSpPr txBox="1"/>
          <p:nvPr/>
        </p:nvSpPr>
        <p:spPr>
          <a:xfrm>
            <a:off x="5149405" y="3697833"/>
            <a:ext cx="610960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nouvelle qui touche la province ou le pays.</a:t>
            </a:r>
          </a:p>
        </p:txBody>
      </p:sp>
      <p:sp>
        <p:nvSpPr>
          <p:cNvPr id="16" name="Rectangle 15"/>
          <p:cNvSpPr/>
          <p:nvPr/>
        </p:nvSpPr>
        <p:spPr>
          <a:xfrm>
            <a:off x="932688" y="433974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486046"/>
            <a:ext cx="394239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nouvelle internationale</a:t>
            </a:r>
          </a:p>
        </p:txBody>
      </p:sp>
      <p:sp>
        <p:nvSpPr>
          <p:cNvPr id="18" name="TextBox 17"/>
          <p:cNvSpPr txBox="1"/>
          <p:nvPr/>
        </p:nvSpPr>
        <p:spPr>
          <a:xfrm>
            <a:off x="5149405" y="4486046"/>
            <a:ext cx="6109601" cy="568756"/>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nouvelle qui provient de l'extérieur du pays.</a:t>
            </a:r>
          </a:p>
        </p:txBody>
      </p:sp>
      <p:sp>
        <p:nvSpPr>
          <p:cNvPr id="19" name="Rectangle 18"/>
          <p:cNvSpPr/>
          <p:nvPr/>
        </p:nvSpPr>
        <p:spPr>
          <a:xfrm>
            <a:off x="932688" y="512795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5274259"/>
            <a:ext cx="3942397" cy="568756"/>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reportage</a:t>
            </a:r>
          </a:p>
        </p:txBody>
      </p:sp>
      <p:sp>
        <p:nvSpPr>
          <p:cNvPr id="21" name="TextBox 20"/>
          <p:cNvSpPr txBox="1"/>
          <p:nvPr/>
        </p:nvSpPr>
        <p:spPr>
          <a:xfrm>
            <a:off x="5149405" y="5274259"/>
            <a:ext cx="6109601" cy="568756"/>
          </a:xfrm>
          <a:prstGeom prst="rect">
            <a:avLst/>
          </a:prstGeom>
          <a:noFill/>
        </p:spPr>
        <p:txBody>
          <a:bodyPr wrap="square" lIns="0" rIns="0" tIns="0" bIns="0" anchor="t">
            <a:spAutoFit/>
          </a:bodyPr>
          <a:lstStyle/>
          <a:p>
            <a:pPr algn="l">
              <a:lnSpc>
                <a:spcPct val="135000"/>
              </a:lnSpc>
            </a:pPr>
            <a:r>
              <a:rPr sz="1700" b="0" i="0">
                <a:solidFill>
                  <a:srgbClr val="4B4F52"/>
                </a:solidFill>
                <a:latin typeface="Verdana"/>
              </a:rPr>
              <a:t>Un texte ou une émission qui présente une nouvelle en détail.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du reportage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28428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témoin</a:t>
            </a:r>
          </a:p>
        </p:txBody>
      </p:sp>
      <p:sp>
        <p:nvSpPr>
          <p:cNvPr id="9" name="TextBox 8"/>
          <p:cNvSpPr txBox="1"/>
          <p:nvPr/>
        </p:nvSpPr>
        <p:spPr>
          <a:xfrm>
            <a:off x="3491293" y="2121408"/>
            <a:ext cx="776771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personne qui a vu un événement.</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28428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organisme</a:t>
            </a:r>
          </a:p>
        </p:txBody>
      </p:sp>
      <p:sp>
        <p:nvSpPr>
          <p:cNvPr id="12" name="TextBox 11"/>
          <p:cNvSpPr txBox="1"/>
          <p:nvPr/>
        </p:nvSpPr>
        <p:spPr>
          <a:xfrm>
            <a:off x="3491293" y="2778252"/>
            <a:ext cx="776771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groupe organisé qui offre un service ou mène une cause.</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28428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amasser</a:t>
            </a:r>
          </a:p>
        </p:txBody>
      </p:sp>
      <p:sp>
        <p:nvSpPr>
          <p:cNvPr id="15" name="TextBox 14"/>
          <p:cNvSpPr txBox="1"/>
          <p:nvPr/>
        </p:nvSpPr>
        <p:spPr>
          <a:xfrm>
            <a:off x="3491293" y="3435096"/>
            <a:ext cx="776771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Réunir, accumuler peu à peu.</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28428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avertir</a:t>
            </a:r>
          </a:p>
        </p:txBody>
      </p:sp>
      <p:sp>
        <p:nvSpPr>
          <p:cNvPr id="18" name="TextBox 17"/>
          <p:cNvSpPr txBox="1"/>
          <p:nvPr/>
        </p:nvSpPr>
        <p:spPr>
          <a:xfrm>
            <a:off x="3491293" y="4091939"/>
            <a:ext cx="776771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Informer quelqu'un d'un danger ou d'une nouvelle importante.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28428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franc succès</a:t>
            </a:r>
          </a:p>
        </p:txBody>
      </p:sp>
      <p:sp>
        <p:nvSpPr>
          <p:cNvPr id="21" name="TextBox 20"/>
          <p:cNvSpPr txBox="1"/>
          <p:nvPr/>
        </p:nvSpPr>
        <p:spPr>
          <a:xfrm>
            <a:off x="3491293" y="4748784"/>
            <a:ext cx="776771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vraie réussite, un grand succès.</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284285"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à ce jour</a:t>
            </a:r>
          </a:p>
        </p:txBody>
      </p:sp>
      <p:sp>
        <p:nvSpPr>
          <p:cNvPr id="24" name="TextBox 23"/>
          <p:cNvSpPr txBox="1"/>
          <p:nvPr/>
        </p:nvSpPr>
        <p:spPr>
          <a:xfrm>
            <a:off x="3491293" y="5405628"/>
            <a:ext cx="7767713"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Jusqu'à maintenant, jusqu'à aujourd'hui.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bulletin de nouvelles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sans relire le dialogue.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paires les élèves ont-ils amassées ?</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organisme a aidé la classe ?</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a eu l'idée de la collecte ?</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quelle ville se trouve l'école ?</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y avait-il de paires avant-hier ?</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Noah en a-t-il parlé à son enseignante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bulletin de nouvelles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de paires les élèves ont-ils amassées ?   </a:t>
            </a:r>
            <a:r>
              <a:rPr sz="1400" b="1" i="0">
                <a:solidFill>
                  <a:srgbClr val="07734A"/>
                </a:solidFill>
                <a:latin typeface="Verdana"/>
              </a:rPr>
              <a:t>» plus de deux cents</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Quel organisme a aidé la classe ?   </a:t>
            </a:r>
            <a:r>
              <a:rPr sz="1400" b="1" i="0">
                <a:solidFill>
                  <a:srgbClr val="07734A"/>
                </a:solidFill>
                <a:latin typeface="Verdana"/>
              </a:rPr>
              <a:t>» Les Cœurs d'hiver</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Qui a eu l'idée de la collecte ?   </a:t>
            </a:r>
            <a:r>
              <a:rPr sz="1400" b="1" i="0">
                <a:solidFill>
                  <a:srgbClr val="07734A"/>
                </a:solidFill>
                <a:latin typeface="Verdana"/>
              </a:rPr>
              <a:t>» Noah, un élève de la classe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Dans quelle ville se trouve l'école ?   </a:t>
            </a:r>
            <a:r>
              <a:rPr sz="1400" b="1" i="0">
                <a:solidFill>
                  <a:srgbClr val="07734A"/>
                </a:solidFill>
                <a:latin typeface="Verdana"/>
              </a:rPr>
              <a:t>» à Longueuil</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Combien y avait-il de paires avant-hier ?   </a:t>
            </a:r>
            <a:r>
              <a:rPr sz="1400" b="1" i="0">
                <a:solidFill>
                  <a:srgbClr val="07734A"/>
                </a:solidFill>
                <a:latin typeface="Verdana"/>
              </a:rPr>
              <a:t>» trente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Quand Noah en a-t-il parlé à son enseignante ?   </a:t>
            </a:r>
            <a:r>
              <a:rPr sz="1400" b="1" i="0">
                <a:solidFill>
                  <a:srgbClr val="07734A"/>
                </a:solidFill>
                <a:latin typeface="Verdana"/>
              </a:rPr>
              <a:t>» dès septembre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LE PIÈGE DU « TOUT COMPRENDRE »</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J'écoute chaque mot et je perds le fil.</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J'écoute en cherchant qui, quoi, où, quand, pourquoi.</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 bulletin va vite et contient des noms propres, des chiffres et des expressions figées. Vouloir tout saisir fait tout manquer. Chercher cinq réponses précises permet de comprendre l'essentiel dès la première écoute.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15</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Racontez une nouvelle que vous avez entendue cette semaine, en cinq lignes.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ligne par question : qui, quoi, où, quand, pourquoi.</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Dans n'importe quelle langue — mais écrivez-la en français.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A1 · C'est l'heure des nouvelles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