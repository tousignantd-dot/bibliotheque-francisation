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Écrire les deux phrases au tableau et faire dire les deux à voix haute. Demander ce que la première ajoute. Le groupe répondra « on insiste » : c'est la leçon.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Écrire la formule au tableau : C'EST + élément + QUI/QUE + le reste. Elle vaut pour tous les exercices de la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règle : « qui » quand l'élément mis en évidence est le sujet, « que » dans tous les autres cas. Le dire ainsi, c'est suffisant.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poser la question « qui fait l'action ? » avant chaque choix. C'est le même test qu'on emploiera pour la voix passive, en B4.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À l'oral, « c'est les élèves » s'entend souvent. Le signaler comme un usage familier : à l'écrit, on écrit « ce sont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souligner l'élément dans chaque phrase. Il est toujours au même endroit : c'est ce qui rend la construction facile à repérer.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poser la question « qui fait l'action ? » à voix haute avant chaque réponse. Sans elle, l'exercice devient un jeu de hasard.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critère : il faut « c'est » ET « qui » ou « que ». Un seul des deux ne suffit pas. C'est l'exercice le plus discriminant de la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chercher les deux morceaux dans chaque phrase de l'exercice précédent. La méthode est mécanique.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Nuance de registre à présenter honnêtement : ce n'est pas une faute de langue, c'est une différence entre l'oral et l'écrit.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deux derniers items mettent en évidence un moment et un lieu : c'est toujours « que ». Le signaler à la correction.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le choix entre qui et que, et l'accord de « ce sont ». Rendre avant B4 : la voix passive emploie le même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B3  ·  MODULE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C'est… qui, c'est… que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C'est Noah qui a eu l'idée. » Pourquoi pas simplement « Noah a eu l'idée » ? Parce qu'on veut insister sur Noah — et le français a une construction faite pour ça.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C'est l'heure des nouvelles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C'est l'heure des nouvelles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mettre un élément en évidence avec c'est… qui ou c'est… que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choisir entre « qui » et « que » selon la fonction de l'élément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« ce sont » quand l'élément est au pluriel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une mise en évidence dans un texte.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C'est l'heure des nouvelles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LA RÈGLE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C'est + l'élément à mettre en évidence + qui ou que + le reste.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303528"/>
          </a:xfrm>
          <a:prstGeom prst="roundRect">
            <a:avLst>
              <a:gd name="adj" fmla="val 1122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846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Noah a eu l'idée » devient « C'est Noah qui a eu l'idée ». L'élément mis en évidence passe au début, encadré par « c'est » et « qui ».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C'est l'heure des nouvelles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Qui ou que : la fonction décide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862072"/>
          </a:xfrm>
          <a:prstGeom prst="roundRect">
            <a:avLst>
              <a:gd name="adj" fmla="val 511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28784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PHRASE DE DÉPART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30583" y="1975104"/>
            <a:ext cx="546001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MISE EN ÉVIDENCE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10059" y="1975104"/>
            <a:ext cx="132949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MOT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395728"/>
            <a:ext cx="2878439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Noah a eu l'idée.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30583" y="2395728"/>
            <a:ext cx="5460019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C'est Noah qui a eu l'idée.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10059" y="2395728"/>
            <a:ext cx="1329491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qui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2935224"/>
            <a:ext cx="28784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classe a fabriqué cette affiche.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30583" y="2935224"/>
            <a:ext cx="546001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C'est cette affiche que la classe a fabriquée.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10059" y="2935224"/>
            <a:ext cx="132949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que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64845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776472"/>
            <a:ext cx="28784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voisine a vu le chat hier matin.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30583" y="3776472"/>
            <a:ext cx="546001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C'est hier matin que la voisine a vu le chat.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10059" y="3776472"/>
            <a:ext cx="132949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que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C'est l'heure des nouvelles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 TEST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Si l'élément fait l'action, c'est « qui ». Sinon, c'est « que ».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C'est Noah qui a eu l'idée » — Noah fait l'action d'avoir l'idée. « C'est cette affiche que la classe a fabriquée » — l'affiche ne fabrique rien, c'est la classe qui fabrique.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C'est l'heure des nouvelles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SINGULIER ET PLURIEL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C'est… pour le singulier. Ce sont… pour le pluriel.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C'est cette voisine qui a reconnu le chat. » « Ce sont les élèves qui ont fabriqué les affiches. » L'accord se fait avec l'élément mis en évidence, pas avec le reste de la phrase.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C'est l'heure des nouvelles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1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Quel élément est mis en évidence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Le mot ou le groupe placé entre « c'est » et « qui » ou « que ».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C'est cette voisine qui a reconnu le chat.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Ce sont les élèves qui ont fabriqué les affiches.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C'est hier matin que la voisine a vu le chat.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C'est Noah qu'on doit remercier.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C'est à Gatineau que l'histoire s'est passée.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C'est l'heure des nouvelles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Quel élément est mis en évidence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C'est cette voisine qui a reconnu le chat.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cette voisine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Ce sont les élèves qui ont fabriqué les affiches.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les élèves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C'est hier matin que la voisine a vu le chat.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hier matin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C'est Noah qu'on doit remercier.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Noah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C'est à Gatineau que l'histoire s'est passée.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à Gatineau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C'est l'heure des nouvelles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2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Qui ou que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L'élément mis en évidence fait-il l'action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C'est Noah ___ a eu l'idée.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C'est cette affiche ___ la classe a fabriquée.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C'est hier matin ___ la voisine a vu le chat.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Ce sont les élèves ___ ont amassé les mitaines.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C'est le chat ___ la voisine a reconnu.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C'est l'heure des nouvelles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Qui ou que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C'est Noah ___ a eu l'idée.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qui — Noah fait l'action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C'est cette affiche ___ la classe a fabriquée.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que — la classe fabrique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C'est hier matin ___ la voisine a vu le chat.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que — le matin ne fait rien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Ce sont les élèves ___ ont amassé les mitaines.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qui — les élèves font l'action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C'est le chat ___ la voisine a reconnu.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que — la voisine reconnaît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C'est l'heure des nouvelles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3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Mise en évidence ou non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Toutes les phrases commencent par « c'est » ou « ce sont ».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C'est une très belle histoire.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fillette qui a perdu son chat est soulagée.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C'est cette affiche que la classe a fabriquée.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Ce sont de jolies décorations.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Ce sont les élèves qui ont informé l'enseignante.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C'est l'heure des nouvelles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Mise en évidence ou non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C'est une très belle histoire.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NON — c'est une phrase ordinaire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fillette qui a perdu son chat est soulagée.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NON — pas de « c'est 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C'est cette affiche que la classe a fabriquée.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OUI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Ce sont de jolies décorations.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NON — pas de « qui » ni de « que »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Ce sont les élèves qui ont informé l'enseignante.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OUI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C'est l'heure des nouvelles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 PIÈGE DU « C'EST » ORDINAIRE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« C'est une belle histoire » met « une belle histoire » en évidence.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Il faut « c'est » ET « qui » ou « que ».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C'est une belle histoire » est une phrase ordinaire : elle dit ce qu'est la chose. La mise en évidence exige les deux morceaux — « c'est » au début et « qui » ou « que » après l'élément.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C'est l'heure des nouvelles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 PIÈGE DU PLURIEL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C'est les élèves qui ont amassé les mitaines.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Ce sont les élèves qui ont amassé les mitaines.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Devant un élément pluriel, on écrit « ce sont ». À l'oral, « c'est les élèves » s'entend partout au Québec et personne ne le corrigera. À l'écrit, dans un texte de nouvelles ou un courriel, il faut « ce sont ».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C'est l'heure des nouvelles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4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Mettez l'élément en évidence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Transformez la phrase.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722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362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Noah a eu l'idée de la collecte.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98648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3123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09524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54096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Les élèves ont amassé les mitaines.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57600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79018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54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13048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classe a fabriqué cette affiche.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16552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54914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1314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572000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voisine a vu le chat hier matin.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175504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0809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37210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330952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L'histoire s'est passée à Gatineau.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C'est l'heure des nouvelles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Mettez l'élément en évidence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722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362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Noah a eu l'idée de la collecte.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C'est Noah qui a eu l'idée de la collecte.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98648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3123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09524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54096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Les élèves ont amassé les mitaines.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Ce sont les élèves qui ont amassé les mitaines.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57600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79018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54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13048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classe a fabriqué cette affiche.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C'est cette affiche que la classe a fabriquée.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16552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54914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1314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572000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voisine a vu le chat hier matin.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C'est hier matin que la voisine a vu le chat.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175504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0809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37210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330952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L'histoire s'est passée à Gatineau.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C'est à Gatineau que l'histoire s'est passée.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C'est l'heure des nouvelles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trois phrases avec une mise en évidence.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avec « qui », une avec « que », une avec « ce sont ».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Elles doivent parler d'une nouvelle du module.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C'est l'heure des nouvelles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