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bilan. Ton différent des autres : on ne présente rien de nouveau. Laisser beaucoup de place aux questions restées en suspens.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Cacher la colonne de droite et faire donner les définitions. Puis l'inverse.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produire une phrase avec chaque mot, sur une nouvelle du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deux expressions figées — « un franc succès », « à ce jour » — se retiennent en bloc. Les faire employer telles quelles.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retrouver la règle avant d'afficher la colonne du milieu. Ce qui ne revient pas est ce qu'il faut retravailler.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Insister sur la dernière colonne. Le module reste ouvert dans le portail : chacun peut y revenir seul.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 à chacun lequel des quatre lui paraît le plus solide, et lequel le moins. Personne ne doit répondre « tous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individuel, cahier fermé, cinq minutes. Corriger ensemble sans compter les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colonne de droite n'est pas une correction : c'est l'adresse où retourner. Le dire clairement au groupe.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 du module. Ces billets disent ce qui est vraiment passé de la classe à la vie — c'est le seul bilan qui compte.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SÉANCE E2  ·  MODULE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Je retiens des mots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Dernière séance du module. On rassemble le vocabulaire, on revoit les savoirs, et chacun fait le point sur ce qu'il est maintenant capable de faire.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C'est l'heure des nouvelles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revoir les mots essentiels du module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retrouver les savoirs travaillés et savoir où chacun sert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évaluer honnêtement ce que je suis capable de faire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où retourner chercher ce qui n'est pas encore acquis.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VOCABULAIRE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sortes de nouvelles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3942397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fait divers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49405" y="2121408"/>
            <a:ext cx="6109601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Une nouvelle sur des faits quotidiens qui attire la curiosité.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76331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09620"/>
            <a:ext cx="3942397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nouvelle régionale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9405" y="2909620"/>
            <a:ext cx="6109601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Une nouvelle qui touche une région de la province.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551529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697833"/>
            <a:ext cx="3942397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nouvelle nationale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49405" y="3697833"/>
            <a:ext cx="6109601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Une nouvelle qui touche la province ou le pays.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33974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6046"/>
            <a:ext cx="3942397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nouvelle internationale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49405" y="4486046"/>
            <a:ext cx="6109601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Une nouvelle qui provient de l'extérieur du pays.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512795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5274259"/>
            <a:ext cx="3942397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reportage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49405" y="5274259"/>
            <a:ext cx="6109601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Un texte ou une émission qui présente une nouvelle en détail.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VOCABULAIRE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gens et les groupes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2271331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témoin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8339" y="2121408"/>
            <a:ext cx="7780667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Une personne qui a vu un événement.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76331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09620"/>
            <a:ext cx="2271331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organisme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8339" y="2909620"/>
            <a:ext cx="7780667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groupe organisé qui offre un service ou mène une cause.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551529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697833"/>
            <a:ext cx="2271331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festivalier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8339" y="3697833"/>
            <a:ext cx="7780667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Une personne qui participe à un festival.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33974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6046"/>
            <a:ext cx="2271331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artisan local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8339" y="4486046"/>
            <a:ext cx="7780667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Une personne de la région qui fabrique des objets à la main.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512795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5274259"/>
            <a:ext cx="2271331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jury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8339" y="5274259"/>
            <a:ext cx="7780667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groupe qui juge et décide du gagnant.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VOCABULAIRE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mots du récit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2284285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amasser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91293" y="2121408"/>
            <a:ext cx="7767713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Réunir, accumuler peu à peu.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6319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778252"/>
            <a:ext cx="2284285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avertir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91293" y="2778252"/>
            <a:ext cx="7767713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Informer quelqu'un d'un danger ou d'une nouvelle importante.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2887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35096"/>
            <a:ext cx="2284285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façonner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91293" y="3435096"/>
            <a:ext cx="7767713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Fabriquer, donner une forme à quelque chose.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091939"/>
            <a:ext cx="2284285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franc succès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91293" y="4091939"/>
            <a:ext cx="7767713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Une vraie réussite, un grand succès.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46024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4748784"/>
            <a:ext cx="2284285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à ce jour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91293" y="4748784"/>
            <a:ext cx="7767713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Jusqu'à maintenant, jusqu'à aujourd'hui.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525932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5405628"/>
            <a:ext cx="2284285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concours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91293" y="5405628"/>
            <a:ext cx="7767713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Une compétition organisée pour désigner un gagnant.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RÉVISION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savoirs du module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42816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SAVOIR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4794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RÈGLE EN UNE PHRASE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6900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SÉANCE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Les catégories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4794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portée, pas l'importance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6900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2935224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Les marqueurs de temps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4794" y="2935224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au début, avec une virgule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6900" y="2935224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64845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776472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Les cinq questions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4794" y="3776472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tout est dans les deux premières phrases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6900" y="3776472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4489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4617720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C'est… qui, c'est… que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4794" y="4617720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qui si l'élément fait l'action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6900" y="4617720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B3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32688" y="5029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32688" y="5157216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La phrase passive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74794" y="5157216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être + participe, le sujet subit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16900" y="5157216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B4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RÉVISION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savoirs du module, suite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267191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SAVOIR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24057" y="1975104"/>
            <a:ext cx="56665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RÈGLE EN UNE PHRASE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10059" y="1975104"/>
            <a:ext cx="132949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SÉANCE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2671913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L'imparfait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24057" y="2395728"/>
            <a:ext cx="5666545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décrit le décor, pas l'événement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10059" y="2395728"/>
            <a:ext cx="1329491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2935224"/>
            <a:ext cx="2671913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L'accord avec être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24057" y="2935224"/>
            <a:ext cx="5666545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avec le sujet, en genre et en nombre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10059" y="2935224"/>
            <a:ext cx="1329491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474720"/>
            <a:ext cx="2671913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Avoir ou être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24057" y="3474720"/>
            <a:ext cx="5666545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avoir par défaut, être par exception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10059" y="3474720"/>
            <a:ext cx="1329491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4014215"/>
            <a:ext cx="2671913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Lire seul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24057" y="4014215"/>
            <a:ext cx="5666545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que le texte dit, pas ce que je sais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10059" y="4014215"/>
            <a:ext cx="1329491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4846320"/>
            <a:ext cx="11057839" cy="1175004"/>
          </a:xfrm>
          <a:prstGeom prst="roundRect">
            <a:avLst>
              <a:gd name="adj" fmla="val 12451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9264" y="5102352"/>
            <a:ext cx="10234879" cy="717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Neuf savoirs pour un module. Chacun renvoie à une séance : c'est là qu'il faut retourner.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LES QUATRE GESTES DU MODULE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qu'on sait faire maintenant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A5335F"/>
                </a:solidFill>
                <a:latin typeface="Verdana"/>
              </a:rPr>
              <a:t>Écouter une nouvelle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En cherchant cinq réponses : qui, quoi, où, quand, pourquoi. Pas en essayant de tout comprendre.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A5335F"/>
                </a:solidFill>
                <a:latin typeface="Verdana"/>
              </a:rPr>
              <a:t>Lire un fait divers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En devinant les mots par le contexte, et en distinguant ce que le texte dit de ce qu'on suppose.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A5335F"/>
                </a:solidFill>
                <a:latin typeface="Verdana"/>
              </a:rPr>
              <a:t>Raconter une nouvelle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résultat d'abord, puis les étapes dans l'ordre du temps, avec un marqueur chacune.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A5335F"/>
                </a:solidFill>
                <a:latin typeface="Verdana"/>
              </a:rPr>
              <a:t>Écrire un fait divers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titre avec un verbe, le décor à l'imparfait, les événements au passé composé.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BILAN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vocabulaire, sans regarder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Donnez le mot qui correspond à la définition.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personne qui a vu un événement.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Réunir, accumuler peu à peu.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nouvelle qui provient de l'extérieur du pays.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Fabriquer, donner une forme à quelque chose.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vraie réussite.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compétition pour désigner un gagnant.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vocabulaire, sans regarder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personne qui a vu un événement.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 témoin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Réunir, accumuler peu à peu.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amasser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nouvelle qui provient de l'extérieur du pays.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une nouvelle internationale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Fabriquer, donner une forme à quelque chose.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façonner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vraie réussite.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 franc succès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compétition pour désigner un gagnant.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 concours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BILAN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Autoévaluation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Pour chaque énoncé : je sais faire, presque, ou pas encore.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peux dire de quelle catégorie est une nouvelle.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peux repérer les cinq informations essentielles.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peux deviner un mot par le contexte.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peux raconter une nouvelle en trente secondes.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choisis l'auxiliaire et j'accorde le participe.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peux écrire un fait divers de dix lignes.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Autoévaluation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peux dire de quelle catégorie est une nouvelle.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séance A2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peux repérer les cinq informations essentielles.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séances A4, B1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peux deviner un mot par le contexte.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séances B2, C1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peux raconter une nouvelle en trente secondes.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séance B5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choisis l'auxiliaire et j'accorde le participe.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séances C3, C4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peux écrire un fait divers de dix lignes.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séance E1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Nommez une nouvelle en français que vous avez comprise cette semaine.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À la radio, à la télévision, dans un journal, sur un site.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Écrivez-la en une phrase : qui, quoi, où, quand.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C'est l'heure des nouvelles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