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Ouverture du bloc B. Rappeler les quatre formules de A3 : elles sont le socle de toute la séance.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Cinq minutes. La troisième piste est la plus importante : une allergie se signale au moment de commander, jamais quand le plat arrive.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questions en trois répliques : ce que comprend la formule, puis ce qu'est le plat du jour. Les faire répéter.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Je prendrais » et « je vais prendre » : deux formes également correctes. Faire remarquer la précision de Manon — « à la carte, sans entrée » — qui évite tout malentendu.</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question d'allergie arrive au bon moment : à la commande. Le serveur vérifie en cuisine — c'est la réponse normale et attendue.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La note peut éviter un accident sérieux.</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de sécurité autant que de langue. Le traiter sérieusement, et faire écrire la phrase par chacun.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écrire à chacun la phrase correspondant à sa propre situation — allergie, régime, restriction religieuse.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justifier chaque « faux » par la réplique exacte.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Ramasser. Ces commandes servent directement au jeu de rôle de E1.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B1  ·  MODULE 16</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La commande</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serveur arrive. Trois choses à faire : choisir sa formule, poser la question qui manque, et signaler une allergie avant qu'il ne soit trop tard.</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Au restaurant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Au restaurant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demander ce que comprend une formule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demander ce qu'il y a dans un plat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signaler une allergie au bon moment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commander une boisson.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Au restaurant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MISE EN SITUATION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Le serveur arrive et vous n'avez pas fini de lire. Que dites-vous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Quelle phrase employez-vous pour gagner du temps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Quelle est la première question à poser sur une formule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À quel moment faut-il signaler une allergie ?</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 demandez-vous comme boisson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Au restaurant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que comprend la formule</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diapo masquée.</a:t>
            </a:r>
          </a:p>
        </p:txBody>
      </p:sp>
      <p:sp>
        <p:nvSpPr>
          <p:cNvPr id="8" name="TextBox 7"/>
          <p:cNvSpPr txBox="1"/>
          <p:nvPr/>
        </p:nvSpPr>
        <p:spPr>
          <a:xfrm>
            <a:off x="932688" y="2322576"/>
            <a:ext cx="1461230"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VINCENT</a:t>
            </a:r>
          </a:p>
        </p:txBody>
      </p:sp>
      <p:sp>
        <p:nvSpPr>
          <p:cNvPr id="9" name="TextBox 8"/>
          <p:cNvSpPr txBox="1"/>
          <p:nvPr/>
        </p:nvSpPr>
        <p:spPr>
          <a:xfrm>
            <a:off x="2393918" y="2322576"/>
            <a:ext cx="8682208"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Bonsoir. Vous avez fait votre choix ?</a:t>
            </a:r>
          </a:p>
        </p:txBody>
      </p:sp>
      <p:sp>
        <p:nvSpPr>
          <p:cNvPr id="10" name="Rounded Rectangle 9"/>
          <p:cNvSpPr/>
          <p:nvPr/>
        </p:nvSpPr>
        <p:spPr>
          <a:xfrm>
            <a:off x="566928" y="29072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3071876"/>
            <a:ext cx="1461230"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ANDRÉS</a:t>
            </a:r>
          </a:p>
        </p:txBody>
      </p:sp>
      <p:sp>
        <p:nvSpPr>
          <p:cNvPr id="12" name="TextBox 11"/>
          <p:cNvSpPr txBox="1"/>
          <p:nvPr/>
        </p:nvSpPr>
        <p:spPr>
          <a:xfrm>
            <a:off x="2393918" y="3071876"/>
            <a:ext cx="8682208"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Presque. Qu'est-ce qu'il y a dans la table d'hôte ce soir ?</a:t>
            </a:r>
          </a:p>
        </p:txBody>
      </p:sp>
      <p:sp>
        <p:nvSpPr>
          <p:cNvPr id="13" name="Rounded Rectangle 12"/>
          <p:cNvSpPr/>
          <p:nvPr/>
        </p:nvSpPr>
        <p:spPr>
          <a:xfrm>
            <a:off x="566928" y="3656583"/>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821175"/>
            <a:ext cx="1461230"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VINCENT</a:t>
            </a:r>
          </a:p>
        </p:txBody>
      </p:sp>
      <p:sp>
        <p:nvSpPr>
          <p:cNvPr id="15" name="TextBox 14"/>
          <p:cNvSpPr txBox="1"/>
          <p:nvPr/>
        </p:nvSpPr>
        <p:spPr>
          <a:xfrm>
            <a:off x="2393918" y="3821175"/>
            <a:ext cx="8682208"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Soupe ou salade en entrée, ensuite le poisson du jour ou le poulet, et dessert au choix.</a:t>
            </a:r>
          </a:p>
        </p:txBody>
      </p:sp>
      <p:sp>
        <p:nvSpPr>
          <p:cNvPr id="16" name="Rounded Rectangle 15"/>
          <p:cNvSpPr/>
          <p:nvPr/>
        </p:nvSpPr>
        <p:spPr>
          <a:xfrm>
            <a:off x="566928" y="474370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908295"/>
            <a:ext cx="1461230"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ANDRÉS</a:t>
            </a:r>
          </a:p>
        </p:txBody>
      </p:sp>
      <p:sp>
        <p:nvSpPr>
          <p:cNvPr id="18" name="TextBox 17"/>
          <p:cNvSpPr txBox="1"/>
          <p:nvPr/>
        </p:nvSpPr>
        <p:spPr>
          <a:xfrm>
            <a:off x="2393918" y="4908295"/>
            <a:ext cx="8682208"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poisson du jour, c'est quoi aujourd'hui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Au restaurant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Commander</a:t>
            </a:r>
          </a:p>
        </p:txBody>
      </p:sp>
      <p:sp>
        <p:nvSpPr>
          <p:cNvPr id="7" name="TextBox 6"/>
          <p:cNvSpPr txBox="1"/>
          <p:nvPr/>
        </p:nvSpPr>
        <p:spPr>
          <a:xfrm>
            <a:off x="932688" y="1901952"/>
            <a:ext cx="1461230"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VINCENT</a:t>
            </a:r>
          </a:p>
        </p:txBody>
      </p:sp>
      <p:sp>
        <p:nvSpPr>
          <p:cNvPr id="8" name="TextBox 7"/>
          <p:cNvSpPr txBox="1"/>
          <p:nvPr/>
        </p:nvSpPr>
        <p:spPr>
          <a:xfrm>
            <a:off x="2393918" y="1901952"/>
            <a:ext cx="8682208"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 la truite, servie avec des légumes et du riz.</a:t>
            </a:r>
          </a:p>
        </p:txBody>
      </p:sp>
      <p:sp>
        <p:nvSpPr>
          <p:cNvPr id="9" name="Rounded Rectangle 8"/>
          <p:cNvSpPr/>
          <p:nvPr/>
        </p:nvSpPr>
        <p:spPr>
          <a:xfrm>
            <a:off x="566928" y="24866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32688" y="2651252"/>
            <a:ext cx="1461230"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ANDRÉS</a:t>
            </a:r>
          </a:p>
        </p:txBody>
      </p:sp>
      <p:sp>
        <p:nvSpPr>
          <p:cNvPr id="11" name="TextBox 10"/>
          <p:cNvSpPr txBox="1"/>
          <p:nvPr/>
        </p:nvSpPr>
        <p:spPr>
          <a:xfrm>
            <a:off x="2393918" y="2651252"/>
            <a:ext cx="8682208"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Je prendrais la table d'hôte, avec la soupe et la truite.</a:t>
            </a:r>
          </a:p>
        </p:txBody>
      </p:sp>
      <p:sp>
        <p:nvSpPr>
          <p:cNvPr id="12" name="TextBox 11"/>
          <p:cNvSpPr txBox="1"/>
          <p:nvPr/>
        </p:nvSpPr>
        <p:spPr>
          <a:xfrm>
            <a:off x="932688" y="3400551"/>
            <a:ext cx="1461230"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VINCENT</a:t>
            </a:r>
          </a:p>
        </p:txBody>
      </p:sp>
      <p:sp>
        <p:nvSpPr>
          <p:cNvPr id="13" name="TextBox 12"/>
          <p:cNvSpPr txBox="1"/>
          <p:nvPr/>
        </p:nvSpPr>
        <p:spPr>
          <a:xfrm>
            <a:off x="2393918" y="3400551"/>
            <a:ext cx="8682208"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Très bien. Et pour vous, madame ?</a:t>
            </a:r>
          </a:p>
        </p:txBody>
      </p:sp>
      <p:sp>
        <p:nvSpPr>
          <p:cNvPr id="14" name="Rounded Rectangle 13"/>
          <p:cNvSpPr/>
          <p:nvPr/>
        </p:nvSpPr>
        <p:spPr>
          <a:xfrm>
            <a:off x="566928" y="39852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4149851"/>
            <a:ext cx="1461230"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MANON</a:t>
            </a:r>
          </a:p>
        </p:txBody>
      </p:sp>
      <p:sp>
        <p:nvSpPr>
          <p:cNvPr id="16" name="TextBox 15"/>
          <p:cNvSpPr txBox="1"/>
          <p:nvPr/>
        </p:nvSpPr>
        <p:spPr>
          <a:xfrm>
            <a:off x="2393918" y="4149851"/>
            <a:ext cx="8682208"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Je vais prendre le poulet, mais à la carte. Sans entrée.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Au restaurant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 boisson et l'allergie</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461230"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ANDRÉS</a:t>
            </a:r>
          </a:p>
        </p:txBody>
      </p:sp>
      <p:sp>
        <p:nvSpPr>
          <p:cNvPr id="9" name="TextBox 8"/>
          <p:cNvSpPr txBox="1"/>
          <p:nvPr/>
        </p:nvSpPr>
        <p:spPr>
          <a:xfrm>
            <a:off x="2393918" y="1901952"/>
            <a:ext cx="8682208"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 l'eau, s'il vous plaît. Est-ce que l'eau du robinet est gratuite ?</a:t>
            </a:r>
          </a:p>
        </p:txBody>
      </p:sp>
      <p:sp>
        <p:nvSpPr>
          <p:cNvPr id="10" name="TextBox 9"/>
          <p:cNvSpPr txBox="1"/>
          <p:nvPr/>
        </p:nvSpPr>
        <p:spPr>
          <a:xfrm>
            <a:off x="932688" y="2651252"/>
            <a:ext cx="1461230"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VINCENT</a:t>
            </a:r>
          </a:p>
        </p:txBody>
      </p:sp>
      <p:sp>
        <p:nvSpPr>
          <p:cNvPr id="11" name="TextBox 10"/>
          <p:cNvSpPr txBox="1"/>
          <p:nvPr/>
        </p:nvSpPr>
        <p:spPr>
          <a:xfrm>
            <a:off x="2393918" y="2651252"/>
            <a:ext cx="8682208"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Oui, bien sûr. Une carafe pour deux ?</a:t>
            </a:r>
          </a:p>
        </p:txBody>
      </p:sp>
      <p:sp>
        <p:nvSpPr>
          <p:cNvPr id="12" name="Rounded Rectangle 11"/>
          <p:cNvSpPr/>
          <p:nvPr/>
        </p:nvSpPr>
        <p:spPr>
          <a:xfrm>
            <a:off x="566928" y="32359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400551"/>
            <a:ext cx="1461230"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ANDRÉS</a:t>
            </a:r>
          </a:p>
        </p:txBody>
      </p:sp>
      <p:sp>
        <p:nvSpPr>
          <p:cNvPr id="14" name="TextBox 13"/>
          <p:cNvSpPr txBox="1"/>
          <p:nvPr/>
        </p:nvSpPr>
        <p:spPr>
          <a:xfrm>
            <a:off x="2393918" y="3400551"/>
            <a:ext cx="8682208"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Oui, merci. Ah — est-ce qu'il y a des arachides dans le dessert ?</a:t>
            </a:r>
          </a:p>
        </p:txBody>
      </p:sp>
      <p:sp>
        <p:nvSpPr>
          <p:cNvPr id="15" name="Rounded Rectangle 14"/>
          <p:cNvSpPr/>
          <p:nvPr/>
        </p:nvSpPr>
        <p:spPr>
          <a:xfrm>
            <a:off x="566928" y="39852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4149851"/>
            <a:ext cx="1461230"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VINCENT</a:t>
            </a:r>
          </a:p>
        </p:txBody>
      </p:sp>
      <p:sp>
        <p:nvSpPr>
          <p:cNvPr id="17" name="TextBox 16"/>
          <p:cNvSpPr txBox="1"/>
          <p:nvPr/>
        </p:nvSpPr>
        <p:spPr>
          <a:xfrm>
            <a:off x="2393918" y="4149851"/>
            <a:ext cx="8682208"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Je vérifie en cuisine et je vous le dis avant de le servir.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Au restaurant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questions, quatre moments</a:t>
            </a:r>
          </a:p>
        </p:txBody>
      </p:sp>
      <p:sp>
        <p:nvSpPr>
          <p:cNvPr id="7" name="Rounded Rectangle 6"/>
          <p:cNvSpPr/>
          <p:nvPr/>
        </p:nvSpPr>
        <p:spPr>
          <a:xfrm>
            <a:off x="566928" y="1810512"/>
            <a:ext cx="11057839" cy="3200400"/>
          </a:xfrm>
          <a:prstGeom prst="roundRect">
            <a:avLst>
              <a:gd name="adj" fmla="val 45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QUESTION</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QUAND LA POSER</a:t>
            </a:r>
          </a:p>
        </p:txBody>
      </p:sp>
      <p:sp>
        <p:nvSpPr>
          <p:cNvPr id="10" name="TextBox 9"/>
          <p:cNvSpPr txBox="1"/>
          <p:nvPr/>
        </p:nvSpPr>
        <p:spPr>
          <a:xfrm>
            <a:off x="932688" y="2395728"/>
            <a:ext cx="3291492"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Qu'est-ce qu'il y a dans la table d'hôte ?</a:t>
            </a:r>
          </a:p>
        </p:txBody>
      </p:sp>
      <p:sp>
        <p:nvSpPr>
          <p:cNvPr id="11" name="TextBox 10"/>
          <p:cNvSpPr txBox="1"/>
          <p:nvPr/>
        </p:nvSpPr>
        <p:spPr>
          <a:xfrm>
            <a:off x="4443636" y="2395728"/>
            <a:ext cx="6595914"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avant de choisir</a:t>
            </a:r>
          </a:p>
        </p:txBody>
      </p:sp>
      <p:sp>
        <p:nvSpPr>
          <p:cNvPr id="12" name="Rectangle 11"/>
          <p:cNvSpPr/>
          <p:nvPr/>
        </p:nvSpPr>
        <p:spPr>
          <a:xfrm>
            <a:off x="932688" y="30419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169920"/>
            <a:ext cx="3291492"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Le plat du jour, c'est quoi ?</a:t>
            </a:r>
          </a:p>
        </p:txBody>
      </p:sp>
      <p:sp>
        <p:nvSpPr>
          <p:cNvPr id="14" name="TextBox 13"/>
          <p:cNvSpPr txBox="1"/>
          <p:nvPr/>
        </p:nvSpPr>
        <p:spPr>
          <a:xfrm>
            <a:off x="4443636" y="3169920"/>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avant de choisir</a:t>
            </a:r>
          </a:p>
        </p:txBody>
      </p:sp>
      <p:sp>
        <p:nvSpPr>
          <p:cNvPr id="15" name="Rectangle 14"/>
          <p:cNvSpPr/>
          <p:nvPr/>
        </p:nvSpPr>
        <p:spPr>
          <a:xfrm>
            <a:off x="932688" y="354787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675887"/>
            <a:ext cx="3291492"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Est-ce qu'il y a des arachides dedans ?</a:t>
            </a:r>
          </a:p>
        </p:txBody>
      </p:sp>
      <p:sp>
        <p:nvSpPr>
          <p:cNvPr id="17" name="TextBox 16"/>
          <p:cNvSpPr txBox="1"/>
          <p:nvPr/>
        </p:nvSpPr>
        <p:spPr>
          <a:xfrm>
            <a:off x="4443636" y="3675887"/>
            <a:ext cx="6595914"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au moment de commander</a:t>
            </a:r>
          </a:p>
        </p:txBody>
      </p:sp>
      <p:sp>
        <p:nvSpPr>
          <p:cNvPr id="18" name="Rectangle 17"/>
          <p:cNvSpPr/>
          <p:nvPr/>
        </p:nvSpPr>
        <p:spPr>
          <a:xfrm>
            <a:off x="932688" y="432206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450080"/>
            <a:ext cx="3291492"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L'eau du robinet est gratuite ?</a:t>
            </a:r>
          </a:p>
        </p:txBody>
      </p:sp>
      <p:sp>
        <p:nvSpPr>
          <p:cNvPr id="20" name="TextBox 19"/>
          <p:cNvSpPr txBox="1"/>
          <p:nvPr/>
        </p:nvSpPr>
        <p:spPr>
          <a:xfrm>
            <a:off x="4443636" y="4450080"/>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au moment de commander</a:t>
            </a:r>
          </a:p>
        </p:txBody>
      </p:sp>
      <p:sp>
        <p:nvSpPr>
          <p:cNvPr id="21" name="Rounded Rectangle 20"/>
          <p:cNvSpPr/>
          <p:nvPr/>
        </p:nvSpPr>
        <p:spPr>
          <a:xfrm>
            <a:off x="566928" y="524865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50468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Une allergie se signale à la commande — jamais quand le plat arrive.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Au restaurant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SIGNALER UNE ALLERGIE</a:t>
            </a:r>
          </a:p>
        </p:txBody>
      </p:sp>
      <p:sp>
        <p:nvSpPr>
          <p:cNvPr id="6" name="Rounded Rectangle 5"/>
          <p:cNvSpPr/>
          <p:nvPr/>
        </p:nvSpPr>
        <p:spPr>
          <a:xfrm>
            <a:off x="566928" y="1225296"/>
            <a:ext cx="11057839" cy="1967991"/>
          </a:xfrm>
          <a:prstGeom prst="roundRect">
            <a:avLst>
              <a:gd name="adj" fmla="val 74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Au moment de commander, et pour chaque service.</a:t>
            </a:r>
          </a:p>
        </p:txBody>
      </p:sp>
      <p:sp>
        <p:nvSpPr>
          <p:cNvPr id="8" name="Rounded Rectangle 7"/>
          <p:cNvSpPr/>
          <p:nvPr/>
        </p:nvSpPr>
        <p:spPr>
          <a:xfrm>
            <a:off x="566928" y="3467607"/>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allergie se dit avant que la cuisine ne prépare le plat. Attendre que l'assiette arrive est trop tard, et le restaurant ne peut plus rien faire. Andrés pose la question pour le dessert dès la commande : c'est exactement le bon moment.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Au restaurant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ATTENDRE LE PLAT POUR SIGNALER</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[le dessert arrive] Ah, est-ce qu'il y a des arachides dedans ?</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[à la commande] Est-ce qu'il y a des arachides dans le dessert ?</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À la commande, la cuisine peut choisir un autre dessert ou adapter le plat. Quand l'assiette est devant vous, il est trop tard : soit vous ne mangez pas, soit vous prenez un risque.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Au restaurant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d'après le dialogue.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table d'hôte comprend trois services.</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poisson du jour est du saumon.</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Manon prend aussi la table d'hôte.</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L'eau du robinet est payante.</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Andrés pose une question sur les arachides.</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serveur répond sans vérifier.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Au restaurant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table d'hôte comprend trois services.   </a:t>
            </a:r>
            <a:r>
              <a:rPr sz="1400" b="1" i="0">
                <a:solidFill>
                  <a:srgbClr val="07734A"/>
                </a:solidFill>
                <a:latin typeface="Verdana"/>
              </a:rPr>
              <a:t>» vrai</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poisson du jour est du saumon.   </a:t>
            </a:r>
            <a:r>
              <a:rPr sz="1400" b="1" i="0">
                <a:solidFill>
                  <a:srgbClr val="07734A"/>
                </a:solidFill>
                <a:latin typeface="Verdana"/>
              </a:rPr>
              <a:t>» faux — de la truite</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Manon prend aussi la table d'hôte.   </a:t>
            </a:r>
            <a:r>
              <a:rPr sz="1400" b="1" i="0">
                <a:solidFill>
                  <a:srgbClr val="07734A"/>
                </a:solidFill>
                <a:latin typeface="Verdana"/>
              </a:rPr>
              <a:t>» faux — le poulet à la carte</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L'eau du robinet est payante.   </a:t>
            </a:r>
            <a:r>
              <a:rPr sz="1400" b="1" i="0">
                <a:solidFill>
                  <a:srgbClr val="07734A"/>
                </a:solidFill>
                <a:latin typeface="Verdana"/>
              </a:rPr>
              <a:t>» faux — gratuite</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Andrés pose une question sur les arachides.   </a:t>
            </a:r>
            <a:r>
              <a:rPr sz="1400" b="1" i="0">
                <a:solidFill>
                  <a:srgbClr val="07734A"/>
                </a:solidFill>
                <a:latin typeface="Verdana"/>
              </a:rPr>
              <a:t>» vrai</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serveur répond sans vérifier.   </a:t>
            </a:r>
            <a:r>
              <a:rPr sz="1400" b="1" i="0">
                <a:solidFill>
                  <a:srgbClr val="07734A"/>
                </a:solidFill>
                <a:latin typeface="Verdana"/>
              </a:rPr>
              <a:t>» faux — il vérifie en cuisine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Au restaurant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votre commande complète pour un repas au restaurant.</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La formule, l'entrée, le plat, la boisson.</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Ajoutez une question sur un plat, et une sur une allergie ou un régime.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Au restaurant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