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B. Rappeler les quatre formules de A3 : elles sont le socle de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La troisième piste est la plus importante : une allergie se signale au moment de commander, jamais quand le plat arrive.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questions en trois répliques : ce que comprend la formule, puis ce qu'est le plat du jour. Les faire répéter.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Je prendrais » et « je vais prendre » : deux formes également correctes. Faire remarquer la précision de Manon — « à la carte, sans entrée » — qui évite tout malentendu.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d'allergie arrive au bon moment : à la commande. Le serveur vérifie en cuisine — c'est la réponse normale et attendue.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note peut éviter un accident sérieux.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de sécurité autant que de langue. Le traiter sérieusement, et faire écrire la phrase par chacun.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écrire à chacun la phrase correspondant à sa propre situation — allergie, régime, restriction religieuse.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Ces commandes servent directement au jeu de rôle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16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commande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serveur arrive. Trois choses à faire : choisir sa formule, poser la question qui manque, et signaler une allergie avant qu'il ne soit trop tard.</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Au restaurant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ce que comprend une formule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ce qu'il y a dans un plat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signaler une allergie au bon moment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commander une boisson.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Le serveur arrive et vous n'avez pas fini de lire. Que dites-vous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phrase employez-vous pour gagner du temps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Quelle est la première question à poser sur une formule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quel moment faut-il signaler une allergie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demandez-vous comme boisson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comprend la formule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TextBox 7"/>
          <p:cNvSpPr txBox="1"/>
          <p:nvPr/>
        </p:nvSpPr>
        <p:spPr>
          <a:xfrm>
            <a:off x="932688" y="2322576"/>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VINCENT</a:t>
            </a:r>
          </a:p>
        </p:txBody>
      </p:sp>
      <p:sp>
        <p:nvSpPr>
          <p:cNvPr id="9" name="TextBox 8"/>
          <p:cNvSpPr txBox="1"/>
          <p:nvPr/>
        </p:nvSpPr>
        <p:spPr>
          <a:xfrm>
            <a:off x="2393918" y="2322576"/>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Bonsoir. Vous avez fait votre choix ?</a:t>
            </a:r>
          </a:p>
        </p:txBody>
      </p:sp>
      <p:sp>
        <p:nvSpPr>
          <p:cNvPr id="10" name="Rounded Rectangle 9"/>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071876"/>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ANDRÉS</a:t>
            </a:r>
          </a:p>
        </p:txBody>
      </p:sp>
      <p:sp>
        <p:nvSpPr>
          <p:cNvPr id="12" name="TextBox 11"/>
          <p:cNvSpPr txBox="1"/>
          <p:nvPr/>
        </p:nvSpPr>
        <p:spPr>
          <a:xfrm>
            <a:off x="2393918" y="3071876"/>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Presque. Qu'est-ce qu'il y a dans la table d'hôte ce soir ?</a:t>
            </a:r>
          </a:p>
        </p:txBody>
      </p:sp>
      <p:sp>
        <p:nvSpPr>
          <p:cNvPr id="13" name="Rounded Rectangle 12"/>
          <p:cNvSpPr/>
          <p:nvPr/>
        </p:nvSpPr>
        <p:spPr>
          <a:xfrm>
            <a:off x="566928" y="36565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821175"/>
            <a:ext cx="1461230"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VINCENT</a:t>
            </a:r>
          </a:p>
        </p:txBody>
      </p:sp>
      <p:sp>
        <p:nvSpPr>
          <p:cNvPr id="15" name="TextBox 14"/>
          <p:cNvSpPr txBox="1"/>
          <p:nvPr/>
        </p:nvSpPr>
        <p:spPr>
          <a:xfrm>
            <a:off x="2393918" y="3821175"/>
            <a:ext cx="8682208"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Soupe ou salade en entrée, ensuite le poisson du jour ou le poulet, et dessert au choix.</a:t>
            </a:r>
          </a:p>
        </p:txBody>
      </p:sp>
      <p:sp>
        <p:nvSpPr>
          <p:cNvPr id="16" name="Rounded Rectangle 15"/>
          <p:cNvSpPr/>
          <p:nvPr/>
        </p:nvSpPr>
        <p:spPr>
          <a:xfrm>
            <a:off x="566928" y="474370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908295"/>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ANDRÉS</a:t>
            </a:r>
          </a:p>
        </p:txBody>
      </p:sp>
      <p:sp>
        <p:nvSpPr>
          <p:cNvPr id="18" name="TextBox 17"/>
          <p:cNvSpPr txBox="1"/>
          <p:nvPr/>
        </p:nvSpPr>
        <p:spPr>
          <a:xfrm>
            <a:off x="2393918" y="4908295"/>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poisson du jour, c'est quoi aujourd'hui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Commander</a:t>
            </a:r>
          </a:p>
        </p:txBody>
      </p:sp>
      <p:sp>
        <p:nvSpPr>
          <p:cNvPr id="7" name="TextBox 6"/>
          <p:cNvSpPr txBox="1"/>
          <p:nvPr/>
        </p:nvSpPr>
        <p:spPr>
          <a:xfrm>
            <a:off x="932688" y="1901952"/>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VINCENT</a:t>
            </a:r>
          </a:p>
        </p:txBody>
      </p:sp>
      <p:sp>
        <p:nvSpPr>
          <p:cNvPr id="8" name="TextBox 7"/>
          <p:cNvSpPr txBox="1"/>
          <p:nvPr/>
        </p:nvSpPr>
        <p:spPr>
          <a:xfrm>
            <a:off x="2393918" y="1901952"/>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 la truite, servie avec des légumes et du riz.</a:t>
            </a:r>
          </a:p>
        </p:txBody>
      </p:sp>
      <p:sp>
        <p:nvSpPr>
          <p:cNvPr id="9" name="Rounded Rectangle 8"/>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651252"/>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ANDRÉS</a:t>
            </a:r>
          </a:p>
        </p:txBody>
      </p:sp>
      <p:sp>
        <p:nvSpPr>
          <p:cNvPr id="11" name="TextBox 10"/>
          <p:cNvSpPr txBox="1"/>
          <p:nvPr/>
        </p:nvSpPr>
        <p:spPr>
          <a:xfrm>
            <a:off x="2393918" y="2651252"/>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prendrais la table d'hôte, avec la soupe et la truite.</a:t>
            </a:r>
          </a:p>
        </p:txBody>
      </p:sp>
      <p:sp>
        <p:nvSpPr>
          <p:cNvPr id="12" name="TextBox 11"/>
          <p:cNvSpPr txBox="1"/>
          <p:nvPr/>
        </p:nvSpPr>
        <p:spPr>
          <a:xfrm>
            <a:off x="932688" y="3400551"/>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VINCENT</a:t>
            </a:r>
          </a:p>
        </p:txBody>
      </p:sp>
      <p:sp>
        <p:nvSpPr>
          <p:cNvPr id="13" name="TextBox 12"/>
          <p:cNvSpPr txBox="1"/>
          <p:nvPr/>
        </p:nvSpPr>
        <p:spPr>
          <a:xfrm>
            <a:off x="2393918" y="3400551"/>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Très bien. Et pour vous, madame ?</a:t>
            </a:r>
          </a:p>
        </p:txBody>
      </p:sp>
      <p:sp>
        <p:nvSpPr>
          <p:cNvPr id="14" name="Rounded Rectangle 13"/>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49851"/>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MANON</a:t>
            </a:r>
          </a:p>
        </p:txBody>
      </p:sp>
      <p:sp>
        <p:nvSpPr>
          <p:cNvPr id="16" name="TextBox 15"/>
          <p:cNvSpPr txBox="1"/>
          <p:nvPr/>
        </p:nvSpPr>
        <p:spPr>
          <a:xfrm>
            <a:off x="2393918" y="4149851"/>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vais prendre le poulet, mais à la carte. Sans entrée.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boisson et l'allergie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ANDRÉS</a:t>
            </a:r>
          </a:p>
        </p:txBody>
      </p:sp>
      <p:sp>
        <p:nvSpPr>
          <p:cNvPr id="9" name="TextBox 8"/>
          <p:cNvSpPr txBox="1"/>
          <p:nvPr/>
        </p:nvSpPr>
        <p:spPr>
          <a:xfrm>
            <a:off x="2393918" y="1901952"/>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 l'eau, s'il vous plaît. Est-ce que l'eau du robinet est gratuite ?</a:t>
            </a:r>
          </a:p>
        </p:txBody>
      </p:sp>
      <p:sp>
        <p:nvSpPr>
          <p:cNvPr id="10" name="TextBox 9"/>
          <p:cNvSpPr txBox="1"/>
          <p:nvPr/>
        </p:nvSpPr>
        <p:spPr>
          <a:xfrm>
            <a:off x="932688" y="2651252"/>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VINCENT</a:t>
            </a:r>
          </a:p>
        </p:txBody>
      </p:sp>
      <p:sp>
        <p:nvSpPr>
          <p:cNvPr id="11" name="TextBox 10"/>
          <p:cNvSpPr txBox="1"/>
          <p:nvPr/>
        </p:nvSpPr>
        <p:spPr>
          <a:xfrm>
            <a:off x="2393918" y="2651252"/>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bien sûr. Une carafe pour deux ?</a:t>
            </a:r>
          </a:p>
        </p:txBody>
      </p:sp>
      <p:sp>
        <p:nvSpPr>
          <p:cNvPr id="12" name="Rounded Rectangle 11"/>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400551"/>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ANDRÉS</a:t>
            </a:r>
          </a:p>
        </p:txBody>
      </p:sp>
      <p:sp>
        <p:nvSpPr>
          <p:cNvPr id="14" name="TextBox 13"/>
          <p:cNvSpPr txBox="1"/>
          <p:nvPr/>
        </p:nvSpPr>
        <p:spPr>
          <a:xfrm>
            <a:off x="2393918" y="3400551"/>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merci. Ah — est-ce qu'il y a des arachides dans le dessert ?</a:t>
            </a:r>
          </a:p>
        </p:txBody>
      </p:sp>
      <p:sp>
        <p:nvSpPr>
          <p:cNvPr id="15" name="Rounded Rectangle 14"/>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149851"/>
            <a:ext cx="1461230"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VINCENT</a:t>
            </a:r>
          </a:p>
        </p:txBody>
      </p:sp>
      <p:sp>
        <p:nvSpPr>
          <p:cNvPr id="17" name="TextBox 16"/>
          <p:cNvSpPr txBox="1"/>
          <p:nvPr/>
        </p:nvSpPr>
        <p:spPr>
          <a:xfrm>
            <a:off x="2393918" y="4149851"/>
            <a:ext cx="8682208"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vérifie en cuisine et je vous le dis avant de le servir.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questions, quatre moments</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QUAND LA POSER</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Qu'est-ce qu'il y a dans la table d'hôte ?</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avant de choisir</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plat du jour, c'est quoi ?</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avant de choisir</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Est-ce qu'il y a des arachides dedans ?</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au moment de commander</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L'eau du robinet est gratuite ?</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au moment de commander</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Une allergie se signale à la commande — jamais quand le plat arrive.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SIGNALER UNE ALLERGIE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Au moment de commander, et pour chaque service.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allergie se dit avant que la cuisine ne prépare le plat. Attendre que l'assiette arrive est trop tard, et le restaurant ne peut plus rien faire. Andrés pose la question pour le dessert dès la commande : c'est exactement le bon moment.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ATTENDRE LE PLAT POUR SIGNALER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 dessert arrive] Ah, est-ce qu'il y a des arachides dedans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[à la commande] Est-ce qu'il y a des arachides dans le dessert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À la commande, la cuisine peut choisir un autre dessert ou adapter le plat. Quand l'assiette est devant vous, il est trop tard : soit vous ne mangez pas, soit vous prenez un risque.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table d'hôte comprend trois services.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poisson du jour est du saumon.</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Manon prend aussi la table d'hôte.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L'eau du robinet est payante.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Andrés pose une question sur les arachides.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serveur répond sans vérifier.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table d'hôte comprend trois services.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poisson du jour est du saumon.   </a:t>
            </a:r>
            <a:r>
              <a:rPr sz="1400" b="1" i="0">
                <a:solidFill>
                  <a:srgbClr val="07734A"/>
                </a:solidFill>
                <a:latin typeface="Verdana"/>
              </a:rPr>
              <a:t>» faux — de la truite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Manon prend aussi la table d'hôte.   </a:t>
            </a:r>
            <a:r>
              <a:rPr sz="1400" b="1" i="0">
                <a:solidFill>
                  <a:srgbClr val="07734A"/>
                </a:solidFill>
                <a:latin typeface="Verdana"/>
              </a:rPr>
              <a:t>» faux — le poulet à la carte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L'eau du robinet est payante.   </a:t>
            </a:r>
            <a:r>
              <a:rPr sz="1400" b="1" i="0">
                <a:solidFill>
                  <a:srgbClr val="07734A"/>
                </a:solidFill>
                <a:latin typeface="Verdana"/>
              </a:rPr>
              <a:t>» faux — gratuite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Andrés pose une question sur les arachides.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serveur répond sans vérifier.   </a:t>
            </a:r>
            <a:r>
              <a:rPr sz="1400" b="1" i="0">
                <a:solidFill>
                  <a:srgbClr val="07734A"/>
                </a:solidFill>
                <a:latin typeface="Verdana"/>
              </a:rPr>
              <a:t>» faux — il vérifie en cuisine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commande complète pour un repas au restaurant.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formule, l'entrée, le plat, la boisson.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une question sur un plat, et une sur une allergie ou un régime.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Au restaurant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