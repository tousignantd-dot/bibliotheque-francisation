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séance nuance la précédente : signaler ne veut pas dire exiger. C'est une distinction que beaucoup d'élèves n'ont pas.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répliques sont teintées : c'est un modèle complet d'échange. « Je préfère vous le dire » est la phrase clé.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réponse de Manon est honnête : ici non plus, tout le monde ne dit pas tout. C'est une nuance importante — il ne s'agit pas d'imposer un usage.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Signaler sans exiger est une possibilité que beaucoup ignorent.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la phrase par le groupe. Elle est courte et très utile.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raisonnement de Manon, et c'est celui qui convainc le mieux.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nuance est fine mais très utile. Faire jouer les deux versions.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Reprendre la règle : le restaurant peut-il y faire quelque chose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ligne n'est pas négociable : une allergie demande un remplacement, pas une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carte est la bonne façon de conclure : on donne un choix, pas une règle de comportement.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du bloc C. Les récits sont souvent riches et alimentent la production orale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16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 plat qui ne convient pas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Manon avait demandé le poulet sans sauce. Il y en a. Elle le dit — sans exiger qu'on le refasse. Il y a plusieurs façons de signaler quelque chose.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Au restaurant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signaler une erreur sans exiger une correction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accepter ou refuser la solution proposée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pourquoi le restaurant préfère le savoir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comparer les usages d'ici et d'ailleurs.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DIALOGUE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Signaler sans exiger</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61230"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MANON</a:t>
            </a:r>
          </a:p>
        </p:txBody>
      </p:sp>
      <p:sp>
        <p:nvSpPr>
          <p:cNvPr id="10" name="TextBox 9"/>
          <p:cNvSpPr txBox="1"/>
          <p:nvPr/>
        </p:nvSpPr>
        <p:spPr>
          <a:xfrm>
            <a:off x="2393918" y="2322576"/>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J'avais demandé le poulet sans sauce. Il y en a beaucoup.</a:t>
            </a:r>
          </a:p>
        </p:txBody>
      </p:sp>
      <p:sp>
        <p:nvSpPr>
          <p:cNvPr id="11" name="Rounded Rectangle 10"/>
          <p:cNvSpPr/>
          <p:nvPr/>
        </p:nvSpPr>
        <p:spPr>
          <a:xfrm>
            <a:off x="566928" y="2907283"/>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61230"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VINCENT</a:t>
            </a:r>
          </a:p>
        </p:txBody>
      </p:sp>
      <p:sp>
        <p:nvSpPr>
          <p:cNvPr id="13" name="TextBox 12"/>
          <p:cNvSpPr txBox="1"/>
          <p:nvPr/>
        </p:nvSpPr>
        <p:spPr>
          <a:xfrm>
            <a:off x="2393918" y="3071876"/>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je suis désolé. Je vous en rapporte un autre ?</a:t>
            </a:r>
          </a:p>
        </p:txBody>
      </p:sp>
      <p:sp>
        <p:nvSpPr>
          <p:cNvPr id="14" name="Rounded Rectangle 13"/>
          <p:cNvSpPr/>
          <p:nvPr/>
        </p:nvSpPr>
        <p:spPr>
          <a:xfrm>
            <a:off x="566928" y="3656583"/>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61230"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MANON</a:t>
            </a:r>
          </a:p>
        </p:txBody>
      </p:sp>
      <p:sp>
        <p:nvSpPr>
          <p:cNvPr id="16" name="TextBox 15"/>
          <p:cNvSpPr txBox="1"/>
          <p:nvPr/>
        </p:nvSpPr>
        <p:spPr>
          <a:xfrm>
            <a:off x="2393918" y="3821175"/>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n'est pas nécessaire, je vais l'enlever. Mais je préfère vous le dire.</a:t>
            </a:r>
          </a:p>
        </p:txBody>
      </p:sp>
      <p:sp>
        <p:nvSpPr>
          <p:cNvPr id="17" name="Rounded Rectangle 16"/>
          <p:cNvSpPr/>
          <p:nvPr/>
        </p:nvSpPr>
        <p:spPr>
          <a:xfrm>
            <a:off x="566928" y="4405883"/>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61230"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VINCENT</a:t>
            </a:r>
          </a:p>
        </p:txBody>
      </p:sp>
      <p:sp>
        <p:nvSpPr>
          <p:cNvPr id="19" name="TextBox 18"/>
          <p:cNvSpPr txBox="1"/>
          <p:nvPr/>
        </p:nvSpPr>
        <p:spPr>
          <a:xfrm>
            <a:off x="2393918" y="4570475"/>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faites bien. Je le note pour la cuisine.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DIALOGUE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le dire</a:t>
            </a:r>
          </a:p>
        </p:txBody>
      </p:sp>
      <p:sp>
        <p:nvSpPr>
          <p:cNvPr id="7" name="TextBox 6"/>
          <p:cNvSpPr txBox="1"/>
          <p:nvPr/>
        </p:nvSpPr>
        <p:spPr>
          <a:xfrm>
            <a:off x="932688" y="1901952"/>
            <a:ext cx="1354359"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ANDRÉS</a:t>
            </a:r>
          </a:p>
        </p:txBody>
      </p:sp>
      <p:sp>
        <p:nvSpPr>
          <p:cNvPr id="8" name="TextBox 7"/>
          <p:cNvSpPr txBox="1"/>
          <p:nvPr/>
        </p:nvSpPr>
        <p:spPr>
          <a:xfrm>
            <a:off x="2287047" y="1901952"/>
            <a:ext cx="878907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ne veux pas qu'ils le refassent ?</a:t>
            </a:r>
          </a:p>
        </p:txBody>
      </p:sp>
      <p:sp>
        <p:nvSpPr>
          <p:cNvPr id="9" name="Rounded Rectangle 8"/>
          <p:cNvSpPr/>
          <p:nvPr/>
        </p:nvSpPr>
        <p:spPr>
          <a:xfrm>
            <a:off x="566928" y="2486659"/>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651252"/>
            <a:ext cx="1354359"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MANON</a:t>
            </a:r>
          </a:p>
        </p:txBody>
      </p:sp>
      <p:sp>
        <p:nvSpPr>
          <p:cNvPr id="11" name="TextBox 10"/>
          <p:cNvSpPr txBox="1"/>
          <p:nvPr/>
        </p:nvSpPr>
        <p:spPr>
          <a:xfrm>
            <a:off x="2287047" y="2651252"/>
            <a:ext cx="878907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ça prendrait vingt minutes et tu aurais fini de manger.</a:t>
            </a:r>
          </a:p>
        </p:txBody>
      </p:sp>
      <p:sp>
        <p:nvSpPr>
          <p:cNvPr id="12" name="Rounded Rectangle 11"/>
          <p:cNvSpPr/>
          <p:nvPr/>
        </p:nvSpPr>
        <p:spPr>
          <a:xfrm>
            <a:off x="566928" y="3235959"/>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400551"/>
            <a:ext cx="1354359"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ANDRÉS</a:t>
            </a:r>
          </a:p>
        </p:txBody>
      </p:sp>
      <p:sp>
        <p:nvSpPr>
          <p:cNvPr id="14" name="TextBox 13"/>
          <p:cNvSpPr txBox="1"/>
          <p:nvPr/>
        </p:nvSpPr>
        <p:spPr>
          <a:xfrm>
            <a:off x="2287047" y="3400551"/>
            <a:ext cx="878907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Chez moi, on ne dirait rien du tout.</a:t>
            </a:r>
          </a:p>
        </p:txBody>
      </p:sp>
      <p:sp>
        <p:nvSpPr>
          <p:cNvPr id="15" name="Rounded Rectangle 14"/>
          <p:cNvSpPr/>
          <p:nvPr/>
        </p:nvSpPr>
        <p:spPr>
          <a:xfrm>
            <a:off x="566928" y="3985259"/>
            <a:ext cx="11057839" cy="1004823"/>
          </a:xfrm>
          <a:prstGeom prst="roundRect">
            <a:avLst>
              <a:gd name="adj" fmla="val 14560"/>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149851"/>
            <a:ext cx="1354359" cy="73050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MANON</a:t>
            </a:r>
          </a:p>
        </p:txBody>
      </p:sp>
      <p:sp>
        <p:nvSpPr>
          <p:cNvPr id="17" name="TextBox 16"/>
          <p:cNvSpPr txBox="1"/>
          <p:nvPr/>
        </p:nvSpPr>
        <p:spPr>
          <a:xfrm>
            <a:off x="2287047" y="4149851"/>
            <a:ext cx="878907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Ici non plus, beaucoup de gens ne disent rien. Mais ils préfèrent qu'on le dise.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façons de signaler</a:t>
            </a:r>
          </a:p>
        </p:txBody>
      </p:sp>
      <p:sp>
        <p:nvSpPr>
          <p:cNvPr id="7" name="Rounded Rectangle 6"/>
          <p:cNvSpPr/>
          <p:nvPr/>
        </p:nvSpPr>
        <p:spPr>
          <a:xfrm>
            <a:off x="566928" y="1810512"/>
            <a:ext cx="11057839" cy="2862072"/>
          </a:xfrm>
          <a:prstGeom prst="roundRect">
            <a:avLst>
              <a:gd name="adj" fmla="val 511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JE DIS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DEMANDE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Je préfère vous le dire.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rien — juste une information</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Est-ce que ce serait possible de…</a:t>
            </a:r>
          </a:p>
        </p:txBody>
      </p:sp>
      <p:sp>
        <p:nvSpPr>
          <p:cNvPr id="14" name="TextBox 13"/>
          <p:cNvSpPr txBox="1"/>
          <p:nvPr/>
        </p:nvSpPr>
        <p:spPr>
          <a:xfrm>
            <a:off x="4443636" y="2935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correction</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Je ne peux pas manger ça.</a:t>
            </a:r>
          </a:p>
        </p:txBody>
      </p:sp>
      <p:sp>
        <p:nvSpPr>
          <p:cNvPr id="17" name="TextBox 16"/>
          <p:cNvSpPr txBox="1"/>
          <p:nvPr/>
        </p:nvSpPr>
        <p:spPr>
          <a:xfrm>
            <a:off x="4443636" y="3776472"/>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remplacement</a:t>
            </a:r>
          </a:p>
        </p:txBody>
      </p:sp>
      <p:sp>
        <p:nvSpPr>
          <p:cNvPr id="18" name="Rounded Rectangle 17"/>
          <p:cNvSpPr/>
          <p:nvPr/>
        </p:nvSpPr>
        <p:spPr>
          <a:xfrm>
            <a:off x="566928" y="4910328"/>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166360"/>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première est la plus employée, et la moins connue des élèves.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SIGNALER SANS EXIGER</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Je préfère vous le dire. »</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Cette phrase informe sans rien demander. Le restaurant note l'erreur, la cuisine en tient compte, et vous n'attendez pas vingt minutes de plus. C'est souvent la meilleure solution quand le problème est réel mais supportable.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POURQUOI LE RESTAURANT PRÉFÈRE LE SAVOIR</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Sinon, il ne peut rien corriger.</a:t>
            </a:r>
          </a:p>
        </p:txBody>
      </p:sp>
      <p:sp>
        <p:nvSpPr>
          <p:cNvPr id="8" name="Rounded Rectangle 7"/>
          <p:cNvSpPr/>
          <p:nvPr/>
        </p:nvSpPr>
        <p:spPr>
          <a:xfrm>
            <a:off x="566928" y="294081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erreur signalée est une erreur qui ne se reproduira pas. Une erreur tue laisse le restaurant croire que tout va bien — et il ne comprendra pas pourquoi vous n'êtes pas revenu. Le dire est un service rendu, pas un reproche.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EXIGER QUAND ON VEUT SEULEMENT INFORMER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y a de la sauce, refaites-le.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000" b="1" i="0">
                <a:solidFill>
                  <a:srgbClr val="17181A"/>
                </a:solidFill>
                <a:latin typeface="Verdana"/>
              </a:rPr>
              <a:t>J'avais demandé sans sauce. Ce n'est pas nécessaire de le refaire, mais je préfère vous le dire.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Exiger un remplacement pour un détail supportable met tout le monde dans l'embarras — et vous fait attendre vingt minutes. Informer suffit souvent, et c'est mieux reçu.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Est-ce qu'on le dit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Dans un restaurant d'ici.</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plat est froid.</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J'avais demandé sans sauce.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n'aime pas le goût.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manque un couvert.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verre est sale.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prix me semble élevé.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Est-ce qu'on le dit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plat est froid.   </a:t>
            </a:r>
            <a:r>
              <a:rPr sz="1400" b="1" i="0">
                <a:solidFill>
                  <a:srgbClr val="07734A"/>
                </a:solidFill>
                <a:latin typeface="Verdana"/>
              </a:rPr>
              <a:t>» oui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J'avais demandé sans sauce.   </a:t>
            </a:r>
            <a:r>
              <a:rPr sz="1400" b="1" i="0">
                <a:solidFill>
                  <a:srgbClr val="07734A"/>
                </a:solidFill>
                <a:latin typeface="Verdana"/>
              </a:rPr>
              <a:t>» oui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n'aime pas le goût.   </a:t>
            </a:r>
            <a:r>
              <a:rPr sz="1400" b="1" i="0">
                <a:solidFill>
                  <a:srgbClr val="07734A"/>
                </a:solidFill>
                <a:latin typeface="Verdana"/>
              </a:rPr>
              <a:t>» mieux vaut non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manque un couvert.   </a:t>
            </a:r>
            <a:r>
              <a:rPr sz="1400" b="1" i="0">
                <a:solidFill>
                  <a:srgbClr val="07734A"/>
                </a:solidFill>
                <a:latin typeface="Verdana"/>
              </a:rPr>
              <a:t>» oui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verre est sale.   </a:t>
            </a:r>
            <a:r>
              <a:rPr sz="1400" b="1" i="0">
                <a:solidFill>
                  <a:srgbClr val="07734A"/>
                </a:solidFill>
                <a:latin typeface="Verdana"/>
              </a:rPr>
              <a:t>» oui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prix me semble élevé.   </a:t>
            </a:r>
            <a:r>
              <a:rPr sz="1400" b="1" i="0">
                <a:solidFill>
                  <a:srgbClr val="07734A"/>
                </a:solidFill>
                <a:latin typeface="Verdana"/>
              </a:rPr>
              <a:t>» mieux vaut non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Informer, ou demander une correction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Choisissez la bonne formulation.</a:t>
            </a:r>
          </a:p>
        </p:txBody>
      </p:sp>
      <p:sp>
        <p:nvSpPr>
          <p:cNvPr id="8" name="Rounded Rectangle 7"/>
          <p:cNvSpPr/>
          <p:nvPr/>
        </p:nvSpPr>
        <p:spPr>
          <a:xfrm>
            <a:off x="566928" y="2139696"/>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De la sauce que vous n'aviez pas demandée, mais mangeable</a:t>
            </a:r>
          </a:p>
        </p:txBody>
      </p:sp>
      <p:sp>
        <p:nvSpPr>
          <p:cNvPr id="12" name="Rounded Rectangle 11"/>
          <p:cNvSpPr/>
          <p:nvPr/>
        </p:nvSpPr>
        <p:spPr>
          <a:xfrm>
            <a:off x="566928" y="321868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37413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plat franchement froid</a:t>
            </a:r>
          </a:p>
        </p:txBody>
      </p:sp>
      <p:sp>
        <p:nvSpPr>
          <p:cNvPr id="16" name="Rounded Rectangle 15"/>
          <p:cNvSpPr/>
          <p:nvPr/>
        </p:nvSpPr>
        <p:spPr>
          <a:xfrm>
            <a:off x="566928" y="3977639"/>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plat qui n'est pas celui que vous avez commandé</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ingrédient auquel vous êtes allergique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Informer, ou demander une correction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De la sauce que vous n'aviez pas demandée, mais mangeable   </a:t>
            </a:r>
            <a:r>
              <a:rPr sz="1800" b="1" i="0">
                <a:solidFill>
                  <a:srgbClr val="07734A"/>
                </a:solidFill>
                <a:latin typeface="Verdana"/>
              </a:rPr>
              <a:t>» Je préfère vous le dire.</a:t>
            </a:r>
          </a:p>
        </p:txBody>
      </p:sp>
      <p:sp>
        <p:nvSpPr>
          <p:cNvPr id="12" name="Rounded Rectangle 11"/>
          <p:cNvSpPr/>
          <p:nvPr/>
        </p:nvSpPr>
        <p:spPr>
          <a:xfrm>
            <a:off x="566928" y="321868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37413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plat franchement froid   </a:t>
            </a:r>
            <a:r>
              <a:rPr sz="1800" b="1" i="0">
                <a:solidFill>
                  <a:srgbClr val="07734A"/>
                </a:solidFill>
                <a:latin typeface="Verdana"/>
              </a:rPr>
              <a:t>» Est-ce que ce serait possible de le réchauffer ?</a:t>
            </a:r>
          </a:p>
        </p:txBody>
      </p:sp>
      <p:sp>
        <p:nvSpPr>
          <p:cNvPr id="16" name="Rounded Rectangle 15"/>
          <p:cNvSpPr/>
          <p:nvPr/>
        </p:nvSpPr>
        <p:spPr>
          <a:xfrm>
            <a:off x="566928" y="3977639"/>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plat qui n'est pas celui que vous avez commandé   </a:t>
            </a:r>
            <a:r>
              <a:rPr sz="1800" b="1" i="0">
                <a:solidFill>
                  <a:srgbClr val="07734A"/>
                </a:solidFill>
                <a:latin typeface="Verdana"/>
              </a:rPr>
              <a:t>» Ce n'est pas ce que j'avais commandé.</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ingrédient auquel vous êtes allergique   </a:t>
            </a:r>
            <a:r>
              <a:rPr sz="1800" b="1" i="0">
                <a:solidFill>
                  <a:srgbClr val="07734A"/>
                </a:solidFill>
                <a:latin typeface="Verdana"/>
              </a:rPr>
              <a:t>» Je ne peux pas manger ça, je suis allergique.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COMPARER LES USAGES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Sans hiérarchie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Là où on ne dit rien</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Dans beaucoup de cultures, signaler un problème au restaurant est mal vu — cela fait perdre la face à la personne qui sert.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Ici</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On le dit, généralement sans conflit, et le personnel s'excuse. Mais beaucoup de gens d'ici ne disent rien non plus.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Ce qu'il faut retenir</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Vous avez le droit de le dire, et c'est bien reçu. Vous n'êtes pas obligé. Connaître l'usage, c'est pouvoir choisir.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Racontez une fois où quelque chose n'allait pas, au restaurant ou ailleurs.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L'avez-vous dit ? Pourquoi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Que feriez-vous maintenant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Au restaurant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