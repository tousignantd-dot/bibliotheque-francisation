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défi 2. Elle ferme le bloc par une production écrite : la fiche de voyage en six lignes. Prévoir la seconde moitié de la séance pour l'écriture, en silence, avec l'horaire projeté.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demande un calcul sur des heures — de 7 h à 15 h 10 — et beaucoup d'élèves n'osent pas le faire à voix haute. Le faire collectivement au tableau une première fois.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piste est le vrai critère et il n'est pas dans l'horaire : arriver de jour dans un endroit qu'on ne connaît pas. C'est un rappel du principe de C1 — l'écrit ne dit pas tout.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calculer la durée totale — huit heures dix — puis la durée entre deux arrêts. Les arrêts sont ceux du dialogue de B1 et ils sont réels ; les heures sont vraisemblables et inventées, comme tout ce qui change trop vite pour être écrit dans un module.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Correspondance » est le mot le plus utile des quatre et il vaut pour le train, l'avion et le métro. Faire remarquer qu'une correspondance ratée fait perdre bien plus que quarante minutes sur une ligne interurbaine.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venir les élèves montrer la ligne au tableau plutôt que répondre de leur place. Suivre la ligne du doigt est exactement le geste qui manque à ceux qui se perdent dans un horaire.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l'erreur qui fait manquer des autocars. La faire commettre exprès au tableau, puis corriger : elle ne se comprend qu'en la voyant.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et à laisser projetée pendant l'écriture. Rendre ici les billets de C3 : la comparaison et le choix deviennent les lignes trois et cinq.</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faire l'autoévaluation avant la remise, jamais après. La dernière ligne renvoie à A4 : c'est le point qui se corrige le plus vite quand on pense à le regarder.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les billets : ils ouvrent le défi 3, où l'on va justement chercher auprès des gens ce qui n'est écrit nulle part.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C4  ·  MODULE 10</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Lire l'horaire, écrire la fiche</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horaire interurbain n'est pas un horaire d'autobus de ville : il donne des heures de départ et d'arrivée pour chaque arrêt, sur plusieurs jours, et tous les départs ne font pas les mêmes arrêts. On y lit une ligne, pas une colonne.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Une semaine au Bic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lire une ligne d'horaire interurbain d'un bout à l'autre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calculer une durée de trajet à partir de deux heures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repérer une correspondance et son temps d'attente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une fiche de voyage complète en six lignes.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Trois départs le lundi. Lequel prenez-vous, et pourquoi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oraire.jpg"/>
          <p:cNvPicPr>
            <a:picLocks noChangeAspect="1"/>
          </p:cNvPicPr>
          <p:nvPr/>
        </p:nvPicPr>
        <p:blipFill>
          <a:blip r:embed="rId2"/>
          <a:stretch>
            <a:fillRect/>
          </a:stretch>
        </p:blipFill>
        <p:spPr>
          <a:xfrm>
            <a:off x="7644383" y="2637654"/>
            <a:ext cx="3760927" cy="2524522"/>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Sept heures, midi trente, dix-huit heures quinze : que change l'heure ?</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quelle heure arriverez-vous, dans chaque cas ?</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Lequel est direct, lequel a une correspondance ?</a:t>
            </a:r>
          </a:p>
        </p:txBody>
      </p:sp>
      <p:sp>
        <p:nvSpPr>
          <p:cNvPr id="18" name="Rounded Rectangle 17"/>
          <p:cNvSpPr/>
          <p:nvPr/>
        </p:nvSpPr>
        <p:spPr>
          <a:xfrm>
            <a:off x="566928" y="522732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qu'on veut arriver dans une ville inconnue à minuit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UNE LIGNE D'HORAIRE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départ de sept heures, lundi</a:t>
            </a:r>
          </a:p>
        </p:txBody>
      </p:sp>
      <p:sp>
        <p:nvSpPr>
          <p:cNvPr id="7" name="Rounded Rectangle 6"/>
          <p:cNvSpPr/>
          <p:nvPr/>
        </p:nvSpPr>
        <p:spPr>
          <a:xfrm>
            <a:off x="566928" y="1810512"/>
            <a:ext cx="11057839" cy="3337560"/>
          </a:xfrm>
          <a:prstGeom prst="roundRect">
            <a:avLst>
              <a:gd name="adj" fmla="val 4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L'ARRÊT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L'HEURE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Montréal</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7 h 00</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Trois-Rivières</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8 h 35</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Québec</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10 h 20</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Rivière-du-Loup</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13 h 25</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Rimouski</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15 h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TROIS MOTS DE L'HORAIRE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Ils décident du trajet</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Direct</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 seul autocar du départ à l'arrivée.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Une correspondance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On change d'autocar en chemin, et on attend.</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 temps d'attente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Quarante minutes à Québec, dans le dialogue.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 quai</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numéro d'où part l'autocar. Il change chaque jour.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LECTURE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Répondez d'après l'horaire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À l'oral, en montrant la ligne au tableau.</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quelle heure part l'autocar de Montréal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quelle heure arrive-t-il à Québec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de temps dure le trajet complet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de temps entre Québec et Rivière-du-Loup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départ de midi trente est-il direct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de temps dure l'attente à Québec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Répondez d'après l'horaire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quelle heure part l'autocar de Montréal ?   </a:t>
            </a:r>
            <a:r>
              <a:rPr sz="1400" b="1" i="0">
                <a:solidFill>
                  <a:srgbClr val="07734A"/>
                </a:solidFill>
                <a:latin typeface="Verdana"/>
              </a:rPr>
              <a:t>» 7 h 00</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quelle heure arrive-t-il à Québec ?   </a:t>
            </a:r>
            <a:r>
              <a:rPr sz="1400" b="1" i="0">
                <a:solidFill>
                  <a:srgbClr val="07734A"/>
                </a:solidFill>
                <a:latin typeface="Verdana"/>
              </a:rPr>
              <a:t>» 10 h 20</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de temps dure le trajet complet ?   </a:t>
            </a:r>
            <a:r>
              <a:rPr sz="1400" b="1" i="0">
                <a:solidFill>
                  <a:srgbClr val="07734A"/>
                </a:solidFill>
                <a:latin typeface="Verdana"/>
              </a:rPr>
              <a:t>» huit heures dix</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de temps entre Québec et Rivière-du-Loup ?   </a:t>
            </a:r>
            <a:r>
              <a:rPr sz="1400" b="1" i="0">
                <a:solidFill>
                  <a:srgbClr val="07734A"/>
                </a:solidFill>
                <a:latin typeface="Verdana"/>
              </a:rPr>
              <a:t>» trois heures cinq</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départ de midi trente est-il direct ?   </a:t>
            </a:r>
            <a:r>
              <a:rPr sz="1400" b="1" i="0">
                <a:solidFill>
                  <a:srgbClr val="07734A"/>
                </a:solidFill>
                <a:latin typeface="Verdana"/>
              </a:rPr>
              <a:t>» non — correspondance à Québec</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de temps dure l'attente à Québec ?   </a:t>
            </a:r>
            <a:r>
              <a:rPr sz="1400" b="1" i="0">
                <a:solidFill>
                  <a:srgbClr val="07734A"/>
                </a:solidFill>
                <a:latin typeface="Verdana"/>
              </a:rPr>
              <a:t>» quarante minutes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LIRE L'HORAIRE EN COLONNE AU LIEU DE LE LIRE EN LIGNE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regarde la colonne « Rimouski » et je prends la première heure.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suis la ligne de mon départ, d'un arrêt à l'autre, jusqu'au bout.</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colonne mélange des départs différents. En la lisant de haut en bas, on associe l'heure de départ d'un autocar à l'heure d'arrivée d'un autre — et on se présente au mauvais moment.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LA FICHE DE VOYAGE, EN SIX LIGNES</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Où · quand · comment · combien de temps · où dormir · ce qu'on veut voir.</a:t>
            </a:r>
          </a:p>
        </p:txBody>
      </p:sp>
      <p:sp>
        <p:nvSpPr>
          <p:cNvPr id="8" name="Rounded Rectangle 7"/>
          <p:cNvSpPr/>
          <p:nvPr/>
        </p:nvSpPr>
        <p:spPr>
          <a:xfrm>
            <a:off x="566928" y="3467607"/>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Six lignes suffisent à tout dire, et elles se relisent en dix secondes au comptoir ou au téléphone.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AUTOÉVALUATION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Relisez votre fiche avant de la remettre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honnêtement.</a:t>
            </a:r>
          </a:p>
        </p:txBody>
      </p:sp>
      <p:sp>
        <p:nvSpPr>
          <p:cNvPr id="8" name="Rounded Rectangle 7"/>
          <p:cNvSpPr/>
          <p:nvPr/>
        </p:nvSpPr>
        <p:spPr>
          <a:xfrm>
            <a:off x="566928" y="2139696"/>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6339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2740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Peut-on savoir où vous allez en lisant la première ligne ?</a:t>
            </a:r>
          </a:p>
        </p:txBody>
      </p:sp>
      <p:sp>
        <p:nvSpPr>
          <p:cNvPr id="12" name="Rounded Rectangle 11"/>
          <p:cNvSpPr/>
          <p:nvPr/>
        </p:nvSpPr>
        <p:spPr>
          <a:xfrm>
            <a:off x="566928" y="2880868"/>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0456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6857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36316"/>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Les dates sont-elles en chiffres ?</a:t>
            </a:r>
          </a:p>
        </p:txBody>
      </p:sp>
      <p:sp>
        <p:nvSpPr>
          <p:cNvPr id="16" name="Rounded Rectangle 15"/>
          <p:cNvSpPr/>
          <p:nvPr/>
        </p:nvSpPr>
        <p:spPr>
          <a:xfrm>
            <a:off x="566928" y="3622040"/>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457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097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777488"/>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Avez-vous dit combien de nuits ?</a:t>
            </a:r>
          </a:p>
        </p:txBody>
      </p:sp>
      <p:sp>
        <p:nvSpPr>
          <p:cNvPr id="20" name="Rounded Rectangle 19"/>
          <p:cNvSpPr/>
          <p:nvPr/>
        </p:nvSpPr>
        <p:spPr>
          <a:xfrm>
            <a:off x="566928" y="4363212"/>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48691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55091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518660"/>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Avez-vous justifié un de vos choix ?</a:t>
            </a:r>
          </a:p>
        </p:txBody>
      </p:sp>
      <p:sp>
        <p:nvSpPr>
          <p:cNvPr id="24" name="Rounded Rectangle 23"/>
          <p:cNvSpPr/>
          <p:nvPr/>
        </p:nvSpPr>
        <p:spPr>
          <a:xfrm>
            <a:off x="566928" y="5104384"/>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28082"/>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292090"/>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259832"/>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Les prépositions de lieu sont-elles justes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Relisez votre fiche avant de la remettre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6339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2740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Peut-on savoir où vous allez en lisant la première ligne ?   </a:t>
            </a:r>
            <a:r>
              <a:rPr sz="1700" b="1" i="0">
                <a:solidFill>
                  <a:srgbClr val="07734A"/>
                </a:solidFill>
                <a:latin typeface="Verdana"/>
              </a:rPr>
              <a:t>» sinon, recommencez par là</a:t>
            </a:r>
          </a:p>
        </p:txBody>
      </p:sp>
      <p:sp>
        <p:nvSpPr>
          <p:cNvPr id="12" name="Rounded Rectangle 11"/>
          <p:cNvSpPr/>
          <p:nvPr/>
        </p:nvSpPr>
        <p:spPr>
          <a:xfrm>
            <a:off x="566928" y="2880868"/>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0456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6857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36316"/>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Les dates sont-elles en chiffres ?   </a:t>
            </a:r>
            <a:r>
              <a:rPr sz="1700" b="1" i="0">
                <a:solidFill>
                  <a:srgbClr val="07734A"/>
                </a:solidFill>
                <a:latin typeface="Verdana"/>
              </a:rPr>
              <a:t>» « bientôt » ne se réserve pas</a:t>
            </a:r>
          </a:p>
        </p:txBody>
      </p:sp>
      <p:sp>
        <p:nvSpPr>
          <p:cNvPr id="16" name="Rounded Rectangle 15"/>
          <p:cNvSpPr/>
          <p:nvPr/>
        </p:nvSpPr>
        <p:spPr>
          <a:xfrm>
            <a:off x="566928" y="3622040"/>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457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097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777488"/>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Avez-vous dit combien de nuits ?   </a:t>
            </a:r>
            <a:r>
              <a:rPr sz="1700" b="1" i="0">
                <a:solidFill>
                  <a:srgbClr val="07734A"/>
                </a:solidFill>
                <a:latin typeface="Verdana"/>
              </a:rPr>
              <a:t>» l'hébergement se compte en nuits</a:t>
            </a:r>
          </a:p>
        </p:txBody>
      </p:sp>
      <p:sp>
        <p:nvSpPr>
          <p:cNvPr id="20" name="Rounded Rectangle 19"/>
          <p:cNvSpPr/>
          <p:nvPr/>
        </p:nvSpPr>
        <p:spPr>
          <a:xfrm>
            <a:off x="566928" y="4363212"/>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48691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55091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518660"/>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Avez-vous justifié un de vos choix ?   </a:t>
            </a:r>
            <a:r>
              <a:rPr sz="1700" b="1" i="0">
                <a:solidFill>
                  <a:srgbClr val="07734A"/>
                </a:solidFill>
                <a:latin typeface="Verdana"/>
              </a:rPr>
              <a:t>» une seule raison suffit</a:t>
            </a:r>
          </a:p>
        </p:txBody>
      </p:sp>
      <p:sp>
        <p:nvSpPr>
          <p:cNvPr id="24" name="Rounded Rectangle 23"/>
          <p:cNvSpPr/>
          <p:nvPr/>
        </p:nvSpPr>
        <p:spPr>
          <a:xfrm>
            <a:off x="566928" y="5104384"/>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28082"/>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292090"/>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259832"/>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Les prépositions de lieu sont-elles justes ?   </a:t>
            </a:r>
            <a:r>
              <a:rPr sz="1700" b="1" i="0">
                <a:solidFill>
                  <a:srgbClr val="07734A"/>
                </a:solidFill>
                <a:latin typeface="Verdana"/>
              </a:rPr>
              <a:t>» à, en, au, dans 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En une ligne : quelle information vous a manqué pour finir votre fiche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information précise, et où vous iriez la chercher.</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Si rien ne vous a manqué, notez ce qui a été le plus long à trouver.</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Une semaine au Bic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