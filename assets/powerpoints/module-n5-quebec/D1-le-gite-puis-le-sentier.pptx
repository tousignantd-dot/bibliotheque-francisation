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des deux séances du défi 3. Le programme appelle cela une « conversation spontanée » et c'est ce qui l'oppose aux deux défis précédents : au comptoir, on savait ce qu'on venait chercher. Ici, non. Le dire au groupe, ça change leur écoute.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quatrième objectif mérite d'être discuté : beaucoup d'élèves répondent par un récit d'immigration complet à une question de politesse. Thuy donne deux phrases, et c'est exactement ce qu'il faut.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deuxième piste est le point de la séance : « oui » ferme la porte. Une salutation d'usage attend qu'on la relance. Faire essayer les deux versions par deux binômes.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Thuy ne répond pas « oui ». Elle donne une durée, puis une image. C'est exactement la relance attendue, et elle tient en une phrase et demie. Faire compter au groupe combien de mots ça fait de plus qu'un « oui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Rose-Aimée donne trois informations qu'on ne lui a pas demandées : le déjeuner, la météo, la marée. C'est ce que fait quelqu'un de la région, et c'est précisément ce qui n'était écrit nulle part en C1.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Denis se présente avant de questionner : il donne sa ville, puis il demande. C'est la règle non écrite de la conversation entre inconnus, et elle rend la question acceptable. La faire remarquer.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Le vouvoiement est un des savoirs nommés par le programme — « salutations d'usage » — et c'est celui que les élèves manquent le plus souvent, dans les deux sens.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seule personne sur quatre se tutoie, et c'est la collègue qu'on voit tous les jours. Faire remarquer que Denis est chaleureux et vouvoie quand même : la chaleur ne passe pas par le tutoiement.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Beaucoup d'élèves croient avoir été polis en répondant brièvement. Leur dire que l'effet produit est l'inverse est utile, et souvent un soulagement.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réponse. La quatrième est instructive : Denis connaît bien la région sans y habiter, et c'est fréquent. On peut renseigner sans être « du coin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les billets et les rendre en D2. La contrainte des deux phrases est le vrai exercice : elle apprend à doser, ce que le niveau 5 demande.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D1  ·  MODULE 10</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gîte, puis le sentier</a:t>
            </a:r>
          </a:p>
        </p:txBody>
      </p:sp>
      <p:sp>
        <p:nvSpPr>
          <p:cNvPr id="5" name="Rounded Rectangle 4"/>
          <p:cNvSpPr/>
          <p:nvPr/>
        </p:nvSpPr>
        <p:spPr>
          <a:xfrm>
            <a:off x="566928" y="3794760"/>
            <a:ext cx="9960559" cy="2131568"/>
          </a:xfrm>
          <a:prstGeom prst="roundRect">
            <a:avLst>
              <a:gd name="adj" fmla="val 686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Thuy est arrivée. Il y a Rose-Aimée, qui tient le gîte et lui parle de la marée et du temps qu'il fera ; il y a Denis, un vacancier sur le sentier, qui lui demande d'où elle vient. Ces conversations-là ne se préparent pas.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Une semaine au Bic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saluer et répondre à une salutation d'usage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tenir le vouvoiement avec des inconnus de la région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engager une conversation spontanée sur les vacances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répondre à « d'où venez-vous ? » sans réciter sa biographie.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Quelqu'un s'arrête à côté de vous et dit : « Belle journée, hein ? » Que répondez-vous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sentier-bord-eau.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une vraie question sur la météo ?</a:t>
            </a:r>
          </a:p>
        </p:txBody>
      </p:sp>
      <p:sp>
        <p:nvSpPr>
          <p:cNvPr id="12" name="Rounded Rectangle 11"/>
          <p:cNvSpPr/>
          <p:nvPr/>
        </p:nvSpPr>
        <p:spPr>
          <a:xfrm>
            <a:off x="566928" y="2642108"/>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se passe si vous répondez seulement « oui » ?</a:t>
            </a:r>
          </a:p>
        </p:txBody>
      </p:sp>
      <p:sp>
        <p:nvSpPr>
          <p:cNvPr id="15" name="Rounded Rectangle 14"/>
          <p:cNvSpPr/>
          <p:nvPr/>
        </p:nvSpPr>
        <p:spPr>
          <a:xfrm>
            <a:off x="566928" y="376580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875532"/>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94868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qu'on tutoie ou est-ce qu'on vouvoie cette personne ?</a:t>
            </a:r>
          </a:p>
        </p:txBody>
      </p:sp>
      <p:sp>
        <p:nvSpPr>
          <p:cNvPr id="18" name="Rounded Rectangle 17"/>
          <p:cNvSpPr/>
          <p:nvPr/>
        </p:nvSpPr>
        <p:spPr>
          <a:xfrm>
            <a:off x="566928" y="488950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999228"/>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507238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que vous pourriez demander en retour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Vous avez fait bon voyage ?</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diapositive masquée.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93728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ROSE-AIMÉE</a:t>
            </a:r>
          </a:p>
        </p:txBody>
      </p:sp>
      <p:sp>
        <p:nvSpPr>
          <p:cNvPr id="10" name="TextBox 9"/>
          <p:cNvSpPr txBox="1"/>
          <p:nvPr/>
        </p:nvSpPr>
        <p:spPr>
          <a:xfrm>
            <a:off x="2869977" y="2322576"/>
            <a:ext cx="820614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Bienvenue ! Vous avez fait bon voyage ?</a:t>
            </a:r>
          </a:p>
        </p:txBody>
      </p:sp>
      <p:sp>
        <p:nvSpPr>
          <p:cNvPr id="11" name="Rounded Rectangle 10"/>
          <p:cNvSpPr/>
          <p:nvPr/>
        </p:nvSpPr>
        <p:spPr>
          <a:xfrm>
            <a:off x="566928" y="2907283"/>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937289"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THUY</a:t>
            </a:r>
          </a:p>
        </p:txBody>
      </p:sp>
      <p:sp>
        <p:nvSpPr>
          <p:cNvPr id="13" name="TextBox 12"/>
          <p:cNvSpPr txBox="1"/>
          <p:nvPr/>
        </p:nvSpPr>
        <p:spPr>
          <a:xfrm>
            <a:off x="2869977" y="3071876"/>
            <a:ext cx="820614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Bonjour madame. Oui, très bon. Huit heures, mais je n'ai pas vu le temps passer : je regardais dehors tout le long.</a:t>
            </a:r>
          </a:p>
        </p:txBody>
      </p:sp>
      <p:sp>
        <p:nvSpPr>
          <p:cNvPr id="14" name="Rounded Rectangle 13"/>
          <p:cNvSpPr/>
          <p:nvPr/>
        </p:nvSpPr>
        <p:spPr>
          <a:xfrm>
            <a:off x="566928" y="399440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4158995"/>
            <a:ext cx="193728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ROSE-AIMÉE</a:t>
            </a:r>
          </a:p>
        </p:txBody>
      </p:sp>
      <p:sp>
        <p:nvSpPr>
          <p:cNvPr id="16" name="TextBox 15"/>
          <p:cNvSpPr txBox="1"/>
          <p:nvPr/>
        </p:nvSpPr>
        <p:spPr>
          <a:xfrm>
            <a:off x="2869977" y="4158995"/>
            <a:ext cx="820614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la première fois que vous descendez par ici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marée descend vers dix heures</a:t>
            </a:r>
          </a:p>
        </p:txBody>
      </p:sp>
      <p:sp>
        <p:nvSpPr>
          <p:cNvPr id="7" name="Rounded Rectangle 6"/>
          <p:cNvSpPr/>
          <p:nvPr/>
        </p:nvSpPr>
        <p:spPr>
          <a:xfrm>
            <a:off x="566928" y="1737360"/>
            <a:ext cx="11057839" cy="1680464"/>
          </a:xfrm>
          <a:prstGeom prst="roundRect">
            <a:avLst>
              <a:gd name="adj" fmla="val 870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937289" cy="140614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ROSE-AIMÉE</a:t>
            </a:r>
          </a:p>
        </p:txBody>
      </p:sp>
      <p:sp>
        <p:nvSpPr>
          <p:cNvPr id="9" name="TextBox 8"/>
          <p:cNvSpPr txBox="1"/>
          <p:nvPr/>
        </p:nvSpPr>
        <p:spPr>
          <a:xfrm>
            <a:off x="2869977" y="1901952"/>
            <a:ext cx="8206149" cy="140614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déjeuner est servi de sept heures à neuf heures, en bas. Demain il va faire beau et frais, quatorze degrés. La marée descend vers dix heures : c'est le bon moment pour aller voir les phoques.</a:t>
            </a:r>
          </a:p>
        </p:txBody>
      </p:sp>
      <p:sp>
        <p:nvSpPr>
          <p:cNvPr id="10" name="Rounded Rectangle 9"/>
          <p:cNvSpPr/>
          <p:nvPr/>
        </p:nvSpPr>
        <p:spPr>
          <a:xfrm>
            <a:off x="566928" y="350011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664711"/>
            <a:ext cx="193728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THUY</a:t>
            </a:r>
          </a:p>
        </p:txBody>
      </p:sp>
      <p:sp>
        <p:nvSpPr>
          <p:cNvPr id="12" name="TextBox 11"/>
          <p:cNvSpPr txBox="1"/>
          <p:nvPr/>
        </p:nvSpPr>
        <p:spPr>
          <a:xfrm>
            <a:off x="2869977" y="3664711"/>
            <a:ext cx="820614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peux y aller à pied depuis ici ?</a:t>
            </a:r>
          </a:p>
        </p:txBody>
      </p:sp>
      <p:sp>
        <p:nvSpPr>
          <p:cNvPr id="13" name="Rounded Rectangle 12"/>
          <p:cNvSpPr/>
          <p:nvPr/>
        </p:nvSpPr>
        <p:spPr>
          <a:xfrm>
            <a:off x="566928" y="424942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414012"/>
            <a:ext cx="1937289"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ROSE-AIMÉE</a:t>
            </a:r>
          </a:p>
        </p:txBody>
      </p:sp>
      <p:sp>
        <p:nvSpPr>
          <p:cNvPr id="15" name="TextBox 14"/>
          <p:cNvSpPr txBox="1"/>
          <p:nvPr/>
        </p:nvSpPr>
        <p:spPr>
          <a:xfrm>
            <a:off x="2869977" y="4414012"/>
            <a:ext cx="820614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En marchant, comptez quarante minutes. En passant par le petit chemin derrière l'église, vous coupez dix minutes.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Vous n'êtes pas du coin, vous non plus ?</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117949"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DENIS</a:t>
            </a:r>
          </a:p>
        </p:txBody>
      </p:sp>
      <p:sp>
        <p:nvSpPr>
          <p:cNvPr id="9" name="TextBox 8"/>
          <p:cNvSpPr txBox="1"/>
          <p:nvPr/>
        </p:nvSpPr>
        <p:spPr>
          <a:xfrm>
            <a:off x="2050637" y="1901952"/>
            <a:ext cx="902548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n'êtes pas du coin, vous non plus ? Moi je viens de Sherbrooke. On monte ici tous les automnes, ma femme et moi.</a:t>
            </a:r>
          </a:p>
        </p:txBody>
      </p:sp>
      <p:sp>
        <p:nvSpPr>
          <p:cNvPr id="10" name="Rounded Rectangle 9"/>
          <p:cNvSpPr/>
          <p:nvPr/>
        </p:nvSpPr>
        <p:spPr>
          <a:xfrm>
            <a:off x="566928" y="282447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11794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THUY</a:t>
            </a:r>
          </a:p>
        </p:txBody>
      </p:sp>
      <p:sp>
        <p:nvSpPr>
          <p:cNvPr id="12" name="TextBox 11"/>
          <p:cNvSpPr txBox="1"/>
          <p:nvPr/>
        </p:nvSpPr>
        <p:spPr>
          <a:xfrm>
            <a:off x="2050637" y="2989072"/>
            <a:ext cx="902548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J'arrive de Montréal. C'est ma première fois dans la région.</a:t>
            </a:r>
          </a:p>
        </p:txBody>
      </p:sp>
      <p:sp>
        <p:nvSpPr>
          <p:cNvPr id="13" name="TextBox 12"/>
          <p:cNvSpPr txBox="1"/>
          <p:nvPr/>
        </p:nvSpPr>
        <p:spPr>
          <a:xfrm>
            <a:off x="932688" y="3738371"/>
            <a:ext cx="1117949"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DENIS</a:t>
            </a:r>
          </a:p>
        </p:txBody>
      </p:sp>
      <p:sp>
        <p:nvSpPr>
          <p:cNvPr id="14" name="TextBox 13"/>
          <p:cNvSpPr txBox="1"/>
          <p:nvPr/>
        </p:nvSpPr>
        <p:spPr>
          <a:xfrm>
            <a:off x="2050637" y="3738371"/>
            <a:ext cx="902548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vous êtes montée jusqu'au belvédère ? C'est là-haut, à vingt minutes.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ON VOUVOIE, ET ON RELANCE</a:t>
            </a:r>
          </a:p>
        </p:txBody>
      </p:sp>
      <p:sp>
        <p:nvSpPr>
          <p:cNvPr id="6" name="Rounded Rectangle 5"/>
          <p:cNvSpPr/>
          <p:nvPr/>
        </p:nvSpPr>
        <p:spPr>
          <a:xfrm>
            <a:off x="566928" y="1225296"/>
            <a:ext cx="11057839" cy="2494788"/>
          </a:xfrm>
          <a:prstGeom prst="roundRect">
            <a:avLst>
              <a:gd name="adj" fmla="val 586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Vouvoiement avec les inconnus, du début à la fin. Et jamais un « oui » tout seul : on ajoute une phrase.</a:t>
            </a:r>
          </a:p>
        </p:txBody>
      </p:sp>
      <p:sp>
        <p:nvSpPr>
          <p:cNvPr id="8" name="Rounded Rectangle 7"/>
          <p:cNvSpPr/>
          <p:nvPr/>
        </p:nvSpPr>
        <p:spPr>
          <a:xfrm>
            <a:off x="566928" y="3994404"/>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Personne ne propose le tutoiement à Thuy en six jours. Ce n'est pas de la froideur : c'est l'usage avec quelqu'un qu'on rencontre.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TU OU VOUS ?</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personnes du module</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PERSONNE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DIT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Camille, collègue de travail</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tu</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Serge, au comptoir</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vous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Rose-Aimée, au gîte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vous</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Denis, sur le sentier</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vous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RÉPONDRE « OUI » À UNE SALUTATION D'USAGE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Belle journée, hein ? » — « Oui.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Oui, magnifique. Je n'avais jamais vu le fleuve comme ça.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Belle journée » n'est pas une question sur la météo : c'est une porte ouverte. Un « oui » seul la referme, et la personne s'éloigne en pensant qu'on ne voulait pas parler.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Thuy reste six nuits au gîte.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déjeuner est servi jusqu'à dix heures.</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marée descend vers dix heures.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Denis habite la région.</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Thuy est déjà montée au belvédère.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Rose-Aimée tutoie Thuy.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Thuy reste six nuits au gîte.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déjeuner est servi jusqu'à dix heures.   </a:t>
            </a:r>
            <a:r>
              <a:rPr sz="1400" b="1" i="0">
                <a:solidFill>
                  <a:srgbClr val="07734A"/>
                </a:solidFill>
                <a:latin typeface="Verdana"/>
              </a:rPr>
              <a:t>» faux — de sept à neuf heures</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marée descend vers dix heures.   </a:t>
            </a:r>
            <a:r>
              <a:rPr sz="1400" b="1" i="0">
                <a:solidFill>
                  <a:srgbClr val="07734A"/>
                </a:solidFill>
                <a:latin typeface="Verdana"/>
              </a:rPr>
              <a:t>» vrai</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Denis habite la région.   </a:t>
            </a:r>
            <a:r>
              <a:rPr sz="1400" b="1" i="0">
                <a:solidFill>
                  <a:srgbClr val="07734A"/>
                </a:solidFill>
                <a:latin typeface="Verdana"/>
              </a:rPr>
              <a:t>» faux — il vient de Sherbrooke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Thuy est déjà montée au belvédère.   </a:t>
            </a:r>
            <a:r>
              <a:rPr sz="1400" b="1" i="0">
                <a:solidFill>
                  <a:srgbClr val="07734A"/>
                </a:solidFill>
                <a:latin typeface="Verdana"/>
              </a:rPr>
              <a:t>» faux — pas encore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Rose-Aimée tutoie Thuy.   </a:t>
            </a:r>
            <a:r>
              <a:rPr sz="1400" b="1" i="0">
                <a:solidFill>
                  <a:srgbClr val="07734A"/>
                </a:solidFill>
                <a:latin typeface="Verdana"/>
              </a:rPr>
              <a:t>» faux — elle la vouvoie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votre réponse à « D'où venez-vous ? », en deux phrases, pas plus.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Deux phrases : d'où vous arrivez, et une chose sur vous.</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Gardez le reste pour si l'on vous en redemande.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Une semaine au Bic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