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séance du module. Ouvrir en demandant au groupe, à main levée, qui est sorti de la région de Montréal depuis son arrivée au Québec. La réponse surprend chaque fois, y compris les élèves eux-mêmes. Ne pas juger et ne pas plaindre : le module ne dit pas qu'il faut voyager, il donne les mots pour le faire si on le veut.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troisième objectif est celui qu'on sous-estime. « C'est loin » ne veut rien dire ; « cinq cent trente kilomètres, sept heures d'autocar » veut dire quelque chose. Tout le module tient sur cette différence.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Presque tout le monde répond « la mer ». C'est le fleuve, à Rimouski, où il fait quarante kilomètres de large. Cette surprise-là est le meilleur point de départ du module : le Québec est beaucoup plus grand que la ville où l'on vit.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remarquer le ton de Camille : elle taquine, elle ne reproche pas. C'est une conversation entre collègues qui s'aiment bien. Le tutoiement est normal ici, et il ne le sera plus au comptoir de la gare : la frontière se travaille dès maintenant.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la séance en une réplique. Camille ne dit pas « c'est loin » : elle donne un nombre de kilomètres, une durée, une région et un côté du fleuve. Faire relever les quatre informations au tableau.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Laisser la surprise vivre. Beaucoup d'élèves ignorent qu'on voit des phoques depuis la rive au Québec. Demander ensuite ce que chacun croyait trouver dans son pays d'accueil et ne connaît toujours pas.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Elle revient en B1, quand il faudra exposer sa demande d'un seul tenant au comptoir.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répéter avec l'article. « Un cap » et « une anse » ne s'apprennent nulle part ailleurs et reviennent dans tout le bloc C, quand il faudra lire la fiche du parc.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compléter la colonne de droite avant de l'afficher. La blague de Camille — « c'est changer de pont » — devient claire une fois le tableau au tableau.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piège-là est le vrai obstacle du module, plus que la grammaire. Demander qui a déjà pris un autocar interurbain au Québec : c'est presque toujours une ou deux personnes, et elles racontent.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réponse par la réplique exacte. La quatrième et la sixième sont celles que le groupe manque : on lit vite et on retient « nord » pour « sud ».</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Ramasser les billets : ils servent en A4, où chacun devra dire « je vais à… », « je vais en… », « je vais au… » avec sa propre région.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A1  ·  MODULE 10</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 Tu n'es jamais sortie de l'île ? »</a:t>
            </a:r>
          </a:p>
        </p:txBody>
      </p:sp>
      <p:sp>
        <p:nvSpPr>
          <p:cNvPr id="5" name="Rounded Rectangle 4"/>
          <p:cNvSpPr/>
          <p:nvPr/>
        </p:nvSpPr>
        <p:spPr>
          <a:xfrm>
            <a:off x="566928" y="3794760"/>
            <a:ext cx="9960559" cy="2131568"/>
          </a:xfrm>
          <a:prstGeom prst="roundRect">
            <a:avLst>
              <a:gd name="adj" fmla="val 686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Thuy Pham est arrivée du Viêt Nam il y a trois ans. Elle habite Villeray, elle est aide-cuisinière à Rosemont, et elle connaît quatre rues et deux stations de métro. Fin septembre, elle a une semaine de congé — et sa collègue Camille lui pose la question qui la prend de court.</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Une semaine au Bic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quelques régions du Québec et dire ce qu'on y trouve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une conversation où quelqu'un décrit sa région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une distance et une durée de trajet avec des chiffres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les mots du paysage : le fleuve, un cap, une anse, un phare.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Le fleuve, si large qu'on ne voit pas l'autre rive. Où pensez-vous que c'est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hare-cap.jpg"/>
          <p:cNvPicPr>
            <a:picLocks noChangeAspect="1"/>
          </p:cNvPicPr>
          <p:nvPr/>
        </p:nvPicPr>
        <p:blipFill>
          <a:blip r:embed="rId2"/>
          <a:stretch>
            <a:fillRect/>
          </a:stretch>
        </p:blipFill>
        <p:spPr>
          <a:xfrm>
            <a:off x="7644383" y="2638339"/>
            <a:ext cx="3760927" cy="2523153"/>
          </a:xfrm>
          <a:prstGeom prst="rect">
            <a:avLst/>
          </a:prstGeom>
        </p:spPr>
      </p:pic>
      <p:sp>
        <p:nvSpPr>
          <p:cNvPr id="9" name="Rounded Rectangle 8"/>
          <p:cNvSpPr/>
          <p:nvPr/>
        </p:nvSpPr>
        <p:spPr>
          <a:xfrm>
            <a:off x="566928" y="1856232"/>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c'est la mer, ou est-ce que c'est le fleuve ?</a:t>
            </a:r>
          </a:p>
        </p:txBody>
      </p:sp>
      <p:sp>
        <p:nvSpPr>
          <p:cNvPr id="12" name="Rounded Rectangle 11"/>
          <p:cNvSpPr/>
          <p:nvPr/>
        </p:nvSpPr>
        <p:spPr>
          <a:xfrm>
            <a:off x="566928" y="2979928"/>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308965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3162808"/>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À quelle distance de Montréal, à votre avis ?</a:t>
            </a:r>
          </a:p>
        </p:txBody>
      </p:sp>
      <p:sp>
        <p:nvSpPr>
          <p:cNvPr id="15" name="Rounded Rectangle 14"/>
          <p:cNvSpPr/>
          <p:nvPr/>
        </p:nvSpPr>
        <p:spPr>
          <a:xfrm>
            <a:off x="566928" y="3765804"/>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875532"/>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948684"/>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Comment est-ce qu'on s'y rend, sans auto ?</a:t>
            </a:r>
          </a:p>
        </p:txBody>
      </p:sp>
      <p:sp>
        <p:nvSpPr>
          <p:cNvPr id="18" name="Rounded Rectangle 17"/>
          <p:cNvSpPr/>
          <p:nvPr/>
        </p:nvSpPr>
        <p:spPr>
          <a:xfrm>
            <a:off x="566928" y="455168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661408"/>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73456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qu'on peut y faire pendant une semaine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Laval, ce n'est pas sortir de l'île</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diapositive masquée.</a:t>
            </a:r>
          </a:p>
        </p:txBody>
      </p:sp>
      <p:sp>
        <p:nvSpPr>
          <p:cNvPr id="8" name="Rounded Rectangle 7"/>
          <p:cNvSpPr/>
          <p:nvPr/>
        </p:nvSpPr>
        <p:spPr>
          <a:xfrm>
            <a:off x="566928" y="2157984"/>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428845"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CAMILLE</a:t>
            </a:r>
          </a:p>
        </p:txBody>
      </p:sp>
      <p:sp>
        <p:nvSpPr>
          <p:cNvPr id="10" name="TextBox 9"/>
          <p:cNvSpPr txBox="1"/>
          <p:nvPr/>
        </p:nvSpPr>
        <p:spPr>
          <a:xfrm>
            <a:off x="2361533" y="2322576"/>
            <a:ext cx="8714593"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semaine de congé à la fin septembre ! Tu t'en vas où ?</a:t>
            </a:r>
          </a:p>
        </p:txBody>
      </p:sp>
      <p:sp>
        <p:nvSpPr>
          <p:cNvPr id="11" name="Rounded Rectangle 10"/>
          <p:cNvSpPr/>
          <p:nvPr/>
        </p:nvSpPr>
        <p:spPr>
          <a:xfrm>
            <a:off x="566928" y="29072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071876"/>
            <a:ext cx="1428845"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THUY</a:t>
            </a:r>
          </a:p>
        </p:txBody>
      </p:sp>
      <p:sp>
        <p:nvSpPr>
          <p:cNvPr id="13" name="TextBox 12"/>
          <p:cNvSpPr txBox="1"/>
          <p:nvPr/>
        </p:nvSpPr>
        <p:spPr>
          <a:xfrm>
            <a:off x="2361533" y="3071876"/>
            <a:ext cx="8714593"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Nulle part. Je vais dormir, je pense. Ranger l'appartement.</a:t>
            </a:r>
          </a:p>
        </p:txBody>
      </p:sp>
      <p:sp>
        <p:nvSpPr>
          <p:cNvPr id="14" name="Rounded Rectangle 13"/>
          <p:cNvSpPr/>
          <p:nvPr/>
        </p:nvSpPr>
        <p:spPr>
          <a:xfrm>
            <a:off x="566928" y="36565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821175"/>
            <a:ext cx="1428845"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CAMILLE</a:t>
            </a:r>
          </a:p>
        </p:txBody>
      </p:sp>
      <p:sp>
        <p:nvSpPr>
          <p:cNvPr id="16" name="TextBox 15"/>
          <p:cNvSpPr txBox="1"/>
          <p:nvPr/>
        </p:nvSpPr>
        <p:spPr>
          <a:xfrm>
            <a:off x="2361533" y="3821175"/>
            <a:ext cx="8714593"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Thuy. Trois ans au Québec et tu n'es jamais sortie de l'île ?</a:t>
            </a:r>
          </a:p>
        </p:txBody>
      </p:sp>
      <p:sp>
        <p:nvSpPr>
          <p:cNvPr id="17" name="Rounded Rectangle 16"/>
          <p:cNvSpPr/>
          <p:nvPr/>
        </p:nvSpPr>
        <p:spPr>
          <a:xfrm>
            <a:off x="566928" y="44058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4570475"/>
            <a:ext cx="1428845"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THUY</a:t>
            </a:r>
          </a:p>
        </p:txBody>
      </p:sp>
      <p:sp>
        <p:nvSpPr>
          <p:cNvPr id="19" name="TextBox 18"/>
          <p:cNvSpPr txBox="1"/>
          <p:nvPr/>
        </p:nvSpPr>
        <p:spPr>
          <a:xfrm>
            <a:off x="2361533" y="4570475"/>
            <a:ext cx="8714593"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suis allée à Laval une fois. Chez la cousine de mon mari.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Cinq cent trente kilomètres</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28845"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CAMILLE</a:t>
            </a:r>
          </a:p>
        </p:txBody>
      </p:sp>
      <p:sp>
        <p:nvSpPr>
          <p:cNvPr id="9" name="TextBox 8"/>
          <p:cNvSpPr txBox="1"/>
          <p:nvPr/>
        </p:nvSpPr>
        <p:spPr>
          <a:xfrm>
            <a:off x="2361533" y="1901952"/>
            <a:ext cx="8714593"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Moi je viens de Rimouski.</a:t>
            </a:r>
          </a:p>
        </p:txBody>
      </p:sp>
      <p:sp>
        <p:nvSpPr>
          <p:cNvPr id="10" name="Rounded Rectangle 9"/>
          <p:cNvSpPr/>
          <p:nvPr/>
        </p:nvSpPr>
        <p:spPr>
          <a:xfrm>
            <a:off x="566928" y="24866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428845"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THUY</a:t>
            </a:r>
          </a:p>
        </p:txBody>
      </p:sp>
      <p:sp>
        <p:nvSpPr>
          <p:cNvPr id="12" name="TextBox 11"/>
          <p:cNvSpPr txBox="1"/>
          <p:nvPr/>
        </p:nvSpPr>
        <p:spPr>
          <a:xfrm>
            <a:off x="2361533" y="2651252"/>
            <a:ext cx="8714593"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C'est loin, ça ?</a:t>
            </a:r>
          </a:p>
        </p:txBody>
      </p:sp>
      <p:sp>
        <p:nvSpPr>
          <p:cNvPr id="13" name="Rounded Rectangle 12"/>
          <p:cNvSpPr/>
          <p:nvPr/>
        </p:nvSpPr>
        <p:spPr>
          <a:xfrm>
            <a:off x="566928" y="323595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00551"/>
            <a:ext cx="1428845"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CAMILLE</a:t>
            </a:r>
          </a:p>
        </p:txBody>
      </p:sp>
      <p:sp>
        <p:nvSpPr>
          <p:cNvPr id="15" name="TextBox 14"/>
          <p:cNvSpPr txBox="1"/>
          <p:nvPr/>
        </p:nvSpPr>
        <p:spPr>
          <a:xfrm>
            <a:off x="2361533" y="3400551"/>
            <a:ext cx="8714593"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Cinq cent trente kilomètres. Sept heures d'autocar, huit avec les arrêts. C'est dans le Bas-Saint-Laurent, sur la rive sud du fleuve.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Des phoques. Au Québec.</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28845"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CAMILLE</a:t>
            </a:r>
          </a:p>
        </p:txBody>
      </p:sp>
      <p:sp>
        <p:nvSpPr>
          <p:cNvPr id="9" name="TextBox 8"/>
          <p:cNvSpPr txBox="1"/>
          <p:nvPr/>
        </p:nvSpPr>
        <p:spPr>
          <a:xfrm>
            <a:off x="2361533" y="1901952"/>
            <a:ext cx="8714593"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parc national. Des caps, des baies, des îles, des sentiers dans la montagne. Les phoques se couchent sur les roches à marée basse.</a:t>
            </a:r>
          </a:p>
        </p:txBody>
      </p:sp>
      <p:sp>
        <p:nvSpPr>
          <p:cNvPr id="10" name="Rounded Rectangle 9"/>
          <p:cNvSpPr/>
          <p:nvPr/>
        </p:nvSpPr>
        <p:spPr>
          <a:xfrm>
            <a:off x="566928" y="282447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89072"/>
            <a:ext cx="1428845"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THUY</a:t>
            </a:r>
          </a:p>
        </p:txBody>
      </p:sp>
      <p:sp>
        <p:nvSpPr>
          <p:cNvPr id="12" name="TextBox 11"/>
          <p:cNvSpPr txBox="1"/>
          <p:nvPr/>
        </p:nvSpPr>
        <p:spPr>
          <a:xfrm>
            <a:off x="2361533" y="2989072"/>
            <a:ext cx="8714593"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Des phoques. Au Québec.</a:t>
            </a:r>
          </a:p>
        </p:txBody>
      </p:sp>
      <p:sp>
        <p:nvSpPr>
          <p:cNvPr id="13" name="TextBox 12"/>
          <p:cNvSpPr txBox="1"/>
          <p:nvPr/>
        </p:nvSpPr>
        <p:spPr>
          <a:xfrm>
            <a:off x="932688" y="3738371"/>
            <a:ext cx="1428845"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CAMILLE</a:t>
            </a:r>
          </a:p>
        </p:txBody>
      </p:sp>
      <p:sp>
        <p:nvSpPr>
          <p:cNvPr id="14" name="TextBox 13"/>
          <p:cNvSpPr txBox="1"/>
          <p:nvPr/>
        </p:nvSpPr>
        <p:spPr>
          <a:xfrm>
            <a:off x="2361533" y="3738371"/>
            <a:ext cx="8714593"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À trois cents mètres du stationnement. En septembre il n'y a plus personne, l'air est frais, les couleurs commencent.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DIRE OÙ C'EST, ET À QUELLE DISTANCE</a:t>
            </a:r>
          </a:p>
        </p:txBody>
      </p:sp>
      <p:sp>
        <p:nvSpPr>
          <p:cNvPr id="6" name="Rounded Rectangle 5"/>
          <p:cNvSpPr/>
          <p:nvPr/>
        </p:nvSpPr>
        <p:spPr>
          <a:xfrm>
            <a:off x="566928" y="1225296"/>
            <a:ext cx="11057839" cy="2494788"/>
          </a:xfrm>
          <a:prstGeom prst="roundRect">
            <a:avLst>
              <a:gd name="adj" fmla="val 586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Une région, un côté du fleuve, un nombre de kilomètres, une durée de trajet.</a:t>
            </a:r>
          </a:p>
        </p:txBody>
      </p:sp>
      <p:sp>
        <p:nvSpPr>
          <p:cNvPr id="8" name="Rounded Rectangle 7"/>
          <p:cNvSpPr/>
          <p:nvPr/>
        </p:nvSpPr>
        <p:spPr>
          <a:xfrm>
            <a:off x="566928" y="3994404"/>
            <a:ext cx="11057839" cy="1303528"/>
          </a:xfrm>
          <a:prstGeom prst="roundRect">
            <a:avLst>
              <a:gd name="adj" fmla="val 1122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8463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C'est loin » ne renseigne personne. Quatre précisions suffisent, et elles se disent en une seule phrase.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 PAYSAGE DU FLEUVE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mots à voir avant de les dire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Le fleuve</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Le grand cours d'eau qui traverse le Québec et va à la mer.</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Un cap</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Une pointe de roche qui avance dans l'eau.</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Une anse</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Un petit creux de la côte, où l'eau est calme.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Un phare</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La tour dont la lumière tourne pour guider les bateaux.</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DEUX ÉCHELLES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Sortir de la ville, ou changer de pont</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ALLER À LAVAL</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ALLER À RIMOUSKI</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Vingt minutes</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Sept à huit heures</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Quinze kilomètres</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Cinq cent trente kilomètres</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On traverse un pont</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On traverse quatre régions</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On revient le soir</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On reste une semaine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CROIRE QU'IL FAUT UNE AUTO POUR SORTIR DE LA VILLE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n'ai pas d'auto, donc je ne peux pas partir.</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L'autocar part tous les jours et me laisse au centre-ville.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C'est la phrase exacte de Thuy, et c'est ce qui l'a retenue trois ans. L'autocar interurbain dessert la plupart des villes du Québec, et le gîte va souvent chercher les gens à la gare.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 dialogue.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Thuy est au Québec depuis trois ans.</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Thuy est déjà allée à Rimouski.</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Camille est née à Rimouski.</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Rimouski est sur la rive nord du fleuve.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trajet dure environ huit heures avec les arrêts.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faut une auto pour se rendre au parc.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Thuy est au Québec depuis trois ans.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Thuy est déjà allée à Rimouski.   </a:t>
            </a:r>
            <a:r>
              <a:rPr sz="1400" b="1" i="0">
                <a:solidFill>
                  <a:srgbClr val="07734A"/>
                </a:solidFill>
                <a:latin typeface="Verdana"/>
              </a:rPr>
              <a:t>» faux — à Laval, une fois</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Camille est née à Rimouski.   </a:t>
            </a:r>
            <a:r>
              <a:rPr sz="1400" b="1" i="0">
                <a:solidFill>
                  <a:srgbClr val="07734A"/>
                </a:solidFill>
                <a:latin typeface="Verdana"/>
              </a:rPr>
              <a:t>» vrai</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Rimouski est sur la rive nord du fleuve.   </a:t>
            </a:r>
            <a:r>
              <a:rPr sz="1400" b="1" i="0">
                <a:solidFill>
                  <a:srgbClr val="07734A"/>
                </a:solidFill>
                <a:latin typeface="Verdana"/>
              </a:rPr>
              <a:t>» faux — sur la rive sud</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trajet dure environ huit heures avec les arrêts.   </a:t>
            </a:r>
            <a:r>
              <a:rPr sz="1400" b="1" i="0">
                <a:solidFill>
                  <a:srgbClr val="07734A"/>
                </a:solidFill>
                <a:latin typeface="Verdana"/>
              </a:rPr>
              <a:t>» vrai</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faut une auto pour se rendre au parc.   </a:t>
            </a:r>
            <a:r>
              <a:rPr sz="1400" b="1" i="0">
                <a:solidFill>
                  <a:srgbClr val="07734A"/>
                </a:solidFill>
                <a:latin typeface="Verdana"/>
              </a:rPr>
              <a:t>» faux — le gîte va la chercher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le nom d'une région du Québec que vous aimeriez voir, et pourquoi.</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seule région, et une seule raison.</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Si vous n'en connaissez aucune, écrivez la question que vous poseriez.</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Une semaine au Bic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