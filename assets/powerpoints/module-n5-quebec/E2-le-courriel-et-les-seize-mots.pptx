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Prévoir quarante minutes d'écriture en silence, puis le bilan. Rendre au début les billets de E1 et les rétroactions des productions orales : la comparaison est le vrai moment d'apprentissage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premier objectif est le critère du niveau 5 à l'écrit : un texte organisé, pas trois phrases détachées. C'est exactement l'équivalent écrit de la demande complète du défi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Ne pas interdire le futur proche : signaler la différence de registre suffit, et les élèves choisissent d'eux-mêmes une fois qu'ils la connaissent.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ligne est celle qu'on oublie : un courriel d'invitation sans question ne reçoit pas de réponse. « Est-ce que ça te tente ? » suffit, mais il faut la poser.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les critères avant l'écriture, jamais après. Un élève qui sait qu'on regarde les phrases reliées en écrit ; celui qui l'apprend à la correction se sent piégé.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Reprendre l'exercice de C2 si le besoin s'en fait sentir : réunir deux phrases courtes en une seule est la manipulation qui débloque cette production.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Huit des seize, ceux que le relevé montre comme les moins sûrs. Faire dire chaque mot avec son article et une phrase. Les huit autres sont dans le banc de l'activité et se révisent avec les cartes mémoire.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cocher individuellement, sans ramasser. Proposer à ceux qui hésitent sur deux points ou plus de refaire le défi correspondant dans l'activité interactive : elle reste ouverte après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ramasser celui-ci. Le module a commencé par « tu t'en vas où ? » et il se termine par la même question, posée à chacun. C'est la seule chose qu'il cherchait vraiment.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courriel, et les seize mots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Dernière séance. Vous écrivez à quelqu'un pour l'inviter à venir avec vous : le voyage que vous ferez, du début à la fin, au futur simple. Puis on rassemble les seize mots du module et on fait le point.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semaine au Bic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qui raconte un projet du début à la fin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futur simple pour un projet décidé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réunir ses phrases avec « qui », « que » et « où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faire le point sur ce qu'on est maintenant capable de faire.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UN PROJET SE RACONTE AU FUTUR SIMPLE</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Nous partirons le 28. Le trajet durera huit heures. Nous dormirons au gîte.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futur proche — « on va partir » — se dit ; à l'écrit, dans une invitation, le futur simple fait plus soigné.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LE COURRIEL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parties, dans l'ordre</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Y MET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L'objet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Trois ou quatre mots : « Une semaine au Bic ? »</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salutation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Bonjour, puis le prénom</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L'invitation</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Où, quand, combien de nuits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programme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qu'on fera, et ce qu'on verra</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question finale</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Ce que vous attendez comme réponse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CE QUE LE CORRECTEUR REGARDE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points, annoncés d'avance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 texte se tient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On suit le projet du début à la fin, sans sauter.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Les temps sont justes</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Futur simple pour le projet, passé pour ce qui est déjà fait.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Les prépositions de lieu</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à Rimouski, en Gaspésie, au Bas-Saint-Laurent.</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A5335F"/>
                </a:solidFill>
                <a:latin typeface="Verdana"/>
              </a:rPr>
              <a:t>Les phrases sont reliées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qui, que, où — au moins une fois chacun.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ÉCRIRE TROIS PHRASES DÉTACHÉES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vais à Rimouski. C'est beau. Viens avec moi.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100" b="1" i="0">
                <a:solidFill>
                  <a:srgbClr val="17181A"/>
                </a:solidFill>
                <a:latin typeface="Verdana"/>
              </a:rPr>
              <a:t>J'irai à Rimouski fin septembre, dans une région que je ne connais pas encore.</a:t>
            </a:r>
          </a:p>
        </p:txBody>
      </p:sp>
      <p:sp>
        <p:nvSpPr>
          <p:cNvPr id="13" name="Rounded Rectangle 12"/>
          <p:cNvSpPr/>
          <p:nvPr/>
        </p:nvSpPr>
        <p:spPr>
          <a:xfrm>
            <a:off x="566928" y="4462272"/>
            <a:ext cx="11057839" cy="1285240"/>
          </a:xfrm>
          <a:prstGeom prst="roundRect">
            <a:avLst>
              <a:gd name="adj" fmla="val 11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phrases courtes côte à côte, c'est du niveau 4. Le niveau 5 demande qu'elles se tiennent : une seule phrase reliée en dit autant et se lit mieux.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 DU 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seize mots, une dernière fois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attrait</a:t>
            </a:r>
          </a:p>
        </p:txBody>
      </p:sp>
      <p:sp>
        <p:nvSpPr>
          <p:cNvPr id="9" name="TextBox 8"/>
          <p:cNvSpPr txBox="1"/>
          <p:nvPr/>
        </p:nvSpPr>
        <p:spPr>
          <a:xfrm>
            <a:off x="3143154" y="2121408"/>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Ce qu'on va voir dans une région.</a:t>
            </a:r>
          </a:p>
        </p:txBody>
      </p:sp>
      <p:sp>
        <p:nvSpPr>
          <p:cNvPr id="10" name="Rectangle 9"/>
          <p:cNvSpPr/>
          <p:nvPr/>
        </p:nvSpPr>
        <p:spPr>
          <a:xfrm>
            <a:off x="932688" y="2467737"/>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14041"/>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horaire</a:t>
            </a:r>
          </a:p>
        </p:txBody>
      </p:sp>
      <p:sp>
        <p:nvSpPr>
          <p:cNvPr id="12" name="TextBox 11"/>
          <p:cNvSpPr txBox="1"/>
          <p:nvPr/>
        </p:nvSpPr>
        <p:spPr>
          <a:xfrm>
            <a:off x="3143154" y="2614041"/>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liste des heures de départ et d'arrivée.</a:t>
            </a:r>
          </a:p>
        </p:txBody>
      </p:sp>
      <p:sp>
        <p:nvSpPr>
          <p:cNvPr id="13" name="Rectangle 12"/>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106674"/>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soute</a:t>
            </a:r>
          </a:p>
        </p:txBody>
      </p:sp>
      <p:sp>
        <p:nvSpPr>
          <p:cNvPr id="15" name="TextBox 14"/>
          <p:cNvSpPr txBox="1"/>
          <p:nvPr/>
        </p:nvSpPr>
        <p:spPr>
          <a:xfrm>
            <a:off x="3143154" y="3106674"/>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L'espace à valises, sous le plancher de l'autocar.</a:t>
            </a:r>
          </a:p>
        </p:txBody>
      </p:sp>
      <p:sp>
        <p:nvSpPr>
          <p:cNvPr id="16" name="Rectangle 15"/>
          <p:cNvSpPr/>
          <p:nvPr/>
        </p:nvSpPr>
        <p:spPr>
          <a:xfrm>
            <a:off x="932688" y="34530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3599307"/>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gîte</a:t>
            </a:r>
          </a:p>
        </p:txBody>
      </p:sp>
      <p:sp>
        <p:nvSpPr>
          <p:cNvPr id="18" name="TextBox 17"/>
          <p:cNvSpPr txBox="1"/>
          <p:nvPr/>
        </p:nvSpPr>
        <p:spPr>
          <a:xfrm>
            <a:off x="3143154" y="3599307"/>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Une maison où l'on loue une chambre, déjeuner compris.</a:t>
            </a:r>
          </a:p>
        </p:txBody>
      </p:sp>
      <p:sp>
        <p:nvSpPr>
          <p:cNvPr id="19" name="Rectangle 18"/>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091939"/>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sentier</a:t>
            </a:r>
          </a:p>
        </p:txBody>
      </p:sp>
      <p:sp>
        <p:nvSpPr>
          <p:cNvPr id="21" name="TextBox 20"/>
          <p:cNvSpPr txBox="1"/>
          <p:nvPr/>
        </p:nvSpPr>
        <p:spPr>
          <a:xfrm>
            <a:off x="3143154" y="4091939"/>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petit chemin de terre où l'on marche.</a:t>
            </a:r>
          </a:p>
        </p:txBody>
      </p:sp>
      <p:sp>
        <p:nvSpPr>
          <p:cNvPr id="22" name="Rectangle 21"/>
          <p:cNvSpPr/>
          <p:nvPr/>
        </p:nvSpPr>
        <p:spPr>
          <a:xfrm>
            <a:off x="932688" y="4438269"/>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584573"/>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marée</a:t>
            </a:r>
          </a:p>
        </p:txBody>
      </p:sp>
      <p:sp>
        <p:nvSpPr>
          <p:cNvPr id="24" name="TextBox 23"/>
          <p:cNvSpPr txBox="1"/>
          <p:nvPr/>
        </p:nvSpPr>
        <p:spPr>
          <a:xfrm>
            <a:off x="3143154" y="4584573"/>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L'eau qui monte et qui descend deux fois par jour.</a:t>
            </a:r>
          </a:p>
        </p:txBody>
      </p:sp>
      <p:sp>
        <p:nvSpPr>
          <p:cNvPr id="25" name="Rectangle 24"/>
          <p:cNvSpPr/>
          <p:nvPr/>
        </p:nvSpPr>
        <p:spPr>
          <a:xfrm>
            <a:off x="932688" y="493090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2688" y="5077206"/>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belvédère</a:t>
            </a:r>
          </a:p>
        </p:txBody>
      </p:sp>
      <p:sp>
        <p:nvSpPr>
          <p:cNvPr id="27" name="TextBox 26"/>
          <p:cNvSpPr txBox="1"/>
          <p:nvPr/>
        </p:nvSpPr>
        <p:spPr>
          <a:xfrm>
            <a:off x="3143154" y="5077206"/>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L'endroit en hauteur d'où l'on regarde le paysage.</a:t>
            </a:r>
          </a:p>
        </p:txBody>
      </p:sp>
      <p:sp>
        <p:nvSpPr>
          <p:cNvPr id="28" name="Rectangle 27"/>
          <p:cNvSpPr/>
          <p:nvPr/>
        </p:nvSpPr>
        <p:spPr>
          <a:xfrm>
            <a:off x="932688" y="54235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32688" y="5569839"/>
            <a:ext cx="1936146" cy="273176"/>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jaser</a:t>
            </a:r>
          </a:p>
        </p:txBody>
      </p:sp>
      <p:sp>
        <p:nvSpPr>
          <p:cNvPr id="30" name="TextBox 29"/>
          <p:cNvSpPr txBox="1"/>
          <p:nvPr/>
        </p:nvSpPr>
        <p:spPr>
          <a:xfrm>
            <a:off x="3143154" y="5569839"/>
            <a:ext cx="8115852" cy="273176"/>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Parler avec quelqu'un pour le plaisir de la conversation.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BILAN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pour vous-même, honnêtement.</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Exposer une demande complète à un comptoir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Poser trois questions polies de suite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Lire une ligne d'horaire interurbain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Comparer deux possibilités et choisir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Raconter votre journée au passé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Tenir le vouvoiement avec un inconnu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Êtes-vous maintenant capable de…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Exposer une demande complète à un comptoir ?   </a:t>
            </a:r>
            <a:r>
              <a:rPr sz="1400" b="1" i="0">
                <a:solidFill>
                  <a:srgbClr val="07734A"/>
                </a:solidFill>
                <a:latin typeface="Verdana"/>
              </a:rPr>
              <a:t>» où, quand, combien de temps, combien de personnes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Poser trois questions polies de suite ?   </a:t>
            </a:r>
            <a:r>
              <a:rPr sz="1400" b="1" i="0">
                <a:solidFill>
                  <a:srgbClr val="07734A"/>
                </a:solidFill>
                <a:latin typeface="Verdana"/>
              </a:rPr>
              <a:t>» trois formules différentes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Lire une ligne d'horaire interurbain ?   </a:t>
            </a:r>
            <a:r>
              <a:rPr sz="1400" b="1" i="0">
                <a:solidFill>
                  <a:srgbClr val="07734A"/>
                </a:solidFill>
                <a:latin typeface="Verdana"/>
              </a:rPr>
              <a:t>» en ligne, pas en colonne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Comparer deux possibilités et choisir ?   </a:t>
            </a:r>
            <a:r>
              <a:rPr sz="1400" b="1" i="0">
                <a:solidFill>
                  <a:srgbClr val="07734A"/>
                </a:solidFill>
                <a:latin typeface="Verdana"/>
              </a:rPr>
              <a:t>» avec la raison qui a fait pencher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Raconter votre journée au passé ?   </a:t>
            </a:r>
            <a:r>
              <a:rPr sz="1400" b="1" i="0">
                <a:solidFill>
                  <a:srgbClr val="07734A"/>
                </a:solidFill>
                <a:latin typeface="Verdana"/>
              </a:rPr>
              <a:t>» l'action et le décor</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Tenir le vouvoiement avec un inconnu ?   </a:t>
            </a:r>
            <a:r>
              <a:rPr sz="1400" b="1" i="0">
                <a:solidFill>
                  <a:srgbClr val="07734A"/>
                </a:solidFill>
                <a:latin typeface="Verdana"/>
              </a:rPr>
              <a:t>» du début à la fin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où irez-vous, et quand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vraie destination, une vraie date, même approximative.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Gardez ce billet : c'est le seul du module qui ne se corrige pas.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Une semaine au Bic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