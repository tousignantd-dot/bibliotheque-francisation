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1. Annoncer la méthode avant de faire entendre quoi que ce soit : trois écoutes, trois questions différentes. Sans cette annonce, le groupe s'épuise dès la première.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important, et il ne se note pas. Le dire clairement : perdre des phrases est normal, y compris pour un francophone distrait.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venir « laboratoire », « contrôle », « qualité » avant l'écoute. Une usine n'emploie pas que des opérateurs, et c'est précisément le point du reportage.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méthode du bloc entier et elle resservira en C1, pour la lecture.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trente premières secondes annoncent le plan en toutes lettres. Le faire remarquer : c'est vrai de presque toutes les émissions.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s'arrêter sur les chiffres aujourd'hui : ils sont l'objet de B2. Ce qui compte ici, c'est de repérer QUI parle et de quel métier il 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relever les trois voix du reportage : une journaliste, un économiste, un employeur. Chacune parle d'un endroit différent, et c'est ce qui rend l'émission crédible.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tableau revient en B2, sous forme d'exercice d'association.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`t1vf` du module interactif. Faire justifier chaque « faux » par la réplique exacte, en réécoutant si nécessaire.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billets servent d'avant-après : les ressortir à la fin de B2, une fois les trois écoutes faites. La progression est spectaculaire et elle rassure.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B1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Première écoute : de quoi ça parle ?</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émission de vingt minutes sur l'économie d'une région ne se comprend pas d'un coup. On l'écoute trois fois, et la première fois on ne cherche ni les chiffres ni les dates.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Chercher un emploi en région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écouter un long reportage sans chercher à tout comprendre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 sujet, le lieu et les personnes interrogées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qu'une émission annonce son plan et le résume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accepter de perdre des phrases entières sans décrocher.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Qu'est-ce qu'on fabrique dans ce genre d'endroit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ine-aluminium.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personnes peuvent y travailler ?</a:t>
            </a:r>
          </a:p>
        </p:txBody>
      </p:sp>
      <p:sp>
        <p:nvSpPr>
          <p:cNvPr id="12" name="Rounded Rectangle 11"/>
          <p:cNvSpPr/>
          <p:nvPr/>
        </p:nvSpPr>
        <p:spPr>
          <a:xfrm>
            <a:off x="566928" y="264210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Quels métiers, en dehors de ceux qui sont sur la chaîne ?</a:t>
            </a:r>
          </a:p>
        </p:txBody>
      </p:sp>
      <p:sp>
        <p:nvSpPr>
          <p:cNvPr id="15" name="Rounded Rectangle 14"/>
          <p:cNvSpPr/>
          <p:nvPr/>
        </p:nvSpPr>
        <p:spPr>
          <a:xfrm>
            <a:off x="566928" y="376580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vérifie que le produit est conforme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Y a-t-il une usine comme celle-là près de chez vous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TROIS ÉCOUTES, TROIS QUESTIONS</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Première écoute : de quoi ça parle. Deuxième : les chiffres. Troisième : ce que les chiffres veulent dire.</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ne mélange pas les trois. Chercher un pourcentage pendant qu'on cherche encore le sujet, c'est manquer les deux. Le début et la fin d'une émission valent une écoute à eux seuls : l'un annonce le plan, l'autre le résume.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REPORTAGE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trois questions de l'émission</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31443"/>
          </a:xfrm>
          <a:prstGeom prst="roundRect">
            <a:avLst>
              <a:gd name="adj" fmla="val 231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101756" cy="35712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ODILE</a:t>
            </a:r>
          </a:p>
        </p:txBody>
      </p:sp>
      <p:sp>
        <p:nvSpPr>
          <p:cNvPr id="10" name="TextBox 9"/>
          <p:cNvSpPr txBox="1"/>
          <p:nvPr/>
        </p:nvSpPr>
        <p:spPr>
          <a:xfrm>
            <a:off x="2034444" y="2322576"/>
            <a:ext cx="9041682" cy="35712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Bienvenue à la troisième émission de notre série sur les économies régionales.</a:t>
            </a:r>
          </a:p>
        </p:txBody>
      </p:sp>
      <p:sp>
        <p:nvSpPr>
          <p:cNvPr id="11" name="Rounded Rectangle 10"/>
          <p:cNvSpPr/>
          <p:nvPr/>
        </p:nvSpPr>
        <p:spPr>
          <a:xfrm>
            <a:off x="566928" y="2871724"/>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36316"/>
            <a:ext cx="1101756"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ODILE</a:t>
            </a:r>
          </a:p>
        </p:txBody>
      </p:sp>
      <p:sp>
        <p:nvSpPr>
          <p:cNvPr id="13" name="TextBox 12"/>
          <p:cNvSpPr txBox="1"/>
          <p:nvPr/>
        </p:nvSpPr>
        <p:spPr>
          <a:xfrm>
            <a:off x="2034444" y="3036316"/>
            <a:ext cx="9041682"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Aujourd'hui, le Saguenay–Lac-Saint-Jean. D'abord les chiffres, ensuite les gens qui embauchent.</a:t>
            </a:r>
          </a:p>
        </p:txBody>
      </p:sp>
      <p:sp>
        <p:nvSpPr>
          <p:cNvPr id="14" name="Rounded Rectangle 13"/>
          <p:cNvSpPr/>
          <p:nvPr/>
        </p:nvSpPr>
        <p:spPr>
          <a:xfrm>
            <a:off x="566928" y="3887723"/>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052315"/>
            <a:ext cx="1101756"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ODILE</a:t>
            </a:r>
          </a:p>
        </p:txBody>
      </p:sp>
      <p:sp>
        <p:nvSpPr>
          <p:cNvPr id="16" name="TextBox 15"/>
          <p:cNvSpPr txBox="1"/>
          <p:nvPr/>
        </p:nvSpPr>
        <p:spPr>
          <a:xfrm>
            <a:off x="2034444" y="4052315"/>
            <a:ext cx="9041682"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Et pour finir la question qui revient toujours : est-ce qu'on peut y refaire sa vie professionnelle ?</a:t>
            </a:r>
          </a:p>
        </p:txBody>
      </p:sp>
      <p:sp>
        <p:nvSpPr>
          <p:cNvPr id="17" name="Rounded Rectangle 16"/>
          <p:cNvSpPr/>
          <p:nvPr/>
        </p:nvSpPr>
        <p:spPr>
          <a:xfrm>
            <a:off x="566928" y="4903723"/>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068315"/>
            <a:ext cx="1101756"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ODILE</a:t>
            </a:r>
          </a:p>
        </p:txBody>
      </p:sp>
      <p:sp>
        <p:nvSpPr>
          <p:cNvPr id="19" name="TextBox 18"/>
          <p:cNvSpPr txBox="1"/>
          <p:nvPr/>
        </p:nvSpPr>
        <p:spPr>
          <a:xfrm>
            <a:off x="2034444" y="5068315"/>
            <a:ext cx="9041682"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Pour comprendre ce que ces chiffres veulent dire, j'ai demandé à Ghislain Néron, économiste régional.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REPORTAGE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chiffre le plus révélateur</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60858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9" name="TextBox 8"/>
          <p:cNvSpPr txBox="1"/>
          <p:nvPr/>
        </p:nvSpPr>
        <p:spPr>
          <a:xfrm>
            <a:off x="2541270" y="1901952"/>
            <a:ext cx="853485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premier chiffre à retenir n'est pas le plus gros, c'est le plus révélateur.</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60858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12" name="TextBox 11"/>
          <p:cNvSpPr txBox="1"/>
          <p:nvPr/>
        </p:nvSpPr>
        <p:spPr>
          <a:xfrm>
            <a:off x="2541270" y="2989072"/>
            <a:ext cx="853485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secteur primaire occupe quatre virgule deux pour cent de l'emploi régional. Ailleurs au Québec, deux pour cent.</a:t>
            </a:r>
          </a:p>
        </p:txBody>
      </p:sp>
      <p:sp>
        <p:nvSpPr>
          <p:cNvPr id="13" name="Rounded Rectangle 12"/>
          <p:cNvSpPr/>
          <p:nvPr/>
        </p:nvSpPr>
        <p:spPr>
          <a:xfrm>
            <a:off x="566928" y="391160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76191"/>
            <a:ext cx="160858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GHISLAIN</a:t>
            </a:r>
          </a:p>
        </p:txBody>
      </p:sp>
      <p:sp>
        <p:nvSpPr>
          <p:cNvPr id="15" name="TextBox 14"/>
          <p:cNvSpPr txBox="1"/>
          <p:nvPr/>
        </p:nvSpPr>
        <p:spPr>
          <a:xfrm>
            <a:off x="2541270" y="4076191"/>
            <a:ext cx="8534857"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Autrement dit, la région tire deux fois plus de son sol et de sa forêt que la moyenne.</a:t>
            </a:r>
          </a:p>
        </p:txBody>
      </p:sp>
      <p:sp>
        <p:nvSpPr>
          <p:cNvPr id="16" name="Rounded Rectangle 15"/>
          <p:cNvSpPr/>
          <p:nvPr/>
        </p:nvSpPr>
        <p:spPr>
          <a:xfrm>
            <a:off x="566928" y="499872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60858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ODILE</a:t>
            </a:r>
          </a:p>
        </p:txBody>
      </p:sp>
      <p:sp>
        <p:nvSpPr>
          <p:cNvPr id="18" name="TextBox 17"/>
          <p:cNvSpPr txBox="1"/>
          <p:nvPr/>
        </p:nvSpPr>
        <p:spPr>
          <a:xfrm>
            <a:off x="2541270" y="5163312"/>
            <a:ext cx="8534857"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la fabrication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REPORTAGE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Sur le terrain</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78022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ODILE</a:t>
            </a:r>
          </a:p>
        </p:txBody>
      </p:sp>
      <p:sp>
        <p:nvSpPr>
          <p:cNvPr id="9" name="TextBox 8"/>
          <p:cNvSpPr txBox="1"/>
          <p:nvPr/>
        </p:nvSpPr>
        <p:spPr>
          <a:xfrm>
            <a:off x="2712910" y="1901952"/>
            <a:ext cx="836321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Frédérick Gauthier-Simard dirige le laboratoire de contrôle d'Alumico, à Jonquière.</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78022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ODILE</a:t>
            </a:r>
          </a:p>
        </p:txBody>
      </p:sp>
      <p:sp>
        <p:nvSpPr>
          <p:cNvPr id="12" name="TextBox 11"/>
          <p:cNvSpPr txBox="1"/>
          <p:nvPr/>
        </p:nvSpPr>
        <p:spPr>
          <a:xfrm>
            <a:off x="2712910" y="2989072"/>
            <a:ext cx="836321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personnes travaillent dans votre laboratoire ?</a:t>
            </a:r>
          </a:p>
        </p:txBody>
      </p:sp>
      <p:sp>
        <p:nvSpPr>
          <p:cNvPr id="13" name="Rounded Rectangle 12"/>
          <p:cNvSpPr/>
          <p:nvPr/>
        </p:nvSpPr>
        <p:spPr>
          <a:xfrm>
            <a:off x="566928" y="35737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780222"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FRÉDÉRICK</a:t>
            </a:r>
          </a:p>
        </p:txBody>
      </p:sp>
      <p:sp>
        <p:nvSpPr>
          <p:cNvPr id="15" name="TextBox 14"/>
          <p:cNvSpPr txBox="1"/>
          <p:nvPr/>
        </p:nvSpPr>
        <p:spPr>
          <a:xfrm>
            <a:off x="2712910" y="3738371"/>
            <a:ext cx="836321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Sept. Nous devrions être neuf. J'ai deux postes affichés depuis février.</a:t>
            </a:r>
          </a:p>
        </p:txBody>
      </p:sp>
      <p:sp>
        <p:nvSpPr>
          <p:cNvPr id="16" name="Rounded Rectangle 15"/>
          <p:cNvSpPr/>
          <p:nvPr/>
        </p:nvSpPr>
        <p:spPr>
          <a:xfrm>
            <a:off x="566928" y="466089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825491"/>
            <a:ext cx="1780222"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FRÉDÉRICK</a:t>
            </a:r>
          </a:p>
        </p:txBody>
      </p:sp>
      <p:sp>
        <p:nvSpPr>
          <p:cNvPr id="18" name="TextBox 17"/>
          <p:cNvSpPr txBox="1"/>
          <p:nvPr/>
        </p:nvSpPr>
        <p:spPr>
          <a:xfrm>
            <a:off x="2712910" y="4825491"/>
            <a:ext cx="836321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je n'ai reçu que onze candidatures. Onze, en six mois.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parle, et à quel titre</a:t>
            </a:r>
          </a:p>
        </p:txBody>
      </p:sp>
      <p:sp>
        <p:nvSpPr>
          <p:cNvPr id="7" name="Rounded Rectangle 6"/>
          <p:cNvSpPr/>
          <p:nvPr/>
        </p:nvSpPr>
        <p:spPr>
          <a:xfrm>
            <a:off x="566928" y="1810512"/>
            <a:ext cx="11057839" cy="2694432"/>
          </a:xfrm>
          <a:prstGeom prst="roundRect">
            <a:avLst>
              <a:gd name="adj" fmla="val 542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PERSONNE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APPORTE</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Odile Pominville, journaliste</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plan, les questions, le résumé</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Ghislain Néron, économiste</a:t>
            </a:r>
          </a:p>
        </p:txBody>
      </p:sp>
      <p:sp>
        <p:nvSpPr>
          <p:cNvPr id="14" name="TextBox 13"/>
          <p:cNvSpPr txBox="1"/>
          <p:nvPr/>
        </p:nvSpPr>
        <p:spPr>
          <a:xfrm>
            <a:off x="4443636" y="316992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les chiffres, et leur comparaison</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Frédérick Gauthier-Simard, employeur</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ce qu'il vit dans son laboratoire</a:t>
            </a:r>
          </a:p>
        </p:txBody>
      </p:sp>
      <p:sp>
        <p:nvSpPr>
          <p:cNvPr id="18" name="Rounded Rectangle 17"/>
          <p:cNvSpPr/>
          <p:nvPr/>
        </p:nvSpPr>
        <p:spPr>
          <a:xfrm>
            <a:off x="566928" y="4742688"/>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998720"/>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Trois sources, trois natures d'information. Aucune ne remplace les autres.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Première écoute : 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chercher les chiffres.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L'émission porte sur le Saguenay–Lac-Saint-Jean.</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la première émission de la série.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Ghislain Néron est économiste régional.</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Frédérick Gauthier-Simard est propriétaire d'une scierie.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laboratoire d'Alumico se trouve à Jonquière.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l'économiste, la région est une région de bureaux.</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L'employeur conseille de téléphoner avant d'envoyer son curriculum vitæ.</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prochaine émission portera sur la Gaspésie.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Première écoute : 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L'émission porte sur le Saguenay–Lac-Saint-Jean.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la première émission de la série.   </a:t>
            </a:r>
            <a:r>
              <a:rPr sz="1400" b="1" i="0">
                <a:solidFill>
                  <a:srgbClr val="07734A"/>
                </a:solidFill>
                <a:latin typeface="Verdana"/>
              </a:rPr>
              <a:t>» faux - c'est la troisième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Ghislain Néron est économiste régional.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Frédérick Gauthier-Simard est propriétaire d'une scierie.   </a:t>
            </a:r>
            <a:r>
              <a:rPr sz="1400" b="1" i="0">
                <a:solidFill>
                  <a:srgbClr val="07734A"/>
                </a:solidFill>
                <a:latin typeface="Verdana"/>
              </a:rPr>
              <a:t>» faux - chef de laboratoire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laboratoire d'Alumico se trouve à Jonquière.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l'économiste, la région est une région de bureaux.   </a:t>
            </a:r>
            <a:r>
              <a:rPr sz="1400" b="1" i="0">
                <a:solidFill>
                  <a:srgbClr val="07734A"/>
                </a:solidFill>
                <a:latin typeface="Verdana"/>
              </a:rPr>
              <a:t>» faux - une région d'usines</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L'employeur conseille de téléphoner avant d'envoyer son curriculum vitæ.   </a:t>
            </a:r>
            <a:r>
              <a:rPr sz="1400" b="1" i="0">
                <a:solidFill>
                  <a:srgbClr val="07734A"/>
                </a:solidFill>
                <a:latin typeface="Verdana"/>
              </a:rPr>
              <a:t>» vrai</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prochaine émission portera sur la Gaspésie.   </a:t>
            </a:r>
            <a:r>
              <a:rPr sz="1400" b="1" i="0">
                <a:solidFill>
                  <a:srgbClr val="07734A"/>
                </a:solidFill>
                <a:latin typeface="Verdana"/>
              </a:rPr>
              <a:t>» faux - sur Chaudière-Appalaches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Après une seule écoute, qu'est-ce que vous avez retenu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Trois choses suffisent.</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Ne vous corrigez pas : écrivez ce que vous avez vraiment gardé.</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Chercher un emploi en région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