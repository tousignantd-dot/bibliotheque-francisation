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Dernière séance du Défi 2. Elle règle la deuxième grande cause de perte du fil dans un texte long, après la nominalisation de A4.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deuxième objectif est un geste de lecture, pas une règle : remonter d'un paragraphe. Le faire faire trois fois dans la séance.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Laisser chercher une bonne minute. La découverte qu'il n'y a rien à trouver est le cœur de la séance : plusieurs élèves relisent ce genre de phrase cinq fois en croyant s'être trompés.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Ajouter le « ils » du français parlé au Québec, prononcé [i] ou [j] : « Y ont fermé à cinq heures. » C'est du français standard, pas une négligence.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Exercice `t2ils` du module interactif. La dernière carte est la plus importante : « aucun nom n'est donné » est une réponse acceptable, et souvent la seule honnête.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à répéter avant le bloc D. Le « on » vague est encore plus fréquent que le « ils » dans les lettres d'élèves.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La troisième ligne fait la jonction avec A4 : la nominalisation sert aussi à reprendre.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Exercice `t2subst` du module interactif. Faire remarquer que la reprise est presque toujours un peu plus vague que le mot de départ : c'est normal, et c'est même son intérêt.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Exercice `t2deux` du module interactif. La dernière réponse ferme le Défi 2 : un portrait ne dit jamais le manque.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 de la feuille de comparaison commencée en C1. Elle devient le plan de l'exposé oral du bloc E : le dire maintenant, pour que personne ne la jette.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SÉANCE C4  ·  MODULE 3</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 Ils », et les mots qui reprennent</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L'usine a rouvert en mars. Ils ont investi douze millions. » Qui, « ils » ? Personne ne l'a dit — et vous n'avez rien manqué.</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Chercher un emploi en région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Chercher un emploi en région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un « ils » qui ne reprend aucun groupe nommé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chercher le référent dans le paragraphe, pas dans la phrase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repérer les quatre façons de reprendre un mot sans le répéter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achever sa feuille de comparaison à deux colonnes.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Chercher un emploi en région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qui renvoie « ils »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L'usine a rouvert en mars. Ils ont investi douze millions.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Cherchez le mot au pluriel dans la première phrase.</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Il n'y en a pas. Est-ce une faute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De qui parle-t-on, alors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Chercher un emploi en région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UN « ILS » PEUT N'AVOIR AUCUN ANTÉCÉDENT ÉCRIT</a:t>
            </a:r>
          </a:p>
        </p:txBody>
      </p:sp>
      <p:sp>
        <p:nvSpPr>
          <p:cNvPr id="6" name="Rounded Rectangle 5"/>
          <p:cNvSpPr/>
          <p:nvPr/>
        </p:nvSpPr>
        <p:spPr>
          <a:xfrm>
            <a:off x="566928" y="1225296"/>
            <a:ext cx="11057839" cy="2494788"/>
          </a:xfrm>
          <a:prstGeom prst="roundRect">
            <a:avLst>
              <a:gd name="adj" fmla="val 586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Il désigne alors les décideurs sans les nommer : l'entreprise, la direction, la municipalité, le gouvernement.</a:t>
            </a:r>
          </a:p>
        </p:txBody>
      </p:sp>
      <p:sp>
        <p:nvSpPr>
          <p:cNvPr id="8" name="Rounded Rectangle 7"/>
          <p:cNvSpPr/>
          <p:nvPr/>
        </p:nvSpPr>
        <p:spPr>
          <a:xfrm>
            <a:off x="566928" y="3994404"/>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C'est ce qu'on appelle un référent implicite. Le contexte tranche : si le paragraphe parle d'une usine, ce sont ses propriétaires ; s'il parle d'un budget, c'est le gouvernement. Et quand rien ne tranche, c'est que la phrase ne veut pas qu'on tranche.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Chercher un emploi en région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Retrouver le référent dans le paragraphe</a:t>
            </a:r>
          </a:p>
        </p:txBody>
      </p:sp>
      <p:sp>
        <p:nvSpPr>
          <p:cNvPr id="7" name="Rounded Rectangle 6"/>
          <p:cNvSpPr/>
          <p:nvPr/>
        </p:nvSpPr>
        <p:spPr>
          <a:xfrm>
            <a:off x="566928" y="1810512"/>
            <a:ext cx="11057839" cy="722376"/>
          </a:xfrm>
          <a:prstGeom prst="roundRect">
            <a:avLst>
              <a:gd name="adj" fmla="val 2025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10417759" cy="237236"/>
          </a:xfrm>
          <a:prstGeom prst="rect">
            <a:avLst/>
          </a:prstGeom>
          <a:noFill/>
        </p:spPr>
        <p:txBody>
          <a:bodyPr wrap="square" lIns="0" rIns="0" tIns="0" bIns="0" anchor="t">
            <a:spAutoFit/>
          </a:bodyPr>
          <a:lstStyle/>
          <a:p>
            <a:pPr algn="l">
              <a:lnSpc>
                <a:spcPct val="118000"/>
              </a:lnSpc>
            </a:pPr>
            <a:r>
              <a:rPr sz="1400" b="1" i="0">
                <a:solidFill>
                  <a:srgbClr val="0D7A6F"/>
                </a:solidFill>
                <a:latin typeface="Verdana"/>
              </a:rPr>
              <a:t>La direction a présenté son plan au conseil. Ils ont approuvé.</a:t>
            </a:r>
          </a:p>
        </p:txBody>
      </p:sp>
      <p:sp>
        <p:nvSpPr>
          <p:cNvPr id="9" name="TextBox 8"/>
          <p:cNvSpPr txBox="1"/>
          <p:nvPr/>
        </p:nvSpPr>
        <p:spPr>
          <a:xfrm>
            <a:off x="886968" y="2349500"/>
            <a:ext cx="10417759" cy="-90931"/>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le conseil</a:t>
            </a:r>
          </a:p>
        </p:txBody>
      </p:sp>
      <p:sp>
        <p:nvSpPr>
          <p:cNvPr id="10" name="Rounded Rectangle 9"/>
          <p:cNvSpPr/>
          <p:nvPr/>
        </p:nvSpPr>
        <p:spPr>
          <a:xfrm>
            <a:off x="566928" y="2697480"/>
            <a:ext cx="11057839" cy="722376"/>
          </a:xfrm>
          <a:prstGeom prst="roundRect">
            <a:avLst>
              <a:gd name="adj" fmla="val 2025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86968" y="2971800"/>
            <a:ext cx="10417759" cy="237236"/>
          </a:xfrm>
          <a:prstGeom prst="rect">
            <a:avLst/>
          </a:prstGeom>
          <a:noFill/>
        </p:spPr>
        <p:txBody>
          <a:bodyPr wrap="square" lIns="0" rIns="0" tIns="0" bIns="0" anchor="t">
            <a:spAutoFit/>
          </a:bodyPr>
          <a:lstStyle/>
          <a:p>
            <a:pPr algn="l">
              <a:lnSpc>
                <a:spcPct val="118000"/>
              </a:lnSpc>
            </a:pPr>
            <a:r>
              <a:rPr sz="1400" b="1" i="0">
                <a:solidFill>
                  <a:srgbClr val="0D7A6F"/>
                </a:solidFill>
                <a:latin typeface="Verdana"/>
              </a:rPr>
              <a:t>Le laboratoire compte sept personnes. Ils cherchent deux techniciens.</a:t>
            </a:r>
          </a:p>
        </p:txBody>
      </p:sp>
      <p:sp>
        <p:nvSpPr>
          <p:cNvPr id="12" name="TextBox 11"/>
          <p:cNvSpPr txBox="1"/>
          <p:nvPr/>
        </p:nvSpPr>
        <p:spPr>
          <a:xfrm>
            <a:off x="886968" y="3236468"/>
            <a:ext cx="10417759" cy="-90931"/>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le laboratoire, comme équipe</a:t>
            </a:r>
          </a:p>
        </p:txBody>
      </p:sp>
      <p:sp>
        <p:nvSpPr>
          <p:cNvPr id="13" name="Rounded Rectangle 12"/>
          <p:cNvSpPr/>
          <p:nvPr/>
        </p:nvSpPr>
        <p:spPr>
          <a:xfrm>
            <a:off x="566928" y="3584448"/>
            <a:ext cx="11057839" cy="722376"/>
          </a:xfrm>
          <a:prstGeom prst="roundRect">
            <a:avLst>
              <a:gd name="adj" fmla="val 2025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3858768"/>
            <a:ext cx="10417759" cy="237236"/>
          </a:xfrm>
          <a:prstGeom prst="rect">
            <a:avLst/>
          </a:prstGeom>
          <a:noFill/>
        </p:spPr>
        <p:txBody>
          <a:bodyPr wrap="square" lIns="0" rIns="0" tIns="0" bIns="0" anchor="t">
            <a:spAutoFit/>
          </a:bodyPr>
          <a:lstStyle/>
          <a:p>
            <a:pPr algn="l">
              <a:lnSpc>
                <a:spcPct val="118000"/>
              </a:lnSpc>
            </a:pPr>
            <a:r>
              <a:rPr sz="1400" b="1" i="0">
                <a:solidFill>
                  <a:srgbClr val="0D7A6F"/>
                </a:solidFill>
                <a:latin typeface="Verdana"/>
              </a:rPr>
              <a:t>Le gouvernement a publié le portrait. Ils y donnent le PIB.</a:t>
            </a:r>
          </a:p>
        </p:txBody>
      </p:sp>
      <p:sp>
        <p:nvSpPr>
          <p:cNvPr id="15" name="TextBox 14"/>
          <p:cNvSpPr txBox="1"/>
          <p:nvPr/>
        </p:nvSpPr>
        <p:spPr>
          <a:xfrm>
            <a:off x="886968" y="4123436"/>
            <a:ext cx="10417759" cy="-90931"/>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le gouvernement</a:t>
            </a:r>
          </a:p>
        </p:txBody>
      </p:sp>
      <p:sp>
        <p:nvSpPr>
          <p:cNvPr id="16" name="Rounded Rectangle 15"/>
          <p:cNvSpPr/>
          <p:nvPr/>
        </p:nvSpPr>
        <p:spPr>
          <a:xfrm>
            <a:off x="566928" y="4471416"/>
            <a:ext cx="11057839" cy="722376"/>
          </a:xfrm>
          <a:prstGeom prst="roundRect">
            <a:avLst>
              <a:gd name="adj" fmla="val 2025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86968" y="4745736"/>
            <a:ext cx="10417759" cy="237236"/>
          </a:xfrm>
          <a:prstGeom prst="rect">
            <a:avLst/>
          </a:prstGeom>
          <a:noFill/>
        </p:spPr>
        <p:txBody>
          <a:bodyPr wrap="square" lIns="0" rIns="0" tIns="0" bIns="0" anchor="t">
            <a:spAutoFit/>
          </a:bodyPr>
          <a:lstStyle/>
          <a:p>
            <a:pPr algn="l">
              <a:lnSpc>
                <a:spcPct val="118000"/>
              </a:lnSpc>
            </a:pPr>
            <a:r>
              <a:rPr sz="1400" b="1" i="0">
                <a:solidFill>
                  <a:srgbClr val="0D7A6F"/>
                </a:solidFill>
                <a:latin typeface="Verdana"/>
              </a:rPr>
              <a:t>Elle a appelé les ressources humaines. Ils ont demandé son dossier.</a:t>
            </a:r>
          </a:p>
        </p:txBody>
      </p:sp>
      <p:sp>
        <p:nvSpPr>
          <p:cNvPr id="18" name="TextBox 17"/>
          <p:cNvSpPr txBox="1"/>
          <p:nvPr/>
        </p:nvSpPr>
        <p:spPr>
          <a:xfrm>
            <a:off x="886968" y="5010404"/>
            <a:ext cx="10417759" cy="-90931"/>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le service des ressources humaines</a:t>
            </a:r>
          </a:p>
        </p:txBody>
      </p:sp>
      <p:sp>
        <p:nvSpPr>
          <p:cNvPr id="19" name="Rounded Rectangle 18"/>
          <p:cNvSpPr/>
          <p:nvPr/>
        </p:nvSpPr>
        <p:spPr>
          <a:xfrm>
            <a:off x="566928" y="5358383"/>
            <a:ext cx="11057839" cy="722376"/>
          </a:xfrm>
          <a:prstGeom prst="roundRect">
            <a:avLst>
              <a:gd name="adj" fmla="val 2025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86968" y="5632703"/>
            <a:ext cx="10417759" cy="237236"/>
          </a:xfrm>
          <a:prstGeom prst="rect">
            <a:avLst/>
          </a:prstGeom>
          <a:noFill/>
        </p:spPr>
        <p:txBody>
          <a:bodyPr wrap="square" lIns="0" rIns="0" tIns="0" bIns="0" anchor="t">
            <a:spAutoFit/>
          </a:bodyPr>
          <a:lstStyle/>
          <a:p>
            <a:pPr algn="l">
              <a:lnSpc>
                <a:spcPct val="118000"/>
              </a:lnSpc>
            </a:pPr>
            <a:r>
              <a:rPr sz="1400" b="1" i="0">
                <a:solidFill>
                  <a:srgbClr val="0D7A6F"/>
                </a:solidFill>
                <a:latin typeface="Verdana"/>
              </a:rPr>
              <a:t>Le budget a été voté en avril. Ils avaient promis un centre.</a:t>
            </a:r>
          </a:p>
        </p:txBody>
      </p:sp>
      <p:sp>
        <p:nvSpPr>
          <p:cNvPr id="21" name="TextBox 20"/>
          <p:cNvSpPr txBox="1"/>
          <p:nvPr/>
        </p:nvSpPr>
        <p:spPr>
          <a:xfrm>
            <a:off x="886968" y="5897372"/>
            <a:ext cx="10417759" cy="-90931"/>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des élus — aucun nom n'est donné</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Chercher un emploi en région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ÉCRITURE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 ils m'ont demandé de former deux techniciennes »</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 la direction m'a demandé de former deux techniciennes »</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 flou est permis au journaliste, dont le sujet est le fait. Dans une lettre de candidature, il laisse penser que vous ne savez pas qui vous employait. Précision et responsabilité vont ensemble ; c'est vrai aussi de « on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Chercher un emploi en région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façons de reprendre un mot</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PROCÉDÉ</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MOT, PUIS SA REPRISE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Synonyme</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une usine, une fabrique</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Mot générique</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l'aluminium, ce métal</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Nominalisation</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on a embauché, cette embauche</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Périphrase</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Saguenay, cette région du nord du fleuve</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Le signal le plus fiable : un « ce » ou un « cette » devant un mot très général.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Chercher un emploi en région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LECTURE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Qu'est-ce qui reprend quoi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Associez le mot et sa reprise.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l'aluminium</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Saguenay–Lac-Saint-Jean</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l'usine de Jonquière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on a embauché douze personnes</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techniciennes et les techniciens</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transformation du bois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Chercher un emploi en région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Qu'est-ce qui reprend quoi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l'aluminium   </a:t>
            </a:r>
            <a:r>
              <a:rPr sz="1400" b="1" i="0">
                <a:solidFill>
                  <a:srgbClr val="07734A"/>
                </a:solidFill>
                <a:latin typeface="Verdana"/>
              </a:rPr>
              <a:t>» ce métal</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Saguenay–Lac-Saint-Jean   </a:t>
            </a:r>
            <a:r>
              <a:rPr sz="1400" b="1" i="0">
                <a:solidFill>
                  <a:srgbClr val="07734A"/>
                </a:solidFill>
                <a:latin typeface="Verdana"/>
              </a:rPr>
              <a:t>» cette région du nord du fleuve</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l'usine de Jonquière   </a:t>
            </a:r>
            <a:r>
              <a:rPr sz="1400" b="1" i="0">
                <a:solidFill>
                  <a:srgbClr val="07734A"/>
                </a:solidFill>
                <a:latin typeface="Verdana"/>
              </a:rPr>
              <a:t>» l'établissement</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on a embauché douze personnes   </a:t>
            </a:r>
            <a:r>
              <a:rPr sz="1400" b="1" i="0">
                <a:solidFill>
                  <a:srgbClr val="07734A"/>
                </a:solidFill>
                <a:latin typeface="Verdana"/>
              </a:rPr>
              <a:t>» cette embauche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techniciennes et les techniciens   </a:t>
            </a:r>
            <a:r>
              <a:rPr sz="1400" b="1" i="0">
                <a:solidFill>
                  <a:srgbClr val="07734A"/>
                </a:solidFill>
                <a:latin typeface="Verdana"/>
              </a:rPr>
              <a:t>» ce personnel spécialisé</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transformation du bois   </a:t>
            </a:r>
            <a:r>
              <a:rPr sz="1400" b="1" i="0">
                <a:solidFill>
                  <a:srgbClr val="07734A"/>
                </a:solidFill>
                <a:latin typeface="Verdana"/>
              </a:rPr>
              <a:t>» cette activité</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Chercher un emploi en région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Achevez la comparaison</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Complétez d'après le portrait et le dialogue.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Saguenay transforme surtout des ressources ___ .</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Chaudière-Appalaches transforme surtout des ___ et du métal ouvré.</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secteur primaire du Saguenay pèse ___ fois la moyenne québécoise.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construction y occupe 8,9 %, contre ___ % au Québec.</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services y représentent plus des trois ___ de l'emploi.</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Pour savoir s'il manque de la main-d'œuvre, il faut consulter ___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Chercher un emploi en région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Achevez la comparaison</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Saguenay transforme surtout des ressources ___ .   </a:t>
            </a:r>
            <a:r>
              <a:rPr sz="1400" b="1" i="0">
                <a:solidFill>
                  <a:srgbClr val="07734A"/>
                </a:solidFill>
                <a:latin typeface="Verdana"/>
              </a:rPr>
              <a:t>» naturelles</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Chaudière-Appalaches transforme surtout des ___ et du métal ouvré.   </a:t>
            </a:r>
            <a:r>
              <a:rPr sz="1400" b="1" i="0">
                <a:solidFill>
                  <a:srgbClr val="07734A"/>
                </a:solidFill>
                <a:latin typeface="Verdana"/>
              </a:rPr>
              <a:t>» aliments</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secteur primaire du Saguenay pèse ___ fois la moyenne québécoise.   </a:t>
            </a:r>
            <a:r>
              <a:rPr sz="1400" b="1" i="0">
                <a:solidFill>
                  <a:srgbClr val="07734A"/>
                </a:solidFill>
                <a:latin typeface="Verdana"/>
              </a:rPr>
              <a:t>» deux</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construction y occupe 8,9 %, contre ___ % au Québec.   </a:t>
            </a:r>
            <a:r>
              <a:rPr sz="1400" b="1" i="0">
                <a:solidFill>
                  <a:srgbClr val="07734A"/>
                </a:solidFill>
                <a:latin typeface="Verdana"/>
              </a:rPr>
              <a:t>» 7,0</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services y représentent plus des trois ___ de l'emploi.   </a:t>
            </a:r>
            <a:r>
              <a:rPr sz="1400" b="1" i="0">
                <a:solidFill>
                  <a:srgbClr val="07734A"/>
                </a:solidFill>
                <a:latin typeface="Verdana"/>
              </a:rPr>
              <a:t>» quarts</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Pour savoir s'il manque de la main-d'œuvre, il faut consulter ___ .   </a:t>
            </a:r>
            <a:r>
              <a:rPr sz="1400" b="1" i="0">
                <a:solidFill>
                  <a:srgbClr val="07734A"/>
                </a:solidFill>
                <a:latin typeface="Verdana"/>
              </a:rPr>
              <a:t>» IMT en ligne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Chercher un emploi en région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Troisième ligne de votre feuille : votre famille pourrait-elle vivre dans cette région ?</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Aucun document ne répondra à votre place.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Écrivez ce qui vous retient, et ce qui vous attire.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Chercher un emploi en région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