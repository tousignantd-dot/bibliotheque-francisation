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avant « Je me lance ». Elle porte sur des panneaux que le groupe comprend déjà : la difficulté est dans les mots, pas dans le sens.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Ils répondront tous juste, et vite. Le souligner : ils savent déjà lire ces panneaux-là. C'est encourageant, et c'est vrai.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la règle de la séance et elle tient en une image.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souligner les deux petits groupes de mots au cahier, en rouge.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Rapide, à main levée avant d'écrire. Même exercice que sur l'écran.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puis faire montrer chacun des quatre dans le corridor. Ils existent tous dans le bâtiment.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dire sans dramatiser. Plusieurs élèves ne savent pas du tout à quoi sert cette porte, et personne ne leur a jamais expliqué.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Information pratique, souvent inconnue et souvent source de reproches. Montrer où l'on peut fumer, dehors, au sortir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Sert d'entrée à la production écrite de E1, qui demande au moins un panneau d'interdiction.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C2  ·  MODULE 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 barre rouge</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rond rouge barré, et c'est non — dans le monde entier. Les deux mots écrits à côté ne font que le répéter.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Je lis les panneaux du centre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si un panneau permet ou interdit quelque chose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 défense de » et « ne… pas »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SORTIE DE SECOURS et SILENCE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où l'on peut fumer, et où l'on ne peut pas.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Permis, ou interdit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cigarette dans un rond rouge barré.</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chien dans un rond rouge barré.</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fontaine d'eau, sans barre.</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le savez-vous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LA BARRE ROUGE VEUT DIRE NON</a:t>
            </a:r>
          </a:p>
        </p:txBody>
      </p:sp>
      <p:sp>
        <p:nvSpPr>
          <p:cNvPr id="6" name="Rounded Rectangle 5"/>
          <p:cNvSpPr/>
          <p:nvPr/>
        </p:nvSpPr>
        <p:spPr>
          <a:xfrm>
            <a:off x="566928" y="1225296"/>
            <a:ext cx="11057839" cy="1441196"/>
          </a:xfrm>
          <a:prstGeom prst="roundRect">
            <a:avLst>
              <a:gd name="adj" fmla="val 10151"/>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Sans barre, c'est permis.</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dessin </a:t>
            </a:r>
            <a:r>
              <a:rPr sz="2000" b="1" i="0">
                <a:solidFill>
                  <a:srgbClr val="4B4F52"/>
                </a:solidFill>
                <a:latin typeface="Verdana"/>
              </a:rPr>
              <a:t>seul</a:t>
            </a:r>
            <a:r>
              <a:rPr sz="2000" b="0" i="0">
                <a:solidFill>
                  <a:srgbClr val="4B4F52"/>
                </a:solidFill>
                <a:latin typeface="Verdana"/>
              </a:rPr>
              <a:t> montre ce qu'on peut faire. Un dessin </a:t>
            </a:r>
            <a:r>
              <a:rPr sz="2000" b="1" i="0">
                <a:solidFill>
                  <a:srgbClr val="4B4F52"/>
                </a:solidFill>
                <a:latin typeface="Verdana"/>
              </a:rPr>
              <a:t>barré de rouge</a:t>
            </a:r>
            <a:r>
              <a:rPr sz="2000" b="0" i="0">
                <a:solidFill>
                  <a:srgbClr val="4B4F52"/>
                </a:solidFill>
                <a:latin typeface="Verdana"/>
              </a:rPr>
              <a:t> montre ce qu'on ne fait pas. Ce signe se comprend partout dans le monde, sans un seul mot.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deux façons d'écrire non</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SUR LE PANNEAU</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ÇA VEUT DIRE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DÉFENSE DE FUMER</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on ne fume pas ici</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NE PAS ENTRER</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on n'entre pas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SILENCE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on ne parle pas fort</a:t>
            </a:r>
          </a:p>
        </p:txBody>
      </p:sp>
      <p:sp>
        <p:nvSpPr>
          <p:cNvPr id="18" name="Rounded Rectangle 17"/>
          <p:cNvSpPr/>
          <p:nvPr/>
        </p:nvSpPr>
        <p:spPr>
          <a:xfrm>
            <a:off x="566928" y="4306824"/>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4562856"/>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 défense de » et « ne… pas » : dès qu'on les voit, c'est non.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Permis ou interdit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Lisez le panneau, puis répondez.</a:t>
            </a:r>
          </a:p>
        </p:txBody>
      </p:sp>
      <p:sp>
        <p:nvSpPr>
          <p:cNvPr id="8" name="Rounded Rectangle 7"/>
          <p:cNvSpPr/>
          <p:nvPr/>
        </p:nvSpPr>
        <p:spPr>
          <a:xfrm>
            <a:off x="566928"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cigarette avec une barre rouge.</a:t>
            </a:r>
          </a:p>
        </p:txBody>
      </p:sp>
      <p:sp>
        <p:nvSpPr>
          <p:cNvPr id="12" name="Rounded Rectangle 11"/>
          <p:cNvSpPr/>
          <p:nvPr/>
        </p:nvSpPr>
        <p:spPr>
          <a:xfrm>
            <a:off x="6159855"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ENTREZ</a:t>
            </a:r>
          </a:p>
        </p:txBody>
      </p:sp>
      <p:sp>
        <p:nvSpPr>
          <p:cNvPr id="16" name="Rounded Rectangle 15"/>
          <p:cNvSpPr/>
          <p:nvPr/>
        </p:nvSpPr>
        <p:spPr>
          <a:xfrm>
            <a:off x="566928"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DÉFENSE DE FUMER</a:t>
            </a:r>
          </a:p>
        </p:txBody>
      </p:sp>
      <p:sp>
        <p:nvSpPr>
          <p:cNvPr id="20" name="Rounded Rectangle 19"/>
          <p:cNvSpPr/>
          <p:nvPr/>
        </p:nvSpPr>
        <p:spPr>
          <a:xfrm>
            <a:off x="6159855"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NE PAS ENTRER</a:t>
            </a:r>
          </a:p>
        </p:txBody>
      </p:sp>
      <p:sp>
        <p:nvSpPr>
          <p:cNvPr id="24" name="Rounded Rectangle 23"/>
          <p:cNvSpPr/>
          <p:nvPr/>
        </p:nvSpPr>
        <p:spPr>
          <a:xfrm>
            <a:off x="566928"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verre d'eau, sans barre.</a:t>
            </a:r>
          </a:p>
        </p:txBody>
      </p:sp>
      <p:sp>
        <p:nvSpPr>
          <p:cNvPr id="28" name="Rounded Rectangle 27"/>
          <p:cNvSpPr/>
          <p:nvPr/>
        </p:nvSpPr>
        <p:spPr>
          <a:xfrm>
            <a:off x="6159855"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chien avec une barre rouge.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Permis ou interdit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cigarette avec une barre rouge.   </a:t>
            </a:r>
            <a:r>
              <a:rPr sz="1900" b="1" i="0">
                <a:solidFill>
                  <a:srgbClr val="07734A"/>
                </a:solidFill>
                <a:latin typeface="Verdana"/>
              </a:rPr>
              <a:t>» interdit</a:t>
            </a:r>
          </a:p>
        </p:txBody>
      </p:sp>
      <p:sp>
        <p:nvSpPr>
          <p:cNvPr id="12" name="Rounded Rectangle 11"/>
          <p:cNvSpPr/>
          <p:nvPr/>
        </p:nvSpPr>
        <p:spPr>
          <a:xfrm>
            <a:off x="6159855"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ENTREZ   </a:t>
            </a:r>
            <a:r>
              <a:rPr sz="1900" b="1" i="0">
                <a:solidFill>
                  <a:srgbClr val="07734A"/>
                </a:solidFill>
                <a:latin typeface="Verdana"/>
              </a:rPr>
              <a:t>» permis</a:t>
            </a:r>
          </a:p>
        </p:txBody>
      </p:sp>
      <p:sp>
        <p:nvSpPr>
          <p:cNvPr id="16" name="Rounded Rectangle 15"/>
          <p:cNvSpPr/>
          <p:nvPr/>
        </p:nvSpPr>
        <p:spPr>
          <a:xfrm>
            <a:off x="566928"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DÉFENSE DE FUMER   </a:t>
            </a:r>
            <a:r>
              <a:rPr sz="1900" b="1" i="0">
                <a:solidFill>
                  <a:srgbClr val="07734A"/>
                </a:solidFill>
                <a:latin typeface="Verdana"/>
              </a:rPr>
              <a:t>» interdit</a:t>
            </a:r>
          </a:p>
        </p:txBody>
      </p:sp>
      <p:sp>
        <p:nvSpPr>
          <p:cNvPr id="20" name="Rounded Rectangle 19"/>
          <p:cNvSpPr/>
          <p:nvPr/>
        </p:nvSpPr>
        <p:spPr>
          <a:xfrm>
            <a:off x="6159855"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NE PAS ENTRER   </a:t>
            </a:r>
            <a:r>
              <a:rPr sz="1900" b="1" i="0">
                <a:solidFill>
                  <a:srgbClr val="07734A"/>
                </a:solidFill>
                <a:latin typeface="Verdana"/>
              </a:rPr>
              <a:t>» interdit</a:t>
            </a:r>
          </a:p>
        </p:txBody>
      </p:sp>
      <p:sp>
        <p:nvSpPr>
          <p:cNvPr id="24" name="Rounded Rectangle 23"/>
          <p:cNvSpPr/>
          <p:nvPr/>
        </p:nvSpPr>
        <p:spPr>
          <a:xfrm>
            <a:off x="566928"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verre d'eau, sans barre.   </a:t>
            </a:r>
            <a:r>
              <a:rPr sz="1900" b="1" i="0">
                <a:solidFill>
                  <a:srgbClr val="07734A"/>
                </a:solidFill>
                <a:latin typeface="Verdana"/>
              </a:rPr>
              <a:t>» permis</a:t>
            </a:r>
          </a:p>
        </p:txBody>
      </p:sp>
      <p:sp>
        <p:nvSpPr>
          <p:cNvPr id="28" name="Rounded Rectangle 27"/>
          <p:cNvSpPr/>
          <p:nvPr/>
        </p:nvSpPr>
        <p:spPr>
          <a:xfrm>
            <a:off x="6159855"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chien avec une barre rouge.   </a:t>
            </a:r>
            <a:r>
              <a:rPr sz="1900" b="1" i="0">
                <a:solidFill>
                  <a:srgbClr val="07734A"/>
                </a:solidFill>
                <a:latin typeface="Verdana"/>
              </a:rPr>
              <a:t>» interdit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panneaux à connaître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836449"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 sortie de secours</a:t>
            </a:r>
          </a:p>
        </p:txBody>
      </p:sp>
      <p:sp>
        <p:nvSpPr>
          <p:cNvPr id="9" name="TextBox 8"/>
          <p:cNvSpPr txBox="1"/>
          <p:nvPr/>
        </p:nvSpPr>
        <p:spPr>
          <a:xfrm>
            <a:off x="4043457" y="2121408"/>
            <a:ext cx="7215549"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porte verte, pour partir vite</a:t>
            </a:r>
          </a:p>
        </p:txBody>
      </p:sp>
      <p:sp>
        <p:nvSpPr>
          <p:cNvPr id="10" name="Rectangle 9"/>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106674"/>
            <a:ext cx="2836449"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défense de fumer</a:t>
            </a:r>
          </a:p>
        </p:txBody>
      </p:sp>
      <p:sp>
        <p:nvSpPr>
          <p:cNvPr id="12" name="TextBox 11"/>
          <p:cNvSpPr txBox="1"/>
          <p:nvPr/>
        </p:nvSpPr>
        <p:spPr>
          <a:xfrm>
            <a:off x="4043457" y="3106674"/>
            <a:ext cx="7215549"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on ne fume pas ici</a:t>
            </a:r>
          </a:p>
        </p:txBody>
      </p:sp>
      <p:sp>
        <p:nvSpPr>
          <p:cNvPr id="13" name="Rectangle 12"/>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91939"/>
            <a:ext cx="2836449"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poussez</a:t>
            </a:r>
          </a:p>
        </p:txBody>
      </p:sp>
      <p:sp>
        <p:nvSpPr>
          <p:cNvPr id="15" name="TextBox 14"/>
          <p:cNvSpPr txBox="1"/>
          <p:nvPr/>
        </p:nvSpPr>
        <p:spPr>
          <a:xfrm>
            <a:off x="4043457" y="4091939"/>
            <a:ext cx="7215549"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porte s'ouvre de l'autre côté</a:t>
            </a:r>
          </a:p>
        </p:txBody>
      </p:sp>
      <p:sp>
        <p:nvSpPr>
          <p:cNvPr id="16" name="Rectangle 15"/>
          <p:cNvSpPr/>
          <p:nvPr/>
        </p:nvSpPr>
        <p:spPr>
          <a:xfrm>
            <a:off x="932688" y="493090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077205"/>
            <a:ext cx="2836449"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tirez</a:t>
            </a:r>
          </a:p>
        </p:txBody>
      </p:sp>
      <p:sp>
        <p:nvSpPr>
          <p:cNvPr id="18" name="TextBox 17"/>
          <p:cNvSpPr txBox="1"/>
          <p:nvPr/>
        </p:nvSpPr>
        <p:spPr>
          <a:xfrm>
            <a:off x="4043457" y="5077205"/>
            <a:ext cx="7215549"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porte s'ouvre vers moi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OUVRIR LA SORTIE DE SECOURS POUR ALLER PLUS VITE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porte verte est plus près.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On prend la sortie ordinaire.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porte verte ne s'ouvre qu'en cas de danger. Le reste du temps, une alarme part et tout le bâtiment sort dehors. Ce n'est pas une amende, c'est un dérangement pour deux cents personnes.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OÙ PEUT-ON FUMER ?</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Pas dans le bâtiment, pas devant la porte.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Au Québec, il est interdit de fumer dans tous les bâtiments publics, et à moins de </a:t>
            </a:r>
            <a:r>
              <a:rPr sz="2000" b="1" i="0">
                <a:solidFill>
                  <a:srgbClr val="4B4F52"/>
                </a:solidFill>
                <a:latin typeface="Verdana"/>
              </a:rPr>
              <a:t>neuf mètres</a:t>
            </a:r>
            <a:r>
              <a:rPr sz="2000" b="0" i="0">
                <a:solidFill>
                  <a:srgbClr val="4B4F52"/>
                </a:solidFill>
                <a:latin typeface="Verdana"/>
              </a:rPr>
              <a:t> d'une porte. C'est la loi, pas une règle du centre.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Dessinez un panneau qui interdit quelque chose.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Le dessin, avec la barre rouge.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Écrivez en dessous : c'est interdit.</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