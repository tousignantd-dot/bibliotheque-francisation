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Première séance du Défi 1. Faire relire le billet de A3 avant de commencer : les quatre premiers mots y sont déjà.</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Frapper les syllabes dans les mains en les disant. Le geste aide plus que l'explication à ce stade.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point à faire entendre : Rosa ne lit pas le mot d'un coup, elle le coupe en morceaux. C'est la bonne méthode, pas un échec.</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Rosa se trompe et personne n'en fait un drame. Le dire : se tromper de porte est la chose la plus normale du monde dans un bâtiment neuf.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découper trois mots au tableau, avec des traits, par des élèves différents.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répéter avec le petit mot. Puis faire dire à chacun l'endroit qu'il a déjà trouvé tout seul dans le centre.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Quatre énoncés. Faire relire le dialogue avant de corriger.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Même exercice que dans l'activité interactive. Le faire d'abord à l'oral, au tableau, avant qu'ils l'ouvrent à l'écran.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Ce billet nourrit directement la production écrite de E1.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SÉANCE B1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Le mot sur la porte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mots à reconnaître d'un coup d'œil. Ce sont ceux qui sont écrits sur les portes de tous les centres du Québec.</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Je lis les panneaux du centre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lire six noms de lieux écrits sur une porte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ce qu'on fait à chacun de ces endroits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comprendre une réponse « oui, c'est ici » ou « non, ce n'est pas ici »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décoder un mot long syllabe par syllabe.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Ca-fé-té-ria</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de morceaux entendez-vous dans ce mot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dans « toilettes »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Et dans « service de garde »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1D6B8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Lequel est le plus long à lire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C'est écrit sur la porte</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deux fois avant de lire.</a:t>
            </a:r>
          </a:p>
        </p:txBody>
      </p:sp>
      <p:sp>
        <p:nvSpPr>
          <p:cNvPr id="8" name="Rounded Rectangle 7"/>
          <p:cNvSpPr/>
          <p:nvPr/>
        </p:nvSpPr>
        <p:spPr>
          <a:xfrm>
            <a:off x="566928" y="21579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1001363"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ROSA</a:t>
            </a:r>
          </a:p>
        </p:txBody>
      </p:sp>
      <p:sp>
        <p:nvSpPr>
          <p:cNvPr id="10" name="TextBox 9"/>
          <p:cNvSpPr txBox="1"/>
          <p:nvPr/>
        </p:nvSpPr>
        <p:spPr>
          <a:xfrm>
            <a:off x="1934051" y="2322576"/>
            <a:ext cx="9142075"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Kofi, c'est quoi, ici ?</a:t>
            </a:r>
          </a:p>
        </p:txBody>
      </p:sp>
      <p:sp>
        <p:nvSpPr>
          <p:cNvPr id="11" name="Rounded Rectangle 10"/>
          <p:cNvSpPr/>
          <p:nvPr/>
        </p:nvSpPr>
        <p:spPr>
          <a:xfrm>
            <a:off x="566928" y="28183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2982976"/>
            <a:ext cx="1001363"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KOFI</a:t>
            </a:r>
          </a:p>
        </p:txBody>
      </p:sp>
      <p:sp>
        <p:nvSpPr>
          <p:cNvPr id="13" name="TextBox 12"/>
          <p:cNvSpPr txBox="1"/>
          <p:nvPr/>
        </p:nvSpPr>
        <p:spPr>
          <a:xfrm>
            <a:off x="1934051" y="2982976"/>
            <a:ext cx="9142075"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Lis le mot. C-A-F-É…</a:t>
            </a:r>
          </a:p>
        </p:txBody>
      </p:sp>
      <p:sp>
        <p:nvSpPr>
          <p:cNvPr id="14" name="Rounded Rectangle 13"/>
          <p:cNvSpPr/>
          <p:nvPr/>
        </p:nvSpPr>
        <p:spPr>
          <a:xfrm>
            <a:off x="566928" y="34787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643376"/>
            <a:ext cx="1001363"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ROSA</a:t>
            </a:r>
          </a:p>
        </p:txBody>
      </p:sp>
      <p:sp>
        <p:nvSpPr>
          <p:cNvPr id="16" name="TextBox 15"/>
          <p:cNvSpPr txBox="1"/>
          <p:nvPr/>
        </p:nvSpPr>
        <p:spPr>
          <a:xfrm>
            <a:off x="1934051" y="3643376"/>
            <a:ext cx="9142075"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Ca-fé-té-ria. La cafétéria !</a:t>
            </a:r>
          </a:p>
        </p:txBody>
      </p:sp>
      <p:sp>
        <p:nvSpPr>
          <p:cNvPr id="17" name="Rounded Rectangle 16"/>
          <p:cNvSpPr/>
          <p:nvPr/>
        </p:nvSpPr>
        <p:spPr>
          <a:xfrm>
            <a:off x="566928" y="4139183"/>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303775"/>
            <a:ext cx="1001363"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KOFI</a:t>
            </a:r>
          </a:p>
        </p:txBody>
      </p:sp>
      <p:sp>
        <p:nvSpPr>
          <p:cNvPr id="19" name="TextBox 18"/>
          <p:cNvSpPr txBox="1"/>
          <p:nvPr/>
        </p:nvSpPr>
        <p:spPr>
          <a:xfrm>
            <a:off x="1934051" y="4303775"/>
            <a:ext cx="9142075"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Oui. On mange ici, à midi.</a:t>
            </a:r>
          </a:p>
        </p:txBody>
      </p:sp>
      <p:sp>
        <p:nvSpPr>
          <p:cNvPr id="20" name="Rounded Rectangle 19"/>
          <p:cNvSpPr/>
          <p:nvPr/>
        </p:nvSpPr>
        <p:spPr>
          <a:xfrm>
            <a:off x="566928" y="47995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964176"/>
            <a:ext cx="1001363"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ROSA</a:t>
            </a:r>
          </a:p>
        </p:txBody>
      </p:sp>
      <p:sp>
        <p:nvSpPr>
          <p:cNvPr id="22" name="TextBox 21"/>
          <p:cNvSpPr txBox="1"/>
          <p:nvPr/>
        </p:nvSpPr>
        <p:spPr>
          <a:xfrm>
            <a:off x="1934051" y="4964176"/>
            <a:ext cx="9142075"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Et là ? Il y a un dessin d'enfant.</a:t>
            </a:r>
          </a:p>
        </p:txBody>
      </p:sp>
      <p:sp>
        <p:nvSpPr>
          <p:cNvPr id="23" name="Rounded Rectangle 22"/>
          <p:cNvSpPr/>
          <p:nvPr/>
        </p:nvSpPr>
        <p:spPr>
          <a:xfrm>
            <a:off x="566928" y="5459984"/>
            <a:ext cx="11057839" cy="578104"/>
          </a:xfrm>
          <a:prstGeom prst="roundRect">
            <a:avLst>
              <a:gd name="adj" fmla="val 25307"/>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2688" y="5624576"/>
            <a:ext cx="1001363" cy="303784"/>
          </a:xfrm>
          <a:prstGeom prst="rect">
            <a:avLst/>
          </a:prstGeom>
          <a:noFill/>
        </p:spPr>
        <p:txBody>
          <a:bodyPr wrap="square" lIns="0" rIns="0" tIns="0" bIns="0" anchor="t">
            <a:spAutoFit/>
          </a:bodyPr>
          <a:lstStyle/>
          <a:p>
            <a:pPr algn="l">
              <a:lnSpc>
                <a:spcPct val="135000"/>
              </a:lnSpc>
            </a:pPr>
            <a:r>
              <a:rPr sz="1400" b="1" i="0">
                <a:solidFill>
                  <a:srgbClr val="1D6B8F"/>
                </a:solidFill>
                <a:latin typeface="Verdana"/>
              </a:rPr>
              <a:t>KOFI</a:t>
            </a:r>
          </a:p>
        </p:txBody>
      </p:sp>
      <p:sp>
        <p:nvSpPr>
          <p:cNvPr id="25" name="TextBox 24"/>
          <p:cNvSpPr txBox="1"/>
          <p:nvPr/>
        </p:nvSpPr>
        <p:spPr>
          <a:xfrm>
            <a:off x="1934051" y="5624576"/>
            <a:ext cx="9142075"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C'est le service de garde. Pour les petits.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DIALOGUE ·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n'est pas ici</a:t>
            </a:r>
          </a:p>
        </p:txBody>
      </p:sp>
      <p:sp>
        <p:nvSpPr>
          <p:cNvPr id="7" name="Rounded Rectangle 6"/>
          <p:cNvSpPr/>
          <p:nvPr/>
        </p:nvSpPr>
        <p:spPr>
          <a:xfrm>
            <a:off x="566928" y="1737360"/>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01952"/>
            <a:ext cx="220446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a:t>
            </a:r>
          </a:p>
        </p:txBody>
      </p:sp>
      <p:sp>
        <p:nvSpPr>
          <p:cNvPr id="9" name="TextBox 8"/>
          <p:cNvSpPr txBox="1"/>
          <p:nvPr/>
        </p:nvSpPr>
        <p:spPr>
          <a:xfrm>
            <a:off x="3137154" y="1901952"/>
            <a:ext cx="793897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Madame ! C'est le service de garde, ici ?</a:t>
            </a:r>
          </a:p>
        </p:txBody>
      </p:sp>
      <p:sp>
        <p:nvSpPr>
          <p:cNvPr id="10" name="Rounded Rectangle 9"/>
          <p:cNvSpPr/>
          <p:nvPr/>
        </p:nvSpPr>
        <p:spPr>
          <a:xfrm>
            <a:off x="566928" y="24866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651252"/>
            <a:ext cx="220446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MADAME PARÉ</a:t>
            </a:r>
          </a:p>
        </p:txBody>
      </p:sp>
      <p:sp>
        <p:nvSpPr>
          <p:cNvPr id="12" name="TextBox 11"/>
          <p:cNvSpPr txBox="1"/>
          <p:nvPr/>
        </p:nvSpPr>
        <p:spPr>
          <a:xfrm>
            <a:off x="3137154" y="2651252"/>
            <a:ext cx="793897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Non, ce n'est pas ici. Ici, c'est l'accueil.</a:t>
            </a:r>
          </a:p>
        </p:txBody>
      </p:sp>
      <p:sp>
        <p:nvSpPr>
          <p:cNvPr id="13" name="Rounded Rectangle 12"/>
          <p:cNvSpPr/>
          <p:nvPr/>
        </p:nvSpPr>
        <p:spPr>
          <a:xfrm>
            <a:off x="566928" y="32359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00551"/>
            <a:ext cx="220446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ROSA</a:t>
            </a:r>
          </a:p>
        </p:txBody>
      </p:sp>
      <p:sp>
        <p:nvSpPr>
          <p:cNvPr id="15" name="TextBox 14"/>
          <p:cNvSpPr txBox="1"/>
          <p:nvPr/>
        </p:nvSpPr>
        <p:spPr>
          <a:xfrm>
            <a:off x="3137154" y="3400551"/>
            <a:ext cx="793897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Ah. Pardon.</a:t>
            </a:r>
          </a:p>
        </p:txBody>
      </p:sp>
      <p:sp>
        <p:nvSpPr>
          <p:cNvPr id="16" name="Rounded Rectangle 15"/>
          <p:cNvSpPr/>
          <p:nvPr/>
        </p:nvSpPr>
        <p:spPr>
          <a:xfrm>
            <a:off x="566928" y="3985259"/>
            <a:ext cx="11057839" cy="667003"/>
          </a:xfrm>
          <a:prstGeom prst="roundRect">
            <a:avLst>
              <a:gd name="adj" fmla="val 21934"/>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149851"/>
            <a:ext cx="2204466" cy="392683"/>
          </a:xfrm>
          <a:prstGeom prst="rect">
            <a:avLst/>
          </a:prstGeom>
          <a:noFill/>
        </p:spPr>
        <p:txBody>
          <a:bodyPr wrap="square" lIns="0" rIns="0" tIns="0" bIns="0" anchor="t">
            <a:spAutoFit/>
          </a:bodyPr>
          <a:lstStyle/>
          <a:p>
            <a:pPr algn="l">
              <a:lnSpc>
                <a:spcPct val="135000"/>
              </a:lnSpc>
            </a:pPr>
            <a:r>
              <a:rPr sz="1900" b="1" i="0">
                <a:solidFill>
                  <a:srgbClr val="1D6B8F"/>
                </a:solidFill>
                <a:latin typeface="Verdana"/>
              </a:rPr>
              <a:t>MADAME PARÉ</a:t>
            </a:r>
          </a:p>
        </p:txBody>
      </p:sp>
      <p:sp>
        <p:nvSpPr>
          <p:cNvPr id="18" name="TextBox 17"/>
          <p:cNvSpPr txBox="1"/>
          <p:nvPr/>
        </p:nvSpPr>
        <p:spPr>
          <a:xfrm>
            <a:off x="3137154" y="4149851"/>
            <a:ext cx="7938973" cy="392683"/>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Regardez le dessin sur la porte, là-bas.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UN MOT LONG SE LIT EN MORCEAUX</a:t>
            </a:r>
          </a:p>
        </p:txBody>
      </p:sp>
      <p:sp>
        <p:nvSpPr>
          <p:cNvPr id="6" name="Rounded Rectangle 5"/>
          <p:cNvSpPr/>
          <p:nvPr/>
        </p:nvSpPr>
        <p:spPr>
          <a:xfrm>
            <a:off x="566928" y="1225296"/>
            <a:ext cx="11057839" cy="1441196"/>
          </a:xfrm>
          <a:prstGeom prst="roundRect">
            <a:avLst>
              <a:gd name="adj" fmla="val 10151"/>
            </a:avLst>
          </a:prstGeom>
          <a:solidFill>
            <a:srgbClr val="E7F0F6"/>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Une syllabe à la fois.</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&lt;b&gt;ca — fé — té — ria&lt;/b&gt;. On lit chaque morceau, puis on les remet ensemble. Personne ne lit un mot long d'un seul coup au début, et beaucoup de gens nés ici font pareil devant un mot qu'ils ne connaissent pas.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Six lieux du centre</a:t>
            </a:r>
          </a:p>
        </p:txBody>
      </p:sp>
      <p:sp>
        <p:nvSpPr>
          <p:cNvPr id="7" name="Rounded Rectangle 6"/>
          <p:cNvSpPr/>
          <p:nvPr/>
        </p:nvSpPr>
        <p:spPr>
          <a:xfrm>
            <a:off x="566928" y="1810512"/>
            <a:ext cx="11057839" cy="4270248"/>
          </a:xfrm>
          <a:prstGeom prst="roundRect">
            <a:avLst>
              <a:gd name="adj" fmla="val 34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21408"/>
            <a:ext cx="27522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les toilettes</a:t>
            </a:r>
          </a:p>
        </p:txBody>
      </p:sp>
      <p:sp>
        <p:nvSpPr>
          <p:cNvPr id="9" name="TextBox 8"/>
          <p:cNvSpPr txBox="1"/>
          <p:nvPr/>
        </p:nvSpPr>
        <p:spPr>
          <a:xfrm>
            <a:off x="3959256" y="2121408"/>
            <a:ext cx="729975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se lave les mains</a:t>
            </a:r>
          </a:p>
        </p:txBody>
      </p:sp>
      <p:sp>
        <p:nvSpPr>
          <p:cNvPr id="10" name="Rectangle 9"/>
          <p:cNvSpPr/>
          <p:nvPr/>
        </p:nvSpPr>
        <p:spPr>
          <a:xfrm>
            <a:off x="932688" y="26319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2778252"/>
            <a:ext cx="27522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cafétéria</a:t>
            </a:r>
          </a:p>
        </p:txBody>
      </p:sp>
      <p:sp>
        <p:nvSpPr>
          <p:cNvPr id="12" name="TextBox 11"/>
          <p:cNvSpPr txBox="1"/>
          <p:nvPr/>
        </p:nvSpPr>
        <p:spPr>
          <a:xfrm>
            <a:off x="3959256" y="2778252"/>
            <a:ext cx="729975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mange, le midi</a:t>
            </a:r>
          </a:p>
        </p:txBody>
      </p:sp>
      <p:sp>
        <p:nvSpPr>
          <p:cNvPr id="13" name="Rectangle 12"/>
          <p:cNvSpPr/>
          <p:nvPr/>
        </p:nvSpPr>
        <p:spPr>
          <a:xfrm>
            <a:off x="932688" y="328879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2688" y="3435096"/>
            <a:ext cx="27522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l'accueil</a:t>
            </a:r>
          </a:p>
        </p:txBody>
      </p:sp>
      <p:sp>
        <p:nvSpPr>
          <p:cNvPr id="15" name="TextBox 14"/>
          <p:cNvSpPr txBox="1"/>
          <p:nvPr/>
        </p:nvSpPr>
        <p:spPr>
          <a:xfrm>
            <a:off x="3959256" y="3435096"/>
            <a:ext cx="729975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pose une question</a:t>
            </a:r>
          </a:p>
        </p:txBody>
      </p:sp>
      <p:sp>
        <p:nvSpPr>
          <p:cNvPr id="16" name="Rectangle 15"/>
          <p:cNvSpPr/>
          <p:nvPr/>
        </p:nvSpPr>
        <p:spPr>
          <a:xfrm>
            <a:off x="932688" y="3945635"/>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32688" y="4091939"/>
            <a:ext cx="27522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service de garde</a:t>
            </a:r>
          </a:p>
        </p:txBody>
      </p:sp>
      <p:sp>
        <p:nvSpPr>
          <p:cNvPr id="18" name="TextBox 17"/>
          <p:cNvSpPr txBox="1"/>
          <p:nvPr/>
        </p:nvSpPr>
        <p:spPr>
          <a:xfrm>
            <a:off x="3959256" y="4091939"/>
            <a:ext cx="729975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laisse son enfant</a:t>
            </a:r>
          </a:p>
        </p:txBody>
      </p:sp>
      <p:sp>
        <p:nvSpPr>
          <p:cNvPr id="19" name="Rectangle 18"/>
          <p:cNvSpPr/>
          <p:nvPr/>
        </p:nvSpPr>
        <p:spPr>
          <a:xfrm>
            <a:off x="932688" y="460248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32688" y="4748784"/>
            <a:ext cx="27522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le vestiaire</a:t>
            </a:r>
          </a:p>
        </p:txBody>
      </p:sp>
      <p:sp>
        <p:nvSpPr>
          <p:cNvPr id="21" name="TextBox 20"/>
          <p:cNvSpPr txBox="1"/>
          <p:nvPr/>
        </p:nvSpPr>
        <p:spPr>
          <a:xfrm>
            <a:off x="3959256" y="4748784"/>
            <a:ext cx="729975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laisse son manteau</a:t>
            </a:r>
          </a:p>
        </p:txBody>
      </p:sp>
      <p:sp>
        <p:nvSpPr>
          <p:cNvPr id="22" name="Rectangle 21"/>
          <p:cNvSpPr/>
          <p:nvPr/>
        </p:nvSpPr>
        <p:spPr>
          <a:xfrm>
            <a:off x="932688" y="5259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932688" y="5405628"/>
            <a:ext cx="2752248" cy="437387"/>
          </a:xfrm>
          <a:prstGeom prst="rect">
            <a:avLst/>
          </a:prstGeom>
          <a:noFill/>
        </p:spPr>
        <p:txBody>
          <a:bodyPr wrap="square" lIns="0" rIns="0" tIns="0" bIns="0" anchor="t">
            <a:spAutoFit/>
          </a:bodyPr>
          <a:lstStyle/>
          <a:p>
            <a:pPr algn="l">
              <a:lnSpc>
                <a:spcPct val="128000"/>
              </a:lnSpc>
            </a:pPr>
            <a:r>
              <a:rPr sz="1900" b="1" i="0">
                <a:solidFill>
                  <a:srgbClr val="17181A"/>
                </a:solidFill>
                <a:latin typeface="Verdana"/>
              </a:rPr>
              <a:t>la sortie</a:t>
            </a:r>
          </a:p>
        </p:txBody>
      </p:sp>
      <p:sp>
        <p:nvSpPr>
          <p:cNvPr id="24" name="TextBox 23"/>
          <p:cNvSpPr txBox="1"/>
          <p:nvPr/>
        </p:nvSpPr>
        <p:spPr>
          <a:xfrm>
            <a:off x="3959256" y="5405628"/>
            <a:ext cx="7299750" cy="437387"/>
          </a:xfrm>
          <a:prstGeom prst="rect">
            <a:avLst/>
          </a:prstGeom>
          <a:noFill/>
        </p:spPr>
        <p:txBody>
          <a:bodyPr wrap="square" lIns="0" rIns="0" tIns="0" bIns="0" anchor="t">
            <a:spAutoFit/>
          </a:bodyPr>
          <a:lstStyle/>
          <a:p>
            <a:pPr algn="l">
              <a:lnSpc>
                <a:spcPct val="135000"/>
              </a:lnSpc>
            </a:pPr>
            <a:r>
              <a:rPr sz="1800" b="0" i="0">
                <a:solidFill>
                  <a:srgbClr val="4B4F52"/>
                </a:solidFill>
                <a:latin typeface="Verdana"/>
              </a:rPr>
              <a:t>on part du bâtiment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Répondez d'après le premier dialogue.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Rosa lit le mot « cafétéria ».</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mange à la cafétéria, le midi.</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dessin du service de garde montre une auto.</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fille de Rosa a quatre ans.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Rosa lit le mot « cafétéria ».   </a:t>
            </a:r>
            <a:r>
              <a:rPr sz="1900" b="1" i="0">
                <a:solidFill>
                  <a:srgbClr val="07734A"/>
                </a:solidFill>
                <a:latin typeface="Verdana"/>
              </a:rPr>
              <a:t>» vrai</a:t>
            </a:r>
          </a:p>
        </p:txBody>
      </p:sp>
      <p:sp>
        <p:nvSpPr>
          <p:cNvPr id="12" name="Rounded Rectangle 11"/>
          <p:cNvSpPr/>
          <p:nvPr/>
        </p:nvSpPr>
        <p:spPr>
          <a:xfrm>
            <a:off x="566928" y="2916428"/>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On mange à la cafétéria, le midi.   </a:t>
            </a:r>
            <a:r>
              <a:rPr sz="1900" b="1" i="0">
                <a:solidFill>
                  <a:srgbClr val="07734A"/>
                </a:solidFill>
                <a:latin typeface="Verdana"/>
              </a:rPr>
              <a:t>» vrai</a:t>
            </a:r>
          </a:p>
        </p:txBody>
      </p:sp>
      <p:sp>
        <p:nvSpPr>
          <p:cNvPr id="16" name="Rounded Rectangle 15"/>
          <p:cNvSpPr/>
          <p:nvPr/>
        </p:nvSpPr>
        <p:spPr>
          <a:xfrm>
            <a:off x="566928" y="3693160"/>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dessin du service de garde montre une auto.   </a:t>
            </a:r>
            <a:r>
              <a:rPr sz="1900" b="1" i="0">
                <a:solidFill>
                  <a:srgbClr val="07734A"/>
                </a:solidFill>
                <a:latin typeface="Verdana"/>
              </a:rPr>
              <a:t>» faux — un enfant</a:t>
            </a:r>
          </a:p>
        </p:txBody>
      </p:sp>
      <p:sp>
        <p:nvSpPr>
          <p:cNvPr id="20" name="Rounded Rectangle 19"/>
          <p:cNvSpPr/>
          <p:nvPr/>
        </p:nvSpPr>
        <p:spPr>
          <a:xfrm>
            <a:off x="566928" y="4469892"/>
            <a:ext cx="11057839"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fille de Rosa a quatre ans.   </a:t>
            </a:r>
            <a:r>
              <a:rPr sz="1900" b="1" i="0">
                <a:solidFill>
                  <a:srgbClr val="07734A"/>
                </a:solidFill>
                <a:latin typeface="Verdana"/>
              </a:rPr>
              <a:t>» vrai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PRATIQUE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et l'endroit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Associez chaque mot du panneau à ce qu'on y fait.</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TOILETTES</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CAFÉTÉRIA</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ACCUEIL</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SERVICE DE GARDE</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VESTIAIRE</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SORTIE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1D6B8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mot et l'endroit</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TOILETTES   </a:t>
            </a:r>
            <a:r>
              <a:rPr sz="1900" b="1" i="0">
                <a:solidFill>
                  <a:srgbClr val="07734A"/>
                </a:solidFill>
                <a:latin typeface="Verdana"/>
              </a:rPr>
              <a:t>» on se lave les mains</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CAFÉTÉRIA   </a:t>
            </a:r>
            <a:r>
              <a:rPr sz="1900" b="1" i="0">
                <a:solidFill>
                  <a:srgbClr val="07734A"/>
                </a:solidFill>
                <a:latin typeface="Verdana"/>
              </a:rPr>
              <a:t>» on mange, le midi</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ACCUEIL   </a:t>
            </a:r>
            <a:r>
              <a:rPr sz="1900" b="1" i="0">
                <a:solidFill>
                  <a:srgbClr val="07734A"/>
                </a:solidFill>
                <a:latin typeface="Verdana"/>
              </a:rPr>
              <a:t>» on pose une question</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SERVICE DE GARDE   </a:t>
            </a:r>
            <a:r>
              <a:rPr sz="1900" b="1" i="0">
                <a:solidFill>
                  <a:srgbClr val="07734A"/>
                </a:solidFill>
                <a:latin typeface="Verdana"/>
              </a:rPr>
              <a:t>» on laisse son enfant</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VESTIAIRE   </a:t>
            </a:r>
            <a:r>
              <a:rPr sz="1900" b="1" i="0">
                <a:solidFill>
                  <a:srgbClr val="07734A"/>
                </a:solidFill>
                <a:latin typeface="Verdana"/>
              </a:rPr>
              <a:t>» on laisse son manteau</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E7F0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1D6B8F"/>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SORTIE   </a:t>
            </a:r>
            <a:r>
              <a:rPr sz="1900" b="1" i="0">
                <a:solidFill>
                  <a:srgbClr val="07734A"/>
                </a:solidFill>
                <a:latin typeface="Verdana"/>
              </a:rPr>
              <a:t>» on part du bâtiment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le nom de deux endroits du centre, et ce qu'on y fait.</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Exemple : la cafétéria — on mange.</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N'oubliez pas le petit mot devant : le, la, les.</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B1 · Je lis les panneaux du centre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