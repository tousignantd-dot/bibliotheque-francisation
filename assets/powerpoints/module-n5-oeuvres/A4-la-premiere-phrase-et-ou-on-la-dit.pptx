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du bloc A. Rendre les billets de A1 : chacun a nommé une œuvre. C'est celle qu'il présentera au bloc E, et la séance d'aujourd'hui lui donne sa première phrase. Prévoir du temps pour la faire écrire et dire par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troisième objectif est celui qu'il faut vraiment obtenir aujourd'hui. Écrire une phrase est facile ; la dire sans la lire l'est moins, et c'est exactement ce que le bloc E demandera pendant deux minutes.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quatrième piste ramène la règle du club : un carton qui raconte la fin gâche le livre pour tous ceux qui passent. Faire remarquer que ces cartons sont écrits par des lecteurs, pas par la bibliothèque : c'est exactement ce que l'élève écrira à la séance E2.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quatre endroits sont les quatre situations du module : le rayon en A, le comptoir au défi 2, la salle du fond au défi 3 et le babillard à la production écrite. Le dire au groupe : il verra où il s'en va.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écrire la phrase par chacun, avec son œuvre à lui, puis la faire dire debout, sans la lire. Trois ou quatre passages par séance jusqu'à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sont des moules : on garde la structure et on change les chiffres. Faire choisir à chacun la ligne qui correspond à son œuvre et remplir. C'est le laboratoire de la mini-leçon `prMot` du module interactif, en version projetée.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l'exercice `prImg` du module interactif, où les six photos se glissent sur les six phrases. Ici, sans les photos, l'exercice devient une association orale — et il prépare la lecture des images à l'écran.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lire les deux versions à voix haute. Demander laquelle donne envie : le groupe choisit toujours la seconde, et il sait dire pourquoi. C'est la meilleure préparation à la séance E2.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passages, deux par deux, puis trois ou quatre devant le groupe. La dernière consigne est la vérification : si le voisin peut redire le support et le genre, la phrase a fait son travail.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les billets et les garder : ils reviendront à la séance E1, quand l'élève enregistrera sa présentation. Plusieurs auront changé d'œuvre d'ici là — c'est normal, la phrase se refait en une minute.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A4  ·  MODULE 13</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La première phrase, et où on la dit</a:t>
            </a:r>
          </a:p>
        </p:txBody>
      </p:sp>
      <p:sp>
        <p:nvSpPr>
          <p:cNvPr id="5" name="Rounded Rectangle 4"/>
          <p:cNvSpPr/>
          <p:nvPr/>
        </p:nvSpPr>
        <p:spPr>
          <a:xfrm>
            <a:off x="566928" y="3794760"/>
            <a:ext cx="9960559" cy="2131568"/>
          </a:xfrm>
          <a:prstGeom prst="roundRect">
            <a:avLst>
              <a:gd name="adj" fmla="val 686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bibliothèque de quartier, c'est un rayon, un comptoir, une salle du fond et un babillard à l'entrée. Chacun de ces endroits demande une façon de parler d'une œuvre — et tous commencent par la même phrase.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Le club du jeudi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les lieux d'une bibliothèque de quartier et ce qu'on y fait ;</a:t>
            </a:r>
          </a:p>
        </p:txBody>
      </p:sp>
      <p:sp>
        <p:nvSpPr>
          <p:cNvPr id="11" name="Rounded Rectangle 10"/>
          <p:cNvSpPr/>
          <p:nvPr/>
        </p:nvSpPr>
        <p:spPr>
          <a:xfrm>
            <a:off x="566928" y="2650744"/>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30063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30886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écrire la première phrase d'une présentation : support, genre, longueur ;</a:t>
            </a:r>
          </a:p>
        </p:txBody>
      </p:sp>
      <p:sp>
        <p:nvSpPr>
          <p:cNvPr id="15" name="Rounded Rectangle 14"/>
          <p:cNvSpPr/>
          <p:nvPr/>
        </p:nvSpPr>
        <p:spPr>
          <a:xfrm>
            <a:off x="566928" y="38922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40700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41523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40934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la dire à voix haute sans la lire ;</a:t>
            </a:r>
          </a:p>
        </p:txBody>
      </p:sp>
      <p:sp>
        <p:nvSpPr>
          <p:cNvPr id="19" name="Rounded Rectangle 18"/>
          <p:cNvSpPr/>
          <p:nvPr/>
        </p:nvSpPr>
        <p:spPr>
          <a:xfrm>
            <a:off x="566928" y="4778248"/>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51338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52161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979415"/>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ce qu'un carton de coup de cœur contient et ne contient pas.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Un comptoir, des livres debout, de petits cartons écrits à la main. Qu'est-ce qui est écrit dessus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omptoir-coups-de-coeur.jpg"/>
          <p:cNvPicPr>
            <a:picLocks noChangeAspect="1"/>
          </p:cNvPicPr>
          <p:nvPr/>
        </p:nvPicPr>
        <p:blipFill>
          <a:blip r:embed="rId2"/>
          <a:stretch>
            <a:fillRect/>
          </a:stretch>
        </p:blipFill>
        <p:spPr>
          <a:xfrm>
            <a:off x="7644383" y="2638438"/>
            <a:ext cx="3760927" cy="2522955"/>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Qui a écrit ces cartons, à votre avis ?</a:t>
            </a:r>
          </a:p>
        </p:txBody>
      </p:sp>
      <p:sp>
        <p:nvSpPr>
          <p:cNvPr id="12" name="Rounded Rectangle 11"/>
          <p:cNvSpPr/>
          <p:nvPr/>
        </p:nvSpPr>
        <p:spPr>
          <a:xfrm>
            <a:off x="566928" y="2642108"/>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8219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temps prend-on pour en lire un ?</a:t>
            </a:r>
          </a:p>
        </p:txBody>
      </p:sp>
      <p:sp>
        <p:nvSpPr>
          <p:cNvPr id="15" name="Rounded Rectangle 14"/>
          <p:cNvSpPr/>
          <p:nvPr/>
        </p:nvSpPr>
        <p:spPr>
          <a:xfrm>
            <a:off x="566928" y="376580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875532"/>
            <a:ext cx="50292" cy="8219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94868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qu'on veut savoir avant de prendre le livre ?</a:t>
            </a:r>
          </a:p>
        </p:txBody>
      </p:sp>
      <p:sp>
        <p:nvSpPr>
          <p:cNvPr id="18" name="Rounded Rectangle 17"/>
          <p:cNvSpPr/>
          <p:nvPr/>
        </p:nvSpPr>
        <p:spPr>
          <a:xfrm>
            <a:off x="566928" y="488950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999228"/>
            <a:ext cx="50292" cy="8219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507238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qu'on ne veut surtout pas y trouver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QUATRE ENDROITS, QUATRE FAÇONS DE PARLER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Dans une bibliothèque de quartier</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Le rayon</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On cherche seul. On lit les dos, on ouvre, on repose.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Le comptoir</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On demande conseil. Il faut dire ce qu'on a aimé avant qu'on nous conseille.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La salle du fond</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 club. On parle deux minutes, personne ne coupe, on justifie.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Le babillard</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On écrit pour quelqu'un qu'on ne verra jamais. Sept à dix phrases.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LA PREMIÈRE PHRASE DIT TOUJOURS TROIS CHOSES</a:t>
            </a:r>
          </a:p>
        </p:txBody>
      </p:sp>
      <p:sp>
        <p:nvSpPr>
          <p:cNvPr id="6" name="Rounded Rectangle 5"/>
          <p:cNvSpPr/>
          <p:nvPr/>
        </p:nvSpPr>
        <p:spPr>
          <a:xfrm>
            <a:off x="566928" y="1225296"/>
            <a:ext cx="11057839" cy="2494788"/>
          </a:xfrm>
          <a:prstGeom prst="roundRect">
            <a:avLst>
              <a:gd name="adj" fmla="val 586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 support, le genre, et une mesure : trois cents pages, huit épisodes, deux heures.</a:t>
            </a:r>
          </a:p>
        </p:txBody>
      </p:sp>
      <p:sp>
        <p:nvSpPr>
          <p:cNvPr id="8" name="Rounded Rectangle 7"/>
          <p:cNvSpPr/>
          <p:nvPr/>
        </p:nvSpPr>
        <p:spPr>
          <a:xfrm>
            <a:off x="566928" y="3994404"/>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C'est un roman, une histoire de famille, à peu près trois cents pages. » Après cette phrase-là, la personne en face sait dans quoi elle s'embarque, et tout ce que vous ajoutez ensuite se range tout seul. Sans elle, les dix premières secondes servent à deviner de quoi vous parlez.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CINQ MOULES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même phrase, selon le support</a:t>
            </a:r>
          </a:p>
        </p:txBody>
      </p:sp>
      <p:sp>
        <p:nvSpPr>
          <p:cNvPr id="7" name="Rounded Rectangle 6"/>
          <p:cNvSpPr/>
          <p:nvPr/>
        </p:nvSpPr>
        <p:spPr>
          <a:xfrm>
            <a:off x="566928" y="1810512"/>
            <a:ext cx="11057839" cy="4108704"/>
          </a:xfrm>
          <a:prstGeom prst="roundRect">
            <a:avLst>
              <a:gd name="adj" fmla="val 35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SUPPORT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PREMIÈRE PHRASE</a:t>
            </a:r>
          </a:p>
        </p:txBody>
      </p:sp>
      <p:sp>
        <p:nvSpPr>
          <p:cNvPr id="10" name="TextBox 9"/>
          <p:cNvSpPr txBox="1"/>
          <p:nvPr/>
        </p:nvSpPr>
        <p:spPr>
          <a:xfrm>
            <a:off x="932688" y="2395728"/>
            <a:ext cx="3291492" cy="606552"/>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Un roman</a:t>
            </a:r>
          </a:p>
        </p:txBody>
      </p:sp>
      <p:sp>
        <p:nvSpPr>
          <p:cNvPr id="11" name="TextBox 10"/>
          <p:cNvSpPr txBox="1"/>
          <p:nvPr/>
        </p:nvSpPr>
        <p:spPr>
          <a:xfrm>
            <a:off x="4443636" y="2395728"/>
            <a:ext cx="6595914" cy="606552"/>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C'est un roman, une histoire de famille, trois cents pages.</a:t>
            </a:r>
          </a:p>
        </p:txBody>
      </p:sp>
      <p:sp>
        <p:nvSpPr>
          <p:cNvPr id="12" name="Rectangle 11"/>
          <p:cNvSpPr/>
          <p:nvPr/>
        </p:nvSpPr>
        <p:spPr>
          <a:xfrm>
            <a:off x="932688" y="307543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203448"/>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Une bande dessinée</a:t>
            </a:r>
          </a:p>
        </p:txBody>
      </p:sp>
      <p:sp>
        <p:nvSpPr>
          <p:cNvPr id="14" name="TextBox 13"/>
          <p:cNvSpPr txBox="1"/>
          <p:nvPr/>
        </p:nvSpPr>
        <p:spPr>
          <a:xfrm>
            <a:off x="4443636" y="3203448"/>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C'est le premier tome d'une série de quatre albums.</a:t>
            </a:r>
          </a:p>
        </p:txBody>
      </p:sp>
      <p:sp>
        <p:nvSpPr>
          <p:cNvPr id="15" name="Rectangle 14"/>
          <p:cNvSpPr/>
          <p:nvPr/>
        </p:nvSpPr>
        <p:spPr>
          <a:xfrm>
            <a:off x="932688" y="359816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726180"/>
            <a:ext cx="3291492" cy="606552"/>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Une série</a:t>
            </a:r>
          </a:p>
        </p:txBody>
      </p:sp>
      <p:sp>
        <p:nvSpPr>
          <p:cNvPr id="17" name="TextBox 16"/>
          <p:cNvSpPr txBox="1"/>
          <p:nvPr/>
        </p:nvSpPr>
        <p:spPr>
          <a:xfrm>
            <a:off x="4443636" y="3726180"/>
            <a:ext cx="6595914" cy="606552"/>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C'est une série de huit épisodes de quarante minutes.</a:t>
            </a:r>
          </a:p>
        </p:txBody>
      </p:sp>
      <p:sp>
        <p:nvSpPr>
          <p:cNvPr id="18" name="Rectangle 17"/>
          <p:cNvSpPr/>
          <p:nvPr/>
        </p:nvSpPr>
        <p:spPr>
          <a:xfrm>
            <a:off x="932688" y="440588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533900"/>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Un film</a:t>
            </a:r>
          </a:p>
        </p:txBody>
      </p:sp>
      <p:sp>
        <p:nvSpPr>
          <p:cNvPr id="20" name="TextBox 19"/>
          <p:cNvSpPr txBox="1"/>
          <p:nvPr/>
        </p:nvSpPr>
        <p:spPr>
          <a:xfrm>
            <a:off x="4443636" y="4533900"/>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C'est un film de deux heures, une histoire vraie.</a:t>
            </a:r>
          </a:p>
        </p:txBody>
      </p:sp>
      <p:sp>
        <p:nvSpPr>
          <p:cNvPr id="21" name="Rectangle 20"/>
          <p:cNvSpPr/>
          <p:nvPr/>
        </p:nvSpPr>
        <p:spPr>
          <a:xfrm>
            <a:off x="932688" y="49286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5056632"/>
            <a:ext cx="3291492" cy="606552"/>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Une chanson</a:t>
            </a:r>
          </a:p>
        </p:txBody>
      </p:sp>
      <p:sp>
        <p:nvSpPr>
          <p:cNvPr id="23" name="TextBox 22"/>
          <p:cNvSpPr txBox="1"/>
          <p:nvPr/>
        </p:nvSpPr>
        <p:spPr>
          <a:xfrm>
            <a:off x="4443636" y="5056632"/>
            <a:ext cx="6595914" cy="606552"/>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C'est une chanson de quatre minutes, mon coup de cœur du mois.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REPÉRAGE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est-on, et qu'est-ce qu'on y voit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Associez chaque description au lieu ou à l'objet.</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affiche collée sur la porte vitrée d'une salle.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dizaine de chaises placées en cercle.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rayon rempli de romans du plancher au plafond.</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Des livres debout et de petits cartons écrits à la main.</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grand livre dont la page est découpée en petits carrés.</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femme assise près d'une fenêtre, un casque sur les oreilles.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est-on, et qu'est-ce qu'on y voit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affiche collée sur la porte vitrée d'une salle.   </a:t>
            </a:r>
            <a:r>
              <a:rPr sz="1400" b="1" i="0">
                <a:solidFill>
                  <a:srgbClr val="07734A"/>
                </a:solidFill>
                <a:latin typeface="Verdana"/>
              </a:rPr>
              <a:t>» l'annonce du club</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dizaine de chaises placées en cercle.   </a:t>
            </a:r>
            <a:r>
              <a:rPr sz="1400" b="1" i="0">
                <a:solidFill>
                  <a:srgbClr val="07734A"/>
                </a:solidFill>
                <a:latin typeface="Verdana"/>
              </a:rPr>
              <a:t>» la salle du fond, le jeudi</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rayon rempli de romans du plancher au plafond.   </a:t>
            </a:r>
            <a:r>
              <a:rPr sz="1400" b="1" i="0">
                <a:solidFill>
                  <a:srgbClr val="07734A"/>
                </a:solidFill>
                <a:latin typeface="Verdana"/>
              </a:rPr>
              <a:t>» le rayon</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Des livres debout et de petits cartons écrits à la main.   </a:t>
            </a:r>
            <a:r>
              <a:rPr sz="1400" b="1" i="0">
                <a:solidFill>
                  <a:srgbClr val="07734A"/>
                </a:solidFill>
                <a:latin typeface="Verdana"/>
              </a:rPr>
              <a:t>» le comptoir des coups de cœur</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grand livre dont la page est découpée en petits carrés.   </a:t>
            </a:r>
            <a:r>
              <a:rPr sz="1400" b="1" i="0">
                <a:solidFill>
                  <a:srgbClr val="07734A"/>
                </a:solidFill>
                <a:latin typeface="Verdana"/>
              </a:rPr>
              <a:t>» une planche de bande dessinée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femme assise près d'une fenêtre, un casque sur les oreilles.   </a:t>
            </a:r>
            <a:r>
              <a:rPr sz="1400" b="1" i="0">
                <a:solidFill>
                  <a:srgbClr val="07734A"/>
                </a:solidFill>
                <a:latin typeface="Verdana"/>
              </a:rPr>
              <a:t>» l'écoute sur place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ÉCRIRE UN CARTON QUI NE DIT PAS CE QUE C'EST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Un livre magnifique, je l'ai adoré, courez le lire !</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C'est un roman, une histoire de famille. Ce qui m'a touchée, c'est…</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carton de babillard est lu par quelqu'un qui passe et qui n'a pas trente secondes. S'il ne sait pas ce que c'est en une ligne, il continue son chemin — et l'enthousiasme tout seul n'a jamais fait lire personne.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À L'ORAL</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Dites votre première phrase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Debout, sans lire. Trois choses : le support, le genre, une mesure.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Dites-la une première fois, en lisant si nécessaire.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Redites-la sans regarder votre feuille.</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Redites-la une troisième fois, plus lentement.</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Écoutez celle de votre voisin et dites ce que vous avez retenu.</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la première phrase de votre présentation, telle que vous la direz.</a:t>
            </a:r>
          </a:p>
        </p:txBody>
      </p:sp>
      <p:sp>
        <p:nvSpPr>
          <p:cNvPr id="8" name="Rounded Rectangle 7"/>
          <p:cNvSpPr/>
          <p:nvPr/>
        </p:nvSpPr>
        <p:spPr>
          <a:xfrm>
            <a:off x="566928" y="3931920"/>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Trois choses : le support, le genre, et une mesure — pages, épisodes, minutes.</a:t>
            </a:r>
          </a:p>
        </p:txBody>
      </p:sp>
      <p:sp>
        <p:nvSpPr>
          <p:cNvPr id="10" name="Rounded Rectangle 9"/>
          <p:cNvSpPr/>
          <p:nvPr/>
        </p:nvSpPr>
        <p:spPr>
          <a:xfrm>
            <a:off x="566928" y="5036311"/>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5191759"/>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Relisez-la à voix basse : si elle ne tient pas en une respiration, coupez.</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 club du jeudi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