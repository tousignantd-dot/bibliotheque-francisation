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Elle prépare tout le reste du module : les mots de la troisième famille servent au défi 2, ceux de la quatrième au défi 3. Ne pas tout donner d'un coup — les quatre familles se présentent l'une après l'autre, avec un temps de pratique entre chacune.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revient plusieurs fois dans le module : « le roman » désigne l'objet, « l'histoire » désigne ce qu'il y a dedans. La distinction sert à la reprise du défi 2 et elle règle plusieurs fautes d'un coup.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ont lu de la bande dessinée dans leur langue et n'ont jamais eu besoin de la nommer en français. Faire écrire les mots de la langue première au tableau à côté des mots français : la comparaison des onomatopées est toujours un bon moment.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 coup de cœur » est le mot de la bibliothèque : il est sur les cartons du comptoir, sur les tablettes, dans les infolettres. Le comprendre, c'est comprendre la moitié des affiches de l'entrée.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 dénouement » est le mot le plus important de la séance : c'est la limite du défi 1. Faire répéter la phrase du club : « on s'arrête avant le dénouement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Donner l'ordre du plus petit au plus grand : bulle, case, planche, album. Une bulle tient dans une case, une case tient dans une planche, une planche tient dans un album. Retenu comme ça, personne ne se trompe plus.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trois mots préparent le défi 3. Demander au groupe trois autres adjectifs pour parler d'une œuvre : lent, drôle, dur, surprenant, reposant. Les écrire au tableau et les garder affichés jusqu'à E1.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rangée donne le test : on achète un livre, on raconte une histoire. « J'ai acheté une histoire » ne se dit pas. La distinction servira à la reprise du défi 2, où il faut changer de mot à chaque phrase sans changer de sujet.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`prMot` du module interactif. Le faire à l'oral d'abord, puis le laisser refaire à l'écran. Sur la première ligne, accepter aussi « œuvre » au pluriel si l'élève l'explique.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 même distinction pour les séries télévisées : une saison, un épisode, la série. Les élèves qui regardent des séries l'ont déjà, et ils peuvent l'expliquer aux autres mieux que l'enseignante.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billet vérifie la séance et prépare les cartes mémoire du module : les définitions écrites par les élèves sont souvent meilleures que celles du banc, et elles se réemploient à la séance E2.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seize mots du club</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familles : ce qu'on apporte, ce qui fait une histoire, les mots de la bande dessinée, et ceux de l'appréciation. Les seize se retrouvent dans les cartes mémoire du module et dans les trois exercices de « Je retiens des mots ».</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une œuvre et son support avec le mot précis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l'objet — le livre, l'album — de ce qu'il contient — l'histoire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mots de la bande dessinée : case, bulle, planche, onomatopée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remplacer « c'est bon » par un adjectif qui dit quelque chose.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ROUTE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Comment appelle-t-on la page complète d'une bande dessinée ? Et le petit carré dedans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mots employez-vous dans votre première langue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qu'un « album » veut dire la même chose en français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dit-on le bruit écrit en grosses lettres : BANG, TOC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l'histoire elle-même, comment l'appelle-t-on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1 SUR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apporte au club</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438114"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œuvre</a:t>
            </a:r>
          </a:p>
        </p:txBody>
      </p:sp>
      <p:sp>
        <p:nvSpPr>
          <p:cNvPr id="9" name="TextBox 8"/>
          <p:cNvSpPr txBox="1"/>
          <p:nvPr/>
        </p:nvSpPr>
        <p:spPr>
          <a:xfrm>
            <a:off x="3645122" y="2121408"/>
            <a:ext cx="7613884"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que quelqu'un a créé pour être lu, vu ou écouté.</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2438114"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roman</a:t>
            </a:r>
          </a:p>
        </p:txBody>
      </p:sp>
      <p:sp>
        <p:nvSpPr>
          <p:cNvPr id="12" name="TextBox 11"/>
          <p:cNvSpPr txBox="1"/>
          <p:nvPr/>
        </p:nvSpPr>
        <p:spPr>
          <a:xfrm>
            <a:off x="3645122" y="2909620"/>
            <a:ext cx="7613884"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livre épais qui raconte une histoire inventée.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2438114"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série</a:t>
            </a:r>
          </a:p>
        </p:txBody>
      </p:sp>
      <p:sp>
        <p:nvSpPr>
          <p:cNvPr id="15" name="TextBox 14"/>
          <p:cNvSpPr txBox="1"/>
          <p:nvPr/>
        </p:nvSpPr>
        <p:spPr>
          <a:xfrm>
            <a:off x="3645122" y="3697833"/>
            <a:ext cx="7613884"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histoire coupée en épisodes qu'on suit l'un après l'autre.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2438114"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coup de cœur</a:t>
            </a:r>
          </a:p>
        </p:txBody>
      </p:sp>
      <p:sp>
        <p:nvSpPr>
          <p:cNvPr id="18" name="TextBox 17"/>
          <p:cNvSpPr txBox="1"/>
          <p:nvPr/>
        </p:nvSpPr>
        <p:spPr>
          <a:xfrm>
            <a:off x="3645122" y="4486046"/>
            <a:ext cx="7613884"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L'œuvre qu'on a envie de faire connaître tout de suite.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2438114"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extrait</a:t>
            </a:r>
          </a:p>
        </p:txBody>
      </p:sp>
      <p:sp>
        <p:nvSpPr>
          <p:cNvPr id="21" name="TextBox 20"/>
          <p:cNvSpPr txBox="1"/>
          <p:nvPr/>
        </p:nvSpPr>
        <p:spPr>
          <a:xfrm>
            <a:off x="3645122" y="5274259"/>
            <a:ext cx="7613884"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petit morceau : quelques pages, quelques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2 SUR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fait une histoire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196846"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l'intrigue</a:t>
            </a:r>
          </a:p>
        </p:txBody>
      </p:sp>
      <p:sp>
        <p:nvSpPr>
          <p:cNvPr id="9" name="TextBox 8"/>
          <p:cNvSpPr txBox="1"/>
          <p:nvPr/>
        </p:nvSpPr>
        <p:spPr>
          <a:xfrm>
            <a:off x="3403854" y="2121408"/>
            <a:ext cx="7855153"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L'histoire elle-même : ce qui arrive aux personnages.</a:t>
            </a:r>
          </a:p>
        </p:txBody>
      </p:sp>
      <p:sp>
        <p:nvSpPr>
          <p:cNvPr id="10" name="Rectangle 9"/>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435096"/>
            <a:ext cx="2196846"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personnage</a:t>
            </a:r>
          </a:p>
        </p:txBody>
      </p:sp>
      <p:sp>
        <p:nvSpPr>
          <p:cNvPr id="12" name="TextBox 11"/>
          <p:cNvSpPr txBox="1"/>
          <p:nvPr/>
        </p:nvSpPr>
        <p:spPr>
          <a:xfrm>
            <a:off x="3403854" y="3435096"/>
            <a:ext cx="7855153"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personne inventée à qui il arrive quelque chose.</a:t>
            </a:r>
          </a:p>
        </p:txBody>
      </p:sp>
      <p:sp>
        <p:nvSpPr>
          <p:cNvPr id="13" name="Rectangle 12"/>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748784"/>
            <a:ext cx="2196846"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dénouement</a:t>
            </a:r>
          </a:p>
        </p:txBody>
      </p:sp>
      <p:sp>
        <p:nvSpPr>
          <p:cNvPr id="15" name="TextBox 14"/>
          <p:cNvSpPr txBox="1"/>
          <p:nvPr/>
        </p:nvSpPr>
        <p:spPr>
          <a:xfrm>
            <a:off x="3403854" y="4748784"/>
            <a:ext cx="7855153"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toute fin, celle qui ne se raconte jamais.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3 SUR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de la bande dessinée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451068"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case</a:t>
            </a:r>
          </a:p>
        </p:txBody>
      </p:sp>
      <p:sp>
        <p:nvSpPr>
          <p:cNvPr id="9" name="TextBox 8"/>
          <p:cNvSpPr txBox="1"/>
          <p:nvPr/>
        </p:nvSpPr>
        <p:spPr>
          <a:xfrm>
            <a:off x="3658076" y="2121408"/>
            <a:ext cx="7600930"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cadre, avec un dessin à l'intérieur.</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2451068"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bulle</a:t>
            </a:r>
          </a:p>
        </p:txBody>
      </p:sp>
      <p:sp>
        <p:nvSpPr>
          <p:cNvPr id="12" name="TextBox 11"/>
          <p:cNvSpPr txBox="1"/>
          <p:nvPr/>
        </p:nvSpPr>
        <p:spPr>
          <a:xfrm>
            <a:off x="3658076" y="2909620"/>
            <a:ext cx="7600930"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forme blanche qui contient les paroles d'un personnage.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2451068"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planche</a:t>
            </a:r>
          </a:p>
        </p:txBody>
      </p:sp>
      <p:sp>
        <p:nvSpPr>
          <p:cNvPr id="15" name="TextBox 14"/>
          <p:cNvSpPr txBox="1"/>
          <p:nvPr/>
        </p:nvSpPr>
        <p:spPr>
          <a:xfrm>
            <a:off x="3658076" y="3697833"/>
            <a:ext cx="7600930"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page complète, avec toutes ses cases.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2451068"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onomatopée</a:t>
            </a:r>
          </a:p>
        </p:txBody>
      </p:sp>
      <p:sp>
        <p:nvSpPr>
          <p:cNvPr id="18" name="TextBox 17"/>
          <p:cNvSpPr txBox="1"/>
          <p:nvPr/>
        </p:nvSpPr>
        <p:spPr>
          <a:xfrm>
            <a:off x="3658076" y="4486046"/>
            <a:ext cx="7600930"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bruit écrit en grosses lettres, hors des bulles.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2451068"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album</a:t>
            </a:r>
          </a:p>
        </p:txBody>
      </p:sp>
      <p:sp>
        <p:nvSpPr>
          <p:cNvPr id="21" name="TextBox 20"/>
          <p:cNvSpPr txBox="1"/>
          <p:nvPr/>
        </p:nvSpPr>
        <p:spPr>
          <a:xfrm>
            <a:off x="3658076" y="5274259"/>
            <a:ext cx="7600930"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livre lui-même, souvent grand et cartonné.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4 SUR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Dire ce qu'on en pense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05597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émouvant</a:t>
            </a:r>
          </a:p>
        </p:txBody>
      </p:sp>
      <p:sp>
        <p:nvSpPr>
          <p:cNvPr id="9" name="TextBox 8"/>
          <p:cNvSpPr txBox="1"/>
          <p:nvPr/>
        </p:nvSpPr>
        <p:spPr>
          <a:xfrm>
            <a:off x="3262979" y="2121408"/>
            <a:ext cx="7996027"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Se dit d'une œuvre qui serre le cœur.</a:t>
            </a:r>
          </a:p>
        </p:txBody>
      </p:sp>
      <p:sp>
        <p:nvSpPr>
          <p:cNvPr id="10" name="Rectangle 9"/>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435096"/>
            <a:ext cx="205597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prévisible</a:t>
            </a:r>
          </a:p>
        </p:txBody>
      </p:sp>
      <p:sp>
        <p:nvSpPr>
          <p:cNvPr id="12" name="TextBox 11"/>
          <p:cNvSpPr txBox="1"/>
          <p:nvPr/>
        </p:nvSpPr>
        <p:spPr>
          <a:xfrm>
            <a:off x="3262979" y="3435096"/>
            <a:ext cx="7996027"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Se dit d'une histoire dont on devine la suite d'avance.</a:t>
            </a:r>
          </a:p>
        </p:txBody>
      </p:sp>
      <p:sp>
        <p:nvSpPr>
          <p:cNvPr id="13" name="Rectangle 12"/>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748784"/>
            <a:ext cx="205597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recommander</a:t>
            </a:r>
          </a:p>
        </p:txBody>
      </p:sp>
      <p:sp>
        <p:nvSpPr>
          <p:cNvPr id="15" name="TextBox 14"/>
          <p:cNvSpPr txBox="1"/>
          <p:nvPr/>
        </p:nvSpPr>
        <p:spPr>
          <a:xfrm>
            <a:off x="3262979" y="4748784"/>
            <a:ext cx="7996027"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Conseiller une œuvre en disant pourquoi.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L'OBJET ET SON CONTENU</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Deux mots pour la même chose, et ce n'est pas pareil</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PARLE DE L'OBJET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PARLE DE CE QU'IL CONTIENT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roman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l'histoire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l'album</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récit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livre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l'intrigue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série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les épisodes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l'achète, on l'emprunte</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On la raconte, on l'aime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MOT JUSTE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mot qui convient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œuvre · roman · série · album · extrait · coup de cœur</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membre du club présente une ___ qu'il a aimée.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fini mon ___ de quatre cents pages dans l'autobus.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compte huit épisodes de quarante minutes chacun.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L'___ que vous tenez est le premier tome de la série.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lit un ___ de deux pages pour donner le ton.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comptoir affiche les ___ du mois sur de petits cartons.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mot qui convient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membre du club présente une ___ qu'il a aimée.   </a:t>
            </a:r>
            <a:r>
              <a:rPr sz="1400" b="1" i="0">
                <a:solidFill>
                  <a:srgbClr val="07734A"/>
                </a:solidFill>
                <a:latin typeface="Verdana"/>
              </a:rPr>
              <a:t>» œuvre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fini mon ___ de quatre cents pages dans l'autobus.   </a:t>
            </a:r>
            <a:r>
              <a:rPr sz="1400" b="1" i="0">
                <a:solidFill>
                  <a:srgbClr val="07734A"/>
                </a:solidFill>
                <a:latin typeface="Verdana"/>
              </a:rPr>
              <a:t>» roman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___ compte huit épisodes de quarante minutes chacun.   </a:t>
            </a:r>
            <a:r>
              <a:rPr sz="1400" b="1" i="0">
                <a:solidFill>
                  <a:srgbClr val="07734A"/>
                </a:solidFill>
                <a:latin typeface="Verdana"/>
              </a:rPr>
              <a:t>» série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L'___ que vous tenez est le premier tome de la série.   </a:t>
            </a:r>
            <a:r>
              <a:rPr sz="1400" b="1" i="0">
                <a:solidFill>
                  <a:srgbClr val="07734A"/>
                </a:solidFill>
                <a:latin typeface="Verdana"/>
              </a:rPr>
              <a:t>» album</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lit un ___ de deux pages pour donner le ton.   </a:t>
            </a:r>
            <a:r>
              <a:rPr sz="1400" b="1" i="0">
                <a:solidFill>
                  <a:srgbClr val="07734A"/>
                </a:solidFill>
                <a:latin typeface="Verdana"/>
              </a:rPr>
              <a:t>» extrait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comptoir affiche les ___ du mois sur de petits cartons.   </a:t>
            </a:r>
            <a:r>
              <a:rPr sz="1400" b="1" i="0">
                <a:solidFill>
                  <a:srgbClr val="07734A"/>
                </a:solidFill>
                <a:latin typeface="Verdana"/>
              </a:rPr>
              <a:t>» coups de cœur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CONFONDRE LA SÉRIE ET L'ALBUM</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lu la série au complet. (…il n'a lu qu'un tome)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lu le premier tome de la série.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série est l'ensemble ; l'album ou le tome est le livre qu'on a entre les mains. Au comptoir de la bibliothèque, la différence décide de ce qu'on vous donne.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cinq des seize mots, avec la définition dans vos propres mots.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Choisissez au moins un mot de la bande dessinée.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Choisissez au moins un adjectif pour dire ce qu'on pense d'une œuvre.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