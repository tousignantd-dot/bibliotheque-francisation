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Séance de vocabulaire. Elle prépare tout le reste du module : les mots de la troisième famille servent au défi 2, ceux de la quatrième au défi 3. Ne pas tout donner d'un coup — les quatre familles se présentent l'une après l'autre, avec un temps de pratique entre chacune.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deuxième objectif revient plusieurs fois dans le module : « le roman » désigne l'objet, « l'histoire » désigne ce qu'il y a dedans. La distinction sert à la reprise du défi 2 et elle règle plusieurs fautes d'un coup.</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Beaucoup d'élèves ont lu de la bande dessinée dans leur langue et n'ont jamais eu besoin de la nommer en français. Faire écrire les mots de la langue première au tableau à côté des mots français : la comparaison des onomatopées est toujours un bon moment.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Un coup de cœur » est le mot de la bibliothèque : il est sur les cartons du comptoir, sur les tablettes, dans les infolettres. Le comprendre, c'est comprendre la moitié des affiches de l'entrée.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Le dénouement » est le mot le plus important de la séance : c'est la limite du défi 1. Faire répéter la phrase du club : « on s'arrête avant le dénouement ».</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Donner l'ordre du plus petit au plus grand : bulle, case, planche, album. Une bulle tient dans une case, une case tient dans une planche, une planche tient dans un album. Retenu comme ça, personne ne se trompe plus.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 trois mots préparent le défi 3. Demander au groupe trois autres adjectifs pour parler d'une œuvre : lent, drôle, dur, surprenant, reposant. Les écrire au tableau et les garder affichés jusqu'à E1.</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dernière rangée donne le test : on achète un livre, on raconte une histoire. « J'ai acheté une histoire » ne se dit pas. La distinction servira à la reprise du défi 2, où il faut changer de mot à chaque phrase sans changer de sujet.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C'est l'exercice `prMot` du module interactif. Le faire à l'oral d'abord, puis le laisser refaire à l'écran. Sur la première ligne, accepter aussi « œuvre » au pluriel si l'élève l'explique.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la même distinction pour les séries télévisées : une saison, un épisode, la série. Les élèves qui regardent des séries l'ont déjà, et ils peuvent l'expliquer aux autres mieux que l'enseignante.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billet vérifie la séance et prépare les cartes mémoire du module : les définitions écrites par les élèves sont souvent meilleures que celles du banc, et elles se réemploient à la séance E2.</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SÉANCE A3  ·  MODULE 13</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Les seize mots du club</a:t>
            </a:r>
          </a:p>
        </p:txBody>
      </p:sp>
      <p:sp>
        <p:nvSpPr>
          <p:cNvPr id="5" name="Rounded Rectangle 4"/>
          <p:cNvSpPr/>
          <p:nvPr/>
        </p:nvSpPr>
        <p:spPr>
          <a:xfrm>
            <a:off x="566928" y="3794760"/>
            <a:ext cx="9960559" cy="2131568"/>
          </a:xfrm>
          <a:prstGeom prst="roundRect">
            <a:avLst>
              <a:gd name="adj" fmla="val 686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15189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Quatre familles : ce qu'on apporte, ce qui fait une histoire, les mots de la bande dessinée, et ceux de l'appréciation. Les seize se retrouvent dans les cartes mémoire du module et dans les trois exercices de « Je retiens des mots ».</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75 minutes  ·  Le club du jeudi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Le club du jeudi</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nommer une œuvre et son support avec le mot précis ;</a:t>
            </a:r>
          </a:p>
        </p:txBody>
      </p:sp>
      <p:sp>
        <p:nvSpPr>
          <p:cNvPr id="11" name="Rounded Rectangle 10"/>
          <p:cNvSpPr/>
          <p:nvPr/>
        </p:nvSpPr>
        <p:spPr>
          <a:xfrm>
            <a:off x="566928" y="2650744"/>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2828544"/>
            <a:ext cx="402336" cy="402336"/>
          </a:xfrm>
          <a:prstGeom prst="roundRect">
            <a:avLst>
              <a:gd name="adj" fmla="val 31818"/>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2910840"/>
            <a:ext cx="402336" cy="274320"/>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2</a:t>
            </a:r>
          </a:p>
        </p:txBody>
      </p:sp>
      <p:sp>
        <p:nvSpPr>
          <p:cNvPr id="14" name="TextBox 13"/>
          <p:cNvSpPr txBox="1"/>
          <p:nvPr/>
        </p:nvSpPr>
        <p:spPr>
          <a:xfrm>
            <a:off x="1408176" y="28519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distinguer l'objet — le livre, l'album — de ce qu'il contient — l'histoire ;</a:t>
            </a:r>
          </a:p>
        </p:txBody>
      </p:sp>
      <p:sp>
        <p:nvSpPr>
          <p:cNvPr id="15" name="Rounded Rectangle 14"/>
          <p:cNvSpPr/>
          <p:nvPr/>
        </p:nvSpPr>
        <p:spPr>
          <a:xfrm>
            <a:off x="566928" y="3536696"/>
            <a:ext cx="11057839" cy="1113536"/>
          </a:xfrm>
          <a:prstGeom prst="roundRect">
            <a:avLst>
              <a:gd name="adj" fmla="val 1313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3892296"/>
            <a:ext cx="402336" cy="402336"/>
          </a:xfrm>
          <a:prstGeom prst="roundRect">
            <a:avLst>
              <a:gd name="adj" fmla="val 31818"/>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3974592"/>
            <a:ext cx="402336" cy="274320"/>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3</a:t>
            </a:r>
          </a:p>
        </p:txBody>
      </p:sp>
      <p:sp>
        <p:nvSpPr>
          <p:cNvPr id="18" name="TextBox 17"/>
          <p:cNvSpPr txBox="1"/>
          <p:nvPr/>
        </p:nvSpPr>
        <p:spPr>
          <a:xfrm>
            <a:off x="1408176" y="3737864"/>
            <a:ext cx="9549079" cy="7477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employer les mots de la bande dessinée : case, bulle, planche, onomatopée ;</a:t>
            </a:r>
          </a:p>
        </p:txBody>
      </p:sp>
      <p:sp>
        <p:nvSpPr>
          <p:cNvPr id="19" name="Rounded Rectangle 18"/>
          <p:cNvSpPr/>
          <p:nvPr/>
        </p:nvSpPr>
        <p:spPr>
          <a:xfrm>
            <a:off x="566928" y="47782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956048"/>
            <a:ext cx="402336" cy="402336"/>
          </a:xfrm>
          <a:prstGeom prst="roundRect">
            <a:avLst>
              <a:gd name="adj" fmla="val 31818"/>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5038344"/>
            <a:ext cx="402336" cy="274320"/>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4</a:t>
            </a:r>
          </a:p>
        </p:txBody>
      </p:sp>
      <p:sp>
        <p:nvSpPr>
          <p:cNvPr id="22" name="TextBox 21"/>
          <p:cNvSpPr txBox="1"/>
          <p:nvPr/>
        </p:nvSpPr>
        <p:spPr>
          <a:xfrm>
            <a:off x="1408176" y="4979415"/>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remplacer « c'est bon » par un adjectif qui dit quelque chose.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Le club du jeudi</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MISE EN ROUTE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2800" b="1" i="0">
                <a:solidFill>
                  <a:srgbClr val="17181A"/>
                </a:solidFill>
                <a:latin typeface="Verdana"/>
              </a:rPr>
              <a:t>Comment appelle-t-on la page complète d'une bande dessinée ? Et le petit carré dedans ?</a:t>
            </a:r>
          </a:p>
        </p:txBody>
      </p:sp>
      <p:sp>
        <p:nvSpPr>
          <p:cNvPr id="7" name="Rounded Rectangle 6"/>
          <p:cNvSpPr/>
          <p:nvPr/>
        </p:nvSpPr>
        <p:spPr>
          <a:xfrm>
            <a:off x="566928" y="1856232"/>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965960"/>
            <a:ext cx="50292" cy="484123"/>
          </a:xfrm>
          <a:prstGeom prst="rect">
            <a:avLst/>
          </a:prstGeom>
          <a:solidFill>
            <a:srgbClr val="A53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50976" y="2039112"/>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Quels mots employez-vous dans votre première langue ?</a:t>
            </a:r>
          </a:p>
        </p:txBody>
      </p:sp>
      <p:sp>
        <p:nvSpPr>
          <p:cNvPr id="10" name="Rounded Rectangle 9"/>
          <p:cNvSpPr/>
          <p:nvPr/>
        </p:nvSpPr>
        <p:spPr>
          <a:xfrm>
            <a:off x="566928" y="2642108"/>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566928" y="2751836"/>
            <a:ext cx="50292" cy="484123"/>
          </a:xfrm>
          <a:prstGeom prst="rect">
            <a:avLst/>
          </a:prstGeom>
          <a:solidFill>
            <a:srgbClr val="A53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50976" y="2824988"/>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Est-ce qu'un « album » veut dire la même chose en français ?</a:t>
            </a:r>
          </a:p>
        </p:txBody>
      </p:sp>
      <p:sp>
        <p:nvSpPr>
          <p:cNvPr id="13" name="Rounded Rectangle 12"/>
          <p:cNvSpPr/>
          <p:nvPr/>
        </p:nvSpPr>
        <p:spPr>
          <a:xfrm>
            <a:off x="566928" y="3427984"/>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566928" y="3537712"/>
            <a:ext cx="50292" cy="484123"/>
          </a:xfrm>
          <a:prstGeom prst="rect">
            <a:avLst/>
          </a:prstGeom>
          <a:solidFill>
            <a:srgbClr val="A53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50976" y="3610864"/>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Comment dit-on le bruit écrit en grosses lettres : BANG, TOC ?</a:t>
            </a:r>
          </a:p>
        </p:txBody>
      </p:sp>
      <p:sp>
        <p:nvSpPr>
          <p:cNvPr id="16" name="Rounded Rectangle 15"/>
          <p:cNvSpPr/>
          <p:nvPr/>
        </p:nvSpPr>
        <p:spPr>
          <a:xfrm>
            <a:off x="566928" y="4213860"/>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566928" y="4323588"/>
            <a:ext cx="50292" cy="484123"/>
          </a:xfrm>
          <a:prstGeom prst="rect">
            <a:avLst/>
          </a:prstGeom>
          <a:solidFill>
            <a:srgbClr val="A53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50976" y="4396740"/>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Et l'histoire elle-même, comment l'appelle-t-on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Le club du jeudi</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FAMILLE 1 SUR 4</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Ce qu'on apporte au club</a:t>
            </a:r>
          </a:p>
        </p:txBody>
      </p:sp>
      <p:sp>
        <p:nvSpPr>
          <p:cNvPr id="7" name="Rounded Rectangle 6"/>
          <p:cNvSpPr/>
          <p:nvPr/>
        </p:nvSpPr>
        <p:spPr>
          <a:xfrm>
            <a:off x="566928" y="1810512"/>
            <a:ext cx="11057839" cy="4270248"/>
          </a:xfrm>
          <a:prstGeom prst="roundRect">
            <a:avLst>
              <a:gd name="adj" fmla="val 34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21408"/>
            <a:ext cx="2438114" cy="568756"/>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une œuvre</a:t>
            </a:r>
          </a:p>
        </p:txBody>
      </p:sp>
      <p:sp>
        <p:nvSpPr>
          <p:cNvPr id="9" name="TextBox 8"/>
          <p:cNvSpPr txBox="1"/>
          <p:nvPr/>
        </p:nvSpPr>
        <p:spPr>
          <a:xfrm>
            <a:off x="3645122" y="2121408"/>
            <a:ext cx="7613884" cy="568756"/>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Ce que quelqu'un a créé pour être lu, vu ou écouté.</a:t>
            </a:r>
          </a:p>
        </p:txBody>
      </p:sp>
      <p:sp>
        <p:nvSpPr>
          <p:cNvPr id="10" name="Rectangle 9"/>
          <p:cNvSpPr/>
          <p:nvPr/>
        </p:nvSpPr>
        <p:spPr>
          <a:xfrm>
            <a:off x="932688" y="2763316"/>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2909620"/>
            <a:ext cx="2438114" cy="568756"/>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 roman</a:t>
            </a:r>
          </a:p>
        </p:txBody>
      </p:sp>
      <p:sp>
        <p:nvSpPr>
          <p:cNvPr id="12" name="TextBox 11"/>
          <p:cNvSpPr txBox="1"/>
          <p:nvPr/>
        </p:nvSpPr>
        <p:spPr>
          <a:xfrm>
            <a:off x="3645122" y="2909620"/>
            <a:ext cx="7613884" cy="568756"/>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Un livre épais qui raconte une histoire inventée.</a:t>
            </a:r>
          </a:p>
        </p:txBody>
      </p:sp>
      <p:sp>
        <p:nvSpPr>
          <p:cNvPr id="13" name="Rectangle 12"/>
          <p:cNvSpPr/>
          <p:nvPr/>
        </p:nvSpPr>
        <p:spPr>
          <a:xfrm>
            <a:off x="932688" y="3551529"/>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32688" y="3697833"/>
            <a:ext cx="2438114" cy="568756"/>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une série</a:t>
            </a:r>
          </a:p>
        </p:txBody>
      </p:sp>
      <p:sp>
        <p:nvSpPr>
          <p:cNvPr id="15" name="TextBox 14"/>
          <p:cNvSpPr txBox="1"/>
          <p:nvPr/>
        </p:nvSpPr>
        <p:spPr>
          <a:xfrm>
            <a:off x="3645122" y="3697833"/>
            <a:ext cx="7613884" cy="568756"/>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Une histoire coupée en épisodes qu'on suit l'un après l'autre.</a:t>
            </a:r>
          </a:p>
        </p:txBody>
      </p:sp>
      <p:sp>
        <p:nvSpPr>
          <p:cNvPr id="16" name="Rectangle 15"/>
          <p:cNvSpPr/>
          <p:nvPr/>
        </p:nvSpPr>
        <p:spPr>
          <a:xfrm>
            <a:off x="932688" y="4339742"/>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32688" y="4486046"/>
            <a:ext cx="2438114" cy="568756"/>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 coup de cœur</a:t>
            </a:r>
          </a:p>
        </p:txBody>
      </p:sp>
      <p:sp>
        <p:nvSpPr>
          <p:cNvPr id="18" name="TextBox 17"/>
          <p:cNvSpPr txBox="1"/>
          <p:nvPr/>
        </p:nvSpPr>
        <p:spPr>
          <a:xfrm>
            <a:off x="3645122" y="4486046"/>
            <a:ext cx="7613884" cy="568756"/>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L'œuvre qu'on a envie de faire connaître tout de suite.</a:t>
            </a:r>
          </a:p>
        </p:txBody>
      </p:sp>
      <p:sp>
        <p:nvSpPr>
          <p:cNvPr id="19" name="Rectangle 18"/>
          <p:cNvSpPr/>
          <p:nvPr/>
        </p:nvSpPr>
        <p:spPr>
          <a:xfrm>
            <a:off x="932688" y="5127955"/>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32688" y="5274259"/>
            <a:ext cx="2438114" cy="568756"/>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 extrait</a:t>
            </a:r>
          </a:p>
        </p:txBody>
      </p:sp>
      <p:sp>
        <p:nvSpPr>
          <p:cNvPr id="21" name="TextBox 20"/>
          <p:cNvSpPr txBox="1"/>
          <p:nvPr/>
        </p:nvSpPr>
        <p:spPr>
          <a:xfrm>
            <a:off x="3645122" y="5274259"/>
            <a:ext cx="7613884" cy="568756"/>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Un petit morceau : quelques pages, quelques minutes.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Le club du jeudi</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FAMILLE 2 SUR 4</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Ce qui fait une histoire</a:t>
            </a:r>
          </a:p>
        </p:txBody>
      </p:sp>
      <p:sp>
        <p:nvSpPr>
          <p:cNvPr id="7" name="Rounded Rectangle 6"/>
          <p:cNvSpPr/>
          <p:nvPr/>
        </p:nvSpPr>
        <p:spPr>
          <a:xfrm>
            <a:off x="566928" y="1810512"/>
            <a:ext cx="11057839" cy="4270248"/>
          </a:xfrm>
          <a:prstGeom prst="roundRect">
            <a:avLst>
              <a:gd name="adj" fmla="val 34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21408"/>
            <a:ext cx="2196846" cy="1094232"/>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l'intrigue</a:t>
            </a:r>
          </a:p>
        </p:txBody>
      </p:sp>
      <p:sp>
        <p:nvSpPr>
          <p:cNvPr id="9" name="TextBox 8"/>
          <p:cNvSpPr txBox="1"/>
          <p:nvPr/>
        </p:nvSpPr>
        <p:spPr>
          <a:xfrm>
            <a:off x="3403854" y="2121408"/>
            <a:ext cx="7855153" cy="1094232"/>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L'histoire elle-même : ce qui arrive aux personnages.</a:t>
            </a:r>
          </a:p>
        </p:txBody>
      </p:sp>
      <p:sp>
        <p:nvSpPr>
          <p:cNvPr id="10" name="Rectangle 9"/>
          <p:cNvSpPr/>
          <p:nvPr/>
        </p:nvSpPr>
        <p:spPr>
          <a:xfrm>
            <a:off x="932688" y="3288792"/>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3435096"/>
            <a:ext cx="2196846" cy="1094232"/>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 personnage</a:t>
            </a:r>
          </a:p>
        </p:txBody>
      </p:sp>
      <p:sp>
        <p:nvSpPr>
          <p:cNvPr id="12" name="TextBox 11"/>
          <p:cNvSpPr txBox="1"/>
          <p:nvPr/>
        </p:nvSpPr>
        <p:spPr>
          <a:xfrm>
            <a:off x="3403854" y="3435096"/>
            <a:ext cx="7855153" cy="1094232"/>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Une personne inventée à qui il arrive quelque chose.</a:t>
            </a:r>
          </a:p>
        </p:txBody>
      </p:sp>
      <p:sp>
        <p:nvSpPr>
          <p:cNvPr id="13" name="Rectangle 12"/>
          <p:cNvSpPr/>
          <p:nvPr/>
        </p:nvSpPr>
        <p:spPr>
          <a:xfrm>
            <a:off x="932688" y="460248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32688" y="4748784"/>
            <a:ext cx="2196846" cy="1094232"/>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le dénouement</a:t>
            </a:r>
          </a:p>
        </p:txBody>
      </p:sp>
      <p:sp>
        <p:nvSpPr>
          <p:cNvPr id="15" name="TextBox 14"/>
          <p:cNvSpPr txBox="1"/>
          <p:nvPr/>
        </p:nvSpPr>
        <p:spPr>
          <a:xfrm>
            <a:off x="3403854" y="4748784"/>
            <a:ext cx="7855153" cy="1094232"/>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La toute fin, celle qui ne se raconte jamais.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Le club du jeudi</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FAMILLE 3 SUR 4</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Les mots de la bande dessinée</a:t>
            </a:r>
          </a:p>
        </p:txBody>
      </p:sp>
      <p:sp>
        <p:nvSpPr>
          <p:cNvPr id="7" name="Rounded Rectangle 6"/>
          <p:cNvSpPr/>
          <p:nvPr/>
        </p:nvSpPr>
        <p:spPr>
          <a:xfrm>
            <a:off x="566928" y="1810512"/>
            <a:ext cx="11057839" cy="4270248"/>
          </a:xfrm>
          <a:prstGeom prst="roundRect">
            <a:avLst>
              <a:gd name="adj" fmla="val 34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21408"/>
            <a:ext cx="2451068" cy="568756"/>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une case</a:t>
            </a:r>
          </a:p>
        </p:txBody>
      </p:sp>
      <p:sp>
        <p:nvSpPr>
          <p:cNvPr id="9" name="TextBox 8"/>
          <p:cNvSpPr txBox="1"/>
          <p:nvPr/>
        </p:nvSpPr>
        <p:spPr>
          <a:xfrm>
            <a:off x="3658076" y="2121408"/>
            <a:ext cx="7600930" cy="568756"/>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Le petit cadre, avec un dessin à l'intérieur.</a:t>
            </a:r>
          </a:p>
        </p:txBody>
      </p:sp>
      <p:sp>
        <p:nvSpPr>
          <p:cNvPr id="10" name="Rectangle 9"/>
          <p:cNvSpPr/>
          <p:nvPr/>
        </p:nvSpPr>
        <p:spPr>
          <a:xfrm>
            <a:off x="932688" y="2763316"/>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2909620"/>
            <a:ext cx="2451068" cy="568756"/>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une bulle</a:t>
            </a:r>
          </a:p>
        </p:txBody>
      </p:sp>
      <p:sp>
        <p:nvSpPr>
          <p:cNvPr id="12" name="TextBox 11"/>
          <p:cNvSpPr txBox="1"/>
          <p:nvPr/>
        </p:nvSpPr>
        <p:spPr>
          <a:xfrm>
            <a:off x="3658076" y="2909620"/>
            <a:ext cx="7600930" cy="568756"/>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La forme blanche qui contient les paroles d'un personnage.</a:t>
            </a:r>
          </a:p>
        </p:txBody>
      </p:sp>
      <p:sp>
        <p:nvSpPr>
          <p:cNvPr id="13" name="Rectangle 12"/>
          <p:cNvSpPr/>
          <p:nvPr/>
        </p:nvSpPr>
        <p:spPr>
          <a:xfrm>
            <a:off x="932688" y="3551529"/>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32688" y="3697833"/>
            <a:ext cx="2451068" cy="568756"/>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une planche</a:t>
            </a:r>
          </a:p>
        </p:txBody>
      </p:sp>
      <p:sp>
        <p:nvSpPr>
          <p:cNvPr id="15" name="TextBox 14"/>
          <p:cNvSpPr txBox="1"/>
          <p:nvPr/>
        </p:nvSpPr>
        <p:spPr>
          <a:xfrm>
            <a:off x="3658076" y="3697833"/>
            <a:ext cx="7600930" cy="568756"/>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La page complète, avec toutes ses cases.</a:t>
            </a:r>
          </a:p>
        </p:txBody>
      </p:sp>
      <p:sp>
        <p:nvSpPr>
          <p:cNvPr id="16" name="Rectangle 15"/>
          <p:cNvSpPr/>
          <p:nvPr/>
        </p:nvSpPr>
        <p:spPr>
          <a:xfrm>
            <a:off x="932688" y="4339742"/>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32688" y="4486046"/>
            <a:ext cx="2451068" cy="568756"/>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une onomatopée</a:t>
            </a:r>
          </a:p>
        </p:txBody>
      </p:sp>
      <p:sp>
        <p:nvSpPr>
          <p:cNvPr id="18" name="TextBox 17"/>
          <p:cNvSpPr txBox="1"/>
          <p:nvPr/>
        </p:nvSpPr>
        <p:spPr>
          <a:xfrm>
            <a:off x="3658076" y="4486046"/>
            <a:ext cx="7600930" cy="568756"/>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Un bruit écrit en grosses lettres, hors des bulles.</a:t>
            </a:r>
          </a:p>
        </p:txBody>
      </p:sp>
      <p:sp>
        <p:nvSpPr>
          <p:cNvPr id="19" name="Rectangle 18"/>
          <p:cNvSpPr/>
          <p:nvPr/>
        </p:nvSpPr>
        <p:spPr>
          <a:xfrm>
            <a:off x="932688" y="5127955"/>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32688" y="5274259"/>
            <a:ext cx="2451068" cy="568756"/>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 album</a:t>
            </a:r>
          </a:p>
        </p:txBody>
      </p:sp>
      <p:sp>
        <p:nvSpPr>
          <p:cNvPr id="21" name="TextBox 20"/>
          <p:cNvSpPr txBox="1"/>
          <p:nvPr/>
        </p:nvSpPr>
        <p:spPr>
          <a:xfrm>
            <a:off x="3658076" y="5274259"/>
            <a:ext cx="7600930" cy="568756"/>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Le livre lui-même, souvent grand et cartonné.</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Le club du jeudi</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FAMILLE 4 SUR 4</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Dire ce qu'on en pense</a:t>
            </a:r>
          </a:p>
        </p:txBody>
      </p:sp>
      <p:sp>
        <p:nvSpPr>
          <p:cNvPr id="7" name="Rounded Rectangle 6"/>
          <p:cNvSpPr/>
          <p:nvPr/>
        </p:nvSpPr>
        <p:spPr>
          <a:xfrm>
            <a:off x="566928" y="1810512"/>
            <a:ext cx="11057839" cy="4270248"/>
          </a:xfrm>
          <a:prstGeom prst="roundRect">
            <a:avLst>
              <a:gd name="adj" fmla="val 34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21408"/>
            <a:ext cx="2055971" cy="1094232"/>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émouvant</a:t>
            </a:r>
          </a:p>
        </p:txBody>
      </p:sp>
      <p:sp>
        <p:nvSpPr>
          <p:cNvPr id="9" name="TextBox 8"/>
          <p:cNvSpPr txBox="1"/>
          <p:nvPr/>
        </p:nvSpPr>
        <p:spPr>
          <a:xfrm>
            <a:off x="3262979" y="2121408"/>
            <a:ext cx="7996027" cy="1094232"/>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Se dit d'une œuvre qui serre le cœur.</a:t>
            </a:r>
          </a:p>
        </p:txBody>
      </p:sp>
      <p:sp>
        <p:nvSpPr>
          <p:cNvPr id="10" name="Rectangle 9"/>
          <p:cNvSpPr/>
          <p:nvPr/>
        </p:nvSpPr>
        <p:spPr>
          <a:xfrm>
            <a:off x="932688" y="3288792"/>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3435096"/>
            <a:ext cx="2055971" cy="1094232"/>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prévisible</a:t>
            </a:r>
          </a:p>
        </p:txBody>
      </p:sp>
      <p:sp>
        <p:nvSpPr>
          <p:cNvPr id="12" name="TextBox 11"/>
          <p:cNvSpPr txBox="1"/>
          <p:nvPr/>
        </p:nvSpPr>
        <p:spPr>
          <a:xfrm>
            <a:off x="3262979" y="3435096"/>
            <a:ext cx="7996027" cy="1094232"/>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Se dit d'une histoire dont on devine la suite d'avance.</a:t>
            </a:r>
          </a:p>
        </p:txBody>
      </p:sp>
      <p:sp>
        <p:nvSpPr>
          <p:cNvPr id="13" name="Rectangle 12"/>
          <p:cNvSpPr/>
          <p:nvPr/>
        </p:nvSpPr>
        <p:spPr>
          <a:xfrm>
            <a:off x="932688" y="460248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32688" y="4748784"/>
            <a:ext cx="2055971" cy="1094232"/>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recommander</a:t>
            </a:r>
          </a:p>
        </p:txBody>
      </p:sp>
      <p:sp>
        <p:nvSpPr>
          <p:cNvPr id="15" name="TextBox 14"/>
          <p:cNvSpPr txBox="1"/>
          <p:nvPr/>
        </p:nvSpPr>
        <p:spPr>
          <a:xfrm>
            <a:off x="3262979" y="4748784"/>
            <a:ext cx="7996027" cy="1094232"/>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Conseiller une œuvre en disant pourquoi.</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Le club du jeudi</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L'OBJET ET SON CONTENU</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2800" b="1" i="0">
                <a:solidFill>
                  <a:srgbClr val="17181A"/>
                </a:solidFill>
                <a:latin typeface="Verdana"/>
              </a:rPr>
              <a:t>Deux mots pour la même chose, et ce n'est pas pareil</a:t>
            </a:r>
          </a:p>
        </p:txBody>
      </p:sp>
      <p:sp>
        <p:nvSpPr>
          <p:cNvPr id="7" name="Rounded Rectangle 6"/>
          <p:cNvSpPr/>
          <p:nvPr/>
        </p:nvSpPr>
        <p:spPr>
          <a:xfrm>
            <a:off x="566928" y="1810512"/>
            <a:ext cx="11057839" cy="3337560"/>
          </a:xfrm>
          <a:prstGeom prst="roundRect">
            <a:avLst>
              <a:gd name="adj" fmla="val 438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ON PARLE DE L'OBJET</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ON PARLE DE CE QU'IL CONTIENT</a:t>
            </a:r>
          </a:p>
        </p:txBody>
      </p:sp>
      <p:sp>
        <p:nvSpPr>
          <p:cNvPr id="10" name="TextBox 9"/>
          <p:cNvSpPr txBox="1"/>
          <p:nvPr/>
        </p:nvSpPr>
        <p:spPr>
          <a:xfrm>
            <a:off x="932688" y="2395728"/>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le roman</a:t>
            </a:r>
          </a:p>
        </p:txBody>
      </p:sp>
      <p:sp>
        <p:nvSpPr>
          <p:cNvPr id="11" name="TextBox 10"/>
          <p:cNvSpPr txBox="1"/>
          <p:nvPr/>
        </p:nvSpPr>
        <p:spPr>
          <a:xfrm>
            <a:off x="4443636" y="2395728"/>
            <a:ext cx="6595914" cy="338328"/>
          </a:xfrm>
          <a:prstGeom prst="rect">
            <a:avLst/>
          </a:prstGeom>
          <a:noFill/>
        </p:spPr>
        <p:txBody>
          <a:bodyPr wrap="square" lIns="0" rIns="0" tIns="0" bIns="0" anchor="t">
            <a:spAutoFit/>
          </a:bodyPr>
          <a:lstStyle/>
          <a:p>
            <a:pPr algn="l">
              <a:lnSpc>
                <a:spcPct val="132000"/>
              </a:lnSpc>
            </a:pPr>
            <a:r>
              <a:rPr sz="1800" b="1" i="0">
                <a:solidFill>
                  <a:srgbClr val="A5335F"/>
                </a:solidFill>
                <a:latin typeface="Verdana"/>
              </a:rPr>
              <a:t>l'histoire</a:t>
            </a:r>
          </a:p>
        </p:txBody>
      </p:sp>
      <p:sp>
        <p:nvSpPr>
          <p:cNvPr id="12" name="Rectangle 11"/>
          <p:cNvSpPr/>
          <p:nvPr/>
        </p:nvSpPr>
        <p:spPr>
          <a:xfrm>
            <a:off x="932688" y="28072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2935224"/>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l'album</a:t>
            </a:r>
          </a:p>
        </p:txBody>
      </p:sp>
      <p:sp>
        <p:nvSpPr>
          <p:cNvPr id="14" name="TextBox 13"/>
          <p:cNvSpPr txBox="1"/>
          <p:nvPr/>
        </p:nvSpPr>
        <p:spPr>
          <a:xfrm>
            <a:off x="4443636" y="2935224"/>
            <a:ext cx="6595914" cy="338328"/>
          </a:xfrm>
          <a:prstGeom prst="rect">
            <a:avLst/>
          </a:prstGeom>
          <a:noFill/>
        </p:spPr>
        <p:txBody>
          <a:bodyPr wrap="square" lIns="0" rIns="0" tIns="0" bIns="0" anchor="t">
            <a:spAutoFit/>
          </a:bodyPr>
          <a:lstStyle/>
          <a:p>
            <a:pPr algn="l">
              <a:lnSpc>
                <a:spcPct val="132000"/>
              </a:lnSpc>
            </a:pPr>
            <a:r>
              <a:rPr sz="1800" b="1" i="0">
                <a:solidFill>
                  <a:srgbClr val="A5335F"/>
                </a:solidFill>
                <a:latin typeface="Verdana"/>
              </a:rPr>
              <a:t>le récit</a:t>
            </a:r>
          </a:p>
        </p:txBody>
      </p:sp>
      <p:sp>
        <p:nvSpPr>
          <p:cNvPr id="15" name="Rectangle 14"/>
          <p:cNvSpPr/>
          <p:nvPr/>
        </p:nvSpPr>
        <p:spPr>
          <a:xfrm>
            <a:off x="932688" y="334670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474720"/>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le livre</a:t>
            </a:r>
          </a:p>
        </p:txBody>
      </p:sp>
      <p:sp>
        <p:nvSpPr>
          <p:cNvPr id="17" name="TextBox 16"/>
          <p:cNvSpPr txBox="1"/>
          <p:nvPr/>
        </p:nvSpPr>
        <p:spPr>
          <a:xfrm>
            <a:off x="4443636" y="3474720"/>
            <a:ext cx="6595914" cy="338328"/>
          </a:xfrm>
          <a:prstGeom prst="rect">
            <a:avLst/>
          </a:prstGeom>
          <a:noFill/>
        </p:spPr>
        <p:txBody>
          <a:bodyPr wrap="square" lIns="0" rIns="0" tIns="0" bIns="0" anchor="t">
            <a:spAutoFit/>
          </a:bodyPr>
          <a:lstStyle/>
          <a:p>
            <a:pPr algn="l">
              <a:lnSpc>
                <a:spcPct val="132000"/>
              </a:lnSpc>
            </a:pPr>
            <a:r>
              <a:rPr sz="1800" b="1" i="0">
                <a:solidFill>
                  <a:srgbClr val="A5335F"/>
                </a:solidFill>
                <a:latin typeface="Verdana"/>
              </a:rPr>
              <a:t>l'intrigue</a:t>
            </a:r>
          </a:p>
        </p:txBody>
      </p:sp>
      <p:sp>
        <p:nvSpPr>
          <p:cNvPr id="18" name="Rectangle 17"/>
          <p:cNvSpPr/>
          <p:nvPr/>
        </p:nvSpPr>
        <p:spPr>
          <a:xfrm>
            <a:off x="932688" y="388620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4014215"/>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la série</a:t>
            </a:r>
          </a:p>
        </p:txBody>
      </p:sp>
      <p:sp>
        <p:nvSpPr>
          <p:cNvPr id="20" name="TextBox 19"/>
          <p:cNvSpPr txBox="1"/>
          <p:nvPr/>
        </p:nvSpPr>
        <p:spPr>
          <a:xfrm>
            <a:off x="4443636" y="4014215"/>
            <a:ext cx="6595914" cy="338328"/>
          </a:xfrm>
          <a:prstGeom prst="rect">
            <a:avLst/>
          </a:prstGeom>
          <a:noFill/>
        </p:spPr>
        <p:txBody>
          <a:bodyPr wrap="square" lIns="0" rIns="0" tIns="0" bIns="0" anchor="t">
            <a:spAutoFit/>
          </a:bodyPr>
          <a:lstStyle/>
          <a:p>
            <a:pPr algn="l">
              <a:lnSpc>
                <a:spcPct val="132000"/>
              </a:lnSpc>
            </a:pPr>
            <a:r>
              <a:rPr sz="1800" b="1" i="0">
                <a:solidFill>
                  <a:srgbClr val="A5335F"/>
                </a:solidFill>
                <a:latin typeface="Verdana"/>
              </a:rPr>
              <a:t>les épisodes</a:t>
            </a:r>
          </a:p>
        </p:txBody>
      </p:sp>
      <p:sp>
        <p:nvSpPr>
          <p:cNvPr id="21" name="Rectangle 20"/>
          <p:cNvSpPr/>
          <p:nvPr/>
        </p:nvSpPr>
        <p:spPr>
          <a:xfrm>
            <a:off x="932688" y="4425696"/>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32688" y="4553712"/>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On l'achète, on l'emprunte</a:t>
            </a:r>
          </a:p>
        </p:txBody>
      </p:sp>
      <p:sp>
        <p:nvSpPr>
          <p:cNvPr id="23" name="TextBox 22"/>
          <p:cNvSpPr txBox="1"/>
          <p:nvPr/>
        </p:nvSpPr>
        <p:spPr>
          <a:xfrm>
            <a:off x="4443636" y="4553712"/>
            <a:ext cx="6595914" cy="338328"/>
          </a:xfrm>
          <a:prstGeom prst="rect">
            <a:avLst/>
          </a:prstGeom>
          <a:noFill/>
        </p:spPr>
        <p:txBody>
          <a:bodyPr wrap="square" lIns="0" rIns="0" tIns="0" bIns="0" anchor="t">
            <a:spAutoFit/>
          </a:bodyPr>
          <a:lstStyle/>
          <a:p>
            <a:pPr algn="l">
              <a:lnSpc>
                <a:spcPct val="132000"/>
              </a:lnSpc>
            </a:pPr>
            <a:r>
              <a:rPr sz="1800" b="1" i="0">
                <a:solidFill>
                  <a:srgbClr val="A5335F"/>
                </a:solidFill>
                <a:latin typeface="Verdana"/>
              </a:rPr>
              <a:t>On la raconte, on l'aime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Le club du jeudi</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LE MOT JUSTE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Complétez avec le mot qui convient</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œuvre · roman · série · album · extrait · coup de cœur</a:t>
            </a:r>
          </a:p>
        </p:txBody>
      </p:sp>
      <p:sp>
        <p:nvSpPr>
          <p:cNvPr id="8" name="Rounded Rectangle 7"/>
          <p:cNvSpPr/>
          <p:nvPr/>
        </p:nvSpPr>
        <p:spPr>
          <a:xfrm>
            <a:off x="566928" y="213969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Chaque membre du club présente une ___ qu'il a aimée.</a:t>
            </a:r>
          </a:p>
        </p:txBody>
      </p:sp>
      <p:sp>
        <p:nvSpPr>
          <p:cNvPr id="12" name="Rounded Rectangle 11"/>
          <p:cNvSpPr/>
          <p:nvPr/>
        </p:nvSpPr>
        <p:spPr>
          <a:xfrm>
            <a:off x="566928" y="2827528"/>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J'ai fini mon ___ de quatre cents pages dans l'autobus.</a:t>
            </a:r>
          </a:p>
        </p:txBody>
      </p:sp>
      <p:sp>
        <p:nvSpPr>
          <p:cNvPr id="16" name="Rounded Rectangle 15"/>
          <p:cNvSpPr/>
          <p:nvPr/>
        </p:nvSpPr>
        <p:spPr>
          <a:xfrm>
            <a:off x="566928" y="3515359"/>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 ___ compte huit épisodes de quarante minutes chacun.</a:t>
            </a:r>
          </a:p>
        </p:txBody>
      </p:sp>
      <p:sp>
        <p:nvSpPr>
          <p:cNvPr id="20" name="Rounded Rectangle 19"/>
          <p:cNvSpPr/>
          <p:nvPr/>
        </p:nvSpPr>
        <p:spPr>
          <a:xfrm>
            <a:off x="566928" y="4203192"/>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L'___ que vous tenez est le premier tome de la série.</a:t>
            </a:r>
          </a:p>
        </p:txBody>
      </p:sp>
      <p:sp>
        <p:nvSpPr>
          <p:cNvPr id="24" name="Rounded Rectangle 23"/>
          <p:cNvSpPr/>
          <p:nvPr/>
        </p:nvSpPr>
        <p:spPr>
          <a:xfrm>
            <a:off x="566928" y="4891023"/>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Elle lit un ___ de deux pages pour donner le ton.</a:t>
            </a:r>
          </a:p>
        </p:txBody>
      </p:sp>
      <p:sp>
        <p:nvSpPr>
          <p:cNvPr id="28" name="Rounded Rectangle 27"/>
          <p:cNvSpPr/>
          <p:nvPr/>
        </p:nvSpPr>
        <p:spPr>
          <a:xfrm>
            <a:off x="566928" y="557885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comptoir affiche les ___ du mois sur de petits cartons.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Le club du jeudi</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Complétez avec le mot qui convient</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Chaque membre du club présente une ___ qu'il a aimée.   </a:t>
            </a:r>
            <a:r>
              <a:rPr sz="1400" b="1" i="0">
                <a:solidFill>
                  <a:srgbClr val="07734A"/>
                </a:solidFill>
                <a:latin typeface="Verdana"/>
              </a:rPr>
              <a:t>» œuvre</a:t>
            </a:r>
          </a:p>
        </p:txBody>
      </p:sp>
      <p:sp>
        <p:nvSpPr>
          <p:cNvPr id="12" name="Rounded Rectangle 11"/>
          <p:cNvSpPr/>
          <p:nvPr/>
        </p:nvSpPr>
        <p:spPr>
          <a:xfrm>
            <a:off x="566928" y="2827528"/>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J'ai fini mon ___ de quatre cents pages dans l'autobus.   </a:t>
            </a:r>
            <a:r>
              <a:rPr sz="1400" b="1" i="0">
                <a:solidFill>
                  <a:srgbClr val="07734A"/>
                </a:solidFill>
                <a:latin typeface="Verdana"/>
              </a:rPr>
              <a:t>» roman</a:t>
            </a:r>
          </a:p>
        </p:txBody>
      </p:sp>
      <p:sp>
        <p:nvSpPr>
          <p:cNvPr id="16" name="Rounded Rectangle 15"/>
          <p:cNvSpPr/>
          <p:nvPr/>
        </p:nvSpPr>
        <p:spPr>
          <a:xfrm>
            <a:off x="566928" y="3515359"/>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 ___ compte huit épisodes de quarante minutes chacun.   </a:t>
            </a:r>
            <a:r>
              <a:rPr sz="1400" b="1" i="0">
                <a:solidFill>
                  <a:srgbClr val="07734A"/>
                </a:solidFill>
                <a:latin typeface="Verdana"/>
              </a:rPr>
              <a:t>» série</a:t>
            </a:r>
          </a:p>
        </p:txBody>
      </p:sp>
      <p:sp>
        <p:nvSpPr>
          <p:cNvPr id="20" name="Rounded Rectangle 19"/>
          <p:cNvSpPr/>
          <p:nvPr/>
        </p:nvSpPr>
        <p:spPr>
          <a:xfrm>
            <a:off x="566928" y="4203192"/>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L'___ que vous tenez est le premier tome de la série.   </a:t>
            </a:r>
            <a:r>
              <a:rPr sz="1400" b="1" i="0">
                <a:solidFill>
                  <a:srgbClr val="07734A"/>
                </a:solidFill>
                <a:latin typeface="Verdana"/>
              </a:rPr>
              <a:t>» album</a:t>
            </a:r>
          </a:p>
        </p:txBody>
      </p:sp>
      <p:sp>
        <p:nvSpPr>
          <p:cNvPr id="24" name="Rounded Rectangle 23"/>
          <p:cNvSpPr/>
          <p:nvPr/>
        </p:nvSpPr>
        <p:spPr>
          <a:xfrm>
            <a:off x="566928" y="4891023"/>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Elle lit un ___ de deux pages pour donner le ton.   </a:t>
            </a:r>
            <a:r>
              <a:rPr sz="1400" b="1" i="0">
                <a:solidFill>
                  <a:srgbClr val="07734A"/>
                </a:solidFill>
                <a:latin typeface="Verdana"/>
              </a:rPr>
              <a:t>» extrait</a:t>
            </a:r>
          </a:p>
        </p:txBody>
      </p:sp>
      <p:sp>
        <p:nvSpPr>
          <p:cNvPr id="28" name="Rounded Rectangle 27"/>
          <p:cNvSpPr/>
          <p:nvPr/>
        </p:nvSpPr>
        <p:spPr>
          <a:xfrm>
            <a:off x="566928" y="557885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comptoir affiche les ___ du mois sur de petits cartons.   </a:t>
            </a:r>
            <a:r>
              <a:rPr sz="1400" b="1" i="0">
                <a:solidFill>
                  <a:srgbClr val="07734A"/>
                </a:solidFill>
                <a:latin typeface="Verdana"/>
              </a:rPr>
              <a:t>» coups de cœur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Le club du jeudi</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11</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CONFONDRE LA SÉRIE ET L'ALBUM</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J'ai lu la série au complet. (…il n'a lu qu'un tome)</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J'ai lu le premier tome de la série.</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La série est l'ensemble ; l'album ou le tome est le livre qu'on a entre les mains. Au comptoir de la bibliothèque, la différence décide de ce qu'on vous donne.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Le club du jeudi</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12</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Écrivez cinq des seize mots, avec la définition dans vos propres mots.</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Choisissez au moins un mot de la bande dessinée.</a:t>
            </a:r>
          </a:p>
        </p:txBody>
      </p:sp>
      <p:sp>
        <p:nvSpPr>
          <p:cNvPr id="10" name="Rounded Rectangle 9"/>
          <p:cNvSpPr/>
          <p:nvPr/>
        </p:nvSpPr>
        <p:spPr>
          <a:xfrm>
            <a:off x="566928" y="4680712"/>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Choisissez au moins un adjectif pour dire ce qu'on pense d'une œuvre.</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Le club du jeudi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