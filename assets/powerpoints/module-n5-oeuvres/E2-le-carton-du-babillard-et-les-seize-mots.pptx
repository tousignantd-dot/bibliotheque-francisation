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Prévoir quarante minutes d'écriture en silence, puis le bilan. Rendre au début les billets de E1 et les rétroactions des productions orales : la comparaison est le vrai moment d'apprentissage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carton porte la même œuvre que la présentation de E1 : c'est voulu. Écrire deux fois la même chose, une fois pour l'oreille et une fois pour l'œil, est ce qui fait sentir la différence entre les deux.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donne le vouvoiement : on ne connaît pas son lecteur, donc on le vouvoie. C'est aussi la réponse à la question du registre, qui revient à chaque production écrite du niveau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écrire deux premières phrases au tableau, une qui commence par le support et une qui commence par l'histoire, et faire choisir. Le groupe choisit la première.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des sept points de la liste en ligne. Le septième est l'exclamation avec quel, quelle, quels ou quelles : l'écrire au tableau à côté, parce que c'est celui qu'on oublie. Annoncer les critères avant l'écriture, jamais après.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module entier tient dans ces quatre cartes, et le carton du babillard est le seul endroit où les quatre se rencontrent. Le dire au groupe avant l'écriture.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faute la plus fréquente de cette production, et elle vient d'une bonne intention : on veut être complet. Le nommer ainsi aide les élèves à la voir.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des seize, ceux que le relevé montre comme les moins sûrs. Faire dire chaque mot avec son article et une phrase. Les huit autres se révisent avec les cartes mémoire de l'activité.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cocher individuellement, sans ramasser. Proposer à ceux qui hésitent sur deux points ou plus de refaire le défi correspondant dans l'activité interactive : elle reste ouverte après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ramasser celui-ci. Le module a commencé par une femme qui relisait trois fois une affiche sans oser entrer ; il se termine par la même invitation, adressée à chacun.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carton du babillard, et les seize mots</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À l'entrée de la bibliothèque, un babillard porte les coups de cœur des membres du club. Vous écrivez le vôtre — pour des gens que vous ne connaissez pas, qui le liront debout, en attendant leur tour.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club du jeudi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recommandation de sept à dix phrases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raconter le début au présent, sans la fin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reprendre l'œuvre par un autre mot à chaque fois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point sur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lit ce babillard, et comment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coups-de-coeu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quelqu'un s'arrête-t-il devant un carton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lit debout comme on lit assis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vous ferait prendre le livre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écrivez-vous, si vous ne savez pas qui lira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ON ÉCRIT POUR QUELQU'UN QUI LIT DEBOUT</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Sept à dix phrases, avec « vous ». La première dit de quoi il s'agit.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Personne ne lit trois phrases de contexte devant un babillard. Le support et le genre viennent dès la première phrase — un roman, une bande dessinée, une série — et le reste suit.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CARTON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Sept exigences, annoncées d'avance</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première phrase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support et le genre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début de l'histoire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deux phrases au présent, sans la fin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relative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phrase avec qui, que ou où</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reprise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cette histoire, ce livre, cette œuvre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L'avis mis en avant</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qui m'a touché, c'est… — avec sa raison</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fin</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à qui vous le recommandez, et votre prénom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QUATRE DÉFIS, DANS UN SEUL CARTON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D'où vient chaque phrase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support et le genre</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Bloc A — un roman, une série, une bande dessinée, une chanson.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présent et les relatives</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1 — elle arrive, elle ouvre ; une femme qui revient.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La reprise sans répétition</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2 — cet album, cette histoire, ce premier tome.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L'avis en avant, et l'exclamation</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3 — moi, ce qui m'a touchée, c'est… Quelle fin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RACONTER JUSQU'À LA FIN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…et à la fin, elle décide de rester dans le village.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ouvre la maison et elle trouve une boîte de lettres. Je m'arrête ici.</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carton qui raconte tout n'est plus une recommandation : c'est un résumé, et le livre reste sur le rayon. La règle du club vaut aussi à l'écrit, et elle vaut même davantage — l'écrit se relit.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DU 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Huit des seize mots, une dernière fois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œuvre</a:t>
            </a:r>
          </a:p>
        </p:txBody>
      </p:sp>
      <p:sp>
        <p:nvSpPr>
          <p:cNvPr id="9" name="TextBox 8"/>
          <p:cNvSpPr txBox="1"/>
          <p:nvPr/>
        </p:nvSpPr>
        <p:spPr>
          <a:xfrm>
            <a:off x="3403854" y="2121408"/>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que quelqu'un a écrit, filmé, dessiné ou composé.</a:t>
            </a:r>
          </a:p>
        </p:txBody>
      </p:sp>
      <p:sp>
        <p:nvSpPr>
          <p:cNvPr id="10" name="Rectangle 9"/>
          <p:cNvSpPr/>
          <p:nvPr/>
        </p:nvSpPr>
        <p:spPr>
          <a:xfrm>
            <a:off x="932688" y="2467737"/>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14041"/>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l'intrigue</a:t>
            </a:r>
          </a:p>
        </p:txBody>
      </p:sp>
      <p:sp>
        <p:nvSpPr>
          <p:cNvPr id="12" name="TextBox 11"/>
          <p:cNvSpPr txBox="1"/>
          <p:nvPr/>
        </p:nvSpPr>
        <p:spPr>
          <a:xfrm>
            <a:off x="3403854" y="2614041"/>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arrive dans l'histoire, du début à la fin.</a:t>
            </a:r>
          </a:p>
        </p:txBody>
      </p:sp>
      <p:sp>
        <p:nvSpPr>
          <p:cNvPr id="13" name="Rectangle 12"/>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106674"/>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dénouement</a:t>
            </a:r>
          </a:p>
        </p:txBody>
      </p:sp>
      <p:sp>
        <p:nvSpPr>
          <p:cNvPr id="15" name="TextBox 14"/>
          <p:cNvSpPr txBox="1"/>
          <p:nvPr/>
        </p:nvSpPr>
        <p:spPr>
          <a:xfrm>
            <a:off x="3403854" y="3106674"/>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fin de l'histoire : ce qu'on ne raconte jamais au club.</a:t>
            </a:r>
          </a:p>
        </p:txBody>
      </p:sp>
      <p:sp>
        <p:nvSpPr>
          <p:cNvPr id="16" name="Rectangle 15"/>
          <p:cNvSpPr/>
          <p:nvPr/>
        </p:nvSpPr>
        <p:spPr>
          <a:xfrm>
            <a:off x="932688" y="34530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599307"/>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personnage</a:t>
            </a:r>
          </a:p>
        </p:txBody>
      </p:sp>
      <p:sp>
        <p:nvSpPr>
          <p:cNvPr id="18" name="TextBox 17"/>
          <p:cNvSpPr txBox="1"/>
          <p:nvPr/>
        </p:nvSpPr>
        <p:spPr>
          <a:xfrm>
            <a:off x="3403854" y="3599307"/>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Quelqu'un qui vit dans l'histoire.</a:t>
            </a:r>
          </a:p>
        </p:txBody>
      </p:sp>
      <p:sp>
        <p:nvSpPr>
          <p:cNvPr id="19" name="Rectangle 18"/>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091939"/>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case</a:t>
            </a:r>
          </a:p>
        </p:txBody>
      </p:sp>
      <p:sp>
        <p:nvSpPr>
          <p:cNvPr id="21" name="TextBox 20"/>
          <p:cNvSpPr txBox="1"/>
          <p:nvPr/>
        </p:nvSpPr>
        <p:spPr>
          <a:xfrm>
            <a:off x="3403854" y="4091939"/>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petit carré dessiné d'une bande dessinée.</a:t>
            </a:r>
          </a:p>
        </p:txBody>
      </p:sp>
      <p:sp>
        <p:nvSpPr>
          <p:cNvPr id="22" name="Rectangle 21"/>
          <p:cNvSpPr/>
          <p:nvPr/>
        </p:nvSpPr>
        <p:spPr>
          <a:xfrm>
            <a:off x="932688" y="443826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584573"/>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bulle</a:t>
            </a:r>
          </a:p>
        </p:txBody>
      </p:sp>
      <p:sp>
        <p:nvSpPr>
          <p:cNvPr id="24" name="TextBox 23"/>
          <p:cNvSpPr txBox="1"/>
          <p:nvPr/>
        </p:nvSpPr>
        <p:spPr>
          <a:xfrm>
            <a:off x="3403854" y="4584573"/>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forme où l'on met ce qu'un personnage dit.</a:t>
            </a:r>
          </a:p>
        </p:txBody>
      </p:sp>
      <p:sp>
        <p:nvSpPr>
          <p:cNvPr id="25" name="Rectangle 24"/>
          <p:cNvSpPr/>
          <p:nvPr/>
        </p:nvSpPr>
        <p:spPr>
          <a:xfrm>
            <a:off x="932688" y="49309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5077206"/>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émouvant</a:t>
            </a:r>
          </a:p>
        </p:txBody>
      </p:sp>
      <p:sp>
        <p:nvSpPr>
          <p:cNvPr id="27" name="TextBox 26"/>
          <p:cNvSpPr txBox="1"/>
          <p:nvPr/>
        </p:nvSpPr>
        <p:spPr>
          <a:xfrm>
            <a:off x="3403854" y="5077206"/>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Qui touche, qui serre le cœur sans être triste.</a:t>
            </a:r>
          </a:p>
        </p:txBody>
      </p:sp>
      <p:sp>
        <p:nvSpPr>
          <p:cNvPr id="28" name="Rectangle 27"/>
          <p:cNvSpPr/>
          <p:nvPr/>
        </p:nvSpPr>
        <p:spPr>
          <a:xfrm>
            <a:off x="932688" y="54235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5569839"/>
            <a:ext cx="21968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recommander</a:t>
            </a:r>
          </a:p>
        </p:txBody>
      </p:sp>
      <p:sp>
        <p:nvSpPr>
          <p:cNvPr id="30" name="TextBox 29"/>
          <p:cNvSpPr txBox="1"/>
          <p:nvPr/>
        </p:nvSpPr>
        <p:spPr>
          <a:xfrm>
            <a:off x="3403854" y="5569839"/>
            <a:ext cx="785515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Conseiller une œuvre à quelqu'un, en disant pourquoi à lui.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pour vous-même, honnêtement.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Nommer une œuvre et son support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Raconter une histoire au présent, dans l'ordre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arrêter avant le dénouement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Lire une planche de bande dessinée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Donner un avis avec un adjectif précis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Répondre à quelqu'un qui pense autrement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Nommer une œuvre et son support ?   </a:t>
            </a:r>
            <a:r>
              <a:rPr sz="1400" b="1" i="0">
                <a:solidFill>
                  <a:srgbClr val="07734A"/>
                </a:solidFill>
                <a:latin typeface="Verdana"/>
              </a:rPr>
              <a:t>» un roman, une série, un album</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Raconter une histoire au présent, dans l'ordre ?   </a:t>
            </a:r>
            <a:r>
              <a:rPr sz="1400" b="1" i="0">
                <a:solidFill>
                  <a:srgbClr val="07734A"/>
                </a:solidFill>
                <a:latin typeface="Verdana"/>
              </a:rPr>
              <a:t>» elle arrive, elle ouvre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arrêter avant le dénouement ?   </a:t>
            </a:r>
            <a:r>
              <a:rPr sz="1400" b="1" i="0">
                <a:solidFill>
                  <a:srgbClr val="07734A"/>
                </a:solidFill>
                <a:latin typeface="Verdana"/>
              </a:rPr>
              <a:t>» au moment du choix</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Lire une planche de bande dessinée ?   </a:t>
            </a:r>
            <a:r>
              <a:rPr sz="1400" b="1" i="0">
                <a:solidFill>
                  <a:srgbClr val="07734A"/>
                </a:solidFill>
                <a:latin typeface="Verdana"/>
              </a:rPr>
              <a:t>» les cases, les bulles, les onomatopées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Donner un avis avec un adjectif précis ?   </a:t>
            </a:r>
            <a:r>
              <a:rPr sz="1400" b="1" i="0">
                <a:solidFill>
                  <a:srgbClr val="07734A"/>
                </a:solidFill>
                <a:latin typeface="Verdana"/>
              </a:rPr>
              <a:t>» jamais « c'est bon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Répondre à quelqu'un qui pense autrement ?   </a:t>
            </a:r>
            <a:r>
              <a:rPr sz="1400" b="1" i="0">
                <a:solidFill>
                  <a:srgbClr val="07734A"/>
                </a:solidFill>
                <a:latin typeface="Verdana"/>
              </a:rPr>
              <a:t>» accorder, puis tourner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quelle œuvre apporteriez-vous au club jeudi prochain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vraie œuvre, dans n'importe quelle langue.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Gardez ce billet : c'est le seul du module qui ne se corrige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Le club du jeudi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