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quelqu'un vous a-t-il déjà conseillé un livre, un film ou une série ? Qu'est-ce qui vous a donné envie — ou pas ? Les réponses contiennent déjà tout le module : le genre, l'histoire, l'avis, la raison. Ne rien corriger à cette étape, seulement écouter.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qui distingue ce module du niveau 4. Au niveau 4, on nommait un loisir et on disait qu'on l'aimait. Ici, personne ne pose de questions pendant que l'élève parle : il avance seul, du début à la fin. C'est nouveau, et c'est le travail de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annoncent les quatre séances du bloc A. La dernière — « comment ça finit ? » — amène la règle du club, qui tient tout le défi 1. Laisser le groupe débattre : il y a toujours quelqu'un pour dire qu'il raconte la fin sans problème, et quelqu'un d'autre pour s'en indigner.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la question de Mai : « il faut avoir lu quelque chose de précis ? » C'est la crainte de tout le monde devant un club de lecture. La réponse de Nadia — chacun apporte ce qu'il veut — enlève l'obstacle.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au tableau les cinq supports nommés : un livre, un film, une série, une chanson, une bande dessinée. Demander au groupe d'en ajouter — une pièce de théâtre, un balado, un album de musique. Tous comptent.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est celle qui rassure le plus le groupe : on peut venir sans rien apporter. Le club n'est pas un examen. La première, en revanche, est la règle du module, et elle reviendra à chaque séance du bloc 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reviendra à la séance B4, qui en fait un exercice complet, et à la séance E1, où l'assistant arrête l'élève s'il commence à raconter le dénouement.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dernière carte : « œuvre » ne se dit pas en première phrase, parce que personne ne saurait encore s'il s'agit d'un livre ou d'un film. Il sert à la deuxième ou à la troisième mention, pour éviter de répéter. C'est le sujet de la séance C4.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remplir la colonne de droite par le groupe avant de l'afficher. C'est ici qu'on nomme ce que le niveau 5 demande de neuf : « des discours simples mais organisés », dit le programme. Rassurer : organisé ne veut pas dire compliqué, ça veut dire dans un ordre.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la deuxième phrase à voix haute par plusieurs élèves, avec leur propre œuvre. Trois ou quatre passages suffisent : c'est la phrase la plus rentable du module, et elle se réemploie partout.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 C'est l'exercice `pr1` du module interactif : les élèves le retrouveront tel quel à l'écran, et l'avoir fait à l'oral d'abord leur donne de l'avance.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billet sert de vérification de fin de séance et de matière pour tout le module : c'est l'œuvre que l'élève présentera au bloc E. Ramasser les billets et les rendre à la séance B1 — plusieurs auront changé d'idée, ce qui n'est pas un problème.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Deux minutes, et personne ne vous coupe. »</a:t>
            </a:r>
          </a:p>
        </p:txBody>
      </p:sp>
      <p:sp>
        <p:nvSpPr>
          <p:cNvPr id="5" name="Rounded Rectangle 4"/>
          <p:cNvSpPr/>
          <p:nvPr/>
        </p:nvSpPr>
        <p:spPr>
          <a:xfrm>
            <a:off x="566928" y="3794760"/>
            <a:ext cx="9960559" cy="2499868"/>
          </a:xfrm>
          <a:prstGeom prst="roundRect">
            <a:avLst>
              <a:gd name="adj" fmla="val 58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Mai Trinh a trente-huit ans. Elle travaille de nuit dans une buanderie industrielle et elle lit le jour, parce qu'elle dort mal. Un mardi, une affiche sur la porte de la petite salle du fond lui propose exactement ce qui lui fait peur : parler deux minutes, en français, devant des inconnus.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club du jeudi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qu'on appelle une œuvre, et sur quels supports elle existe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en une phrase de quoi on parle : le titre, le genre, le support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qu'un club de lecture demande, et ce qu'il interdit ;</a:t>
            </a:r>
          </a:p>
        </p:txBody>
      </p:sp>
      <p:sp>
        <p:nvSpPr>
          <p:cNvPr id="19" name="Rounded Rectangle 18"/>
          <p:cNvSpPr/>
          <p:nvPr/>
        </p:nvSpPr>
        <p:spPr>
          <a:xfrm>
            <a:off x="566928" y="47782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1338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2161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979415"/>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différence entre répondre à des questions et tenir un discours.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affiche sur une porte : « Apportez une œuvre que vous avez aimée. » Vous apporteriez quoi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ffiche-club.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faut avoir lu un livre pour venir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chanson, est-ce que ça compte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diriez pendant deux minutes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quelqu'un vous demandait comment ça finit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club de lecture, c'est quoi au juste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0" name="TextBox 9"/>
          <p:cNvSpPr txBox="1"/>
          <p:nvPr/>
        </p:nvSpPr>
        <p:spPr>
          <a:xfrm>
            <a:off x="2089499" y="2322576"/>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Excusez-moi. L'affiche sur la porte, là : « Club du jeudi ». C'est quoi ?</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3" name="TextBox 12"/>
          <p:cNvSpPr txBox="1"/>
          <p:nvPr/>
        </p:nvSpPr>
        <p:spPr>
          <a:xfrm>
            <a:off x="2089499" y="3071876"/>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club de lecture. On se réunit dans la petite salle du fond.</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6" name="TextBox 15"/>
          <p:cNvSpPr txBox="1"/>
          <p:nvPr/>
        </p:nvSpPr>
        <p:spPr>
          <a:xfrm>
            <a:off x="2089499" y="3821175"/>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club de lecture… il faut avoir lu quelque chose de précis ?</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9" name="TextBox 18"/>
          <p:cNvSpPr txBox="1"/>
          <p:nvPr/>
        </p:nvSpPr>
        <p:spPr>
          <a:xfrm>
            <a:off x="2089499" y="4570475"/>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Chacun apporte une œuvre et la présente aux autres.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œuvre, ce n'est pas seulement un livre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9" name="TextBox 8"/>
          <p:cNvSpPr txBox="1"/>
          <p:nvPr/>
        </p:nvSpPr>
        <p:spPr>
          <a:xfrm>
            <a:off x="2089499" y="19019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œuvre, ça veut dire un livre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15681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089499" y="2651252"/>
            <a:ext cx="898662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livre, oui. Mais aussi un film, une série, une chanson, une bande dessinée.</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5" name="TextBox 14"/>
          <p:cNvSpPr txBox="1"/>
          <p:nvPr/>
        </p:nvSpPr>
        <p:spPr>
          <a:xfrm>
            <a:off x="2089499" y="373837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bon. Même une chanson ?</a:t>
            </a:r>
          </a:p>
        </p:txBody>
      </p:sp>
      <p:sp>
        <p:nvSpPr>
          <p:cNvPr id="16" name="Rounded Rectangle 15"/>
          <p:cNvSpPr/>
          <p:nvPr/>
        </p:nvSpPr>
        <p:spPr>
          <a:xfrm>
            <a:off x="566928" y="432308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2"/>
            <a:ext cx="1156811"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8" name="TextBox 17"/>
          <p:cNvSpPr txBox="1"/>
          <p:nvPr/>
        </p:nvSpPr>
        <p:spPr>
          <a:xfrm>
            <a:off x="2089499" y="4487672"/>
            <a:ext cx="898662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Même une chanson. Ce qui compte, c'est d'expliquer pourquoi vous l'aimez.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règle qui tient tout le module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9" name="TextBox 8"/>
          <p:cNvSpPr txBox="1"/>
          <p:nvPr/>
        </p:nvSpPr>
        <p:spPr>
          <a:xfrm>
            <a:off x="2089499" y="19019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Toute l'histoire ? Même la fin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2" name="TextBox 11"/>
          <p:cNvSpPr txBox="1"/>
          <p:nvPr/>
        </p:nvSpPr>
        <p:spPr>
          <a:xfrm>
            <a:off x="2089499" y="2651252"/>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Surtout pas la fin. Gilberte vous arrête tout de suite si vous la racontez.</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MAI</a:t>
            </a:r>
          </a:p>
        </p:txBody>
      </p:sp>
      <p:sp>
        <p:nvSpPr>
          <p:cNvPr id="15" name="TextBox 14"/>
          <p:cNvSpPr txBox="1"/>
          <p:nvPr/>
        </p:nvSpPr>
        <p:spPr>
          <a:xfrm>
            <a:off x="2089499" y="34005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je n'ai rien lu cette semaine ?</a:t>
            </a:r>
          </a:p>
        </p:txBody>
      </p:sp>
      <p:sp>
        <p:nvSpPr>
          <p:cNvPr id="16" name="TextBox 15"/>
          <p:cNvSpPr txBox="1"/>
          <p:nvPr/>
        </p:nvSpPr>
        <p:spPr>
          <a:xfrm>
            <a:off x="932688" y="4149851"/>
            <a:ext cx="1156811"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NADIA</a:t>
            </a:r>
          </a:p>
        </p:txBody>
      </p:sp>
      <p:sp>
        <p:nvSpPr>
          <p:cNvPr id="17" name="TextBox 16"/>
          <p:cNvSpPr txBox="1"/>
          <p:nvPr/>
        </p:nvSpPr>
        <p:spPr>
          <a:xfrm>
            <a:off x="2089499" y="4149851"/>
            <a:ext cx="898662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vous écoutez. Et vous repartez avec trois suggestions.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ON NE RACONTE JAMAIS LA FIN</a:t>
            </a:r>
          </a:p>
        </p:txBody>
      </p:sp>
      <p:sp>
        <p:nvSpPr>
          <p:cNvPr id="6" name="Rounded Rectangle 5"/>
          <p:cNvSpPr/>
          <p:nvPr/>
        </p:nvSpPr>
        <p:spPr>
          <a:xfrm>
            <a:off x="566928" y="1225296"/>
            <a:ext cx="11057839" cy="2448306"/>
          </a:xfrm>
          <a:prstGeom prst="roundRect">
            <a:avLst>
              <a:gd name="adj" fmla="val 597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25346"/>
          </a:xfrm>
          <a:prstGeom prst="rect">
            <a:avLst/>
          </a:prstGeom>
          <a:noFill/>
        </p:spPr>
        <p:txBody>
          <a:bodyPr wrap="square" lIns="0" rIns="0" tIns="0" bIns="0" anchor="t">
            <a:spAutoFit/>
          </a:bodyPr>
          <a:lstStyle/>
          <a:p>
            <a:pPr algn="l">
              <a:lnSpc>
                <a:spcPct val="122000"/>
              </a:lnSpc>
            </a:pPr>
            <a:r>
              <a:rPr sz="3300" b="1" i="0">
                <a:solidFill>
                  <a:srgbClr val="17181A"/>
                </a:solidFill>
                <a:latin typeface="Verdana"/>
              </a:rPr>
              <a:t>Celui qui dévoile le dénouement enlève à l'autre la seule chose qu'il ne pourra jamais lui rendre : la découverte.</a:t>
            </a:r>
          </a:p>
        </p:txBody>
      </p:sp>
      <p:sp>
        <p:nvSpPr>
          <p:cNvPr id="8" name="Rounded Rectangle 7"/>
          <p:cNvSpPr/>
          <p:nvPr/>
        </p:nvSpPr>
        <p:spPr>
          <a:xfrm>
            <a:off x="566928" y="394792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2224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pas une règle de grammaire, c'est une règle de conversation. Elle vaut au club, au comptoir, dans l'autobus et devant le cinéma. Savoir donner envie sans tout dire est une compétence, et elle s'apprend comme le reste.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CINQ SUPPORTS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peut apporter au club</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 roman</a:t>
            </a:r>
          </a:p>
        </p:txBody>
      </p:sp>
      <p:sp>
        <p:nvSpPr>
          <p:cNvPr id="9" name="TextBox 8"/>
          <p:cNvSpPr txBox="1"/>
          <p:nvPr/>
        </p:nvSpPr>
        <p:spPr>
          <a:xfrm>
            <a:off x="886968"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Une histoire inventée, en un seul livre, du début à la fin.</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Une bande dessinée</a:t>
            </a:r>
          </a:p>
        </p:txBody>
      </p:sp>
      <p:sp>
        <p:nvSpPr>
          <p:cNvPr id="12" name="TextBox 11"/>
          <p:cNvSpPr txBox="1"/>
          <p:nvPr/>
        </p:nvSpPr>
        <p:spPr>
          <a:xfrm>
            <a:off x="6498183" y="234950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Un album grand et cartonné, souvent le tome d'une série.</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 film</a:t>
            </a:r>
          </a:p>
        </p:txBody>
      </p:sp>
      <p:sp>
        <p:nvSpPr>
          <p:cNvPr id="15" name="TextBox 14"/>
          <p:cNvSpPr txBox="1"/>
          <p:nvPr/>
        </p:nvSpPr>
        <p:spPr>
          <a:xfrm>
            <a:off x="886968"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Deux heures, une fois — on dit la durée et où il joue encore.</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Une série</a:t>
            </a:r>
          </a:p>
        </p:txBody>
      </p:sp>
      <p:sp>
        <p:nvSpPr>
          <p:cNvPr id="18" name="TextBox 17"/>
          <p:cNvSpPr txBox="1"/>
          <p:nvPr/>
        </p:nvSpPr>
        <p:spPr>
          <a:xfrm>
            <a:off x="6498183" y="382778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Des épisodes qu'on regarde l'un après l'autre : dire combien.</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Une chanson</a:t>
            </a:r>
          </a:p>
        </p:txBody>
      </p:sp>
      <p:sp>
        <p:nvSpPr>
          <p:cNvPr id="21" name="TextBox 20"/>
          <p:cNvSpPr txBox="1"/>
          <p:nvPr/>
        </p:nvSpPr>
        <p:spPr>
          <a:xfrm>
            <a:off x="886968"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Quatre minutes : la présentation la plus courte qui soit.</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237236"/>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Une œuvre</a:t>
            </a:r>
          </a:p>
        </p:txBody>
      </p:sp>
      <p:sp>
        <p:nvSpPr>
          <p:cNvPr id="24" name="TextBox 23"/>
          <p:cNvSpPr txBox="1"/>
          <p:nvPr/>
        </p:nvSpPr>
        <p:spPr>
          <a:xfrm>
            <a:off x="6498183" y="5306060"/>
            <a:ext cx="4806543" cy="50037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mot qui couvre les cinq, quand on ne veut pas encore préciser.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FAÇONS DE PARLER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change au niveau 5</a:t>
            </a:r>
          </a:p>
        </p:txBody>
      </p:sp>
      <p:sp>
        <p:nvSpPr>
          <p:cNvPr id="7" name="Rounded Rectangle 6"/>
          <p:cNvSpPr/>
          <p:nvPr/>
        </p:nvSpPr>
        <p:spPr>
          <a:xfrm>
            <a:off x="566928" y="1810512"/>
            <a:ext cx="11057839" cy="3639312"/>
          </a:xfrm>
          <a:prstGeom prst="roundRect">
            <a:avLst>
              <a:gd name="adj" fmla="val 402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RÉPONDRE À DES QUESTIONS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TENIR UN DISCOURS</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Quelqu'un demande, je réponds</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J'avance seul, du début à la fin</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à la fois</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Cinq phrases qui se suivent</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L'autre décide de l'ordre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C'est moi qui décide de l'ordre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 J'aime lire. »</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 C'est un roman, une histoire de famille… »</a:t>
            </a:r>
          </a:p>
        </p:txBody>
      </p:sp>
      <p:sp>
        <p:nvSpPr>
          <p:cNvPr id="21" name="Rectangle 20"/>
          <p:cNvSpPr/>
          <p:nvPr/>
        </p:nvSpPr>
        <p:spPr>
          <a:xfrm>
            <a:off x="932688" y="47274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85546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 j'oublie, on me relance</a:t>
            </a:r>
          </a:p>
        </p:txBody>
      </p:sp>
      <p:sp>
        <p:nvSpPr>
          <p:cNvPr id="23" name="TextBox 22"/>
          <p:cNvSpPr txBox="1"/>
          <p:nvPr/>
        </p:nvSpPr>
        <p:spPr>
          <a:xfrm>
            <a:off x="4443636" y="485546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Si j'oublie, le silence reste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COMMENCER PAR « J'AI LU QUELQUE CHOSE DE BIEN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J'ai lu quelque chose de bien la semaine passée…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C'est un roman, une histoire de famille, trois cents pages.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phrase ne dit ni ce que c'est, ni de quoi ça parle : tout le monde attend la suite pour comprendre de quoi on parle, et les dix premières secondes sont perdues. Le support et le genre, tout de suite.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club du jeudi se réunit dans la petite salle du fond.</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avoir lu un livre précis pour participer.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chanson peut être présentée au club.</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personne parle pendant dix minutes.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coupe la parole pendant la présentation.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raconter la fin de l'histoire aux autres.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club du jeudi se réunit dans la petite salle du fond.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avoir lu un livre précis pour participer.   </a:t>
            </a:r>
            <a:r>
              <a:rPr sz="1400" b="1" i="0">
                <a:solidFill>
                  <a:srgbClr val="07734A"/>
                </a:solidFill>
                <a:latin typeface="Verdana"/>
              </a:rPr>
              <a:t>» faux — chacun apporte ce qu'il veut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chanson peut être présentée au club.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Chaque personne parle pendant dix minutes.   </a:t>
            </a:r>
            <a:r>
              <a:rPr sz="1400" b="1" i="0">
                <a:solidFill>
                  <a:srgbClr val="07734A"/>
                </a:solidFill>
                <a:latin typeface="Verdana"/>
              </a:rPr>
              <a:t>» faux — deux minutes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coupe la parole pendant la présentation.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faut raconter la fin de l'histoire aux autres.   </a:t>
            </a:r>
            <a:r>
              <a:rPr sz="1400" b="1" i="0">
                <a:solidFill>
                  <a:srgbClr val="07734A"/>
                </a:solidFill>
                <a:latin typeface="Verdana"/>
              </a:rPr>
              <a:t>» faux — surtout pas la fin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Nommez une œuvre que vous avez aimée, et dites en une phrase ce que c'est.</a:t>
            </a:r>
          </a:p>
        </p:txBody>
      </p:sp>
      <p:sp>
        <p:nvSpPr>
          <p:cNvPr id="8" name="Rounded Rectangle 7"/>
          <p:cNvSpPr/>
          <p:nvPr/>
        </p:nvSpPr>
        <p:spPr>
          <a:xfrm>
            <a:off x="566928" y="3931920"/>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 le support : un roman, un film, une série, une chanson, une bande dessinée.</a:t>
            </a:r>
          </a:p>
        </p:txBody>
      </p:sp>
      <p:sp>
        <p:nvSpPr>
          <p:cNvPr id="10" name="Rounded Rectangle 9"/>
          <p:cNvSpPr/>
          <p:nvPr/>
        </p:nvSpPr>
        <p:spPr>
          <a:xfrm>
            <a:off x="566928" y="5036311"/>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5191759"/>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le genre en deux mots : une histoire de famille, un policier, une comédie.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Le club du jeudi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