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Première séance du module. Ouvrir par une question au groupe : quelqu'un vous a-t-il déjà conseillé un livre, un film ou une série ? Qu'est-ce qui vous a donné envie — ou pas ? Les réponses contiennent déjà tout le module : le genre, l'histoire, l'avis, la raison. Ne rien corriger à cette étape, seulement écouter.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quatrième objectif est celui qui distingue ce module du niveau 4. Au niveau 4, on nommait un loisir et on disait qu'on l'aimait. Ici, personne ne pose de questions pendant que l'élève parle : il avance seul, du début à la fin. C'est nouveau, et c'est le travail de tout le module.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quatre pistes annoncent les quatre séances du bloc A. La dernière — « comment ça finit ? » — amène la règle du club, qui tient tout le défi 1. Laisser le groupe débattre : il y a toujours quelqu'un pour dire qu'il raconte la fin sans problème, et quelqu'un d'autre pour s'en indigner.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relever la question de Mai : « il faut avoir lu quelque chose de précis ? » C'est la crainte de tout le monde devant un club de lecture. La réponse de Nadia — chacun apporte ce qu'il veut — enlève l'obstacle.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Écrire au tableau les cinq supports nommés : un livre, un film, une série, une chanson, une bande dessinée. Demander au groupe d'en ajouter — une pièce de théâtre, un balado, un album de musique. Tous comptent.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dernière réplique est celle qui rassure le plus le groupe : on peut venir sans rien apporter. Le club n'est pas un examen. La première, en revanche, est la règle du module, et elle reviendra à chaque séance du bloc B.</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Elle reviendra à la séance B4, qui en fait un exercice complet, et à la séance E1, où l'assistant arrête l'élève s'il commence à raconter le dénouement.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Insister sur la dernière carte : « œuvre » ne se dit pas en première phrase, parce que personne ne saurait encore s'il s'agit d'un livre ou d'un film. Il sert à la deuxième ou à la troisième mention, pour éviter de répéter. C'est le sujet de la séance C4.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remplir la colonne de droite par le groupe avant de l'afficher. C'est ici qu'on nomme ce que le niveau 5 demande de neuf : « des discours simples mais organisés », dit le programme. Rassurer : organisé ne veut pas dire compliqué, ça veut dire dans un ordre.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répéter la deuxième phrase à voix haute par plusieurs élèves, avec leur propre œuvre. Trois ou quatre passages suffisent : c'est la phrase la plus rentable du module, et elle se réemploie partout.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justifier chaque « faux » par la réplique exacte du dialogue. C'est l'exercice `pr1` du module interactif : les élèves le retrouveront tel quel à l'écran, et l'avoir fait à l'oral d'abord leur donne de l'avance.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billet sert de vérification de fin de séance et de matière pour tout le module : c'est l'œuvre que l'élève présentera au bloc E. Ramasser les billets et les rendre à la séance B1 — plusieurs auront changé d'idée, ce qui n'est pas un problème.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A1  ·  MODULE 13</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 Deux minutes, et personne ne vous coupe. »</a:t>
            </a:r>
          </a:p>
        </p:txBody>
      </p:sp>
      <p:sp>
        <p:nvSpPr>
          <p:cNvPr id="5" name="Rounded Rectangle 4"/>
          <p:cNvSpPr/>
          <p:nvPr/>
        </p:nvSpPr>
        <p:spPr>
          <a:xfrm>
            <a:off x="566928" y="3794760"/>
            <a:ext cx="9960559" cy="2499868"/>
          </a:xfrm>
          <a:prstGeom prst="roundRect">
            <a:avLst>
              <a:gd name="adj" fmla="val 58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887219"/>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Mai Trinh a trente-huit ans. Elle travaille de nuit dans une buanderie industrielle et elle lit le jour, parce qu'elle dort mal. Un mardi, une affiche sur la porte de la petite salle du fond lui propose exactement ce qui lui fait peur : parler deux minutes, en français, devant des inconnus.</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Le club du jeudi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1113536"/>
          </a:xfrm>
          <a:prstGeom prst="roundRect">
            <a:avLst>
              <a:gd name="adj" fmla="val 1313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21203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202688"/>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7477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ce qu'on appelle une œuvre, et sur quels supports elle existe ;</a:t>
            </a:r>
          </a:p>
        </p:txBody>
      </p:sp>
      <p:sp>
        <p:nvSpPr>
          <p:cNvPr id="11" name="Rounded Rectangle 10"/>
          <p:cNvSpPr/>
          <p:nvPr/>
        </p:nvSpPr>
        <p:spPr>
          <a:xfrm>
            <a:off x="566928" y="3006343"/>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31841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3266439"/>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32075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dire en une phrase de quoi on parle : le titre, le genre, le support ;</a:t>
            </a:r>
          </a:p>
        </p:txBody>
      </p:sp>
      <p:sp>
        <p:nvSpPr>
          <p:cNvPr id="15" name="Rounded Rectangle 14"/>
          <p:cNvSpPr/>
          <p:nvPr/>
        </p:nvSpPr>
        <p:spPr>
          <a:xfrm>
            <a:off x="566928" y="3892295"/>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4070095"/>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4152391"/>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4093463"/>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ce qu'un club de lecture demande, et ce qu'il interdit ;</a:t>
            </a:r>
          </a:p>
        </p:txBody>
      </p:sp>
      <p:sp>
        <p:nvSpPr>
          <p:cNvPr id="19" name="Rounded Rectangle 18"/>
          <p:cNvSpPr/>
          <p:nvPr/>
        </p:nvSpPr>
        <p:spPr>
          <a:xfrm>
            <a:off x="566928" y="4778248"/>
            <a:ext cx="11057839" cy="1113536"/>
          </a:xfrm>
          <a:prstGeom prst="roundRect">
            <a:avLst>
              <a:gd name="adj" fmla="val 1313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5133848"/>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5216144"/>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4979415"/>
            <a:ext cx="9549079" cy="7477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la différence entre répondre à des questions et tenir un discours.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Une affiche sur une porte : « Apportez une œuvre que vous avez aimée. » Vous apporteriez quoi ?</a:t>
            </a:r>
          </a:p>
        </p:txBody>
      </p:sp>
      <p:sp>
        <p:nvSpPr>
          <p:cNvPr id="7" name="Rounded Rectangle 6"/>
          <p:cNvSpPr/>
          <p:nvPr/>
        </p:nvSpPr>
        <p:spPr>
          <a:xfrm>
            <a:off x="7424927" y="1719072"/>
            <a:ext cx="4199839" cy="4361688"/>
          </a:xfrm>
          <a:prstGeom prst="roundRect">
            <a:avLst>
              <a:gd name="adj" fmla="val 34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affiche-club.jpg"/>
          <p:cNvPicPr>
            <a:picLocks noChangeAspect="1"/>
          </p:cNvPicPr>
          <p:nvPr/>
        </p:nvPicPr>
        <p:blipFill>
          <a:blip r:embed="rId2"/>
          <a:stretch>
            <a:fillRect/>
          </a:stretch>
        </p:blipFill>
        <p:spPr>
          <a:xfrm>
            <a:off x="7644383" y="2638438"/>
            <a:ext cx="3760927" cy="2522955"/>
          </a:xfrm>
          <a:prstGeom prst="rect">
            <a:avLst/>
          </a:prstGeom>
        </p:spPr>
      </p:pic>
      <p:sp>
        <p:nvSpPr>
          <p:cNvPr id="9" name="Rounded Rectangle 8"/>
          <p:cNvSpPr/>
          <p:nvPr/>
        </p:nvSpPr>
        <p:spPr>
          <a:xfrm>
            <a:off x="566928" y="1856232"/>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1965960"/>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2039112"/>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qu'il faut avoir lu un livre pour venir ?</a:t>
            </a:r>
          </a:p>
        </p:txBody>
      </p:sp>
      <p:sp>
        <p:nvSpPr>
          <p:cNvPr id="12" name="Rounded Rectangle 11"/>
          <p:cNvSpPr/>
          <p:nvPr/>
        </p:nvSpPr>
        <p:spPr>
          <a:xfrm>
            <a:off x="566928" y="2642108"/>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2751836"/>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2824988"/>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chanson, est-ce que ça compte ?</a:t>
            </a:r>
          </a:p>
        </p:txBody>
      </p:sp>
      <p:sp>
        <p:nvSpPr>
          <p:cNvPr id="15" name="Rounded Rectangle 14"/>
          <p:cNvSpPr/>
          <p:nvPr/>
        </p:nvSpPr>
        <p:spPr>
          <a:xfrm>
            <a:off x="566928" y="3427984"/>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66928" y="3537712"/>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0976" y="3610864"/>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que vous diriez pendant deux minutes ?</a:t>
            </a:r>
          </a:p>
        </p:txBody>
      </p:sp>
      <p:sp>
        <p:nvSpPr>
          <p:cNvPr id="18" name="Rounded Rectangle 17"/>
          <p:cNvSpPr/>
          <p:nvPr/>
        </p:nvSpPr>
        <p:spPr>
          <a:xfrm>
            <a:off x="566928" y="4551680"/>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4661408"/>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4734560"/>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Et si quelqu'un vous demandait comment ça finit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1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Un club de lecture, c'est quoi au juste ?</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d'abord, diapositive masquée.</a:t>
            </a:r>
          </a:p>
        </p:txBody>
      </p:sp>
      <p:sp>
        <p:nvSpPr>
          <p:cNvPr id="8" name="Rounded Rectangle 7"/>
          <p:cNvSpPr/>
          <p:nvPr/>
        </p:nvSpPr>
        <p:spPr>
          <a:xfrm>
            <a:off x="566928" y="2157984"/>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2322576"/>
            <a:ext cx="1156811"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MAI</a:t>
            </a:r>
          </a:p>
        </p:txBody>
      </p:sp>
      <p:sp>
        <p:nvSpPr>
          <p:cNvPr id="10" name="TextBox 9"/>
          <p:cNvSpPr txBox="1"/>
          <p:nvPr/>
        </p:nvSpPr>
        <p:spPr>
          <a:xfrm>
            <a:off x="2089499" y="2322576"/>
            <a:ext cx="8986627"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Excusez-moi. L'affiche sur la porte, là : « Club du jeudi ». C'est quoi ?</a:t>
            </a:r>
          </a:p>
        </p:txBody>
      </p:sp>
      <p:sp>
        <p:nvSpPr>
          <p:cNvPr id="11" name="Rounded Rectangle 10"/>
          <p:cNvSpPr/>
          <p:nvPr/>
        </p:nvSpPr>
        <p:spPr>
          <a:xfrm>
            <a:off x="566928" y="2907283"/>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32688" y="3071876"/>
            <a:ext cx="1156811"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NADIA</a:t>
            </a:r>
          </a:p>
        </p:txBody>
      </p:sp>
      <p:sp>
        <p:nvSpPr>
          <p:cNvPr id="13" name="TextBox 12"/>
          <p:cNvSpPr txBox="1"/>
          <p:nvPr/>
        </p:nvSpPr>
        <p:spPr>
          <a:xfrm>
            <a:off x="2089499" y="3071876"/>
            <a:ext cx="8986627"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club de lecture. On se réunit dans la petite salle du fond.</a:t>
            </a:r>
          </a:p>
        </p:txBody>
      </p:sp>
      <p:sp>
        <p:nvSpPr>
          <p:cNvPr id="14" name="Rounded Rectangle 13"/>
          <p:cNvSpPr/>
          <p:nvPr/>
        </p:nvSpPr>
        <p:spPr>
          <a:xfrm>
            <a:off x="566928" y="3656583"/>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3821175"/>
            <a:ext cx="1156811"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MAI</a:t>
            </a:r>
          </a:p>
        </p:txBody>
      </p:sp>
      <p:sp>
        <p:nvSpPr>
          <p:cNvPr id="16" name="TextBox 15"/>
          <p:cNvSpPr txBox="1"/>
          <p:nvPr/>
        </p:nvSpPr>
        <p:spPr>
          <a:xfrm>
            <a:off x="2089499" y="3821175"/>
            <a:ext cx="8986627"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club de lecture… il faut avoir lu quelque chose de précis ?</a:t>
            </a:r>
          </a:p>
        </p:txBody>
      </p:sp>
      <p:sp>
        <p:nvSpPr>
          <p:cNvPr id="17" name="Rounded Rectangle 16"/>
          <p:cNvSpPr/>
          <p:nvPr/>
        </p:nvSpPr>
        <p:spPr>
          <a:xfrm>
            <a:off x="566928" y="4405883"/>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32688" y="4570475"/>
            <a:ext cx="1156811"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NADIA</a:t>
            </a:r>
          </a:p>
        </p:txBody>
      </p:sp>
      <p:sp>
        <p:nvSpPr>
          <p:cNvPr id="19" name="TextBox 18"/>
          <p:cNvSpPr txBox="1"/>
          <p:nvPr/>
        </p:nvSpPr>
        <p:spPr>
          <a:xfrm>
            <a:off x="2089499" y="4570475"/>
            <a:ext cx="8986627"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Non. Chacun apporte une œuvre et la présente aux autres.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2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Une œuvre, ce n'est pas seulement un livre</a:t>
            </a:r>
          </a:p>
        </p:txBody>
      </p:sp>
      <p:sp>
        <p:nvSpPr>
          <p:cNvPr id="7" name="Rounded Rectangle 6"/>
          <p:cNvSpPr/>
          <p:nvPr/>
        </p:nvSpPr>
        <p:spPr>
          <a:xfrm>
            <a:off x="566928" y="173736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156811"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MAI</a:t>
            </a:r>
          </a:p>
        </p:txBody>
      </p:sp>
      <p:sp>
        <p:nvSpPr>
          <p:cNvPr id="9" name="TextBox 8"/>
          <p:cNvSpPr txBox="1"/>
          <p:nvPr/>
        </p:nvSpPr>
        <p:spPr>
          <a:xfrm>
            <a:off x="2089499" y="1901952"/>
            <a:ext cx="8986627"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œuvre, ça veut dire un livre ?</a:t>
            </a:r>
          </a:p>
        </p:txBody>
      </p:sp>
      <p:sp>
        <p:nvSpPr>
          <p:cNvPr id="10" name="Rounded Rectangle 9"/>
          <p:cNvSpPr/>
          <p:nvPr/>
        </p:nvSpPr>
        <p:spPr>
          <a:xfrm>
            <a:off x="566928" y="2486659"/>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651252"/>
            <a:ext cx="1156811"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NADIA</a:t>
            </a:r>
          </a:p>
        </p:txBody>
      </p:sp>
      <p:sp>
        <p:nvSpPr>
          <p:cNvPr id="12" name="TextBox 11"/>
          <p:cNvSpPr txBox="1"/>
          <p:nvPr/>
        </p:nvSpPr>
        <p:spPr>
          <a:xfrm>
            <a:off x="2089499" y="2651252"/>
            <a:ext cx="8986627"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livre, oui. Mais aussi un film, une série, une chanson, une bande dessinée.</a:t>
            </a:r>
          </a:p>
        </p:txBody>
      </p:sp>
      <p:sp>
        <p:nvSpPr>
          <p:cNvPr id="13" name="Rounded Rectangle 12"/>
          <p:cNvSpPr/>
          <p:nvPr/>
        </p:nvSpPr>
        <p:spPr>
          <a:xfrm>
            <a:off x="566928" y="357378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738371"/>
            <a:ext cx="1156811"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MAI</a:t>
            </a:r>
          </a:p>
        </p:txBody>
      </p:sp>
      <p:sp>
        <p:nvSpPr>
          <p:cNvPr id="15" name="TextBox 14"/>
          <p:cNvSpPr txBox="1"/>
          <p:nvPr/>
        </p:nvSpPr>
        <p:spPr>
          <a:xfrm>
            <a:off x="2089499" y="3738371"/>
            <a:ext cx="8986627"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Ah bon. Même une chanson ?</a:t>
            </a:r>
          </a:p>
        </p:txBody>
      </p:sp>
      <p:sp>
        <p:nvSpPr>
          <p:cNvPr id="16" name="Rounded Rectangle 15"/>
          <p:cNvSpPr/>
          <p:nvPr/>
        </p:nvSpPr>
        <p:spPr>
          <a:xfrm>
            <a:off x="566928" y="4323080"/>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487672"/>
            <a:ext cx="1156811"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NADIA</a:t>
            </a:r>
          </a:p>
        </p:txBody>
      </p:sp>
      <p:sp>
        <p:nvSpPr>
          <p:cNvPr id="18" name="TextBox 17"/>
          <p:cNvSpPr txBox="1"/>
          <p:nvPr/>
        </p:nvSpPr>
        <p:spPr>
          <a:xfrm>
            <a:off x="2089499" y="4487672"/>
            <a:ext cx="8986627"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Même une chanson. Ce qui compte, c'est d'expliquer pourquoi vous l'aimez.</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3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La règle qui tient tout le module</a:t>
            </a:r>
          </a:p>
        </p:txBody>
      </p:sp>
      <p:sp>
        <p:nvSpPr>
          <p:cNvPr id="7" name="Rounded Rectangle 6"/>
          <p:cNvSpPr/>
          <p:nvPr/>
        </p:nvSpPr>
        <p:spPr>
          <a:xfrm>
            <a:off x="566928" y="173736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156811"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MAI</a:t>
            </a:r>
          </a:p>
        </p:txBody>
      </p:sp>
      <p:sp>
        <p:nvSpPr>
          <p:cNvPr id="9" name="TextBox 8"/>
          <p:cNvSpPr txBox="1"/>
          <p:nvPr/>
        </p:nvSpPr>
        <p:spPr>
          <a:xfrm>
            <a:off x="2089499" y="1901952"/>
            <a:ext cx="8986627"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Toute l'histoire ? Même la fin ?</a:t>
            </a:r>
          </a:p>
        </p:txBody>
      </p:sp>
      <p:sp>
        <p:nvSpPr>
          <p:cNvPr id="10" name="Rounded Rectangle 9"/>
          <p:cNvSpPr/>
          <p:nvPr/>
        </p:nvSpPr>
        <p:spPr>
          <a:xfrm>
            <a:off x="566928" y="24866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651252"/>
            <a:ext cx="1156811"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NADIA</a:t>
            </a:r>
          </a:p>
        </p:txBody>
      </p:sp>
      <p:sp>
        <p:nvSpPr>
          <p:cNvPr id="12" name="TextBox 11"/>
          <p:cNvSpPr txBox="1"/>
          <p:nvPr/>
        </p:nvSpPr>
        <p:spPr>
          <a:xfrm>
            <a:off x="2089499" y="2651252"/>
            <a:ext cx="8986627"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Surtout pas la fin. Gilberte vous arrête tout de suite si vous la racontez.</a:t>
            </a:r>
          </a:p>
        </p:txBody>
      </p:sp>
      <p:sp>
        <p:nvSpPr>
          <p:cNvPr id="13" name="Rounded Rectangle 12"/>
          <p:cNvSpPr/>
          <p:nvPr/>
        </p:nvSpPr>
        <p:spPr>
          <a:xfrm>
            <a:off x="566928" y="32359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400551"/>
            <a:ext cx="1156811"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MAI</a:t>
            </a:r>
          </a:p>
        </p:txBody>
      </p:sp>
      <p:sp>
        <p:nvSpPr>
          <p:cNvPr id="15" name="TextBox 14"/>
          <p:cNvSpPr txBox="1"/>
          <p:nvPr/>
        </p:nvSpPr>
        <p:spPr>
          <a:xfrm>
            <a:off x="2089499" y="3400551"/>
            <a:ext cx="8986627"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Et si je n'ai rien lu cette semaine ?</a:t>
            </a:r>
          </a:p>
        </p:txBody>
      </p:sp>
      <p:sp>
        <p:nvSpPr>
          <p:cNvPr id="16" name="TextBox 15"/>
          <p:cNvSpPr txBox="1"/>
          <p:nvPr/>
        </p:nvSpPr>
        <p:spPr>
          <a:xfrm>
            <a:off x="932688" y="4149851"/>
            <a:ext cx="1156811"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NADIA</a:t>
            </a:r>
          </a:p>
        </p:txBody>
      </p:sp>
      <p:sp>
        <p:nvSpPr>
          <p:cNvPr id="17" name="TextBox 16"/>
          <p:cNvSpPr txBox="1"/>
          <p:nvPr/>
        </p:nvSpPr>
        <p:spPr>
          <a:xfrm>
            <a:off x="2089499" y="4149851"/>
            <a:ext cx="8986627"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Alors vous écoutez. Et vous repartez avec trois suggestions.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ON NE RACONTE JAMAIS LA FIN</a:t>
            </a:r>
          </a:p>
        </p:txBody>
      </p:sp>
      <p:sp>
        <p:nvSpPr>
          <p:cNvPr id="6" name="Rounded Rectangle 5"/>
          <p:cNvSpPr/>
          <p:nvPr/>
        </p:nvSpPr>
        <p:spPr>
          <a:xfrm>
            <a:off x="566928" y="1225296"/>
            <a:ext cx="11057839" cy="2448306"/>
          </a:xfrm>
          <a:prstGeom prst="roundRect">
            <a:avLst>
              <a:gd name="adj" fmla="val 5975"/>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625346"/>
          </a:xfrm>
          <a:prstGeom prst="rect">
            <a:avLst/>
          </a:prstGeom>
          <a:noFill/>
        </p:spPr>
        <p:txBody>
          <a:bodyPr wrap="square" lIns="0" rIns="0" tIns="0" bIns="0" anchor="t">
            <a:spAutoFit/>
          </a:bodyPr>
          <a:lstStyle/>
          <a:p>
            <a:pPr algn="l">
              <a:lnSpc>
                <a:spcPct val="122000"/>
              </a:lnSpc>
            </a:pPr>
            <a:r>
              <a:rPr sz="3300" b="1" i="0">
                <a:solidFill>
                  <a:srgbClr val="17181A"/>
                </a:solidFill>
                <a:latin typeface="Verdana"/>
              </a:rPr>
              <a:t>Celui qui dévoile le dénouement enlève à l'autre la seule chose qu'il ne pourra jamais lui rendre : la découverte.</a:t>
            </a:r>
          </a:p>
        </p:txBody>
      </p:sp>
      <p:sp>
        <p:nvSpPr>
          <p:cNvPr id="8" name="Rounded Rectangle 7"/>
          <p:cNvSpPr/>
          <p:nvPr/>
        </p:nvSpPr>
        <p:spPr>
          <a:xfrm>
            <a:off x="566928" y="3947922"/>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4222242"/>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Ce n'est pas une règle de grammaire, c'est une règle de conversation. Elle vaut au club, au comptoir, dans l'autobus et devant le cinéma. Savoir donner envie sans tout dire est une compétence, et elle s'apprend comme le reste.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CINQ SUPPORTS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qu'on peut apporter au club</a:t>
            </a:r>
          </a:p>
        </p:txBody>
      </p:sp>
      <p:sp>
        <p:nvSpPr>
          <p:cNvPr id="7" name="Rounded Rectangle 6"/>
          <p:cNvSpPr/>
          <p:nvPr/>
        </p:nvSpPr>
        <p:spPr>
          <a:xfrm>
            <a:off x="566928" y="1810512"/>
            <a:ext cx="5446623" cy="1313687"/>
          </a:xfrm>
          <a:prstGeom prst="roundRect">
            <a:avLst>
              <a:gd name="adj" fmla="val 1113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237236"/>
          </a:xfrm>
          <a:prstGeom prst="rect">
            <a:avLst/>
          </a:prstGeom>
          <a:noFill/>
        </p:spPr>
        <p:txBody>
          <a:bodyPr wrap="square" lIns="0" rIns="0" tIns="0" bIns="0" anchor="t">
            <a:spAutoFit/>
          </a:bodyPr>
          <a:lstStyle/>
          <a:p>
            <a:pPr algn="l">
              <a:lnSpc>
                <a:spcPct val="118000"/>
              </a:lnSpc>
            </a:pPr>
            <a:r>
              <a:rPr sz="1400" b="1" i="0">
                <a:solidFill>
                  <a:srgbClr val="1D6B8F"/>
                </a:solidFill>
                <a:latin typeface="Verdana"/>
              </a:rPr>
              <a:t>Un roman</a:t>
            </a:r>
          </a:p>
        </p:txBody>
      </p:sp>
      <p:sp>
        <p:nvSpPr>
          <p:cNvPr id="9" name="TextBox 8"/>
          <p:cNvSpPr txBox="1"/>
          <p:nvPr/>
        </p:nvSpPr>
        <p:spPr>
          <a:xfrm>
            <a:off x="886968" y="2349500"/>
            <a:ext cx="4806543" cy="500379"/>
          </a:xfrm>
          <a:prstGeom prst="rect">
            <a:avLst/>
          </a:prstGeom>
          <a:noFill/>
        </p:spPr>
        <p:txBody>
          <a:bodyPr wrap="square" lIns="0" rIns="0" tIns="0" bIns="0" anchor="t">
            <a:spAutoFit/>
          </a:bodyPr>
          <a:lstStyle/>
          <a:p>
            <a:pPr algn="l">
              <a:lnSpc>
                <a:spcPct val="142000"/>
              </a:lnSpc>
            </a:pPr>
            <a:r>
              <a:rPr sz="1400" b="0" i="0">
                <a:solidFill>
                  <a:srgbClr val="3A3D40"/>
                </a:solidFill>
                <a:latin typeface="Verdana"/>
              </a:rPr>
              <a:t>Une histoire inventée, en un seul livre, du début à la fin.</a:t>
            </a:r>
          </a:p>
        </p:txBody>
      </p:sp>
      <p:sp>
        <p:nvSpPr>
          <p:cNvPr id="10" name="Rounded Rectangle 9"/>
          <p:cNvSpPr/>
          <p:nvPr/>
        </p:nvSpPr>
        <p:spPr>
          <a:xfrm>
            <a:off x="6178143" y="1810512"/>
            <a:ext cx="5446623" cy="1313687"/>
          </a:xfrm>
          <a:prstGeom prst="roundRect">
            <a:avLst>
              <a:gd name="adj" fmla="val 1113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237236"/>
          </a:xfrm>
          <a:prstGeom prst="rect">
            <a:avLst/>
          </a:prstGeom>
          <a:noFill/>
        </p:spPr>
        <p:txBody>
          <a:bodyPr wrap="square" lIns="0" rIns="0" tIns="0" bIns="0" anchor="t">
            <a:spAutoFit/>
          </a:bodyPr>
          <a:lstStyle/>
          <a:p>
            <a:pPr algn="l">
              <a:lnSpc>
                <a:spcPct val="118000"/>
              </a:lnSpc>
            </a:pPr>
            <a:r>
              <a:rPr sz="1400" b="1" i="0">
                <a:solidFill>
                  <a:srgbClr val="1D6B8F"/>
                </a:solidFill>
                <a:latin typeface="Verdana"/>
              </a:rPr>
              <a:t>Une bande dessinée</a:t>
            </a:r>
          </a:p>
        </p:txBody>
      </p:sp>
      <p:sp>
        <p:nvSpPr>
          <p:cNvPr id="12" name="TextBox 11"/>
          <p:cNvSpPr txBox="1"/>
          <p:nvPr/>
        </p:nvSpPr>
        <p:spPr>
          <a:xfrm>
            <a:off x="6498183" y="2349500"/>
            <a:ext cx="4806543" cy="500379"/>
          </a:xfrm>
          <a:prstGeom prst="rect">
            <a:avLst/>
          </a:prstGeom>
          <a:noFill/>
        </p:spPr>
        <p:txBody>
          <a:bodyPr wrap="square" lIns="0" rIns="0" tIns="0" bIns="0" anchor="t">
            <a:spAutoFit/>
          </a:bodyPr>
          <a:lstStyle/>
          <a:p>
            <a:pPr algn="l">
              <a:lnSpc>
                <a:spcPct val="142000"/>
              </a:lnSpc>
            </a:pPr>
            <a:r>
              <a:rPr sz="1400" b="0" i="0">
                <a:solidFill>
                  <a:srgbClr val="3A3D40"/>
                </a:solidFill>
                <a:latin typeface="Verdana"/>
              </a:rPr>
              <a:t>Un album grand et cartonné, souvent le tome d'une série.</a:t>
            </a:r>
          </a:p>
        </p:txBody>
      </p:sp>
      <p:sp>
        <p:nvSpPr>
          <p:cNvPr id="13" name="Rounded Rectangle 12"/>
          <p:cNvSpPr/>
          <p:nvPr/>
        </p:nvSpPr>
        <p:spPr>
          <a:xfrm>
            <a:off x="566928" y="3288792"/>
            <a:ext cx="5446623" cy="1313687"/>
          </a:xfrm>
          <a:prstGeom prst="roundRect">
            <a:avLst>
              <a:gd name="adj" fmla="val 1113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3563112"/>
            <a:ext cx="4806543" cy="237236"/>
          </a:xfrm>
          <a:prstGeom prst="rect">
            <a:avLst/>
          </a:prstGeom>
          <a:noFill/>
        </p:spPr>
        <p:txBody>
          <a:bodyPr wrap="square" lIns="0" rIns="0" tIns="0" bIns="0" anchor="t">
            <a:spAutoFit/>
          </a:bodyPr>
          <a:lstStyle/>
          <a:p>
            <a:pPr algn="l">
              <a:lnSpc>
                <a:spcPct val="118000"/>
              </a:lnSpc>
            </a:pPr>
            <a:r>
              <a:rPr sz="1400" b="1" i="0">
                <a:solidFill>
                  <a:srgbClr val="1D6B8F"/>
                </a:solidFill>
                <a:latin typeface="Verdana"/>
              </a:rPr>
              <a:t>Un film</a:t>
            </a:r>
          </a:p>
        </p:txBody>
      </p:sp>
      <p:sp>
        <p:nvSpPr>
          <p:cNvPr id="15" name="TextBox 14"/>
          <p:cNvSpPr txBox="1"/>
          <p:nvPr/>
        </p:nvSpPr>
        <p:spPr>
          <a:xfrm>
            <a:off x="886968" y="3827780"/>
            <a:ext cx="4806543" cy="500379"/>
          </a:xfrm>
          <a:prstGeom prst="rect">
            <a:avLst/>
          </a:prstGeom>
          <a:noFill/>
        </p:spPr>
        <p:txBody>
          <a:bodyPr wrap="square" lIns="0" rIns="0" tIns="0" bIns="0" anchor="t">
            <a:spAutoFit/>
          </a:bodyPr>
          <a:lstStyle/>
          <a:p>
            <a:pPr algn="l">
              <a:lnSpc>
                <a:spcPct val="142000"/>
              </a:lnSpc>
            </a:pPr>
            <a:r>
              <a:rPr sz="1400" b="0" i="0">
                <a:solidFill>
                  <a:srgbClr val="3A3D40"/>
                </a:solidFill>
                <a:latin typeface="Verdana"/>
              </a:rPr>
              <a:t>Deux heures, une fois — on dit la durée et où il joue encore.</a:t>
            </a:r>
          </a:p>
        </p:txBody>
      </p:sp>
      <p:sp>
        <p:nvSpPr>
          <p:cNvPr id="16" name="Rounded Rectangle 15"/>
          <p:cNvSpPr/>
          <p:nvPr/>
        </p:nvSpPr>
        <p:spPr>
          <a:xfrm>
            <a:off x="6178143" y="3288792"/>
            <a:ext cx="5446623" cy="1313687"/>
          </a:xfrm>
          <a:prstGeom prst="roundRect">
            <a:avLst>
              <a:gd name="adj" fmla="val 1113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3563112"/>
            <a:ext cx="4806543" cy="237236"/>
          </a:xfrm>
          <a:prstGeom prst="rect">
            <a:avLst/>
          </a:prstGeom>
          <a:noFill/>
        </p:spPr>
        <p:txBody>
          <a:bodyPr wrap="square" lIns="0" rIns="0" tIns="0" bIns="0" anchor="t">
            <a:spAutoFit/>
          </a:bodyPr>
          <a:lstStyle/>
          <a:p>
            <a:pPr algn="l">
              <a:lnSpc>
                <a:spcPct val="118000"/>
              </a:lnSpc>
            </a:pPr>
            <a:r>
              <a:rPr sz="1400" b="1" i="0">
                <a:solidFill>
                  <a:srgbClr val="1D6B8F"/>
                </a:solidFill>
                <a:latin typeface="Verdana"/>
              </a:rPr>
              <a:t>Une série</a:t>
            </a:r>
          </a:p>
        </p:txBody>
      </p:sp>
      <p:sp>
        <p:nvSpPr>
          <p:cNvPr id="18" name="TextBox 17"/>
          <p:cNvSpPr txBox="1"/>
          <p:nvPr/>
        </p:nvSpPr>
        <p:spPr>
          <a:xfrm>
            <a:off x="6498183" y="3827780"/>
            <a:ext cx="4806543" cy="500379"/>
          </a:xfrm>
          <a:prstGeom prst="rect">
            <a:avLst/>
          </a:prstGeom>
          <a:noFill/>
        </p:spPr>
        <p:txBody>
          <a:bodyPr wrap="square" lIns="0" rIns="0" tIns="0" bIns="0" anchor="t">
            <a:spAutoFit/>
          </a:bodyPr>
          <a:lstStyle/>
          <a:p>
            <a:pPr algn="l">
              <a:lnSpc>
                <a:spcPct val="142000"/>
              </a:lnSpc>
            </a:pPr>
            <a:r>
              <a:rPr sz="1400" b="0" i="0">
                <a:solidFill>
                  <a:srgbClr val="3A3D40"/>
                </a:solidFill>
                <a:latin typeface="Verdana"/>
              </a:rPr>
              <a:t>Des épisodes qu'on regarde l'un après l'autre : dire combien.</a:t>
            </a:r>
          </a:p>
        </p:txBody>
      </p:sp>
      <p:sp>
        <p:nvSpPr>
          <p:cNvPr id="19" name="Rounded Rectangle 18"/>
          <p:cNvSpPr/>
          <p:nvPr/>
        </p:nvSpPr>
        <p:spPr>
          <a:xfrm>
            <a:off x="566928" y="4767072"/>
            <a:ext cx="5446623" cy="1313687"/>
          </a:xfrm>
          <a:prstGeom prst="roundRect">
            <a:avLst>
              <a:gd name="adj" fmla="val 1113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86968" y="5041391"/>
            <a:ext cx="4806543" cy="237236"/>
          </a:xfrm>
          <a:prstGeom prst="rect">
            <a:avLst/>
          </a:prstGeom>
          <a:noFill/>
        </p:spPr>
        <p:txBody>
          <a:bodyPr wrap="square" lIns="0" rIns="0" tIns="0" bIns="0" anchor="t">
            <a:spAutoFit/>
          </a:bodyPr>
          <a:lstStyle/>
          <a:p>
            <a:pPr algn="l">
              <a:lnSpc>
                <a:spcPct val="118000"/>
              </a:lnSpc>
            </a:pPr>
            <a:r>
              <a:rPr sz="1400" b="1" i="0">
                <a:solidFill>
                  <a:srgbClr val="1D6B8F"/>
                </a:solidFill>
                <a:latin typeface="Verdana"/>
              </a:rPr>
              <a:t>Une chanson</a:t>
            </a:r>
          </a:p>
        </p:txBody>
      </p:sp>
      <p:sp>
        <p:nvSpPr>
          <p:cNvPr id="21" name="TextBox 20"/>
          <p:cNvSpPr txBox="1"/>
          <p:nvPr/>
        </p:nvSpPr>
        <p:spPr>
          <a:xfrm>
            <a:off x="886968" y="5306060"/>
            <a:ext cx="4806543" cy="500379"/>
          </a:xfrm>
          <a:prstGeom prst="rect">
            <a:avLst/>
          </a:prstGeom>
          <a:noFill/>
        </p:spPr>
        <p:txBody>
          <a:bodyPr wrap="square" lIns="0" rIns="0" tIns="0" bIns="0" anchor="t">
            <a:spAutoFit/>
          </a:bodyPr>
          <a:lstStyle/>
          <a:p>
            <a:pPr algn="l">
              <a:lnSpc>
                <a:spcPct val="142000"/>
              </a:lnSpc>
            </a:pPr>
            <a:r>
              <a:rPr sz="1400" b="0" i="0">
                <a:solidFill>
                  <a:srgbClr val="3A3D40"/>
                </a:solidFill>
                <a:latin typeface="Verdana"/>
              </a:rPr>
              <a:t>Quatre minutes : la présentation la plus courte qui soit.</a:t>
            </a:r>
          </a:p>
        </p:txBody>
      </p:sp>
      <p:sp>
        <p:nvSpPr>
          <p:cNvPr id="22" name="Rounded Rectangle 21"/>
          <p:cNvSpPr/>
          <p:nvPr/>
        </p:nvSpPr>
        <p:spPr>
          <a:xfrm>
            <a:off x="6178143" y="4767072"/>
            <a:ext cx="5446623" cy="1313687"/>
          </a:xfrm>
          <a:prstGeom prst="roundRect">
            <a:avLst>
              <a:gd name="adj" fmla="val 1113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498183" y="5041391"/>
            <a:ext cx="4806543" cy="237236"/>
          </a:xfrm>
          <a:prstGeom prst="rect">
            <a:avLst/>
          </a:prstGeom>
          <a:noFill/>
        </p:spPr>
        <p:txBody>
          <a:bodyPr wrap="square" lIns="0" rIns="0" tIns="0" bIns="0" anchor="t">
            <a:spAutoFit/>
          </a:bodyPr>
          <a:lstStyle/>
          <a:p>
            <a:pPr algn="l">
              <a:lnSpc>
                <a:spcPct val="118000"/>
              </a:lnSpc>
            </a:pPr>
            <a:r>
              <a:rPr sz="1400" b="1" i="0">
                <a:solidFill>
                  <a:srgbClr val="1D6B8F"/>
                </a:solidFill>
                <a:latin typeface="Verdana"/>
              </a:rPr>
              <a:t>Une œuvre</a:t>
            </a:r>
          </a:p>
        </p:txBody>
      </p:sp>
      <p:sp>
        <p:nvSpPr>
          <p:cNvPr id="24" name="TextBox 23"/>
          <p:cNvSpPr txBox="1"/>
          <p:nvPr/>
        </p:nvSpPr>
        <p:spPr>
          <a:xfrm>
            <a:off x="6498183" y="5306060"/>
            <a:ext cx="4806543" cy="500379"/>
          </a:xfrm>
          <a:prstGeom prst="rect">
            <a:avLst/>
          </a:prstGeom>
          <a:noFill/>
        </p:spPr>
        <p:txBody>
          <a:bodyPr wrap="square" lIns="0" rIns="0" tIns="0" bIns="0" anchor="t">
            <a:spAutoFit/>
          </a:bodyPr>
          <a:lstStyle/>
          <a:p>
            <a:pPr algn="l">
              <a:lnSpc>
                <a:spcPct val="142000"/>
              </a:lnSpc>
            </a:pPr>
            <a:r>
              <a:rPr sz="1400" b="0" i="0">
                <a:solidFill>
                  <a:srgbClr val="3A3D40"/>
                </a:solidFill>
                <a:latin typeface="Verdana"/>
              </a:rPr>
              <a:t>Le mot qui couvre les cinq, quand on ne veut pas encore préciser.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DEUX FAÇONS DE PARLER</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qui change au niveau 5</a:t>
            </a:r>
          </a:p>
        </p:txBody>
      </p:sp>
      <p:sp>
        <p:nvSpPr>
          <p:cNvPr id="7" name="Rounded Rectangle 6"/>
          <p:cNvSpPr/>
          <p:nvPr/>
        </p:nvSpPr>
        <p:spPr>
          <a:xfrm>
            <a:off x="566928" y="1810512"/>
            <a:ext cx="11057839" cy="3639312"/>
          </a:xfrm>
          <a:prstGeom prst="roundRect">
            <a:avLst>
              <a:gd name="adj" fmla="val 402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RÉPONDRE À DES QUESTIONS</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TENIR UN DISCOURS</a:t>
            </a:r>
          </a:p>
        </p:txBody>
      </p:sp>
      <p:sp>
        <p:nvSpPr>
          <p:cNvPr id="10" name="TextBox 9"/>
          <p:cNvSpPr txBox="1"/>
          <p:nvPr/>
        </p:nvSpPr>
        <p:spPr>
          <a:xfrm>
            <a:off x="932688" y="2395728"/>
            <a:ext cx="3291492"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Quelqu'un demande, je réponds</a:t>
            </a:r>
          </a:p>
        </p:txBody>
      </p:sp>
      <p:sp>
        <p:nvSpPr>
          <p:cNvPr id="11" name="TextBox 10"/>
          <p:cNvSpPr txBox="1"/>
          <p:nvPr/>
        </p:nvSpPr>
        <p:spPr>
          <a:xfrm>
            <a:off x="4443636" y="2395728"/>
            <a:ext cx="6595914" cy="640080"/>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J'avance seul, du début à la fin</a:t>
            </a:r>
          </a:p>
        </p:txBody>
      </p:sp>
      <p:sp>
        <p:nvSpPr>
          <p:cNvPr id="12" name="Rectangle 11"/>
          <p:cNvSpPr/>
          <p:nvPr/>
        </p:nvSpPr>
        <p:spPr>
          <a:xfrm>
            <a:off x="932688" y="310896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3236976"/>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Une phrase à la fois</a:t>
            </a:r>
          </a:p>
        </p:txBody>
      </p:sp>
      <p:sp>
        <p:nvSpPr>
          <p:cNvPr id="14" name="TextBox 13"/>
          <p:cNvSpPr txBox="1"/>
          <p:nvPr/>
        </p:nvSpPr>
        <p:spPr>
          <a:xfrm>
            <a:off x="4443636" y="3236976"/>
            <a:ext cx="6595914"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Cinq phrases qui se suivent</a:t>
            </a:r>
          </a:p>
        </p:txBody>
      </p:sp>
      <p:sp>
        <p:nvSpPr>
          <p:cNvPr id="15" name="Rectangle 14"/>
          <p:cNvSpPr/>
          <p:nvPr/>
        </p:nvSpPr>
        <p:spPr>
          <a:xfrm>
            <a:off x="932688" y="364845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776472"/>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L'autre décide de l'ordre</a:t>
            </a:r>
          </a:p>
        </p:txBody>
      </p:sp>
      <p:sp>
        <p:nvSpPr>
          <p:cNvPr id="17" name="TextBox 16"/>
          <p:cNvSpPr txBox="1"/>
          <p:nvPr/>
        </p:nvSpPr>
        <p:spPr>
          <a:xfrm>
            <a:off x="4443636" y="3776472"/>
            <a:ext cx="6595914"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C'est moi qui décide de l'ordre</a:t>
            </a:r>
          </a:p>
        </p:txBody>
      </p:sp>
      <p:sp>
        <p:nvSpPr>
          <p:cNvPr id="18" name="Rectangle 17"/>
          <p:cNvSpPr/>
          <p:nvPr/>
        </p:nvSpPr>
        <p:spPr>
          <a:xfrm>
            <a:off x="932688" y="418795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315968"/>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 J'aime lire. »</a:t>
            </a:r>
          </a:p>
        </p:txBody>
      </p:sp>
      <p:sp>
        <p:nvSpPr>
          <p:cNvPr id="20" name="TextBox 19"/>
          <p:cNvSpPr txBox="1"/>
          <p:nvPr/>
        </p:nvSpPr>
        <p:spPr>
          <a:xfrm>
            <a:off x="4443636" y="4315968"/>
            <a:ext cx="6595914"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 C'est un roman, une histoire de famille… »</a:t>
            </a:r>
          </a:p>
        </p:txBody>
      </p:sp>
      <p:sp>
        <p:nvSpPr>
          <p:cNvPr id="21" name="Rectangle 20"/>
          <p:cNvSpPr/>
          <p:nvPr/>
        </p:nvSpPr>
        <p:spPr>
          <a:xfrm>
            <a:off x="932688" y="472744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855464"/>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Si j'oublie, on me relance</a:t>
            </a:r>
          </a:p>
        </p:txBody>
      </p:sp>
      <p:sp>
        <p:nvSpPr>
          <p:cNvPr id="23" name="TextBox 22"/>
          <p:cNvSpPr txBox="1"/>
          <p:nvPr/>
        </p:nvSpPr>
        <p:spPr>
          <a:xfrm>
            <a:off x="4443636" y="4855464"/>
            <a:ext cx="6595914"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Si j'oublie, le silence reste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COMMENCER PAR « J'AI LU QUELQUE CHOSE DE BIEN »</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J'ai lu quelque chose de bien la semaine passée…</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C'est un roman, une histoire de famille, trois cents pages.</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La première phrase ne dit ni ce que c'est, ni de quoi ça parle : tout le monde attend la suite pour comprendre de quoi on parle, et les dix premières secondes sont perdues. Le support et le genre, tout de suite.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COMPRÉHENSION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d'après le dialogue.</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club du jeudi se réunit dans la petite salle du fond.</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faut avoir lu un livre précis pour participer.</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chanson peut être présentée au club.</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Chaque personne parle pendant dix minutes.</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Personne ne coupe la parole pendant la présentation.</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faut raconter la fin de l'histoire aux autres.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club du jeudi se réunit dans la petite salle du fond.   </a:t>
            </a:r>
            <a:r>
              <a:rPr sz="1400" b="1" i="0">
                <a:solidFill>
                  <a:srgbClr val="07734A"/>
                </a:solidFill>
                <a:latin typeface="Verdana"/>
              </a:rPr>
              <a:t>» vrai</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faut avoir lu un livre précis pour participer.   </a:t>
            </a:r>
            <a:r>
              <a:rPr sz="1400" b="1" i="0">
                <a:solidFill>
                  <a:srgbClr val="07734A"/>
                </a:solidFill>
                <a:latin typeface="Verdana"/>
              </a:rPr>
              <a:t>» faux — chacun apporte ce qu'il veut</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chanson peut être présentée au club.   </a:t>
            </a:r>
            <a:r>
              <a:rPr sz="1400" b="1" i="0">
                <a:solidFill>
                  <a:srgbClr val="07734A"/>
                </a:solidFill>
                <a:latin typeface="Verdana"/>
              </a:rPr>
              <a:t>» vrai</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Chaque personne parle pendant dix minutes.   </a:t>
            </a:r>
            <a:r>
              <a:rPr sz="1400" b="1" i="0">
                <a:solidFill>
                  <a:srgbClr val="07734A"/>
                </a:solidFill>
                <a:latin typeface="Verdana"/>
              </a:rPr>
              <a:t>» faux — deux minutes</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Personne ne coupe la parole pendant la présentation.   </a:t>
            </a:r>
            <a:r>
              <a:rPr sz="1400" b="1" i="0">
                <a:solidFill>
                  <a:srgbClr val="07734A"/>
                </a:solidFill>
                <a:latin typeface="Verdana"/>
              </a:rPr>
              <a:t>» vrai</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faut raconter la fin de l'histoire aux autres.   </a:t>
            </a:r>
            <a:r>
              <a:rPr sz="1400" b="1" i="0">
                <a:solidFill>
                  <a:srgbClr val="07734A"/>
                </a:solidFill>
                <a:latin typeface="Verdana"/>
              </a:rPr>
              <a:t>» faux — surtout pas la fin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Nommez une œuvre que vous avez aimée, et dites en une phrase ce que c'est.</a:t>
            </a:r>
          </a:p>
        </p:txBody>
      </p:sp>
      <p:sp>
        <p:nvSpPr>
          <p:cNvPr id="8" name="Rounded Rectangle 7"/>
          <p:cNvSpPr/>
          <p:nvPr/>
        </p:nvSpPr>
        <p:spPr>
          <a:xfrm>
            <a:off x="566928" y="3931920"/>
            <a:ext cx="11057839" cy="1022096"/>
          </a:xfrm>
          <a:prstGeom prst="roundRect">
            <a:avLst>
              <a:gd name="adj" fmla="val 8946"/>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7477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Dites le support : un roman, un film, une série, une chanson, une bande dessinée.</a:t>
            </a:r>
          </a:p>
        </p:txBody>
      </p:sp>
      <p:sp>
        <p:nvSpPr>
          <p:cNvPr id="10" name="Rounded Rectangle 9"/>
          <p:cNvSpPr/>
          <p:nvPr/>
        </p:nvSpPr>
        <p:spPr>
          <a:xfrm>
            <a:off x="566928" y="5036311"/>
            <a:ext cx="11057839" cy="1022096"/>
          </a:xfrm>
          <a:prstGeom prst="roundRect">
            <a:avLst>
              <a:gd name="adj" fmla="val 8946"/>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5191759"/>
            <a:ext cx="10051999" cy="7477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Ajoutez le genre en deux mots : une histoire de famille, un policier, une comédie.</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Le club du jeudi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