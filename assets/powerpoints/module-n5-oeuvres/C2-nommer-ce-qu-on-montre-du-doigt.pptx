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appliqué. Prévoir un album par deux élèves : la séance ne fonctionne pas sans objet à montrer. Si la bibliothèque de l'école n'en a pas, imprimer trois planches libres de droits ou emprunter au réseau municipal la semaine d'avant.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exigeant : décrire une image sans la montrer est un exercice de production orale complet, et c'est exactement ce que l'élève devra faire au club.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par deux, album ouvert, cinq minutes. Puis mise en commun : chaque équipe montre une chose et la nomme. C'est le meilleur moment de la séance et il ne demande aucune préparation.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première carte : beaucoup de cases n'ont aucun texte — un visage, une main, une porte fermée — et ce sont souvent les plus fortes. Ce sont celles qu'on décrit à voix haute quand on présente l'album.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Rassurer les élèves qui trouvent qu'ils lisent trop vite une bande dessinée : c'est le signe qu'ils sautent le dessin. Leur faire relire une planche en ne regardant que les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chacune des cinq formes dans les albums. Les trois premières se trouvent toujours ; la quatrième et la cinquième demandent de feuilleter, et c'est justement l'exercice de lecture qu'on veut.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`t2mots` du module interactif, à quatre tuiles. La cinquième ligne est le piège : on parle de la bulle, pas de la case, parce que c'est d'un ordre de lecture qu'il s'agit.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faute est constante au début et elle se corrige vite, à condition de la reprendre chaque fois. Pendant tout le défi, corriger le mot sans interrompre l'idée : « la case, oui — continue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long — prévoir vingt minutes — mais c'est le cœur de la séance. Le dessin du voisin n'a aucune importance en soi : ce qui compte, c'est ce qui manquait à la description, et le groupe le voit tout seul.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seconde consigne relie le défi 2 au défi 1 : décrire n'est pas raconter, et l'on peut parler longtemps d'une œuvre sans rien dévoiler. Garder deux ou trois billets pour ouvrir la séance C3.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C2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Nommer ce qu'on montre du doigt</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bande dessinée est le seul art dont le vocabulaire s'apprend en une minute, parce que chaque mot désigne quelque chose qu'on voit sur la page. Encore faut-il savoir en parler à quelqu'un qui n'a pas la page sous les yeux.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chaque mot à ce qu'il désigne sur la page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décrire une case à quelqu'un qui ne la voit pas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que fait une bulle, et ce que sa forme raconte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onomatopée et dire à quoi sert sa taille.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case, une bulle, une planche, une onomatopée : montrez-les sur l'album ouvert devant vous.</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lanche-ouvert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cases y a-t-il sur cette planche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une case sans un seul mot ? Qu'est-ce qu'elle montre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Trouvez une bulle de pensée. Comment l'avez-vous reconnue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Cherchez une onomatopée. De quel bruit s'agit-il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QUATRE MOTS, QUATRE CHOSES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chacun désigne exactement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case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petit cadre avec un dessin dedans. Elle peut n'avoir aucun mot.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bulle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forme blanche qui porte les paroles. Sa pointe dit qui parle.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planche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page complète, avec toutes ses cases. Une cinquantaine par album.</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Une onomatopée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bruit écrit en grosses lettres, hors des bulles : BANG, TOC, VLAN.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DESSIN PORTE LA MOITIÉ DE L'HISTOIRE</a:t>
            </a:r>
          </a:p>
        </p:txBody>
      </p:sp>
      <p:sp>
        <p:nvSpPr>
          <p:cNvPr id="6" name="Rounded Rectangle 5"/>
          <p:cNvSpPr/>
          <p:nvPr/>
        </p:nvSpPr>
        <p:spPr>
          <a:xfrm>
            <a:off x="566928" y="1225296"/>
            <a:ext cx="11057839" cy="2494788"/>
          </a:xfrm>
          <a:prstGeom prst="roundRect">
            <a:avLst>
              <a:gd name="adj" fmla="val 586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lecteur qui ne lit que les bulles ne comprend pas pourquoi les personnages réagissent.</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case porte ce qui se voit, la bulle ce qui se lit, et une bonne bande dessinée met la moitié de l'histoire dans chacune. C'est pour ça qu'on ne peut pas la raconter en lisant seulement le texte — et pour ça qu'elle se lit plus lentement qu'elle n'en a l'air.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CE QUE LA FORME RACONTE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bulle, sa pointe et son contour</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VOIT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pointe ordinaire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personnage parle. Les autres l'entendent.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pointe en petits ronds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Il pense. Personne ne l'entend.</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contour en dents de scie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Il crie, ou la voix sort d'un appareil.</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bulle sans pointe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voix de narrateur, hors de la scène.</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Pas de bulle du tout</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dessin raconte seul. Souvent le plus fort.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RECONNAISSANCE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quoi parle-t-on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Case, bulle, planche ou onomatopée ?</a:t>
            </a:r>
          </a:p>
        </p:txBody>
      </p:sp>
      <p:sp>
        <p:nvSpPr>
          <p:cNvPr id="8" name="Rounded Rectangle 7"/>
          <p:cNvSpPr/>
          <p:nvPr/>
        </p:nvSpPr>
        <p:spPr>
          <a:xfrm>
            <a:off x="566928"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petit cadre qui contient un dessin.</a:t>
            </a:r>
          </a:p>
        </p:txBody>
      </p:sp>
      <p:sp>
        <p:nvSpPr>
          <p:cNvPr id="12" name="Rounded Rectangle 11"/>
          <p:cNvSpPr/>
          <p:nvPr/>
        </p:nvSpPr>
        <p:spPr>
          <a:xfrm>
            <a:off x="6159855"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forme blanche avec une pointe, qui contient des paroles.</a:t>
            </a:r>
          </a:p>
        </p:txBody>
      </p:sp>
      <p:sp>
        <p:nvSpPr>
          <p:cNvPr id="16" name="Rounded Rectangle 15"/>
          <p:cNvSpPr/>
          <p:nvPr/>
        </p:nvSpPr>
        <p:spPr>
          <a:xfrm>
            <a:off x="566928"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page complète, avec toutes ses cases.</a:t>
            </a:r>
          </a:p>
        </p:txBody>
      </p:sp>
      <p:sp>
        <p:nvSpPr>
          <p:cNvPr id="20" name="Rounded Rectangle 19"/>
          <p:cNvSpPr/>
          <p:nvPr/>
        </p:nvSpPr>
        <p:spPr>
          <a:xfrm>
            <a:off x="6159855"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bruit écrit en grosses lettres, en dehors des bulles.</a:t>
            </a:r>
          </a:p>
        </p:txBody>
      </p:sp>
      <p:sp>
        <p:nvSpPr>
          <p:cNvPr id="24" name="Rounded Rectangle 23"/>
          <p:cNvSpPr/>
          <p:nvPr/>
        </p:nvSpPr>
        <p:spPr>
          <a:xfrm>
            <a:off x="566928"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On y lit d'abord celle qui est la plus haute et la plus à gauche.</a:t>
            </a:r>
          </a:p>
        </p:txBody>
      </p:sp>
      <p:sp>
        <p:nvSpPr>
          <p:cNvPr id="28" name="Rounded Rectangle 27"/>
          <p:cNvSpPr/>
          <p:nvPr/>
        </p:nvSpPr>
        <p:spPr>
          <a:xfrm>
            <a:off x="6159855"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peut ne contenir aucun mot : un visage, une porte fermée.</a:t>
            </a:r>
          </a:p>
        </p:txBody>
      </p:sp>
      <p:sp>
        <p:nvSpPr>
          <p:cNvPr id="32" name="Rounded Rectangle 31"/>
          <p:cNvSpPr/>
          <p:nvPr/>
        </p:nvSpPr>
        <p:spPr>
          <a:xfrm>
            <a:off x="566928" y="5163312"/>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Il y en a une cinquantaine dans un album ordinaire.</a:t>
            </a:r>
          </a:p>
        </p:txBody>
      </p:sp>
      <p:sp>
        <p:nvSpPr>
          <p:cNvPr id="36" name="Rounded Rectangle 35"/>
          <p:cNvSpPr/>
          <p:nvPr/>
        </p:nvSpPr>
        <p:spPr>
          <a:xfrm>
            <a:off x="6159855" y="5163312"/>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42036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48436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8</a:t>
            </a:r>
          </a:p>
        </p:txBody>
      </p:sp>
      <p:sp>
        <p:nvSpPr>
          <p:cNvPr id="39" name="TextBox 38"/>
          <p:cNvSpPr txBox="1"/>
          <p:nvPr/>
        </p:nvSpPr>
        <p:spPr>
          <a:xfrm>
            <a:off x="6937095"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BANG, DRING, VLAN, TOC TOC.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quoi parle-t-on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petit cadre qui contient un dessin.   </a:t>
            </a:r>
            <a:r>
              <a:rPr sz="1600" b="1" i="0">
                <a:solidFill>
                  <a:srgbClr val="07734A"/>
                </a:solidFill>
                <a:latin typeface="Verdana"/>
              </a:rPr>
              <a:t>» une case</a:t>
            </a:r>
          </a:p>
        </p:txBody>
      </p:sp>
      <p:sp>
        <p:nvSpPr>
          <p:cNvPr id="12" name="Rounded Rectangle 11"/>
          <p:cNvSpPr/>
          <p:nvPr/>
        </p:nvSpPr>
        <p:spPr>
          <a:xfrm>
            <a:off x="6159855"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forme blanche avec une pointe, qui contient des paroles.   </a:t>
            </a:r>
            <a:r>
              <a:rPr sz="1600" b="1" i="0">
                <a:solidFill>
                  <a:srgbClr val="07734A"/>
                </a:solidFill>
                <a:latin typeface="Verdana"/>
              </a:rPr>
              <a:t>» une bulle</a:t>
            </a:r>
          </a:p>
        </p:txBody>
      </p:sp>
      <p:sp>
        <p:nvSpPr>
          <p:cNvPr id="16" name="Rounded Rectangle 15"/>
          <p:cNvSpPr/>
          <p:nvPr/>
        </p:nvSpPr>
        <p:spPr>
          <a:xfrm>
            <a:off x="566928"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page complète, avec toutes ses cases.   </a:t>
            </a:r>
            <a:r>
              <a:rPr sz="1600" b="1" i="0">
                <a:solidFill>
                  <a:srgbClr val="07734A"/>
                </a:solidFill>
                <a:latin typeface="Verdana"/>
              </a:rPr>
              <a:t>» une planche</a:t>
            </a:r>
          </a:p>
        </p:txBody>
      </p:sp>
      <p:sp>
        <p:nvSpPr>
          <p:cNvPr id="20" name="Rounded Rectangle 19"/>
          <p:cNvSpPr/>
          <p:nvPr/>
        </p:nvSpPr>
        <p:spPr>
          <a:xfrm>
            <a:off x="6159855"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bruit écrit en grosses lettres, en dehors des bulles.   </a:t>
            </a:r>
            <a:r>
              <a:rPr sz="1600" b="1" i="0">
                <a:solidFill>
                  <a:srgbClr val="07734A"/>
                </a:solidFill>
                <a:latin typeface="Verdana"/>
              </a:rPr>
              <a:t>» une onomatopée</a:t>
            </a:r>
          </a:p>
        </p:txBody>
      </p:sp>
      <p:sp>
        <p:nvSpPr>
          <p:cNvPr id="24" name="Rounded Rectangle 23"/>
          <p:cNvSpPr/>
          <p:nvPr/>
        </p:nvSpPr>
        <p:spPr>
          <a:xfrm>
            <a:off x="566928"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On y lit d'abord celle qui est la plus haute et la plus à gauche.   </a:t>
            </a:r>
            <a:r>
              <a:rPr sz="1600" b="1" i="0">
                <a:solidFill>
                  <a:srgbClr val="07734A"/>
                </a:solidFill>
                <a:latin typeface="Verdana"/>
              </a:rPr>
              <a:t>» une bulle</a:t>
            </a:r>
          </a:p>
        </p:txBody>
      </p:sp>
      <p:sp>
        <p:nvSpPr>
          <p:cNvPr id="28" name="Rounded Rectangle 27"/>
          <p:cNvSpPr/>
          <p:nvPr/>
        </p:nvSpPr>
        <p:spPr>
          <a:xfrm>
            <a:off x="6159855"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Elle peut ne contenir aucun mot : un visage, une porte fermée.   </a:t>
            </a:r>
            <a:r>
              <a:rPr sz="1600" b="1" i="0">
                <a:solidFill>
                  <a:srgbClr val="07734A"/>
                </a:solidFill>
                <a:latin typeface="Verdana"/>
              </a:rPr>
              <a:t>» une case</a:t>
            </a:r>
          </a:p>
        </p:txBody>
      </p:sp>
      <p:sp>
        <p:nvSpPr>
          <p:cNvPr id="32" name="Rounded Rectangle 31"/>
          <p:cNvSpPr/>
          <p:nvPr/>
        </p:nvSpPr>
        <p:spPr>
          <a:xfrm>
            <a:off x="566928" y="5163312"/>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Il y en a une cinquantaine dans un album ordinaire.   </a:t>
            </a:r>
            <a:r>
              <a:rPr sz="1600" b="1" i="0">
                <a:solidFill>
                  <a:srgbClr val="07734A"/>
                </a:solidFill>
                <a:latin typeface="Verdana"/>
              </a:rPr>
              <a:t>» une planche</a:t>
            </a:r>
          </a:p>
        </p:txBody>
      </p:sp>
      <p:sp>
        <p:nvSpPr>
          <p:cNvPr id="36" name="Rounded Rectangle 35"/>
          <p:cNvSpPr/>
          <p:nvPr/>
        </p:nvSpPr>
        <p:spPr>
          <a:xfrm>
            <a:off x="6159855" y="5163312"/>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542036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548436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8</a:t>
            </a:r>
          </a:p>
        </p:txBody>
      </p:sp>
      <p:sp>
        <p:nvSpPr>
          <p:cNvPr id="39" name="TextBox 38"/>
          <p:cNvSpPr txBox="1"/>
          <p:nvPr/>
        </p:nvSpPr>
        <p:spPr>
          <a:xfrm>
            <a:off x="6937095"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BANG, DRING, VLAN, TOC TOC.   </a:t>
            </a:r>
            <a:r>
              <a:rPr sz="1600" b="1" i="0">
                <a:solidFill>
                  <a:srgbClr val="07734A"/>
                </a:solidFill>
                <a:latin typeface="Verdana"/>
              </a:rPr>
              <a:t>» une onomatopée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APPELER « BULLE » CE QUI EST UNE CASE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Regarde la bulle du haut, on voit toute la ville.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Regarde la case du haut, on voit toute la ville.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bulle contient des mots ; la case contient un dessin. Si ce que vous montrez est carré et dessiné, c'est une case. Une bulle ne peut pas exister en dehors d'une case.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À L'ORAL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Décrivez une case à quelqu'un qui ne la voit pas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 par deux. L'un décrit, l'autre dessine au crayon.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Dites d'abord ce qu'on voit dans la case, sans nommer l'histoire.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Dites s'il y a une bulle, et où sa pointe va.</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Dites s'il y a une onomatopée, et quelle place elle prend.</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Comparez le dessin de votre voisin avec la vraie case.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Décrivez en trois phrases la case qui vous a le plus frappé.</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au moins deux des quatre mots : case, bulle, planche, onomatopée.</a:t>
            </a:r>
          </a:p>
        </p:txBody>
      </p:sp>
      <p:sp>
        <p:nvSpPr>
          <p:cNvPr id="10" name="Rounded Rectangle 9"/>
          <p:cNvSpPr/>
          <p:nvPr/>
        </p:nvSpPr>
        <p:spPr>
          <a:xfrm>
            <a:off x="566928" y="5036311"/>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Ne racontez rien de l'histoire — décrivez seulement ce qui se voit.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