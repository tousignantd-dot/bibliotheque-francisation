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Deuxième point de grammaire du Défi 2, et le plus exigeant du module. Prévoir de l'étaler : mieux vaut deux déplacements maîtrisés que trois survolés.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objectifs deux et trois sont les seuls exigibles à l'évaluation. Le quatrième se travaille par imitation.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changements à trouver, pas un. Les élèves voient le verbe et manquent presque toujours le passage de « vous » à « me ».</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Faire chercher le verbe introducteur avant toute transformation : c'est le réflexe à installer.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Diapositive à photographier. C'est le tableau de référence : y revenir à chaque phrase de l'exercice.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quatre phrases viennent de l'entrevue. Faire retrouver l'original dans l'extrait : le lien avec un texte réel fixe la règle mieux qu'un tableau.</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Piège essentiel. Le poser explicitement : les élèves qui ont bien compris B3 vont sur-interpréter ici, et c'est bon signe.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 changements ne sont pas exigibles à l'évaluation, mais ils s'entendent partout. Les faire reconnaître, pas produire.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dernière combine passif et conditionnel : la garder pour la fin et la faire décomposer en deux temps.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Corriger en groupe. Donner la bonne réponse, sans revenir sur qui s'est trompé.</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minutes. Les erreurs de pronom sont les plus fréquentes et les plus faciles à corriger en groupe.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D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1234440"/>
            <a:ext cx="11057839" cy="274320"/>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SÉANCE C3  ·  MODULE 1</a:t>
            </a:r>
          </a:p>
        </p:txBody>
      </p:sp>
      <p:sp>
        <p:nvSpPr>
          <p:cNvPr id="4" name="TextBox 3"/>
          <p:cNvSpPr txBox="1"/>
          <p:nvPr/>
        </p:nvSpPr>
        <p:spPr>
          <a:xfrm>
            <a:off x="566928" y="1691640"/>
            <a:ext cx="9960559" cy="1874519"/>
          </a:xfrm>
          <a:prstGeom prst="rect">
            <a:avLst/>
          </a:prstGeom>
          <a:noFill/>
        </p:spPr>
        <p:txBody>
          <a:bodyPr wrap="square" lIns="0" rIns="0" tIns="0" bIns="0" anchor="t">
            <a:spAutoFit/>
          </a:bodyPr>
          <a:lstStyle/>
          <a:p>
            <a:pPr algn="l">
              <a:lnSpc>
                <a:spcPct val="105000"/>
              </a:lnSpc>
            </a:pPr>
            <a:r>
              <a:rPr sz="4000" b="1" i="0">
                <a:solidFill>
                  <a:srgbClr val="17181A"/>
                </a:solidFill>
                <a:latin typeface="Verdana"/>
              </a:rPr>
              <a:t>Rapporter ce que quelqu'un a dit</a:t>
            </a:r>
          </a:p>
        </p:txBody>
      </p:sp>
      <p:sp>
        <p:nvSpPr>
          <p:cNvPr id="5" name="Rounded Rectangle 4"/>
          <p:cNvSpPr/>
          <p:nvPr/>
        </p:nvSpPr>
        <p:spPr>
          <a:xfrm>
            <a:off x="566928" y="3794760"/>
            <a:ext cx="9960559" cy="1394968"/>
          </a:xfrm>
          <a:prstGeom prst="roundRect">
            <a:avLst>
              <a:gd name="adj" fmla="val 10487"/>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896112" y="4123944"/>
            <a:ext cx="9302191" cy="782320"/>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Quand vous racontez aujourd'hui ce que quelqu'un a dit hier, vous vous placez à hier. Les temps reculent d'un cran pour le montrer.</a:t>
            </a:r>
          </a:p>
        </p:txBody>
      </p:sp>
      <p:sp>
        <p:nvSpPr>
          <p:cNvPr id="7" name="TextBox 6"/>
          <p:cNvSpPr txBox="1"/>
          <p:nvPr/>
        </p:nvSpPr>
        <p:spPr>
          <a:xfrm>
            <a:off x="566928" y="6035040"/>
            <a:ext cx="11057839" cy="274320"/>
          </a:xfrm>
          <a:prstGeom prst="rect">
            <a:avLst/>
          </a:prstGeom>
          <a:noFill/>
        </p:spPr>
        <p:txBody>
          <a:bodyPr wrap="square" lIns="0" rIns="0" tIns="0" bIns="0" anchor="t">
            <a:spAutoFit/>
          </a:bodyPr>
          <a:lstStyle/>
          <a:p>
            <a:pPr algn="l">
              <a:lnSpc>
                <a:spcPct val="135000"/>
              </a:lnSpc>
            </a:pPr>
            <a:r>
              <a:rPr sz="1500" b="0" i="0">
                <a:solidFill>
                  <a:srgbClr val="6E7175"/>
                </a:solidFill>
                <a:latin typeface="Verdana"/>
              </a:rPr>
              <a:t>75 minutes  ·  Suivre l'actualité</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2</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OBJECTIFS DE LA SÉANCE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À la fin, je serai capable de…</a:t>
            </a:r>
          </a:p>
        </p:txBody>
      </p:sp>
      <p:sp>
        <p:nvSpPr>
          <p:cNvPr id="7" name="Rounded Rectangle 6"/>
          <p:cNvSpPr/>
          <p:nvPr/>
        </p:nvSpPr>
        <p:spPr>
          <a:xfrm>
            <a:off x="566928" y="1764792"/>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ounded Rectangle 7"/>
          <p:cNvSpPr/>
          <p:nvPr/>
        </p:nvSpPr>
        <p:spPr>
          <a:xfrm>
            <a:off x="804672" y="1942592"/>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04672" y="2024887"/>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0" name="TextBox 9"/>
          <p:cNvSpPr txBox="1"/>
          <p:nvPr/>
        </p:nvSpPr>
        <p:spPr>
          <a:xfrm>
            <a:off x="1408176" y="1965960"/>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transformer une parole directe en parole rapportée au passé ;</a:t>
            </a:r>
          </a:p>
        </p:txBody>
      </p:sp>
      <p:sp>
        <p:nvSpPr>
          <p:cNvPr id="11" name="Rounded Rectangle 10"/>
          <p:cNvSpPr/>
          <p:nvPr/>
        </p:nvSpPr>
        <p:spPr>
          <a:xfrm>
            <a:off x="566928" y="2650744"/>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804672" y="2828544"/>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04672" y="2910840"/>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4" name="TextBox 13"/>
          <p:cNvSpPr txBox="1"/>
          <p:nvPr/>
        </p:nvSpPr>
        <p:spPr>
          <a:xfrm>
            <a:off x="1408176" y="2851912"/>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 plus-que-parfait pour ce qui était déjà fait ;</a:t>
            </a:r>
          </a:p>
        </p:txBody>
      </p:sp>
      <p:sp>
        <p:nvSpPr>
          <p:cNvPr id="15" name="Rounded Rectangle 14"/>
          <p:cNvSpPr/>
          <p:nvPr/>
        </p:nvSpPr>
        <p:spPr>
          <a:xfrm>
            <a:off x="566928" y="3536696"/>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ounded Rectangle 15"/>
          <p:cNvSpPr/>
          <p:nvPr/>
        </p:nvSpPr>
        <p:spPr>
          <a:xfrm>
            <a:off x="804672" y="3714496"/>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04672" y="3796792"/>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8" name="TextBox 17"/>
          <p:cNvSpPr txBox="1"/>
          <p:nvPr/>
        </p:nvSpPr>
        <p:spPr>
          <a:xfrm>
            <a:off x="1408176" y="3737864"/>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employer le conditionnel présent pour ce qui restait à venir ;</a:t>
            </a:r>
          </a:p>
        </p:txBody>
      </p:sp>
      <p:sp>
        <p:nvSpPr>
          <p:cNvPr id="19" name="Rounded Rectangle 18"/>
          <p:cNvSpPr/>
          <p:nvPr/>
        </p:nvSpPr>
        <p:spPr>
          <a:xfrm>
            <a:off x="566928" y="4422648"/>
            <a:ext cx="11057839" cy="757936"/>
          </a:xfrm>
          <a:prstGeom prst="roundRect">
            <a:avLst>
              <a:gd name="adj" fmla="val 19302"/>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ounded Rectangle 19"/>
          <p:cNvSpPr/>
          <p:nvPr/>
        </p:nvSpPr>
        <p:spPr>
          <a:xfrm>
            <a:off x="804672" y="4600448"/>
            <a:ext cx="402336" cy="402336"/>
          </a:xfrm>
          <a:prstGeom prst="roundRect">
            <a:avLst>
              <a:gd name="adj" fmla="val 31818"/>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804672" y="4682744"/>
            <a:ext cx="402336" cy="274320"/>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2" name="TextBox 21"/>
          <p:cNvSpPr txBox="1"/>
          <p:nvPr/>
        </p:nvSpPr>
        <p:spPr>
          <a:xfrm>
            <a:off x="1408176" y="4623816"/>
            <a:ext cx="9549079" cy="392176"/>
          </a:xfrm>
          <a:prstGeom prst="rect">
            <a:avLst/>
          </a:prstGeom>
          <a:noFill/>
        </p:spPr>
        <p:txBody>
          <a:bodyPr wrap="square" lIns="0" rIns="0" tIns="0" bIns="0" anchor="t">
            <a:spAutoFit/>
          </a:bodyPr>
          <a:lstStyle/>
          <a:p>
            <a:pPr algn="l">
              <a:lnSpc>
                <a:spcPct val="140000"/>
              </a:lnSpc>
            </a:pPr>
            <a:r>
              <a:rPr sz="2000" b="0" i="0">
                <a:solidFill>
                  <a:srgbClr val="3A3D40"/>
                </a:solidFill>
                <a:latin typeface="Verdana"/>
              </a:rPr>
              <a:t>adapter les repères de temps et les pronoms.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3</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OBSERVATION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La même phrase, deux fois</a:t>
            </a:r>
          </a:p>
        </p:txBody>
      </p:sp>
      <p:sp>
        <p:nvSpPr>
          <p:cNvPr id="7" name="Rounded Rectangle 6"/>
          <p:cNvSpPr/>
          <p:nvPr/>
        </p:nvSpPr>
        <p:spPr>
          <a:xfrm>
            <a:off x="566928" y="1856232"/>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Rectangle 7"/>
          <p:cNvSpPr/>
          <p:nvPr/>
        </p:nvSpPr>
        <p:spPr>
          <a:xfrm>
            <a:off x="566928" y="1965960"/>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50976" y="2039112"/>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a dit : « Je vous rappellerai. »</a:t>
            </a:r>
          </a:p>
        </p:txBody>
      </p:sp>
      <p:sp>
        <p:nvSpPr>
          <p:cNvPr id="10" name="Rounded Rectangle 9"/>
          <p:cNvSpPr/>
          <p:nvPr/>
        </p:nvSpPr>
        <p:spPr>
          <a:xfrm>
            <a:off x="566928" y="2642108"/>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ctangle 10"/>
          <p:cNvSpPr/>
          <p:nvPr/>
        </p:nvSpPr>
        <p:spPr>
          <a:xfrm>
            <a:off x="566928" y="2751836"/>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950976" y="2824988"/>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Elle a promis qu'elle me rappellerait.</a:t>
            </a:r>
          </a:p>
        </p:txBody>
      </p:sp>
      <p:sp>
        <p:nvSpPr>
          <p:cNvPr id="13" name="Rounded Rectangle 12"/>
          <p:cNvSpPr/>
          <p:nvPr/>
        </p:nvSpPr>
        <p:spPr>
          <a:xfrm>
            <a:off x="566928" y="3427984"/>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566928" y="3537712"/>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950976" y="3610864"/>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Qu'est-ce qui a changé dans le verbe ?</a:t>
            </a:r>
          </a:p>
        </p:txBody>
      </p:sp>
      <p:sp>
        <p:nvSpPr>
          <p:cNvPr id="16" name="Rounded Rectangle 15"/>
          <p:cNvSpPr/>
          <p:nvPr/>
        </p:nvSpPr>
        <p:spPr>
          <a:xfrm>
            <a:off x="566928" y="4213860"/>
            <a:ext cx="11057839" cy="703579"/>
          </a:xfrm>
          <a:prstGeom prst="roundRect">
            <a:avLst>
              <a:gd name="adj" fmla="val 2079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ctangle 16"/>
          <p:cNvSpPr/>
          <p:nvPr/>
        </p:nvSpPr>
        <p:spPr>
          <a:xfrm>
            <a:off x="566928" y="4323588"/>
            <a:ext cx="50292" cy="484123"/>
          </a:xfrm>
          <a:prstGeom prst="rect">
            <a:avLst/>
          </a:prstGeom>
          <a:solidFill>
            <a:srgbClr val="B4530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950976" y="4396740"/>
            <a:ext cx="10372039" cy="374395"/>
          </a:xfrm>
          <a:prstGeom prst="rect">
            <a:avLst/>
          </a:prstGeom>
          <a:noFill/>
        </p:spPr>
        <p:txBody>
          <a:bodyPr wrap="square" lIns="0" rIns="0" tIns="0" bIns="0" anchor="t">
            <a:spAutoFit/>
          </a:bodyPr>
          <a:lstStyle/>
          <a:p>
            <a:pPr algn="l">
              <a:lnSpc>
                <a:spcPct val="140000"/>
              </a:lnSpc>
            </a:pPr>
            <a:r>
              <a:rPr sz="1900" b="0" i="0">
                <a:solidFill>
                  <a:srgbClr val="3A3D40"/>
                </a:solidFill>
                <a:latin typeface="Verdana"/>
              </a:rPr>
              <a:t>Et dans le pronom ?</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4</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POINT DE RÉFÉRENCE RECULE</a:t>
            </a:r>
          </a:p>
        </p:txBody>
      </p:sp>
      <p:sp>
        <p:nvSpPr>
          <p:cNvPr id="6" name="Rounded Rectangle 5"/>
          <p:cNvSpPr/>
          <p:nvPr/>
        </p:nvSpPr>
        <p:spPr>
          <a:xfrm>
            <a:off x="566928" y="1225296"/>
            <a:ext cx="11057839" cy="2494788"/>
          </a:xfrm>
          <a:prstGeom prst="roundRect">
            <a:avLst>
              <a:gd name="adj" fmla="val 5864"/>
            </a:avLst>
          </a:prstGeom>
          <a:solidFill>
            <a:srgbClr val="FBEEDC"/>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298448" y="1682496"/>
            <a:ext cx="9594799" cy="1671828"/>
          </a:xfrm>
          <a:prstGeom prst="rect">
            <a:avLst/>
          </a:prstGeom>
          <a:noFill/>
        </p:spPr>
        <p:txBody>
          <a:bodyPr wrap="square" lIns="0" rIns="0" tIns="0" bIns="0" anchor="t">
            <a:spAutoFit/>
          </a:bodyPr>
          <a:lstStyle/>
          <a:p>
            <a:pPr algn="l">
              <a:lnSpc>
                <a:spcPct val="122000"/>
              </a:lnSpc>
            </a:pPr>
            <a:r>
              <a:rPr sz="3400" b="1" i="0">
                <a:solidFill>
                  <a:srgbClr val="17181A"/>
                </a:solidFill>
                <a:latin typeface="Verdana"/>
              </a:rPr>
              <a:t>Verbe introducteur au passé : les temps de ce qui est rapporté reculent d'un cran.</a:t>
            </a:r>
          </a:p>
        </p:txBody>
      </p:sp>
      <p:sp>
        <p:nvSpPr>
          <p:cNvPr id="8" name="Rounded Rectangle 7"/>
          <p:cNvSpPr/>
          <p:nvPr/>
        </p:nvSpPr>
        <p:spPr>
          <a:xfrm>
            <a:off x="566928" y="3994404"/>
            <a:ext cx="11057839" cy="1671827"/>
          </a:xfrm>
          <a:prstGeom prst="roundRect">
            <a:avLst>
              <a:gd name="adj" fmla="val 875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69264" y="4268724"/>
            <a:ext cx="10234879" cy="1214627"/>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Ce n'est vrai que si le verbe qui introduit est au passé. « Elle dit qu'elle viendra » ne change rien ; « elle a dit qu'elle viendrait », oui. Le déclencheur est toujours le verbe introducteur - c'est lui qu'il faut regarder en premier.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5</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Les trois déplacements, et rien de plus</a:t>
            </a:r>
          </a:p>
        </p:txBody>
      </p:sp>
      <p:sp>
        <p:nvSpPr>
          <p:cNvPr id="7" name="Rounded Rectangle 6"/>
          <p:cNvSpPr/>
          <p:nvPr/>
        </p:nvSpPr>
        <p:spPr>
          <a:xfrm>
            <a:off x="566928" y="1810512"/>
            <a:ext cx="11057839" cy="3200400"/>
          </a:xfrm>
          <a:prstGeom prst="roundRect">
            <a:avLst>
              <a:gd name="adj" fmla="val 4571"/>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CE QU'ON RAPPORTE</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LE TEMPS DEVIENT</a:t>
            </a:r>
          </a:p>
        </p:txBody>
      </p:sp>
      <p:sp>
        <p:nvSpPr>
          <p:cNvPr id="10" name="TextBox 9"/>
          <p:cNvSpPr txBox="1"/>
          <p:nvPr/>
        </p:nvSpPr>
        <p:spPr>
          <a:xfrm>
            <a:off x="932688" y="2395728"/>
            <a:ext cx="3291492" cy="573024"/>
          </a:xfrm>
          <a:prstGeom prst="rect">
            <a:avLst/>
          </a:prstGeom>
          <a:noFill/>
        </p:spPr>
        <p:txBody>
          <a:bodyPr wrap="square" lIns="0" rIns="0" tIns="0" bIns="0" anchor="t">
            <a:spAutoFit/>
          </a:bodyPr>
          <a:lstStyle/>
          <a:p>
            <a:pPr algn="l">
              <a:lnSpc>
                <a:spcPct val="132000"/>
              </a:lnSpc>
            </a:pPr>
            <a:r>
              <a:rPr sz="1600" b="1" i="0">
                <a:solidFill>
                  <a:srgbClr val="B45309"/>
                </a:solidFill>
                <a:latin typeface="Verdana"/>
              </a:rPr>
              <a:t>ce qui était déjà fait (passé composé)</a:t>
            </a:r>
          </a:p>
        </p:txBody>
      </p:sp>
      <p:sp>
        <p:nvSpPr>
          <p:cNvPr id="11" name="TextBox 10"/>
          <p:cNvSpPr txBox="1"/>
          <p:nvPr/>
        </p:nvSpPr>
        <p:spPr>
          <a:xfrm>
            <a:off x="4443636" y="2395728"/>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 plus-que-parfait : il avait perdu</a:t>
            </a:r>
          </a:p>
        </p:txBody>
      </p:sp>
      <p:sp>
        <p:nvSpPr>
          <p:cNvPr id="12" name="Rectangle 11"/>
          <p:cNvSpPr/>
          <p:nvPr/>
        </p:nvSpPr>
        <p:spPr>
          <a:xfrm>
            <a:off x="932688" y="30419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3169920"/>
            <a:ext cx="3291492" cy="573024"/>
          </a:xfrm>
          <a:prstGeom prst="rect">
            <a:avLst/>
          </a:prstGeom>
          <a:noFill/>
        </p:spPr>
        <p:txBody>
          <a:bodyPr wrap="square" lIns="0" rIns="0" tIns="0" bIns="0" anchor="t">
            <a:spAutoFit/>
          </a:bodyPr>
          <a:lstStyle/>
          <a:p>
            <a:pPr algn="l">
              <a:lnSpc>
                <a:spcPct val="132000"/>
              </a:lnSpc>
            </a:pPr>
            <a:r>
              <a:rPr sz="1600" b="1" i="0">
                <a:solidFill>
                  <a:srgbClr val="B45309"/>
                </a:solidFill>
                <a:latin typeface="Verdana"/>
              </a:rPr>
              <a:t>ce qui était en cours (présent)</a:t>
            </a:r>
          </a:p>
        </p:txBody>
      </p:sp>
      <p:sp>
        <p:nvSpPr>
          <p:cNvPr id="14" name="TextBox 13"/>
          <p:cNvSpPr txBox="1"/>
          <p:nvPr/>
        </p:nvSpPr>
        <p:spPr>
          <a:xfrm>
            <a:off x="4443636" y="3169920"/>
            <a:ext cx="6595914" cy="573024"/>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l'imparfait : le dossier était à l'étude</a:t>
            </a:r>
          </a:p>
        </p:txBody>
      </p:sp>
      <p:sp>
        <p:nvSpPr>
          <p:cNvPr id="15" name="Rectangle 14"/>
          <p:cNvSpPr/>
          <p:nvPr/>
        </p:nvSpPr>
        <p:spPr>
          <a:xfrm>
            <a:off x="932688" y="3816096"/>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944112"/>
            <a:ext cx="3291492" cy="304800"/>
          </a:xfrm>
          <a:prstGeom prst="rect">
            <a:avLst/>
          </a:prstGeom>
          <a:noFill/>
        </p:spPr>
        <p:txBody>
          <a:bodyPr wrap="square" lIns="0" rIns="0" tIns="0" bIns="0" anchor="t">
            <a:spAutoFit/>
          </a:bodyPr>
          <a:lstStyle/>
          <a:p>
            <a:pPr algn="l">
              <a:lnSpc>
                <a:spcPct val="132000"/>
              </a:lnSpc>
            </a:pPr>
            <a:r>
              <a:rPr sz="1600" b="1" i="0">
                <a:solidFill>
                  <a:srgbClr val="B45309"/>
                </a:solidFill>
                <a:latin typeface="Verdana"/>
              </a:rPr>
              <a:t>ce qui restait à venir (futur)</a:t>
            </a:r>
          </a:p>
        </p:txBody>
      </p:sp>
      <p:sp>
        <p:nvSpPr>
          <p:cNvPr id="17" name="TextBox 16"/>
          <p:cNvSpPr txBox="1"/>
          <p:nvPr/>
        </p:nvSpPr>
        <p:spPr>
          <a:xfrm>
            <a:off x="4443636" y="3944112"/>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le conditionnel présent : elle rappellerait</a:t>
            </a:r>
          </a:p>
        </p:txBody>
      </p:sp>
      <p:sp>
        <p:nvSpPr>
          <p:cNvPr id="18" name="Rectangle 17"/>
          <p:cNvSpPr/>
          <p:nvPr/>
        </p:nvSpPr>
        <p:spPr>
          <a:xfrm>
            <a:off x="932688" y="432206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450080"/>
            <a:ext cx="3291492" cy="304800"/>
          </a:xfrm>
          <a:prstGeom prst="rect">
            <a:avLst/>
          </a:prstGeom>
          <a:noFill/>
        </p:spPr>
        <p:txBody>
          <a:bodyPr wrap="square" lIns="0" rIns="0" tIns="0" bIns="0" anchor="t">
            <a:spAutoFit/>
          </a:bodyPr>
          <a:lstStyle/>
          <a:p>
            <a:pPr algn="l">
              <a:lnSpc>
                <a:spcPct val="132000"/>
              </a:lnSpc>
            </a:pPr>
            <a:r>
              <a:rPr sz="1600" b="1" i="0">
                <a:solidFill>
                  <a:srgbClr val="B45309"/>
                </a:solidFill>
                <a:latin typeface="Verdana"/>
              </a:rPr>
              <a:t>variante plus parlée</a:t>
            </a:r>
          </a:p>
        </p:txBody>
      </p:sp>
      <p:sp>
        <p:nvSpPr>
          <p:cNvPr id="20" name="TextBox 19"/>
          <p:cNvSpPr txBox="1"/>
          <p:nvPr/>
        </p:nvSpPr>
        <p:spPr>
          <a:xfrm>
            <a:off x="4443636" y="4450080"/>
            <a:ext cx="6595914" cy="304800"/>
          </a:xfrm>
          <a:prstGeom prst="rect">
            <a:avLst/>
          </a:prstGeom>
          <a:noFill/>
        </p:spPr>
        <p:txBody>
          <a:bodyPr wrap="square" lIns="0" rIns="0" tIns="0" bIns="0" anchor="t">
            <a:spAutoFit/>
          </a:bodyPr>
          <a:lstStyle/>
          <a:p>
            <a:pPr algn="l">
              <a:lnSpc>
                <a:spcPct val="132000"/>
              </a:lnSpc>
            </a:pPr>
            <a:r>
              <a:rPr sz="1600" b="0" i="0">
                <a:solidFill>
                  <a:srgbClr val="3A3D40"/>
                </a:solidFill>
                <a:latin typeface="Verdana"/>
              </a:rPr>
              <a:t>aller à l'imparfait + infinitif : elle allait rappeler</a:t>
            </a:r>
          </a:p>
        </p:txBody>
      </p:sp>
      <p:sp>
        <p:nvSpPr>
          <p:cNvPr id="21" name="Rounded Rectangle 20"/>
          <p:cNvSpPr/>
          <p:nvPr/>
        </p:nvSpPr>
        <p:spPr>
          <a:xfrm>
            <a:off x="566928" y="5248656"/>
            <a:ext cx="11057839" cy="769874"/>
          </a:xfrm>
          <a:prstGeom prst="roundRect">
            <a:avLst>
              <a:gd name="adj" fmla="val 19003"/>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504688"/>
            <a:ext cx="10234879" cy="312674"/>
          </a:xfrm>
          <a:prstGeom prst="rect">
            <a:avLst/>
          </a:prstGeom>
          <a:noFill/>
        </p:spPr>
        <p:txBody>
          <a:bodyPr wrap="square" lIns="0" rIns="0" tIns="0" bIns="0" anchor="t">
            <a:spAutoFit/>
          </a:bodyPr>
          <a:lstStyle/>
          <a:p>
            <a:pPr algn="l">
              <a:lnSpc>
                <a:spcPct val="145000"/>
              </a:lnSpc>
            </a:pPr>
            <a:r>
              <a:rPr sz="1400" b="0" i="0">
                <a:solidFill>
                  <a:srgbClr val="4B4F52"/>
                </a:solidFill>
                <a:latin typeface="Verdana"/>
              </a:rPr>
              <a:t>Trois lignes. Presque tout le discours indirect au passé tient là-dedans.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6</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LES TROIS TRANSFORMATIONS SUR DES PHRASES DU MODULE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Direct, puis rapporté</a:t>
            </a:r>
          </a:p>
        </p:txBody>
      </p:sp>
      <p:sp>
        <p:nvSpPr>
          <p:cNvPr id="7" name="Rounded Rectangle 6"/>
          <p:cNvSpPr/>
          <p:nvPr/>
        </p:nvSpPr>
        <p:spPr>
          <a:xfrm>
            <a:off x="566928"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86968" y="2084831"/>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 J'ai perdu des clients. »</a:t>
            </a:r>
          </a:p>
        </p:txBody>
      </p:sp>
      <p:sp>
        <p:nvSpPr>
          <p:cNvPr id="9" name="TextBox 8"/>
          <p:cNvSpPr txBox="1"/>
          <p:nvPr/>
        </p:nvSpPr>
        <p:spPr>
          <a:xfrm>
            <a:off x="886968" y="2859024"/>
            <a:ext cx="4806543" cy="729996"/>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Il a expliqué qu'il avait perdu des clients. - passé composé vers plus-que-parfait</a:t>
            </a:r>
          </a:p>
        </p:txBody>
      </p:sp>
      <p:sp>
        <p:nvSpPr>
          <p:cNvPr id="10" name="Rounded Rectangle 9"/>
          <p:cNvSpPr/>
          <p:nvPr/>
        </p:nvSpPr>
        <p:spPr>
          <a:xfrm>
            <a:off x="6178143" y="181051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498183" y="2084831"/>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 Le dossier est à l'étude. »</a:t>
            </a:r>
          </a:p>
        </p:txBody>
      </p:sp>
      <p:sp>
        <p:nvSpPr>
          <p:cNvPr id="12" name="TextBox 11"/>
          <p:cNvSpPr txBox="1"/>
          <p:nvPr/>
        </p:nvSpPr>
        <p:spPr>
          <a:xfrm>
            <a:off x="6498183" y="2859024"/>
            <a:ext cx="4806543" cy="729996"/>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Elle a précisé que le dossier était à l'étude. - présent vers imparfait</a:t>
            </a:r>
          </a:p>
        </p:txBody>
      </p:sp>
      <p:sp>
        <p:nvSpPr>
          <p:cNvPr id="13" name="Rounded Rectangle 12"/>
          <p:cNvSpPr/>
          <p:nvPr/>
        </p:nvSpPr>
        <p:spPr>
          <a:xfrm>
            <a:off x="566928"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86968" y="4302252"/>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 Je vous rappellerai. »</a:t>
            </a:r>
          </a:p>
        </p:txBody>
      </p:sp>
      <p:sp>
        <p:nvSpPr>
          <p:cNvPr id="15" name="TextBox 14"/>
          <p:cNvSpPr txBox="1"/>
          <p:nvPr/>
        </p:nvSpPr>
        <p:spPr>
          <a:xfrm>
            <a:off x="886968" y="5076444"/>
            <a:ext cx="4806543" cy="729996"/>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Elle a promis qu'elle me rappellerait. - futur vers conditionnel</a:t>
            </a:r>
          </a:p>
        </p:txBody>
      </p:sp>
      <p:sp>
        <p:nvSpPr>
          <p:cNvPr id="16" name="Rounded Rectangle 15"/>
          <p:cNvSpPr/>
          <p:nvPr/>
        </p:nvSpPr>
        <p:spPr>
          <a:xfrm>
            <a:off x="6178143" y="4027932"/>
            <a:ext cx="5446623" cy="2052828"/>
          </a:xfrm>
          <a:prstGeom prst="roundRect">
            <a:avLst>
              <a:gd name="adj" fmla="val 7126"/>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498183" y="4302252"/>
            <a:ext cx="4806543" cy="746760"/>
          </a:xfrm>
          <a:prstGeom prst="rect">
            <a:avLst/>
          </a:prstGeom>
          <a:noFill/>
        </p:spPr>
        <p:txBody>
          <a:bodyPr wrap="square" lIns="0" rIns="0" tIns="0" bIns="0" anchor="t">
            <a:spAutoFit/>
          </a:bodyPr>
          <a:lstStyle/>
          <a:p>
            <a:pPr algn="l">
              <a:lnSpc>
                <a:spcPct val="118000"/>
              </a:lnSpc>
            </a:pPr>
            <a:r>
              <a:rPr sz="2400" b="1" i="0">
                <a:solidFill>
                  <a:srgbClr val="B45309"/>
                </a:solidFill>
                <a:latin typeface="Verdana"/>
              </a:rPr>
              <a:t>« Je vais vous répondre par écrit. »</a:t>
            </a:r>
          </a:p>
        </p:txBody>
      </p:sp>
      <p:sp>
        <p:nvSpPr>
          <p:cNvPr id="18" name="TextBox 17"/>
          <p:cNvSpPr txBox="1"/>
          <p:nvPr/>
        </p:nvSpPr>
        <p:spPr>
          <a:xfrm>
            <a:off x="6498183" y="5076444"/>
            <a:ext cx="4806543" cy="729996"/>
          </a:xfrm>
          <a:prstGeom prst="rect">
            <a:avLst/>
          </a:prstGeom>
          <a:noFill/>
        </p:spPr>
        <p:txBody>
          <a:bodyPr wrap="square" lIns="0" rIns="0" tIns="0" bIns="0" anchor="t">
            <a:spAutoFit/>
          </a:bodyPr>
          <a:lstStyle/>
          <a:p>
            <a:pPr algn="l">
              <a:lnSpc>
                <a:spcPct val="142000"/>
              </a:lnSpc>
            </a:pPr>
            <a:r>
              <a:rPr sz="1700" b="0" i="0">
                <a:solidFill>
                  <a:srgbClr val="3A3D40"/>
                </a:solidFill>
                <a:latin typeface="Verdana"/>
              </a:rPr>
              <a:t>Elle a dit qu'elle allait me répondre par écrit. - futur proche vers imparfait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7</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LE CONDITIONNEL QUI N'EST PAS UN DOUTE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Le piège le plus fréquent</a:t>
            </a:r>
          </a:p>
        </p:txBody>
      </p:sp>
      <p:sp>
        <p:nvSpPr>
          <p:cNvPr id="7" name="Rounded Rectangle 6"/>
          <p:cNvSpPr/>
          <p:nvPr/>
        </p:nvSpPr>
        <p:spPr>
          <a:xfrm>
            <a:off x="566928" y="1856232"/>
            <a:ext cx="5428335" cy="2331720"/>
          </a:xfrm>
          <a:prstGeom prst="roundRect">
            <a:avLst>
              <a:gd name="adj" fmla="val 6274"/>
            </a:avLst>
          </a:prstGeom>
          <a:solidFill>
            <a:srgbClr val="FFF6F5"/>
          </a:solidFill>
          <a:ln w="12700">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B91C1C"/>
                </a:solidFill>
                <a:latin typeface="Verdana"/>
              </a:rPr>
              <a:t>ON ENTEND SOUVENT</a:t>
            </a:r>
          </a:p>
        </p:txBody>
      </p:sp>
      <p:sp>
        <p:nvSpPr>
          <p:cNvPr id="9" name="TextBox 8"/>
          <p:cNvSpPr txBox="1"/>
          <p:nvPr/>
        </p:nvSpPr>
        <p:spPr>
          <a:xfrm>
            <a:off x="932688"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Selon la conseillère, elle viendrait peut-être.</a:t>
            </a:r>
          </a:p>
        </p:txBody>
      </p:sp>
      <p:sp>
        <p:nvSpPr>
          <p:cNvPr id="10" name="Rounded Rectangle 9"/>
          <p:cNvSpPr/>
          <p:nvPr/>
        </p:nvSpPr>
        <p:spPr>
          <a:xfrm>
            <a:off x="6196431" y="1856232"/>
            <a:ext cx="5428335" cy="2331720"/>
          </a:xfrm>
          <a:prstGeom prst="roundRect">
            <a:avLst>
              <a:gd name="adj" fmla="val 6274"/>
            </a:avLst>
          </a:prstGeom>
          <a:solidFill>
            <a:srgbClr val="E6F5EE"/>
          </a:solidFill>
          <a:ln w="12700">
            <a:solidFill>
              <a:srgbClr val="0A8F5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62191" y="2130552"/>
            <a:ext cx="4696815" cy="274320"/>
          </a:xfrm>
          <a:prstGeom prst="rect">
            <a:avLst/>
          </a:prstGeom>
          <a:noFill/>
        </p:spPr>
        <p:txBody>
          <a:bodyPr wrap="square" lIns="0" rIns="0" tIns="0" bIns="0" anchor="t">
            <a:spAutoFit/>
          </a:bodyPr>
          <a:lstStyle/>
          <a:p>
            <a:pPr algn="l">
              <a:lnSpc>
                <a:spcPct val="135000"/>
              </a:lnSpc>
            </a:pPr>
            <a:r>
              <a:rPr sz="1300" b="1" i="0" spc="156">
                <a:solidFill>
                  <a:srgbClr val="07734A"/>
                </a:solidFill>
                <a:latin typeface="Verdana"/>
              </a:rPr>
              <a:t>IL FAUT DIRE PLUTÔT</a:t>
            </a:r>
          </a:p>
        </p:txBody>
      </p:sp>
      <p:sp>
        <p:nvSpPr>
          <p:cNvPr id="12" name="TextBox 11"/>
          <p:cNvSpPr txBox="1"/>
          <p:nvPr/>
        </p:nvSpPr>
        <p:spPr>
          <a:xfrm>
            <a:off x="6562191" y="2569464"/>
            <a:ext cx="4696815" cy="1417320"/>
          </a:xfrm>
          <a:prstGeom prst="rect">
            <a:avLst/>
          </a:prstGeom>
          <a:noFill/>
        </p:spPr>
        <p:txBody>
          <a:bodyPr wrap="square" lIns="0" rIns="0" tIns="0" bIns="0" anchor="t">
            <a:spAutoFit/>
          </a:bodyPr>
          <a:lstStyle/>
          <a:p>
            <a:pPr algn="l">
              <a:lnSpc>
                <a:spcPct val="130000"/>
              </a:lnSpc>
            </a:pPr>
            <a:r>
              <a:rPr sz="2500" b="1" i="0">
                <a:solidFill>
                  <a:srgbClr val="17181A"/>
                </a:solidFill>
                <a:latin typeface="Verdana"/>
              </a:rPr>
              <a:t>Elle a promis qu'elle viendrait.</a:t>
            </a:r>
          </a:p>
        </p:txBody>
      </p:sp>
      <p:sp>
        <p:nvSpPr>
          <p:cNvPr id="13" name="Rounded Rectangle 12"/>
          <p:cNvSpPr/>
          <p:nvPr/>
        </p:nvSpPr>
        <p:spPr>
          <a:xfrm>
            <a:off x="566928" y="4462272"/>
            <a:ext cx="11057839" cy="1618487"/>
          </a:xfrm>
          <a:prstGeom prst="roundRect">
            <a:avLst>
              <a:gd name="adj" fmla="val 9039"/>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69264" y="4736592"/>
            <a:ext cx="10234879" cy="1887219"/>
          </a:xfrm>
          <a:prstGeom prst="rect">
            <a:avLst/>
          </a:prstGeom>
          <a:noFill/>
        </p:spPr>
        <p:txBody>
          <a:bodyPr wrap="square" lIns="0" rIns="0" tIns="0" bIns="0" anchor="t">
            <a:spAutoFit/>
          </a:bodyPr>
          <a:lstStyle/>
          <a:p>
            <a:pPr algn="l">
              <a:lnSpc>
                <a:spcPct val="145000"/>
              </a:lnSpc>
            </a:pPr>
            <a:r>
              <a:rPr sz="2000" b="0" i="0">
                <a:solidFill>
                  <a:srgbClr val="4B4F52"/>
                </a:solidFill>
                <a:latin typeface="Verdana"/>
              </a:rPr>
              <a:t>Le même conditionnel sert deux fois dans ce module, et c'est le piège central du Défi 2. Au Défi 1, il marquait une information non confirmée. Ici, il marque simplement de l'avenir raconté depuis le passé : elle a bien promis, il n'y a aucun doute. C'est le verbe introducteur qui tranche - « selon nos informations » ou « elle a promis ».</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8</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ANALYSE</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Ce qui change aussi, et qu'on oublie</a:t>
            </a:r>
          </a:p>
        </p:txBody>
      </p:sp>
      <p:sp>
        <p:nvSpPr>
          <p:cNvPr id="7" name="Rounded Rectangle 6"/>
          <p:cNvSpPr/>
          <p:nvPr/>
        </p:nvSpPr>
        <p:spPr>
          <a:xfrm>
            <a:off x="566928" y="1810512"/>
            <a:ext cx="11057839" cy="2798064"/>
          </a:xfrm>
          <a:prstGeom prst="roundRect">
            <a:avLst>
              <a:gd name="adj" fmla="val 5228"/>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32688" y="1975104"/>
            <a:ext cx="3291492"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AU STYLE DIRECT</a:t>
            </a:r>
          </a:p>
        </p:txBody>
      </p:sp>
      <p:sp>
        <p:nvSpPr>
          <p:cNvPr id="9" name="TextBox 8"/>
          <p:cNvSpPr txBox="1"/>
          <p:nvPr/>
        </p:nvSpPr>
        <p:spPr>
          <a:xfrm>
            <a:off x="4443636" y="1975104"/>
            <a:ext cx="6595914" cy="237744"/>
          </a:xfrm>
          <a:prstGeom prst="rect">
            <a:avLst/>
          </a:prstGeom>
          <a:noFill/>
        </p:spPr>
        <p:txBody>
          <a:bodyPr wrap="square" lIns="0" rIns="0" tIns="0" bIns="0" anchor="t">
            <a:spAutoFit/>
          </a:bodyPr>
          <a:lstStyle/>
          <a:p>
            <a:pPr algn="l">
              <a:lnSpc>
                <a:spcPct val="135000"/>
              </a:lnSpc>
            </a:pPr>
            <a:r>
              <a:rPr sz="1300" b="1" i="0" spc="156">
                <a:solidFill>
                  <a:srgbClr val="6E7175"/>
                </a:solidFill>
                <a:latin typeface="Verdana"/>
              </a:rPr>
              <a:t>RAPPORTÉ AU PASSÉ</a:t>
            </a:r>
          </a:p>
        </p:txBody>
      </p:sp>
      <p:sp>
        <p:nvSpPr>
          <p:cNvPr id="10" name="TextBox 9"/>
          <p:cNvSpPr txBox="1"/>
          <p:nvPr/>
        </p:nvSpPr>
        <p:spPr>
          <a:xfrm>
            <a:off x="932688" y="2395728"/>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hier</a:t>
            </a:r>
          </a:p>
        </p:txBody>
      </p:sp>
      <p:sp>
        <p:nvSpPr>
          <p:cNvPr id="11" name="TextBox 10"/>
          <p:cNvSpPr txBox="1"/>
          <p:nvPr/>
        </p:nvSpPr>
        <p:spPr>
          <a:xfrm>
            <a:off x="4443636" y="2395728"/>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la veille</a:t>
            </a:r>
          </a:p>
        </p:txBody>
      </p:sp>
      <p:sp>
        <p:nvSpPr>
          <p:cNvPr id="12" name="Rectangle 11"/>
          <p:cNvSpPr/>
          <p:nvPr/>
        </p:nvSpPr>
        <p:spPr>
          <a:xfrm>
            <a:off x="932688" y="2807208"/>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932688" y="2935224"/>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demain</a:t>
            </a:r>
          </a:p>
        </p:txBody>
      </p:sp>
      <p:sp>
        <p:nvSpPr>
          <p:cNvPr id="14" name="TextBox 13"/>
          <p:cNvSpPr txBox="1"/>
          <p:nvPr/>
        </p:nvSpPr>
        <p:spPr>
          <a:xfrm>
            <a:off x="4443636" y="2935224"/>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le lendemain</a:t>
            </a:r>
          </a:p>
        </p:txBody>
      </p:sp>
      <p:sp>
        <p:nvSpPr>
          <p:cNvPr id="15" name="Rectangle 14"/>
          <p:cNvSpPr/>
          <p:nvPr/>
        </p:nvSpPr>
        <p:spPr>
          <a:xfrm>
            <a:off x="932688" y="3346704"/>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932688" y="3474720"/>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maintenant</a:t>
            </a:r>
          </a:p>
        </p:txBody>
      </p:sp>
      <p:sp>
        <p:nvSpPr>
          <p:cNvPr id="17" name="TextBox 16"/>
          <p:cNvSpPr txBox="1"/>
          <p:nvPr/>
        </p:nvSpPr>
        <p:spPr>
          <a:xfrm>
            <a:off x="4443636" y="3474720"/>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alors</a:t>
            </a:r>
          </a:p>
        </p:txBody>
      </p:sp>
      <p:sp>
        <p:nvSpPr>
          <p:cNvPr id="18" name="Rectangle 17"/>
          <p:cNvSpPr/>
          <p:nvPr/>
        </p:nvSpPr>
        <p:spPr>
          <a:xfrm>
            <a:off x="932688" y="3886200"/>
            <a:ext cx="10326319" cy="10058"/>
          </a:xfrm>
          <a:prstGeom prst="rect">
            <a:avLst/>
          </a:prstGeom>
          <a:solidFill>
            <a:srgbClr val="EAE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932688" y="4014215"/>
            <a:ext cx="3291492" cy="338328"/>
          </a:xfrm>
          <a:prstGeom prst="rect">
            <a:avLst/>
          </a:prstGeom>
          <a:noFill/>
        </p:spPr>
        <p:txBody>
          <a:bodyPr wrap="square" lIns="0" rIns="0" tIns="0" bIns="0" anchor="t">
            <a:spAutoFit/>
          </a:bodyPr>
          <a:lstStyle/>
          <a:p>
            <a:pPr algn="l">
              <a:lnSpc>
                <a:spcPct val="132000"/>
              </a:lnSpc>
            </a:pPr>
            <a:r>
              <a:rPr sz="1800" b="1" i="0">
                <a:solidFill>
                  <a:srgbClr val="B45309"/>
                </a:solidFill>
                <a:latin typeface="Verdana"/>
              </a:rPr>
              <a:t>« je vous rappellerai »</a:t>
            </a:r>
          </a:p>
        </p:txBody>
      </p:sp>
      <p:sp>
        <p:nvSpPr>
          <p:cNvPr id="20" name="TextBox 19"/>
          <p:cNvSpPr txBox="1"/>
          <p:nvPr/>
        </p:nvSpPr>
        <p:spPr>
          <a:xfrm>
            <a:off x="4443636" y="4014215"/>
            <a:ext cx="6595914" cy="338328"/>
          </a:xfrm>
          <a:prstGeom prst="rect">
            <a:avLst/>
          </a:prstGeom>
          <a:noFill/>
        </p:spPr>
        <p:txBody>
          <a:bodyPr wrap="square" lIns="0" rIns="0" tIns="0" bIns="0" anchor="t">
            <a:spAutoFit/>
          </a:bodyPr>
          <a:lstStyle/>
          <a:p>
            <a:pPr algn="l">
              <a:lnSpc>
                <a:spcPct val="132000"/>
              </a:lnSpc>
            </a:pPr>
            <a:r>
              <a:rPr sz="1800" b="0" i="0">
                <a:solidFill>
                  <a:srgbClr val="3A3D40"/>
                </a:solidFill>
                <a:latin typeface="Verdana"/>
              </a:rPr>
              <a:t>elle me rappellerait</a:t>
            </a:r>
          </a:p>
        </p:txBody>
      </p:sp>
      <p:sp>
        <p:nvSpPr>
          <p:cNvPr id="21" name="Rounded Rectangle 20"/>
          <p:cNvSpPr/>
          <p:nvPr/>
        </p:nvSpPr>
        <p:spPr>
          <a:xfrm>
            <a:off x="566928" y="4846320"/>
            <a:ext cx="11057839" cy="843534"/>
          </a:xfrm>
          <a:prstGeom prst="roundRect">
            <a:avLst>
              <a:gd name="adj" fmla="val 17344"/>
            </a:avLst>
          </a:prstGeom>
          <a:solidFill>
            <a:srgbClr val="FBFBFA"/>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969264" y="5102352"/>
            <a:ext cx="10234879" cy="386334"/>
          </a:xfrm>
          <a:prstGeom prst="rect">
            <a:avLst/>
          </a:prstGeom>
          <a:noFill/>
        </p:spPr>
        <p:txBody>
          <a:bodyPr wrap="square" lIns="0" rIns="0" tIns="0" bIns="0" anchor="t">
            <a:spAutoFit/>
          </a:bodyPr>
          <a:lstStyle/>
          <a:p>
            <a:pPr algn="l">
              <a:lnSpc>
                <a:spcPct val="145000"/>
              </a:lnSpc>
            </a:pPr>
            <a:r>
              <a:rPr sz="1800" b="0" i="0">
                <a:solidFill>
                  <a:srgbClr val="4B4F52"/>
                </a:solidFill>
                <a:latin typeface="Verdana"/>
              </a:rPr>
              <a:t>Dans un article, c'est souvent au pronom qu'on repère qu'une parole est rapportée.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9</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APPLICATION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Rapportez au passé</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Le verbe introducteur est déjà au passé composé.</a:t>
            </a:r>
          </a:p>
        </p:txBody>
      </p:sp>
      <p:sp>
        <p:nvSpPr>
          <p:cNvPr id="8" name="Rounded Rectangle 7"/>
          <p:cNvSpPr/>
          <p:nvPr/>
        </p:nvSpPr>
        <p:spPr>
          <a:xfrm>
            <a:off x="566928" y="213969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Le comité n'a pas encore reçu l'analyse. » Elle m'a dit que...</a:t>
            </a:r>
          </a:p>
        </p:txBody>
      </p:sp>
      <p:sp>
        <p:nvSpPr>
          <p:cNvPr id="12" name="Rounded Rectangle 11"/>
          <p:cNvSpPr/>
          <p:nvPr/>
        </p:nvSpPr>
        <p:spPr>
          <a:xfrm>
            <a:off x="566928" y="2827528"/>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Je vous rappellerai. » Elle a promis qu'elle...</a:t>
            </a:r>
          </a:p>
        </p:txBody>
      </p:sp>
      <p:sp>
        <p:nvSpPr>
          <p:cNvPr id="16" name="Rounded Rectangle 15"/>
          <p:cNvSpPr/>
          <p:nvPr/>
        </p:nvSpPr>
        <p:spPr>
          <a:xfrm>
            <a:off x="566928" y="3515359"/>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J'ai déjà perdu des clients. » Il a expliqué qu'il...</a:t>
            </a:r>
          </a:p>
        </p:txBody>
      </p:sp>
      <p:sp>
        <p:nvSpPr>
          <p:cNvPr id="20" name="Rounded Rectangle 19"/>
          <p:cNvSpPr/>
          <p:nvPr/>
        </p:nvSpPr>
        <p:spPr>
          <a:xfrm>
            <a:off x="566928" y="4203192"/>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Le dossier est à l'étude. » Elle a précisé que...</a:t>
            </a:r>
          </a:p>
        </p:txBody>
      </p:sp>
      <p:sp>
        <p:nvSpPr>
          <p:cNvPr id="24" name="Rounded Rectangle 23"/>
          <p:cNvSpPr/>
          <p:nvPr/>
        </p:nvSpPr>
        <p:spPr>
          <a:xfrm>
            <a:off x="566928" y="4891023"/>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Le conseil se prononcera le 14 octobre. » Elle a annoncé que...</a:t>
            </a:r>
          </a:p>
        </p:txBody>
      </p:sp>
      <p:sp>
        <p:nvSpPr>
          <p:cNvPr id="28" name="Rounded Rectangle 27"/>
          <p:cNvSpPr/>
          <p:nvPr/>
        </p:nvSpPr>
        <p:spPr>
          <a:xfrm>
            <a:off x="566928" y="5578856"/>
            <a:ext cx="11057839" cy="559816"/>
          </a:xfrm>
          <a:prstGeom prst="roundRect">
            <a:avLst>
              <a:gd name="adj" fmla="val 26134"/>
            </a:avLst>
          </a:prstGeom>
          <a:solidFill>
            <a:srgbClr val="FFFFFF"/>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Les heures seront négociées plus tard. » Elle a indiqué que...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10</a:t>
            </a:r>
          </a:p>
        </p:txBody>
      </p:sp>
      <p:sp>
        <p:nvSpPr>
          <p:cNvPr id="5" name="TextBox 4"/>
          <p:cNvSpPr txBox="1"/>
          <p:nvPr/>
        </p:nvSpPr>
        <p:spPr>
          <a:xfrm>
            <a:off x="566928" y="420624"/>
            <a:ext cx="11057839" cy="237744"/>
          </a:xfrm>
          <a:prstGeom prst="rect">
            <a:avLst/>
          </a:prstGeom>
          <a:noFill/>
        </p:spPr>
        <p:txBody>
          <a:bodyPr wrap="square" lIns="0" rIns="0" tIns="0" bIns="0" anchor="t">
            <a:spAutoFit/>
          </a:bodyPr>
          <a:lstStyle/>
          <a:p>
            <a:pPr algn="l">
              <a:lnSpc>
                <a:spcPct val="135000"/>
              </a:lnSpc>
            </a:pPr>
            <a:r>
              <a:rPr sz="1300" b="1" i="0" spc="156">
                <a:solidFill>
                  <a:srgbClr val="B45309"/>
                </a:solidFill>
                <a:latin typeface="Verdana"/>
              </a:rPr>
              <a:t>CORRECTION</a:t>
            </a:r>
          </a:p>
        </p:txBody>
      </p:sp>
      <p:sp>
        <p:nvSpPr>
          <p:cNvPr id="6" name="TextBox 5"/>
          <p:cNvSpPr txBox="1"/>
          <p:nvPr/>
        </p:nvSpPr>
        <p:spPr>
          <a:xfrm>
            <a:off x="566928" y="749808"/>
            <a:ext cx="11057839" cy="877824"/>
          </a:xfrm>
          <a:prstGeom prst="rect">
            <a:avLst/>
          </a:prstGeom>
          <a:noFill/>
        </p:spPr>
        <p:txBody>
          <a:bodyPr wrap="square" lIns="0" rIns="0" tIns="0" bIns="0" anchor="t">
            <a:spAutoFit/>
          </a:bodyPr>
          <a:lstStyle/>
          <a:p>
            <a:pPr algn="l">
              <a:lnSpc>
                <a:spcPct val="115000"/>
              </a:lnSpc>
            </a:pPr>
            <a:r>
              <a:rPr sz="3400" b="1" i="0">
                <a:solidFill>
                  <a:srgbClr val="17181A"/>
                </a:solidFill>
                <a:latin typeface="Verdana"/>
              </a:rPr>
              <a:t>Rapportez au passé</a:t>
            </a:r>
          </a:p>
        </p:txBody>
      </p:sp>
      <p:sp>
        <p:nvSpPr>
          <p:cNvPr id="7" name="TextBox 6"/>
          <p:cNvSpPr txBox="1"/>
          <p:nvPr/>
        </p:nvSpPr>
        <p:spPr>
          <a:xfrm>
            <a:off x="566928" y="1645920"/>
            <a:ext cx="11057839" cy="329184"/>
          </a:xfrm>
          <a:prstGeom prst="rect">
            <a:avLst/>
          </a:prstGeom>
          <a:noFill/>
        </p:spPr>
        <p:txBody>
          <a:bodyPr wrap="square" lIns="0" rIns="0" tIns="0" bIns="0" anchor="t">
            <a:spAutoFit/>
          </a:bodyPr>
          <a:lstStyle/>
          <a:p>
            <a:pPr algn="l">
              <a:lnSpc>
                <a:spcPct val="135000"/>
              </a:lnSpc>
            </a:pPr>
            <a:r>
              <a:rPr sz="1800" b="0" i="0">
                <a:solidFill>
                  <a:srgbClr val="6E7175"/>
                </a:solidFill>
                <a:latin typeface="Verdana"/>
              </a:rPr>
              <a:t>Correction — on lit la réponse, on ne commente pas l'erreur.</a:t>
            </a:r>
          </a:p>
        </p:txBody>
      </p:sp>
      <p:sp>
        <p:nvSpPr>
          <p:cNvPr id="8" name="Rounded Rectangle 7"/>
          <p:cNvSpPr/>
          <p:nvPr/>
        </p:nvSpPr>
        <p:spPr>
          <a:xfrm>
            <a:off x="566928" y="213969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Rounded Rectangle 8"/>
          <p:cNvSpPr/>
          <p:nvPr/>
        </p:nvSpPr>
        <p:spPr>
          <a:xfrm>
            <a:off x="841247" y="223672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841247" y="230073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1</a:t>
            </a:r>
          </a:p>
        </p:txBody>
      </p:sp>
      <p:sp>
        <p:nvSpPr>
          <p:cNvPr id="11" name="TextBox 10"/>
          <p:cNvSpPr txBox="1"/>
          <p:nvPr/>
        </p:nvSpPr>
        <p:spPr>
          <a:xfrm>
            <a:off x="1344168" y="229514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Le comité n'a pas encore reçu l'analyse. » Elle m'a dit que...   </a:t>
            </a:r>
            <a:r>
              <a:rPr sz="1400" b="1" i="0">
                <a:solidFill>
                  <a:srgbClr val="07734A"/>
                </a:solidFill>
                <a:latin typeface="Verdana"/>
              </a:rPr>
              <a:t>» le comité n'avait pas encore reçu l'analyse</a:t>
            </a:r>
          </a:p>
        </p:txBody>
      </p:sp>
      <p:sp>
        <p:nvSpPr>
          <p:cNvPr id="12" name="Rounded Rectangle 11"/>
          <p:cNvSpPr/>
          <p:nvPr/>
        </p:nvSpPr>
        <p:spPr>
          <a:xfrm>
            <a:off x="566928" y="2827528"/>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841247" y="2924556"/>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841247" y="2988564"/>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2</a:t>
            </a:r>
          </a:p>
        </p:txBody>
      </p:sp>
      <p:sp>
        <p:nvSpPr>
          <p:cNvPr id="15" name="TextBox 14"/>
          <p:cNvSpPr txBox="1"/>
          <p:nvPr/>
        </p:nvSpPr>
        <p:spPr>
          <a:xfrm>
            <a:off x="1344168" y="2982975"/>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Je vous rappellerai. » Elle a promis qu'elle...   </a:t>
            </a:r>
            <a:r>
              <a:rPr sz="1400" b="1" i="0">
                <a:solidFill>
                  <a:srgbClr val="07734A"/>
                </a:solidFill>
                <a:latin typeface="Verdana"/>
              </a:rPr>
              <a:t>» me rappellerait</a:t>
            </a:r>
          </a:p>
        </p:txBody>
      </p:sp>
      <p:sp>
        <p:nvSpPr>
          <p:cNvPr id="16" name="Rounded Rectangle 15"/>
          <p:cNvSpPr/>
          <p:nvPr/>
        </p:nvSpPr>
        <p:spPr>
          <a:xfrm>
            <a:off x="566928" y="3515359"/>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841247" y="3612388"/>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41247" y="3676395"/>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3</a:t>
            </a:r>
          </a:p>
        </p:txBody>
      </p:sp>
      <p:sp>
        <p:nvSpPr>
          <p:cNvPr id="19" name="TextBox 18"/>
          <p:cNvSpPr txBox="1"/>
          <p:nvPr/>
        </p:nvSpPr>
        <p:spPr>
          <a:xfrm>
            <a:off x="1344168" y="3670807"/>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J'ai déjà perdu des clients. » Il a expliqué qu'il...   </a:t>
            </a:r>
            <a:r>
              <a:rPr sz="1400" b="1" i="0">
                <a:solidFill>
                  <a:srgbClr val="07734A"/>
                </a:solidFill>
                <a:latin typeface="Verdana"/>
              </a:rPr>
              <a:t>» avait déjà perdu des clients</a:t>
            </a:r>
          </a:p>
        </p:txBody>
      </p:sp>
      <p:sp>
        <p:nvSpPr>
          <p:cNvPr id="20" name="Rounded Rectangle 19"/>
          <p:cNvSpPr/>
          <p:nvPr/>
        </p:nvSpPr>
        <p:spPr>
          <a:xfrm>
            <a:off x="566928" y="4203192"/>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841247" y="4300220"/>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41247" y="4364228"/>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4</a:t>
            </a:r>
          </a:p>
        </p:txBody>
      </p:sp>
      <p:sp>
        <p:nvSpPr>
          <p:cNvPr id="23" name="TextBox 22"/>
          <p:cNvSpPr txBox="1"/>
          <p:nvPr/>
        </p:nvSpPr>
        <p:spPr>
          <a:xfrm>
            <a:off x="1344168" y="4358640"/>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Le dossier est à l'étude. » Elle a précisé que...   </a:t>
            </a:r>
            <a:r>
              <a:rPr sz="1400" b="1" i="0">
                <a:solidFill>
                  <a:srgbClr val="07734A"/>
                </a:solidFill>
                <a:latin typeface="Verdana"/>
              </a:rPr>
              <a:t>» le dossier était à l'étude</a:t>
            </a:r>
          </a:p>
        </p:txBody>
      </p:sp>
      <p:sp>
        <p:nvSpPr>
          <p:cNvPr id="24" name="Rounded Rectangle 23"/>
          <p:cNvSpPr/>
          <p:nvPr/>
        </p:nvSpPr>
        <p:spPr>
          <a:xfrm>
            <a:off x="566928" y="4891023"/>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841247" y="4988051"/>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841247" y="5052059"/>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5</a:t>
            </a:r>
          </a:p>
        </p:txBody>
      </p:sp>
      <p:sp>
        <p:nvSpPr>
          <p:cNvPr id="27" name="TextBox 26"/>
          <p:cNvSpPr txBox="1"/>
          <p:nvPr/>
        </p:nvSpPr>
        <p:spPr>
          <a:xfrm>
            <a:off x="1344168" y="5046471"/>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Le conseil se prononcera le 14 octobre. » Elle a annoncé que...   </a:t>
            </a:r>
            <a:r>
              <a:rPr sz="1400" b="1" i="0">
                <a:solidFill>
                  <a:srgbClr val="07734A"/>
                </a:solidFill>
                <a:latin typeface="Verdana"/>
              </a:rPr>
              <a:t>» le conseil se prononcerait le 14 octobre</a:t>
            </a:r>
          </a:p>
        </p:txBody>
      </p:sp>
      <p:sp>
        <p:nvSpPr>
          <p:cNvPr id="28" name="Rounded Rectangle 27"/>
          <p:cNvSpPr/>
          <p:nvPr/>
        </p:nvSpPr>
        <p:spPr>
          <a:xfrm>
            <a:off x="566928" y="5578856"/>
            <a:ext cx="11057839" cy="559816"/>
          </a:xfrm>
          <a:prstGeom prst="roundRect">
            <a:avLst>
              <a:gd name="adj" fmla="val 26134"/>
            </a:avLst>
          </a:prstGeom>
          <a:solidFill>
            <a:srgbClr val="E6F5EE"/>
          </a:solidFill>
          <a:ln w="12700">
            <a:solidFill>
              <a:srgbClr val="EAEAE8"/>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ounded Rectangle 28"/>
          <p:cNvSpPr/>
          <p:nvPr/>
        </p:nvSpPr>
        <p:spPr>
          <a:xfrm>
            <a:off x="841247" y="5675884"/>
            <a:ext cx="365760" cy="365760"/>
          </a:xfrm>
          <a:prstGeom prst="roundRect">
            <a:avLst>
              <a:gd name="adj" fmla="val 32500"/>
            </a:avLst>
          </a:prstGeom>
          <a:solidFill>
            <a:srgbClr val="FBEE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841247" y="5739892"/>
            <a:ext cx="365760" cy="256032"/>
          </a:xfrm>
          <a:prstGeom prst="rect">
            <a:avLst/>
          </a:prstGeom>
          <a:noFill/>
        </p:spPr>
        <p:txBody>
          <a:bodyPr wrap="square" lIns="0" rIns="0" tIns="0" bIns="0" anchor="t">
            <a:spAutoFit/>
          </a:bodyPr>
          <a:lstStyle/>
          <a:p>
            <a:pPr algn="ctr">
              <a:lnSpc>
                <a:spcPct val="135000"/>
              </a:lnSpc>
            </a:pPr>
            <a:r>
              <a:rPr sz="1500" b="1" i="0">
                <a:solidFill>
                  <a:srgbClr val="B45309"/>
                </a:solidFill>
                <a:latin typeface="Verdana"/>
              </a:rPr>
              <a:t>6</a:t>
            </a:r>
          </a:p>
        </p:txBody>
      </p:sp>
      <p:sp>
        <p:nvSpPr>
          <p:cNvPr id="31" name="TextBox 30"/>
          <p:cNvSpPr txBox="1"/>
          <p:nvPr/>
        </p:nvSpPr>
        <p:spPr>
          <a:xfrm>
            <a:off x="1344168" y="5734304"/>
            <a:ext cx="10097719" cy="285496"/>
          </a:xfrm>
          <a:prstGeom prst="rect">
            <a:avLst/>
          </a:prstGeom>
          <a:noFill/>
        </p:spPr>
        <p:txBody>
          <a:bodyPr wrap="square" lIns="0" rIns="0" tIns="0" bIns="0" anchor="t">
            <a:spAutoFit/>
          </a:bodyPr>
          <a:lstStyle/>
          <a:p>
            <a:pPr algn="l">
              <a:lnSpc>
                <a:spcPct val="140000"/>
              </a:lnSpc>
            </a:pPr>
            <a:r>
              <a:rPr sz="1400" b="0" i="0">
                <a:solidFill>
                  <a:srgbClr val="3A3D40"/>
                </a:solidFill>
                <a:latin typeface="Verdana"/>
              </a:rPr>
              <a:t>« Les heures seront négociées plus tard. » Elle a indiqué que...   </a:t>
            </a:r>
            <a:r>
              <a:rPr sz="1400" b="1" i="0">
                <a:solidFill>
                  <a:srgbClr val="07734A"/>
                </a:solidFill>
                <a:latin typeface="Verdana"/>
              </a:rPr>
              <a:t>» les heures seraient négociées plus tard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Suivre l'actualité</a:t>
            </a:r>
          </a:p>
        </p:txBody>
      </p:sp>
      <p:sp>
        <p:nvSpPr>
          <p:cNvPr id="4" name="TextBox 3"/>
          <p:cNvSpPr txBox="1"/>
          <p:nvPr/>
        </p:nvSpPr>
        <p:spPr>
          <a:xfrm>
            <a:off x="10710367" y="6355080"/>
            <a:ext cx="914400" cy="219456"/>
          </a:xfrm>
          <a:prstGeom prst="rect">
            <a:avLst/>
          </a:prstGeom>
          <a:noFill/>
        </p:spPr>
        <p:txBody>
          <a:bodyPr wrap="square" lIns="0" rIns="0" tIns="0" bIns="0" anchor="t">
            <a:spAutoFit/>
          </a:bodyPr>
          <a:lstStyle/>
          <a:p>
            <a:pPr algn="r">
              <a:lnSpc>
                <a:spcPct val="135000"/>
              </a:lnSpc>
            </a:pPr>
            <a:r>
              <a:rPr sz="1200" b="0" i="0">
                <a:solidFill>
                  <a:srgbClr val="6E7175"/>
                </a:solidFill>
                <a:latin typeface="Verdana"/>
              </a:rPr>
              <a:t>11</a:t>
            </a:r>
          </a:p>
        </p:txBody>
      </p:sp>
      <p:sp>
        <p:nvSpPr>
          <p:cNvPr id="5" name="Rectangle 4"/>
          <p:cNvSpPr/>
          <p:nvPr/>
        </p:nvSpPr>
        <p:spPr>
          <a:xfrm>
            <a:off x="0" y="0"/>
            <a:ext cx="12191695" cy="6858000"/>
          </a:xfrm>
          <a:prstGeom prst="rect">
            <a:avLst/>
          </a:prstGeom>
          <a:solidFill>
            <a:srgbClr val="1718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 name="TextBox 5"/>
          <p:cNvSpPr txBox="1"/>
          <p:nvPr/>
        </p:nvSpPr>
        <p:spPr>
          <a:xfrm>
            <a:off x="566928" y="1051560"/>
            <a:ext cx="11057839" cy="274320"/>
          </a:xfrm>
          <a:prstGeom prst="rect">
            <a:avLst/>
          </a:prstGeom>
          <a:noFill/>
        </p:spPr>
        <p:txBody>
          <a:bodyPr wrap="square" lIns="0" rIns="0" tIns="0" bIns="0" anchor="t">
            <a:spAutoFit/>
          </a:bodyPr>
          <a:lstStyle/>
          <a:p>
            <a:pPr algn="l">
              <a:lnSpc>
                <a:spcPct val="135000"/>
              </a:lnSpc>
            </a:pPr>
            <a:r>
              <a:rPr sz="1300" b="1" i="0" spc="156">
                <a:solidFill>
                  <a:srgbClr val="FFFFFF"/>
                </a:solidFill>
                <a:latin typeface="Verdana"/>
              </a:rPr>
              <a:t>BILLET DE SORTIE</a:t>
            </a:r>
          </a:p>
        </p:txBody>
      </p:sp>
      <p:sp>
        <p:nvSpPr>
          <p:cNvPr id="7" name="TextBox 6"/>
          <p:cNvSpPr txBox="1"/>
          <p:nvPr/>
        </p:nvSpPr>
        <p:spPr>
          <a:xfrm>
            <a:off x="566928" y="1572768"/>
            <a:ext cx="9777679" cy="2103120"/>
          </a:xfrm>
          <a:prstGeom prst="rect">
            <a:avLst/>
          </a:prstGeom>
          <a:noFill/>
        </p:spPr>
        <p:txBody>
          <a:bodyPr wrap="square" lIns="0" rIns="0" tIns="0" bIns="0" anchor="t">
            <a:spAutoFit/>
          </a:bodyPr>
          <a:lstStyle/>
          <a:p>
            <a:pPr algn="l">
              <a:lnSpc>
                <a:spcPct val="125000"/>
              </a:lnSpc>
            </a:pPr>
            <a:r>
              <a:rPr sz="3400" b="1" i="0">
                <a:solidFill>
                  <a:srgbClr val="FFFFFF"/>
                </a:solidFill>
                <a:latin typeface="Verdana"/>
              </a:rPr>
              <a:t>Rapportez une phrase que quelqu'un vous a dite cette semaine.</a:t>
            </a:r>
          </a:p>
        </p:txBody>
      </p:sp>
      <p:sp>
        <p:nvSpPr>
          <p:cNvPr id="8" name="Rounded Rectangle 7"/>
          <p:cNvSpPr/>
          <p:nvPr/>
        </p:nvSpPr>
        <p:spPr>
          <a:xfrm>
            <a:off x="566928" y="3931920"/>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932688" y="4087368"/>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Commencez par : « Il m'a dit que... » ou « Elle m'a dit que... »</a:t>
            </a:r>
          </a:p>
        </p:txBody>
      </p:sp>
      <p:sp>
        <p:nvSpPr>
          <p:cNvPr id="10" name="Rounded Rectangle 9"/>
          <p:cNvSpPr/>
          <p:nvPr/>
        </p:nvSpPr>
        <p:spPr>
          <a:xfrm>
            <a:off x="566928" y="4680712"/>
            <a:ext cx="11057839" cy="666496"/>
          </a:xfrm>
          <a:prstGeom prst="roundRect">
            <a:avLst>
              <a:gd name="adj" fmla="val 13719"/>
            </a:avLst>
          </a:prstGeom>
          <a:solidFill>
            <a:srgbClr val="2A2C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32688" y="4836160"/>
            <a:ext cx="10051999" cy="392176"/>
          </a:xfrm>
          <a:prstGeom prst="rect">
            <a:avLst/>
          </a:prstGeom>
          <a:noFill/>
        </p:spPr>
        <p:txBody>
          <a:bodyPr wrap="square" lIns="0" rIns="0" tIns="0" bIns="0" anchor="t">
            <a:spAutoFit/>
          </a:bodyPr>
          <a:lstStyle/>
          <a:p>
            <a:pPr algn="l">
              <a:lnSpc>
                <a:spcPct val="140000"/>
              </a:lnSpc>
            </a:pPr>
            <a:r>
              <a:rPr sz="2000" b="0" i="0">
                <a:solidFill>
                  <a:srgbClr val="FFFFFF"/>
                </a:solidFill>
                <a:latin typeface="Verdana"/>
              </a:rPr>
              <a:t>Attention au temps du verbe, et au pronom.</a:t>
            </a:r>
          </a:p>
        </p:txBody>
      </p:sp>
      <p:sp>
        <p:nvSpPr>
          <p:cNvPr id="12" name="TextBox 11"/>
          <p:cNvSpPr txBox="1"/>
          <p:nvPr/>
        </p:nvSpPr>
        <p:spPr>
          <a:xfrm>
            <a:off x="566928" y="6355080"/>
            <a:ext cx="6400800" cy="219456"/>
          </a:xfrm>
          <a:prstGeom prst="rect">
            <a:avLst/>
          </a:prstGeom>
          <a:noFill/>
        </p:spPr>
        <p:txBody>
          <a:bodyPr wrap="square" lIns="0" rIns="0" tIns="0" bIns="0" anchor="t">
            <a:spAutoFit/>
          </a:bodyPr>
          <a:lstStyle/>
          <a:p>
            <a:pPr algn="l">
              <a:lnSpc>
                <a:spcPct val="135000"/>
              </a:lnSpc>
            </a:pPr>
            <a:r>
              <a:rPr sz="1200" b="0" i="0">
                <a:solidFill>
                  <a:srgbClr val="6E7175"/>
                </a:solidFill>
                <a:latin typeface="Verdana"/>
              </a:rPr>
              <a:t>C3 · Suivre l'actualité</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