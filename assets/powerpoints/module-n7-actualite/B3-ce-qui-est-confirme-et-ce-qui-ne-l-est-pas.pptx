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Troisième écoute du reportage, et premier point de grammaire du défi. Commencer par écrire les deux phrases au tableau et demander au groupe s'il voit une différence de sens.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quatrième objectif évite un malentendu durable : l'élève connaît déjà « pourriez-vous » et croira que c'est le même emploi.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écouter les deux versions dans le laboratoire de la mini-leçon. La différence s'entend à la fin du verbe, et nulle part ailleurs.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Insister sur « non vérifié » et non « faux » : c'est la nuance que les élèves manquent le plus.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Faire apprendre les quatre verbes de la dernière ligne par coeur : ils couvrent la grande majorité des cas entendus à la radio.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relever ces formules dans le reportage. Elles sont le signal d'alarme : l'élève qui les entend sait qu'il ne doit pas répéter la suite comme une certitude.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deux phrases viennent du même reportage, ce qui rend la comparaison concrète. Le piège est fréquent et se corrige vite avec ce repère.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justifier chaque réponse par le mot déclencheur : « confirme », « selon nos informations », « il semble que », « précise ». C'est le mot qui décide, pas le sens général.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minutes. Un excellent révélateur : ceux qui écrivent le présent n'ont pas encore fait le lien entre la forme et l'engagement.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SÉANCE B3  ·  MODULE 1</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Ce qui est confirmé et ce qui ne l'est pas</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 Le local est loué » et « le local serait loué » ne disent pas la même chose. Une syllabe sépare une information garantie d'une information que le journaliste n'a pas vérifiée.</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Suivre l'actualité</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Suivre l'actualité</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le conditionnel présent à l'oreille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qu'il signale une information non vérifiée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former le conditionnel présent des verbes courants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distinguer ce conditionnel de celui de la politesse et de l'hypothèse.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Suivre l'actualité</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ÉCOUTE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Une syllabe, et tout change</a:t>
            </a:r>
          </a:p>
        </p:txBody>
      </p:sp>
      <p:sp>
        <p:nvSpPr>
          <p:cNvPr id="7" name="Rounded Rectangle 6"/>
          <p:cNvSpPr/>
          <p:nvPr/>
        </p:nvSpPr>
        <p:spPr>
          <a:xfrm>
            <a:off x="566928" y="1856232"/>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65960"/>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50976" y="2039112"/>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Le local est loué pour cinq ans. »</a:t>
            </a:r>
          </a:p>
        </p:txBody>
      </p:sp>
      <p:sp>
        <p:nvSpPr>
          <p:cNvPr id="10" name="Rounded Rectangle 9"/>
          <p:cNvSpPr/>
          <p:nvPr/>
        </p:nvSpPr>
        <p:spPr>
          <a:xfrm>
            <a:off x="566928" y="2642108"/>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2751836"/>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0976" y="2824988"/>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Le local serait loué pour cinq ans. »</a:t>
            </a:r>
          </a:p>
        </p:txBody>
      </p:sp>
      <p:sp>
        <p:nvSpPr>
          <p:cNvPr id="13" name="Rounded Rectangle 12"/>
          <p:cNvSpPr/>
          <p:nvPr/>
        </p:nvSpPr>
        <p:spPr>
          <a:xfrm>
            <a:off x="566928" y="3427984"/>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66928" y="3537712"/>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50976" y="3610864"/>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Dans quel cas le journaliste répond-il de l'information ?</a:t>
            </a:r>
          </a:p>
        </p:txBody>
      </p:sp>
      <p:sp>
        <p:nvSpPr>
          <p:cNvPr id="16" name="Rounded Rectangle 15"/>
          <p:cNvSpPr/>
          <p:nvPr/>
        </p:nvSpPr>
        <p:spPr>
          <a:xfrm>
            <a:off x="566928" y="4213860"/>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66928" y="4323588"/>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50976" y="4396740"/>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Quel mot, juste avant, vous met sur la piste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Suivre l'actualité</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LE CONDITIONNEL DE L'INFORMATION NON CONFIRMÉE</a:t>
            </a:r>
          </a:p>
        </p:txBody>
      </p:sp>
      <p:sp>
        <p:nvSpPr>
          <p:cNvPr id="6" name="Rounded Rectangle 5"/>
          <p:cNvSpPr/>
          <p:nvPr/>
        </p:nvSpPr>
        <p:spPr>
          <a:xfrm>
            <a:off x="566928" y="1225296"/>
            <a:ext cx="11057839" cy="1967991"/>
          </a:xfrm>
          <a:prstGeom prst="roundRect">
            <a:avLst>
              <a:gd name="adj" fmla="val 7434"/>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Un verbe en -ait, sans « si » dans la phrase : le journaliste n'a pas vérifié.</a:t>
            </a:r>
          </a:p>
        </p:txBody>
      </p:sp>
      <p:sp>
        <p:nvSpPr>
          <p:cNvPr id="8" name="Rounded Rectangle 7"/>
          <p:cNvSpPr/>
          <p:nvPr/>
        </p:nvSpPr>
        <p:spPr>
          <a:xfrm>
            <a:off x="566928" y="3467607"/>
            <a:ext cx="11057839" cy="2040128"/>
          </a:xfrm>
          <a:prstGeom prst="roundRect">
            <a:avLst>
              <a:gd name="adj" fmla="val 71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5829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Ce n'est ni de la politesse ni de l'hésitation : c'est une règle de métier. Affirmer sans avoir vérifié est une faute professionnelle, alors on met le verbe au conditionnel et l'auditeur est prévenu. L'information se révèle souvent exacte par la suite ; elle n'est simplement pas garantie.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Suivre l'actualité</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Comment il se forme</a:t>
            </a:r>
          </a:p>
        </p:txBody>
      </p:sp>
      <p:sp>
        <p:nvSpPr>
          <p:cNvPr id="7" name="Rounded Rectangle 6"/>
          <p:cNvSpPr/>
          <p:nvPr/>
        </p:nvSpPr>
        <p:spPr>
          <a:xfrm>
            <a:off x="566928" y="1810512"/>
            <a:ext cx="11057839" cy="3200400"/>
          </a:xfrm>
          <a:prstGeom prst="roundRect">
            <a:avLst>
              <a:gd name="adj" fmla="val 45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QU'ON PREND</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QUE ÇA DONNE</a:t>
            </a:r>
          </a:p>
        </p:txBody>
      </p:sp>
      <p:sp>
        <p:nvSpPr>
          <p:cNvPr id="10" name="TextBox 9"/>
          <p:cNvSpPr txBox="1"/>
          <p:nvPr/>
        </p:nvSpPr>
        <p:spPr>
          <a:xfrm>
            <a:off x="932688" y="2395728"/>
            <a:ext cx="3291492" cy="304800"/>
          </a:xfrm>
          <a:prstGeom prst="rect">
            <a:avLst/>
          </a:prstGeom>
          <a:noFill/>
        </p:spPr>
        <p:txBody>
          <a:bodyPr wrap="square" lIns="0" rIns="0" tIns="0" bIns="0" anchor="t">
            <a:spAutoFit/>
          </a:bodyPr>
          <a:lstStyle/>
          <a:p>
            <a:pPr algn="l">
              <a:lnSpc>
                <a:spcPct val="132000"/>
              </a:lnSpc>
            </a:pPr>
            <a:r>
              <a:rPr sz="1600" b="1" i="0">
                <a:solidFill>
                  <a:srgbClr val="B45309"/>
                </a:solidFill>
                <a:latin typeface="Verdana"/>
              </a:rPr>
              <a:t>le radical du futur simple</a:t>
            </a:r>
          </a:p>
        </p:txBody>
      </p:sp>
      <p:sp>
        <p:nvSpPr>
          <p:cNvPr id="11" name="TextBox 10"/>
          <p:cNvSpPr txBox="1"/>
          <p:nvPr/>
        </p:nvSpPr>
        <p:spPr>
          <a:xfrm>
            <a:off x="4443636" y="2395728"/>
            <a:ext cx="6595914"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ouvrir : il ouvrira</a:t>
            </a:r>
          </a:p>
        </p:txBody>
      </p:sp>
      <p:sp>
        <p:nvSpPr>
          <p:cNvPr id="12" name="Rectangle 11"/>
          <p:cNvSpPr/>
          <p:nvPr/>
        </p:nvSpPr>
        <p:spPr>
          <a:xfrm>
            <a:off x="932688" y="277368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01696"/>
            <a:ext cx="3291492" cy="573024"/>
          </a:xfrm>
          <a:prstGeom prst="rect">
            <a:avLst/>
          </a:prstGeom>
          <a:noFill/>
        </p:spPr>
        <p:txBody>
          <a:bodyPr wrap="square" lIns="0" rIns="0" tIns="0" bIns="0" anchor="t">
            <a:spAutoFit/>
          </a:bodyPr>
          <a:lstStyle/>
          <a:p>
            <a:pPr algn="l">
              <a:lnSpc>
                <a:spcPct val="132000"/>
              </a:lnSpc>
            </a:pPr>
            <a:r>
              <a:rPr sz="1600" b="1" i="0">
                <a:solidFill>
                  <a:srgbClr val="B45309"/>
                </a:solidFill>
                <a:latin typeface="Verdana"/>
              </a:rPr>
              <a:t>les terminaisons de l'imparfait</a:t>
            </a:r>
          </a:p>
        </p:txBody>
      </p:sp>
      <p:sp>
        <p:nvSpPr>
          <p:cNvPr id="14" name="TextBox 13"/>
          <p:cNvSpPr txBox="1"/>
          <p:nvPr/>
        </p:nvSpPr>
        <p:spPr>
          <a:xfrm>
            <a:off x="4443636" y="2901696"/>
            <a:ext cx="6595914" cy="573024"/>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-ais, -ais, -ait, -ions, -iez, -aient</a:t>
            </a:r>
          </a:p>
        </p:txBody>
      </p:sp>
      <p:sp>
        <p:nvSpPr>
          <p:cNvPr id="15" name="Rectangle 14"/>
          <p:cNvSpPr/>
          <p:nvPr/>
        </p:nvSpPr>
        <p:spPr>
          <a:xfrm>
            <a:off x="932688" y="354787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675887"/>
            <a:ext cx="3291492" cy="304800"/>
          </a:xfrm>
          <a:prstGeom prst="rect">
            <a:avLst/>
          </a:prstGeom>
          <a:noFill/>
        </p:spPr>
        <p:txBody>
          <a:bodyPr wrap="square" lIns="0" rIns="0" tIns="0" bIns="0" anchor="t">
            <a:spAutoFit/>
          </a:bodyPr>
          <a:lstStyle/>
          <a:p>
            <a:pPr algn="l">
              <a:lnSpc>
                <a:spcPct val="132000"/>
              </a:lnSpc>
            </a:pPr>
            <a:r>
              <a:rPr sz="1600" b="1" i="0">
                <a:solidFill>
                  <a:srgbClr val="B45309"/>
                </a:solidFill>
                <a:latin typeface="Verdana"/>
              </a:rPr>
              <a:t>le résultat</a:t>
            </a:r>
          </a:p>
        </p:txBody>
      </p:sp>
      <p:sp>
        <p:nvSpPr>
          <p:cNvPr id="17" name="TextBox 16"/>
          <p:cNvSpPr txBox="1"/>
          <p:nvPr/>
        </p:nvSpPr>
        <p:spPr>
          <a:xfrm>
            <a:off x="4443636" y="3675887"/>
            <a:ext cx="6595914"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il ouvrirait, ils ouvriraient</a:t>
            </a:r>
          </a:p>
        </p:txBody>
      </p:sp>
      <p:sp>
        <p:nvSpPr>
          <p:cNvPr id="18" name="Rectangle 17"/>
          <p:cNvSpPr/>
          <p:nvPr/>
        </p:nvSpPr>
        <p:spPr>
          <a:xfrm>
            <a:off x="932688" y="405384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181856"/>
            <a:ext cx="3291492" cy="573024"/>
          </a:xfrm>
          <a:prstGeom prst="rect">
            <a:avLst/>
          </a:prstGeom>
          <a:noFill/>
        </p:spPr>
        <p:txBody>
          <a:bodyPr wrap="square" lIns="0" rIns="0" tIns="0" bIns="0" anchor="t">
            <a:spAutoFit/>
          </a:bodyPr>
          <a:lstStyle/>
          <a:p>
            <a:pPr algn="l">
              <a:lnSpc>
                <a:spcPct val="132000"/>
              </a:lnSpc>
            </a:pPr>
            <a:r>
              <a:rPr sz="1600" b="1" i="0">
                <a:solidFill>
                  <a:srgbClr val="B45309"/>
                </a:solidFill>
                <a:latin typeface="Verdana"/>
              </a:rPr>
              <a:t>les quatre verbes du journaliste</a:t>
            </a:r>
          </a:p>
        </p:txBody>
      </p:sp>
      <p:sp>
        <p:nvSpPr>
          <p:cNvPr id="20" name="TextBox 19"/>
          <p:cNvSpPr txBox="1"/>
          <p:nvPr/>
        </p:nvSpPr>
        <p:spPr>
          <a:xfrm>
            <a:off x="4443636" y="4181856"/>
            <a:ext cx="6595914" cy="573024"/>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il serait, il aurait, il pourrait, il devrait</a:t>
            </a:r>
          </a:p>
        </p:txBody>
      </p:sp>
      <p:sp>
        <p:nvSpPr>
          <p:cNvPr id="21" name="Rounded Rectangle 20"/>
          <p:cNvSpPr/>
          <p:nvPr/>
        </p:nvSpPr>
        <p:spPr>
          <a:xfrm>
            <a:off x="566928" y="5248656"/>
            <a:ext cx="11057839" cy="769874"/>
          </a:xfrm>
          <a:prstGeom prst="roundRect">
            <a:avLst>
              <a:gd name="adj" fmla="val 19003"/>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504688"/>
            <a:ext cx="10234879" cy="31267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 Il ouvrira » et « il ouvrirait » ne diffèrent que par la fin. C'est peu, et c'est décisif.</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Suivre l'actualité</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LES FORMULES QUI ANNONCENT LE CONDITIONNEL</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guetter à l'écoute</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746760"/>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Selon nos informations</a:t>
            </a:r>
          </a:p>
        </p:txBody>
      </p:sp>
      <p:sp>
        <p:nvSpPr>
          <p:cNvPr id="9" name="TextBox 8"/>
          <p:cNvSpPr txBox="1"/>
          <p:nvPr/>
        </p:nvSpPr>
        <p:spPr>
          <a:xfrm>
            <a:off x="886968" y="2859024"/>
            <a:ext cx="4806543" cy="729996"/>
          </a:xfrm>
          <a:prstGeom prst="rect">
            <a:avLst/>
          </a:prstGeom>
          <a:noFill/>
        </p:spPr>
        <p:txBody>
          <a:bodyPr wrap="square" lIns="0" rIns="0" tIns="0" bIns="0" anchor="t">
            <a:spAutoFit/>
          </a:bodyPr>
          <a:lstStyle/>
          <a:p>
            <a:pPr algn="l">
              <a:lnSpc>
                <a:spcPct val="142000"/>
              </a:lnSpc>
            </a:pPr>
            <a:r>
              <a:rPr sz="1600" b="0" i="0">
                <a:solidFill>
                  <a:srgbClr val="3A3D40"/>
                </a:solidFill>
                <a:latin typeface="Verdana"/>
              </a:rPr>
              <a:t>La plus fréquente. Le verbe qui suit sera presque toujours au conditionnel.</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746760"/>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Selon une source proche du dossier</a:t>
            </a:r>
          </a:p>
        </p:txBody>
      </p:sp>
      <p:sp>
        <p:nvSpPr>
          <p:cNvPr id="12" name="TextBox 11"/>
          <p:cNvSpPr txBox="1"/>
          <p:nvPr/>
        </p:nvSpPr>
        <p:spPr>
          <a:xfrm>
            <a:off x="6498183" y="2859024"/>
            <a:ext cx="4806543" cy="729996"/>
          </a:xfrm>
          <a:prstGeom prst="rect">
            <a:avLst/>
          </a:prstGeom>
          <a:noFill/>
        </p:spPr>
        <p:txBody>
          <a:bodyPr wrap="square" lIns="0" rIns="0" tIns="0" bIns="0" anchor="t">
            <a:spAutoFit/>
          </a:bodyPr>
          <a:lstStyle/>
          <a:p>
            <a:pPr algn="l">
              <a:lnSpc>
                <a:spcPct val="142000"/>
              </a:lnSpc>
            </a:pPr>
            <a:r>
              <a:rPr sz="1600" b="0" i="0">
                <a:solidFill>
                  <a:srgbClr val="3A3D40"/>
                </a:solidFill>
                <a:latin typeface="Verdana"/>
              </a:rPr>
              <a:t>Quelqu'un a parlé au journaliste, mais ne veut pas être nommé.</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746760"/>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Il semble que</a:t>
            </a:r>
          </a:p>
        </p:txBody>
      </p:sp>
      <p:sp>
        <p:nvSpPr>
          <p:cNvPr id="15" name="TextBox 14"/>
          <p:cNvSpPr txBox="1"/>
          <p:nvPr/>
        </p:nvSpPr>
        <p:spPr>
          <a:xfrm>
            <a:off x="886968" y="5076444"/>
            <a:ext cx="4806543" cy="729996"/>
          </a:xfrm>
          <a:prstGeom prst="rect">
            <a:avLst/>
          </a:prstGeom>
          <a:noFill/>
        </p:spPr>
        <p:txBody>
          <a:bodyPr wrap="square" lIns="0" rIns="0" tIns="0" bIns="0" anchor="t">
            <a:spAutoFit/>
          </a:bodyPr>
          <a:lstStyle/>
          <a:p>
            <a:pPr algn="l">
              <a:lnSpc>
                <a:spcPct val="142000"/>
              </a:lnSpc>
            </a:pPr>
            <a:r>
              <a:rPr sz="1600" b="0" i="0">
                <a:solidFill>
                  <a:srgbClr val="3A3D40"/>
                </a:solidFill>
                <a:latin typeface="Verdana"/>
              </a:rPr>
              <a:t>Plus prudent encore : même la source n'est pas certaine.</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746760"/>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La Ville indique que</a:t>
            </a:r>
          </a:p>
        </p:txBody>
      </p:sp>
      <p:sp>
        <p:nvSpPr>
          <p:cNvPr id="18" name="TextBox 17"/>
          <p:cNvSpPr txBox="1"/>
          <p:nvPr/>
        </p:nvSpPr>
        <p:spPr>
          <a:xfrm>
            <a:off x="6498183" y="5076444"/>
            <a:ext cx="4806543" cy="729996"/>
          </a:xfrm>
          <a:prstGeom prst="rect">
            <a:avLst/>
          </a:prstGeom>
          <a:noFill/>
        </p:spPr>
        <p:txBody>
          <a:bodyPr wrap="square" lIns="0" rIns="0" tIns="0" bIns="0" anchor="t">
            <a:spAutoFit/>
          </a:bodyPr>
          <a:lstStyle/>
          <a:p>
            <a:pPr algn="l">
              <a:lnSpc>
                <a:spcPct val="142000"/>
              </a:lnSpc>
            </a:pPr>
            <a:r>
              <a:rPr sz="1600" b="0" i="0">
                <a:solidFill>
                  <a:srgbClr val="3A3D40"/>
                </a:solidFill>
                <a:latin typeface="Verdana"/>
              </a:rPr>
              <a:t>Une institution parle, sans personne nommée. À traiter avec la même prudence.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Suivre l'actualité</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LIRE LE CONDITIONNEL COMME UN DOUTE QUAND IL Y A UN « SI »</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S'il ouvrait, ce serait mieux qu'un rideau baissé.</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Selon nos informations, le local serait loué pour cinq ans.</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La première phrase est une hypothèse : le conditionnel dépend d'un « si » imaginaire, et Marjolaine ne doute de rien, elle imagine. La seconde est une information non confirmée. Le repère est simple : cherchez un « si » dans la phrase. S'il n'y en a pas, c'est de l'information non vérifiée.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Suivre l'actualité</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APPLICATION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Confirmé, ou pas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Mettez le verbe au présent si l'information est confirmée, au conditionnel sinon.</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Ville confirme qu'elle (étudier) le local de la rue Boisjoli.</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Selon nos informations, le local (être) loué pour cinq ans.</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Toujours selon nos sources, les travaux (commencer) au printemps.</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semble que le dépôt (pouvoir) accueillir trois mille personnes.</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Ville indique qu'un dépôt de cette taille (être) ouvert six jours sur sept.</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communiqué précise que la décision (revenir) au conseil municipal.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Suivre l'actualité</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Confirmé, ou pas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Ville confirme qu'elle (étudier) le local de la rue Boisjoli.   </a:t>
            </a:r>
            <a:r>
              <a:rPr sz="1400" b="1" i="0">
                <a:solidFill>
                  <a:srgbClr val="07734A"/>
                </a:solidFill>
                <a:latin typeface="Verdana"/>
              </a:rPr>
              <a:t>» étudie - confirmé</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Selon nos informations, le local (être) loué pour cinq ans.   </a:t>
            </a:r>
            <a:r>
              <a:rPr sz="1400" b="1" i="0">
                <a:solidFill>
                  <a:srgbClr val="07734A"/>
                </a:solidFill>
                <a:latin typeface="Verdana"/>
              </a:rPr>
              <a:t>» serait - non confirmé</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Toujours selon nos sources, les travaux (commencer) au printemps.   </a:t>
            </a:r>
            <a:r>
              <a:rPr sz="1400" b="1" i="0">
                <a:solidFill>
                  <a:srgbClr val="07734A"/>
                </a:solidFill>
                <a:latin typeface="Verdana"/>
              </a:rPr>
              <a:t>» commenceraient</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semble que le dépôt (pouvoir) accueillir trois mille personnes.   </a:t>
            </a:r>
            <a:r>
              <a:rPr sz="1400" b="1" i="0">
                <a:solidFill>
                  <a:srgbClr val="07734A"/>
                </a:solidFill>
                <a:latin typeface="Verdana"/>
              </a:rPr>
              <a:t>» pourrait</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Ville indique qu'un dépôt de cette taille (être) ouvert six jours sur sept.   </a:t>
            </a:r>
            <a:r>
              <a:rPr sz="1400" b="1" i="0">
                <a:solidFill>
                  <a:srgbClr val="07734A"/>
                </a:solidFill>
                <a:latin typeface="Verdana"/>
              </a:rPr>
              <a:t>» serait</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communiqué précise que la décision (revenir) au conseil municipal.   </a:t>
            </a:r>
            <a:r>
              <a:rPr sz="1400" b="1" i="0">
                <a:solidFill>
                  <a:srgbClr val="07734A"/>
                </a:solidFill>
                <a:latin typeface="Verdana"/>
              </a:rPr>
              <a:t>» revient - c'est écrit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Suivre l'actualité</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une information que vous avez entendue sans pouvoir la vérifier.</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Mettez le verbe au conditionnel.</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Par exemple : « Il paraît que le dépôt ouvrirait au printemps. »</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Suivre l'actualité</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