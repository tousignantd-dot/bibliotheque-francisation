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Avant-dernière séance. Deux productions aujourd'hui : la discussion avec l'assistant, qui sert de répétition, puis le compte rendu oral enregistré. La seconde est évaluée, la première non.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plus difficile à l'oral : sous la pression de l'échange, les élèves oublient de concéder. Le jeu de rôle est là pour l'entraîner sans risque.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à l'oral avant de lancer le jeu de rôle. Les réponses montrent qui a compris que les faits viennent avant l'opinion.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grille d'évaluation du compte rendu oral : la donner avant, pas après.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élève choisit sa situation et son rôle : le citoyen informé ou le voisin sceptique. Jouer le sceptique est plus difficile et plus formateur - le proposer aux plus avancés.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savoir le plus exportable du module : il servira dans toutes les conversations de la vie réelle.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cinq phrases sont affichées dans l'activité interactive, sous le jeu de rôle. Faire lire à voix haute avant de commencer.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le plus fréquent dans le jeu de rôle. Le nommer avant de commencer, puis le rappeler à ceux qui y tombent.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L'élève s'enregistre dans l'activité, s'écoute, recommence autant qu'il veut, puis envoie à l'enseignant. L'assistant donne une rétroaction immédiate ; cette rétroaction n'est pas conservée.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billet est le pont vers E2. Le ramasser et le rendre en début de séance suivante.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Discuter d'une nouvelle, et en faire le compte rendu</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Tout ce qui précède servait à ça : pouvoir raconter une nouvelle à quelqu'un, séparer ce qui est sûr de ce qui ne l'est pas, et donner son avis en disant que c'en est un.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l'actualité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résumer une nouvelle en deux ou trois phrases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d'où vient l'information et si elle est confirmée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réagir à un avis contraire sans le rejeter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donner son opinion en la présentant comme une opinion.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Votre voisin n'a rien suivi, et il n'est pas d'accord</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icro-trottoir.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 où commencez-vous : les faits, ou votre avis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faites-vous s'il affirme quelque chose de faux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lui donnez-vous raison sur un point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question aimeriez-vous qu'il retienne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temps du compte rendu</a:t>
            </a:r>
          </a:p>
        </p:txBody>
      </p:sp>
      <p:sp>
        <p:nvSpPr>
          <p:cNvPr id="7" name="Rounded Rectangle 6"/>
          <p:cNvSpPr/>
          <p:nvPr/>
        </p:nvSpPr>
        <p:spPr>
          <a:xfrm>
            <a:off x="566928" y="1810512"/>
            <a:ext cx="11057839" cy="3063240"/>
          </a:xfrm>
          <a:prstGeom prst="roundRect">
            <a:avLst>
              <a:gd name="adj" fmla="val 477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1. De quoi il s'agit, et d'où je le sais</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 Il y a un reportage à la radio du quartier sur un point de dépôt, rue Boisjoli. »</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606552"/>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2. Ce qui est établi, puis ce qui ne l'est pas</a:t>
            </a:r>
          </a:p>
        </p:txBody>
      </p:sp>
      <p:sp>
        <p:nvSpPr>
          <p:cNvPr id="14" name="TextBox 13"/>
          <p:cNvSpPr txBox="1"/>
          <p:nvPr/>
        </p:nvSpPr>
        <p:spPr>
          <a:xfrm>
            <a:off x="4443636" y="320344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 Le comité a retenu le local. Par contre, les heures ne seraient pas fixées. »</a:t>
            </a:r>
          </a:p>
        </p:txBody>
      </p:sp>
      <p:sp>
        <p:nvSpPr>
          <p:cNvPr id="15" name="Rectangle 14"/>
          <p:cNvSpPr/>
          <p:nvPr/>
        </p:nvSpPr>
        <p:spPr>
          <a:xfrm>
            <a:off x="932688" y="3883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11168"/>
            <a:ext cx="3291492" cy="606552"/>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3. Mon opinion, annoncée comme une opinion</a:t>
            </a:r>
          </a:p>
        </p:txBody>
      </p:sp>
      <p:sp>
        <p:nvSpPr>
          <p:cNvPr id="17" name="TextBox 16"/>
          <p:cNvSpPr txBox="1"/>
          <p:nvPr/>
        </p:nvSpPr>
        <p:spPr>
          <a:xfrm>
            <a:off x="4443636" y="401116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 Bien que le projet soit une bonne chose, je trouve qu'il manque une réponse. »</a:t>
            </a:r>
          </a:p>
        </p:txBody>
      </p:sp>
      <p:sp>
        <p:nvSpPr>
          <p:cNvPr id="18" name="Rounded Rectangle 17"/>
          <p:cNvSpPr/>
          <p:nvPr/>
        </p:nvSpPr>
        <p:spPr>
          <a:xfrm>
            <a:off x="566928" y="51114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3675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Quatre-vingt-dix secondes suffisent. Ce qui manque le plus souvent, c'est le temps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TROIS SITUATIONS DU 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Choisissez la vôtre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point de dépôt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comité recommande le local de la rue Boisjoli. Le conseil tranche le 14 octobre. Les heures ne sont pas fixées.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huit places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Deux des huit places seraient réservées, quinze minutes. Le commerçant craint de perdre des clients.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chronique de samedi</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écrit que le projet a été « imposé ». Ses chiffres sont exacts ; le mot, lui, se discute.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MARQUEZ CE QUI N'EST PAS CONFIRMÉ</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conditionnel, et votre interlocuteur sait à quoi s'en tenir.</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Selon ce que j'ai entendu, le local serait loué pour cinq ans. » En une phrase, vous avez donné l'information et signalé que vous ne la garantissez pas. C'est ce qui distingue quelqu'un qui informe de quelqu'un qui propage une rumeur, et ça ne coûte que deux syllabes.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CINQ PHRASES À RÉUTILISER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Prêtes à l'emploi</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Marquer le non confirmé</a:t>
            </a:r>
          </a:p>
        </p:txBody>
      </p:sp>
      <p:sp>
        <p:nvSpPr>
          <p:cNvPr id="9" name="TextBox 8"/>
          <p:cNvSpPr txBox="1"/>
          <p:nvPr/>
        </p:nvSpPr>
        <p:spPr>
          <a:xfrm>
            <a:off x="886968"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Selon ce que j'ai entendu, le local serait loué pour cinq ans.</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Rapporter une parole</a:t>
            </a:r>
          </a:p>
        </p:txBody>
      </p:sp>
      <p:sp>
        <p:nvSpPr>
          <p:cNvPr id="12" name="TextBox 11"/>
          <p:cNvSpPr txBox="1"/>
          <p:nvPr/>
        </p:nvSpPr>
        <p:spPr>
          <a:xfrm>
            <a:off x="6498183"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conseillère a dit que la décision serait prise le 14 octobre.</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Concéder avant d'objecter</a:t>
            </a:r>
          </a:p>
        </p:txBody>
      </p:sp>
      <p:sp>
        <p:nvSpPr>
          <p:cNvPr id="15" name="TextBox 14"/>
          <p:cNvSpPr txBox="1"/>
          <p:nvPr/>
        </p:nvSpPr>
        <p:spPr>
          <a:xfrm>
            <a:off x="886968"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Bien que le projet soit utile, personne ne connaît les heures.</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Mettre en avant</a:t>
            </a:r>
          </a:p>
        </p:txBody>
      </p:sp>
      <p:sp>
        <p:nvSpPr>
          <p:cNvPr id="18" name="TextBox 17"/>
          <p:cNvSpPr txBox="1"/>
          <p:nvPr/>
        </p:nvSpPr>
        <p:spPr>
          <a:xfrm>
            <a:off x="6498183"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 qui m'inquiète, c'est l'heure de fermeture.</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Restreindre</a:t>
            </a:r>
          </a:p>
        </p:txBody>
      </p:sp>
      <p:sp>
        <p:nvSpPr>
          <p:cNvPr id="21" name="TextBox 20"/>
          <p:cNvSpPr txBox="1"/>
          <p:nvPr/>
        </p:nvSpPr>
        <p:spPr>
          <a:xfrm>
            <a:off x="886968"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Ville ne fournit que le local ; l'exploitation revient à quelqu'un d'autre.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DONNER SON AVIS AVANT LES FAITS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Moi je trouve que c'est n'importe quoi, ils ont décidé sans nous.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100" b="1" i="0">
                <a:solidFill>
                  <a:srgbClr val="17181A"/>
                </a:solidFill>
                <a:latin typeface="Verdana"/>
              </a:rPr>
              <a:t>Le comité a recommandé le local ; le conseil tranche le 14 octobre. Moi, je trouve que...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Celui qui commence par son opinion se fait classer en deux secondes, et plus personne n'écoute ses faits. Celui qui pose d'abord ce qui est établi peut ensuite dire ce qu'il veut : il a montré qu'il savait de quoi il parlait. L'ordre n'est pas de la politesse, c'est de l'efficacité.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Quatre-vingt-dix secondes, enregistrées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Faites le compte rendu de la nouvelle à quelqu'un qui n'a rien suivi.</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Temps 1</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Temps 2</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Temps 3</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moins un conditionnel</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moins une parole rapportée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moins une concession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Quelle est la question que personne n'a posée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question, la vôtre.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Elle sera la dernière ligne de votre billet, demain.</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Suivre l'actualité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