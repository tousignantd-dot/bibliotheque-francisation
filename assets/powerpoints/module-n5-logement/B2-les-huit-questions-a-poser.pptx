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production orale. Commencer par ramasser les feuilles de questions du devoir B1 et en lire trois à voix haute, sans nommer les auteurs. Le groupe complète.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Noter au tableau toutes les questions proposées, sans trier. On les classe ensuite avec le tableau suivant. Les élèves proposent presque toujours le prix en premier — or le prix est déjà dans l'annonce.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dernière ligne est celle que presque personne ne connaît.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cœur du défi 1 et l'outil que les élèves emporteront.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Prévenir : certains propriétaires seront surpris, quelques-uns seront agacés. C'est un droit, et un propriétaire que la question fâche est déjà un renseignement.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carte est la plus utile : les élèves enchaînent souvent deux ou trois questions par peur du silence, et perdent les réponses.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Accepter toute formulation correcte et polie. L'important est la précision de ce qui est demandé, pas la tournure exacte.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vivre l'erreur : poser les trois questions d'un trait à un élève et lui demander de répondre. Il ne répondra qu'à une.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à dos : c'est la seule façon de reproduire le téléphone en classe. Circuler et noter les questions oubliées, sans interrompre. Faire le bilan des oublis à la fin, au tableau, sans nommer personne.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réel, et le plus exigeant du module. Prévenir que certains n'oseront pas : proposer de faire l'appel en classe, à côté de l'enseignante, à ceux qui le demandent.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B2  ·  MODULE 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Les huit questions à poser</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appel de quatre minutes bien mené évite une visite inutile à l'autre bout de la ville. Encore faut-il savoir quoi demander — et l'avoir écrit avant.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Louer un logement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huit questions précises sur un logement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que chaque question sert à apprendre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formuler une question polie et directe à la fois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la question que personne n'ose poser.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Vous avez quatre minutes au téléphone. Que demandez-vous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Quelle est la première question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si vous n'aviez le droit qu'à trois questions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oublie toujours de demander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n'ose pas demander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QUESTIONS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coûte de l'argent</a:t>
            </a:r>
          </a:p>
        </p:txBody>
      </p:sp>
      <p:sp>
        <p:nvSpPr>
          <p:cNvPr id="7" name="Rounded Rectangle 6"/>
          <p:cNvSpPr/>
          <p:nvPr/>
        </p:nvSpPr>
        <p:spPr>
          <a:xfrm>
            <a:off x="566928" y="1810512"/>
            <a:ext cx="11057839" cy="2999232"/>
          </a:xfrm>
          <a:prstGeom prst="roundRect">
            <a:avLst>
              <a:gd name="adj" fmla="val 487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QUESTION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VOUS APPREND</a:t>
            </a:r>
          </a:p>
        </p:txBody>
      </p:sp>
      <p:sp>
        <p:nvSpPr>
          <p:cNvPr id="10" name="TextBox 9"/>
          <p:cNvSpPr txBox="1"/>
          <p:nvPr/>
        </p:nvSpPr>
        <p:spPr>
          <a:xfrm>
            <a:off x="932688" y="2395728"/>
            <a:ext cx="3291492" cy="271271"/>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Le chauffage est-il inclus ?</a:t>
            </a:r>
          </a:p>
        </p:txBody>
      </p:sp>
      <p:sp>
        <p:nvSpPr>
          <p:cNvPr id="11" name="TextBox 10"/>
          <p:cNvSpPr txBox="1"/>
          <p:nvPr/>
        </p:nvSpPr>
        <p:spPr>
          <a:xfrm>
            <a:off x="4443636" y="2395728"/>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si le loyer est le prix final</a:t>
            </a:r>
          </a:p>
        </p:txBody>
      </p:sp>
      <p:sp>
        <p:nvSpPr>
          <p:cNvPr id="12" name="Rectangle 11"/>
          <p:cNvSpPr/>
          <p:nvPr/>
        </p:nvSpPr>
        <p:spPr>
          <a:xfrm>
            <a:off x="932688" y="27401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868168"/>
            <a:ext cx="3291492" cy="505968"/>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Quels électroménagers sont fournis ?</a:t>
            </a:r>
          </a:p>
        </p:txBody>
      </p:sp>
      <p:sp>
        <p:nvSpPr>
          <p:cNvPr id="14" name="TextBox 13"/>
          <p:cNvSpPr txBox="1"/>
          <p:nvPr/>
        </p:nvSpPr>
        <p:spPr>
          <a:xfrm>
            <a:off x="4443636" y="2868168"/>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s'il faudra en acheter</a:t>
            </a:r>
          </a:p>
        </p:txBody>
      </p:sp>
      <p:sp>
        <p:nvSpPr>
          <p:cNvPr id="15" name="Rectangle 14"/>
          <p:cNvSpPr/>
          <p:nvPr/>
        </p:nvSpPr>
        <p:spPr>
          <a:xfrm>
            <a:off x="932688" y="344728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575304"/>
            <a:ext cx="3291492" cy="271271"/>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Le stationnement est-il inclus ?</a:t>
            </a:r>
          </a:p>
        </p:txBody>
      </p:sp>
      <p:sp>
        <p:nvSpPr>
          <p:cNvPr id="17" name="TextBox 16"/>
          <p:cNvSpPr txBox="1"/>
          <p:nvPr/>
        </p:nvSpPr>
        <p:spPr>
          <a:xfrm>
            <a:off x="4443636" y="3575304"/>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si l'auto aura une place l'hiver</a:t>
            </a:r>
          </a:p>
        </p:txBody>
      </p:sp>
      <p:sp>
        <p:nvSpPr>
          <p:cNvPr id="18" name="Rectangle 17"/>
          <p:cNvSpPr/>
          <p:nvPr/>
        </p:nvSpPr>
        <p:spPr>
          <a:xfrm>
            <a:off x="932688" y="391972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47744"/>
            <a:ext cx="3291492" cy="505968"/>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Depuis quand le loyer n'a-t-il pas augmenté ?</a:t>
            </a:r>
          </a:p>
        </p:txBody>
      </p:sp>
      <p:sp>
        <p:nvSpPr>
          <p:cNvPr id="20" name="TextBox 19"/>
          <p:cNvSpPr txBox="1"/>
          <p:nvPr/>
        </p:nvSpPr>
        <p:spPr>
          <a:xfrm>
            <a:off x="4443636" y="4047744"/>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si la hausse à venir sera raisonnable</a:t>
            </a:r>
          </a:p>
        </p:txBody>
      </p:sp>
      <p:sp>
        <p:nvSpPr>
          <p:cNvPr id="21" name="Rounded Rectangle 20"/>
          <p:cNvSpPr/>
          <p:nvPr/>
        </p:nvSpPr>
        <p:spPr>
          <a:xfrm>
            <a:off x="566928" y="5047488"/>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303520"/>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 prix n'est pas dans la liste : il est déjà dans l'annonce.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QUESTIONS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décide de la vie quotidienne</a:t>
            </a:r>
          </a:p>
        </p:txBody>
      </p:sp>
      <p:sp>
        <p:nvSpPr>
          <p:cNvPr id="7" name="Rounded Rectangle 6"/>
          <p:cNvSpPr/>
          <p:nvPr/>
        </p:nvSpPr>
        <p:spPr>
          <a:xfrm>
            <a:off x="566928" y="1810512"/>
            <a:ext cx="11057839" cy="2999232"/>
          </a:xfrm>
          <a:prstGeom prst="roundRect">
            <a:avLst>
              <a:gd name="adj" fmla="val 487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QUESTION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VOUS APPREND</a:t>
            </a:r>
          </a:p>
        </p:txBody>
      </p:sp>
      <p:sp>
        <p:nvSpPr>
          <p:cNvPr id="10" name="TextBox 9"/>
          <p:cNvSpPr txBox="1"/>
          <p:nvPr/>
        </p:nvSpPr>
        <p:spPr>
          <a:xfrm>
            <a:off x="932688" y="2395728"/>
            <a:ext cx="3291492" cy="271271"/>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Y a-t-il une buanderie ?</a:t>
            </a:r>
          </a:p>
        </p:txBody>
      </p:sp>
      <p:sp>
        <p:nvSpPr>
          <p:cNvPr id="11" name="TextBox 10"/>
          <p:cNvSpPr txBox="1"/>
          <p:nvPr/>
        </p:nvSpPr>
        <p:spPr>
          <a:xfrm>
            <a:off x="4443636" y="2395728"/>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où vous laverez votre linge</a:t>
            </a:r>
          </a:p>
        </p:txBody>
      </p:sp>
      <p:sp>
        <p:nvSpPr>
          <p:cNvPr id="12" name="Rectangle 11"/>
          <p:cNvSpPr/>
          <p:nvPr/>
        </p:nvSpPr>
        <p:spPr>
          <a:xfrm>
            <a:off x="932688" y="27401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868168"/>
            <a:ext cx="3291492" cy="505968"/>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Quelle est la date d'occupation ?</a:t>
            </a:r>
          </a:p>
        </p:txBody>
      </p:sp>
      <p:sp>
        <p:nvSpPr>
          <p:cNvPr id="14" name="TextBox 13"/>
          <p:cNvSpPr txBox="1"/>
          <p:nvPr/>
        </p:nvSpPr>
        <p:spPr>
          <a:xfrm>
            <a:off x="4443636" y="2868168"/>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quand le bail commence</a:t>
            </a:r>
          </a:p>
        </p:txBody>
      </p:sp>
      <p:sp>
        <p:nvSpPr>
          <p:cNvPr id="15" name="Rectangle 14"/>
          <p:cNvSpPr/>
          <p:nvPr/>
        </p:nvSpPr>
        <p:spPr>
          <a:xfrm>
            <a:off x="932688" y="344728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575304"/>
            <a:ext cx="3291492" cy="505968"/>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L'immeuble est-il bien insonorisé ?</a:t>
            </a:r>
          </a:p>
        </p:txBody>
      </p:sp>
      <p:sp>
        <p:nvSpPr>
          <p:cNvPr id="17" name="TextBox 16"/>
          <p:cNvSpPr txBox="1"/>
          <p:nvPr/>
        </p:nvSpPr>
        <p:spPr>
          <a:xfrm>
            <a:off x="4443636" y="3575304"/>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si vous dormirez bien</a:t>
            </a:r>
          </a:p>
        </p:txBody>
      </p:sp>
      <p:sp>
        <p:nvSpPr>
          <p:cNvPr id="18" name="Rectangle 17"/>
          <p:cNvSpPr/>
          <p:nvPr/>
        </p:nvSpPr>
        <p:spPr>
          <a:xfrm>
            <a:off x="932688" y="4154423"/>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282439"/>
            <a:ext cx="3291492" cy="271271"/>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Les animaux sont-ils acceptés ?</a:t>
            </a:r>
          </a:p>
        </p:txBody>
      </p:sp>
      <p:sp>
        <p:nvSpPr>
          <p:cNvPr id="20" name="TextBox 19"/>
          <p:cNvSpPr txBox="1"/>
          <p:nvPr/>
        </p:nvSpPr>
        <p:spPr>
          <a:xfrm>
            <a:off x="4443636" y="4282439"/>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si vous gardez votre chat</a:t>
            </a:r>
          </a:p>
        </p:txBody>
      </p:sp>
      <p:sp>
        <p:nvSpPr>
          <p:cNvPr id="21" name="Rounded Rectangle 20"/>
          <p:cNvSpPr/>
          <p:nvPr/>
        </p:nvSpPr>
        <p:spPr>
          <a:xfrm>
            <a:off x="566928" y="5047488"/>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303520"/>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La question des animaux se pose tôt : elle est éliminatoire ou non.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DEMANDEZ DEPUIS QUAND LE LOYER N'A PAS AUGMENTÉ</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question qui surprend les propriétaires — et qui est parfaitement légitime.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propriétaire doit de toute façon inscrire au bail le loyer le plus bas payé dans les douze derniers mois. En le demandant au téléphone, vous savez d'avance si le prix demandé est un bond ou une hausse normale.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COMMENT FORMULER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Poli et direct à la fois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Annoncez d'abord</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J'aimerais vous poser quelques questions, si vous avez deux minutes. »</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question à la fois</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Deux questions ensemble et vous n'aurez la réponse qu'à la deuxième.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Demandez un chiffre</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Comptez combien par mois l'hiver ? » plutôt que « c'est cher à chauffer ? »</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Gardez la plus délicate pour la fin</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loyer de l'ancien locataire se demande une fois le reste établi.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FORMULATION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Posez la question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Écrivez la question qui permet d'apprendre chaque chose.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 loyer est vraiment le prix final</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S'il faudra acheter un réfrigérateur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Où laver son linge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l'auto aura une place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le bail commence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on dormira bien</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la prochaine hausse sera raisonnable</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on garde son chat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Posez la question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 loyer est vraiment le prix final   </a:t>
            </a:r>
            <a:r>
              <a:rPr sz="1400" b="1" i="0">
                <a:solidFill>
                  <a:srgbClr val="07734A"/>
                </a:solidFill>
                <a:latin typeface="Verdana"/>
              </a:rPr>
              <a:t>» Est-ce que le chauffage et l'électricité sont inclus ?</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S'il faudra acheter un réfrigérateur   </a:t>
            </a:r>
            <a:r>
              <a:rPr sz="1400" b="1" i="0">
                <a:solidFill>
                  <a:srgbClr val="07734A"/>
                </a:solidFill>
                <a:latin typeface="Verdana"/>
              </a:rPr>
              <a:t>» Quels électroménagers sont fournis ?</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Où laver son linge   </a:t>
            </a:r>
            <a:r>
              <a:rPr sz="1400" b="1" i="0">
                <a:solidFill>
                  <a:srgbClr val="07734A"/>
                </a:solidFill>
                <a:latin typeface="Verdana"/>
              </a:rPr>
              <a:t>» Est-ce qu'il y a une buanderie dans l'immeuble ?</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l'auto aura une place   </a:t>
            </a:r>
            <a:r>
              <a:rPr sz="1400" b="1" i="0">
                <a:solidFill>
                  <a:srgbClr val="07734A"/>
                </a:solidFill>
                <a:latin typeface="Verdana"/>
              </a:rPr>
              <a:t>» Le stationnement est-il inclus dans le loyer ?</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le bail commence   </a:t>
            </a:r>
            <a:r>
              <a:rPr sz="1400" b="1" i="0">
                <a:solidFill>
                  <a:srgbClr val="07734A"/>
                </a:solidFill>
                <a:latin typeface="Verdana"/>
              </a:rPr>
              <a:t>» Quelle est la date d'occupation ?</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on dormira bien   </a:t>
            </a:r>
            <a:r>
              <a:rPr sz="1400" b="1" i="0">
                <a:solidFill>
                  <a:srgbClr val="07734A"/>
                </a:solidFill>
                <a:latin typeface="Verdana"/>
              </a:rPr>
              <a:t>» Est-ce que l'immeuble est bien insonorisé ?</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la prochaine hausse sera raisonnable   </a:t>
            </a:r>
            <a:r>
              <a:rPr sz="1400" b="1" i="0">
                <a:solidFill>
                  <a:srgbClr val="07734A"/>
                </a:solidFill>
                <a:latin typeface="Verdana"/>
              </a:rPr>
              <a:t>» Depuis quand le loyer n'a-t-il pas augmenté ?</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on garde son chat   </a:t>
            </a:r>
            <a:r>
              <a:rPr sz="1400" b="1" i="0">
                <a:solidFill>
                  <a:srgbClr val="07734A"/>
                </a:solidFill>
                <a:latin typeface="Verdana"/>
              </a:rPr>
              <a:t>» Est-ce que les animaux sont acceptés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ENCHAÎNER LES QUESTIONS PAR PEUR DU SILENCE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Le chauffage est inclus, et les électroménagers, et le stationnement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Une question. On attend la réponse. On note. Question suivante.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questions d'un coup : la personne répond à la dernière, ou à celle qu'elle préfère. Le silence pendant que vous écrivez est normal — vous avez d'ailleurs annoncé que vous preniez des notes.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JEU DE RÔLE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par deux, dos à dos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L'un a l'annonce, l'autre a les réponses. Quatre minutes, puis on inverse.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4 ½ de la rue Bowen</a:t>
            </a:r>
          </a:p>
        </p:txBody>
      </p:sp>
      <p:sp>
        <p:nvSpPr>
          <p:cNvPr id="12" name="Rounded Rectangle 11"/>
          <p:cNvSpPr/>
          <p:nvPr/>
        </p:nvSpPr>
        <p:spPr>
          <a:xfrm>
            <a:off x="566928" y="2916428"/>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3 ½ du centre-ville</a:t>
            </a:r>
          </a:p>
        </p:txBody>
      </p:sp>
      <p:sp>
        <p:nvSpPr>
          <p:cNvPr id="16" name="Rounded Rectangle 15"/>
          <p:cNvSpPr/>
          <p:nvPr/>
        </p:nvSpPr>
        <p:spPr>
          <a:xfrm>
            <a:off x="566928" y="4030980"/>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34136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0537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18642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5 ½ de Fleurimont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Appelez pour une des trois annonces que vous avez trouvées.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Posez au moins cinq des huit questions.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Notez les réponses. Nous les lirons ensemble à la séance B4.</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Louer un logement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