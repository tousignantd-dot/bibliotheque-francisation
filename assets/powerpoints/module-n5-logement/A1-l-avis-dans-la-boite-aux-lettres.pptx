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d'abord qui, dans le groupe, loue son logement, et qui a déjà reçu un papier du propriétaire sans le comprendre. Les réponses ouvrent la séance et disent le niveau réel de connaissance des droits.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réponse la plus fréquente est « je le mets sur la table ». C'est exactement ce qu'il ne faut pas faire, et c'est le point de départ du module. Ne pas corriger tout de suite : laisser le dialogue le faire.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peur de Nadège — « il me met dehors » — est la peur réelle de beaucoup d'élèves. La nommer ouvertement, puis la démonter avec la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informations capitales ici : chaque modification se compte à part, et le refus se fait par écrit. Les écrire au tableau au fur et à mesure.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annonce le plan du module : les annonces, l'appel et les notes, puis le bail. Le dire au groupe.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Si les élèves ne retiennent qu'une chose du module, c'est celle-là.</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pour chacun, qui l'écrit : le propriétaire pour deux, le locataire pour un, et les deux ensemble pour le bail.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ligne est celle qu'on ignore le plus. Insister : refuser une hausse n'est pas un conflit, c'est une étape prévue par la loi.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nouvellement arrivés n'osent pas répondre à un propriétaire. Nommer cette gêne et dire qu'elle coûte de l'argent.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Il prépare le défi 3 et donne des documents réels à lire en classe. Prévoir que plusieurs élèves n'auront pas leur copie : c'est en soi une information à traiter.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L'avis dans la boîte aux lettres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papier arrive du propriétaire : le loyer monte et le stationnement disparaît. Beaucoup de locataires paient une hausse qu'ils avaient le droit de refuser.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Louer un logement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avis de modification du bail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qu'on a un mois pour y répondre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que ne rien répondre, c'est accepter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papiers d'un locataire.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trouvez ce papier dans votre boîte aux lettres. Que faites-vous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ite-aux-lettres.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le lisez tout de suite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le mettez sur la table de cuisine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devez répondre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le droit de dire non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papier qu'on ne comprend pas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35435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0" name="TextBox 9"/>
          <p:cNvSpPr txBox="1"/>
          <p:nvPr/>
        </p:nvSpPr>
        <p:spPr>
          <a:xfrm>
            <a:off x="2287047" y="2322576"/>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J'ai reçu un papier de mon propriétaire et je ne suis pas certaine de le comprendre.</a:t>
            </a:r>
          </a:p>
        </p:txBody>
      </p:sp>
      <p:sp>
        <p:nvSpPr>
          <p:cNvPr id="11" name="Rounded Rectangle 10"/>
          <p:cNvSpPr/>
          <p:nvPr/>
        </p:nvSpPr>
        <p:spPr>
          <a:xfrm>
            <a:off x="566928" y="324510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35435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SAMUEL</a:t>
            </a:r>
          </a:p>
        </p:txBody>
      </p:sp>
      <p:sp>
        <p:nvSpPr>
          <p:cNvPr id="13" name="TextBox 12"/>
          <p:cNvSpPr txBox="1"/>
          <p:nvPr/>
        </p:nvSpPr>
        <p:spPr>
          <a:xfrm>
            <a:off x="2287047" y="3409696"/>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Assoyez-vous. Vous permettez que je le regarde ? … D'accord. C'est un avis de modification du bail.</a:t>
            </a:r>
          </a:p>
        </p:txBody>
      </p:sp>
      <p:sp>
        <p:nvSpPr>
          <p:cNvPr id="14" name="Rounded Rectangle 13"/>
          <p:cNvSpPr/>
          <p:nvPr/>
        </p:nvSpPr>
        <p:spPr>
          <a:xfrm>
            <a:off x="566928" y="433222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496816"/>
            <a:ext cx="135435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6" name="TextBox 15"/>
          <p:cNvSpPr txBox="1"/>
          <p:nvPr/>
        </p:nvSpPr>
        <p:spPr>
          <a:xfrm>
            <a:off x="2287047" y="4496816"/>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Modification, ça veut dire qu'il me met dehors ?</a:t>
            </a:r>
          </a:p>
        </p:txBody>
      </p:sp>
      <p:sp>
        <p:nvSpPr>
          <p:cNvPr id="17" name="TextBox 16"/>
          <p:cNvSpPr txBox="1"/>
          <p:nvPr/>
        </p:nvSpPr>
        <p:spPr>
          <a:xfrm>
            <a:off x="932688" y="5246116"/>
            <a:ext cx="135435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SAMUEL</a:t>
            </a:r>
          </a:p>
        </p:txBody>
      </p:sp>
      <p:sp>
        <p:nvSpPr>
          <p:cNvPr id="18" name="TextBox 17"/>
          <p:cNvSpPr txBox="1"/>
          <p:nvPr/>
        </p:nvSpPr>
        <p:spPr>
          <a:xfrm>
            <a:off x="2287047" y="5246116"/>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pas du tout. Il vous annonce ce qu'il veut changer pour l'année prochaine. Ici, il demande soixante-quinze dollars de plus par mois.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changements, pas un</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5435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9" name="TextBox 8"/>
          <p:cNvSpPr txBox="1"/>
          <p:nvPr/>
        </p:nvSpPr>
        <p:spPr>
          <a:xfrm>
            <a:off x="2287047" y="1901952"/>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là, en bas ? Il y a une ligne sur le stationnement.</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35435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SAMUEL</a:t>
            </a:r>
          </a:p>
        </p:txBody>
      </p:sp>
      <p:sp>
        <p:nvSpPr>
          <p:cNvPr id="12" name="TextBox 11"/>
          <p:cNvSpPr txBox="1"/>
          <p:nvPr/>
        </p:nvSpPr>
        <p:spPr>
          <a:xfrm>
            <a:off x="2287047" y="2651252"/>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veut aussi vous enlever la case de stationnement. Ça, c'est un deuxième changement, et il doit l'écrire séparément.</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35435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5" name="TextBox 14"/>
          <p:cNvSpPr txBox="1"/>
          <p:nvPr/>
        </p:nvSpPr>
        <p:spPr>
          <a:xfrm>
            <a:off x="2287047" y="3738371"/>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je suis obligée de dire oui ?</a:t>
            </a:r>
          </a:p>
        </p:txBody>
      </p:sp>
      <p:sp>
        <p:nvSpPr>
          <p:cNvPr id="16" name="Rounded Rectangle 15"/>
          <p:cNvSpPr/>
          <p:nvPr/>
        </p:nvSpPr>
        <p:spPr>
          <a:xfrm>
            <a:off x="566928" y="432308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354359"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SAMUEL</a:t>
            </a:r>
          </a:p>
        </p:txBody>
      </p:sp>
      <p:sp>
        <p:nvSpPr>
          <p:cNvPr id="18" name="TextBox 17"/>
          <p:cNvSpPr txBox="1"/>
          <p:nvPr/>
        </p:nvSpPr>
        <p:spPr>
          <a:xfrm>
            <a:off x="2287047" y="4487672"/>
            <a:ext cx="878907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un mois pour répondre. Vous pouvez accepter, ou refuser par écrit. Si vous refusez, c'est lui qui doit s'adresser au Tribunal administratif du logement.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silence vaut un oui</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5435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9" name="TextBox 8"/>
          <p:cNvSpPr txBox="1"/>
          <p:nvPr/>
        </p:nvSpPr>
        <p:spPr>
          <a:xfrm>
            <a:off x="2287047" y="1901952"/>
            <a:ext cx="878907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mois. Et si je ne réponds rien du tout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35435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SAMUEL</a:t>
            </a:r>
          </a:p>
        </p:txBody>
      </p:sp>
      <p:sp>
        <p:nvSpPr>
          <p:cNvPr id="12" name="TextBox 11"/>
          <p:cNvSpPr txBox="1"/>
          <p:nvPr/>
        </p:nvSpPr>
        <p:spPr>
          <a:xfrm>
            <a:off x="2287047" y="2651252"/>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 vous ne répondez pas, la loi considère que vous avez accepté. C'est pour ça qu'il ne faut jamais laisser cet avis sur la table de cuisine.</a:t>
            </a:r>
          </a:p>
        </p:txBody>
      </p:sp>
      <p:sp>
        <p:nvSpPr>
          <p:cNvPr id="13" name="Rounded Rectangle 12"/>
          <p:cNvSpPr/>
          <p:nvPr/>
        </p:nvSpPr>
        <p:spPr>
          <a:xfrm>
            <a:off x="566928" y="35737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35435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5" name="TextBox 14"/>
          <p:cNvSpPr txBox="1"/>
          <p:nvPr/>
        </p:nvSpPr>
        <p:spPr>
          <a:xfrm>
            <a:off x="2287047" y="3738371"/>
            <a:ext cx="878907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toute façon, ma fille dort dans le salon. Je pense que je vais chercher un quatre et demie.</a:t>
            </a:r>
          </a:p>
        </p:txBody>
      </p:sp>
      <p:sp>
        <p:nvSpPr>
          <p:cNvPr id="16" name="Rounded Rectangle 15"/>
          <p:cNvSpPr/>
          <p:nvPr/>
        </p:nvSpPr>
        <p:spPr>
          <a:xfrm>
            <a:off x="566928" y="466090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354359"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SAMUEL</a:t>
            </a:r>
          </a:p>
        </p:txBody>
      </p:sp>
      <p:sp>
        <p:nvSpPr>
          <p:cNvPr id="18" name="TextBox 17"/>
          <p:cNvSpPr txBox="1"/>
          <p:nvPr/>
        </p:nvSpPr>
        <p:spPr>
          <a:xfrm>
            <a:off x="2287047" y="4825492"/>
            <a:ext cx="878907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commençons par là. Regardez les annonces, notez tout ce qu'on vous dit au téléphone, et rappelez-moi avant de signer quoi que ce soit.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SILENCE VAUT ACCEPTATION</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Ne pas répondre à un avis de modification, c'est l'accepter.</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règle qui surprend le plus et qui coûte le plus cher. Le délai d'un mois commence le jour où vous recevez l'avis. Il ne recommence pas si vous étiez en voyage, à l'hôpital ou à l'extérieur du pays.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QUATRE PAPIERS D'UN LOCATAIRE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ne pas confondre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bail</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contrat de départ. Un formulaire officiel, le même pour tout le Québec.</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L'avis de modification</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 que le propriétaire veut changer l'année prochaine : le loyer, un service.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 réponse du locataire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Votre lettre. Un mois pour l'écrire, et elle décide de tout.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L'annexe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règlements de l'immeuble, agrafés au bail — et qui font partie du bail.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VOS TROIS RÉPONSES POSSIBLES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Refuser n'oblige pas à déménager</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VOTRE DÉCISION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VOUS FAITES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Accepter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écrivez oui — ou vous ne faites rien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Refuser et rester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écrivez non, et vous restez chez vous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Quitter</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avisez que vous partirez à la fin du bail</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Après un refus, c'est le propriétaire qui doit s'adresser au Tribunal.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QU'UN PAPIER OFFICIEL NE SE DISCUTE PAS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C'est écrit, donc je dois payer.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un mois pour répondre, et j'ai le droit de refuser.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avis de modification est une proposition, pas une décision. Des milliers de locataires refusent une hausse chaque printemps, et le Tribunal fixe souvent un loyer plus bas que celui qui était demandé.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propriétaire de Nadège veut la mettre dehors.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L'avis annonce une hausse de soixante-quinze dollars par mois.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veut aussi retirer la case de stationnement.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Nadège a une semaine pour répondre.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elle ne répond rien, la loi considère qu'elle a accepté.</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locataire qui doit s'adresser au Tribunal en cas de refus.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propriétaire de Nadège veut la mettre dehors.   </a:t>
            </a:r>
            <a:r>
              <a:rPr sz="1400" b="1" i="0">
                <a:solidFill>
                  <a:srgbClr val="07734A"/>
                </a:solidFill>
                <a:latin typeface="Verdana"/>
              </a:rPr>
              <a:t>» faux — il propose un changement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L'avis annonce une hausse de soixante-quinze dollars par mois.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veut aussi retirer la case de stationnement.   </a:t>
            </a:r>
            <a:r>
              <a:rPr sz="1400" b="1" i="0">
                <a:solidFill>
                  <a:srgbClr val="07734A"/>
                </a:solidFill>
                <a:latin typeface="Verdana"/>
              </a:rPr>
              <a:t>» vrai — un deuxième changement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Nadège a une semaine pour répondre.   </a:t>
            </a:r>
            <a:r>
              <a:rPr sz="1400" b="1" i="0">
                <a:solidFill>
                  <a:srgbClr val="07734A"/>
                </a:solidFill>
                <a:latin typeface="Verdana"/>
              </a:rPr>
              <a:t>» faux — un mois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elle ne répond rien, la loi considère qu'elle a accepté.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locataire qui doit s'adresser au Tribunal en cas de refus.   </a:t>
            </a:r>
            <a:r>
              <a:rPr sz="1400" b="1" i="0">
                <a:solidFill>
                  <a:srgbClr val="07734A"/>
                </a:solidFill>
                <a:latin typeface="Verdana"/>
              </a:rPr>
              <a:t>» faux — c'est le propriétaire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Cherchez dans vos papiers : avez-vous une copie de votre bail ?</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oui, apportez-la la semaine prochaine (cachez votre nom si vous préférez).</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non, notez qu'un propriétaire doit vous en remettre une copie.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Louer un logement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