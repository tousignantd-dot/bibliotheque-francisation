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Séance de grammaire. Le gérondif est explicitement au programme du niveau 5 — exprimer la simultanéité et la manière — et il ferme le défi 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Lire les objectifs à voix haute. Y revenir au billet de sortie.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Faire compter les actions — deux — et les acteurs — un seul. C'est la condition d'emploi du gérondif, et elle se découvre bien mieux ainsi qu'en l'annonçant.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Faire conjuguer trois verbes au « nous » avant d'appliquer la règle : c'est l'étape que les élèves sautent.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Diapositive à photographier. Insister sur la note : trois exceptions dans toute la langue, c'est peu, et ça se retient.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 quatrième carte prévient l'erreur « en visitants ». Le gérondif est invariable, sans exception.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C'est le seul vrai piège du gérondif, et il produit des phrases qui sonnent bien mais ne veulent pas dire ce qu'on croit. Faire trouver d'autres exemples fautifs au groupe : ils s'en amusent.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Exiger que la forme « nous » soit écrite avant le gérondif : c'est elle qui garantit le radical, et l'élève qui la saute se trompe sur « prendre 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Pour chaque phrase, faire nommer l'emploi : simultanéité ou manière. Les trois dernières sont des manières.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Corriger en groupe. Donner la bonne réponse, sans revenir sur qui s'est trompé.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Exercice de production libre. Les trois conseils résument le module : c'est l'occasion de faire le point sur les défis 1 et 2 avant d'entrer dans le bail.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Devoir d'écriture. Les meilleurs conseils seront affichés en classe : c'est un document utile aux prochains groupes, et les élèves le savent.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DF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12344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SÉANCE C4  ·  MODULE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9960559" cy="187451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4000" b="1" i="0">
                <a:solidFill>
                  <a:srgbClr val="17181A"/>
                </a:solidFill>
                <a:latin typeface="Verdana"/>
              </a:rPr>
              <a:t>Le gérondif : en visitant, en écoutant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6928" y="3794760"/>
            <a:ext cx="9960559" cy="1763268"/>
          </a:xfrm>
          <a:prstGeom prst="roundRect">
            <a:avLst>
              <a:gd name="adj" fmla="val 8297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96112" y="4123944"/>
            <a:ext cx="9302191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« Elle prend des notes en écoutant la propriétaire. » Une seule personne, deux actions en même temps. Et la même forme sert à dire comment on fait quelque chose.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603504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500" b="0" i="0">
                <a:solidFill>
                  <a:srgbClr val="6E7175"/>
                </a:solidFill>
                <a:latin typeface="Verdana"/>
              </a:rPr>
              <a:t>75 minutes  ·  Louer un logement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OBJECTIFS DE LA SÉANCE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À la fin, je serai capable de…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764792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804672" y="1942592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04672" y="2024887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08176" y="1965960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former un gérondif à partir de la personne « nous » ;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650744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804672" y="2828544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04672" y="2910840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08176" y="2851912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exprimer deux actions en même temps ;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66928" y="3536696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04672" y="3714496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804672" y="3796792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08176" y="3737864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exprimer la manière : comment on fait quelque chose ;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422648"/>
            <a:ext cx="11057839" cy="757936"/>
          </a:xfrm>
          <a:prstGeom prst="roundRect">
            <a:avLst>
              <a:gd name="adj" fmla="val 1930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04672" y="4600448"/>
            <a:ext cx="402336" cy="402336"/>
          </a:xfrm>
          <a:prstGeom prst="roundRect">
            <a:avLst>
              <a:gd name="adj" fmla="val 31818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804672" y="4682744"/>
            <a:ext cx="402336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8176" y="4623816"/>
            <a:ext cx="954907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3A3D40"/>
                </a:solidFill>
                <a:latin typeface="Verdana"/>
              </a:rPr>
              <a:t>vérifier que les deux verbes ont le même sujet.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OBSERVATION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Que fait Nadège, exactement 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66928" y="1965960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50976" y="2039112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« Elle prend des notes en écoutant la propriétaire.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642108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ectangle 10"/>
          <p:cNvSpPr/>
          <p:nvPr/>
        </p:nvSpPr>
        <p:spPr>
          <a:xfrm>
            <a:off x="566928" y="2751836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950976" y="2824988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Combien d'actions y a-t-il dans cette phrase 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3427984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ectangle 13"/>
          <p:cNvSpPr/>
          <p:nvPr/>
        </p:nvSpPr>
        <p:spPr>
          <a:xfrm>
            <a:off x="566928" y="3537712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950976" y="3610864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Qui fait la première ? Qui fait la seconde 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4213860"/>
            <a:ext cx="11057839" cy="703579"/>
          </a:xfrm>
          <a:prstGeom prst="roundRect">
            <a:avLst>
              <a:gd name="adj" fmla="val 2079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66928" y="4323588"/>
            <a:ext cx="50292" cy="484123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950976" y="4396740"/>
            <a:ext cx="10372039" cy="37439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Est-ce que ce sont deux personnes différentes 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EN + LE VERBE EN -ANT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1225296"/>
            <a:ext cx="11057839" cy="2494788"/>
          </a:xfrm>
          <a:prstGeom prst="roundRect">
            <a:avLst>
              <a:gd name="adj" fmla="val 5864"/>
            </a:avLst>
          </a:prstGeom>
          <a:solidFill>
            <a:srgbClr val="FBEEDC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1298448" y="1682496"/>
            <a:ext cx="9594799" cy="16718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2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On part de la personne « nous » au présent, on enlève -ons, on ajoute -ant.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94404"/>
            <a:ext cx="11057839" cy="2040128"/>
          </a:xfrm>
          <a:prstGeom prst="roundRect">
            <a:avLst>
              <a:gd name="adj" fmla="val 7171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69264" y="4268724"/>
            <a:ext cx="10234879" cy="1582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nous regardONS donne en regardANT · nous finissONS donne en finissANT · nous prenONS donne en prenANT. Cette règle vaut pour toute la langue, y compris pour les verbes irréguliers au singulier : c'est la forme « nous » qui porte le bon radical.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LA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Cinq verbes du module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11057839" cy="3253740"/>
          </a:xfrm>
          <a:prstGeom prst="roundRect">
            <a:avLst>
              <a:gd name="adj" fmla="val 449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1975104"/>
            <a:ext cx="3291492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LA PERSONNE « NOUS »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636" y="1975104"/>
            <a:ext cx="6595914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6E7175"/>
                </a:solidFill>
                <a:latin typeface="Verdana"/>
              </a:rPr>
              <a:t>LE GÉRONDIF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395728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nous regardons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636" y="2395728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regardant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32688" y="2790444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932688" y="2918460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nous finissons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43636" y="2918460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finissant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32688" y="3313176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32688" y="3441192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nous prenons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43636" y="3441192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prenant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932688" y="3835908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932688" y="3963924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nous lisons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43636" y="3963924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lisant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32688" y="4358640"/>
            <a:ext cx="10326319" cy="10058"/>
          </a:xfrm>
          <a:prstGeom prst="rect">
            <a:avLst/>
          </a:prstGeom>
          <a:solidFill>
            <a:srgbClr val="EAEA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932688" y="4486656"/>
            <a:ext cx="3291492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1" i="0">
                <a:solidFill>
                  <a:srgbClr val="B45309"/>
                </a:solidFill>
                <a:latin typeface="Verdana"/>
              </a:rPr>
              <a:t>nous arrivons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43636" y="4486656"/>
            <a:ext cx="6595914" cy="3215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2000"/>
              </a:lnSpc>
            </a:pPr>
            <a:r>
              <a:rPr sz="1700" b="0" i="0">
                <a:solidFill>
                  <a:srgbClr val="3A3D40"/>
                </a:solidFill>
                <a:latin typeface="Verdana"/>
              </a:rPr>
              <a:t>en arrivant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301996"/>
            <a:ext cx="11057839" cy="769874"/>
          </a:xfrm>
          <a:prstGeom prst="roundRect">
            <a:avLst>
              <a:gd name="adj" fmla="val 19003"/>
            </a:avLst>
          </a:prstGeom>
          <a:solidFill>
            <a:srgbClr val="FBFBFA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969264" y="5558028"/>
            <a:ext cx="10234879" cy="31267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400" b="0" i="0">
                <a:solidFill>
                  <a:srgbClr val="4B4F52"/>
                </a:solidFill>
                <a:latin typeface="Verdana"/>
              </a:rPr>
              <a:t>Trois irréguliers seulement : être donne en étant · avoir donne en ayant · savoir donne en sachant.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EMPLOIS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La même forme, deux usages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86968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simultanéité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86968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Deux actions en même temps : « Elle prend des notes en écoutant. »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78143" y="181051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498183" y="2084831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La manière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8183" y="249936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Comment on fait : « On apprend le vrai prix en posant des questions. »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86968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En tête de phrase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86968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« En arrivant, vous avez vu la ruelle. » Le sens est le même.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78143" y="4027932"/>
            <a:ext cx="5446623" cy="2052828"/>
          </a:xfrm>
          <a:prstGeom prst="roundRect">
            <a:avLst>
              <a:gd name="adj" fmla="val 7126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6498183" y="4302252"/>
            <a:ext cx="4806543" cy="3870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8000"/>
              </a:lnSpc>
            </a:pPr>
            <a:r>
              <a:rPr sz="2400" b="1" i="0">
                <a:solidFill>
                  <a:srgbClr val="B45309"/>
                </a:solidFill>
                <a:latin typeface="Verdana"/>
              </a:rPr>
              <a:t>Jamais d'accord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8183" y="4716780"/>
            <a:ext cx="4806543" cy="10896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2000"/>
              </a:lnSpc>
            </a:pPr>
            <a:r>
              <a:rPr sz="1800" b="0" i="0">
                <a:solidFill>
                  <a:srgbClr val="3A3D40"/>
                </a:solidFill>
                <a:latin typeface="Verdana"/>
              </a:rPr>
              <a:t>Le gérondif ne change jamais de forme, ni en genre ni en nombre.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DEUX SUJETS DIFFÉRENTS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Le piège le plus fréquent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FFF6F5"/>
          </a:solidFill>
          <a:ln w="12700">
            <a:solidFill>
              <a:srgbClr val="DC262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932688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91C1C"/>
                </a:solidFill>
                <a:latin typeface="Verdana"/>
              </a:rPr>
              <a:t>ON ENTEND SOUVENT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32688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arrivant, la ruelle était bruyante.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196431" y="1856232"/>
            <a:ext cx="5428335" cy="2331720"/>
          </a:xfrm>
          <a:prstGeom prst="roundRect">
            <a:avLst>
              <a:gd name="adj" fmla="val 6274"/>
            </a:avLst>
          </a:prstGeom>
          <a:solidFill>
            <a:srgbClr val="E6F5EE"/>
          </a:solidFill>
          <a:ln w="12700">
            <a:solidFill>
              <a:srgbClr val="0A8F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62191" y="2130552"/>
            <a:ext cx="4696815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07734A"/>
                </a:solidFill>
                <a:latin typeface="Verdana"/>
              </a:rPr>
              <a:t>IL FAUT DIRE PLUTÔT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62191" y="2569464"/>
            <a:ext cx="4696815" cy="1417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00" b="1" i="0">
                <a:solidFill>
                  <a:srgbClr val="17181A"/>
                </a:solidFill>
                <a:latin typeface="Verdana"/>
              </a:rPr>
              <a:t>En arrivant, vous avez vu la ruelle.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4462272"/>
            <a:ext cx="11057839" cy="1618487"/>
          </a:xfrm>
          <a:prstGeom prst="roundRect">
            <a:avLst>
              <a:gd name="adj" fmla="val 9039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969264" y="4736592"/>
            <a:ext cx="10234879" cy="11506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2000" b="0" i="0">
                <a:solidFill>
                  <a:srgbClr val="4B4F52"/>
                </a:solidFill>
                <a:latin typeface="Verdana"/>
              </a:rPr>
              <a:t>La ruelle n'arrive pas. Le gérondif exige que les deux verbes aient le même sujet. Si les sujets diffèrent, il faut « quand » ou « pendant que » : « Quand vous êtes arrivée, la ruelle était bruyante. »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gérondif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Passez par la personne « nous ».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regarder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finir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prendre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relire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poser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être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avoir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Écrivez le gérondif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regarder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nous regardons donne en regardant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finir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nous finissons donne en finissant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prendre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nous prenons donne en prenant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relire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nous relisons donne en relisant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poser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nous posons donne en posant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être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étant — irrégulier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avoir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ayant — irrégulier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66928" y="6954520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ounded Rectangle 36"/>
          <p:cNvSpPr/>
          <p:nvPr/>
        </p:nvSpPr>
        <p:spPr>
          <a:xfrm>
            <a:off x="841247" y="705154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841247" y="711555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8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344168" y="7109968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savoir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sachant — irrégulier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APPLICATION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un gérondif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Le verbe est entre parenthèses.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prend des notes … (écouter) la propriétaire.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… (arriver), on voit tout de suite la ruelle.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apprend le vrai prix … (poser) des questions.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comparé les logements … (regarder) ses trois fiches.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compris l'avis … (relire) le papier lentement.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évite les surprises … (être) précis au téléphone.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signé … (savoir) ce qu'elle acceptait.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CORRECTION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Complétez avec un gérondif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Correction — on lit la réponse, on ne commente pas l'erreur.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3672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0073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prend des notes … (écouter) la propriétaire.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écoutant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82752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292455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298856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2982975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… (arriver), on voit tout de suite la ruelle.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arrivant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515359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61238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676395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670807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apprend le vrai prix … (poser) des questions.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posant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4203192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841247" y="4300220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41247" y="4364228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344168" y="4358640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comparé les logements … (regarder) ses trois fiches.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regardant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891023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ounded Rectangle 24"/>
          <p:cNvSpPr/>
          <p:nvPr/>
        </p:nvSpPr>
        <p:spPr>
          <a:xfrm>
            <a:off x="841247" y="4988051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841247" y="5052059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344168" y="5046471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Il a compris l'avis … (relire) le papier lentement.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relisant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566928" y="5578856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41247" y="567588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841247" y="573989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5734304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On évite les surprises … (être) précis au téléphone.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étant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6266688"/>
            <a:ext cx="11057839" cy="559816"/>
          </a:xfrm>
          <a:prstGeom prst="roundRect">
            <a:avLst>
              <a:gd name="adj" fmla="val 26134"/>
            </a:avLst>
          </a:prstGeom>
          <a:solidFill>
            <a:srgbClr val="E6F5EE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841247" y="6363716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841247" y="6427724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7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344168" y="6422136"/>
            <a:ext cx="10097719" cy="2854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400" b="0" i="0">
                <a:solidFill>
                  <a:srgbClr val="3A3D40"/>
                </a:solidFill>
                <a:latin typeface="Verdana"/>
              </a:rPr>
              <a:t>Elle a signé … (savoir) ce qu'elle acceptait.   </a:t>
            </a:r>
            <a:r>
              <a:rPr sz="1400" b="1" i="0">
                <a:solidFill>
                  <a:srgbClr val="07734A"/>
                </a:solidFill>
                <a:latin typeface="Verdana"/>
              </a:rPr>
              <a:t>» en sachant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420624"/>
            <a:ext cx="11057839" cy="2377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B45309"/>
                </a:solidFill>
                <a:latin typeface="Verdana"/>
              </a:rPr>
              <a:t>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749808"/>
            <a:ext cx="11057839" cy="8778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3400" b="1" i="0">
                <a:solidFill>
                  <a:srgbClr val="17181A"/>
                </a:solidFill>
                <a:latin typeface="Verdana"/>
              </a:rPr>
              <a:t>Donnez trois conseils avec un gérondif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645920"/>
            <a:ext cx="1105783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800" b="0" i="0">
                <a:solidFill>
                  <a:srgbClr val="6E7175"/>
                </a:solidFill>
                <a:latin typeface="Verdana"/>
              </a:rPr>
              <a:t>À quelqu'un qui cherche un logement pour la première fois.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2139696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841247" y="2281174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841247" y="2345182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44168" y="2295144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conseil sur l'appel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2916428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841247" y="3057905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841247" y="3121913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44168" y="3071876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conseil sur la visite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3693160"/>
            <a:ext cx="11057839" cy="648716"/>
          </a:xfrm>
          <a:prstGeom prst="roundRect">
            <a:avLst>
              <a:gd name="adj" fmla="val 22552"/>
            </a:avLst>
          </a:prstGeom>
          <a:solidFill>
            <a:srgbClr val="FFFFFF"/>
          </a:solidFill>
          <a:ln w="12700">
            <a:solidFill>
              <a:srgbClr val="EAE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41247" y="3834638"/>
            <a:ext cx="365760" cy="365760"/>
          </a:xfrm>
          <a:prstGeom prst="roundRect">
            <a:avLst>
              <a:gd name="adj" fmla="val 32500"/>
            </a:avLst>
          </a:prstGeom>
          <a:solidFill>
            <a:srgbClr val="FBEE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41247" y="3898646"/>
            <a:ext cx="36576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5000"/>
              </a:lnSpc>
            </a:pPr>
            <a:r>
              <a:rPr sz="1500" b="1" i="0">
                <a:solidFill>
                  <a:srgbClr val="B45309"/>
                </a:solidFill>
                <a:latin typeface="Verdana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3848608"/>
            <a:ext cx="10097719" cy="3743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1900" b="0" i="0">
                <a:solidFill>
                  <a:srgbClr val="3A3D40"/>
                </a:solidFill>
                <a:latin typeface="Verdana"/>
              </a:rPr>
              <a:t>Un conseil sur le bail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10367" y="6355080"/>
            <a:ext cx="9144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13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181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66928" y="1051560"/>
            <a:ext cx="110578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 i="0" spc="156">
                <a:solidFill>
                  <a:srgbClr val="FFFFFF"/>
                </a:solidFill>
                <a:latin typeface="Verdana"/>
              </a:rPr>
              <a:t>BILLET DE SORTIE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1572768"/>
            <a:ext cx="9777679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 i="0">
                <a:solidFill>
                  <a:srgbClr val="FFFFFF"/>
                </a:solidFill>
                <a:latin typeface="Verdana"/>
              </a:rPr>
              <a:t>Écrivez cinq conseils à quelqu'un qui cherche un logement.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3931920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932688" y="4087368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Chacun avec un gérondif.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4680712"/>
            <a:ext cx="11057839" cy="666496"/>
          </a:xfrm>
          <a:prstGeom prst="roundRect">
            <a:avLst>
              <a:gd name="adj" fmla="val 13719"/>
            </a:avLst>
          </a:prstGeom>
          <a:solidFill>
            <a:srgbClr val="2A2C2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932688" y="4836160"/>
            <a:ext cx="10051999" cy="3921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</a:pPr>
            <a:r>
              <a:rPr sz="2000" b="0" i="0">
                <a:solidFill>
                  <a:srgbClr val="FFFFFF"/>
                </a:solidFill>
                <a:latin typeface="Verdana"/>
              </a:rPr>
              <a:t>« On évite les mauvaises surprises en… »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6355080"/>
            <a:ext cx="6400800" cy="21945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1200" b="0" i="0">
                <a:solidFill>
                  <a:srgbClr val="6E7175"/>
                </a:solidFill>
                <a:latin typeface="Verdana"/>
              </a:rPr>
              <a:t>C4 · Louer un logement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