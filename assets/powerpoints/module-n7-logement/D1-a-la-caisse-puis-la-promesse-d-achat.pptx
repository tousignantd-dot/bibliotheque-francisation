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3, et séance la plus dense du module : un dialogue de vingt-cinq répliques et un document. Prévoir de couper l'écoute en trois, et de garder le document pour la seconde heure.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fil du bloc D. Le poser dès l'ouverture : la première moitié du document engage, la seconde protège.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Refaire le calcul au tableau : 5 % de 275 000 = 13 750. Les élèves qui décrochent au moment des pourcentages raccrochent dès qu'on écrit les chiffres.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Examen des titres » est le mot le plus opaque du module. Le reformuler une fois de plus au tableau, avec un exemple : une maison vendue deux fois, ça existe.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Retenir les deux chiffres : ils sont la matière de la production orale de E1. Et retenir la réponse de la conseillère : refuser de décider à la place de quelqu'un est un comportement professionnel, pas une dérobade.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plan de lecture de l'exercice `t3prom` : les treize questions suivent cet ordre.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compter les dix jours sur le calendrier du mois en cours, au tableau : la surprise est utile.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des treize questions de `t3prom`. Les sept autres se font à l'écran, en autonomie, pendant la dernière demi-heure.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réponses ouvrent D2 : une condition s'écrit au subjonctif, et c'est exactement le point de grammaire suivant.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À la caisse, puis la promesse d'achat</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promesse d'achat acceptée n'est pas une intention : c'est un contrat. Ce qui la rend supportable, ce sont ses conditions — et chacune porte un nombre de jours.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Rester locataire ou devenir propriétaire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qu'est une mise de fonds et à quel seuil elle se calcule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engage de ce qui protège dans une promesse d'achat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relever le délai de chaque condition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ce que le notaire fait et ce que la municipalité facture.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Cinq pour cent de deux cent soixante-quinze mille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Écouter deux fois, diapositive masquée.</a:t>
            </a:r>
          </a:p>
        </p:txBody>
      </p:sp>
      <p:sp>
        <p:nvSpPr>
          <p:cNvPr id="8" name="Rounded Rectangle 7"/>
          <p:cNvSpPr/>
          <p:nvPr/>
        </p:nvSpPr>
        <p:spPr>
          <a:xfrm>
            <a:off x="566928" y="21579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39160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FARAH</a:t>
            </a:r>
          </a:p>
        </p:txBody>
      </p:sp>
      <p:sp>
        <p:nvSpPr>
          <p:cNvPr id="10" name="TextBox 9"/>
          <p:cNvSpPr txBox="1"/>
          <p:nvPr/>
        </p:nvSpPr>
        <p:spPr>
          <a:xfrm>
            <a:off x="2324290" y="2322576"/>
            <a:ext cx="8751836"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Commençons par la question que tout le monde pose en dernier : combien avez-vous de côté ?</a:t>
            </a:r>
          </a:p>
        </p:txBody>
      </p:sp>
      <p:sp>
        <p:nvSpPr>
          <p:cNvPr id="11" name="TextBox 10"/>
          <p:cNvSpPr txBox="1"/>
          <p:nvPr/>
        </p:nvSpPr>
        <p:spPr>
          <a:xfrm>
            <a:off x="932688" y="2982976"/>
            <a:ext cx="139160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SOKHNA</a:t>
            </a:r>
          </a:p>
        </p:txBody>
      </p:sp>
      <p:sp>
        <p:nvSpPr>
          <p:cNvPr id="12" name="TextBox 11"/>
          <p:cNvSpPr txBox="1"/>
          <p:nvPr/>
        </p:nvSpPr>
        <p:spPr>
          <a:xfrm>
            <a:off x="2324290" y="2982976"/>
            <a:ext cx="8751836"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Dix-neuf mille huit cents.</a:t>
            </a:r>
          </a:p>
        </p:txBody>
      </p:sp>
      <p:sp>
        <p:nvSpPr>
          <p:cNvPr id="13" name="Rounded Rectangle 12"/>
          <p:cNvSpPr/>
          <p:nvPr/>
        </p:nvSpPr>
        <p:spPr>
          <a:xfrm>
            <a:off x="566928" y="3478784"/>
            <a:ext cx="11057839" cy="827024"/>
          </a:xfrm>
          <a:prstGeom prst="roundRect">
            <a:avLst>
              <a:gd name="adj" fmla="val 1769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43376"/>
            <a:ext cx="1391602" cy="552703"/>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FARAH</a:t>
            </a:r>
          </a:p>
        </p:txBody>
      </p:sp>
      <p:sp>
        <p:nvSpPr>
          <p:cNvPr id="15" name="TextBox 14"/>
          <p:cNvSpPr txBox="1"/>
          <p:nvPr/>
        </p:nvSpPr>
        <p:spPr>
          <a:xfrm>
            <a:off x="2324290" y="3643376"/>
            <a:ext cx="8751836" cy="552703"/>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une propriété de deux cent soixante-quinze mille, la mise de fonds minimale est de cinq pour cent, parce qu'on est sous cinq cent mille. Ça fait treize mille sept cent cinquante.</a:t>
            </a:r>
          </a:p>
        </p:txBody>
      </p:sp>
      <p:sp>
        <p:nvSpPr>
          <p:cNvPr id="16" name="TextBox 15"/>
          <p:cNvSpPr txBox="1"/>
          <p:nvPr/>
        </p:nvSpPr>
        <p:spPr>
          <a:xfrm>
            <a:off x="932688" y="4552695"/>
            <a:ext cx="139160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SOKHNA</a:t>
            </a:r>
          </a:p>
        </p:txBody>
      </p:sp>
      <p:sp>
        <p:nvSpPr>
          <p:cNvPr id="17" name="TextBox 16"/>
          <p:cNvSpPr txBox="1"/>
          <p:nvPr/>
        </p:nvSpPr>
        <p:spPr>
          <a:xfrm>
            <a:off x="2324290" y="4552695"/>
            <a:ext cx="8751836"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Donc j'ai assez ?</a:t>
            </a:r>
          </a:p>
        </p:txBody>
      </p:sp>
      <p:sp>
        <p:nvSpPr>
          <p:cNvPr id="18" name="Rounded Rectangle 17"/>
          <p:cNvSpPr/>
          <p:nvPr/>
        </p:nvSpPr>
        <p:spPr>
          <a:xfrm>
            <a:off x="566928" y="5048504"/>
            <a:ext cx="11057839" cy="827024"/>
          </a:xfrm>
          <a:prstGeom prst="roundRect">
            <a:avLst>
              <a:gd name="adj" fmla="val 1769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5213095"/>
            <a:ext cx="1391602" cy="552703"/>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FARAH</a:t>
            </a:r>
          </a:p>
        </p:txBody>
      </p:sp>
      <p:sp>
        <p:nvSpPr>
          <p:cNvPr id="20" name="TextBox 19"/>
          <p:cNvSpPr txBox="1"/>
          <p:nvPr/>
        </p:nvSpPr>
        <p:spPr>
          <a:xfrm>
            <a:off x="2324290" y="5213095"/>
            <a:ext cx="8751836" cy="552703"/>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le minimum, oui. Mais sous vingt pour cent de mise de fonds, votre prêt doit être assuré, et la prime s'ajoute à votre prêt.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frais dont personne ne parle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9160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SOKHNA</a:t>
            </a:r>
          </a:p>
        </p:txBody>
      </p:sp>
      <p:sp>
        <p:nvSpPr>
          <p:cNvPr id="9" name="TextBox 8"/>
          <p:cNvSpPr txBox="1"/>
          <p:nvPr/>
        </p:nvSpPr>
        <p:spPr>
          <a:xfrm>
            <a:off x="2324290" y="1901952"/>
            <a:ext cx="875183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droits de mutation, c'est la taxe de bienvenue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39160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FARAH</a:t>
            </a:r>
          </a:p>
        </p:txBody>
      </p:sp>
      <p:sp>
        <p:nvSpPr>
          <p:cNvPr id="12" name="TextBox 11"/>
          <p:cNvSpPr txBox="1"/>
          <p:nvPr/>
        </p:nvSpPr>
        <p:spPr>
          <a:xfrm>
            <a:off x="2324290" y="2651252"/>
            <a:ext cx="875183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le même impôt. C'est la municipalité qui le perçoit, et c'est le nouveau propriétaire qui le paie, quelques mois après l'achat.</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39160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SOKHNA</a:t>
            </a:r>
          </a:p>
        </p:txBody>
      </p:sp>
      <p:sp>
        <p:nvSpPr>
          <p:cNvPr id="15" name="TextBox 14"/>
          <p:cNvSpPr txBox="1"/>
          <p:nvPr/>
        </p:nvSpPr>
        <p:spPr>
          <a:xfrm>
            <a:off x="2324290" y="3738371"/>
            <a:ext cx="875183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notaire, il est obligatoire ?</a:t>
            </a:r>
          </a:p>
        </p:txBody>
      </p:sp>
      <p:sp>
        <p:nvSpPr>
          <p:cNvPr id="16" name="Rounded Rectangle 15"/>
          <p:cNvSpPr/>
          <p:nvPr/>
        </p:nvSpPr>
        <p:spPr>
          <a:xfrm>
            <a:off x="566928" y="432308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391602"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FARAH</a:t>
            </a:r>
          </a:p>
        </p:txBody>
      </p:sp>
      <p:sp>
        <p:nvSpPr>
          <p:cNvPr id="18" name="TextBox 17"/>
          <p:cNvSpPr txBox="1"/>
          <p:nvPr/>
        </p:nvSpPr>
        <p:spPr>
          <a:xfrm>
            <a:off x="2324290" y="4487672"/>
            <a:ext cx="8751836"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 l'acte hypothécaire, oui. C'est lui aussi qui fait l'examen des titres, c'est-à-dire qu'il vérifie que la personne qui vous vend a bien le droit de vous vendre.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ma place, vous achèteriez ?</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9160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SOKHNA</a:t>
            </a:r>
          </a:p>
        </p:txBody>
      </p:sp>
      <p:sp>
        <p:nvSpPr>
          <p:cNvPr id="9" name="TextBox 8"/>
          <p:cNvSpPr txBox="1"/>
          <p:nvPr/>
        </p:nvSpPr>
        <p:spPr>
          <a:xfrm>
            <a:off x="2324290" y="1901952"/>
            <a:ext cx="875183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Madame Zaoui, à ma place, vous achèteriez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39160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FARAH</a:t>
            </a:r>
          </a:p>
        </p:txBody>
      </p:sp>
      <p:sp>
        <p:nvSpPr>
          <p:cNvPr id="12" name="TextBox 11"/>
          <p:cNvSpPr txBox="1"/>
          <p:nvPr/>
        </p:nvSpPr>
        <p:spPr>
          <a:xfrm>
            <a:off x="2324290" y="2651252"/>
            <a:ext cx="875183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ne peux pas répondre à ça, et personne ne devrait répondre à ça à votre place. Ce que je peux faire, c'est vous donner les deux chiffres.</a:t>
            </a:r>
          </a:p>
        </p:txBody>
      </p:sp>
      <p:sp>
        <p:nvSpPr>
          <p:cNvPr id="13" name="Rounded Rectangle 12"/>
          <p:cNvSpPr/>
          <p:nvPr/>
        </p:nvSpPr>
        <p:spPr>
          <a:xfrm>
            <a:off x="566928" y="357378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391602"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FARAH</a:t>
            </a:r>
          </a:p>
        </p:txBody>
      </p:sp>
      <p:sp>
        <p:nvSpPr>
          <p:cNvPr id="15" name="TextBox 14"/>
          <p:cNvSpPr txBox="1"/>
          <p:nvPr/>
        </p:nvSpPr>
        <p:spPr>
          <a:xfrm>
            <a:off x="2324290" y="3738371"/>
            <a:ext cx="8751836"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Locataire, à mille vingt-quatre par mois, vous n'avez rien d'autre à payer et rien qui vous appartienne. Propriétaire, tout compris, vous seriez autour de mille six cents.</a:t>
            </a:r>
          </a:p>
        </p:txBody>
      </p:sp>
      <p:sp>
        <p:nvSpPr>
          <p:cNvPr id="16" name="Rounded Rectangle 15"/>
          <p:cNvSpPr/>
          <p:nvPr/>
        </p:nvSpPr>
        <p:spPr>
          <a:xfrm>
            <a:off x="566928" y="499872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39160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SOKHNA</a:t>
            </a:r>
          </a:p>
        </p:txBody>
      </p:sp>
      <p:sp>
        <p:nvSpPr>
          <p:cNvPr id="18" name="TextBox 17"/>
          <p:cNvSpPr txBox="1"/>
          <p:nvPr/>
        </p:nvSpPr>
        <p:spPr>
          <a:xfrm>
            <a:off x="2324290" y="5163312"/>
            <a:ext cx="875183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Six cents dollars de plus par mois.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engage, ce qui protège</a:t>
            </a:r>
          </a:p>
        </p:txBody>
      </p:sp>
      <p:sp>
        <p:nvSpPr>
          <p:cNvPr id="7" name="Rounded Rectangle 6"/>
          <p:cNvSpPr/>
          <p:nvPr/>
        </p:nvSpPr>
        <p:spPr>
          <a:xfrm>
            <a:off x="566928" y="1810512"/>
            <a:ext cx="11057839" cy="4242816"/>
          </a:xfrm>
          <a:prstGeom prst="roundRect">
            <a:avLst>
              <a:gd name="adj" fmla="val 34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DANS LA PROMESSE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FAIT</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prix et la date d'occupation</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vous engage</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les inclusions</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vous engage : ce qui n'est pas écrit n'est pas vendu</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condition de financement</a:t>
            </a:r>
          </a:p>
        </p:txBody>
      </p:sp>
      <p:sp>
        <p:nvSpPr>
          <p:cNvPr id="17" name="TextBox 16"/>
          <p:cNvSpPr txBox="1"/>
          <p:nvPr/>
        </p:nvSpPr>
        <p:spPr>
          <a:xfrm>
            <a:off x="4443636" y="3776472"/>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vous protège : vingt et un jours</a:t>
            </a:r>
          </a:p>
        </p:txBody>
      </p:sp>
      <p:sp>
        <p:nvSpPr>
          <p:cNvPr id="18" name="Rectangle 17"/>
          <p:cNvSpPr/>
          <p:nvPr/>
        </p:nvSpPr>
        <p:spPr>
          <a:xfrm>
            <a:off x="932688" y="4489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617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condition d'inspection</a:t>
            </a:r>
          </a:p>
        </p:txBody>
      </p:sp>
      <p:sp>
        <p:nvSpPr>
          <p:cNvPr id="20" name="TextBox 19"/>
          <p:cNvSpPr txBox="1"/>
          <p:nvPr/>
        </p:nvSpPr>
        <p:spPr>
          <a:xfrm>
            <a:off x="4443636" y="4617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vous protège : une dizaine de jours</a:t>
            </a:r>
          </a:p>
        </p:txBody>
      </p:sp>
      <p:sp>
        <p:nvSpPr>
          <p:cNvPr id="21" name="Rectangle 20"/>
          <p:cNvSpPr/>
          <p:nvPr/>
        </p:nvSpPr>
        <p:spPr>
          <a:xfrm>
            <a:off x="932688" y="5029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57216"/>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les déclarations du vendeur</a:t>
            </a:r>
          </a:p>
        </p:txBody>
      </p:sp>
      <p:sp>
        <p:nvSpPr>
          <p:cNvPr id="23" name="TextBox 22"/>
          <p:cNvSpPr txBox="1"/>
          <p:nvPr/>
        </p:nvSpPr>
        <p:spPr>
          <a:xfrm>
            <a:off x="4443636" y="515721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vous protège : ce qu'il affirme savoir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JOURS SE COMPTENT EN JOURS DE CALENDRIER</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Samedis, dimanches et jours fériés compris.</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Dix jours pour l'inspection, ce n'est pas deux semaines de travail : c'est une semaine et demie, fins de semaine comprises. L'inspecteur doit donc être appelé le jour même de l'acceptation. Vingt et un jours pour le financement, c'est trois semaines pleines, et c'est un minimum raisonnable.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la promesse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question, retrouvez le passage exact.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prix l'acheteuse offre-t-elle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est exclu de la vente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jours pour confirmer le financement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paie l'inspection du bâtiment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peut-elle faire si l'inspection révèle un problème majeur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partir de quand les deux parties sont-elles liées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la promesse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prix l'acheteuse offre-t-elle ?   </a:t>
            </a:r>
            <a:r>
              <a:rPr sz="1400" b="1" i="0">
                <a:solidFill>
                  <a:srgbClr val="07734A"/>
                </a:solidFill>
                <a:latin typeface="Verdana"/>
              </a:rPr>
              <a:t>» 268 000 $, payable à la signature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est exclu de la vente ?   </a:t>
            </a:r>
            <a:r>
              <a:rPr sz="1400" b="1" i="0">
                <a:solidFill>
                  <a:srgbClr val="07734A"/>
                </a:solidFill>
                <a:latin typeface="Verdana"/>
              </a:rPr>
              <a:t>» le cabanon extérieur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jours pour confirmer le financement ?   </a:t>
            </a:r>
            <a:r>
              <a:rPr sz="1400" b="1" i="0">
                <a:solidFill>
                  <a:srgbClr val="07734A"/>
                </a:solidFill>
                <a:latin typeface="Verdana"/>
              </a:rPr>
              <a:t>» vingt et un jours de calendrier</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paie l'inspection du bâtiment ?   </a:t>
            </a:r>
            <a:r>
              <a:rPr sz="1400" b="1" i="0">
                <a:solidFill>
                  <a:srgbClr val="07734A"/>
                </a:solidFill>
                <a:latin typeface="Verdana"/>
              </a:rPr>
              <a:t>» l'acheteur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peut-elle faire si l'inspection révèle un problème majeur ?   </a:t>
            </a:r>
            <a:r>
              <a:rPr sz="1400" b="1" i="0">
                <a:solidFill>
                  <a:srgbClr val="07734A"/>
                </a:solidFill>
                <a:latin typeface="Verdana"/>
              </a:rPr>
              <a:t>» baisse de prix, réparations, ou se retirer</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partir de quand les deux parties sont-elles liées ?   </a:t>
            </a:r>
            <a:r>
              <a:rPr sz="1400" b="1" i="0">
                <a:solidFill>
                  <a:srgbClr val="07734A"/>
                </a:solidFill>
                <a:latin typeface="Verdana"/>
              </a:rPr>
              <a:t>» dès l'acceptation par le vendeur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Quelle condition écrirais-tu, toi, dans une promesse d'achat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financement et l'inspection sont les deux habituelles.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Y en a-t-il une troisième que tu voudrais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Rester locataire ou devenir propriétaire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