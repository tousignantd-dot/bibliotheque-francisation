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Apporter quelques factures d'épicerie réelles, anonymisées. Elles circulent pendant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Presque personne ne vérifie. Les erreurs de prix sont pourtant fréquentes, surtout le jeudi matin, quand les spéciaux changent.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retrouver les quatre parties sur les factures apportées.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C'est une particularité fiscale d'ici, utile à connaître pour prévoir sa dépense.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Marisol décrit ce qu'elle voit, sans accuser. Et elle a une preuve. Ce sont les deux conditions d'un signalement qui aboutit.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dire la phrase à voix haute par trois élèves.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C'est le contrôle en trois secondes, à faire près de la sortie plutôt qu'à la maison.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le geste : s'arrêter deux pas après la caisse, regarder la ligne des économies, ranger la facture.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Utiliser l'exercice 3 du module.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Vingt minutes. Exiger que le client décrive sans accuser : c'est le point de langue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 du bloc D. Prendre cinq minutes à la séance suivante pour entendre deux ou trois résultats.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D2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Lire sa facture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ligne par produit, un sous-total, les taxes, un total. Deux choses à vérifier seulement : que les spéciaux sont passés, et que rien n'est compté deux fois.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À l'épicerie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quatre parties d'une facture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sur quoi il y a des taxes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vérifier qu'un spécial est bien passé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signaler une erreur poliment.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regardez-vous sur ce papier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acture-epicerie.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total, seulement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Vérifiez-vous les lignes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faites-vous de la facture après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déjà trouvé une erreur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parties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CONTIENT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lignes</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 produit par ligne, nom écrit court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sous-total</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 total avant les taxes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TPS et TVQ</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les deux taxes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total</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ce qu'on paie vraiment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sous-total correspond aux prix affichés dans les allées.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LES TAXES SUR L'ALIMENTATION</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Sur les aliments de base, il n'y en a pas.</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Pain, lait, légumes, viande, œufs : &lt;b&gt;aucune taxe&lt;/b&gt;. Les taxes s'ajoutent sur les produits d'entretien, les boissons gazeuses, les plats préparés et les portions individuelles. C'est pour cela que la ligne des taxes est souvent très petite sur une facture d'épicerie.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DIALOGUE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n'est pas le bon prix</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puis relevez les trois phrases de Marisol.</a:t>
            </a:r>
          </a:p>
        </p:txBody>
      </p:sp>
      <p:sp>
        <p:nvSpPr>
          <p:cNvPr id="8" name="Rounded Rectangle 7"/>
          <p:cNvSpPr/>
          <p:nvPr/>
        </p:nvSpPr>
        <p:spPr>
          <a:xfrm>
            <a:off x="566928" y="21579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662017"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MARISOL</a:t>
            </a:r>
          </a:p>
        </p:txBody>
      </p:sp>
      <p:sp>
        <p:nvSpPr>
          <p:cNvPr id="10" name="TextBox 9"/>
          <p:cNvSpPr txBox="1"/>
          <p:nvPr/>
        </p:nvSpPr>
        <p:spPr>
          <a:xfrm>
            <a:off x="2594705" y="2322576"/>
            <a:ext cx="8481421"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Excusez-moi. Je regarde ma facture. Le poulet, c'est cinq dollars.</a:t>
            </a:r>
          </a:p>
        </p:txBody>
      </p:sp>
      <p:sp>
        <p:nvSpPr>
          <p:cNvPr id="11" name="TextBox 10"/>
          <p:cNvSpPr txBox="1"/>
          <p:nvPr/>
        </p:nvSpPr>
        <p:spPr>
          <a:xfrm>
            <a:off x="932688" y="2982976"/>
            <a:ext cx="1662017"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STÉPHANE</a:t>
            </a:r>
          </a:p>
        </p:txBody>
      </p:sp>
      <p:sp>
        <p:nvSpPr>
          <p:cNvPr id="12" name="TextBox 11"/>
          <p:cNvSpPr txBox="1"/>
          <p:nvPr/>
        </p:nvSpPr>
        <p:spPr>
          <a:xfrm>
            <a:off x="2594705" y="2982976"/>
            <a:ext cx="8481421"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Oui, cinq dollars la livre.</a:t>
            </a:r>
          </a:p>
        </p:txBody>
      </p:sp>
      <p:sp>
        <p:nvSpPr>
          <p:cNvPr id="13" name="Rounded Rectangle 12"/>
          <p:cNvSpPr/>
          <p:nvPr/>
        </p:nvSpPr>
        <p:spPr>
          <a:xfrm>
            <a:off x="566928" y="34787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43376"/>
            <a:ext cx="1662017"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MARISOL</a:t>
            </a:r>
          </a:p>
        </p:txBody>
      </p:sp>
      <p:sp>
        <p:nvSpPr>
          <p:cNvPr id="15" name="TextBox 14"/>
          <p:cNvSpPr txBox="1"/>
          <p:nvPr/>
        </p:nvSpPr>
        <p:spPr>
          <a:xfrm>
            <a:off x="2594705" y="3643376"/>
            <a:ext cx="8481421"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Mais dans la circulaire, c'est trois dollars.</a:t>
            </a:r>
          </a:p>
        </p:txBody>
      </p:sp>
      <p:sp>
        <p:nvSpPr>
          <p:cNvPr id="16" name="TextBox 15"/>
          <p:cNvSpPr txBox="1"/>
          <p:nvPr/>
        </p:nvSpPr>
        <p:spPr>
          <a:xfrm>
            <a:off x="932688" y="4303775"/>
            <a:ext cx="1662017"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STÉPHANE</a:t>
            </a:r>
          </a:p>
        </p:txBody>
      </p:sp>
      <p:sp>
        <p:nvSpPr>
          <p:cNvPr id="17" name="TextBox 16"/>
          <p:cNvSpPr txBox="1"/>
          <p:nvPr/>
        </p:nvSpPr>
        <p:spPr>
          <a:xfrm>
            <a:off x="2594705" y="4303775"/>
            <a:ext cx="8481421"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avez la circulaire ?</a:t>
            </a:r>
          </a:p>
        </p:txBody>
      </p:sp>
      <p:sp>
        <p:nvSpPr>
          <p:cNvPr id="18" name="Rounded Rectangle 17"/>
          <p:cNvSpPr/>
          <p:nvPr/>
        </p:nvSpPr>
        <p:spPr>
          <a:xfrm>
            <a:off x="566928" y="47995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964176"/>
            <a:ext cx="1662017"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MARISOL</a:t>
            </a:r>
          </a:p>
        </p:txBody>
      </p:sp>
      <p:sp>
        <p:nvSpPr>
          <p:cNvPr id="20" name="TextBox 19"/>
          <p:cNvSpPr txBox="1"/>
          <p:nvPr/>
        </p:nvSpPr>
        <p:spPr>
          <a:xfrm>
            <a:off x="2594705" y="4964176"/>
            <a:ext cx="8481421"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la photo sur mon téléphone.</a:t>
            </a:r>
          </a:p>
        </p:txBody>
      </p:sp>
      <p:sp>
        <p:nvSpPr>
          <p:cNvPr id="21" name="Rounded Rectangle 20"/>
          <p:cNvSpPr/>
          <p:nvPr/>
        </p:nvSpPr>
        <p:spPr>
          <a:xfrm>
            <a:off x="566928" y="54599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5624576"/>
            <a:ext cx="1662017"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STÉPHANE</a:t>
            </a:r>
          </a:p>
        </p:txBody>
      </p:sp>
      <p:sp>
        <p:nvSpPr>
          <p:cNvPr id="23" name="TextBox 22"/>
          <p:cNvSpPr txBox="1"/>
          <p:nvPr/>
        </p:nvSpPr>
        <p:spPr>
          <a:xfrm>
            <a:off x="2594705" y="5624576"/>
            <a:ext cx="8481421"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Attendez, je regarde… Vous avez raison. Le spécial n'est pas passé.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SIGNALER SANS ACCUSER</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On décrit le fait, on ne met personne en cause.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Le poulet, c'est cinq dollars sur la facture. Dans la circulaire, c'est trois. » La personne à la caisse n'a pas fixé le prix : le plus souvent, c'est un spécial qui n'est pas entré dans le système. Décrire l'écart obtient une vérification ; accuser obtient une discussion.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LIGNE DES ÉCONOMIES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contrôle le plus rapide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Elle est en bas</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Vous avez économisé 8,40 $ » — la somme de tous les spéciaux appliqués.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Si elle est à zéro</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Aucun spécial n'est passé. C'est le signal qu'il faut regarder les lignes une par une.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Un coup d'œil suffit</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Avant de quitter le magasin, regardez ce chiffre. S'il correspond à peu près à ce que vous attendiez, tout va bien.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DÉCOUVRIR L'ERREUR À LA MAISON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En rangeant les sacs, je vois que le prix n'est pas le bon.</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Dix secondes près de la sortie.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fois rentré, il faut revenir au magasin avec la facture et le produit. Dix secondes de vérification avant de partir évitent un deuxième déplacement — et beaucoup de gens ne reviennent jamais, ce qui revient à payer l'erreur.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dit cette ligne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en une phrase.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POULET 3 LB · 15,00</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SOUS-TOTAL · 38,40</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TPS · 0,45</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TOTAL · 42,15</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ÉCONOMIES · 8,40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dit cette ligne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POULET 3 LB · 15,00   </a:t>
            </a:r>
            <a:r>
              <a:rPr sz="1900" b="1" i="0">
                <a:solidFill>
                  <a:srgbClr val="07734A"/>
                </a:solidFill>
                <a:latin typeface="Verdana"/>
              </a:rPr>
              <a:t>» trois livres de poulet, quinze dollars</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SOUS-TOTAL · 38,40   </a:t>
            </a:r>
            <a:r>
              <a:rPr sz="1900" b="1" i="0">
                <a:solidFill>
                  <a:srgbClr val="07734A"/>
                </a:solidFill>
                <a:latin typeface="Verdana"/>
              </a:rPr>
              <a:t>» le total avant les taxes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TPS · 0,45   </a:t>
            </a:r>
            <a:r>
              <a:rPr sz="1900" b="1" i="0">
                <a:solidFill>
                  <a:srgbClr val="07734A"/>
                </a:solidFill>
                <a:latin typeface="Verdana"/>
              </a:rPr>
              <a:t>» la taxe fédérale — faible, car peu d'aliments sont taxés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TOTAL · 42,15   </a:t>
            </a:r>
            <a:r>
              <a:rPr sz="1900" b="1" i="0">
                <a:solidFill>
                  <a:srgbClr val="07734A"/>
                </a:solidFill>
                <a:latin typeface="Verdana"/>
              </a:rPr>
              <a:t>» ce qu'on paie vraiment</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ÉCONOMIES · 8,40   </a:t>
            </a:r>
            <a:r>
              <a:rPr sz="1900" b="1" i="0">
                <a:solidFill>
                  <a:srgbClr val="07734A"/>
                </a:solidFill>
                <a:latin typeface="Verdana"/>
              </a:rPr>
              <a:t>» la somme des spéciaux appliqués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deux · signaler une erreur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client, une personne à la caisse.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client</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caisse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client</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change de rôle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Gardez la facture de votre prochaine épicerie et vérifiez-la.</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La ligne des économies correspond-elle à ce que vous attendiez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 prix vous surprend-il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