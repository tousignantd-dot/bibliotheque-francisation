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centrale du Défi 1. C'est ici que les élèves ouvrent pour la première fois un exercice du type « texte » : on choisit une question, puis on clique dans le texte le passage qui y répond. Montrer le geste une fois au projecteur avant de les laisser faire.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objectif est le plus exigeant : au niveau 6, une réponse juste se prouve, elle ne s'affirme pas.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question est la vraie. Répondre de mémoire est l'erreur la plus fréquente, et elle produit des réponses plausibles mais fausses.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l'expérience en direct : lire seulement les premières phrases, puis demander de quoi parle le courriel. Le groupe répond juste presque à tous les coups.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Montrer le geste au projecteur, y compris l'erreur : cliquer un mauvais passage, puis le libérer.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l'oral d'abord, texte sous les yeux. Exiger le passage exact, pas un résumé. Les élèves referont ensuite le même exercice à l'écran, en cliquant dans le texte.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quatre fils sont le programme du module entier : les reprises en B3, les temps en B4, les connecteurs en D2, la mise en page vue en A3.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l'expérience : poser une question, laisser répondre de mémoire, puis vérifier ensemble. L'effet est plus convaincant que n'importe quelle consigne.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Les meilleures questions se posent au groupe en B3, en ouverture.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B2  ·  MODULE 3</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 courriel d'Ousmane, lu au complet</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Quatre paragraphes, sept questions, et une seule façon de répondre : retrouver dans le texte le passage exact qui répond.</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Reprendre le fil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trouver dans un texte long le passage qui répond à une question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l'idée principale d'un paragraphe de ses détails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justifier une réponse en citant le texte plutôt qu'en résumant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repérer ce qui n'est écrit nulle part et qui se déduit.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Comment fais-tu pour retrouver une information dans un texte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Tu relis tout, ou tu cherches un mot précis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Par où commences-tu : le début, la fin, le paragraphe le plus court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tu fais quand l'information n'y est pas écrite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As-tu déjà répondu de mémoire au lieu de vérifier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paragraphes, quatre idées</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PARAGRAPHE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QU'IL PORTE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Premier</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excuses du silence, et la naissance d'Assia</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Deuxième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maison vendue et le déménagement de juin</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Troisième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l'arrivée de Kadiatou et l'accident du beau-frère</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Quatrième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décès de l'oncle, puis le mariage de septembre</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Un blanc, une idée. Lire les quatre premières phrases donne le plan.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UNE RÉPONSE SE MONTRE DANS LE TEXTE</a:t>
            </a:r>
          </a:p>
        </p:txBody>
      </p:sp>
      <p:sp>
        <p:nvSpPr>
          <p:cNvPr id="6" name="Rounded Rectangle 5"/>
          <p:cNvSpPr/>
          <p:nvPr/>
        </p:nvSpPr>
        <p:spPr>
          <a:xfrm>
            <a:off x="566928" y="1225296"/>
            <a:ext cx="11057839" cy="1967991"/>
          </a:xfrm>
          <a:prstGeom prst="roundRect">
            <a:avLst>
              <a:gd name="adj" fmla="val 74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Choisis la question, puis clique le passage qui y répond.</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L'exercice ne demande pas de résumer ni de deviner : il demande de désigner. Si aucun passage ne répond, c'est que la question porte sur autre chose, ou que la réponse se déduit — et alors il faut dire de quoi. Recliquer un passage déjà pris le libère.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Sept questions sur le courriel</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Pour chaque question, dites à voix haute le passage qui y répond.</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évènement le premier paragraphe annonce-t-il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 veut dire on l'avait déjà vendue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la famille a-t-elle changé de logement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Qui est arrivé au Québec en octobre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accident est raconté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Quelle est la nouvelle triste ?</a:t>
            </a:r>
          </a:p>
        </p:txBody>
      </p:sp>
      <p:sp>
        <p:nvSpPr>
          <p:cNvPr id="32" name="Rounded Rectangle 31"/>
          <p:cNvSpPr/>
          <p:nvPr/>
        </p:nvSpPr>
        <p:spPr>
          <a:xfrm>
            <a:off x="566928" y="626668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Pourquoi descendent-ils en septembre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Sept questions sur le courriel</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évènement le premier paragraphe annonce-t-il ?   </a:t>
            </a:r>
            <a:r>
              <a:rPr sz="1400" b="1" i="0">
                <a:solidFill>
                  <a:srgbClr val="07734A"/>
                </a:solidFill>
                <a:latin typeface="Verdana"/>
              </a:rPr>
              <a:t>» notre fille Assia est née le 14 mars</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 veut dire on l'avait déjà vendue ?   </a:t>
            </a:r>
            <a:r>
              <a:rPr sz="1400" b="1" i="0">
                <a:solidFill>
                  <a:srgbClr val="07734A"/>
                </a:solidFill>
                <a:latin typeface="Verdana"/>
              </a:rPr>
              <a:t>» la maison de la rue Perreault</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la famille a-t-elle changé de logement ?   </a:t>
            </a:r>
            <a:r>
              <a:rPr sz="1400" b="1" i="0">
                <a:solidFill>
                  <a:srgbClr val="07734A"/>
                </a:solidFill>
                <a:latin typeface="Verdana"/>
              </a:rPr>
              <a:t>» le déménagement s'est fait en juin</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Qui est arrivé au Québec en octobre ?   </a:t>
            </a:r>
            <a:r>
              <a:rPr sz="1400" b="1" i="0">
                <a:solidFill>
                  <a:srgbClr val="07734A"/>
                </a:solidFill>
                <a:latin typeface="Verdana"/>
              </a:rPr>
              <a:t>» ma sœur Kadiatou, venue de Conakry</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accident est raconté ?   </a:t>
            </a:r>
            <a:r>
              <a:rPr sz="1400" b="1" i="0">
                <a:solidFill>
                  <a:srgbClr val="07734A"/>
                </a:solidFill>
                <a:latin typeface="Verdana"/>
              </a:rPr>
              <a:t>» mon beau-frère est tombé d'une plateforme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Quelle est la nouvelle triste ?   </a:t>
            </a:r>
            <a:r>
              <a:rPr sz="1400" b="1" i="0">
                <a:solidFill>
                  <a:srgbClr val="07734A"/>
                </a:solidFill>
                <a:latin typeface="Verdana"/>
              </a:rPr>
              <a:t>» mon oncle Mamadou est décédé au pays en février</a:t>
            </a:r>
          </a:p>
        </p:txBody>
      </p:sp>
      <p:sp>
        <p:nvSpPr>
          <p:cNvPr id="32" name="Rounded Rectangle 31"/>
          <p:cNvSpPr/>
          <p:nvPr/>
        </p:nvSpPr>
        <p:spPr>
          <a:xfrm>
            <a:off x="566928" y="626668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Pourquoi descendent-ils en septembre ?   </a:t>
            </a:r>
            <a:r>
              <a:rPr sz="1400" b="1" i="0">
                <a:solidFill>
                  <a:srgbClr val="07734A"/>
                </a:solidFill>
                <a:latin typeface="Verdana"/>
              </a:rPr>
              <a:t>» ma cousine se marie le samedi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MÉTHODE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fils tiennent un texte long</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Les reprises</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 la, en, y, celui-là. Chacun renvoie en arrière. Devant l'un d'eux, recule d'une phrase.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Les temps</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 plus-que-parfait recule d'un cran ; l'imparfait plante le décor. Ils placent les évènements sans dates.</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Les connecteurs</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pourtant, donc, d'ailleurs. Ils annoncent la suite avant qu'elle arrive.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La mise en page</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Un blanc, un paragraphe, un tiret. Ils découpent le texte et comptent les idées.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LECTURE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Répondre de mémoire, après une seule lecture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Retourner au texte et désigner le passage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Dans un courriel de quatre paragraphes, la mémoire garde les faits mais perd leur ordre et leurs liens. Une réponse donnée sans retourner au texte est plausible une fois sur deux, et fausse l'autre fois.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Écris une question dont la réponse est dans le troisième paragraphe.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seule question.</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Vérifie que la réponse s'y trouve vraiment.</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Reprendre le fil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