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de production. Rappeler le tableau des quatre temps de C1 avant tout : silhouette, vêtements, visage, signe particulier. C'est la grille de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que l'assistant provoque : il redemande, il confond exprès, et l'élève doit reprendre.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de préparation écrite, en silence, avant tout le reste. Sans ces trois détails notés, la production part dans le désordre.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Chronométrer une première fois à vide : quatre-vingt-dix secondes, c'est long, et les élèves s'arrêtent souvent à quarante.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situations du module sont Kadiatou, Ousmane et le rendez-vous. On peut aussi jouer l'autre rôle : celui qui va chercher.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L'assistant refuse poliment ces descriptions et en redemande une autre : prévenir le groupe.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ces cinq phrases dans le cahier avant l'enregistrement. Les élèves qui les ont préparées parlent deux fois plus longtemps.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la démarche au projecteur une fois, avec un enregistrement de l'enseignant. Voir quelqu'un se reprendre trois fois dédramatise plus que n'importe quelle consigne.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billets préparent E2 : ce qui manque à l'oral manque souvent aussi à l'écrit.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E1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Décris quelqu'un pour qu'on le reconnaisse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Quatre-vingt-dix secondes, quatre temps, et un inconnu qui doit repartir du terminus avec la bonne personne.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Reprendre le fil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décrire une personne en quatre-vingt-dix secondes, dans l'ordre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répondre à une demande de précision sans se contredire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corriger soi-même une phrase ambiguë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deux adjectifs accordés et une relative avec qui ou où.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PRÉPARATION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vas-tu décrire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Kadiatou, si tu préfères t'appuyer sur le dossier.</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Quelqu'un de ta famille que tu attends.</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Quelqu'un de la classe, sans dire son nom.</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Note trois détails qui se voient de loin.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Quatre-vingt-dix secondes, trois temps</a:t>
            </a:r>
          </a:p>
        </p:txBody>
      </p:sp>
      <p:sp>
        <p:nvSpPr>
          <p:cNvPr id="7" name="Rounded Rectangle 6"/>
          <p:cNvSpPr/>
          <p:nvPr/>
        </p:nvSpPr>
        <p:spPr>
          <a:xfrm>
            <a:off x="566928" y="1810512"/>
            <a:ext cx="11057839" cy="2862072"/>
          </a:xfrm>
          <a:prstGeom prst="roundRect">
            <a:avLst>
              <a:gd name="adj" fmla="val 511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TEMPS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TU DIS</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1</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silhouette et l'âge : une femme de taille moyenne, dans la trentaine</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2</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vêtements et le bagage : un foulard vert, une grosse valise rouge</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3</a:t>
            </a:r>
          </a:p>
        </p:txBody>
      </p:sp>
      <p:sp>
        <p:nvSpPr>
          <p:cNvPr id="17" name="TextBox 16"/>
          <p:cNvSpPr txBox="1"/>
          <p:nvPr/>
        </p:nvSpPr>
        <p:spPr>
          <a:xfrm>
            <a:off x="4443636" y="4078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visage, les cheveux, puis le signe particulier</a:t>
            </a:r>
          </a:p>
        </p:txBody>
      </p:sp>
      <p:sp>
        <p:nvSpPr>
          <p:cNvPr id="18" name="Rounded Rectangle 17"/>
          <p:cNvSpPr/>
          <p:nvPr/>
        </p:nvSpPr>
        <p:spPr>
          <a:xfrm>
            <a:off x="566928" y="4910328"/>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166360"/>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signe particulier en dernier : il sert à être sûr, pas à chercher.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JEU DE RÔLE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L'assistant joue celui qui va au terminus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42138"/>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Il n'a jamais vu la personne</a:t>
            </a:r>
          </a:p>
        </p:txBody>
      </p:sp>
      <p:sp>
        <p:nvSpPr>
          <p:cNvPr id="9" name="TextBox 8"/>
          <p:cNvSpPr txBox="1"/>
          <p:nvPr/>
        </p:nvSpPr>
        <p:spPr>
          <a:xfrm>
            <a:off x="886968" y="245440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Il n'a pas de photo. Tout ce qu'il saura vient de toi, et il partira avec ça.</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42138"/>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Il redemande ce qui est vague</a:t>
            </a:r>
          </a:p>
        </p:txBody>
      </p:sp>
      <p:sp>
        <p:nvSpPr>
          <p:cNvPr id="12" name="TextBox 11"/>
          <p:cNvSpPr txBox="1"/>
          <p:nvPr/>
        </p:nvSpPr>
        <p:spPr>
          <a:xfrm>
            <a:off x="6498183" y="245440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Attachés comment ? Grande, elle ou la valise ? Réponds sans changer ce que tu as déjà dit.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42138"/>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Il répète ce qu'il a compris</a:t>
            </a:r>
          </a:p>
        </p:txBody>
      </p:sp>
      <p:sp>
        <p:nvSpPr>
          <p:cNvPr id="15" name="TextBox 14"/>
          <p:cNvSpPr txBox="1"/>
          <p:nvPr/>
        </p:nvSpPr>
        <p:spPr>
          <a:xfrm>
            <a:off x="886968" y="467182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Écoute bien : s'il a compris autre chose, c'est à toi de corriger.</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42138"/>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Il demande où se placer</a:t>
            </a:r>
          </a:p>
        </p:txBody>
      </p:sp>
      <p:sp>
        <p:nvSpPr>
          <p:cNvPr id="18" name="TextBox 17"/>
          <p:cNvSpPr txBox="1"/>
          <p:nvPr/>
        </p:nvSpPr>
        <p:spPr>
          <a:xfrm>
            <a:off x="6498183" y="467182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Le terminus a deux portes. Emploie où : près du banc où les gens attendent.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CE QUI DÉPEND DE CELUI QUI REGARDE NE SE CHERCHE PAS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Elle est jolie et gentille ne permet de trouver personne.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une salle d'attente, on cherche une taille, une couleur, un objet, une forme de cheveux. Tout le reste est vrai mais inutilisable. C'est la différence entre décrire pour raconter et décrire pour retrouver.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LANGUE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phrases à réutiliser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Préparez-les à l'avance : elles serviront pendant l'enregistrement.</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relative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où de lieu</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correction</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adjectifs accordés</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signe particulier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phrases à réutiliser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relative   </a:t>
            </a:r>
            <a:r>
              <a:rPr sz="1900" b="1" i="0">
                <a:solidFill>
                  <a:srgbClr val="07734A"/>
                </a:solidFill>
                <a:latin typeface="Verdana"/>
              </a:rPr>
              <a:t>» une femme de taille moyenne qui tire une grosse valise rouge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où de lieu   </a:t>
            </a:r>
            <a:r>
              <a:rPr sz="1900" b="1" i="0">
                <a:solidFill>
                  <a:srgbClr val="07734A"/>
                </a:solidFill>
                <a:latin typeface="Verdana"/>
              </a:rPr>
              <a:t>» près du banc où les gens attendent, en face du guichet</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correction   </a:t>
            </a:r>
            <a:r>
              <a:rPr sz="1900" b="1" i="0">
                <a:solidFill>
                  <a:srgbClr val="07734A"/>
                </a:solidFill>
                <a:latin typeface="Verdana"/>
              </a:rPr>
              <a:t>» je me suis mal exprimée : c'est la valise qui est grosse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adjectifs accordés   </a:t>
            </a:r>
            <a:r>
              <a:rPr sz="1900" b="1" i="0">
                <a:solidFill>
                  <a:srgbClr val="07734A"/>
                </a:solidFill>
                <a:latin typeface="Verdana"/>
              </a:rPr>
              <a:t>» une longue veste grise et des lunettes rondes</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signe particulier   </a:t>
            </a:r>
            <a:r>
              <a:rPr sz="1900" b="1" i="0">
                <a:solidFill>
                  <a:srgbClr val="07734A"/>
                </a:solidFill>
                <a:latin typeface="Verdana"/>
              </a:rPr>
              <a:t>» une petite cicatrice au-dessus du sourcil gauche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DÉMARCHE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étapes, dans le module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L'ÉTAPE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TU FAIS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Je m'enregistre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quatre-vingt-dix secondes, autant de fois que tu veux</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Je m'écoute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tu lis la transcription et tu la corriges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J'envoie</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l'assistant te répond, puis tu déposes pour ton enseignant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 détail as-tu oublié, et que tu ajouterais maintenant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Écoute ton enregistrement avant de répondre.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Reprendre le fil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