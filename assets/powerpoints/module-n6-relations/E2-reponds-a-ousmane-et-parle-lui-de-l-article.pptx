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Dernière séance du module. Ressortir les billets de A3 — l'objet écrit en début de module — et de D2 — la première phrase. Chacun commence son courriel avec ce qu'il a déjà.</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quatre objectifs sont les quatre exigences majeures de la grille. Les lire à voix haute avant que le groupe commence à écrire.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Cinq minutes de notes en vrac, sans phrases. Passer voir : ceux qui écrivent des phrases dès la préparation finissent par un texte plat.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C'est le plan de D2, appliqué au courriel complet. Les élèves l'ont déjà dans leur cahier.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Six rangées, pas de note : c'est la densité maximale. La grille complète, à dix exigences, est dans le module à l'écran.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piège le plus fréquent de cette production. Le montrer avant l'écriture, pas à la correction.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Révision avant l'écriture. Les élèves ont aussi les cartes mémoire dans la section « Je retiens des mots » du module.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Dernière règle du module, et la plus transférable : elle vaut pour tout ce qu'on rapporte à quelqu'un.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Cinq minutes cette fois, pas deux. Ce billet ferme le module : le ramasser et le remettre à chacun à la première séance du module suivant.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SÉANCE E2  ·  MODULE 4</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Réponds à Ousmane, et parle-lui de l'article</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 seul courriel, deux travaux : donner des nouvelles, et informer quelqu'un du contenu d'un article. Ce sont les deux intentions du programme.</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Reprendre le fil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Reprendre le fil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1113536"/>
          </a:xfrm>
          <a:prstGeom prst="roundRect">
            <a:avLst>
              <a:gd name="adj" fmla="val 1313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2120392"/>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202688"/>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0" name="TextBox 9"/>
          <p:cNvSpPr txBox="1"/>
          <p:nvPr/>
        </p:nvSpPr>
        <p:spPr>
          <a:xfrm>
            <a:off x="1408176" y="1965960"/>
            <a:ext cx="9549079" cy="7477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écrire un courriel de dix à quatorze phrases en trois ou quatre paragraphes ;</a:t>
            </a:r>
          </a:p>
        </p:txBody>
      </p:sp>
      <p:sp>
        <p:nvSpPr>
          <p:cNvPr id="11" name="Rounded Rectangle 10"/>
          <p:cNvSpPr/>
          <p:nvPr/>
        </p:nvSpPr>
        <p:spPr>
          <a:xfrm>
            <a:off x="566928" y="3006343"/>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3184144"/>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3266439"/>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4" name="TextBox 13"/>
          <p:cNvSpPr txBox="1"/>
          <p:nvPr/>
        </p:nvSpPr>
        <p:spPr>
          <a:xfrm>
            <a:off x="1408176" y="32075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réagir à une bonne nouvelle et à une triste, chacune avec le mot juste ;</a:t>
            </a:r>
          </a:p>
        </p:txBody>
      </p:sp>
      <p:sp>
        <p:nvSpPr>
          <p:cNvPr id="15" name="Rounded Rectangle 14"/>
          <p:cNvSpPr/>
          <p:nvPr/>
        </p:nvSpPr>
        <p:spPr>
          <a:xfrm>
            <a:off x="566928" y="3892295"/>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4070095"/>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4152391"/>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8" name="TextBox 17"/>
          <p:cNvSpPr txBox="1"/>
          <p:nvPr/>
        </p:nvSpPr>
        <p:spPr>
          <a:xfrm>
            <a:off x="1408176" y="4093463"/>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résumer un article en citant sa source ;</a:t>
            </a:r>
          </a:p>
        </p:txBody>
      </p:sp>
      <p:sp>
        <p:nvSpPr>
          <p:cNvPr id="19" name="Rounded Rectangle 18"/>
          <p:cNvSpPr/>
          <p:nvPr/>
        </p:nvSpPr>
        <p:spPr>
          <a:xfrm>
            <a:off x="566928" y="47782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956048"/>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5038344"/>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2" name="TextBox 21"/>
          <p:cNvSpPr txBox="1"/>
          <p:nvPr/>
        </p:nvSpPr>
        <p:spPr>
          <a:xfrm>
            <a:off x="1408176" y="4979415"/>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annoncer son avis comme un avis, dans un paragraphe à part.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Reprendre le fil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PRÉPARATION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Qu'est-ce que tu as à raconter, toi ?</a:t>
            </a:r>
          </a:p>
        </p:txBody>
      </p:sp>
      <p:sp>
        <p:nvSpPr>
          <p:cNvPr id="7" name="Rounded Rectangle 6"/>
          <p:cNvSpPr/>
          <p:nvPr/>
        </p:nvSpPr>
        <p:spPr>
          <a:xfrm>
            <a:off x="566928" y="1856232"/>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965960"/>
            <a:ext cx="50292" cy="484123"/>
          </a:xfrm>
          <a:prstGeom prst="rect">
            <a:avLst/>
          </a:prstGeom>
          <a:solidFill>
            <a:srgbClr val="A5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50976" y="2039112"/>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 évènement de ton côté, avec une date ou une durée.</a:t>
            </a:r>
          </a:p>
        </p:txBody>
      </p:sp>
      <p:sp>
        <p:nvSpPr>
          <p:cNvPr id="10" name="Rounded Rectangle 9"/>
          <p:cNvSpPr/>
          <p:nvPr/>
        </p:nvSpPr>
        <p:spPr>
          <a:xfrm>
            <a:off x="566928" y="2642108"/>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66928" y="2751836"/>
            <a:ext cx="50292" cy="484123"/>
          </a:xfrm>
          <a:prstGeom prst="rect">
            <a:avLst/>
          </a:prstGeom>
          <a:solidFill>
            <a:srgbClr val="A5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50976" y="2824988"/>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Quelque chose qui était déjà arrivé avant le reste.</a:t>
            </a:r>
          </a:p>
        </p:txBody>
      </p:sp>
      <p:sp>
        <p:nvSpPr>
          <p:cNvPr id="13" name="Rounded Rectangle 12"/>
          <p:cNvSpPr/>
          <p:nvPr/>
        </p:nvSpPr>
        <p:spPr>
          <a:xfrm>
            <a:off x="566928" y="3427984"/>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66928" y="3537712"/>
            <a:ext cx="50292" cy="484123"/>
          </a:xfrm>
          <a:prstGeom prst="rect">
            <a:avLst/>
          </a:prstGeom>
          <a:solidFill>
            <a:srgbClr val="A5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50976" y="3610864"/>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 que tu penses du programme de jumelage.</a:t>
            </a:r>
          </a:p>
        </p:txBody>
      </p:sp>
      <p:sp>
        <p:nvSpPr>
          <p:cNvPr id="16" name="Rounded Rectangle 15"/>
          <p:cNvSpPr/>
          <p:nvPr/>
        </p:nvSpPr>
        <p:spPr>
          <a:xfrm>
            <a:off x="566928" y="4213860"/>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566928" y="4323588"/>
            <a:ext cx="50292" cy="484123"/>
          </a:xfrm>
          <a:prstGeom prst="rect">
            <a:avLst/>
          </a:prstGeom>
          <a:solidFill>
            <a:srgbClr val="A5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50976" y="4396740"/>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Note trois idées avant d'écrire une seule phrase.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Reprendre le fil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PLAN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Quatre paragraphes, quatre travaux</a:t>
            </a:r>
          </a:p>
        </p:txBody>
      </p:sp>
      <p:sp>
        <p:nvSpPr>
          <p:cNvPr id="7" name="Rounded Rectangle 6"/>
          <p:cNvSpPr/>
          <p:nvPr/>
        </p:nvSpPr>
        <p:spPr>
          <a:xfrm>
            <a:off x="566928" y="1810512"/>
            <a:ext cx="11057839" cy="3099816"/>
          </a:xfrm>
          <a:prstGeom prst="roundRect">
            <a:avLst>
              <a:gd name="adj" fmla="val 471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LE PARAGRAPHE</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QU'IL CONTIENT</a:t>
            </a:r>
          </a:p>
        </p:txBody>
      </p:sp>
      <p:sp>
        <p:nvSpPr>
          <p:cNvPr id="10" name="TextBox 9"/>
          <p:cNvSpPr txBox="1"/>
          <p:nvPr/>
        </p:nvSpPr>
        <p:spPr>
          <a:xfrm>
            <a:off x="932688" y="2395728"/>
            <a:ext cx="3291492"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1</a:t>
            </a:r>
          </a:p>
        </p:txBody>
      </p:sp>
      <p:sp>
        <p:nvSpPr>
          <p:cNvPr id="11" name="TextBox 10"/>
          <p:cNvSpPr txBox="1"/>
          <p:nvPr/>
        </p:nvSpPr>
        <p:spPr>
          <a:xfrm>
            <a:off x="4443636" y="2395728"/>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tu réagis à ses nouvelles : félicitations, condoléances</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3291492"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2</a:t>
            </a:r>
          </a:p>
        </p:txBody>
      </p:sp>
      <p:sp>
        <p:nvSpPr>
          <p:cNvPr id="14" name="TextBox 13"/>
          <p:cNvSpPr txBox="1"/>
          <p:nvPr/>
        </p:nvSpPr>
        <p:spPr>
          <a:xfrm>
            <a:off x="4443636" y="2935224"/>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tu donnes les tiennes, avec une date ou une durée</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3291492" cy="640080"/>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3</a:t>
            </a:r>
          </a:p>
        </p:txBody>
      </p:sp>
      <p:sp>
        <p:nvSpPr>
          <p:cNvPr id="17" name="TextBox 16"/>
          <p:cNvSpPr txBox="1"/>
          <p:nvPr/>
        </p:nvSpPr>
        <p:spPr>
          <a:xfrm>
            <a:off x="4443636" y="3474720"/>
            <a:ext cx="6595914"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l'article : ce que c'est, pour qui, combien de temps, la source</a:t>
            </a:r>
          </a:p>
        </p:txBody>
      </p:sp>
      <p:sp>
        <p:nvSpPr>
          <p:cNvPr id="18" name="Rectangle 17"/>
          <p:cNvSpPr/>
          <p:nvPr/>
        </p:nvSpPr>
        <p:spPr>
          <a:xfrm>
            <a:off x="932688" y="418795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315968"/>
            <a:ext cx="3291492"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4</a:t>
            </a:r>
          </a:p>
        </p:txBody>
      </p:sp>
      <p:sp>
        <p:nvSpPr>
          <p:cNvPr id="20" name="TextBox 19"/>
          <p:cNvSpPr txBox="1"/>
          <p:nvPr/>
        </p:nvSpPr>
        <p:spPr>
          <a:xfrm>
            <a:off x="4443636" y="4315968"/>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ton avis, annoncé comme un avis, et ce qu'il peut faire</a:t>
            </a:r>
          </a:p>
        </p:txBody>
      </p:sp>
      <p:sp>
        <p:nvSpPr>
          <p:cNvPr id="21" name="Rounded Rectangle 20"/>
          <p:cNvSpPr/>
          <p:nvPr/>
        </p:nvSpPr>
        <p:spPr>
          <a:xfrm>
            <a:off x="566928" y="5148072"/>
            <a:ext cx="11057839" cy="843534"/>
          </a:xfrm>
          <a:prstGeom prst="roundRect">
            <a:avLst>
              <a:gd name="adj" fmla="val 17344"/>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69264" y="5404104"/>
            <a:ext cx="10234879" cy="38633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Objet de trois à six mots, formule d'appel, salutation, signature.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Reprendre le fil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GRILLE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 que le texte doit contenir</a:t>
            </a:r>
          </a:p>
        </p:txBody>
      </p:sp>
      <p:sp>
        <p:nvSpPr>
          <p:cNvPr id="7" name="Rounded Rectangle 6"/>
          <p:cNvSpPr/>
          <p:nvPr/>
        </p:nvSpPr>
        <p:spPr>
          <a:xfrm>
            <a:off x="566928" y="1810512"/>
            <a:ext cx="11057839" cy="3877056"/>
          </a:xfrm>
          <a:prstGeom prst="roundRect">
            <a:avLst>
              <a:gd name="adj" fmla="val 377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L'EXIGENCE</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UN EXEMPLE</a:t>
            </a:r>
          </a:p>
        </p:txBody>
      </p:sp>
      <p:sp>
        <p:nvSpPr>
          <p:cNvPr id="10" name="TextBox 9"/>
          <p:cNvSpPr txBox="1"/>
          <p:nvPr/>
        </p:nvSpPr>
        <p:spPr>
          <a:xfrm>
            <a:off x="932688" y="2395728"/>
            <a:ext cx="3291492"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Le mot juste</a:t>
            </a:r>
          </a:p>
        </p:txBody>
      </p:sp>
      <p:sp>
        <p:nvSpPr>
          <p:cNvPr id="11" name="TextBox 10"/>
          <p:cNvSpPr txBox="1"/>
          <p:nvPr/>
        </p:nvSpPr>
        <p:spPr>
          <a:xfrm>
            <a:off x="4443636" y="2395728"/>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toutes mes condoléances, bon rétablissement</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3291492"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Un plus-que-parfait</a:t>
            </a:r>
          </a:p>
        </p:txBody>
      </p:sp>
      <p:sp>
        <p:nvSpPr>
          <p:cNvPr id="14" name="TextBox 13"/>
          <p:cNvSpPr txBox="1"/>
          <p:nvPr/>
        </p:nvSpPr>
        <p:spPr>
          <a:xfrm>
            <a:off x="4443636" y="2935224"/>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quand tu m'as écrit, j'avais déjà changé d'horaire</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3291492"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Une reprise</a:t>
            </a:r>
          </a:p>
        </p:txBody>
      </p:sp>
      <p:sp>
        <p:nvSpPr>
          <p:cNvPr id="17" name="TextBox 16"/>
          <p:cNvSpPr txBox="1"/>
          <p:nvPr/>
        </p:nvSpPr>
        <p:spPr>
          <a:xfrm>
            <a:off x="4443636" y="3474720"/>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ce programme, je le trouve utile ; j'en ai parlé</a:t>
            </a:r>
          </a:p>
        </p:txBody>
      </p:sp>
      <p:sp>
        <p:nvSpPr>
          <p:cNvPr id="18" name="Rectangle 17"/>
          <p:cNvSpPr/>
          <p:nvPr/>
        </p:nvSpPr>
        <p:spPr>
          <a:xfrm>
            <a:off x="932688" y="388620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014215"/>
            <a:ext cx="3291492"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Deux connecteurs</a:t>
            </a:r>
          </a:p>
        </p:txBody>
      </p:sp>
      <p:sp>
        <p:nvSpPr>
          <p:cNvPr id="20" name="TextBox 19"/>
          <p:cNvSpPr txBox="1"/>
          <p:nvPr/>
        </p:nvSpPr>
        <p:spPr>
          <a:xfrm>
            <a:off x="4443636" y="4014215"/>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pourtant, d'ailleurs, c'est pourquoi</a:t>
            </a:r>
          </a:p>
        </p:txBody>
      </p:sp>
      <p:sp>
        <p:nvSpPr>
          <p:cNvPr id="21" name="Rectangle 20"/>
          <p:cNvSpPr/>
          <p:nvPr/>
        </p:nvSpPr>
        <p:spPr>
          <a:xfrm>
            <a:off x="932688" y="442569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32688" y="4553712"/>
            <a:ext cx="3291492"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Une relative avec où</a:t>
            </a:r>
          </a:p>
        </p:txBody>
      </p:sp>
      <p:sp>
        <p:nvSpPr>
          <p:cNvPr id="23" name="TextBox 22"/>
          <p:cNvSpPr txBox="1"/>
          <p:nvPr/>
        </p:nvSpPr>
        <p:spPr>
          <a:xfrm>
            <a:off x="4443636" y="4553712"/>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l'année où je suis arrivée à Saint-Hyacinthe</a:t>
            </a:r>
          </a:p>
        </p:txBody>
      </p:sp>
      <p:sp>
        <p:nvSpPr>
          <p:cNvPr id="24" name="Rectangle 23"/>
          <p:cNvSpPr/>
          <p:nvPr/>
        </p:nvSpPr>
        <p:spPr>
          <a:xfrm>
            <a:off x="932688" y="496519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32688" y="5093207"/>
            <a:ext cx="3291492"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Un avis annoncé</a:t>
            </a:r>
          </a:p>
        </p:txBody>
      </p:sp>
      <p:sp>
        <p:nvSpPr>
          <p:cNvPr id="26" name="TextBox 25"/>
          <p:cNvSpPr txBox="1"/>
          <p:nvPr/>
        </p:nvSpPr>
        <p:spPr>
          <a:xfrm>
            <a:off x="4443636" y="5093207"/>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à mon avis, ça conviendrait bien à Kadiatou</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Reprendre le fil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INFORMATION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Il y a un super programme, tu devrais t'inscrire</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L'organisme jumelle des familles pour six mois. À mon avis, c'est utile</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La première phrase n'est qu'un avis : celui qui la lit ne sait toujours pas ce qu'est le programme. La seconde donne le fait, puis l'avis, et les sépare. C'est la différence entre informer quelqu'un et le convaincre.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Reprendre le fil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VOCABULAIRE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seize mots du module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Reformez les quatre familles, puis employez un mot de chacune.</a:t>
            </a:r>
          </a:p>
        </p:txBody>
      </p:sp>
      <p:sp>
        <p:nvSpPr>
          <p:cNvPr id="8" name="Rounded Rectangle 7"/>
          <p:cNvSpPr/>
          <p:nvPr/>
        </p:nvSpPr>
        <p:spPr>
          <a:xfrm>
            <a:off x="566928" y="2139696"/>
            <a:ext cx="11057839" cy="630936"/>
          </a:xfrm>
          <a:prstGeom prst="roundRect">
            <a:avLst>
              <a:gd name="adj" fmla="val 2318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7228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36291"/>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1" name="TextBox 10"/>
          <p:cNvSpPr txBox="1"/>
          <p:nvPr/>
        </p:nvSpPr>
        <p:spPr>
          <a:xfrm>
            <a:off x="1344168" y="2295144"/>
            <a:ext cx="10097719" cy="356615"/>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Les évènements</a:t>
            </a:r>
          </a:p>
        </p:txBody>
      </p:sp>
      <p:sp>
        <p:nvSpPr>
          <p:cNvPr id="12" name="Rounded Rectangle 11"/>
          <p:cNvSpPr/>
          <p:nvPr/>
        </p:nvSpPr>
        <p:spPr>
          <a:xfrm>
            <a:off x="566928" y="2898648"/>
            <a:ext cx="11057839" cy="950976"/>
          </a:xfrm>
          <a:prstGeom prst="roundRect">
            <a:avLst>
              <a:gd name="adj" fmla="val 1538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191256"/>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255263"/>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5" name="TextBox 14"/>
          <p:cNvSpPr txBox="1"/>
          <p:nvPr/>
        </p:nvSpPr>
        <p:spPr>
          <a:xfrm>
            <a:off x="1344168" y="3054096"/>
            <a:ext cx="10097719" cy="676656"/>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Ce que le courriel raconte</a:t>
            </a:r>
          </a:p>
        </p:txBody>
      </p:sp>
      <p:sp>
        <p:nvSpPr>
          <p:cNvPr id="16" name="Rounded Rectangle 15"/>
          <p:cNvSpPr/>
          <p:nvPr/>
        </p:nvSpPr>
        <p:spPr>
          <a:xfrm>
            <a:off x="566928" y="3977639"/>
            <a:ext cx="11057839" cy="950976"/>
          </a:xfrm>
          <a:prstGeom prst="roundRect">
            <a:avLst>
              <a:gd name="adj" fmla="val 1538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4270248"/>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4334256"/>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9" name="TextBox 18"/>
          <p:cNvSpPr txBox="1"/>
          <p:nvPr/>
        </p:nvSpPr>
        <p:spPr>
          <a:xfrm>
            <a:off x="1344168" y="4133087"/>
            <a:ext cx="10097719" cy="676656"/>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Décrire une personne</a:t>
            </a:r>
          </a:p>
        </p:txBody>
      </p:sp>
      <p:sp>
        <p:nvSpPr>
          <p:cNvPr id="20" name="Rounded Rectangle 19"/>
          <p:cNvSpPr/>
          <p:nvPr/>
        </p:nvSpPr>
        <p:spPr>
          <a:xfrm>
            <a:off x="566928" y="5056632"/>
            <a:ext cx="11057839" cy="950976"/>
          </a:xfrm>
          <a:prstGeom prst="roundRect">
            <a:avLst>
              <a:gd name="adj" fmla="val 1538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5349240"/>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5413248"/>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3" name="TextBox 22"/>
          <p:cNvSpPr txBox="1"/>
          <p:nvPr/>
        </p:nvSpPr>
        <p:spPr>
          <a:xfrm>
            <a:off x="1344168" y="5212080"/>
            <a:ext cx="10097719" cy="676656"/>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Le quartier et son journal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Reprendre le fil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seize mots du module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30936"/>
          </a:xfrm>
          <a:prstGeom prst="roundRect">
            <a:avLst>
              <a:gd name="adj" fmla="val 2318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7228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36291"/>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1" name="TextBox 10"/>
          <p:cNvSpPr txBox="1"/>
          <p:nvPr/>
        </p:nvSpPr>
        <p:spPr>
          <a:xfrm>
            <a:off x="1344168" y="2295144"/>
            <a:ext cx="10097719" cy="356615"/>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Les évènements   </a:t>
            </a:r>
            <a:r>
              <a:rPr sz="1800" b="1" i="0">
                <a:solidFill>
                  <a:srgbClr val="07734A"/>
                </a:solidFill>
                <a:latin typeface="Verdana"/>
              </a:rPr>
              <a:t>» une naissance, un déménagement, des funérailles, un faire-part</a:t>
            </a:r>
          </a:p>
        </p:txBody>
      </p:sp>
      <p:sp>
        <p:nvSpPr>
          <p:cNvPr id="12" name="Rounded Rectangle 11"/>
          <p:cNvSpPr/>
          <p:nvPr/>
        </p:nvSpPr>
        <p:spPr>
          <a:xfrm>
            <a:off x="566928" y="2898648"/>
            <a:ext cx="11057839" cy="950976"/>
          </a:xfrm>
          <a:prstGeom prst="roundRect">
            <a:avLst>
              <a:gd name="adj" fmla="val 1538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191256"/>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255263"/>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5" name="TextBox 14"/>
          <p:cNvSpPr txBox="1"/>
          <p:nvPr/>
        </p:nvSpPr>
        <p:spPr>
          <a:xfrm>
            <a:off x="1344168" y="3054096"/>
            <a:ext cx="10097719" cy="676656"/>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Ce que le courriel raconte   </a:t>
            </a:r>
            <a:r>
              <a:rPr sz="1800" b="1" i="0">
                <a:solidFill>
                  <a:srgbClr val="07734A"/>
                </a:solidFill>
                <a:latin typeface="Verdana"/>
              </a:rPr>
              <a:t>» un accident de travail, une réadaptation, des retrouvailles, un imprévu</a:t>
            </a:r>
          </a:p>
        </p:txBody>
      </p:sp>
      <p:sp>
        <p:nvSpPr>
          <p:cNvPr id="16" name="Rounded Rectangle 15"/>
          <p:cNvSpPr/>
          <p:nvPr/>
        </p:nvSpPr>
        <p:spPr>
          <a:xfrm>
            <a:off x="566928" y="3977639"/>
            <a:ext cx="11057839" cy="950976"/>
          </a:xfrm>
          <a:prstGeom prst="roundRect">
            <a:avLst>
              <a:gd name="adj" fmla="val 1538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4270248"/>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4334256"/>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9" name="TextBox 18"/>
          <p:cNvSpPr txBox="1"/>
          <p:nvPr/>
        </p:nvSpPr>
        <p:spPr>
          <a:xfrm>
            <a:off x="1344168" y="4133087"/>
            <a:ext cx="10097719" cy="676656"/>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Décrire une personne   </a:t>
            </a:r>
            <a:r>
              <a:rPr sz="1800" b="1" i="0">
                <a:solidFill>
                  <a:srgbClr val="07734A"/>
                </a:solidFill>
                <a:latin typeface="Verdana"/>
              </a:rPr>
              <a:t>» une silhouette, un visage allongé, des cheveux ondulés, un signe particulier</a:t>
            </a:r>
          </a:p>
        </p:txBody>
      </p:sp>
      <p:sp>
        <p:nvSpPr>
          <p:cNvPr id="20" name="Rounded Rectangle 19"/>
          <p:cNvSpPr/>
          <p:nvPr/>
        </p:nvSpPr>
        <p:spPr>
          <a:xfrm>
            <a:off x="566928" y="5056632"/>
            <a:ext cx="11057839" cy="950976"/>
          </a:xfrm>
          <a:prstGeom prst="roundRect">
            <a:avLst>
              <a:gd name="adj" fmla="val 1538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5349240"/>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5413248"/>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3" name="TextBox 22"/>
          <p:cNvSpPr txBox="1"/>
          <p:nvPr/>
        </p:nvSpPr>
        <p:spPr>
          <a:xfrm>
            <a:off x="1344168" y="5212080"/>
            <a:ext cx="10097719" cy="676656"/>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Le quartier et son journal   </a:t>
            </a:r>
            <a:r>
              <a:rPr sz="1800" b="1" i="0">
                <a:solidFill>
                  <a:srgbClr val="07734A"/>
                </a:solidFill>
                <a:latin typeface="Verdana"/>
              </a:rPr>
              <a:t>» un jumelage, un organisme communautaire, un bénévole, une coordonnatrice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Reprendre le fil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GARDE TON AVIS POUR UN PARAGRAPHE À PART</a:t>
            </a:r>
          </a:p>
        </p:txBody>
      </p:sp>
      <p:sp>
        <p:nvSpPr>
          <p:cNvPr id="6" name="Rounded Rectangle 5"/>
          <p:cNvSpPr/>
          <p:nvPr/>
        </p:nvSpPr>
        <p:spPr>
          <a:xfrm>
            <a:off x="566928" y="1225296"/>
            <a:ext cx="11057839" cy="1967991"/>
          </a:xfrm>
          <a:prstGeom prst="roundRect">
            <a:avLst>
              <a:gd name="adj" fmla="val 7434"/>
            </a:avLst>
          </a:prstGeom>
          <a:solidFill>
            <a:srgbClr val="FCE9F0"/>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Un courriel qui mêle le fait et l'opinion n'informe personne.</a:t>
            </a:r>
          </a:p>
        </p:txBody>
      </p:sp>
      <p:sp>
        <p:nvSpPr>
          <p:cNvPr id="8" name="Rounded Rectangle 7"/>
          <p:cNvSpPr/>
          <p:nvPr/>
        </p:nvSpPr>
        <p:spPr>
          <a:xfrm>
            <a:off x="566928" y="3467607"/>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Ousmane n'a pas lu l'article. Tout ce qu'il en saura vient de toi. Sépare : voici ce que le journal écrit, voici ce que j'en pense. Il pourra alors se faire sa propre idée — et c'est ça, informer quelqu'un.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Reprendre le fil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Qu'est-ce que tu sais faire maintenant que tu ne savais pas faire ?</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Une ou deux phrases.</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Regarde la liste d'autoévaluation du module avant de répondre.</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Reprendre le fil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