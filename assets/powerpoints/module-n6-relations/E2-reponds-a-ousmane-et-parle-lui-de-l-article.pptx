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module. Ressortir les billets de A3 — l'objet écrit en début de module — et de D2 — la première phrase. Chacun commence son courriel avec ce qu'il a déjà.</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objectifs sont les quatre exigences majeures de la grille. Les lire à voix haute avant que le groupe commence à écrire.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de notes en vrac, sans phrases. Passer voir : ceux qui écrivent des phrases dès la préparation finissent par un texte plat.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plan de D2, appliqué au courriel complet. Les élèves l'ont déjà dans leur cahier.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Six rangées, pas de note : c'est la densité maximale. La grille complète, à dix exigences, est dans le module à l'écran.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piège le plus fréquent de cette production. Le montrer avant l'écriture, pas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Révision avant l'écriture. Les élèves ont aussi les cartes mémoire dans la section « Je retiens des mots » du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Dernière règle du module, et la plus transférable : elle vaut pour tout ce qu'on rapporte à quelqu'un.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cette fois, pas deux. Ce billet ferme le module : le ramasser et le remettre à chacun à la première séance du module suivant.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SÉANCE E2  ·  MODULE 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Réponds à Ousmane, et parle-lui de l'article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seul courriel, deux travaux : donner des nouvelles, et informer quelqu'un du contenu d'un article. Ce sont les deux intentions du programme.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Reprendre le fil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1113536"/>
          </a:xfrm>
          <a:prstGeom prst="roundRect">
            <a:avLst>
              <a:gd name="adj" fmla="val 1313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2120392"/>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202688"/>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0" name="TextBox 9"/>
          <p:cNvSpPr txBox="1"/>
          <p:nvPr/>
        </p:nvSpPr>
        <p:spPr>
          <a:xfrm>
            <a:off x="1408176" y="1965960"/>
            <a:ext cx="9549079" cy="7477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courriel de dix à quatorze phrases en trois ou quatre paragraphes ;</a:t>
            </a:r>
          </a:p>
        </p:txBody>
      </p:sp>
      <p:sp>
        <p:nvSpPr>
          <p:cNvPr id="11" name="Rounded Rectangle 10"/>
          <p:cNvSpPr/>
          <p:nvPr/>
        </p:nvSpPr>
        <p:spPr>
          <a:xfrm>
            <a:off x="566928" y="3006343"/>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3184144"/>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3266439"/>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4" name="TextBox 13"/>
          <p:cNvSpPr txBox="1"/>
          <p:nvPr/>
        </p:nvSpPr>
        <p:spPr>
          <a:xfrm>
            <a:off x="1408176" y="32075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réagir à une bonne nouvelle et à une triste, chacune avec le mot juste ;</a:t>
            </a:r>
          </a:p>
        </p:txBody>
      </p:sp>
      <p:sp>
        <p:nvSpPr>
          <p:cNvPr id="15" name="Rounded Rectangle 14"/>
          <p:cNvSpPr/>
          <p:nvPr/>
        </p:nvSpPr>
        <p:spPr>
          <a:xfrm>
            <a:off x="566928" y="3892295"/>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4070095"/>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4152391"/>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8" name="TextBox 17"/>
          <p:cNvSpPr txBox="1"/>
          <p:nvPr/>
        </p:nvSpPr>
        <p:spPr>
          <a:xfrm>
            <a:off x="1408176" y="4093463"/>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résumer un article en citant sa source ;</a:t>
            </a:r>
          </a:p>
        </p:txBody>
      </p:sp>
      <p:sp>
        <p:nvSpPr>
          <p:cNvPr id="19" name="Rounded Rectangle 18"/>
          <p:cNvSpPr/>
          <p:nvPr/>
        </p:nvSpPr>
        <p:spPr>
          <a:xfrm>
            <a:off x="566928" y="47782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956048"/>
            <a:ext cx="402336" cy="402336"/>
          </a:xfrm>
          <a:prstGeom prst="roundRect">
            <a:avLst>
              <a:gd name="adj" fmla="val 31818"/>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5038344"/>
            <a:ext cx="402336" cy="274320"/>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2" name="TextBox 21"/>
          <p:cNvSpPr txBox="1"/>
          <p:nvPr/>
        </p:nvSpPr>
        <p:spPr>
          <a:xfrm>
            <a:off x="1408176" y="4979415"/>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annoncer son avis comme un avis, dans un paragraphe à part.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PRÉPARATION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Qu'est-ce que tu as à raconter, toi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 évènement de ton côté, avec une date ou une durée.</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Quelque chose qui était déjà arrivé avant le reste.</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que tu penses du programme de jumelage.</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A533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Note trois idées avant d'écrire une seule phrase.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paragraphes, quatre travaux</a:t>
            </a:r>
          </a:p>
        </p:txBody>
      </p:sp>
      <p:sp>
        <p:nvSpPr>
          <p:cNvPr id="7" name="Rounded Rectangle 6"/>
          <p:cNvSpPr/>
          <p:nvPr/>
        </p:nvSpPr>
        <p:spPr>
          <a:xfrm>
            <a:off x="566928" y="1810512"/>
            <a:ext cx="11057839" cy="3099816"/>
          </a:xfrm>
          <a:prstGeom prst="roundRect">
            <a:avLst>
              <a:gd name="adj" fmla="val 471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PARAGRAPHE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CONTIENT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1</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réagis à ses nouvelles : félicitations, condoléances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2</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donnes les tiennes, avec une date ou une durée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3</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l'article : ce que c'est, pour qui, combien de temps, la source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4</a:t>
            </a:r>
          </a:p>
        </p:txBody>
      </p:sp>
      <p:sp>
        <p:nvSpPr>
          <p:cNvPr id="20" name="TextBox 19"/>
          <p:cNvSpPr txBox="1"/>
          <p:nvPr/>
        </p:nvSpPr>
        <p:spPr>
          <a:xfrm>
            <a:off x="4443636" y="431596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ton avis, annoncé comme un avis, et ce qu'il peut faire</a:t>
            </a:r>
          </a:p>
        </p:txBody>
      </p:sp>
      <p:sp>
        <p:nvSpPr>
          <p:cNvPr id="21" name="Rounded Rectangle 20"/>
          <p:cNvSpPr/>
          <p:nvPr/>
        </p:nvSpPr>
        <p:spPr>
          <a:xfrm>
            <a:off x="566928" y="5148072"/>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404104"/>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Objet de trois à six mots, formule d'appel, salutation, signature.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GRILLE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le texte doit contenir</a:t>
            </a:r>
          </a:p>
        </p:txBody>
      </p:sp>
      <p:sp>
        <p:nvSpPr>
          <p:cNvPr id="7" name="Rounded Rectangle 6"/>
          <p:cNvSpPr/>
          <p:nvPr/>
        </p:nvSpPr>
        <p:spPr>
          <a:xfrm>
            <a:off x="566928" y="1810512"/>
            <a:ext cx="11057839" cy="3877056"/>
          </a:xfrm>
          <a:prstGeom prst="roundRect">
            <a:avLst>
              <a:gd name="adj" fmla="val 377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L'EXIGENCE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UN EXEMPLE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Le mot juste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toutes mes condoléances, bon rétablissement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 plus-que-parfait</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quand tu m'as écrit, j'avais déjà changé d'horaire</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reprise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programme, je le trouve utile ; j'en ai parlé</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Deux connecteurs</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pourtant, d'ailleurs, c'est pourquoi</a:t>
            </a:r>
          </a:p>
        </p:txBody>
      </p:sp>
      <p:sp>
        <p:nvSpPr>
          <p:cNvPr id="21" name="Rectangle 20"/>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553712"/>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Une relative avec où</a:t>
            </a:r>
          </a:p>
        </p:txBody>
      </p:sp>
      <p:sp>
        <p:nvSpPr>
          <p:cNvPr id="23" name="TextBox 22"/>
          <p:cNvSpPr txBox="1"/>
          <p:nvPr/>
        </p:nvSpPr>
        <p:spPr>
          <a:xfrm>
            <a:off x="4443636" y="4553712"/>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l'année où je suis arrivée à Saint-Hyacinthe</a:t>
            </a:r>
          </a:p>
        </p:txBody>
      </p:sp>
      <p:sp>
        <p:nvSpPr>
          <p:cNvPr id="24" name="Rectangle 23"/>
          <p:cNvSpPr/>
          <p:nvPr/>
        </p:nvSpPr>
        <p:spPr>
          <a:xfrm>
            <a:off x="932688" y="49651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32688" y="5093207"/>
            <a:ext cx="3291492" cy="338328"/>
          </a:xfrm>
          <a:prstGeom prst="rect">
            <a:avLst/>
          </a:prstGeom>
          <a:noFill/>
        </p:spPr>
        <p:txBody>
          <a:bodyPr wrap="square" lIns="0" rIns="0" tIns="0" bIns="0" anchor="t">
            <a:spAutoFit/>
          </a:bodyPr>
          <a:lstStyle/>
          <a:p>
            <a:pPr algn="l">
              <a:lnSpc>
                <a:spcPct val="132000"/>
              </a:lnSpc>
            </a:pPr>
            <a:r>
              <a:rPr sz="1800" b="1" i="0">
                <a:solidFill>
                  <a:srgbClr val="A5335F"/>
                </a:solidFill>
                <a:latin typeface="Verdana"/>
              </a:rPr>
              <a:t>Un avis annoncé</a:t>
            </a:r>
          </a:p>
        </p:txBody>
      </p:sp>
      <p:sp>
        <p:nvSpPr>
          <p:cNvPr id="26" name="TextBox 25"/>
          <p:cNvSpPr txBox="1"/>
          <p:nvPr/>
        </p:nvSpPr>
        <p:spPr>
          <a:xfrm>
            <a:off x="4443636" y="5093207"/>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mon avis, ça conviendrait bien à Kadiatou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INFORMATION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Il y a un super programme, tu devrais t'inscrire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L'organisme jumelle des familles pour six mois. À mon avis, c'est utile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La première phrase n'est qu'un avis : celui qui la lit ne sait toujours pas ce qu'est le programme. La seconde donne le fait, puis l'avis, et les sépare. C'est la différence entre informer quelqu'un et le convaincre.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VOCABULAIRE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seize mots du module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Reformez les quatre familles, puis employez un mot de chacune.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Les évènements</a:t>
            </a:r>
          </a:p>
        </p:txBody>
      </p:sp>
      <p:sp>
        <p:nvSpPr>
          <p:cNvPr id="12" name="Rounded Rectangle 11"/>
          <p:cNvSpPr/>
          <p:nvPr/>
        </p:nvSpPr>
        <p:spPr>
          <a:xfrm>
            <a:off x="566928" y="289864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 que le courriel raconte</a:t>
            </a:r>
          </a:p>
        </p:txBody>
      </p:sp>
      <p:sp>
        <p:nvSpPr>
          <p:cNvPr id="16" name="Rounded Rectangle 15"/>
          <p:cNvSpPr/>
          <p:nvPr/>
        </p:nvSpPr>
        <p:spPr>
          <a:xfrm>
            <a:off x="566928" y="3977639"/>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Décrire une personne</a:t>
            </a:r>
          </a:p>
        </p:txBody>
      </p:sp>
      <p:sp>
        <p:nvSpPr>
          <p:cNvPr id="20" name="Rounded Rectangle 19"/>
          <p:cNvSpPr/>
          <p:nvPr/>
        </p:nvSpPr>
        <p:spPr>
          <a:xfrm>
            <a:off x="566928" y="505663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quartier et son journal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seize mots du module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Les évènements   </a:t>
            </a:r>
            <a:r>
              <a:rPr sz="1800" b="1" i="0">
                <a:solidFill>
                  <a:srgbClr val="07734A"/>
                </a:solidFill>
                <a:latin typeface="Verdana"/>
              </a:rPr>
              <a:t>» une naissance, un déménagement, des funérailles, un faire-part</a:t>
            </a:r>
          </a:p>
        </p:txBody>
      </p:sp>
      <p:sp>
        <p:nvSpPr>
          <p:cNvPr id="12" name="Rounded Rectangle 11"/>
          <p:cNvSpPr/>
          <p:nvPr/>
        </p:nvSpPr>
        <p:spPr>
          <a:xfrm>
            <a:off x="566928" y="289864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Ce que le courriel raconte   </a:t>
            </a:r>
            <a:r>
              <a:rPr sz="1800" b="1" i="0">
                <a:solidFill>
                  <a:srgbClr val="07734A"/>
                </a:solidFill>
                <a:latin typeface="Verdana"/>
              </a:rPr>
              <a:t>» un accident de travail, une réadaptation, des retrouvailles, un imprévu</a:t>
            </a:r>
          </a:p>
        </p:txBody>
      </p:sp>
      <p:sp>
        <p:nvSpPr>
          <p:cNvPr id="16" name="Rounded Rectangle 15"/>
          <p:cNvSpPr/>
          <p:nvPr/>
        </p:nvSpPr>
        <p:spPr>
          <a:xfrm>
            <a:off x="566928" y="3977639"/>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270248"/>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34256"/>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3</a:t>
            </a:r>
          </a:p>
        </p:txBody>
      </p:sp>
      <p:sp>
        <p:nvSpPr>
          <p:cNvPr id="19" name="TextBox 18"/>
          <p:cNvSpPr txBox="1"/>
          <p:nvPr/>
        </p:nvSpPr>
        <p:spPr>
          <a:xfrm>
            <a:off x="1344168" y="4133087"/>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Décrire une personne   </a:t>
            </a:r>
            <a:r>
              <a:rPr sz="1800" b="1" i="0">
                <a:solidFill>
                  <a:srgbClr val="07734A"/>
                </a:solidFill>
                <a:latin typeface="Verdana"/>
              </a:rPr>
              <a:t>» une silhouette, un visage allongé, des cheveux ondulés, un signe particulier</a:t>
            </a:r>
          </a:p>
        </p:txBody>
      </p:sp>
      <p:sp>
        <p:nvSpPr>
          <p:cNvPr id="20" name="Rounded Rectangle 19"/>
          <p:cNvSpPr/>
          <p:nvPr/>
        </p:nvSpPr>
        <p:spPr>
          <a:xfrm>
            <a:off x="566928" y="505663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349240"/>
            <a:ext cx="365760" cy="365760"/>
          </a:xfrm>
          <a:prstGeom prst="roundRect">
            <a:avLst>
              <a:gd name="adj" fmla="val 32500"/>
            </a:avLst>
          </a:prstGeom>
          <a:solidFill>
            <a:srgbClr val="FCE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413248"/>
            <a:ext cx="365760" cy="256032"/>
          </a:xfrm>
          <a:prstGeom prst="rect">
            <a:avLst/>
          </a:prstGeom>
          <a:noFill/>
        </p:spPr>
        <p:txBody>
          <a:bodyPr wrap="square" lIns="0" rIns="0" tIns="0" bIns="0" anchor="t">
            <a:spAutoFit/>
          </a:bodyPr>
          <a:lstStyle/>
          <a:p>
            <a:pPr algn="ctr">
              <a:lnSpc>
                <a:spcPct val="135000"/>
              </a:lnSpc>
            </a:pPr>
            <a:r>
              <a:rPr sz="1500" b="1" i="0">
                <a:solidFill>
                  <a:srgbClr val="A5335F"/>
                </a:solidFill>
                <a:latin typeface="Verdana"/>
              </a:rPr>
              <a:t>4</a:t>
            </a:r>
          </a:p>
        </p:txBody>
      </p:sp>
      <p:sp>
        <p:nvSpPr>
          <p:cNvPr id="23" name="TextBox 22"/>
          <p:cNvSpPr txBox="1"/>
          <p:nvPr/>
        </p:nvSpPr>
        <p:spPr>
          <a:xfrm>
            <a:off x="1344168" y="521208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Le quartier et son journal   </a:t>
            </a:r>
            <a:r>
              <a:rPr sz="1800" b="1" i="0">
                <a:solidFill>
                  <a:srgbClr val="07734A"/>
                </a:solidFill>
                <a:latin typeface="Verdana"/>
              </a:rPr>
              <a:t>» un jumelage, un organisme communautaire, un bénévole, une coordonnatrice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A5335F"/>
                </a:solidFill>
                <a:latin typeface="Verdana"/>
              </a:rPr>
              <a:t>GARDE TON AVIS POUR UN PARAGRAPHE À PART</a:t>
            </a:r>
          </a:p>
        </p:txBody>
      </p:sp>
      <p:sp>
        <p:nvSpPr>
          <p:cNvPr id="6" name="Rounded Rectangle 5"/>
          <p:cNvSpPr/>
          <p:nvPr/>
        </p:nvSpPr>
        <p:spPr>
          <a:xfrm>
            <a:off x="566928" y="1225296"/>
            <a:ext cx="11057839" cy="1967991"/>
          </a:xfrm>
          <a:prstGeom prst="roundRect">
            <a:avLst>
              <a:gd name="adj" fmla="val 7434"/>
            </a:avLst>
          </a:prstGeom>
          <a:solidFill>
            <a:srgbClr val="FCE9F0"/>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courriel qui mêle le fait et l'opinion n'informe personne.</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Ousmane n'a pas lu l'article. Tout ce qu'il en saura vient de toi. Sépare : voici ce que le journal écrit, voici ce que j'en pense. Il pourra alors se faire sa propre idée — et c'est ça, informer quelqu'un.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Qu'est-ce que tu sais faire maintenant que tu ne savais pas faire ?</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ou deux phrases.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Regarde la liste d'autoévaluation du module avant de répondre.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E2 · Reprendre le fil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