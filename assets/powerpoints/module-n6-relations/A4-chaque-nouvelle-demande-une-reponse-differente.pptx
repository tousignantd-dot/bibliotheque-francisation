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Dernière séance du bloc A. Elle est sociale plutôt que grammaticale : c'est ici que se joue le rapport aux gens, et les élèves y ont beaucoup à dire. Prévoir du temps de parole.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deuxième objectif est le plus difficile et le plus utile : il ne s'agit pas de politesse, mais de laisser l'autre continuer à parler.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délicate et très riche. Laisser venir, ne rien hiérarchiser. Retenir une ou deux formules d'autres langues et les écrire au tableau à côté de « toutes mes condoléances ».</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Faire répéter chaque réponse à voix haute : ces phrases doivent venir sans réflexion le jour où elles serviront.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Rassurer : une formule courte et juste vaut mieux qu'une longue phrase qu'on ne maîtrise pas.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jouer les quatre répliques à deux. La différence s'entend immédiatement, bien mieux qu'elle ne s'explique.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élèves referont l'exercice à l'écran ensuite. Ici, l'important est de le dire à voix haute : ces phrases se disent plus qu'elles ne s'écrivent.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Cet exercice existe à l'écran avec les photos ; ici il se fait de mémoire, ce qui oblige à formuler. Demander une phrase complète.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Deux minutes. Relire les billets avant B1 : ils montrent qui a compris la règle du bloc, et qui pose encore des questions sur l'évènement.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SÉANCE A4  ·  MODULE 4</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Chaque nouvelle demande une réponse différente</a:t>
            </a:r>
          </a:p>
        </p:txBody>
      </p:sp>
      <p:sp>
        <p:nvSpPr>
          <p:cNvPr id="5" name="Rounded Rectangle 4"/>
          <p:cNvSpPr/>
          <p:nvPr/>
        </p:nvSpPr>
        <p:spPr>
          <a:xfrm>
            <a:off x="566928" y="3794760"/>
            <a:ext cx="9960559" cy="1394968"/>
          </a:xfrm>
          <a:prstGeom prst="roundRect">
            <a:avLst>
              <a:gd name="adj" fmla="val 1048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7823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On ne répond pas à une naissance comme à un décès. Le mot juste existe pour chaque nouvelle, et il est court.</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Reprendre le fil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Reprendre le fil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féliciter, offrir ses condoléances, souhaiter un rétablissement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poser une question qui ouvre la conversation au lieu de la fermer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reconnaître les lieux et les objets de l'histoire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employer les quatre mots de « Je découvre » sans hésiter.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Reprendre le fil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OBSERVATION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2800" b="1" i="0">
                <a:solidFill>
                  <a:srgbClr val="17181A"/>
                </a:solidFill>
                <a:latin typeface="Verdana"/>
              </a:rPr>
              <a:t>Que dis-tu à quelqu'un qui vient de perdre un proche ?</a:t>
            </a:r>
          </a:p>
        </p:txBody>
      </p:sp>
      <p:sp>
        <p:nvSpPr>
          <p:cNvPr id="7" name="Rounded Rectangle 6"/>
          <p:cNvSpPr/>
          <p:nvPr/>
        </p:nvSpPr>
        <p:spPr>
          <a:xfrm>
            <a:off x="566928" y="1856232"/>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965960"/>
            <a:ext cx="50292" cy="484123"/>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50976" y="2039112"/>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 dit-on dans ta langue, exactement ?</a:t>
            </a:r>
          </a:p>
        </p:txBody>
      </p:sp>
      <p:sp>
        <p:nvSpPr>
          <p:cNvPr id="10" name="Rounded Rectangle 9"/>
          <p:cNvSpPr/>
          <p:nvPr/>
        </p:nvSpPr>
        <p:spPr>
          <a:xfrm>
            <a:off x="566928" y="2642108"/>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66928" y="2751836"/>
            <a:ext cx="50292" cy="484123"/>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50976" y="2824988"/>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Est-ce qu'on parle du décès, ou de la personne qui reste ?</a:t>
            </a:r>
          </a:p>
        </p:txBody>
      </p:sp>
      <p:sp>
        <p:nvSpPr>
          <p:cNvPr id="13" name="Rounded Rectangle 12"/>
          <p:cNvSpPr/>
          <p:nvPr/>
        </p:nvSpPr>
        <p:spPr>
          <a:xfrm>
            <a:off x="566928" y="3427984"/>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66928" y="3537712"/>
            <a:ext cx="50292" cy="484123"/>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50976" y="3610864"/>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Est-ce qu'on offre quelque chose : un plat, du temps, un silence ?</a:t>
            </a:r>
          </a:p>
        </p:txBody>
      </p:sp>
      <p:sp>
        <p:nvSpPr>
          <p:cNvPr id="16" name="Rounded Rectangle 15"/>
          <p:cNvSpPr/>
          <p:nvPr/>
        </p:nvSpPr>
        <p:spPr>
          <a:xfrm>
            <a:off x="566928" y="4213860"/>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66928" y="4323588"/>
            <a:ext cx="50292" cy="484123"/>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50976" y="4396740"/>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Qu'est-ce qui t'a semblé différent ici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Reprendre le fil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La nouvelle, et le mot juste</a:t>
            </a:r>
          </a:p>
        </p:txBody>
      </p:sp>
      <p:sp>
        <p:nvSpPr>
          <p:cNvPr id="7" name="Rounded Rectangle 6"/>
          <p:cNvSpPr/>
          <p:nvPr/>
        </p:nvSpPr>
        <p:spPr>
          <a:xfrm>
            <a:off x="566928" y="1810512"/>
            <a:ext cx="11057839" cy="3253740"/>
          </a:xfrm>
          <a:prstGeom prst="roundRect">
            <a:avLst>
              <a:gd name="adj" fmla="val 449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LA NOUVELLE</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QU'ON RÉPOND</a:t>
            </a:r>
          </a:p>
        </p:txBody>
      </p:sp>
      <p:sp>
        <p:nvSpPr>
          <p:cNvPr id="10" name="TextBox 9"/>
          <p:cNvSpPr txBox="1"/>
          <p:nvPr/>
        </p:nvSpPr>
        <p:spPr>
          <a:xfrm>
            <a:off x="932688" y="2395728"/>
            <a:ext cx="3291492" cy="321564"/>
          </a:xfrm>
          <a:prstGeom prst="rect">
            <a:avLst/>
          </a:prstGeom>
          <a:noFill/>
        </p:spPr>
        <p:txBody>
          <a:bodyPr wrap="square" lIns="0" rIns="0" tIns="0" bIns="0" anchor="t">
            <a:spAutoFit/>
          </a:bodyPr>
          <a:lstStyle/>
          <a:p>
            <a:pPr algn="l">
              <a:lnSpc>
                <a:spcPct val="132000"/>
              </a:lnSpc>
            </a:pPr>
            <a:r>
              <a:rPr sz="1700" b="1" i="0">
                <a:solidFill>
                  <a:srgbClr val="0D7A6F"/>
                </a:solidFill>
                <a:latin typeface="Verdana"/>
              </a:rPr>
              <a:t>Une naissance</a:t>
            </a:r>
          </a:p>
        </p:txBody>
      </p:sp>
      <p:sp>
        <p:nvSpPr>
          <p:cNvPr id="11" name="TextBox 10"/>
          <p:cNvSpPr txBox="1"/>
          <p:nvPr/>
        </p:nvSpPr>
        <p:spPr>
          <a:xfrm>
            <a:off x="4443636" y="2395728"/>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Félicitations à vous deux ! Comment va la maman ?</a:t>
            </a:r>
          </a:p>
        </p:txBody>
      </p:sp>
      <p:sp>
        <p:nvSpPr>
          <p:cNvPr id="12" name="Rectangle 11"/>
          <p:cNvSpPr/>
          <p:nvPr/>
        </p:nvSpPr>
        <p:spPr>
          <a:xfrm>
            <a:off x="932688" y="279044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18460"/>
            <a:ext cx="3291492" cy="321564"/>
          </a:xfrm>
          <a:prstGeom prst="rect">
            <a:avLst/>
          </a:prstGeom>
          <a:noFill/>
        </p:spPr>
        <p:txBody>
          <a:bodyPr wrap="square" lIns="0" rIns="0" tIns="0" bIns="0" anchor="t">
            <a:spAutoFit/>
          </a:bodyPr>
          <a:lstStyle/>
          <a:p>
            <a:pPr algn="l">
              <a:lnSpc>
                <a:spcPct val="132000"/>
              </a:lnSpc>
            </a:pPr>
            <a:r>
              <a:rPr sz="1700" b="1" i="0">
                <a:solidFill>
                  <a:srgbClr val="0D7A6F"/>
                </a:solidFill>
                <a:latin typeface="Verdana"/>
              </a:rPr>
              <a:t>Un mariage</a:t>
            </a:r>
          </a:p>
        </p:txBody>
      </p:sp>
      <p:sp>
        <p:nvSpPr>
          <p:cNvPr id="14" name="TextBox 13"/>
          <p:cNvSpPr txBox="1"/>
          <p:nvPr/>
        </p:nvSpPr>
        <p:spPr>
          <a:xfrm>
            <a:off x="4443636" y="2918460"/>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Quelle belle nouvelle ! Vous descendez pour l'occasion ?</a:t>
            </a:r>
          </a:p>
        </p:txBody>
      </p:sp>
      <p:sp>
        <p:nvSpPr>
          <p:cNvPr id="15" name="Rectangle 14"/>
          <p:cNvSpPr/>
          <p:nvPr/>
        </p:nvSpPr>
        <p:spPr>
          <a:xfrm>
            <a:off x="932688" y="331317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41192"/>
            <a:ext cx="3291492" cy="321564"/>
          </a:xfrm>
          <a:prstGeom prst="rect">
            <a:avLst/>
          </a:prstGeom>
          <a:noFill/>
        </p:spPr>
        <p:txBody>
          <a:bodyPr wrap="square" lIns="0" rIns="0" tIns="0" bIns="0" anchor="t">
            <a:spAutoFit/>
          </a:bodyPr>
          <a:lstStyle/>
          <a:p>
            <a:pPr algn="l">
              <a:lnSpc>
                <a:spcPct val="132000"/>
              </a:lnSpc>
            </a:pPr>
            <a:r>
              <a:rPr sz="1700" b="1" i="0">
                <a:solidFill>
                  <a:srgbClr val="0D7A6F"/>
                </a:solidFill>
                <a:latin typeface="Verdana"/>
              </a:rPr>
              <a:t>Un décès</a:t>
            </a:r>
          </a:p>
        </p:txBody>
      </p:sp>
      <p:sp>
        <p:nvSpPr>
          <p:cNvPr id="17" name="TextBox 16"/>
          <p:cNvSpPr txBox="1"/>
          <p:nvPr/>
        </p:nvSpPr>
        <p:spPr>
          <a:xfrm>
            <a:off x="4443636" y="3441192"/>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Toutes mes condoléances. Je pense à toi et à ta famille.</a:t>
            </a:r>
          </a:p>
        </p:txBody>
      </p:sp>
      <p:sp>
        <p:nvSpPr>
          <p:cNvPr id="18" name="Rectangle 17"/>
          <p:cNvSpPr/>
          <p:nvPr/>
        </p:nvSpPr>
        <p:spPr>
          <a:xfrm>
            <a:off x="932688" y="38359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3963924"/>
            <a:ext cx="3291492" cy="321564"/>
          </a:xfrm>
          <a:prstGeom prst="rect">
            <a:avLst/>
          </a:prstGeom>
          <a:noFill/>
        </p:spPr>
        <p:txBody>
          <a:bodyPr wrap="square" lIns="0" rIns="0" tIns="0" bIns="0" anchor="t">
            <a:spAutoFit/>
          </a:bodyPr>
          <a:lstStyle/>
          <a:p>
            <a:pPr algn="l">
              <a:lnSpc>
                <a:spcPct val="132000"/>
              </a:lnSpc>
            </a:pPr>
            <a:r>
              <a:rPr sz="1700" b="1" i="0">
                <a:solidFill>
                  <a:srgbClr val="0D7A6F"/>
                </a:solidFill>
                <a:latin typeface="Verdana"/>
              </a:rPr>
              <a:t>Un accident</a:t>
            </a:r>
          </a:p>
        </p:txBody>
      </p:sp>
      <p:sp>
        <p:nvSpPr>
          <p:cNvPr id="20" name="TextBox 19"/>
          <p:cNvSpPr txBox="1"/>
          <p:nvPr/>
        </p:nvSpPr>
        <p:spPr>
          <a:xfrm>
            <a:off x="4443636" y="3963924"/>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Bon rétablissement à lui. Est-ce qu'il remarche ?</a:t>
            </a:r>
          </a:p>
        </p:txBody>
      </p:sp>
      <p:sp>
        <p:nvSpPr>
          <p:cNvPr id="21" name="Rectangle 20"/>
          <p:cNvSpPr/>
          <p:nvPr/>
        </p:nvSpPr>
        <p:spPr>
          <a:xfrm>
            <a:off x="932688" y="435864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32688" y="4486656"/>
            <a:ext cx="3291492" cy="321564"/>
          </a:xfrm>
          <a:prstGeom prst="rect">
            <a:avLst/>
          </a:prstGeom>
          <a:noFill/>
        </p:spPr>
        <p:txBody>
          <a:bodyPr wrap="square" lIns="0" rIns="0" tIns="0" bIns="0" anchor="t">
            <a:spAutoFit/>
          </a:bodyPr>
          <a:lstStyle/>
          <a:p>
            <a:pPr algn="l">
              <a:lnSpc>
                <a:spcPct val="132000"/>
              </a:lnSpc>
            </a:pPr>
            <a:r>
              <a:rPr sz="1700" b="1" i="0">
                <a:solidFill>
                  <a:srgbClr val="0D7A6F"/>
                </a:solidFill>
                <a:latin typeface="Verdana"/>
              </a:rPr>
              <a:t>Un déménagement</a:t>
            </a:r>
          </a:p>
        </p:txBody>
      </p:sp>
      <p:sp>
        <p:nvSpPr>
          <p:cNvPr id="23" name="TextBox 22"/>
          <p:cNvSpPr txBox="1"/>
          <p:nvPr/>
        </p:nvSpPr>
        <p:spPr>
          <a:xfrm>
            <a:off x="4443636" y="4486656"/>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Et le nouveau quartier, vous vous y plaisez ?</a:t>
            </a:r>
          </a:p>
        </p:txBody>
      </p:sp>
      <p:sp>
        <p:nvSpPr>
          <p:cNvPr id="24" name="Rounded Rectangle 23"/>
          <p:cNvSpPr/>
          <p:nvPr/>
        </p:nvSpPr>
        <p:spPr>
          <a:xfrm>
            <a:off x="566928" y="5301996"/>
            <a:ext cx="11057839" cy="769874"/>
          </a:xfrm>
          <a:prstGeom prst="roundRect">
            <a:avLst>
              <a:gd name="adj" fmla="val 19003"/>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69264" y="5558028"/>
            <a:ext cx="10234879" cy="312674"/>
          </a:xfrm>
          <a:prstGeom prst="rect">
            <a:avLst/>
          </a:prstGeom>
          <a:noFill/>
        </p:spPr>
        <p:txBody>
          <a:bodyPr wrap="square" lIns="0" rIns="0" tIns="0" bIns="0" anchor="t">
            <a:spAutoFit/>
          </a:bodyPr>
          <a:lstStyle/>
          <a:p>
            <a:pPr algn="l">
              <a:lnSpc>
                <a:spcPct val="145000"/>
              </a:lnSpc>
            </a:pPr>
            <a:r>
              <a:rPr sz="1400" b="0" i="0">
                <a:solidFill>
                  <a:srgbClr val="4B4F52"/>
                </a:solidFill>
                <a:latin typeface="Verdana"/>
              </a:rPr>
              <a:t>Condoléances est toujours au pluriel, et toujours accompagné.</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Reprendre le fil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PARLER DE LA PERSONNE, JAMAIS DE L'ÉVÈNEMENT</a:t>
            </a:r>
          </a:p>
        </p:txBody>
      </p:sp>
      <p:sp>
        <p:nvSpPr>
          <p:cNvPr id="6" name="Rounded Rectangle 5"/>
          <p:cNvSpPr/>
          <p:nvPr/>
        </p:nvSpPr>
        <p:spPr>
          <a:xfrm>
            <a:off x="566928" y="1225296"/>
            <a:ext cx="11057839" cy="2494788"/>
          </a:xfrm>
          <a:prstGeom prst="roundRect">
            <a:avLst>
              <a:gd name="adj" fmla="val 5864"/>
            </a:avLst>
          </a:prstGeom>
          <a:solidFill>
            <a:srgbClr val="DCF2E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671828"/>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La cause d'un décès ne se demande pas. Si la personne veut la dire, elle la dira.</a:t>
            </a:r>
          </a:p>
        </p:txBody>
      </p:sp>
      <p:sp>
        <p:nvSpPr>
          <p:cNvPr id="8" name="Rounded Rectangle 7"/>
          <p:cNvSpPr/>
          <p:nvPr/>
        </p:nvSpPr>
        <p:spPr>
          <a:xfrm>
            <a:off x="566928" y="3994404"/>
            <a:ext cx="11057839" cy="2040128"/>
          </a:xfrm>
          <a:prstGeom prst="roundRect">
            <a:avLst>
              <a:gd name="adj" fmla="val 717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4268724"/>
            <a:ext cx="10234879" cy="1582928"/>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Devant un accident, on demande comment va le blessé, pas comment c'est arrivé ni qui est responsable. Devant un décès, on nomme celui qui reste. C'est la règle la plus sûre dans une langue qu'on apprend : elle évite toutes les maladresses d'un coup.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Reprendre le fil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COMPARER</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qui ouvre, ce qui referme</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656843"/>
          </a:xfrm>
          <a:prstGeom prst="rect">
            <a:avLst/>
          </a:prstGeom>
          <a:noFill/>
        </p:spPr>
        <p:txBody>
          <a:bodyPr wrap="square" lIns="0" rIns="0" tIns="0" bIns="0" anchor="t">
            <a:spAutoFit/>
          </a:bodyPr>
          <a:lstStyle/>
          <a:p>
            <a:pPr algn="l">
              <a:lnSpc>
                <a:spcPct val="118000"/>
              </a:lnSpc>
            </a:pPr>
            <a:r>
              <a:rPr sz="2100" b="1" i="0">
                <a:solidFill>
                  <a:srgbClr val="0D7A6F"/>
                </a:solidFill>
                <a:latin typeface="Verdana"/>
              </a:rPr>
              <a:t>Nous aussi, on a déménagé l'an passé.</a:t>
            </a:r>
          </a:p>
        </p:txBody>
      </p:sp>
      <p:sp>
        <p:nvSpPr>
          <p:cNvPr id="9" name="TextBox 8"/>
          <p:cNvSpPr txBox="1"/>
          <p:nvPr/>
        </p:nvSpPr>
        <p:spPr>
          <a:xfrm>
            <a:off x="886968" y="2769108"/>
            <a:ext cx="4806543" cy="819912"/>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Referme. La conversation revient vers celui qui parle, et l'autre cesse de raconter.</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656843"/>
          </a:xfrm>
          <a:prstGeom prst="rect">
            <a:avLst/>
          </a:prstGeom>
          <a:noFill/>
        </p:spPr>
        <p:txBody>
          <a:bodyPr wrap="square" lIns="0" rIns="0" tIns="0" bIns="0" anchor="t">
            <a:spAutoFit/>
          </a:bodyPr>
          <a:lstStyle/>
          <a:p>
            <a:pPr algn="l">
              <a:lnSpc>
                <a:spcPct val="118000"/>
              </a:lnSpc>
            </a:pPr>
            <a:r>
              <a:rPr sz="2100" b="1" i="0">
                <a:solidFill>
                  <a:srgbClr val="0D7A6F"/>
                </a:solidFill>
                <a:latin typeface="Verdana"/>
              </a:rPr>
              <a:t>Et le nouveau quartier, vous vous y plaisez ?</a:t>
            </a:r>
          </a:p>
        </p:txBody>
      </p:sp>
      <p:sp>
        <p:nvSpPr>
          <p:cNvPr id="12" name="TextBox 11"/>
          <p:cNvSpPr txBox="1"/>
          <p:nvPr/>
        </p:nvSpPr>
        <p:spPr>
          <a:xfrm>
            <a:off x="6498183" y="2769108"/>
            <a:ext cx="4806543" cy="819912"/>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Ouvre. Une question sur le présent, à laquelle il y a beaucoup à répondre.</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656843"/>
          </a:xfrm>
          <a:prstGeom prst="rect">
            <a:avLst/>
          </a:prstGeom>
          <a:noFill/>
        </p:spPr>
        <p:txBody>
          <a:bodyPr wrap="square" lIns="0" rIns="0" tIns="0" bIns="0" anchor="t">
            <a:spAutoFit/>
          </a:bodyPr>
          <a:lstStyle/>
          <a:p>
            <a:pPr algn="l">
              <a:lnSpc>
                <a:spcPct val="118000"/>
              </a:lnSpc>
            </a:pPr>
            <a:r>
              <a:rPr sz="2100" b="1" i="0">
                <a:solidFill>
                  <a:srgbClr val="0D7A6F"/>
                </a:solidFill>
                <a:latin typeface="Verdana"/>
              </a:rPr>
              <a:t>Ça va aller, ce n'est pas grave.</a:t>
            </a:r>
          </a:p>
        </p:txBody>
      </p:sp>
      <p:sp>
        <p:nvSpPr>
          <p:cNvPr id="15" name="TextBox 14"/>
          <p:cNvSpPr txBox="1"/>
          <p:nvPr/>
        </p:nvSpPr>
        <p:spPr>
          <a:xfrm>
            <a:off x="886968" y="4986528"/>
            <a:ext cx="4806543" cy="819912"/>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Referme. Décider à la place de l'autre que ce n'est pas grave lui enlève le droit de trouver ça grave.</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656843"/>
          </a:xfrm>
          <a:prstGeom prst="rect">
            <a:avLst/>
          </a:prstGeom>
          <a:noFill/>
        </p:spPr>
        <p:txBody>
          <a:bodyPr wrap="square" lIns="0" rIns="0" tIns="0" bIns="0" anchor="t">
            <a:spAutoFit/>
          </a:bodyPr>
          <a:lstStyle/>
          <a:p>
            <a:pPr algn="l">
              <a:lnSpc>
                <a:spcPct val="118000"/>
              </a:lnSpc>
            </a:pPr>
            <a:r>
              <a:rPr sz="2100" b="1" i="0">
                <a:solidFill>
                  <a:srgbClr val="0D7A6F"/>
                </a:solidFill>
                <a:latin typeface="Verdana"/>
              </a:rPr>
              <a:t>J'espère que ça va aller. Dis-moi si je peux aider.</a:t>
            </a:r>
          </a:p>
        </p:txBody>
      </p:sp>
      <p:sp>
        <p:nvSpPr>
          <p:cNvPr id="18" name="TextBox 17"/>
          <p:cNvSpPr txBox="1"/>
          <p:nvPr/>
        </p:nvSpPr>
        <p:spPr>
          <a:xfrm>
            <a:off x="6498183" y="4986528"/>
            <a:ext cx="4806543" cy="819912"/>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Ouvre. On reconnaît la difficulté, et on laisse à l'autre le choix de la suite.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Reprendre le fil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ASSOCIATION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Qu'est-ce que tu réponds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Lisez la nouvelle, puis choisissez la réponse qui convient.</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Notre fille Assia est née le 14 mars.</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Mon oncle Mamadou est décédé en février.</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Mon beau-frère s'est cassé la cheville au travail.</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Nous avons déménagé en juin.</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Ma cousine se marie le 12 septembre.</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Ma sœur est arrivée de Conakry en octobre.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Reprendre le fil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Qu'est-ce que tu réponds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Notre fille Assia est née le 14 mars.   </a:t>
            </a:r>
            <a:r>
              <a:rPr sz="1400" b="1" i="0">
                <a:solidFill>
                  <a:srgbClr val="07734A"/>
                </a:solidFill>
                <a:latin typeface="Verdana"/>
              </a:rPr>
              <a:t>» Félicitations à vous deux ! Comment va la maman ?</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Mon oncle Mamadou est décédé en février.   </a:t>
            </a:r>
            <a:r>
              <a:rPr sz="1400" b="1" i="0">
                <a:solidFill>
                  <a:srgbClr val="07734A"/>
                </a:solidFill>
                <a:latin typeface="Verdana"/>
              </a:rPr>
              <a:t>» Toutes mes condoléances. Je pense à toi.</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Mon beau-frère s'est cassé la cheville au travail.   </a:t>
            </a:r>
            <a:r>
              <a:rPr sz="1400" b="1" i="0">
                <a:solidFill>
                  <a:srgbClr val="07734A"/>
                </a:solidFill>
                <a:latin typeface="Verdana"/>
              </a:rPr>
              <a:t>» Bon rétablissement à lui. Est-ce qu'il remarche ?</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Nous avons déménagé en juin.   </a:t>
            </a:r>
            <a:r>
              <a:rPr sz="1400" b="1" i="0">
                <a:solidFill>
                  <a:srgbClr val="07734A"/>
                </a:solidFill>
                <a:latin typeface="Verdana"/>
              </a:rPr>
              <a:t>» Et le nouveau quartier, vous vous y plaisez ?</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Ma cousine se marie le 12 septembre.   </a:t>
            </a:r>
            <a:r>
              <a:rPr sz="1400" b="1" i="0">
                <a:solidFill>
                  <a:srgbClr val="07734A"/>
                </a:solidFill>
                <a:latin typeface="Verdana"/>
              </a:rPr>
              <a:t>» Quelle belle nouvelle ! Vous descendez pour l'occasion ?</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Ma sœur est arrivée de Conakry en octobre.   </a:t>
            </a:r>
            <a:r>
              <a:rPr sz="1400" b="1" i="0">
                <a:solidFill>
                  <a:srgbClr val="07734A"/>
                </a:solidFill>
                <a:latin typeface="Verdana"/>
              </a:rPr>
              <a:t>» Ça doit vous faire du bien de l'avoir avec vous.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Reprendre le fil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VOCABULAIRE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lieux de cette histoire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Décrivez chaque lieu en une phrase, puis dites ce qui s'y passe.</a:t>
            </a:r>
          </a:p>
        </p:txBody>
      </p:sp>
      <p:sp>
        <p:nvSpPr>
          <p:cNvPr id="8" name="Rounded Rectangle 7"/>
          <p:cNvSpPr/>
          <p:nvPr/>
        </p:nvSpPr>
        <p:spPr>
          <a:xfrm>
            <a:off x="566928" y="2139696"/>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450083"/>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514091"/>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comptoir de la boulangerie</a:t>
            </a:r>
          </a:p>
        </p:txBody>
      </p:sp>
      <p:sp>
        <p:nvSpPr>
          <p:cNvPr id="12" name="Rounded Rectangle 11"/>
          <p:cNvSpPr/>
          <p:nvPr/>
        </p:nvSpPr>
        <p:spPr>
          <a:xfrm>
            <a:off x="6159855" y="2139696"/>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6434175" y="2450083"/>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34175" y="2514091"/>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6937095" y="2295144"/>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l'écran du courriel</a:t>
            </a:r>
          </a:p>
        </p:txBody>
      </p:sp>
      <p:sp>
        <p:nvSpPr>
          <p:cNvPr id="16" name="Rounded Rectangle 15"/>
          <p:cNvSpPr/>
          <p:nvPr/>
        </p:nvSpPr>
        <p:spPr>
          <a:xfrm>
            <a:off x="566928" y="3254248"/>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564635"/>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28643"/>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409696"/>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table de cuisine</a:t>
            </a:r>
          </a:p>
        </p:txBody>
      </p:sp>
      <p:sp>
        <p:nvSpPr>
          <p:cNvPr id="20" name="Rounded Rectangle 19"/>
          <p:cNvSpPr/>
          <p:nvPr/>
        </p:nvSpPr>
        <p:spPr>
          <a:xfrm>
            <a:off x="6159855" y="3254248"/>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434175" y="3564635"/>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434175" y="3628643"/>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6937095" y="3409696"/>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terminus d'autobus</a:t>
            </a:r>
          </a:p>
        </p:txBody>
      </p:sp>
      <p:sp>
        <p:nvSpPr>
          <p:cNvPr id="24" name="Rounded Rectangle 23"/>
          <p:cNvSpPr/>
          <p:nvPr/>
        </p:nvSpPr>
        <p:spPr>
          <a:xfrm>
            <a:off x="566928" y="4368800"/>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67918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4743196"/>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5</a:t>
            </a:r>
          </a:p>
        </p:txBody>
      </p:sp>
      <p:sp>
        <p:nvSpPr>
          <p:cNvPr id="27" name="TextBox 26"/>
          <p:cNvSpPr txBox="1"/>
          <p:nvPr/>
        </p:nvSpPr>
        <p:spPr>
          <a:xfrm>
            <a:off x="1344168" y="4524248"/>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salle communautaire</a:t>
            </a:r>
          </a:p>
        </p:txBody>
      </p:sp>
      <p:sp>
        <p:nvSpPr>
          <p:cNvPr id="28" name="Rounded Rectangle 27"/>
          <p:cNvSpPr/>
          <p:nvPr/>
        </p:nvSpPr>
        <p:spPr>
          <a:xfrm>
            <a:off x="6159855" y="4368800"/>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6434175" y="467918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34175" y="4743196"/>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6</a:t>
            </a:r>
          </a:p>
        </p:txBody>
      </p:sp>
      <p:sp>
        <p:nvSpPr>
          <p:cNvPr id="31" name="TextBox 30"/>
          <p:cNvSpPr txBox="1"/>
          <p:nvPr/>
        </p:nvSpPr>
        <p:spPr>
          <a:xfrm>
            <a:off x="6937095" y="4524248"/>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journal de quartier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Reprendre le fil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lieux de cette histoire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450083"/>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514091"/>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comptoir de la boulangerie   </a:t>
            </a:r>
            <a:r>
              <a:rPr sz="1900" b="1" i="0">
                <a:solidFill>
                  <a:srgbClr val="07734A"/>
                </a:solidFill>
                <a:latin typeface="Verdana"/>
              </a:rPr>
              <a:t>» Marisol y travaille tôt le matin</a:t>
            </a:r>
          </a:p>
        </p:txBody>
      </p:sp>
      <p:sp>
        <p:nvSpPr>
          <p:cNvPr id="12" name="Rounded Rectangle 11"/>
          <p:cNvSpPr/>
          <p:nvPr/>
        </p:nvSpPr>
        <p:spPr>
          <a:xfrm>
            <a:off x="6159855" y="2139696"/>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6434175" y="2450083"/>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34175" y="2514091"/>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6937095" y="2295144"/>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l'écran du courriel   </a:t>
            </a:r>
            <a:r>
              <a:rPr sz="1900" b="1" i="0">
                <a:solidFill>
                  <a:srgbClr val="07734A"/>
                </a:solidFill>
                <a:latin typeface="Verdana"/>
              </a:rPr>
              <a:t>» les quatre paragraphes d'Ousmane</a:t>
            </a:r>
          </a:p>
        </p:txBody>
      </p:sp>
      <p:sp>
        <p:nvSpPr>
          <p:cNvPr id="16" name="Rounded Rectangle 15"/>
          <p:cNvSpPr/>
          <p:nvPr/>
        </p:nvSpPr>
        <p:spPr>
          <a:xfrm>
            <a:off x="566928" y="3254248"/>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564635"/>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28643"/>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409696"/>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table de cuisine   </a:t>
            </a:r>
            <a:r>
              <a:rPr sz="1900" b="1" i="0">
                <a:solidFill>
                  <a:srgbClr val="07734A"/>
                </a:solidFill>
                <a:latin typeface="Verdana"/>
              </a:rPr>
              <a:t>» Marisol relit la feuille imprimée</a:t>
            </a:r>
          </a:p>
        </p:txBody>
      </p:sp>
      <p:sp>
        <p:nvSpPr>
          <p:cNvPr id="20" name="Rounded Rectangle 19"/>
          <p:cNvSpPr/>
          <p:nvPr/>
        </p:nvSpPr>
        <p:spPr>
          <a:xfrm>
            <a:off x="6159855" y="3254248"/>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434175" y="3564635"/>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434175" y="3628643"/>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6937095" y="3409696"/>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terminus d'autobus   </a:t>
            </a:r>
            <a:r>
              <a:rPr sz="1900" b="1" i="0">
                <a:solidFill>
                  <a:srgbClr val="07734A"/>
                </a:solidFill>
                <a:latin typeface="Verdana"/>
              </a:rPr>
              <a:t>» Kadiatou et Ousmane arrivent vendredi</a:t>
            </a:r>
          </a:p>
        </p:txBody>
      </p:sp>
      <p:sp>
        <p:nvSpPr>
          <p:cNvPr id="24" name="Rounded Rectangle 23"/>
          <p:cNvSpPr/>
          <p:nvPr/>
        </p:nvSpPr>
        <p:spPr>
          <a:xfrm>
            <a:off x="566928" y="4368800"/>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67918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4743196"/>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5</a:t>
            </a:r>
          </a:p>
        </p:txBody>
      </p:sp>
      <p:sp>
        <p:nvSpPr>
          <p:cNvPr id="27" name="TextBox 26"/>
          <p:cNvSpPr txBox="1"/>
          <p:nvPr/>
        </p:nvSpPr>
        <p:spPr>
          <a:xfrm>
            <a:off x="1344168" y="4524248"/>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salle communautaire   </a:t>
            </a:r>
            <a:r>
              <a:rPr sz="1900" b="1" i="0">
                <a:solidFill>
                  <a:srgbClr val="07734A"/>
                </a:solidFill>
                <a:latin typeface="Verdana"/>
              </a:rPr>
              <a:t>» l'organisme du quartier s'y réunit</a:t>
            </a:r>
          </a:p>
        </p:txBody>
      </p:sp>
      <p:sp>
        <p:nvSpPr>
          <p:cNvPr id="28" name="Rounded Rectangle 27"/>
          <p:cNvSpPr/>
          <p:nvPr/>
        </p:nvSpPr>
        <p:spPr>
          <a:xfrm>
            <a:off x="6159855" y="4368800"/>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6434175" y="467918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34175" y="4743196"/>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6</a:t>
            </a:r>
          </a:p>
        </p:txBody>
      </p:sp>
      <p:sp>
        <p:nvSpPr>
          <p:cNvPr id="31" name="TextBox 30"/>
          <p:cNvSpPr txBox="1"/>
          <p:nvPr/>
        </p:nvSpPr>
        <p:spPr>
          <a:xfrm>
            <a:off x="6937095" y="4524248"/>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journal de quartier   </a:t>
            </a:r>
            <a:r>
              <a:rPr sz="1900" b="1" i="0">
                <a:solidFill>
                  <a:srgbClr val="07734A"/>
                </a:solidFill>
                <a:latin typeface="Verdana"/>
              </a:rPr>
              <a:t>» l'article du Défi 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Reprendre le fil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Écris la phrase que tu dirais à Ousmane pour son oncle.</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Une ou deux phrases.</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Souviens-toi : on parle de la personne qui reste.</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Reprendre le fil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