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Elle est sociale plutôt que grammaticale : c'est ici que se joue le rapport aux gens, et les élèves y ont beaucoup à dire. Prévoir du temps de parole.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difficile et le plus utile : il ne s'agit pas de politesse, mais de laisser l'autre continuer à parler.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délicate et très riche. Laisser venir, ne rien hiérarchiser. Retenir une ou deux formules d'autres langues et les écrire au tableau à côté de « toutes mes condoléances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répéter chaque réponse à voix haute : ces phrases doivent venir sans réflexion le jour où elles serviront.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Rassurer : une formule courte et juste vaut mieux qu'une longue phrase qu'on ne maîtrise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jouer les quatre répliques à deux. La différence s'entend immédiatement, bien mieux qu'elle ne s'explique.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referont l'exercice à l'écran ensuite. Ici, l'important est de le dire à voix haute : ces phrases se disent plus qu'elles ne s'écrivent.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 exercice existe à l'écran avec les photos ; ici il se fait de mémoire, ce qui oblige à formuler. Demander une phrase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Relire les billets avant B1 : ils montrent qui a compris la règle du bloc, et qui pose encore des questions sur l'évènement.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Chaque nouvelle demande une réponse différente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ne répond pas à une naissance comme à un décès. Le mot juste existe pour chaque nouvelle, et il est court.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féliciter, offrir ses condoléances, souhaiter un rétablissement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qui ouvre la conversation au lieu de la fermer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lieux et les objets de l'histoire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quatre mots de « Je découvre » sans hésiter.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dis-tu à quelqu'un qui vient de perdre un proche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dit-on dans ta langue, exactement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parle du décès, ou de la personne qui reste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offre quelque chose : un plat, du temps, un silence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t'a semblé différent 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nouvelle, et le mot juste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NOUVELLE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RÉPOND</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Une naissance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Félicitations à vous deux ! Comment va la maman ?</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mariage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Quelle belle nouvelle ! Vous descendez pour l'occasion ?</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décès</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Toutes mes condoléances. Je pense à toi et à ta famille.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accident</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Bon rétablissement à lui. Est-ce qu'il remarche ?</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déménagement</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Et le nouveau quartier, vous vous y plaisez ?</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Condoléances est toujours au pluriel, et toujours accompagné.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PARLER DE LA PERSONNE, JAMAIS DE L'ÉVÈNEMENT</a:t>
            </a:r>
          </a:p>
        </p:txBody>
      </p:sp>
      <p:sp>
        <p:nvSpPr>
          <p:cNvPr id="6" name="Rounded Rectangle 5"/>
          <p:cNvSpPr/>
          <p:nvPr/>
        </p:nvSpPr>
        <p:spPr>
          <a:xfrm>
            <a:off x="566928" y="1225296"/>
            <a:ext cx="11057839" cy="2494788"/>
          </a:xfrm>
          <a:prstGeom prst="roundRect">
            <a:avLst>
              <a:gd name="adj" fmla="val 586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cause d'un décès ne se demande pas. Si la personne veut la dire, elle la dira.</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 accident, on demande comment va le blessé, pas comment c'est arrivé ni qui est responsable. Devant un décès, on nomme celui qui reste. C'est la règle la plus sûre dans une langue qu'on apprend : elle évite toutes les maladresses d'un coup.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COMPARER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ouvre, ce qui referme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Nous aussi, on a déménagé l'an passé.</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Referme. La conversation revient vers celui qui parle, et l'autre cesse de raconter.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Et le nouveau quartier, vous vous y plaisez ?</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Ouvre. Une question sur le présent, à laquelle il y a beaucoup à répondre.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Ça va aller, ce n'est pas grave.</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Referme. Décider à la place de l'autre que ce n'est pas grave lui enlève le droit de trouver ça grave.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J'espère que ça va aller. Dis-moi si je peux aider.</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Ouvre. On reconnaît la difficulté, et on laisse à l'autre le choix de la suite.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ASSOCIATION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réponds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nouvelle, puis choisissez la réponse qui convient.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Notre fille Assia est née le 14 mars.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oncle Mamadou est décédé en février.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beau-frère s'est cassé la cheville au travail.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Nous avons déménagé en juin.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cousine se marie le 12 septembre.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sœur est arrivée de Conakry en octobre.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réponds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Notre fille Assia est née le 14 mars.   </a:t>
            </a:r>
            <a:r>
              <a:rPr sz="1400" b="1" i="0">
                <a:solidFill>
                  <a:srgbClr val="07734A"/>
                </a:solidFill>
                <a:latin typeface="Verdana"/>
              </a:rPr>
              <a:t>» Félicitations à vous deux ! Comment va la maman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oncle Mamadou est décédé en février.   </a:t>
            </a:r>
            <a:r>
              <a:rPr sz="1400" b="1" i="0">
                <a:solidFill>
                  <a:srgbClr val="07734A"/>
                </a:solidFill>
                <a:latin typeface="Verdana"/>
              </a:rPr>
              <a:t>» Toutes mes condoléances. Je pense à toi.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beau-frère s'est cassé la cheville au travail.   </a:t>
            </a:r>
            <a:r>
              <a:rPr sz="1400" b="1" i="0">
                <a:solidFill>
                  <a:srgbClr val="07734A"/>
                </a:solidFill>
                <a:latin typeface="Verdana"/>
              </a:rPr>
              <a:t>» Bon rétablissement à lui. Est-ce qu'il remarche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Nous avons déménagé en juin.   </a:t>
            </a:r>
            <a:r>
              <a:rPr sz="1400" b="1" i="0">
                <a:solidFill>
                  <a:srgbClr val="07734A"/>
                </a:solidFill>
                <a:latin typeface="Verdana"/>
              </a:rPr>
              <a:t>» Et le nouveau quartier, vous vous y plaisez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cousine se marie le 12 septembre.   </a:t>
            </a:r>
            <a:r>
              <a:rPr sz="1400" b="1" i="0">
                <a:solidFill>
                  <a:srgbClr val="07734A"/>
                </a:solidFill>
                <a:latin typeface="Verdana"/>
              </a:rPr>
              <a:t>» Quelle belle nouvelle ! Vous descendez pour l'occasion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sœur est arrivée de Conakry en octobre.   </a:t>
            </a:r>
            <a:r>
              <a:rPr sz="1400" b="1" i="0">
                <a:solidFill>
                  <a:srgbClr val="07734A"/>
                </a:solidFill>
                <a:latin typeface="Verdana"/>
              </a:rPr>
              <a:t>» Ça doit vous faire du bien de l'avoir avec vous.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lieux de cette histoire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Décrivez chaque lieu en une phrase, puis dites ce qui s'y passe.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de la boulangerie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l'écran du courriel</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table de cuisine</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terminus d'autobus</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communautaire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de quartier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lieux de cette histoire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de la boulangerie   </a:t>
            </a:r>
            <a:r>
              <a:rPr sz="1900" b="1" i="0">
                <a:solidFill>
                  <a:srgbClr val="07734A"/>
                </a:solidFill>
                <a:latin typeface="Verdana"/>
              </a:rPr>
              <a:t>» Marisol y travaille tôt le matin</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l'écran du courriel   </a:t>
            </a:r>
            <a:r>
              <a:rPr sz="1900" b="1" i="0">
                <a:solidFill>
                  <a:srgbClr val="07734A"/>
                </a:solidFill>
                <a:latin typeface="Verdana"/>
              </a:rPr>
              <a:t>» les quatre paragraphes d'Ousmane</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table de cuisine   </a:t>
            </a:r>
            <a:r>
              <a:rPr sz="1900" b="1" i="0">
                <a:solidFill>
                  <a:srgbClr val="07734A"/>
                </a:solidFill>
                <a:latin typeface="Verdana"/>
              </a:rPr>
              <a:t>» Marisol relit la feuille imprimée</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terminus d'autobus   </a:t>
            </a:r>
            <a:r>
              <a:rPr sz="1900" b="1" i="0">
                <a:solidFill>
                  <a:srgbClr val="07734A"/>
                </a:solidFill>
                <a:latin typeface="Verdana"/>
              </a:rPr>
              <a:t>» Kadiatou et Ousmane arrivent vendredi</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communautaire   </a:t>
            </a:r>
            <a:r>
              <a:rPr sz="1900" b="1" i="0">
                <a:solidFill>
                  <a:srgbClr val="07734A"/>
                </a:solidFill>
                <a:latin typeface="Verdana"/>
              </a:rPr>
              <a:t>» l'organisme du quartier s'y réunit</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de quartier   </a:t>
            </a:r>
            <a:r>
              <a:rPr sz="1900" b="1" i="0">
                <a:solidFill>
                  <a:srgbClr val="07734A"/>
                </a:solidFill>
                <a:latin typeface="Verdana"/>
              </a:rPr>
              <a:t>» l'article du Défi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la phrase que tu dirais à Ousmane pour son oncle.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ou deux phrases.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Souviens-toi : on parle de la personne qui reste.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