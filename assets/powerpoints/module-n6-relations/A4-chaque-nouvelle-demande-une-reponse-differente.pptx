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Dernière séance du bloc A. Elle est sociale plutôt que grammaticale : c'est ici que se joue le rapport aux gens, et les élèves y ont beaucoup à dire. Prévoir du temps de parole.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deuxième objectif est le plus difficile et le plus utile : il ne s'agit pas de politesse, mais de laisser l'autre continuer à parler.</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Question délicate et très riche. Laisser venir, ne rien hiérarchiser. Retenir une ou deux formules d'autres langues et les écrire au tableau à côté de « toutes mes condoléances ».</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Diapositive à photographier. Faire répéter chaque réponse à voix haute : ces phrases doivent venir sans réflexion le jour où elles serviront.</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Diapositive à photographier. Rassurer : une formule courte et juste vaut mieux qu'une longue phrase qu'on ne maîtrise pas.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Faire jouer les quatre répliques à deux. La différence s'entend immédiatement, bien mieux qu'elle ne s'explique.</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Les élèves referont l'exercice à l'écran ensuite. Ici, l'important est de le dire à voix haute : ces phrases se disent plus qu'elles ne s'écrivent.</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Corriger en groupe. Donner la bonne réponse, sans revenir sur qui s'est trompé.</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Cet exercice existe à l'écran avec les photos ; ici il se fait de mémoire, ce qui oblige à formuler. Demander une phrase complète.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Corriger en groupe. Donner la bonne réponse, sans revenir sur qui s'est trompé.</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Deux minutes. Relire les billets avant B1 : ils montrent qui a compris la règle du bloc, et qui pose encore des questions sur l'évènement.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DF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1234440"/>
            <a:ext cx="11057839" cy="274320"/>
          </a:xfrm>
          <a:prstGeom prst="rect">
            <a:avLst/>
          </a:prstGeom>
          <a:noFill/>
        </p:spPr>
        <p:txBody>
          <a:bodyPr wrap="square" lIns="0" rIns="0" tIns="0" bIns="0" anchor="t">
            <a:spAutoFit/>
          </a:bodyPr>
          <a:lstStyle/>
          <a:p>
            <a:pPr algn="l">
              <a:lnSpc>
                <a:spcPct val="135000"/>
              </a:lnSpc>
            </a:pPr>
            <a:r>
              <a:rPr sz="1300" b="1" i="0" spc="156">
                <a:solidFill>
                  <a:srgbClr val="0D7A6F"/>
                </a:solidFill>
                <a:latin typeface="Verdana"/>
              </a:rPr>
              <a:t>SÉANCE A4  ·  MODULE 3</a:t>
            </a:r>
          </a:p>
        </p:txBody>
      </p:sp>
      <p:sp>
        <p:nvSpPr>
          <p:cNvPr id="4" name="TextBox 3"/>
          <p:cNvSpPr txBox="1"/>
          <p:nvPr/>
        </p:nvSpPr>
        <p:spPr>
          <a:xfrm>
            <a:off x="566928" y="1691640"/>
            <a:ext cx="9960559" cy="1874519"/>
          </a:xfrm>
          <a:prstGeom prst="rect">
            <a:avLst/>
          </a:prstGeom>
          <a:noFill/>
        </p:spPr>
        <p:txBody>
          <a:bodyPr wrap="square" lIns="0" rIns="0" tIns="0" bIns="0" anchor="t">
            <a:spAutoFit/>
          </a:bodyPr>
          <a:lstStyle/>
          <a:p>
            <a:pPr algn="l">
              <a:lnSpc>
                <a:spcPct val="105000"/>
              </a:lnSpc>
            </a:pPr>
            <a:r>
              <a:rPr sz="4000" b="1" i="0">
                <a:solidFill>
                  <a:srgbClr val="17181A"/>
                </a:solidFill>
                <a:latin typeface="Verdana"/>
              </a:rPr>
              <a:t>Chaque nouvelle demande une réponse différente</a:t>
            </a:r>
          </a:p>
        </p:txBody>
      </p:sp>
      <p:sp>
        <p:nvSpPr>
          <p:cNvPr id="5" name="Rounded Rectangle 4"/>
          <p:cNvSpPr/>
          <p:nvPr/>
        </p:nvSpPr>
        <p:spPr>
          <a:xfrm>
            <a:off x="566928" y="3794760"/>
            <a:ext cx="9960559" cy="1394968"/>
          </a:xfrm>
          <a:prstGeom prst="roundRect">
            <a:avLst>
              <a:gd name="adj" fmla="val 10487"/>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896112" y="4123944"/>
            <a:ext cx="9302191" cy="782320"/>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On ne répond pas à une naissance comme à un décès. Le mot juste existe pour chaque nouvelle, et il est court.</a:t>
            </a:r>
          </a:p>
        </p:txBody>
      </p:sp>
      <p:sp>
        <p:nvSpPr>
          <p:cNvPr id="7" name="TextBox 6"/>
          <p:cNvSpPr txBox="1"/>
          <p:nvPr/>
        </p:nvSpPr>
        <p:spPr>
          <a:xfrm>
            <a:off x="566928" y="6035040"/>
            <a:ext cx="11057839" cy="274320"/>
          </a:xfrm>
          <a:prstGeom prst="rect">
            <a:avLst/>
          </a:prstGeom>
          <a:noFill/>
        </p:spPr>
        <p:txBody>
          <a:bodyPr wrap="square" lIns="0" rIns="0" tIns="0" bIns="0" anchor="t">
            <a:spAutoFit/>
          </a:bodyPr>
          <a:lstStyle/>
          <a:p>
            <a:pPr algn="l">
              <a:lnSpc>
                <a:spcPct val="135000"/>
              </a:lnSpc>
            </a:pPr>
            <a:r>
              <a:rPr sz="1500" b="0" i="0">
                <a:solidFill>
                  <a:srgbClr val="6E7175"/>
                </a:solidFill>
                <a:latin typeface="Verdana"/>
              </a:rPr>
              <a:t>75 minutes  ·  Reprendre le fil</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A4 · Reprendre le fil</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2</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0D7A6F"/>
                </a:solidFill>
                <a:latin typeface="Verdana"/>
              </a:rPr>
              <a:t>OBJECTIFS DE LA SÉANCE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À la fin, je serai capable de…</a:t>
            </a:r>
          </a:p>
        </p:txBody>
      </p:sp>
      <p:sp>
        <p:nvSpPr>
          <p:cNvPr id="7" name="Rounded Rectangle 6"/>
          <p:cNvSpPr/>
          <p:nvPr/>
        </p:nvSpPr>
        <p:spPr>
          <a:xfrm>
            <a:off x="566928" y="1764792"/>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ounded Rectangle 7"/>
          <p:cNvSpPr/>
          <p:nvPr/>
        </p:nvSpPr>
        <p:spPr>
          <a:xfrm>
            <a:off x="804672" y="1942592"/>
            <a:ext cx="402336" cy="402336"/>
          </a:xfrm>
          <a:prstGeom prst="roundRect">
            <a:avLst>
              <a:gd name="adj" fmla="val 31818"/>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04672" y="2024887"/>
            <a:ext cx="402336" cy="274320"/>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1</a:t>
            </a:r>
          </a:p>
        </p:txBody>
      </p:sp>
      <p:sp>
        <p:nvSpPr>
          <p:cNvPr id="10" name="TextBox 9"/>
          <p:cNvSpPr txBox="1"/>
          <p:nvPr/>
        </p:nvSpPr>
        <p:spPr>
          <a:xfrm>
            <a:off x="1408176" y="1965960"/>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féliciter, offrir ses condoléances, souhaiter un rétablissement ;</a:t>
            </a:r>
          </a:p>
        </p:txBody>
      </p:sp>
      <p:sp>
        <p:nvSpPr>
          <p:cNvPr id="11" name="Rounded Rectangle 10"/>
          <p:cNvSpPr/>
          <p:nvPr/>
        </p:nvSpPr>
        <p:spPr>
          <a:xfrm>
            <a:off x="566928" y="2650744"/>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ounded Rectangle 11"/>
          <p:cNvSpPr/>
          <p:nvPr/>
        </p:nvSpPr>
        <p:spPr>
          <a:xfrm>
            <a:off x="804672" y="2828544"/>
            <a:ext cx="402336" cy="402336"/>
          </a:xfrm>
          <a:prstGeom prst="roundRect">
            <a:avLst>
              <a:gd name="adj" fmla="val 31818"/>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804672" y="2910840"/>
            <a:ext cx="402336" cy="274320"/>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2</a:t>
            </a:r>
          </a:p>
        </p:txBody>
      </p:sp>
      <p:sp>
        <p:nvSpPr>
          <p:cNvPr id="14" name="TextBox 13"/>
          <p:cNvSpPr txBox="1"/>
          <p:nvPr/>
        </p:nvSpPr>
        <p:spPr>
          <a:xfrm>
            <a:off x="1408176" y="2851912"/>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poser une question qui ouvre la conversation au lieu de la fermer ;</a:t>
            </a:r>
          </a:p>
        </p:txBody>
      </p:sp>
      <p:sp>
        <p:nvSpPr>
          <p:cNvPr id="15" name="Rounded Rectangle 14"/>
          <p:cNvSpPr/>
          <p:nvPr/>
        </p:nvSpPr>
        <p:spPr>
          <a:xfrm>
            <a:off x="566928" y="3536696"/>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804672" y="3714496"/>
            <a:ext cx="402336" cy="402336"/>
          </a:xfrm>
          <a:prstGeom prst="roundRect">
            <a:avLst>
              <a:gd name="adj" fmla="val 31818"/>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804672" y="3796792"/>
            <a:ext cx="402336" cy="274320"/>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3</a:t>
            </a:r>
          </a:p>
        </p:txBody>
      </p:sp>
      <p:sp>
        <p:nvSpPr>
          <p:cNvPr id="18" name="TextBox 17"/>
          <p:cNvSpPr txBox="1"/>
          <p:nvPr/>
        </p:nvSpPr>
        <p:spPr>
          <a:xfrm>
            <a:off x="1408176" y="3737864"/>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reconnaître les lieux et les objets de l'histoire ;</a:t>
            </a:r>
          </a:p>
        </p:txBody>
      </p:sp>
      <p:sp>
        <p:nvSpPr>
          <p:cNvPr id="19" name="Rounded Rectangle 18"/>
          <p:cNvSpPr/>
          <p:nvPr/>
        </p:nvSpPr>
        <p:spPr>
          <a:xfrm>
            <a:off x="566928" y="4422648"/>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ounded Rectangle 19"/>
          <p:cNvSpPr/>
          <p:nvPr/>
        </p:nvSpPr>
        <p:spPr>
          <a:xfrm>
            <a:off x="804672" y="4600448"/>
            <a:ext cx="402336" cy="402336"/>
          </a:xfrm>
          <a:prstGeom prst="roundRect">
            <a:avLst>
              <a:gd name="adj" fmla="val 31818"/>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804672" y="4682744"/>
            <a:ext cx="402336" cy="274320"/>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4</a:t>
            </a:r>
          </a:p>
        </p:txBody>
      </p:sp>
      <p:sp>
        <p:nvSpPr>
          <p:cNvPr id="22" name="TextBox 21"/>
          <p:cNvSpPr txBox="1"/>
          <p:nvPr/>
        </p:nvSpPr>
        <p:spPr>
          <a:xfrm>
            <a:off x="1408176" y="4623816"/>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employer les quatre mots de « Je découvre » sans hésiter.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A4 · Reprendre le fil</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3</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0D7A6F"/>
                </a:solidFill>
                <a:latin typeface="Verdana"/>
              </a:rPr>
              <a:t>OBSERVATION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2800" b="1" i="0">
                <a:solidFill>
                  <a:srgbClr val="17181A"/>
                </a:solidFill>
                <a:latin typeface="Verdana"/>
              </a:rPr>
              <a:t>Que dis-tu à quelqu'un qui vient de perdre un proche ?</a:t>
            </a:r>
          </a:p>
        </p:txBody>
      </p:sp>
      <p:sp>
        <p:nvSpPr>
          <p:cNvPr id="7" name="Rounded Rectangle 6"/>
          <p:cNvSpPr/>
          <p:nvPr/>
        </p:nvSpPr>
        <p:spPr>
          <a:xfrm>
            <a:off x="566928" y="1856232"/>
            <a:ext cx="11057839" cy="703579"/>
          </a:xfrm>
          <a:prstGeom prst="roundRect">
            <a:avLst>
              <a:gd name="adj" fmla="val 2079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566928" y="1965960"/>
            <a:ext cx="50292" cy="484123"/>
          </a:xfrm>
          <a:prstGeom prst="rect">
            <a:avLst/>
          </a:prstGeom>
          <a:solidFill>
            <a:srgbClr val="0D7A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50976" y="2039112"/>
            <a:ext cx="10372039" cy="37439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Que dit-on dans ta langue, exactement ?</a:t>
            </a:r>
          </a:p>
        </p:txBody>
      </p:sp>
      <p:sp>
        <p:nvSpPr>
          <p:cNvPr id="10" name="Rounded Rectangle 9"/>
          <p:cNvSpPr/>
          <p:nvPr/>
        </p:nvSpPr>
        <p:spPr>
          <a:xfrm>
            <a:off x="566928" y="2642108"/>
            <a:ext cx="11057839" cy="703579"/>
          </a:xfrm>
          <a:prstGeom prst="roundRect">
            <a:avLst>
              <a:gd name="adj" fmla="val 2079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566928" y="2751836"/>
            <a:ext cx="50292" cy="484123"/>
          </a:xfrm>
          <a:prstGeom prst="rect">
            <a:avLst/>
          </a:prstGeom>
          <a:solidFill>
            <a:srgbClr val="0D7A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950976" y="2824988"/>
            <a:ext cx="10372039" cy="37439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Est-ce qu'on parle du décès, ou de la personne qui reste ?</a:t>
            </a:r>
          </a:p>
        </p:txBody>
      </p:sp>
      <p:sp>
        <p:nvSpPr>
          <p:cNvPr id="13" name="Rounded Rectangle 12"/>
          <p:cNvSpPr/>
          <p:nvPr/>
        </p:nvSpPr>
        <p:spPr>
          <a:xfrm>
            <a:off x="566928" y="3427984"/>
            <a:ext cx="11057839" cy="703579"/>
          </a:xfrm>
          <a:prstGeom prst="roundRect">
            <a:avLst>
              <a:gd name="adj" fmla="val 2079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566928" y="3537712"/>
            <a:ext cx="50292" cy="484123"/>
          </a:xfrm>
          <a:prstGeom prst="rect">
            <a:avLst/>
          </a:prstGeom>
          <a:solidFill>
            <a:srgbClr val="0D7A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950976" y="3610864"/>
            <a:ext cx="10372039" cy="37439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Est-ce qu'on offre quelque chose : un plat, du temps, un silence ?</a:t>
            </a:r>
          </a:p>
        </p:txBody>
      </p:sp>
      <p:sp>
        <p:nvSpPr>
          <p:cNvPr id="16" name="Rounded Rectangle 15"/>
          <p:cNvSpPr/>
          <p:nvPr/>
        </p:nvSpPr>
        <p:spPr>
          <a:xfrm>
            <a:off x="566928" y="4213860"/>
            <a:ext cx="11057839" cy="703579"/>
          </a:xfrm>
          <a:prstGeom prst="roundRect">
            <a:avLst>
              <a:gd name="adj" fmla="val 2079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566928" y="4323588"/>
            <a:ext cx="50292" cy="484123"/>
          </a:xfrm>
          <a:prstGeom prst="rect">
            <a:avLst/>
          </a:prstGeom>
          <a:solidFill>
            <a:srgbClr val="0D7A6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950976" y="4396740"/>
            <a:ext cx="10372039" cy="37439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Qu'est-ce qui t'a semblé différent ici ?</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A4 · Reprendre le fil</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4</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0D7A6F"/>
                </a:solidFill>
                <a:latin typeface="Verdana"/>
              </a:rPr>
              <a:t>ANALYSE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La nouvelle, et le mot juste</a:t>
            </a:r>
          </a:p>
        </p:txBody>
      </p:sp>
      <p:sp>
        <p:nvSpPr>
          <p:cNvPr id="7" name="Rounded Rectangle 6"/>
          <p:cNvSpPr/>
          <p:nvPr/>
        </p:nvSpPr>
        <p:spPr>
          <a:xfrm>
            <a:off x="566928" y="1810512"/>
            <a:ext cx="11057839" cy="3253740"/>
          </a:xfrm>
          <a:prstGeom prst="roundRect">
            <a:avLst>
              <a:gd name="adj" fmla="val 449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1975104"/>
            <a:ext cx="3291492"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LA NOUVELLE</a:t>
            </a:r>
          </a:p>
        </p:txBody>
      </p:sp>
      <p:sp>
        <p:nvSpPr>
          <p:cNvPr id="9" name="TextBox 8"/>
          <p:cNvSpPr txBox="1"/>
          <p:nvPr/>
        </p:nvSpPr>
        <p:spPr>
          <a:xfrm>
            <a:off x="4443636" y="1975104"/>
            <a:ext cx="6595914"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CE QU'ON RÉPOND</a:t>
            </a:r>
          </a:p>
        </p:txBody>
      </p:sp>
      <p:sp>
        <p:nvSpPr>
          <p:cNvPr id="10" name="TextBox 9"/>
          <p:cNvSpPr txBox="1"/>
          <p:nvPr/>
        </p:nvSpPr>
        <p:spPr>
          <a:xfrm>
            <a:off x="932688" y="2395728"/>
            <a:ext cx="3291492" cy="321564"/>
          </a:xfrm>
          <a:prstGeom prst="rect">
            <a:avLst/>
          </a:prstGeom>
          <a:noFill/>
        </p:spPr>
        <p:txBody>
          <a:bodyPr wrap="square" lIns="0" rIns="0" tIns="0" bIns="0" anchor="t">
            <a:spAutoFit/>
          </a:bodyPr>
          <a:lstStyle/>
          <a:p>
            <a:pPr algn="l">
              <a:lnSpc>
                <a:spcPct val="132000"/>
              </a:lnSpc>
            </a:pPr>
            <a:r>
              <a:rPr sz="1700" b="1" i="0">
                <a:solidFill>
                  <a:srgbClr val="0D7A6F"/>
                </a:solidFill>
                <a:latin typeface="Verdana"/>
              </a:rPr>
              <a:t>Une naissance</a:t>
            </a:r>
          </a:p>
        </p:txBody>
      </p:sp>
      <p:sp>
        <p:nvSpPr>
          <p:cNvPr id="11" name="TextBox 10"/>
          <p:cNvSpPr txBox="1"/>
          <p:nvPr/>
        </p:nvSpPr>
        <p:spPr>
          <a:xfrm>
            <a:off x="4443636" y="2395728"/>
            <a:ext cx="6595914" cy="321564"/>
          </a:xfrm>
          <a:prstGeom prst="rect">
            <a:avLst/>
          </a:prstGeom>
          <a:noFill/>
        </p:spPr>
        <p:txBody>
          <a:bodyPr wrap="square" lIns="0" rIns="0" tIns="0" bIns="0" anchor="t">
            <a:spAutoFit/>
          </a:bodyPr>
          <a:lstStyle/>
          <a:p>
            <a:pPr algn="l">
              <a:lnSpc>
                <a:spcPct val="132000"/>
              </a:lnSpc>
            </a:pPr>
            <a:r>
              <a:rPr sz="1700" b="0" i="0">
                <a:solidFill>
                  <a:srgbClr val="3A3D40"/>
                </a:solidFill>
                <a:latin typeface="Verdana"/>
              </a:rPr>
              <a:t>Félicitations à vous deux ! Comment va la maman ?</a:t>
            </a:r>
          </a:p>
        </p:txBody>
      </p:sp>
      <p:sp>
        <p:nvSpPr>
          <p:cNvPr id="12" name="Rectangle 11"/>
          <p:cNvSpPr/>
          <p:nvPr/>
        </p:nvSpPr>
        <p:spPr>
          <a:xfrm>
            <a:off x="932688" y="2790444"/>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932688" y="2918460"/>
            <a:ext cx="3291492" cy="321564"/>
          </a:xfrm>
          <a:prstGeom prst="rect">
            <a:avLst/>
          </a:prstGeom>
          <a:noFill/>
        </p:spPr>
        <p:txBody>
          <a:bodyPr wrap="square" lIns="0" rIns="0" tIns="0" bIns="0" anchor="t">
            <a:spAutoFit/>
          </a:bodyPr>
          <a:lstStyle/>
          <a:p>
            <a:pPr algn="l">
              <a:lnSpc>
                <a:spcPct val="132000"/>
              </a:lnSpc>
            </a:pPr>
            <a:r>
              <a:rPr sz="1700" b="1" i="0">
                <a:solidFill>
                  <a:srgbClr val="0D7A6F"/>
                </a:solidFill>
                <a:latin typeface="Verdana"/>
              </a:rPr>
              <a:t>Un mariage</a:t>
            </a:r>
          </a:p>
        </p:txBody>
      </p:sp>
      <p:sp>
        <p:nvSpPr>
          <p:cNvPr id="14" name="TextBox 13"/>
          <p:cNvSpPr txBox="1"/>
          <p:nvPr/>
        </p:nvSpPr>
        <p:spPr>
          <a:xfrm>
            <a:off x="4443636" y="2918460"/>
            <a:ext cx="6595914" cy="321564"/>
          </a:xfrm>
          <a:prstGeom prst="rect">
            <a:avLst/>
          </a:prstGeom>
          <a:noFill/>
        </p:spPr>
        <p:txBody>
          <a:bodyPr wrap="square" lIns="0" rIns="0" tIns="0" bIns="0" anchor="t">
            <a:spAutoFit/>
          </a:bodyPr>
          <a:lstStyle/>
          <a:p>
            <a:pPr algn="l">
              <a:lnSpc>
                <a:spcPct val="132000"/>
              </a:lnSpc>
            </a:pPr>
            <a:r>
              <a:rPr sz="1700" b="0" i="0">
                <a:solidFill>
                  <a:srgbClr val="3A3D40"/>
                </a:solidFill>
                <a:latin typeface="Verdana"/>
              </a:rPr>
              <a:t>Quelle belle nouvelle ! Vous descendez pour l'occasion ?</a:t>
            </a:r>
          </a:p>
        </p:txBody>
      </p:sp>
      <p:sp>
        <p:nvSpPr>
          <p:cNvPr id="15" name="Rectangle 14"/>
          <p:cNvSpPr/>
          <p:nvPr/>
        </p:nvSpPr>
        <p:spPr>
          <a:xfrm>
            <a:off x="932688" y="3313176"/>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932688" y="3441192"/>
            <a:ext cx="3291492" cy="321564"/>
          </a:xfrm>
          <a:prstGeom prst="rect">
            <a:avLst/>
          </a:prstGeom>
          <a:noFill/>
        </p:spPr>
        <p:txBody>
          <a:bodyPr wrap="square" lIns="0" rIns="0" tIns="0" bIns="0" anchor="t">
            <a:spAutoFit/>
          </a:bodyPr>
          <a:lstStyle/>
          <a:p>
            <a:pPr algn="l">
              <a:lnSpc>
                <a:spcPct val="132000"/>
              </a:lnSpc>
            </a:pPr>
            <a:r>
              <a:rPr sz="1700" b="1" i="0">
                <a:solidFill>
                  <a:srgbClr val="0D7A6F"/>
                </a:solidFill>
                <a:latin typeface="Verdana"/>
              </a:rPr>
              <a:t>Un décès</a:t>
            </a:r>
          </a:p>
        </p:txBody>
      </p:sp>
      <p:sp>
        <p:nvSpPr>
          <p:cNvPr id="17" name="TextBox 16"/>
          <p:cNvSpPr txBox="1"/>
          <p:nvPr/>
        </p:nvSpPr>
        <p:spPr>
          <a:xfrm>
            <a:off x="4443636" y="3441192"/>
            <a:ext cx="6595914" cy="321564"/>
          </a:xfrm>
          <a:prstGeom prst="rect">
            <a:avLst/>
          </a:prstGeom>
          <a:noFill/>
        </p:spPr>
        <p:txBody>
          <a:bodyPr wrap="square" lIns="0" rIns="0" tIns="0" bIns="0" anchor="t">
            <a:spAutoFit/>
          </a:bodyPr>
          <a:lstStyle/>
          <a:p>
            <a:pPr algn="l">
              <a:lnSpc>
                <a:spcPct val="132000"/>
              </a:lnSpc>
            </a:pPr>
            <a:r>
              <a:rPr sz="1700" b="0" i="0">
                <a:solidFill>
                  <a:srgbClr val="3A3D40"/>
                </a:solidFill>
                <a:latin typeface="Verdana"/>
              </a:rPr>
              <a:t>Toutes mes condoléances. Je pense à toi et à ta famille.</a:t>
            </a:r>
          </a:p>
        </p:txBody>
      </p:sp>
      <p:sp>
        <p:nvSpPr>
          <p:cNvPr id="18" name="Rectangle 17"/>
          <p:cNvSpPr/>
          <p:nvPr/>
        </p:nvSpPr>
        <p:spPr>
          <a:xfrm>
            <a:off x="932688" y="3835908"/>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932688" y="3963924"/>
            <a:ext cx="3291492" cy="321564"/>
          </a:xfrm>
          <a:prstGeom prst="rect">
            <a:avLst/>
          </a:prstGeom>
          <a:noFill/>
        </p:spPr>
        <p:txBody>
          <a:bodyPr wrap="square" lIns="0" rIns="0" tIns="0" bIns="0" anchor="t">
            <a:spAutoFit/>
          </a:bodyPr>
          <a:lstStyle/>
          <a:p>
            <a:pPr algn="l">
              <a:lnSpc>
                <a:spcPct val="132000"/>
              </a:lnSpc>
            </a:pPr>
            <a:r>
              <a:rPr sz="1700" b="1" i="0">
                <a:solidFill>
                  <a:srgbClr val="0D7A6F"/>
                </a:solidFill>
                <a:latin typeface="Verdana"/>
              </a:rPr>
              <a:t>Un accident</a:t>
            </a:r>
          </a:p>
        </p:txBody>
      </p:sp>
      <p:sp>
        <p:nvSpPr>
          <p:cNvPr id="20" name="TextBox 19"/>
          <p:cNvSpPr txBox="1"/>
          <p:nvPr/>
        </p:nvSpPr>
        <p:spPr>
          <a:xfrm>
            <a:off x="4443636" y="3963924"/>
            <a:ext cx="6595914" cy="321564"/>
          </a:xfrm>
          <a:prstGeom prst="rect">
            <a:avLst/>
          </a:prstGeom>
          <a:noFill/>
        </p:spPr>
        <p:txBody>
          <a:bodyPr wrap="square" lIns="0" rIns="0" tIns="0" bIns="0" anchor="t">
            <a:spAutoFit/>
          </a:bodyPr>
          <a:lstStyle/>
          <a:p>
            <a:pPr algn="l">
              <a:lnSpc>
                <a:spcPct val="132000"/>
              </a:lnSpc>
            </a:pPr>
            <a:r>
              <a:rPr sz="1700" b="0" i="0">
                <a:solidFill>
                  <a:srgbClr val="3A3D40"/>
                </a:solidFill>
                <a:latin typeface="Verdana"/>
              </a:rPr>
              <a:t>Bon rétablissement à lui. Est-ce qu'il remarche ?</a:t>
            </a:r>
          </a:p>
        </p:txBody>
      </p:sp>
      <p:sp>
        <p:nvSpPr>
          <p:cNvPr id="21" name="Rectangle 20"/>
          <p:cNvSpPr/>
          <p:nvPr/>
        </p:nvSpPr>
        <p:spPr>
          <a:xfrm>
            <a:off x="932688" y="4358640"/>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932688" y="4486656"/>
            <a:ext cx="3291492" cy="321564"/>
          </a:xfrm>
          <a:prstGeom prst="rect">
            <a:avLst/>
          </a:prstGeom>
          <a:noFill/>
        </p:spPr>
        <p:txBody>
          <a:bodyPr wrap="square" lIns="0" rIns="0" tIns="0" bIns="0" anchor="t">
            <a:spAutoFit/>
          </a:bodyPr>
          <a:lstStyle/>
          <a:p>
            <a:pPr algn="l">
              <a:lnSpc>
                <a:spcPct val="132000"/>
              </a:lnSpc>
            </a:pPr>
            <a:r>
              <a:rPr sz="1700" b="1" i="0">
                <a:solidFill>
                  <a:srgbClr val="0D7A6F"/>
                </a:solidFill>
                <a:latin typeface="Verdana"/>
              </a:rPr>
              <a:t>Un déménagement</a:t>
            </a:r>
          </a:p>
        </p:txBody>
      </p:sp>
      <p:sp>
        <p:nvSpPr>
          <p:cNvPr id="23" name="TextBox 22"/>
          <p:cNvSpPr txBox="1"/>
          <p:nvPr/>
        </p:nvSpPr>
        <p:spPr>
          <a:xfrm>
            <a:off x="4443636" y="4486656"/>
            <a:ext cx="6595914" cy="321564"/>
          </a:xfrm>
          <a:prstGeom prst="rect">
            <a:avLst/>
          </a:prstGeom>
          <a:noFill/>
        </p:spPr>
        <p:txBody>
          <a:bodyPr wrap="square" lIns="0" rIns="0" tIns="0" bIns="0" anchor="t">
            <a:spAutoFit/>
          </a:bodyPr>
          <a:lstStyle/>
          <a:p>
            <a:pPr algn="l">
              <a:lnSpc>
                <a:spcPct val="132000"/>
              </a:lnSpc>
            </a:pPr>
            <a:r>
              <a:rPr sz="1700" b="0" i="0">
                <a:solidFill>
                  <a:srgbClr val="3A3D40"/>
                </a:solidFill>
                <a:latin typeface="Verdana"/>
              </a:rPr>
              <a:t>Et le nouveau quartier, vous vous y plaisez ?</a:t>
            </a:r>
          </a:p>
        </p:txBody>
      </p:sp>
      <p:sp>
        <p:nvSpPr>
          <p:cNvPr id="24" name="Rounded Rectangle 23"/>
          <p:cNvSpPr/>
          <p:nvPr/>
        </p:nvSpPr>
        <p:spPr>
          <a:xfrm>
            <a:off x="566928" y="5301996"/>
            <a:ext cx="11057839" cy="769874"/>
          </a:xfrm>
          <a:prstGeom prst="roundRect">
            <a:avLst>
              <a:gd name="adj" fmla="val 19003"/>
            </a:avLst>
          </a:prstGeom>
          <a:solidFill>
            <a:srgbClr val="FBFBFA"/>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969264" y="5558028"/>
            <a:ext cx="10234879" cy="312674"/>
          </a:xfrm>
          <a:prstGeom prst="rect">
            <a:avLst/>
          </a:prstGeom>
          <a:noFill/>
        </p:spPr>
        <p:txBody>
          <a:bodyPr wrap="square" lIns="0" rIns="0" tIns="0" bIns="0" anchor="t">
            <a:spAutoFit/>
          </a:bodyPr>
          <a:lstStyle/>
          <a:p>
            <a:pPr algn="l">
              <a:lnSpc>
                <a:spcPct val="145000"/>
              </a:lnSpc>
            </a:pPr>
            <a:r>
              <a:rPr sz="1400" b="0" i="0">
                <a:solidFill>
                  <a:srgbClr val="4B4F52"/>
                </a:solidFill>
                <a:latin typeface="Verdana"/>
              </a:rPr>
              <a:t>Condoléances est toujours au pluriel, et toujours accompagné.</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A4 · Reprendre le fil</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5</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0D7A6F"/>
                </a:solidFill>
                <a:latin typeface="Verdana"/>
              </a:rPr>
              <a:t>PARLER DE LA PERSONNE, JAMAIS DE L'ÉVÈNEMENT</a:t>
            </a:r>
          </a:p>
        </p:txBody>
      </p:sp>
      <p:sp>
        <p:nvSpPr>
          <p:cNvPr id="6" name="Rounded Rectangle 5"/>
          <p:cNvSpPr/>
          <p:nvPr/>
        </p:nvSpPr>
        <p:spPr>
          <a:xfrm>
            <a:off x="566928" y="1225296"/>
            <a:ext cx="11057839" cy="2494788"/>
          </a:xfrm>
          <a:prstGeom prst="roundRect">
            <a:avLst>
              <a:gd name="adj" fmla="val 5864"/>
            </a:avLst>
          </a:prstGeom>
          <a:solidFill>
            <a:srgbClr val="DCF2E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298448" y="1682496"/>
            <a:ext cx="9594799" cy="1671828"/>
          </a:xfrm>
          <a:prstGeom prst="rect">
            <a:avLst/>
          </a:prstGeom>
          <a:noFill/>
        </p:spPr>
        <p:txBody>
          <a:bodyPr wrap="square" lIns="0" rIns="0" tIns="0" bIns="0" anchor="t">
            <a:spAutoFit/>
          </a:bodyPr>
          <a:lstStyle/>
          <a:p>
            <a:pPr algn="l">
              <a:lnSpc>
                <a:spcPct val="122000"/>
              </a:lnSpc>
            </a:pPr>
            <a:r>
              <a:rPr sz="3400" b="1" i="0">
                <a:solidFill>
                  <a:srgbClr val="17181A"/>
                </a:solidFill>
                <a:latin typeface="Verdana"/>
              </a:rPr>
              <a:t>La cause d'un décès ne se demande pas. Si la personne veut la dire, elle la dira.</a:t>
            </a:r>
          </a:p>
        </p:txBody>
      </p:sp>
      <p:sp>
        <p:nvSpPr>
          <p:cNvPr id="8" name="Rounded Rectangle 7"/>
          <p:cNvSpPr/>
          <p:nvPr/>
        </p:nvSpPr>
        <p:spPr>
          <a:xfrm>
            <a:off x="566928" y="3994404"/>
            <a:ext cx="11057839" cy="2040128"/>
          </a:xfrm>
          <a:prstGeom prst="roundRect">
            <a:avLst>
              <a:gd name="adj" fmla="val 7171"/>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69264" y="4268724"/>
            <a:ext cx="10234879" cy="1582928"/>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Devant un accident, on demande comment va le blessé, pas comment c'est arrivé ni qui est responsable. Devant un décès, on nomme celui qui reste. C'est la règle la plus sûre dans une langue qu'on apprend : elle évite toutes les maladresses d'un coup.</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A4 · Reprendre le fil</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6</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0D7A6F"/>
                </a:solidFill>
                <a:latin typeface="Verdana"/>
              </a:rPr>
              <a:t>COMPARER</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Ce qui ouvre, ce qui referme</a:t>
            </a:r>
          </a:p>
        </p:txBody>
      </p:sp>
      <p:sp>
        <p:nvSpPr>
          <p:cNvPr id="7" name="Rounded Rectangle 6"/>
          <p:cNvSpPr/>
          <p:nvPr/>
        </p:nvSpPr>
        <p:spPr>
          <a:xfrm>
            <a:off x="566928" y="181051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886968" y="2084831"/>
            <a:ext cx="4806543" cy="656843"/>
          </a:xfrm>
          <a:prstGeom prst="rect">
            <a:avLst/>
          </a:prstGeom>
          <a:noFill/>
        </p:spPr>
        <p:txBody>
          <a:bodyPr wrap="square" lIns="0" rIns="0" tIns="0" bIns="0" anchor="t">
            <a:spAutoFit/>
          </a:bodyPr>
          <a:lstStyle/>
          <a:p>
            <a:pPr algn="l">
              <a:lnSpc>
                <a:spcPct val="118000"/>
              </a:lnSpc>
            </a:pPr>
            <a:r>
              <a:rPr sz="2100" b="1" i="0">
                <a:solidFill>
                  <a:srgbClr val="0D7A6F"/>
                </a:solidFill>
                <a:latin typeface="Verdana"/>
              </a:rPr>
              <a:t>Nous aussi, on a déménagé l'an passé.</a:t>
            </a:r>
          </a:p>
        </p:txBody>
      </p:sp>
      <p:sp>
        <p:nvSpPr>
          <p:cNvPr id="9" name="TextBox 8"/>
          <p:cNvSpPr txBox="1"/>
          <p:nvPr/>
        </p:nvSpPr>
        <p:spPr>
          <a:xfrm>
            <a:off x="886968" y="2769108"/>
            <a:ext cx="4806543" cy="819912"/>
          </a:xfrm>
          <a:prstGeom prst="rect">
            <a:avLst/>
          </a:prstGeom>
          <a:noFill/>
        </p:spPr>
        <p:txBody>
          <a:bodyPr wrap="square" lIns="0" rIns="0" tIns="0" bIns="0" anchor="t">
            <a:spAutoFit/>
          </a:bodyPr>
          <a:lstStyle/>
          <a:p>
            <a:pPr algn="l">
              <a:lnSpc>
                <a:spcPct val="142000"/>
              </a:lnSpc>
            </a:pPr>
            <a:r>
              <a:rPr sz="1500" b="0" i="0">
                <a:solidFill>
                  <a:srgbClr val="3A3D40"/>
                </a:solidFill>
                <a:latin typeface="Verdana"/>
              </a:rPr>
              <a:t>Referme. La conversation revient vers celui qui parle, et l'autre cesse de raconter.</a:t>
            </a:r>
          </a:p>
        </p:txBody>
      </p:sp>
      <p:sp>
        <p:nvSpPr>
          <p:cNvPr id="10" name="Rounded Rectangle 9"/>
          <p:cNvSpPr/>
          <p:nvPr/>
        </p:nvSpPr>
        <p:spPr>
          <a:xfrm>
            <a:off x="6178143" y="181051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498183" y="2084831"/>
            <a:ext cx="4806543" cy="656843"/>
          </a:xfrm>
          <a:prstGeom prst="rect">
            <a:avLst/>
          </a:prstGeom>
          <a:noFill/>
        </p:spPr>
        <p:txBody>
          <a:bodyPr wrap="square" lIns="0" rIns="0" tIns="0" bIns="0" anchor="t">
            <a:spAutoFit/>
          </a:bodyPr>
          <a:lstStyle/>
          <a:p>
            <a:pPr algn="l">
              <a:lnSpc>
                <a:spcPct val="118000"/>
              </a:lnSpc>
            </a:pPr>
            <a:r>
              <a:rPr sz="2100" b="1" i="0">
                <a:solidFill>
                  <a:srgbClr val="0D7A6F"/>
                </a:solidFill>
                <a:latin typeface="Verdana"/>
              </a:rPr>
              <a:t>Et le nouveau quartier, vous vous y plaisez ?</a:t>
            </a:r>
          </a:p>
        </p:txBody>
      </p:sp>
      <p:sp>
        <p:nvSpPr>
          <p:cNvPr id="12" name="TextBox 11"/>
          <p:cNvSpPr txBox="1"/>
          <p:nvPr/>
        </p:nvSpPr>
        <p:spPr>
          <a:xfrm>
            <a:off x="6498183" y="2769108"/>
            <a:ext cx="4806543" cy="819912"/>
          </a:xfrm>
          <a:prstGeom prst="rect">
            <a:avLst/>
          </a:prstGeom>
          <a:noFill/>
        </p:spPr>
        <p:txBody>
          <a:bodyPr wrap="square" lIns="0" rIns="0" tIns="0" bIns="0" anchor="t">
            <a:spAutoFit/>
          </a:bodyPr>
          <a:lstStyle/>
          <a:p>
            <a:pPr algn="l">
              <a:lnSpc>
                <a:spcPct val="142000"/>
              </a:lnSpc>
            </a:pPr>
            <a:r>
              <a:rPr sz="1500" b="0" i="0">
                <a:solidFill>
                  <a:srgbClr val="3A3D40"/>
                </a:solidFill>
                <a:latin typeface="Verdana"/>
              </a:rPr>
              <a:t>Ouvre. Une question sur le présent, à laquelle il y a beaucoup à répondre.</a:t>
            </a:r>
          </a:p>
        </p:txBody>
      </p:sp>
      <p:sp>
        <p:nvSpPr>
          <p:cNvPr id="13" name="Rounded Rectangle 12"/>
          <p:cNvSpPr/>
          <p:nvPr/>
        </p:nvSpPr>
        <p:spPr>
          <a:xfrm>
            <a:off x="566928" y="402793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86968" y="4302252"/>
            <a:ext cx="4806543" cy="656843"/>
          </a:xfrm>
          <a:prstGeom prst="rect">
            <a:avLst/>
          </a:prstGeom>
          <a:noFill/>
        </p:spPr>
        <p:txBody>
          <a:bodyPr wrap="square" lIns="0" rIns="0" tIns="0" bIns="0" anchor="t">
            <a:spAutoFit/>
          </a:bodyPr>
          <a:lstStyle/>
          <a:p>
            <a:pPr algn="l">
              <a:lnSpc>
                <a:spcPct val="118000"/>
              </a:lnSpc>
            </a:pPr>
            <a:r>
              <a:rPr sz="2100" b="1" i="0">
                <a:solidFill>
                  <a:srgbClr val="0D7A6F"/>
                </a:solidFill>
                <a:latin typeface="Verdana"/>
              </a:rPr>
              <a:t>Ça va aller, ce n'est pas grave.</a:t>
            </a:r>
          </a:p>
        </p:txBody>
      </p:sp>
      <p:sp>
        <p:nvSpPr>
          <p:cNvPr id="15" name="TextBox 14"/>
          <p:cNvSpPr txBox="1"/>
          <p:nvPr/>
        </p:nvSpPr>
        <p:spPr>
          <a:xfrm>
            <a:off x="886968" y="4986528"/>
            <a:ext cx="4806543" cy="819912"/>
          </a:xfrm>
          <a:prstGeom prst="rect">
            <a:avLst/>
          </a:prstGeom>
          <a:noFill/>
        </p:spPr>
        <p:txBody>
          <a:bodyPr wrap="square" lIns="0" rIns="0" tIns="0" bIns="0" anchor="t">
            <a:spAutoFit/>
          </a:bodyPr>
          <a:lstStyle/>
          <a:p>
            <a:pPr algn="l">
              <a:lnSpc>
                <a:spcPct val="142000"/>
              </a:lnSpc>
            </a:pPr>
            <a:r>
              <a:rPr sz="1500" b="0" i="0">
                <a:solidFill>
                  <a:srgbClr val="3A3D40"/>
                </a:solidFill>
                <a:latin typeface="Verdana"/>
              </a:rPr>
              <a:t>Referme. Décider à la place de l'autre que ce n'est pas grave lui enlève le droit de trouver ça grave.</a:t>
            </a:r>
          </a:p>
        </p:txBody>
      </p:sp>
      <p:sp>
        <p:nvSpPr>
          <p:cNvPr id="16" name="Rounded Rectangle 15"/>
          <p:cNvSpPr/>
          <p:nvPr/>
        </p:nvSpPr>
        <p:spPr>
          <a:xfrm>
            <a:off x="6178143" y="402793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498183" y="4302252"/>
            <a:ext cx="4806543" cy="656843"/>
          </a:xfrm>
          <a:prstGeom prst="rect">
            <a:avLst/>
          </a:prstGeom>
          <a:noFill/>
        </p:spPr>
        <p:txBody>
          <a:bodyPr wrap="square" lIns="0" rIns="0" tIns="0" bIns="0" anchor="t">
            <a:spAutoFit/>
          </a:bodyPr>
          <a:lstStyle/>
          <a:p>
            <a:pPr algn="l">
              <a:lnSpc>
                <a:spcPct val="118000"/>
              </a:lnSpc>
            </a:pPr>
            <a:r>
              <a:rPr sz="2100" b="1" i="0">
                <a:solidFill>
                  <a:srgbClr val="0D7A6F"/>
                </a:solidFill>
                <a:latin typeface="Verdana"/>
              </a:rPr>
              <a:t>J'espère que ça va aller. Dis-moi si je peux aider.</a:t>
            </a:r>
          </a:p>
        </p:txBody>
      </p:sp>
      <p:sp>
        <p:nvSpPr>
          <p:cNvPr id="18" name="TextBox 17"/>
          <p:cNvSpPr txBox="1"/>
          <p:nvPr/>
        </p:nvSpPr>
        <p:spPr>
          <a:xfrm>
            <a:off x="6498183" y="4986528"/>
            <a:ext cx="4806543" cy="819912"/>
          </a:xfrm>
          <a:prstGeom prst="rect">
            <a:avLst/>
          </a:prstGeom>
          <a:noFill/>
        </p:spPr>
        <p:txBody>
          <a:bodyPr wrap="square" lIns="0" rIns="0" tIns="0" bIns="0" anchor="t">
            <a:spAutoFit/>
          </a:bodyPr>
          <a:lstStyle/>
          <a:p>
            <a:pPr algn="l">
              <a:lnSpc>
                <a:spcPct val="142000"/>
              </a:lnSpc>
            </a:pPr>
            <a:r>
              <a:rPr sz="1500" b="0" i="0">
                <a:solidFill>
                  <a:srgbClr val="3A3D40"/>
                </a:solidFill>
                <a:latin typeface="Verdana"/>
              </a:rPr>
              <a:t>Ouvre. On reconnaît la difficulté, et on laisse à l'autre le choix de la suite.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A4 · Reprendre le fil</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7</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0D7A6F"/>
                </a:solidFill>
                <a:latin typeface="Verdana"/>
              </a:rPr>
              <a:t>ASSOCIATION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Qu'est-ce que tu réponds ?</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Lisez la nouvelle, puis choisissez la réponse qui convient.</a:t>
            </a:r>
          </a:p>
        </p:txBody>
      </p:sp>
      <p:sp>
        <p:nvSpPr>
          <p:cNvPr id="8" name="Rounded Rectangle 7"/>
          <p:cNvSpPr/>
          <p:nvPr/>
        </p:nvSpPr>
        <p:spPr>
          <a:xfrm>
            <a:off x="566928" y="2139696"/>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36724"/>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00732"/>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1</a:t>
            </a:r>
          </a:p>
        </p:txBody>
      </p:sp>
      <p:sp>
        <p:nvSpPr>
          <p:cNvPr id="11" name="TextBox 10"/>
          <p:cNvSpPr txBox="1"/>
          <p:nvPr/>
        </p:nvSpPr>
        <p:spPr>
          <a:xfrm>
            <a:off x="1344168" y="229514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Notre fille Assia est née le 14 mars.</a:t>
            </a:r>
          </a:p>
        </p:txBody>
      </p:sp>
      <p:sp>
        <p:nvSpPr>
          <p:cNvPr id="12" name="Rounded Rectangle 11"/>
          <p:cNvSpPr/>
          <p:nvPr/>
        </p:nvSpPr>
        <p:spPr>
          <a:xfrm>
            <a:off x="566928" y="2827528"/>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2924556"/>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2988564"/>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2</a:t>
            </a:r>
          </a:p>
        </p:txBody>
      </p:sp>
      <p:sp>
        <p:nvSpPr>
          <p:cNvPr id="15" name="TextBox 14"/>
          <p:cNvSpPr txBox="1"/>
          <p:nvPr/>
        </p:nvSpPr>
        <p:spPr>
          <a:xfrm>
            <a:off x="1344168" y="2982975"/>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Mon oncle Mamadou est décédé en février.</a:t>
            </a:r>
          </a:p>
        </p:txBody>
      </p:sp>
      <p:sp>
        <p:nvSpPr>
          <p:cNvPr id="16" name="Rounded Rectangle 15"/>
          <p:cNvSpPr/>
          <p:nvPr/>
        </p:nvSpPr>
        <p:spPr>
          <a:xfrm>
            <a:off x="566928" y="3515359"/>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612388"/>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676395"/>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3</a:t>
            </a:r>
          </a:p>
        </p:txBody>
      </p:sp>
      <p:sp>
        <p:nvSpPr>
          <p:cNvPr id="19" name="TextBox 18"/>
          <p:cNvSpPr txBox="1"/>
          <p:nvPr/>
        </p:nvSpPr>
        <p:spPr>
          <a:xfrm>
            <a:off x="1344168" y="3670807"/>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Mon beau-frère s'est cassé la cheville au travail.</a:t>
            </a:r>
          </a:p>
        </p:txBody>
      </p:sp>
      <p:sp>
        <p:nvSpPr>
          <p:cNvPr id="20" name="Rounded Rectangle 19"/>
          <p:cNvSpPr/>
          <p:nvPr/>
        </p:nvSpPr>
        <p:spPr>
          <a:xfrm>
            <a:off x="566928" y="4203192"/>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300220"/>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364228"/>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4</a:t>
            </a:r>
          </a:p>
        </p:txBody>
      </p:sp>
      <p:sp>
        <p:nvSpPr>
          <p:cNvPr id="23" name="TextBox 22"/>
          <p:cNvSpPr txBox="1"/>
          <p:nvPr/>
        </p:nvSpPr>
        <p:spPr>
          <a:xfrm>
            <a:off x="1344168" y="4358640"/>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Nous avons déménagé en juin.</a:t>
            </a:r>
          </a:p>
        </p:txBody>
      </p:sp>
      <p:sp>
        <p:nvSpPr>
          <p:cNvPr id="24" name="Rounded Rectangle 23"/>
          <p:cNvSpPr/>
          <p:nvPr/>
        </p:nvSpPr>
        <p:spPr>
          <a:xfrm>
            <a:off x="566928" y="4891023"/>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4988051"/>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052059"/>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5</a:t>
            </a:r>
          </a:p>
        </p:txBody>
      </p:sp>
      <p:sp>
        <p:nvSpPr>
          <p:cNvPr id="27" name="TextBox 26"/>
          <p:cNvSpPr txBox="1"/>
          <p:nvPr/>
        </p:nvSpPr>
        <p:spPr>
          <a:xfrm>
            <a:off x="1344168" y="5046471"/>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Ma cousine se marie le 12 septembre.</a:t>
            </a:r>
          </a:p>
        </p:txBody>
      </p:sp>
      <p:sp>
        <p:nvSpPr>
          <p:cNvPr id="28" name="Rounded Rectangle 27"/>
          <p:cNvSpPr/>
          <p:nvPr/>
        </p:nvSpPr>
        <p:spPr>
          <a:xfrm>
            <a:off x="566928" y="5578856"/>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a:off x="841247" y="5675884"/>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41247" y="5739892"/>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6</a:t>
            </a:r>
          </a:p>
        </p:txBody>
      </p:sp>
      <p:sp>
        <p:nvSpPr>
          <p:cNvPr id="31" name="TextBox 30"/>
          <p:cNvSpPr txBox="1"/>
          <p:nvPr/>
        </p:nvSpPr>
        <p:spPr>
          <a:xfrm>
            <a:off x="1344168" y="573430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Ma sœur est arrivée de Conakry en octobre.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A4 · Reprendre le fil</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8</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0D7A6F"/>
                </a:solidFill>
                <a:latin typeface="Verdana"/>
              </a:rPr>
              <a:t>CORRECTION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Qu'est-ce que tu réponds ?</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Correction — on lit la réponse, on ne commente pas l'erreur.</a:t>
            </a:r>
          </a:p>
        </p:txBody>
      </p:sp>
      <p:sp>
        <p:nvSpPr>
          <p:cNvPr id="8" name="Rounded Rectangle 7"/>
          <p:cNvSpPr/>
          <p:nvPr/>
        </p:nvSpPr>
        <p:spPr>
          <a:xfrm>
            <a:off x="566928" y="2139696"/>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36724"/>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00732"/>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1</a:t>
            </a:r>
          </a:p>
        </p:txBody>
      </p:sp>
      <p:sp>
        <p:nvSpPr>
          <p:cNvPr id="11" name="TextBox 10"/>
          <p:cNvSpPr txBox="1"/>
          <p:nvPr/>
        </p:nvSpPr>
        <p:spPr>
          <a:xfrm>
            <a:off x="1344168" y="229514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Notre fille Assia est née le 14 mars.   </a:t>
            </a:r>
            <a:r>
              <a:rPr sz="1400" b="1" i="0">
                <a:solidFill>
                  <a:srgbClr val="07734A"/>
                </a:solidFill>
                <a:latin typeface="Verdana"/>
              </a:rPr>
              <a:t>» Félicitations à vous deux ! Comment va la maman ?</a:t>
            </a:r>
          </a:p>
        </p:txBody>
      </p:sp>
      <p:sp>
        <p:nvSpPr>
          <p:cNvPr id="12" name="Rounded Rectangle 11"/>
          <p:cNvSpPr/>
          <p:nvPr/>
        </p:nvSpPr>
        <p:spPr>
          <a:xfrm>
            <a:off x="566928" y="2827528"/>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2924556"/>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2988564"/>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2</a:t>
            </a:r>
          </a:p>
        </p:txBody>
      </p:sp>
      <p:sp>
        <p:nvSpPr>
          <p:cNvPr id="15" name="TextBox 14"/>
          <p:cNvSpPr txBox="1"/>
          <p:nvPr/>
        </p:nvSpPr>
        <p:spPr>
          <a:xfrm>
            <a:off x="1344168" y="2982975"/>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Mon oncle Mamadou est décédé en février.   </a:t>
            </a:r>
            <a:r>
              <a:rPr sz="1400" b="1" i="0">
                <a:solidFill>
                  <a:srgbClr val="07734A"/>
                </a:solidFill>
                <a:latin typeface="Verdana"/>
              </a:rPr>
              <a:t>» Toutes mes condoléances. Je pense à toi.</a:t>
            </a:r>
          </a:p>
        </p:txBody>
      </p:sp>
      <p:sp>
        <p:nvSpPr>
          <p:cNvPr id="16" name="Rounded Rectangle 15"/>
          <p:cNvSpPr/>
          <p:nvPr/>
        </p:nvSpPr>
        <p:spPr>
          <a:xfrm>
            <a:off x="566928" y="3515359"/>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612388"/>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676395"/>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3</a:t>
            </a:r>
          </a:p>
        </p:txBody>
      </p:sp>
      <p:sp>
        <p:nvSpPr>
          <p:cNvPr id="19" name="TextBox 18"/>
          <p:cNvSpPr txBox="1"/>
          <p:nvPr/>
        </p:nvSpPr>
        <p:spPr>
          <a:xfrm>
            <a:off x="1344168" y="3670807"/>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Mon beau-frère s'est cassé la cheville au travail.   </a:t>
            </a:r>
            <a:r>
              <a:rPr sz="1400" b="1" i="0">
                <a:solidFill>
                  <a:srgbClr val="07734A"/>
                </a:solidFill>
                <a:latin typeface="Verdana"/>
              </a:rPr>
              <a:t>» Bon rétablissement à lui. Est-ce qu'il remarche ?</a:t>
            </a:r>
          </a:p>
        </p:txBody>
      </p:sp>
      <p:sp>
        <p:nvSpPr>
          <p:cNvPr id="20" name="Rounded Rectangle 19"/>
          <p:cNvSpPr/>
          <p:nvPr/>
        </p:nvSpPr>
        <p:spPr>
          <a:xfrm>
            <a:off x="566928" y="4203192"/>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300220"/>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364228"/>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4</a:t>
            </a:r>
          </a:p>
        </p:txBody>
      </p:sp>
      <p:sp>
        <p:nvSpPr>
          <p:cNvPr id="23" name="TextBox 22"/>
          <p:cNvSpPr txBox="1"/>
          <p:nvPr/>
        </p:nvSpPr>
        <p:spPr>
          <a:xfrm>
            <a:off x="1344168" y="4358640"/>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Nous avons déménagé en juin.   </a:t>
            </a:r>
            <a:r>
              <a:rPr sz="1400" b="1" i="0">
                <a:solidFill>
                  <a:srgbClr val="07734A"/>
                </a:solidFill>
                <a:latin typeface="Verdana"/>
              </a:rPr>
              <a:t>» Et le nouveau quartier, vous vous y plaisez ?</a:t>
            </a:r>
          </a:p>
        </p:txBody>
      </p:sp>
      <p:sp>
        <p:nvSpPr>
          <p:cNvPr id="24" name="Rounded Rectangle 23"/>
          <p:cNvSpPr/>
          <p:nvPr/>
        </p:nvSpPr>
        <p:spPr>
          <a:xfrm>
            <a:off x="566928" y="4891023"/>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4988051"/>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052059"/>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5</a:t>
            </a:r>
          </a:p>
        </p:txBody>
      </p:sp>
      <p:sp>
        <p:nvSpPr>
          <p:cNvPr id="27" name="TextBox 26"/>
          <p:cNvSpPr txBox="1"/>
          <p:nvPr/>
        </p:nvSpPr>
        <p:spPr>
          <a:xfrm>
            <a:off x="1344168" y="5046471"/>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Ma cousine se marie le 12 septembre.   </a:t>
            </a:r>
            <a:r>
              <a:rPr sz="1400" b="1" i="0">
                <a:solidFill>
                  <a:srgbClr val="07734A"/>
                </a:solidFill>
                <a:latin typeface="Verdana"/>
              </a:rPr>
              <a:t>» Quelle belle nouvelle ! Vous descendez pour l'occasion ?</a:t>
            </a:r>
          </a:p>
        </p:txBody>
      </p:sp>
      <p:sp>
        <p:nvSpPr>
          <p:cNvPr id="28" name="Rounded Rectangle 27"/>
          <p:cNvSpPr/>
          <p:nvPr/>
        </p:nvSpPr>
        <p:spPr>
          <a:xfrm>
            <a:off x="566928" y="5578856"/>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a:off x="841247" y="5675884"/>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41247" y="5739892"/>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6</a:t>
            </a:r>
          </a:p>
        </p:txBody>
      </p:sp>
      <p:sp>
        <p:nvSpPr>
          <p:cNvPr id="31" name="TextBox 30"/>
          <p:cNvSpPr txBox="1"/>
          <p:nvPr/>
        </p:nvSpPr>
        <p:spPr>
          <a:xfrm>
            <a:off x="1344168" y="573430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Ma sœur est arrivée de Conakry en octobre.   </a:t>
            </a:r>
            <a:r>
              <a:rPr sz="1400" b="1" i="0">
                <a:solidFill>
                  <a:srgbClr val="07734A"/>
                </a:solidFill>
                <a:latin typeface="Verdana"/>
              </a:rPr>
              <a:t>» Ça doit vous faire du bien de l'avoir avec vous.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A4 · Reprendre le fil</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9</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0D7A6F"/>
                </a:solidFill>
                <a:latin typeface="Verdana"/>
              </a:rPr>
              <a:t>VOCABULAIRE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Les lieux de cette histoire</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Décrivez chaque lieu en une phrase, puis dites ce qui s'y passe.</a:t>
            </a:r>
          </a:p>
        </p:txBody>
      </p:sp>
      <p:sp>
        <p:nvSpPr>
          <p:cNvPr id="8" name="Rounded Rectangle 7"/>
          <p:cNvSpPr/>
          <p:nvPr/>
        </p:nvSpPr>
        <p:spPr>
          <a:xfrm>
            <a:off x="566928" y="2139696"/>
            <a:ext cx="5464911" cy="986535"/>
          </a:xfrm>
          <a:prstGeom prst="roundRect">
            <a:avLst>
              <a:gd name="adj" fmla="val 14830"/>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450083"/>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514091"/>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1</a:t>
            </a:r>
          </a:p>
        </p:txBody>
      </p:sp>
      <p:sp>
        <p:nvSpPr>
          <p:cNvPr id="11" name="TextBox 10"/>
          <p:cNvSpPr txBox="1"/>
          <p:nvPr/>
        </p:nvSpPr>
        <p:spPr>
          <a:xfrm>
            <a:off x="1344168" y="2295144"/>
            <a:ext cx="4504791" cy="71221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le comptoir de la boulangerie</a:t>
            </a:r>
          </a:p>
        </p:txBody>
      </p:sp>
      <p:sp>
        <p:nvSpPr>
          <p:cNvPr id="12" name="Rounded Rectangle 11"/>
          <p:cNvSpPr/>
          <p:nvPr/>
        </p:nvSpPr>
        <p:spPr>
          <a:xfrm>
            <a:off x="6159855" y="2139696"/>
            <a:ext cx="5464911" cy="986535"/>
          </a:xfrm>
          <a:prstGeom prst="roundRect">
            <a:avLst>
              <a:gd name="adj" fmla="val 14830"/>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6434175" y="2450083"/>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34175" y="2514091"/>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2</a:t>
            </a:r>
          </a:p>
        </p:txBody>
      </p:sp>
      <p:sp>
        <p:nvSpPr>
          <p:cNvPr id="15" name="TextBox 14"/>
          <p:cNvSpPr txBox="1"/>
          <p:nvPr/>
        </p:nvSpPr>
        <p:spPr>
          <a:xfrm>
            <a:off x="6937095" y="2295144"/>
            <a:ext cx="4504791" cy="71221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l'écran du courriel</a:t>
            </a:r>
          </a:p>
        </p:txBody>
      </p:sp>
      <p:sp>
        <p:nvSpPr>
          <p:cNvPr id="16" name="Rounded Rectangle 15"/>
          <p:cNvSpPr/>
          <p:nvPr/>
        </p:nvSpPr>
        <p:spPr>
          <a:xfrm>
            <a:off x="566928" y="3254248"/>
            <a:ext cx="5464911" cy="986535"/>
          </a:xfrm>
          <a:prstGeom prst="roundRect">
            <a:avLst>
              <a:gd name="adj" fmla="val 14830"/>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564635"/>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628643"/>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3</a:t>
            </a:r>
          </a:p>
        </p:txBody>
      </p:sp>
      <p:sp>
        <p:nvSpPr>
          <p:cNvPr id="19" name="TextBox 18"/>
          <p:cNvSpPr txBox="1"/>
          <p:nvPr/>
        </p:nvSpPr>
        <p:spPr>
          <a:xfrm>
            <a:off x="1344168" y="3409696"/>
            <a:ext cx="4504791" cy="71221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la table de cuisine</a:t>
            </a:r>
          </a:p>
        </p:txBody>
      </p:sp>
      <p:sp>
        <p:nvSpPr>
          <p:cNvPr id="20" name="Rounded Rectangle 19"/>
          <p:cNvSpPr/>
          <p:nvPr/>
        </p:nvSpPr>
        <p:spPr>
          <a:xfrm>
            <a:off x="6159855" y="3254248"/>
            <a:ext cx="5464911" cy="986535"/>
          </a:xfrm>
          <a:prstGeom prst="roundRect">
            <a:avLst>
              <a:gd name="adj" fmla="val 14830"/>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6434175" y="3564635"/>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6434175" y="3628643"/>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4</a:t>
            </a:r>
          </a:p>
        </p:txBody>
      </p:sp>
      <p:sp>
        <p:nvSpPr>
          <p:cNvPr id="23" name="TextBox 22"/>
          <p:cNvSpPr txBox="1"/>
          <p:nvPr/>
        </p:nvSpPr>
        <p:spPr>
          <a:xfrm>
            <a:off x="6937095" y="3409696"/>
            <a:ext cx="4504791" cy="71221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le terminus d'autobus</a:t>
            </a:r>
          </a:p>
        </p:txBody>
      </p:sp>
      <p:sp>
        <p:nvSpPr>
          <p:cNvPr id="24" name="Rounded Rectangle 23"/>
          <p:cNvSpPr/>
          <p:nvPr/>
        </p:nvSpPr>
        <p:spPr>
          <a:xfrm>
            <a:off x="566928" y="4368800"/>
            <a:ext cx="5464911" cy="986535"/>
          </a:xfrm>
          <a:prstGeom prst="roundRect">
            <a:avLst>
              <a:gd name="adj" fmla="val 14830"/>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4679188"/>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4743196"/>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5</a:t>
            </a:r>
          </a:p>
        </p:txBody>
      </p:sp>
      <p:sp>
        <p:nvSpPr>
          <p:cNvPr id="27" name="TextBox 26"/>
          <p:cNvSpPr txBox="1"/>
          <p:nvPr/>
        </p:nvSpPr>
        <p:spPr>
          <a:xfrm>
            <a:off x="1344168" y="4524248"/>
            <a:ext cx="4504791" cy="71221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la salle communautaire</a:t>
            </a:r>
          </a:p>
        </p:txBody>
      </p:sp>
      <p:sp>
        <p:nvSpPr>
          <p:cNvPr id="28" name="Rounded Rectangle 27"/>
          <p:cNvSpPr/>
          <p:nvPr/>
        </p:nvSpPr>
        <p:spPr>
          <a:xfrm>
            <a:off x="6159855" y="4368800"/>
            <a:ext cx="5464911" cy="986535"/>
          </a:xfrm>
          <a:prstGeom prst="roundRect">
            <a:avLst>
              <a:gd name="adj" fmla="val 14830"/>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a:off x="6434175" y="4679188"/>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6434175" y="4743196"/>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6</a:t>
            </a:r>
          </a:p>
        </p:txBody>
      </p:sp>
      <p:sp>
        <p:nvSpPr>
          <p:cNvPr id="31" name="TextBox 30"/>
          <p:cNvSpPr txBox="1"/>
          <p:nvPr/>
        </p:nvSpPr>
        <p:spPr>
          <a:xfrm>
            <a:off x="6937095" y="4524248"/>
            <a:ext cx="4504791" cy="71221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le journal de quartier</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A4 · Reprendre le fil</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10</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0D7A6F"/>
                </a:solidFill>
                <a:latin typeface="Verdana"/>
              </a:rPr>
              <a:t>CORRECTION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Les lieux de cette histoire</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Correction — on lit la réponse, on ne commente pas l'erreur.</a:t>
            </a:r>
          </a:p>
        </p:txBody>
      </p:sp>
      <p:sp>
        <p:nvSpPr>
          <p:cNvPr id="8" name="Rounded Rectangle 7"/>
          <p:cNvSpPr/>
          <p:nvPr/>
        </p:nvSpPr>
        <p:spPr>
          <a:xfrm>
            <a:off x="566928" y="2139696"/>
            <a:ext cx="5464911" cy="986535"/>
          </a:xfrm>
          <a:prstGeom prst="roundRect">
            <a:avLst>
              <a:gd name="adj" fmla="val 14830"/>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450083"/>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514091"/>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1</a:t>
            </a:r>
          </a:p>
        </p:txBody>
      </p:sp>
      <p:sp>
        <p:nvSpPr>
          <p:cNvPr id="11" name="TextBox 10"/>
          <p:cNvSpPr txBox="1"/>
          <p:nvPr/>
        </p:nvSpPr>
        <p:spPr>
          <a:xfrm>
            <a:off x="1344168" y="2295144"/>
            <a:ext cx="4504791" cy="71221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le comptoir de la boulangerie   </a:t>
            </a:r>
            <a:r>
              <a:rPr sz="1900" b="1" i="0">
                <a:solidFill>
                  <a:srgbClr val="07734A"/>
                </a:solidFill>
                <a:latin typeface="Verdana"/>
              </a:rPr>
              <a:t>» Marisol y travaille tôt le matin</a:t>
            </a:r>
          </a:p>
        </p:txBody>
      </p:sp>
      <p:sp>
        <p:nvSpPr>
          <p:cNvPr id="12" name="Rounded Rectangle 11"/>
          <p:cNvSpPr/>
          <p:nvPr/>
        </p:nvSpPr>
        <p:spPr>
          <a:xfrm>
            <a:off x="6159855" y="2139696"/>
            <a:ext cx="5464911" cy="986535"/>
          </a:xfrm>
          <a:prstGeom prst="roundRect">
            <a:avLst>
              <a:gd name="adj" fmla="val 14830"/>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6434175" y="2450083"/>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434175" y="2514091"/>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2</a:t>
            </a:r>
          </a:p>
        </p:txBody>
      </p:sp>
      <p:sp>
        <p:nvSpPr>
          <p:cNvPr id="15" name="TextBox 14"/>
          <p:cNvSpPr txBox="1"/>
          <p:nvPr/>
        </p:nvSpPr>
        <p:spPr>
          <a:xfrm>
            <a:off x="6937095" y="2295144"/>
            <a:ext cx="4504791" cy="71221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l'écran du courriel   </a:t>
            </a:r>
            <a:r>
              <a:rPr sz="1900" b="1" i="0">
                <a:solidFill>
                  <a:srgbClr val="07734A"/>
                </a:solidFill>
                <a:latin typeface="Verdana"/>
              </a:rPr>
              <a:t>» les quatre paragraphes d'Ousmane</a:t>
            </a:r>
          </a:p>
        </p:txBody>
      </p:sp>
      <p:sp>
        <p:nvSpPr>
          <p:cNvPr id="16" name="Rounded Rectangle 15"/>
          <p:cNvSpPr/>
          <p:nvPr/>
        </p:nvSpPr>
        <p:spPr>
          <a:xfrm>
            <a:off x="566928" y="3254248"/>
            <a:ext cx="5464911" cy="986535"/>
          </a:xfrm>
          <a:prstGeom prst="roundRect">
            <a:avLst>
              <a:gd name="adj" fmla="val 14830"/>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564635"/>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628643"/>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3</a:t>
            </a:r>
          </a:p>
        </p:txBody>
      </p:sp>
      <p:sp>
        <p:nvSpPr>
          <p:cNvPr id="19" name="TextBox 18"/>
          <p:cNvSpPr txBox="1"/>
          <p:nvPr/>
        </p:nvSpPr>
        <p:spPr>
          <a:xfrm>
            <a:off x="1344168" y="3409696"/>
            <a:ext cx="4504791" cy="71221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la table de cuisine   </a:t>
            </a:r>
            <a:r>
              <a:rPr sz="1900" b="1" i="0">
                <a:solidFill>
                  <a:srgbClr val="07734A"/>
                </a:solidFill>
                <a:latin typeface="Verdana"/>
              </a:rPr>
              <a:t>» Marisol relit la feuille imprimée</a:t>
            </a:r>
          </a:p>
        </p:txBody>
      </p:sp>
      <p:sp>
        <p:nvSpPr>
          <p:cNvPr id="20" name="Rounded Rectangle 19"/>
          <p:cNvSpPr/>
          <p:nvPr/>
        </p:nvSpPr>
        <p:spPr>
          <a:xfrm>
            <a:off x="6159855" y="3254248"/>
            <a:ext cx="5464911" cy="986535"/>
          </a:xfrm>
          <a:prstGeom prst="roundRect">
            <a:avLst>
              <a:gd name="adj" fmla="val 14830"/>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6434175" y="3564635"/>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6434175" y="3628643"/>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4</a:t>
            </a:r>
          </a:p>
        </p:txBody>
      </p:sp>
      <p:sp>
        <p:nvSpPr>
          <p:cNvPr id="23" name="TextBox 22"/>
          <p:cNvSpPr txBox="1"/>
          <p:nvPr/>
        </p:nvSpPr>
        <p:spPr>
          <a:xfrm>
            <a:off x="6937095" y="3409696"/>
            <a:ext cx="4504791" cy="71221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le terminus d'autobus   </a:t>
            </a:r>
            <a:r>
              <a:rPr sz="1900" b="1" i="0">
                <a:solidFill>
                  <a:srgbClr val="07734A"/>
                </a:solidFill>
                <a:latin typeface="Verdana"/>
              </a:rPr>
              <a:t>» Kadiatou et Ousmane arrivent vendredi</a:t>
            </a:r>
          </a:p>
        </p:txBody>
      </p:sp>
      <p:sp>
        <p:nvSpPr>
          <p:cNvPr id="24" name="Rounded Rectangle 23"/>
          <p:cNvSpPr/>
          <p:nvPr/>
        </p:nvSpPr>
        <p:spPr>
          <a:xfrm>
            <a:off x="566928" y="4368800"/>
            <a:ext cx="5464911" cy="986535"/>
          </a:xfrm>
          <a:prstGeom prst="roundRect">
            <a:avLst>
              <a:gd name="adj" fmla="val 14830"/>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4679188"/>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4743196"/>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5</a:t>
            </a:r>
          </a:p>
        </p:txBody>
      </p:sp>
      <p:sp>
        <p:nvSpPr>
          <p:cNvPr id="27" name="TextBox 26"/>
          <p:cNvSpPr txBox="1"/>
          <p:nvPr/>
        </p:nvSpPr>
        <p:spPr>
          <a:xfrm>
            <a:off x="1344168" y="4524248"/>
            <a:ext cx="4504791" cy="71221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la salle communautaire   </a:t>
            </a:r>
            <a:r>
              <a:rPr sz="1900" b="1" i="0">
                <a:solidFill>
                  <a:srgbClr val="07734A"/>
                </a:solidFill>
                <a:latin typeface="Verdana"/>
              </a:rPr>
              <a:t>» l'organisme du quartier s'y réunit</a:t>
            </a:r>
          </a:p>
        </p:txBody>
      </p:sp>
      <p:sp>
        <p:nvSpPr>
          <p:cNvPr id="28" name="Rounded Rectangle 27"/>
          <p:cNvSpPr/>
          <p:nvPr/>
        </p:nvSpPr>
        <p:spPr>
          <a:xfrm>
            <a:off x="6159855" y="4368800"/>
            <a:ext cx="5464911" cy="986535"/>
          </a:xfrm>
          <a:prstGeom prst="roundRect">
            <a:avLst>
              <a:gd name="adj" fmla="val 14830"/>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a:off x="6434175" y="4679188"/>
            <a:ext cx="365760" cy="365760"/>
          </a:xfrm>
          <a:prstGeom prst="roundRect">
            <a:avLst>
              <a:gd name="adj" fmla="val 32500"/>
            </a:avLst>
          </a:prstGeom>
          <a:solidFill>
            <a:srgbClr val="DCF2E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6434175" y="4743196"/>
            <a:ext cx="365760" cy="256032"/>
          </a:xfrm>
          <a:prstGeom prst="rect">
            <a:avLst/>
          </a:prstGeom>
          <a:noFill/>
        </p:spPr>
        <p:txBody>
          <a:bodyPr wrap="square" lIns="0" rIns="0" tIns="0" bIns="0" anchor="t">
            <a:spAutoFit/>
          </a:bodyPr>
          <a:lstStyle/>
          <a:p>
            <a:pPr algn="ctr">
              <a:lnSpc>
                <a:spcPct val="135000"/>
              </a:lnSpc>
            </a:pPr>
            <a:r>
              <a:rPr sz="1500" b="1" i="0">
                <a:solidFill>
                  <a:srgbClr val="0D7A6F"/>
                </a:solidFill>
                <a:latin typeface="Verdana"/>
              </a:rPr>
              <a:t>6</a:t>
            </a:r>
          </a:p>
        </p:txBody>
      </p:sp>
      <p:sp>
        <p:nvSpPr>
          <p:cNvPr id="31" name="TextBox 30"/>
          <p:cNvSpPr txBox="1"/>
          <p:nvPr/>
        </p:nvSpPr>
        <p:spPr>
          <a:xfrm>
            <a:off x="6937095" y="4524248"/>
            <a:ext cx="4504791" cy="71221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le journal de quartier   </a:t>
            </a:r>
            <a:r>
              <a:rPr sz="1900" b="1" i="0">
                <a:solidFill>
                  <a:srgbClr val="07734A"/>
                </a:solidFill>
                <a:latin typeface="Verdana"/>
              </a:rPr>
              <a:t>» l'article du Défi 3</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A4 · Reprendre le fil</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11</a:t>
            </a:r>
          </a:p>
        </p:txBody>
      </p:sp>
      <p:sp>
        <p:nvSpPr>
          <p:cNvPr id="5" name="Rectangle 4"/>
          <p:cNvSpPr/>
          <p:nvPr/>
        </p:nvSpPr>
        <p:spPr>
          <a:xfrm>
            <a:off x="0" y="0"/>
            <a:ext cx="12191695" cy="6858000"/>
          </a:xfrm>
          <a:prstGeom prst="rect">
            <a:avLst/>
          </a:prstGeom>
          <a:solidFill>
            <a:srgbClr val="1718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66928" y="1051560"/>
            <a:ext cx="11057839" cy="274320"/>
          </a:xfrm>
          <a:prstGeom prst="rect">
            <a:avLst/>
          </a:prstGeom>
          <a:noFill/>
        </p:spPr>
        <p:txBody>
          <a:bodyPr wrap="square" lIns="0" rIns="0" tIns="0" bIns="0" anchor="t">
            <a:spAutoFit/>
          </a:bodyPr>
          <a:lstStyle/>
          <a:p>
            <a:pPr algn="l">
              <a:lnSpc>
                <a:spcPct val="135000"/>
              </a:lnSpc>
            </a:pPr>
            <a:r>
              <a:rPr sz="1300" b="1" i="0" spc="156">
                <a:solidFill>
                  <a:srgbClr val="FFFFFF"/>
                </a:solidFill>
                <a:latin typeface="Verdana"/>
              </a:rPr>
              <a:t>BILLET DE SORTIE</a:t>
            </a:r>
          </a:p>
        </p:txBody>
      </p:sp>
      <p:sp>
        <p:nvSpPr>
          <p:cNvPr id="7" name="TextBox 6"/>
          <p:cNvSpPr txBox="1"/>
          <p:nvPr/>
        </p:nvSpPr>
        <p:spPr>
          <a:xfrm>
            <a:off x="566928" y="1572768"/>
            <a:ext cx="9777679" cy="2103120"/>
          </a:xfrm>
          <a:prstGeom prst="rect">
            <a:avLst/>
          </a:prstGeom>
          <a:noFill/>
        </p:spPr>
        <p:txBody>
          <a:bodyPr wrap="square" lIns="0" rIns="0" tIns="0" bIns="0" anchor="t">
            <a:spAutoFit/>
          </a:bodyPr>
          <a:lstStyle/>
          <a:p>
            <a:pPr algn="l">
              <a:lnSpc>
                <a:spcPct val="125000"/>
              </a:lnSpc>
            </a:pPr>
            <a:r>
              <a:rPr sz="3400" b="1" i="0">
                <a:solidFill>
                  <a:srgbClr val="FFFFFF"/>
                </a:solidFill>
                <a:latin typeface="Verdana"/>
              </a:rPr>
              <a:t>Écris la phrase que tu dirais à Ousmane pour son oncle.</a:t>
            </a:r>
          </a:p>
        </p:txBody>
      </p:sp>
      <p:sp>
        <p:nvSpPr>
          <p:cNvPr id="8" name="Rounded Rectangle 7"/>
          <p:cNvSpPr/>
          <p:nvPr/>
        </p:nvSpPr>
        <p:spPr>
          <a:xfrm>
            <a:off x="566928" y="3931920"/>
            <a:ext cx="11057839" cy="666496"/>
          </a:xfrm>
          <a:prstGeom prst="roundRect">
            <a:avLst>
              <a:gd name="adj" fmla="val 13719"/>
            </a:avLst>
          </a:prstGeom>
          <a:solidFill>
            <a:srgbClr val="2A2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32688" y="4087368"/>
            <a:ext cx="10051999" cy="392176"/>
          </a:xfrm>
          <a:prstGeom prst="rect">
            <a:avLst/>
          </a:prstGeom>
          <a:noFill/>
        </p:spPr>
        <p:txBody>
          <a:bodyPr wrap="square" lIns="0" rIns="0" tIns="0" bIns="0" anchor="t">
            <a:spAutoFit/>
          </a:bodyPr>
          <a:lstStyle/>
          <a:p>
            <a:pPr algn="l">
              <a:lnSpc>
                <a:spcPct val="140000"/>
              </a:lnSpc>
            </a:pPr>
            <a:r>
              <a:rPr sz="2000" b="0" i="0">
                <a:solidFill>
                  <a:srgbClr val="FFFFFF"/>
                </a:solidFill>
                <a:latin typeface="Verdana"/>
              </a:rPr>
              <a:t>Une ou deux phrases.</a:t>
            </a:r>
          </a:p>
        </p:txBody>
      </p:sp>
      <p:sp>
        <p:nvSpPr>
          <p:cNvPr id="10" name="Rounded Rectangle 9"/>
          <p:cNvSpPr/>
          <p:nvPr/>
        </p:nvSpPr>
        <p:spPr>
          <a:xfrm>
            <a:off x="566928" y="4680712"/>
            <a:ext cx="11057839" cy="666496"/>
          </a:xfrm>
          <a:prstGeom prst="roundRect">
            <a:avLst>
              <a:gd name="adj" fmla="val 13719"/>
            </a:avLst>
          </a:prstGeom>
          <a:solidFill>
            <a:srgbClr val="2A2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32688" y="4836160"/>
            <a:ext cx="10051999" cy="392176"/>
          </a:xfrm>
          <a:prstGeom prst="rect">
            <a:avLst/>
          </a:prstGeom>
          <a:noFill/>
        </p:spPr>
        <p:txBody>
          <a:bodyPr wrap="square" lIns="0" rIns="0" tIns="0" bIns="0" anchor="t">
            <a:spAutoFit/>
          </a:bodyPr>
          <a:lstStyle/>
          <a:p>
            <a:pPr algn="l">
              <a:lnSpc>
                <a:spcPct val="140000"/>
              </a:lnSpc>
            </a:pPr>
            <a:r>
              <a:rPr sz="2000" b="0" i="0">
                <a:solidFill>
                  <a:srgbClr val="FFFFFF"/>
                </a:solidFill>
                <a:latin typeface="Verdana"/>
              </a:rPr>
              <a:t>Souviens-toi : on parle de la personne qui reste.</a:t>
            </a:r>
          </a:p>
        </p:txBody>
      </p:sp>
      <p:sp>
        <p:nvSpPr>
          <p:cNvPr id="12" name="TextBox 11"/>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A4 · Reprendre le fil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