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Ouverture du Défi 2. Commencer par un jeu : un élève décrit quelqu'un de la classe, les autres devinent. On note au tableau les détails qui ont permis de trouver — ce sont ceux qui se voient de loin.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L'ordre est l'objectif principal. Une description juste mais désordonnée ne permet pas de trouver quelqu'un dans une salle d'attente.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Beaucoup d'élèves ont vécu cette situation à leur arrivée au Québec. Les récits sont concrets et servent de matière pour toute la séance.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Faire remarquer la reprise de Ghislain : il répète ce qu'il a compris. C'est la stratégie que les élèves devront employer en E1.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La question de Ghislain — attachés comment ? — est le modèle de la demande de précision. La faire répéter : c'est une compétence du niveau.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Deux points d'un coup : l'ambiguïté d'un adjectif, corrigée par celle qui parle, et la relative avec où. Les deux reviennent en C3 et C4.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Faire décrire un visage rond, carré, ovale à côté d'allongé. Et faire distinguer raides, ondulés, frisés, crépus : quatre mots, quatre réalités.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Diapositive à photographier. C'est le plan de la production orale de E1 ; le dire dès maintenant.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Le deuxième énoncé vient de l'ambiguïté du dialogue. Faire retrouver la réplique où Marisol se corrige : c'est ce geste qu'on veut voir en E1.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Corriger en groupe. Donner la bonne réponse, sans revenir sur qui s'est trompé.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Deux minutes, puis lecture de deux ou trois billets à voix haute : le groupe devine. On garde les autres pour C4.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DF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123444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SÉANCE C1  ·  MODULE 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691640"/>
            <a:ext cx="9960559" cy="187451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4000" b="1" i="0">
                <a:solidFill>
                  <a:srgbClr val="17181A"/>
                </a:solidFill>
                <a:latin typeface="Verdana"/>
              </a:rPr>
              <a:t>Décrire quelqu'un assez bien pour qu'on le reconnaisse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3794760"/>
            <a:ext cx="9960559" cy="1394968"/>
          </a:xfrm>
          <a:prstGeom prst="roundRect">
            <a:avLst>
              <a:gd name="adj" fmla="val 10487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896112" y="4123944"/>
            <a:ext cx="9302191" cy="782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Décrire pour raconter et décrire pour retrouver, ce n'est pas le même métier. Dans un terminus, un beau sourire ne sert à rien.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03504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0" i="0">
                <a:solidFill>
                  <a:srgbClr val="6E7175"/>
                </a:solidFill>
                <a:latin typeface="Verdana"/>
              </a:rPr>
              <a:t>75 minutes  ·  Reprendre le fil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C1 · Reprendre le fil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OBJECTIFS DE LA SÉANCE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À la fin, je serai capable de…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764792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ounded Rectangle 7"/>
          <p:cNvSpPr/>
          <p:nvPr/>
        </p:nvSpPr>
        <p:spPr>
          <a:xfrm>
            <a:off x="804672" y="1942592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804672" y="2024887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08176" y="1965960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donner la silhouette avant le détail du visage ;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66928" y="2650744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Rounded Rectangle 11"/>
          <p:cNvSpPr/>
          <p:nvPr/>
        </p:nvSpPr>
        <p:spPr>
          <a:xfrm>
            <a:off x="804672" y="2828544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804672" y="2910840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08176" y="2851912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nommer la forme d'un visage et le type de cheveux ;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66928" y="3536696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ounded Rectangle 15"/>
          <p:cNvSpPr/>
          <p:nvPr/>
        </p:nvSpPr>
        <p:spPr>
          <a:xfrm>
            <a:off x="804672" y="3714496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804672" y="3796792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408176" y="3737864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garder le signe particulier pour la fin ;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66928" y="4422648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Rounded Rectangle 19"/>
          <p:cNvSpPr/>
          <p:nvPr/>
        </p:nvSpPr>
        <p:spPr>
          <a:xfrm>
            <a:off x="804672" y="4600448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804672" y="4682744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408176" y="4623816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employer les quatre mots du Défi 2 avec leur article.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C1 · Reprendre le fil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OBSERVATION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1" i="0">
                <a:solidFill>
                  <a:srgbClr val="17181A"/>
                </a:solidFill>
                <a:latin typeface="Verdana"/>
              </a:rPr>
              <a:t>Comment décrirais-tu quelqu'un à un chauffeur de taxi 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56232"/>
            <a:ext cx="11057839" cy="703579"/>
          </a:xfrm>
          <a:prstGeom prst="roundRect">
            <a:avLst>
              <a:gd name="adj" fmla="val 2079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ectangle 7"/>
          <p:cNvSpPr/>
          <p:nvPr/>
        </p:nvSpPr>
        <p:spPr>
          <a:xfrm>
            <a:off x="566928" y="1965960"/>
            <a:ext cx="50292" cy="484123"/>
          </a:xfrm>
          <a:prstGeom prst="rect">
            <a:avLst/>
          </a:prstGeom>
          <a:solidFill>
            <a:srgbClr val="1D6B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50976" y="2039112"/>
            <a:ext cx="10372039" cy="3743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Par quoi commencerais-tu ?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2642108"/>
            <a:ext cx="11057839" cy="703579"/>
          </a:xfrm>
          <a:prstGeom prst="roundRect">
            <a:avLst>
              <a:gd name="adj" fmla="val 2079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Rectangle 10"/>
          <p:cNvSpPr/>
          <p:nvPr/>
        </p:nvSpPr>
        <p:spPr>
          <a:xfrm>
            <a:off x="566928" y="2751836"/>
            <a:ext cx="50292" cy="484123"/>
          </a:xfrm>
          <a:prstGeom prst="rect">
            <a:avLst/>
          </a:prstGeom>
          <a:solidFill>
            <a:srgbClr val="1D6B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950976" y="2824988"/>
            <a:ext cx="10372039" cy="3743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Qu'est-ce qui se voit de vingt pieds ?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3427984"/>
            <a:ext cx="11057839" cy="703579"/>
          </a:xfrm>
          <a:prstGeom prst="roundRect">
            <a:avLst>
              <a:gd name="adj" fmla="val 2079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Rectangle 13"/>
          <p:cNvSpPr/>
          <p:nvPr/>
        </p:nvSpPr>
        <p:spPr>
          <a:xfrm>
            <a:off x="566928" y="3537712"/>
            <a:ext cx="50292" cy="484123"/>
          </a:xfrm>
          <a:prstGeom prst="rect">
            <a:avLst/>
          </a:prstGeom>
          <a:solidFill>
            <a:srgbClr val="1D6B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950976" y="3610864"/>
            <a:ext cx="10372039" cy="3743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Qu'est-ce qui ne se voit pas du tout ?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4213860"/>
            <a:ext cx="11057839" cy="703579"/>
          </a:xfrm>
          <a:prstGeom prst="roundRect">
            <a:avLst>
              <a:gd name="adj" fmla="val 2079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ectangle 16"/>
          <p:cNvSpPr/>
          <p:nvPr/>
        </p:nvSpPr>
        <p:spPr>
          <a:xfrm>
            <a:off x="566928" y="4323588"/>
            <a:ext cx="50292" cy="484123"/>
          </a:xfrm>
          <a:prstGeom prst="rect">
            <a:avLst/>
          </a:prstGeom>
          <a:solidFill>
            <a:srgbClr val="1D6B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950976" y="4396740"/>
            <a:ext cx="10372039" cy="3743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As-tu déjà attendu quelqu'un que tu n'avais jamais vu ?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C1 · Reprendre le fil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DIALOGUE · 1 DE 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Vous seriez libre vendredi 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73736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Écouter d'abord, diapositive masquée.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57984"/>
            <a:ext cx="11057839" cy="1004823"/>
          </a:xfrm>
          <a:prstGeom prst="roundRect">
            <a:avLst>
              <a:gd name="adj" fmla="val 14560"/>
            </a:avLst>
          </a:prstGeom>
          <a:solidFill>
            <a:srgbClr val="E7F0F6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32688" y="2322576"/>
            <a:ext cx="1608582" cy="73050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 i="0">
                <a:solidFill>
                  <a:srgbClr val="1D6B8F"/>
                </a:solidFill>
                <a:latin typeface="Verdana"/>
              </a:rPr>
              <a:t>MARISOL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541270" y="2322576"/>
            <a:ext cx="8534857" cy="73050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Ghislain, est-ce que vous seriez libre vendredi vers deux heures et demie ? Ousmane et sa sœur arrivent au terminus.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66928" y="3245103"/>
            <a:ext cx="11057839" cy="1004823"/>
          </a:xfrm>
          <a:prstGeom prst="roundRect">
            <a:avLst>
              <a:gd name="adj" fmla="val 14560"/>
            </a:avLst>
          </a:prstGeom>
          <a:solidFill>
            <a:srgbClr val="E7F0F6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932688" y="3409696"/>
            <a:ext cx="1608582" cy="73050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 i="0">
                <a:solidFill>
                  <a:srgbClr val="1D6B8F"/>
                </a:solidFill>
                <a:latin typeface="Verdana"/>
              </a:rPr>
              <a:t>GHISLAIN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541270" y="3409696"/>
            <a:ext cx="8534857" cy="73050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Je peux y aller. Mais Ousmane, je l'ai vu deux fois il y a trois ans. Sa sœur, jamais.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66928" y="4332224"/>
            <a:ext cx="11057839" cy="1004823"/>
          </a:xfrm>
          <a:prstGeom prst="roundRect">
            <a:avLst>
              <a:gd name="adj" fmla="val 14560"/>
            </a:avLst>
          </a:prstGeom>
          <a:solidFill>
            <a:srgbClr val="E7F0F6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932688" y="4496816"/>
            <a:ext cx="1608582" cy="73050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 i="0">
                <a:solidFill>
                  <a:srgbClr val="1D6B8F"/>
                </a:solidFill>
                <a:latin typeface="Verdana"/>
              </a:rPr>
              <a:t>MARISOL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541270" y="4496816"/>
            <a:ext cx="8534857" cy="73050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Ousmane, vous allez le reconnaître : il est très grand, mince, les épaules larges. Il a le crâne rasé maintenant.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66928" y="5419344"/>
            <a:ext cx="11057839" cy="667003"/>
          </a:xfrm>
          <a:prstGeom prst="roundRect">
            <a:avLst>
              <a:gd name="adj" fmla="val 21934"/>
            </a:avLst>
          </a:prstGeom>
          <a:solidFill>
            <a:srgbClr val="E7F0F6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932688" y="5583936"/>
            <a:ext cx="1608582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 i="0">
                <a:solidFill>
                  <a:srgbClr val="1D6B8F"/>
                </a:solidFill>
                <a:latin typeface="Verdana"/>
              </a:rPr>
              <a:t>GHISLAIN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541270" y="5583936"/>
            <a:ext cx="8534857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Bon. Grand, mince, crâne rasé. Et sa sœur ?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C1 · Reprendre le fil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DIALOGUE · 2 DE 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 visage et les cheveux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737360"/>
            <a:ext cx="11057839" cy="1004823"/>
          </a:xfrm>
          <a:prstGeom prst="roundRect">
            <a:avLst>
              <a:gd name="adj" fmla="val 14560"/>
            </a:avLst>
          </a:prstGeom>
          <a:solidFill>
            <a:srgbClr val="E7F0F6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1901952"/>
            <a:ext cx="1608582" cy="73050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 i="0">
                <a:solidFill>
                  <a:srgbClr val="1D6B8F"/>
                </a:solidFill>
                <a:latin typeface="Verdana"/>
              </a:rPr>
              <a:t>MARISOL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541270" y="1901952"/>
            <a:ext cx="8534857" cy="73050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Elle est de taille moyenne, plutôt mince. Elle a le visage allongé, les pommettes hautes, et des cheveux ondulés attachés en arrière.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2824479"/>
            <a:ext cx="11057839" cy="667003"/>
          </a:xfrm>
          <a:prstGeom prst="roundRect">
            <a:avLst>
              <a:gd name="adj" fmla="val 21934"/>
            </a:avLst>
          </a:prstGeom>
          <a:solidFill>
            <a:srgbClr val="E7F0F6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32688" y="2989072"/>
            <a:ext cx="1608582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 i="0">
                <a:solidFill>
                  <a:srgbClr val="1D6B8F"/>
                </a:solidFill>
                <a:latin typeface="Verdana"/>
              </a:rPr>
              <a:t>GHISLAIN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541270" y="2989072"/>
            <a:ext cx="8534857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Attachés comment ? En queue de cheval, en chignon ?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3573779"/>
            <a:ext cx="11057839" cy="1004823"/>
          </a:xfrm>
          <a:prstGeom prst="roundRect">
            <a:avLst>
              <a:gd name="adj" fmla="val 14560"/>
            </a:avLst>
          </a:prstGeom>
          <a:solidFill>
            <a:srgbClr val="E7F0F6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932688" y="3738371"/>
            <a:ext cx="1608582" cy="73050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 i="0">
                <a:solidFill>
                  <a:srgbClr val="1D6B8F"/>
                </a:solidFill>
                <a:latin typeface="Verdana"/>
              </a:rPr>
              <a:t>MARISOL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541270" y="3738371"/>
            <a:ext cx="8534857" cy="73050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En chignon bas, sur la nuque. Et elle a des lunettes rondes, à monture fine, dorée.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4660899"/>
            <a:ext cx="11057839" cy="667003"/>
          </a:xfrm>
          <a:prstGeom prst="roundRect">
            <a:avLst>
              <a:gd name="adj" fmla="val 21934"/>
            </a:avLst>
          </a:prstGeom>
          <a:solidFill>
            <a:srgbClr val="E7F0F6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932688" y="4825491"/>
            <a:ext cx="1608582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 i="0">
                <a:solidFill>
                  <a:srgbClr val="1D6B8F"/>
                </a:solidFill>
                <a:latin typeface="Verdana"/>
              </a:rPr>
              <a:t>GHISLAIN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541270" y="4825491"/>
            <a:ext cx="8534857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Ça, c'est utile. Les lunettes, ça se voit de loin. Autre chose ?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C1 · Reprendre le fil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DIALOGUE · 3 DE 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Une grande valise, ou une grande femme 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737360"/>
            <a:ext cx="11057839" cy="1004823"/>
          </a:xfrm>
          <a:prstGeom prst="roundRect">
            <a:avLst>
              <a:gd name="adj" fmla="val 14560"/>
            </a:avLst>
          </a:prstGeom>
          <a:solidFill>
            <a:srgbClr val="E7F0F6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1901952"/>
            <a:ext cx="1608582" cy="73050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 i="0">
                <a:solidFill>
                  <a:srgbClr val="1D6B8F"/>
                </a:solidFill>
                <a:latin typeface="Verdana"/>
              </a:rPr>
              <a:t>GHISLAIN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541270" y="1901952"/>
            <a:ext cx="8534857" cy="73050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Une grande femme avec une grosse valise, ou une femme de taille moyenne avec une grosse valise ?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2824479"/>
            <a:ext cx="11057839" cy="1004823"/>
          </a:xfrm>
          <a:prstGeom prst="roundRect">
            <a:avLst>
              <a:gd name="adj" fmla="val 14560"/>
            </a:avLst>
          </a:prstGeom>
          <a:solidFill>
            <a:srgbClr val="E7F0F6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32688" y="2989072"/>
            <a:ext cx="1608582" cy="73050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 i="0">
                <a:solidFill>
                  <a:srgbClr val="1D6B8F"/>
                </a:solidFill>
                <a:latin typeface="Verdana"/>
              </a:rPr>
              <a:t>MARISOL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541270" y="2989072"/>
            <a:ext cx="8534857" cy="73050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Taille moyenne. Je me suis mal exprimée : quand j'ai dit une grande valise, je parlais de la valise, pas d'elle.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3911600"/>
            <a:ext cx="11057839" cy="1004823"/>
          </a:xfrm>
          <a:prstGeom prst="roundRect">
            <a:avLst>
              <a:gd name="adj" fmla="val 14560"/>
            </a:avLst>
          </a:prstGeom>
          <a:solidFill>
            <a:srgbClr val="E7F0F6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932688" y="4076191"/>
            <a:ext cx="1608582" cy="73050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 i="0">
                <a:solidFill>
                  <a:srgbClr val="1D6B8F"/>
                </a:solidFill>
                <a:latin typeface="Verdana"/>
              </a:rPr>
              <a:t>GHISLAIN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541270" y="4076191"/>
            <a:ext cx="8534857" cy="73050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C'est ce que je voulais vérifier. Et où est-ce que je me place ? Le terminus a deux portes.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4998720"/>
            <a:ext cx="11057839" cy="1004823"/>
          </a:xfrm>
          <a:prstGeom prst="roundRect">
            <a:avLst>
              <a:gd name="adj" fmla="val 14560"/>
            </a:avLst>
          </a:prstGeom>
          <a:solidFill>
            <a:srgbClr val="E7F0F6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932688" y="5163312"/>
            <a:ext cx="1608582" cy="73050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 i="0">
                <a:solidFill>
                  <a:srgbClr val="1D6B8F"/>
                </a:solidFill>
                <a:latin typeface="Verdana"/>
              </a:rPr>
              <a:t>MARISOL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541270" y="5163312"/>
            <a:ext cx="8534857" cy="73050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Près du banc où les gens attendent, celui qui est en face du guichet. C'est par là qu'ils vont sortir.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C1 · Reprendre le fil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VOCABULAIRE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Les quatre mots du Défi 2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11057839" cy="4270248"/>
          </a:xfrm>
          <a:prstGeom prst="roundRect">
            <a:avLst>
              <a:gd name="adj" fmla="val 34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2121408"/>
            <a:ext cx="3016186" cy="76580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900" b="1" i="0">
                <a:solidFill>
                  <a:srgbClr val="17181A"/>
                </a:solidFill>
                <a:latin typeface="Verdana"/>
              </a:rPr>
              <a:t>une silhouette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223194" y="2121408"/>
            <a:ext cx="7035812" cy="76580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La forme générale d'une personne vue de loin : sa taille et sa carrure.</a:t>
            </a:r>
          </a:p>
        </p:txBody>
      </p:sp>
      <p:sp>
        <p:nvSpPr>
          <p:cNvPr id="10" name="Rectangle 9"/>
          <p:cNvSpPr/>
          <p:nvPr/>
        </p:nvSpPr>
        <p:spPr>
          <a:xfrm>
            <a:off x="932688" y="2960370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32688" y="3106674"/>
            <a:ext cx="3016186" cy="76580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900" b="1" i="0">
                <a:solidFill>
                  <a:srgbClr val="17181A"/>
                </a:solidFill>
                <a:latin typeface="Verdana"/>
              </a:rPr>
              <a:t>un visage allongé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223194" y="3106674"/>
            <a:ext cx="7035812" cy="76580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Un visage plus long que large, souvent avec un menton fin.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932688" y="3945635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932688" y="4091939"/>
            <a:ext cx="3016186" cy="76580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900" b="1" i="0">
                <a:solidFill>
                  <a:srgbClr val="17181A"/>
                </a:solidFill>
                <a:latin typeface="Verdana"/>
              </a:rPr>
              <a:t>des cheveux ondulés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223194" y="4091939"/>
            <a:ext cx="7035812" cy="76580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Des cheveux qui font des vagues douces, ni raides ni frisés serré.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932688" y="4930901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932688" y="5077205"/>
            <a:ext cx="3016186" cy="76580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900" b="1" i="0">
                <a:solidFill>
                  <a:srgbClr val="17181A"/>
                </a:solidFill>
                <a:latin typeface="Verdana"/>
              </a:rPr>
              <a:t>un signe particulier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223194" y="5077205"/>
            <a:ext cx="7035812" cy="76580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Un détail du corps qui n'appartient qu'à une personne.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C1 · Reprendre le fil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ANALYSE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Quatre temps, de loin vers près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11057839" cy="3015996"/>
          </a:xfrm>
          <a:prstGeom prst="roundRect">
            <a:avLst>
              <a:gd name="adj" fmla="val 4850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1975104"/>
            <a:ext cx="3291492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LE TEMPS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43636" y="1975104"/>
            <a:ext cx="6595914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CE QU'ON DONNE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" y="2395728"/>
            <a:ext cx="3291492" cy="3215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700" b="1" i="0">
                <a:solidFill>
                  <a:srgbClr val="1D6B8F"/>
                </a:solidFill>
                <a:latin typeface="Verdana"/>
              </a:rPr>
              <a:t>1. La silhouette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43636" y="2395728"/>
            <a:ext cx="6595914" cy="3215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taille, carrure, âge approximatif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32688" y="2790444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932688" y="2918460"/>
            <a:ext cx="3291492" cy="3215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700" b="1" i="0">
                <a:solidFill>
                  <a:srgbClr val="1D6B8F"/>
                </a:solidFill>
                <a:latin typeface="Verdana"/>
              </a:rPr>
              <a:t>2. Les vêtements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43636" y="2918460"/>
            <a:ext cx="6595914" cy="3215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un foulard vert, une longue veste grise, une valise rouge</a:t>
            </a:r>
          </a:p>
        </p:txBody>
      </p:sp>
      <p:sp>
        <p:nvSpPr>
          <p:cNvPr id="15" name="Rectangle 14"/>
          <p:cNvSpPr/>
          <p:nvPr/>
        </p:nvSpPr>
        <p:spPr>
          <a:xfrm>
            <a:off x="932688" y="3313176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932688" y="3441192"/>
            <a:ext cx="3291492" cy="6065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700" b="1" i="0">
                <a:solidFill>
                  <a:srgbClr val="1D6B8F"/>
                </a:solidFill>
                <a:latin typeface="Verdana"/>
              </a:rPr>
              <a:t>3. Le visage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43636" y="3441192"/>
            <a:ext cx="6595914" cy="6065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visage allongé, cheveux ondulés, chignon bas, lunettes rondes</a:t>
            </a:r>
          </a:p>
        </p:txBody>
      </p:sp>
      <p:sp>
        <p:nvSpPr>
          <p:cNvPr id="18" name="Rectangle 17"/>
          <p:cNvSpPr/>
          <p:nvPr/>
        </p:nvSpPr>
        <p:spPr>
          <a:xfrm>
            <a:off x="932688" y="4120896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932688" y="4248912"/>
            <a:ext cx="3291492" cy="3215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700" b="1" i="0">
                <a:solidFill>
                  <a:srgbClr val="1D6B8F"/>
                </a:solidFill>
                <a:latin typeface="Verdana"/>
              </a:rPr>
              <a:t>4. Le signe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443636" y="4248912"/>
            <a:ext cx="6595914" cy="3215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une petite cicatrice au-dessus du sourcil gauche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66928" y="5064252"/>
            <a:ext cx="11057839" cy="769874"/>
          </a:xfrm>
          <a:prstGeom prst="roundRect">
            <a:avLst>
              <a:gd name="adj" fmla="val 19003"/>
            </a:avLst>
          </a:prstGeom>
          <a:solidFill>
            <a:srgbClr val="FBFBFA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969264" y="5320284"/>
            <a:ext cx="10234879" cy="31267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400" b="0" i="0">
                <a:solidFill>
                  <a:srgbClr val="4B4F52"/>
                </a:solidFill>
                <a:latin typeface="Verdana"/>
              </a:rPr>
              <a:t>Le signe particulier vient en dernier : il sert à être sûr, pas à chercher.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C1 · Reprendre le fil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COMPRÉHENSION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Vrai ou faux 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Répondez d'après la conversation. Attention : Marisol se corrige une fois.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3672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0073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Ghislain a déjà rencontré Ousmane deux fois.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827528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292455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2988564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2982975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Kadiatou est grande et costaude.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515359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61238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676395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670807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Kadiatou porte ses cheveux en chignon bas.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203192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30022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36422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358640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Marisol conseille de chercher d'abord la cicatrice.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4891023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4988051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052059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046471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Kadiatou aura une valise rouge à roulettes.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66928" y="557885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ounded Rectangle 28"/>
          <p:cNvSpPr/>
          <p:nvPr/>
        </p:nvSpPr>
        <p:spPr>
          <a:xfrm>
            <a:off x="841247" y="567588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841247" y="573989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344168" y="573430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Ghislain attendra près du banc qui fait face au guichet.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C1 · Reprendre le fil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CORRECTION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Vrai ou faux 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Correction — on lit la réponse, on ne commente pas l'erreur.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3672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0073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Ghislain a déjà rencontré Ousmane deux fois.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vrai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827528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292455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2988564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2982975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Kadiatou est grande et costaude.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faux - elle est de taille moyenne et mince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515359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61238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676395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670807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Kadiatou porte ses cheveux en chignon bas.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vrai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203192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30022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36422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358640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Marisol conseille de chercher d'abord la cicatrice.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faux - elle ne se voit pas de loin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4891023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4988051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052059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046471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Kadiatou aura une valise rouge à roulettes.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vrai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66928" y="557885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ounded Rectangle 28"/>
          <p:cNvSpPr/>
          <p:nvPr/>
        </p:nvSpPr>
        <p:spPr>
          <a:xfrm>
            <a:off x="841247" y="567588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841247" y="573989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344168" y="573430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Ghislain attendra près du banc qui fait face au guichet.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vrai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C1 · Reprendre le fil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11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718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566928" y="105156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FFFFFF"/>
                </a:solidFill>
                <a:latin typeface="Verdana"/>
              </a:rPr>
              <a:t>BILLET DE SORTIE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572768"/>
            <a:ext cx="9777679" cy="2103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3400" b="1" i="0">
                <a:solidFill>
                  <a:srgbClr val="FFFFFF"/>
                </a:solidFill>
                <a:latin typeface="Verdana"/>
              </a:rPr>
              <a:t>Décris en deux phrases quelqu'un que le groupe pourrait reconnaître.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3931920"/>
            <a:ext cx="11057839" cy="666496"/>
          </a:xfrm>
          <a:prstGeom prst="roundRect">
            <a:avLst>
              <a:gd name="adj" fmla="val 13719"/>
            </a:avLst>
          </a:prstGeom>
          <a:solidFill>
            <a:srgbClr val="2A2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32688" y="4087368"/>
            <a:ext cx="1005199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FFFFFF"/>
                </a:solidFill>
                <a:latin typeface="Verdana"/>
              </a:rPr>
              <a:t>Commence par la silhouette.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4680712"/>
            <a:ext cx="11057839" cy="666496"/>
          </a:xfrm>
          <a:prstGeom prst="roundRect">
            <a:avLst>
              <a:gd name="adj" fmla="val 13719"/>
            </a:avLst>
          </a:prstGeom>
          <a:solidFill>
            <a:srgbClr val="2A2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32688" y="4836160"/>
            <a:ext cx="1005199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FFFFFF"/>
                </a:solidFill>
                <a:latin typeface="Verdana"/>
              </a:rPr>
              <a:t>Ne dis pas son nom.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C1 · Reprendre le fil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