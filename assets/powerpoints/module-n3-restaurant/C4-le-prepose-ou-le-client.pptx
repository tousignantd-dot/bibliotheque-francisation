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d'écoute et de reconnaissance. Le module interactif a le même exercice avec des cartes écoutables : le projeter si possible.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Amener le groupe à voir la file comme un temps d'écoute gratuite. C'est une stratégie d'apprenant, et elle vaut pour la banque, la pharmacie et le bureau de poste aussi.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 chaque phrase sans la montrer. Les élèves lèvent une main pour le préposé, deux pour le client. L'enseignante voit tout de suite qui hésite.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à photographier. La dernière ligne surprend souvent : le vouvoiement va dans les deux sens, ce n'est pas une marque de hiérarchie.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à photographier. Faire chercher où chaque phrase apparaît dans les dialogues du module.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à photographier. Rappeler qu'on peut toujours regarder l'écran du terminal : c'est le moyen le plus sûr, et personne ne le remarque.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 chaque montant deux fois, à vitesse normale. Corriger l'écriture : au Québec, la virgule sépare les cents et le signe de dollar est à droite.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Anecdote utile : demander qui a déjà manqué son numéro. Il y a toujours quelqu'un, et ça détend le groupe.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Devoir d'observation. Il fait le lien avec la vie réelle et donne du matériel authentique pour ouvrir le bloc 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SÉANCE C4  ·  MODULE 4</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Le préposé ou le client ?</a:t>
            </a:r>
          </a:p>
        </p:txBody>
      </p:sp>
      <p:sp>
        <p:nvSpPr>
          <p:cNvPr id="5" name="Rounded Rectangle 4"/>
          <p:cNvSpPr/>
          <p:nvPr/>
        </p:nvSpPr>
        <p:spPr>
          <a:xfrm>
            <a:off x="566928" y="3794760"/>
            <a:ext cx="9960559" cy="1394968"/>
          </a:xfrm>
          <a:prstGeom prst="roundRect">
            <a:avLst>
              <a:gd name="adj" fmla="val 1048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7823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Dans une file, on entend dix commandes avant la sienne. Savoir qui dit quoi, c'est arriver au comptoir en sachant déjà ce qui va se passer.</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Commander au comptoir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Commander au comptoir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à l'oreille qui parle, du préposé ou du client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les phrases affichées ou dites au comptoir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profiter de la file pour se préparer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un montant dit à voix haute.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Commander au comptoir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Qu'est-ce qu'on entend, dans une file ?</a:t>
            </a:r>
          </a:p>
        </p:txBody>
      </p:sp>
      <p:sp>
        <p:nvSpPr>
          <p:cNvPr id="7" name="Rounded Rectangle 6"/>
          <p:cNvSpPr/>
          <p:nvPr/>
        </p:nvSpPr>
        <p:spPr>
          <a:xfrm>
            <a:off x="7424927" y="1719072"/>
            <a:ext cx="4199839" cy="4361688"/>
          </a:xfrm>
          <a:prstGeom prst="roundRect">
            <a:avLst>
              <a:gd name="adj" fmla="val 34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file-comptoir.jpg"/>
          <p:cNvPicPr>
            <a:picLocks noChangeAspect="1"/>
          </p:cNvPicPr>
          <p:nvPr/>
        </p:nvPicPr>
        <p:blipFill>
          <a:blip r:embed="rId2"/>
          <a:stretch>
            <a:fillRect/>
          </a:stretch>
        </p:blipFill>
        <p:spPr>
          <a:xfrm>
            <a:off x="7644383" y="2638339"/>
            <a:ext cx="3760927" cy="2523153"/>
          </a:xfrm>
          <a:prstGeom prst="rect">
            <a:avLst/>
          </a:prstGeom>
        </p:spPr>
      </p:pic>
      <p:sp>
        <p:nvSpPr>
          <p:cNvPr id="9" name="Rounded Rectangle 8"/>
          <p:cNvSpPr/>
          <p:nvPr/>
        </p:nvSpPr>
        <p:spPr>
          <a:xfrm>
            <a:off x="566928" y="1856232"/>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66928" y="1965960"/>
            <a:ext cx="50292" cy="821944"/>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0976" y="2039112"/>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Combien de commandes passent avant la vôtre ?</a:t>
            </a:r>
          </a:p>
        </p:txBody>
      </p:sp>
      <p:sp>
        <p:nvSpPr>
          <p:cNvPr id="12" name="Rounded Rectangle 11"/>
          <p:cNvSpPr/>
          <p:nvPr/>
        </p:nvSpPr>
        <p:spPr>
          <a:xfrm>
            <a:off x="566928" y="2979928"/>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66928" y="3089656"/>
            <a:ext cx="50292" cy="821944"/>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0976" y="3162808"/>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que les questions changent d'une personne à l'autre ?</a:t>
            </a:r>
          </a:p>
        </p:txBody>
      </p:sp>
      <p:sp>
        <p:nvSpPr>
          <p:cNvPr id="15" name="Rounded Rectangle 14"/>
          <p:cNvSpPr/>
          <p:nvPr/>
        </p:nvSpPr>
        <p:spPr>
          <a:xfrm>
            <a:off x="566928" y="4103624"/>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66928" y="4213352"/>
            <a:ext cx="50292" cy="821944"/>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50976" y="4286504"/>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qu'on peut apprendre en attendant ?</a:t>
            </a:r>
          </a:p>
        </p:txBody>
      </p:sp>
      <p:sp>
        <p:nvSpPr>
          <p:cNvPr id="18" name="Rounded Rectangle 17"/>
          <p:cNvSpPr/>
          <p:nvPr/>
        </p:nvSpPr>
        <p:spPr>
          <a:xfrm>
            <a:off x="566928" y="5227320"/>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66928" y="5337048"/>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50976" y="5410200"/>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qui est le plus difficile à entendre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Commander au comptoir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ÉCOUTE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Qui dit cette phrase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Le préposé, ou le client ?</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Prochaine personne, s'il vous plaît.</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Je voudrais un trio sandwich au poulet.</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Pour ici ou pour emporter ?</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Est-ce que je peux avoir une soupe aussi ?</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Ça fait onze dollars et quarante.</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Débit, s'il vous plaît.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Commander au comptoir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Qui dit cette phrase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Prochaine personne, s'il vous plaît.   </a:t>
            </a:r>
            <a:r>
              <a:rPr sz="1400" b="1" i="0">
                <a:solidFill>
                  <a:srgbClr val="07734A"/>
                </a:solidFill>
                <a:latin typeface="Verdana"/>
              </a:rPr>
              <a:t>» le préposé</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Je voudrais un trio sandwich au poulet.   </a:t>
            </a:r>
            <a:r>
              <a:rPr sz="1400" b="1" i="0">
                <a:solidFill>
                  <a:srgbClr val="07734A"/>
                </a:solidFill>
                <a:latin typeface="Verdana"/>
              </a:rPr>
              <a:t>» le client</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Pour ici ou pour emporter ?   </a:t>
            </a:r>
            <a:r>
              <a:rPr sz="1400" b="1" i="0">
                <a:solidFill>
                  <a:srgbClr val="07734A"/>
                </a:solidFill>
                <a:latin typeface="Verdana"/>
              </a:rPr>
              <a:t>» le préposé</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Est-ce que je peux avoir une soupe aussi ?   </a:t>
            </a:r>
            <a:r>
              <a:rPr sz="1400" b="1" i="0">
                <a:solidFill>
                  <a:srgbClr val="07734A"/>
                </a:solidFill>
                <a:latin typeface="Verdana"/>
              </a:rPr>
              <a:t>» le client</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Ça fait onze dollars et quarante.   </a:t>
            </a:r>
            <a:r>
              <a:rPr sz="1400" b="1" i="0">
                <a:solidFill>
                  <a:srgbClr val="07734A"/>
                </a:solidFill>
                <a:latin typeface="Verdana"/>
              </a:rPr>
              <a:t>» le préposé</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Débit, s'il vous plaît.   </a:t>
            </a:r>
            <a:r>
              <a:rPr sz="1400" b="1" i="0">
                <a:solidFill>
                  <a:srgbClr val="07734A"/>
                </a:solidFill>
                <a:latin typeface="Verdana"/>
              </a:rPr>
              <a:t>» le client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Commander au comptoir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qui distingue les deux</a:t>
            </a:r>
          </a:p>
        </p:txBody>
      </p:sp>
      <p:sp>
        <p:nvSpPr>
          <p:cNvPr id="7" name="Rounded Rectangle 6"/>
          <p:cNvSpPr/>
          <p:nvPr/>
        </p:nvSpPr>
        <p:spPr>
          <a:xfrm>
            <a:off x="566928" y="1810512"/>
            <a:ext cx="11057839" cy="3200400"/>
          </a:xfrm>
          <a:prstGeom prst="roundRect">
            <a:avLst>
              <a:gd name="adj" fmla="val 45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PRÉPOSÉ</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CLIENT</a:t>
            </a:r>
          </a:p>
        </p:txBody>
      </p:sp>
      <p:sp>
        <p:nvSpPr>
          <p:cNvPr id="10" name="TextBox 9"/>
          <p:cNvSpPr txBox="1"/>
          <p:nvPr/>
        </p:nvSpPr>
        <p:spPr>
          <a:xfrm>
            <a:off x="932688" y="2395728"/>
            <a:ext cx="3291492" cy="304800"/>
          </a:xfrm>
          <a:prstGeom prst="rect">
            <a:avLst/>
          </a:prstGeom>
          <a:noFill/>
        </p:spPr>
        <p:txBody>
          <a:bodyPr wrap="square" lIns="0" rIns="0" tIns="0" bIns="0" anchor="t">
            <a:spAutoFit/>
          </a:bodyPr>
          <a:lstStyle/>
          <a:p>
            <a:pPr algn="l">
              <a:lnSpc>
                <a:spcPct val="132000"/>
              </a:lnSpc>
            </a:pPr>
            <a:r>
              <a:rPr sz="1600" b="1" i="0">
                <a:solidFill>
                  <a:srgbClr val="0D7A6F"/>
                </a:solidFill>
                <a:latin typeface="Verdana"/>
              </a:rPr>
              <a:t>pose des questions</a:t>
            </a:r>
          </a:p>
        </p:txBody>
      </p:sp>
      <p:sp>
        <p:nvSpPr>
          <p:cNvPr id="11" name="TextBox 10"/>
          <p:cNvSpPr txBox="1"/>
          <p:nvPr/>
        </p:nvSpPr>
        <p:spPr>
          <a:xfrm>
            <a:off x="4443636" y="2395728"/>
            <a:ext cx="6595914"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répond, et pose peu de questions</a:t>
            </a:r>
          </a:p>
        </p:txBody>
      </p:sp>
      <p:sp>
        <p:nvSpPr>
          <p:cNvPr id="12" name="Rectangle 11"/>
          <p:cNvSpPr/>
          <p:nvPr/>
        </p:nvSpPr>
        <p:spPr>
          <a:xfrm>
            <a:off x="932688" y="277368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01696"/>
            <a:ext cx="3291492" cy="573024"/>
          </a:xfrm>
          <a:prstGeom prst="rect">
            <a:avLst/>
          </a:prstGeom>
          <a:noFill/>
        </p:spPr>
        <p:txBody>
          <a:bodyPr wrap="square" lIns="0" rIns="0" tIns="0" bIns="0" anchor="t">
            <a:spAutoFit/>
          </a:bodyPr>
          <a:lstStyle/>
          <a:p>
            <a:pPr algn="l">
              <a:lnSpc>
                <a:spcPct val="132000"/>
              </a:lnSpc>
            </a:pPr>
            <a:r>
              <a:rPr sz="1600" b="1" i="0">
                <a:solidFill>
                  <a:srgbClr val="0D7A6F"/>
                </a:solidFill>
                <a:latin typeface="Verdana"/>
              </a:rPr>
              <a:t>emploie l'impératif : servez-vous</a:t>
            </a:r>
          </a:p>
        </p:txBody>
      </p:sp>
      <p:sp>
        <p:nvSpPr>
          <p:cNvPr id="14" name="TextBox 13"/>
          <p:cNvSpPr txBox="1"/>
          <p:nvPr/>
        </p:nvSpPr>
        <p:spPr>
          <a:xfrm>
            <a:off x="4443636" y="2901696"/>
            <a:ext cx="6595914" cy="573024"/>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emploie « je voudrais »</a:t>
            </a:r>
          </a:p>
        </p:txBody>
      </p:sp>
      <p:sp>
        <p:nvSpPr>
          <p:cNvPr id="15" name="Rectangle 14"/>
          <p:cNvSpPr/>
          <p:nvPr/>
        </p:nvSpPr>
        <p:spPr>
          <a:xfrm>
            <a:off x="932688" y="354787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675887"/>
            <a:ext cx="3291492" cy="573024"/>
          </a:xfrm>
          <a:prstGeom prst="rect">
            <a:avLst/>
          </a:prstGeom>
          <a:noFill/>
        </p:spPr>
        <p:txBody>
          <a:bodyPr wrap="square" lIns="0" rIns="0" tIns="0" bIns="0" anchor="t">
            <a:spAutoFit/>
          </a:bodyPr>
          <a:lstStyle/>
          <a:p>
            <a:pPr algn="l">
              <a:lnSpc>
                <a:spcPct val="132000"/>
              </a:lnSpc>
            </a:pPr>
            <a:r>
              <a:rPr sz="1600" b="1" i="0">
                <a:solidFill>
                  <a:srgbClr val="0D7A6F"/>
                </a:solidFill>
                <a:latin typeface="Verdana"/>
              </a:rPr>
              <a:t>dit les montants et les numéros</a:t>
            </a:r>
          </a:p>
        </p:txBody>
      </p:sp>
      <p:sp>
        <p:nvSpPr>
          <p:cNvPr id="17" name="TextBox 16"/>
          <p:cNvSpPr txBox="1"/>
          <p:nvPr/>
        </p:nvSpPr>
        <p:spPr>
          <a:xfrm>
            <a:off x="4443636" y="3675887"/>
            <a:ext cx="6595914" cy="573024"/>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répète les numéros</a:t>
            </a:r>
          </a:p>
        </p:txBody>
      </p:sp>
      <p:sp>
        <p:nvSpPr>
          <p:cNvPr id="18" name="Rectangle 17"/>
          <p:cNvSpPr/>
          <p:nvPr/>
        </p:nvSpPr>
        <p:spPr>
          <a:xfrm>
            <a:off x="932688" y="432206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450080"/>
            <a:ext cx="3291492" cy="304800"/>
          </a:xfrm>
          <a:prstGeom prst="rect">
            <a:avLst/>
          </a:prstGeom>
          <a:noFill/>
        </p:spPr>
        <p:txBody>
          <a:bodyPr wrap="square" lIns="0" rIns="0" tIns="0" bIns="0" anchor="t">
            <a:spAutoFit/>
          </a:bodyPr>
          <a:lstStyle/>
          <a:p>
            <a:pPr algn="l">
              <a:lnSpc>
                <a:spcPct val="132000"/>
              </a:lnSpc>
            </a:pPr>
            <a:r>
              <a:rPr sz="1600" b="1" i="0">
                <a:solidFill>
                  <a:srgbClr val="0D7A6F"/>
                </a:solidFill>
                <a:latin typeface="Verdana"/>
              </a:rPr>
              <a:t>dit « vous »</a:t>
            </a:r>
          </a:p>
        </p:txBody>
      </p:sp>
      <p:sp>
        <p:nvSpPr>
          <p:cNvPr id="20" name="TextBox 19"/>
          <p:cNvSpPr txBox="1"/>
          <p:nvPr/>
        </p:nvSpPr>
        <p:spPr>
          <a:xfrm>
            <a:off x="4443636" y="4450080"/>
            <a:ext cx="6595914"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dit « vous » aussi</a:t>
            </a:r>
          </a:p>
        </p:txBody>
      </p:sp>
      <p:sp>
        <p:nvSpPr>
          <p:cNvPr id="21" name="Rounded Rectangle 20"/>
          <p:cNvSpPr/>
          <p:nvPr/>
        </p:nvSpPr>
        <p:spPr>
          <a:xfrm>
            <a:off x="566928" y="5248656"/>
            <a:ext cx="11057839" cy="769874"/>
          </a:xfrm>
          <a:prstGeom prst="roundRect">
            <a:avLst>
              <a:gd name="adj" fmla="val 19003"/>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504688"/>
            <a:ext cx="10234879" cy="31267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Les deux se vouvoient : on ne se connaît pas.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Commander au comptoir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phrases du comptoir</a:t>
            </a:r>
          </a:p>
        </p:txBody>
      </p:sp>
      <p:sp>
        <p:nvSpPr>
          <p:cNvPr id="7" name="Rounded Rectangle 6"/>
          <p:cNvSpPr/>
          <p:nvPr/>
        </p:nvSpPr>
        <p:spPr>
          <a:xfrm>
            <a:off x="566928" y="1810512"/>
            <a:ext cx="11057839" cy="2798064"/>
          </a:xfrm>
          <a:prstGeom prst="roundRect">
            <a:avLst>
              <a:gd name="adj" fmla="val 52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ON ENTEND</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ÇA VEUT DIRE</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Ce sera tout ?</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avez-vous fini de commander ?</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Taxes en sus.</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le prix du tableau va monter un peu</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Servez-vous.</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prenez-en vous-même, sans demander</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Votre numéro est le 42.</a:t>
            </a:r>
          </a:p>
        </p:txBody>
      </p:sp>
      <p:sp>
        <p:nvSpPr>
          <p:cNvPr id="20" name="TextBox 19"/>
          <p:cNvSpPr txBox="1"/>
          <p:nvPr/>
        </p:nvSpPr>
        <p:spPr>
          <a:xfrm>
            <a:off x="4443636" y="4014215"/>
            <a:ext cx="6595914"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on appellera ce chiffre</a:t>
            </a:r>
          </a:p>
        </p:txBody>
      </p:sp>
      <p:sp>
        <p:nvSpPr>
          <p:cNvPr id="21" name="Rounded Rectangle 20"/>
          <p:cNvSpPr/>
          <p:nvPr/>
        </p:nvSpPr>
        <p:spPr>
          <a:xfrm>
            <a:off x="566928" y="4846320"/>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102352"/>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 Servez-vous » est une invitation, jamais un reproche.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Commander au comptoir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COMPRENDRE UN MONTANT DIT VITE</a:t>
            </a:r>
          </a:p>
        </p:txBody>
      </p:sp>
      <p:sp>
        <p:nvSpPr>
          <p:cNvPr id="6" name="Rounded Rectangle 5"/>
          <p:cNvSpPr/>
          <p:nvPr/>
        </p:nvSpPr>
        <p:spPr>
          <a:xfrm>
            <a:off x="566928" y="1225296"/>
            <a:ext cx="11057839" cy="1441196"/>
          </a:xfrm>
          <a:prstGeom prst="roundRect">
            <a:avLst>
              <a:gd name="adj" fmla="val 10151"/>
            </a:avLst>
          </a:prstGeom>
          <a:solidFill>
            <a:srgbClr val="DCF2E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618235"/>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 Ça fait onze dollars et quarante. »</a:t>
            </a:r>
          </a:p>
        </p:txBody>
      </p:sp>
      <p:sp>
        <p:nvSpPr>
          <p:cNvPr id="8" name="Rounded Rectangle 7"/>
          <p:cNvSpPr/>
          <p:nvPr/>
        </p:nvSpPr>
        <p:spPr>
          <a:xfrm>
            <a:off x="566928" y="2940812"/>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215132"/>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Le montant se dit en deux morceaux : les dollars, puis les cents. « Onze quarante » veut dire onze dollars et quarante cents. Si on n'a pas saisi, l'écran du terminal l'affiche aussi.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Commander au comptoir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ÉCOUTE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Combien ça fait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le montant, puis écrivez-le en chiffres.</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onze dollars et quarante</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six dollars et cinquante</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neuf dollars et quinze</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quatorze dollars et quatre-vingts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Commander au comptoir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Combien ça fait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onze dollars et quarante   </a:t>
            </a:r>
            <a:r>
              <a:rPr sz="1900" b="1" i="0">
                <a:solidFill>
                  <a:srgbClr val="07734A"/>
                </a:solidFill>
                <a:latin typeface="Verdana"/>
              </a:rPr>
              <a:t>» 11,40 $</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six dollars et cinquante   </a:t>
            </a:r>
            <a:r>
              <a:rPr sz="1900" b="1" i="0">
                <a:solidFill>
                  <a:srgbClr val="07734A"/>
                </a:solidFill>
                <a:latin typeface="Verdana"/>
              </a:rPr>
              <a:t>» 6,50 $</a:t>
            </a:r>
          </a:p>
        </p:txBody>
      </p:sp>
      <p:sp>
        <p:nvSpPr>
          <p:cNvPr id="16" name="Rounded Rectangle 15"/>
          <p:cNvSpPr/>
          <p:nvPr/>
        </p:nvSpPr>
        <p:spPr>
          <a:xfrm>
            <a:off x="566928" y="369316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neuf dollars et quinze   </a:t>
            </a:r>
            <a:r>
              <a:rPr sz="1900" b="1" i="0">
                <a:solidFill>
                  <a:srgbClr val="07734A"/>
                </a:solidFill>
                <a:latin typeface="Verdana"/>
              </a:rPr>
              <a:t>» 9,15 $</a:t>
            </a:r>
          </a:p>
        </p:txBody>
      </p:sp>
      <p:sp>
        <p:nvSpPr>
          <p:cNvPr id="20" name="Rounded Rectangle 19"/>
          <p:cNvSpPr/>
          <p:nvPr/>
        </p:nvSpPr>
        <p:spPr>
          <a:xfrm>
            <a:off x="566928" y="4469892"/>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quatorze dollars et quatre-vingts   </a:t>
            </a:r>
            <a:r>
              <a:rPr sz="1900" b="1" i="0">
                <a:solidFill>
                  <a:srgbClr val="07734A"/>
                </a:solidFill>
                <a:latin typeface="Verdana"/>
              </a:rPr>
              <a:t>» 14,80 $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Commander au comptoir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ATTENDRE SANS ÉCOUTER SON NUMÉRO</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rester assis, dos au comptoir</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garder le reçu en main et écouter</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Au poste de ramassage, les numéros sont appelés une ou deux fois, dans le bruit. Un numéro non réclamé reste sur le comptoir et refroidit. Le reçu en main, tourné vers le comptoir : c'est tout ce qu'il faut.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Commander au comptoir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Écoutez une file et notez trois phrases que vous entendez.</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Dans un casse-croûte, un café ou une cantine.</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Notez qui les dit : le préposé ou le client.</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Commander au comptoir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