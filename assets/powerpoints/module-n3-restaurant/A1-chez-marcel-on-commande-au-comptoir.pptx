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Demander au groupe où ils dînent le midi, et qui a déjà commandé au comptoir en français. Les réponses donnent des exemples réels pour toute la semaine.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venir les mots dans n'importe quelle langue, puis les traduire ensemble au tableau. Beaucoup d'élèves connaissent le service aux tables de leur pays d'origine, mais pas la file au comptoir : c'est là que se joue toute la différence du module.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réplique donne les quatre gestes du module dans l'ordre. La faire répéter, puis la faire redire par un élève sans regarder l'écran.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découverte centrale de la séance : le menu n'est pas un papier qu'on tient, c'est un panneau qu'on lit de loin. Demander qui a déjà eu de la difficulté à le lire assez vite dans la file.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mot « format » apparaît ici pour la première fois. Ne pas l'expliquer davantage : la séance A4 lui est consacrée entièrement.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nommer chaque ligne par un élève différent. C'est le plan du module entier.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répéter le mot à voix haute par tout le groupe : le trait d'union et l'accent circonflexe se voient à l'écrit, mais le mot se dit d'un seul souffle.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chaque mot avec son article. Les quatre reviennent dans toutes les séances du module.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du dialogue.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Il prépare la séance A3 sur le vocabulaire de l'endroit et donne des exemples personnels pour le défi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Chez Marcel, on commande au comptoir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un casse-croûte, personne ne vient à la table. On fait la file, on commande, on paie, et on attend son numéro. Quatre gestes, et une heure de dîner qui suffit.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Commander au comptoir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casse-croûte et son comptoir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où est le menu et comment il est fait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conversation entre deux camarades de classe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quatre gestes d'une commande au comptoir.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le menu, dans cet endroit-là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comptoir.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ces personnes attendent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qu'un serveur va venir à leur table ?</a:t>
            </a:r>
          </a:p>
        </p:txBody>
      </p:sp>
      <p:sp>
        <p:nvSpPr>
          <p:cNvPr id="15" name="Rounded Rectangle 14"/>
          <p:cNvSpPr/>
          <p:nvPr/>
        </p:nvSpPr>
        <p:spPr>
          <a:xfrm>
            <a:off x="566928" y="342798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faut-il regarder pour voir ce qu'il y a à manger ?</a:t>
            </a:r>
          </a:p>
        </p:txBody>
      </p:sp>
      <p:sp>
        <p:nvSpPr>
          <p:cNvPr id="18" name="Rounded Rectangle 17"/>
          <p:cNvSpPr/>
          <p:nvPr/>
        </p:nvSpPr>
        <p:spPr>
          <a:xfrm>
            <a:off x="566928" y="455168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fait après avoir commandé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On commande au comptoir</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2722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YOLETTE</a:t>
            </a:r>
          </a:p>
        </p:txBody>
      </p:sp>
      <p:sp>
        <p:nvSpPr>
          <p:cNvPr id="10" name="TextBox 9"/>
          <p:cNvSpPr txBox="1"/>
          <p:nvPr/>
        </p:nvSpPr>
        <p:spPr>
          <a:xfrm>
            <a:off x="2359914" y="2322576"/>
            <a:ext cx="871621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Fatou, on mange où ce midi ? J'ai seulement une heure.</a:t>
            </a:r>
          </a:p>
        </p:txBody>
      </p:sp>
      <p:sp>
        <p:nvSpPr>
          <p:cNvPr id="11" name="Rounded Rectangle 10"/>
          <p:cNvSpPr/>
          <p:nvPr/>
        </p:nvSpPr>
        <p:spPr>
          <a:xfrm>
            <a:off x="566928" y="29072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427226"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13" name="TextBox 12"/>
          <p:cNvSpPr txBox="1"/>
          <p:nvPr/>
        </p:nvSpPr>
        <p:spPr>
          <a:xfrm>
            <a:off x="2359914" y="3071876"/>
            <a:ext cx="871621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Chez Marcel, le casse-croûte au coin. On commande au comptoir, c'est vite.</a:t>
            </a:r>
          </a:p>
        </p:txBody>
      </p:sp>
      <p:sp>
        <p:nvSpPr>
          <p:cNvPr id="14" name="Rounded Rectangle 13"/>
          <p:cNvSpPr/>
          <p:nvPr/>
        </p:nvSpPr>
        <p:spPr>
          <a:xfrm>
            <a:off x="566928" y="399440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158995"/>
            <a:ext cx="142722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YOLETTE</a:t>
            </a:r>
          </a:p>
        </p:txBody>
      </p:sp>
      <p:sp>
        <p:nvSpPr>
          <p:cNvPr id="16" name="TextBox 15"/>
          <p:cNvSpPr txBox="1"/>
          <p:nvPr/>
        </p:nvSpPr>
        <p:spPr>
          <a:xfrm>
            <a:off x="2359914" y="4158995"/>
            <a:ext cx="871621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n'y a pas de serveur ?</a:t>
            </a:r>
          </a:p>
        </p:txBody>
      </p:sp>
      <p:sp>
        <p:nvSpPr>
          <p:cNvPr id="17" name="Rounded Rectangle 16"/>
          <p:cNvSpPr/>
          <p:nvPr/>
        </p:nvSpPr>
        <p:spPr>
          <a:xfrm>
            <a:off x="566928" y="474370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908296"/>
            <a:ext cx="1427226"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19" name="TextBox 18"/>
          <p:cNvSpPr txBox="1"/>
          <p:nvPr/>
        </p:nvSpPr>
        <p:spPr>
          <a:xfrm>
            <a:off x="2359914" y="4908296"/>
            <a:ext cx="871621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Tu fais la file, tu commandes, tu paies, et on t'appelle quand c'est prêt.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Regarde en haut</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2722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YOLETTE</a:t>
            </a:r>
          </a:p>
        </p:txBody>
      </p:sp>
      <p:sp>
        <p:nvSpPr>
          <p:cNvPr id="9" name="TextBox 8"/>
          <p:cNvSpPr txBox="1"/>
          <p:nvPr/>
        </p:nvSpPr>
        <p:spPr>
          <a:xfrm>
            <a:off x="2359914" y="1901952"/>
            <a:ext cx="871621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 menu ? Je ne vois pas de papier sur les tables.</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27226"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12" name="TextBox 11"/>
          <p:cNvSpPr txBox="1"/>
          <p:nvPr/>
        </p:nvSpPr>
        <p:spPr>
          <a:xfrm>
            <a:off x="2359914" y="2651252"/>
            <a:ext cx="871621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Regarde en haut, au-dessus de la caisse. Le grand tableau, c'est le menu.</a:t>
            </a:r>
          </a:p>
        </p:txBody>
      </p:sp>
      <p:sp>
        <p:nvSpPr>
          <p:cNvPr id="13" name="Rounded Rectangle 12"/>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42722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YOLETTE</a:t>
            </a:r>
          </a:p>
        </p:txBody>
      </p:sp>
      <p:sp>
        <p:nvSpPr>
          <p:cNvPr id="15" name="TextBox 14"/>
          <p:cNvSpPr txBox="1"/>
          <p:nvPr/>
        </p:nvSpPr>
        <p:spPr>
          <a:xfrm>
            <a:off x="2359914" y="3738371"/>
            <a:ext cx="871621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Ah oui. Il y a des photos et des colonnes de chiffres.</a:t>
            </a:r>
          </a:p>
        </p:txBody>
      </p:sp>
      <p:sp>
        <p:nvSpPr>
          <p:cNvPr id="16" name="Rounded Rectangle 15"/>
          <p:cNvSpPr/>
          <p:nvPr/>
        </p:nvSpPr>
        <p:spPr>
          <a:xfrm>
            <a:off x="566928" y="43230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2"/>
            <a:ext cx="142722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18" name="TextBox 17"/>
          <p:cNvSpPr txBox="1"/>
          <p:nvPr/>
        </p:nvSpPr>
        <p:spPr>
          <a:xfrm>
            <a:off x="2359914" y="4487672"/>
            <a:ext cx="871621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gauche, ce que tu manges. À droite, le prix. En bas, les breuvages.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formats</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2722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YOLETTE</a:t>
            </a:r>
          </a:p>
        </p:txBody>
      </p:sp>
      <p:sp>
        <p:nvSpPr>
          <p:cNvPr id="9" name="TextBox 8"/>
          <p:cNvSpPr txBox="1"/>
          <p:nvPr/>
        </p:nvSpPr>
        <p:spPr>
          <a:xfrm>
            <a:off x="2359914" y="1901952"/>
            <a:ext cx="871621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les trois chiffres à côté de la soupe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2722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12" name="TextBox 11"/>
          <p:cNvSpPr txBox="1"/>
          <p:nvPr/>
        </p:nvSpPr>
        <p:spPr>
          <a:xfrm>
            <a:off x="2359914" y="2651252"/>
            <a:ext cx="871621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sont les trois formats : petit, moyen, grand.</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2722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YOLETTE</a:t>
            </a:r>
          </a:p>
        </p:txBody>
      </p:sp>
      <p:sp>
        <p:nvSpPr>
          <p:cNvPr id="15" name="TextBox 14"/>
          <p:cNvSpPr txBox="1"/>
          <p:nvPr/>
        </p:nvSpPr>
        <p:spPr>
          <a:xfrm>
            <a:off x="2359914" y="3400551"/>
            <a:ext cx="871621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Trois prix pour la même soupe. D'accord.</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42722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18" name="TextBox 17"/>
          <p:cNvSpPr txBox="1"/>
          <p:nvPr/>
        </p:nvSpPr>
        <p:spPr>
          <a:xfrm>
            <a:off x="2359914" y="4149851"/>
            <a:ext cx="871621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Prends ton plateau au bout du comptoir. Les serviettes sont là aussi.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gestes de la commande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DANS L'ORDRE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FAIT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1. La file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on prend un plateau et on attend son tour</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2. La commande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on dit ce qu'on veut, on choisit un format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3. La caisse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on paie et on reçoit un numéro</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4. Le ramassage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on attend son numéro, puis on prend son repas</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quatre gestes sont toujours dans cet ordre, partout.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L'ENDROIT ET SON NOM</a:t>
            </a:r>
          </a:p>
        </p:txBody>
      </p:sp>
      <p:sp>
        <p:nvSpPr>
          <p:cNvPr id="6" name="Rounded Rectangle 5"/>
          <p:cNvSpPr/>
          <p:nvPr/>
        </p:nvSpPr>
        <p:spPr>
          <a:xfrm>
            <a:off x="566928" y="1225296"/>
            <a:ext cx="11057839" cy="1441196"/>
          </a:xfrm>
          <a:prstGeom prst="roundRect">
            <a:avLst>
              <a:gd name="adj" fmla="val 1015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un casse-croûte »</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le mot d'ici pour un petit restaurant rapide, sans service aux tables. On dit aussi « une cantine » dans une école ou un hôpital. Ce qui les réunit : on commande au comptoir et on porte son plateau soi-même.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MOTS DE L'ENDROIT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mots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comptoir</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long meuble haut où on commande et où on paie. On y appuie les coudes, on y pose son plateau, et on y attend son tour.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tableau du menu</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grand panneau accroché au-dessus de la caisse. Il ne se prend pas dans les mains : il se lit de loin, avant d'arriver devant le préposé.</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plateau</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carré de plastique qui porte tout le repas d'une seule main. Il se prend au début du comptoir, jamais à la fin.</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la caisse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L'endroit du comptoir où on paie. Beaucoup de casse-croûte prennent le comptant et le débit, mais pas la carte de crédit.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145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7853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Chez Marcel, un serveur vient prendre la commande à la table.</a:t>
            </a:r>
          </a:p>
        </p:txBody>
      </p:sp>
      <p:sp>
        <p:nvSpPr>
          <p:cNvPr id="12" name="Rounded Rectangle 11"/>
          <p:cNvSpPr/>
          <p:nvPr/>
        </p:nvSpPr>
        <p:spPr>
          <a:xfrm>
            <a:off x="566928" y="3183127"/>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0682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37083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38575"/>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On paie après avoir commandé.</a:t>
            </a:r>
          </a:p>
        </p:txBody>
      </p:sp>
      <p:sp>
        <p:nvSpPr>
          <p:cNvPr id="16" name="Rounded Rectangle 15"/>
          <p:cNvSpPr/>
          <p:nvPr/>
        </p:nvSpPr>
        <p:spPr>
          <a:xfrm>
            <a:off x="566928" y="3924299"/>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4799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1200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079747"/>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menu est un papier posé sur les tables.</a:t>
            </a:r>
          </a:p>
        </p:txBody>
      </p:sp>
      <p:sp>
        <p:nvSpPr>
          <p:cNvPr id="20" name="Rounded Rectangle 19"/>
          <p:cNvSpPr/>
          <p:nvPr/>
        </p:nvSpPr>
        <p:spPr>
          <a:xfrm>
            <a:off x="566928" y="4665472"/>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91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531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82092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Les prix sont écrits à droite du tableau.</a:t>
            </a:r>
          </a:p>
        </p:txBody>
      </p:sp>
      <p:sp>
        <p:nvSpPr>
          <p:cNvPr id="24" name="Rounded Rectangle 23"/>
          <p:cNvSpPr/>
          <p:nvPr/>
        </p:nvSpPr>
        <p:spPr>
          <a:xfrm>
            <a:off x="566928" y="5406644"/>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53034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9435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56209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Les trois chiffres à côté de la soupe sont trois formats.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145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7853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Chez Marcel, un serveur vient prendre la commande à la table.   </a:t>
            </a:r>
            <a:r>
              <a:rPr sz="1700" b="1" i="0">
                <a:solidFill>
                  <a:srgbClr val="07734A"/>
                </a:solidFill>
                <a:latin typeface="Verdana"/>
              </a:rPr>
              <a:t>» faux — on commande au comptoir</a:t>
            </a:r>
          </a:p>
        </p:txBody>
      </p:sp>
      <p:sp>
        <p:nvSpPr>
          <p:cNvPr id="12" name="Rounded Rectangle 11"/>
          <p:cNvSpPr/>
          <p:nvPr/>
        </p:nvSpPr>
        <p:spPr>
          <a:xfrm>
            <a:off x="566928" y="3183127"/>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0682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37083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38575"/>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On paie après avoir commandé.   </a:t>
            </a:r>
            <a:r>
              <a:rPr sz="1700" b="1" i="0">
                <a:solidFill>
                  <a:srgbClr val="07734A"/>
                </a:solidFill>
                <a:latin typeface="Verdana"/>
              </a:rPr>
              <a:t>» vrai</a:t>
            </a:r>
          </a:p>
        </p:txBody>
      </p:sp>
      <p:sp>
        <p:nvSpPr>
          <p:cNvPr id="16" name="Rounded Rectangle 15"/>
          <p:cNvSpPr/>
          <p:nvPr/>
        </p:nvSpPr>
        <p:spPr>
          <a:xfrm>
            <a:off x="566928" y="3924299"/>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4799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1200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079747"/>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menu est un papier posé sur les tables.   </a:t>
            </a:r>
            <a:r>
              <a:rPr sz="1700" b="1" i="0">
                <a:solidFill>
                  <a:srgbClr val="07734A"/>
                </a:solidFill>
                <a:latin typeface="Verdana"/>
              </a:rPr>
              <a:t>» faux — un tableau au-dessus de la caisse</a:t>
            </a:r>
          </a:p>
        </p:txBody>
      </p:sp>
      <p:sp>
        <p:nvSpPr>
          <p:cNvPr id="20" name="Rounded Rectangle 19"/>
          <p:cNvSpPr/>
          <p:nvPr/>
        </p:nvSpPr>
        <p:spPr>
          <a:xfrm>
            <a:off x="566928" y="4665472"/>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91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531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82092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Les prix sont écrits à droite du tableau.   </a:t>
            </a:r>
            <a:r>
              <a:rPr sz="1700" b="1" i="0">
                <a:solidFill>
                  <a:srgbClr val="07734A"/>
                </a:solidFill>
                <a:latin typeface="Verdana"/>
              </a:rPr>
              <a:t>» vrai</a:t>
            </a:r>
          </a:p>
        </p:txBody>
      </p:sp>
      <p:sp>
        <p:nvSpPr>
          <p:cNvPr id="24" name="Rounded Rectangle 23"/>
          <p:cNvSpPr/>
          <p:nvPr/>
        </p:nvSpPr>
        <p:spPr>
          <a:xfrm>
            <a:off x="566928" y="5406644"/>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53034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9435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56209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Les trois chiffres à côté de la soupe sont trois formats.   </a:t>
            </a:r>
            <a:r>
              <a:rPr sz="1700" b="1" i="0">
                <a:solidFill>
                  <a:srgbClr val="07734A"/>
                </a:solidFill>
                <a:latin typeface="Verdana"/>
              </a:rPr>
              <a:t>» vrai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où vous dînez le midi, et comment ça se passe.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Est-ce qu'il y a un comptoir ou un service aux tables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Où est le menu : sur la table, ou au mur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Commander au comptoir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