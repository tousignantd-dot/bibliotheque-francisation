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par l'image. Prévoir le module interactif à l'écran : l'exercice 3 de « Je découvre » fait glisser les mêmes huit photos sur les mêmes huit phrases.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n'osent pas se servir eux-mêmes et repartent sans ustensile. C'est le vrai enjeu de la séance, davantage que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Insister : « Servez-vous » veut dire « prends-en toi-même ». Ce n'est ni un reproche ni un refus.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chaque mot avec son article, puis dans une phrase complète. Ces quatre mots sont ceux que le programme nomme pour cette situation.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séparation entre « je me sers » et « on me donne » est la clé pratique de tout le bloc.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à voix haute, deux fois, en insistant sur les trois mots liés.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 reprise. Il reprend exactement les définitions du banc de vocabulaire du module interactif.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passer quatre élèves différents. Corriger l'article, rien d'autre : le genre des noms est l'objet de la séance A4.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Il prépare la séance A4 sur les formats et le genre des noms du comptoir.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A3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Dans le casse-croûte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comptoir, le plateau, les bacs d'ustensiles, les sachets de condiments : huit objets qu'on voit tous les midis et qu'on ne sait pas encore nommer.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Commander au comptoir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huit objets d'un comptoir de casse-croûte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décrire chaque objet en une phrase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qu'on prend soi-même de ce qu'on demande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chaque mot avec son article.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qu'on prend soi-même, ici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ac-ustensiles.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qu'il y a dans ces bacs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faut les demander au préposé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sont les serviettes, d'habitude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sel, le poivre, le ketchup : ils sont où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prend, et où</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L'OBJET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IL SE PREND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plateau</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empilé au début du comptoir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ustensiles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dans les bacs, près du ramassage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serviettes de table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dans la boîte de métal, sur le comptoir</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condiments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en sachets, au bout du comptoir</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 quatre-là sont en libre-service : on ne les demande pas.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OBJETS DU COMPTOIR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 plateau</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carré de plastique qui porte le repas. Il se prend au début du comptoir, avant même de commander, et se rapporte au bac à vaisselle en partant.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 ustensile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fourchette, le couteau ou la cuillère. Au singulier, le mot est rare ; on dit presque toujours « les ustensiles », au pluriel.</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une serviette de table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petit papier carré. Le mot complet est important : « une serviette » toute seule peut aussi vouloir dire celle de la salle de bain.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 condiment</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sel, le poivre, le ketchup, la moutarde. Ce qu'on ajoute pour le goût, et qui vient en petits sachets.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objets qu'on reçoit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L'OBJET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SERT À FAIRE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tableau du menu</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lire ce qu'il y a, avant d'arriver au comptoir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reçu</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porter le numéro de la commande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sac de papier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emporter le repas ailleurs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couvercle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fermer un bol ou un verre pour le transport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 quatre-là viennent du préposé : on ne les prend pas soi-même.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MOT COMPLET, TOUJOURS</a:t>
            </a:r>
          </a:p>
        </p:txBody>
      </p:sp>
      <p:sp>
        <p:nvSpPr>
          <p:cNvPr id="6" name="Rounded Rectangle 5"/>
          <p:cNvSpPr/>
          <p:nvPr/>
        </p:nvSpPr>
        <p:spPr>
          <a:xfrm>
            <a:off x="566928" y="1225296"/>
            <a:ext cx="11057839" cy="1441196"/>
          </a:xfrm>
          <a:prstGeom prst="roundRect">
            <a:avLst>
              <a:gd name="adj" fmla="val 1015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une serviette de table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mots, jamais deux. Une serviette de bain, une serviette de plage et une serviette de table sont trois objets très différents. Au comptoir, le mot complet évite un malentendu qui fait sourire.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objet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l'objet décrit.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carré de plastique qui porte le repas.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grand panneau au-dessus de la caisse.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prend dans les bacs pour manger.</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papier pour s'essuyer les mains.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sel, le poivre, le ketchup.</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rond de plastique qui ferme un bol.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objet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carré de plastique qui porte le repas.   </a:t>
            </a:r>
            <a:r>
              <a:rPr sz="1400" b="1" i="0">
                <a:solidFill>
                  <a:srgbClr val="07734A"/>
                </a:solidFill>
                <a:latin typeface="Verdana"/>
              </a:rPr>
              <a:t>» un plateau</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grand panneau au-dessus de la caisse.   </a:t>
            </a:r>
            <a:r>
              <a:rPr sz="1400" b="1" i="0">
                <a:solidFill>
                  <a:srgbClr val="07734A"/>
                </a:solidFill>
                <a:latin typeface="Verdana"/>
              </a:rPr>
              <a:t>» le tableau du menu</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prend dans les bacs pour manger.   </a:t>
            </a:r>
            <a:r>
              <a:rPr sz="1400" b="1" i="0">
                <a:solidFill>
                  <a:srgbClr val="07734A"/>
                </a:solidFill>
                <a:latin typeface="Verdana"/>
              </a:rPr>
              <a:t>» des ustensiles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petit papier pour s'essuyer les mains.   </a:t>
            </a:r>
            <a:r>
              <a:rPr sz="1400" b="1" i="0">
                <a:solidFill>
                  <a:srgbClr val="07734A"/>
                </a:solidFill>
                <a:latin typeface="Verdana"/>
              </a:rPr>
              <a:t>» une serviette de table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sel, le poivre, le ketchup.   </a:t>
            </a:r>
            <a:r>
              <a:rPr sz="1400" b="1" i="0">
                <a:solidFill>
                  <a:srgbClr val="07734A"/>
                </a:solidFill>
                <a:latin typeface="Verdana"/>
              </a:rPr>
              <a:t>» des condiments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rond de plastique qui ferme un bol.   </a:t>
            </a:r>
            <a:r>
              <a:rPr sz="1400" b="1" i="0">
                <a:solidFill>
                  <a:srgbClr val="07734A"/>
                </a:solidFill>
                <a:latin typeface="Verdana"/>
              </a:rPr>
              <a:t>» un couvercle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photo</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phrase par photo, avec l'article juste.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file devant le comptoir.</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panneau au-dessus de la caisse.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verres côte à côte.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sac de papier brun.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Décrivez la photo</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file devant le comptoir.   </a:t>
            </a:r>
            <a:r>
              <a:rPr sz="1900" b="1" i="0">
                <a:solidFill>
                  <a:srgbClr val="07734A"/>
                </a:solidFill>
                <a:latin typeface="Verdana"/>
              </a:rPr>
              <a:t>» Des personnes attendent devant le comptoir.</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panneau au-dessus de la caisse.   </a:t>
            </a:r>
            <a:r>
              <a:rPr sz="1900" b="1" i="0">
                <a:solidFill>
                  <a:srgbClr val="07734A"/>
                </a:solidFill>
                <a:latin typeface="Verdana"/>
              </a:rPr>
              <a:t>» C'est le tableau du menu.</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verres côte à côte.   </a:t>
            </a:r>
            <a:r>
              <a:rPr sz="1900" b="1" i="0">
                <a:solidFill>
                  <a:srgbClr val="07734A"/>
                </a:solidFill>
                <a:latin typeface="Verdana"/>
              </a:rPr>
              <a:t>» Ce sont les trois formats.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sac de papier brun.   </a:t>
            </a:r>
            <a:r>
              <a:rPr sz="1900" b="1" i="0">
                <a:solidFill>
                  <a:srgbClr val="07734A"/>
                </a:solidFill>
                <a:latin typeface="Verdana"/>
              </a:rPr>
              <a:t>» C'est un sac, pour emporter.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six objets qu'il y a dans l'endroit où vous dînez.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leur article : un plateau, une serviette de table…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Et dites lesquels on prend soi-même.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Commander au comptoir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