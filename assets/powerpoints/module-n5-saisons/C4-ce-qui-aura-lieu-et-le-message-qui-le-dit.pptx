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Défi 2. Ouvrir en lisant trois des billets de C3 : le groupe entend six versions de la même décision et choisit. On passe ensuite au temps du verbe, puis à la phrase complète.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relever dans le message de Marisol lequel des deux futurs revient le plus : c'est le proche, à l'oral, et le simple dès qu'une date est fixée.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produire trois phrases en « si » par élève, à l'oral, avant de passer à l'écrit. L'oreille prend l'habitude plus vite que la main.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point le plus utile de la séance, et le plus contre-intuitif : le futur adoucit, donc il affaiblit une décision déjà prise.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sont les six items de l'exercice `t2fut`. Faire dire à voix haute avant d'écrire : le proche et le simple se choisissent d'abord à l'oreille.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Les quatre points sont la grille de correction du billet, et celle de la production écrite de E2.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sont les quatre situations de l'exercice `t2msg`. Les corrigés proposés ne sont pas les seuls justes : faire lire deux versions d'élèves avant d'afficher la correction, et comparer.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Ils sont le brouillon du message vocal de E1 : les rendre au début de cette séance-là, et non corrigés.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C4  ·  MODULE 12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qui aura lieu, et le message qui le dit</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décision s'annonce toujours au futur : la nouvelle date, l'heure, le lieu. Deux futurs se partagent le travail, et un message de deux lignes réunit tout le Défi 2.</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Quand la météo décide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 futur proche à l'oral et le futur simple à l'écrit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ne jamais mettre le futur après « si »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la décision et sa raison dans la même phrase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donner la nouvelle date, l'heure et le lieu du premier coup.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DEUX FUTURS, DEUX DISTANCES</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Je vais vous rappeler ce soir. La sortie aura lieu le 22 février.</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futur proche — aller au présent + l'infinitif — est celui du téléphone : il donne l'impression que c'est déjà parti. Le futur simple est celui de l'avis affiché et du courriel : devant un groupe, il fait sérieux et il engage. Les deux cohabitent dans le même message sans que personne trouve cela bizarre.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FUTUR APRÈS « SI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Si l'avertissement sera levé…</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Si l'avertissement est levé, nous maintiendrons la sortie.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Présent après « si », futur dans l'autre moitié de la phrase. C'est la faute la plus fréquente du niveau, et elle s'entend tout de suite. La corriger une fois pour toutes vaut mieux que la reprendre dix fois.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le futur ne fait pas</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PHRASE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LE LECTEUR ENTEND</a:t>
            </a:r>
          </a:p>
        </p:txBody>
      </p:sp>
      <p:sp>
        <p:nvSpPr>
          <p:cNvPr id="10" name="TextBox 9"/>
          <p:cNvSpPr txBox="1"/>
          <p:nvPr/>
        </p:nvSpPr>
        <p:spPr>
          <a:xfrm>
            <a:off x="932688" y="2395728"/>
            <a:ext cx="3291492"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La sortie sera peut-être reportée.</a:t>
            </a:r>
          </a:p>
        </p:txBody>
      </p:sp>
      <p:sp>
        <p:nvSpPr>
          <p:cNvPr id="11" name="TextBox 10"/>
          <p:cNvSpPr txBox="1"/>
          <p:nvPr/>
        </p:nvSpPr>
        <p:spPr>
          <a:xfrm>
            <a:off x="4443636" y="2395728"/>
            <a:ext cx="6595914"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elle hésite encore</a:t>
            </a:r>
          </a:p>
        </p:txBody>
      </p:sp>
      <p:sp>
        <p:nvSpPr>
          <p:cNvPr id="12" name="Rectangle 11"/>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69920"/>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La sortie est reportée.</a:t>
            </a:r>
          </a:p>
        </p:txBody>
      </p:sp>
      <p:sp>
        <p:nvSpPr>
          <p:cNvPr id="14" name="TextBox 13"/>
          <p:cNvSpPr txBox="1"/>
          <p:nvPr/>
        </p:nvSpPr>
        <p:spPr>
          <a:xfrm>
            <a:off x="4443636" y="3169920"/>
            <a:ext cx="6595914"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c'est décidé, c'est fait</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Je vous confirmerai vendredi.</a:t>
            </a:r>
          </a:p>
        </p:txBody>
      </p:sp>
      <p:sp>
        <p:nvSpPr>
          <p:cNvPr id="17" name="TextBox 16"/>
          <p:cNvSpPr txBox="1"/>
          <p:nvPr/>
        </p:nvSpPr>
        <p:spPr>
          <a:xfrm>
            <a:off x="4443636" y="3675887"/>
            <a:ext cx="6595914"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elle n'a pas tranché</a:t>
            </a:r>
          </a:p>
        </p:txBody>
      </p:sp>
      <p:sp>
        <p:nvSpPr>
          <p:cNvPr id="18" name="Rectangle 17"/>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181856"/>
            <a:ext cx="3291492"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La sortie aura lieu le 22 février.</a:t>
            </a:r>
          </a:p>
        </p:txBody>
      </p:sp>
      <p:sp>
        <p:nvSpPr>
          <p:cNvPr id="20" name="TextBox 19"/>
          <p:cNvSpPr txBox="1"/>
          <p:nvPr/>
        </p:nvSpPr>
        <p:spPr>
          <a:xfrm>
            <a:off x="4443636" y="4181856"/>
            <a:ext cx="6595914"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la date est fixée</a:t>
            </a:r>
          </a:p>
        </p:txBody>
      </p:sp>
      <p:sp>
        <p:nvSpPr>
          <p:cNvPr id="21" name="Rounded Rectangle 20"/>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Une décision prise se dit au présent : il est plus ferme que le futur.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GRAMMAIRE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Futur proche ou futur simple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selon ce que la phrase demande.</a:t>
            </a:r>
          </a:p>
        </p:txBody>
      </p:sp>
      <p:sp>
        <p:nvSpPr>
          <p:cNvPr id="8" name="Rounded Rectangle 7"/>
          <p:cNvSpPr/>
          <p:nvPr/>
        </p:nvSpPr>
        <p:spPr>
          <a:xfrm>
            <a:off x="566928" y="2139696"/>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145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7853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Je ___ (rappeler) dès que j'aurai la confirmation.</a:t>
            </a:r>
          </a:p>
        </p:txBody>
      </p:sp>
      <p:sp>
        <p:nvSpPr>
          <p:cNvPr id="12" name="Rounded Rectangle 11"/>
          <p:cNvSpPr/>
          <p:nvPr/>
        </p:nvSpPr>
        <p:spPr>
          <a:xfrm>
            <a:off x="6159855" y="2139696"/>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145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7853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6937095" y="2295144"/>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La sortie ___ (avoir lieu) le samedi 22 février, à treize heures.</a:t>
            </a:r>
          </a:p>
        </p:txBody>
      </p:sp>
      <p:sp>
        <p:nvSpPr>
          <p:cNvPr id="16" name="Rounded Rectangle 15"/>
          <p:cNvSpPr/>
          <p:nvPr/>
        </p:nvSpPr>
        <p:spPr>
          <a:xfrm>
            <a:off x="566928" y="3183127"/>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45795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52196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338575"/>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Ça ___ (commencer) dans une heure environ.</a:t>
            </a:r>
          </a:p>
        </p:txBody>
      </p:sp>
      <p:sp>
        <p:nvSpPr>
          <p:cNvPr id="20" name="Rounded Rectangle 19"/>
          <p:cNvSpPr/>
          <p:nvPr/>
        </p:nvSpPr>
        <p:spPr>
          <a:xfrm>
            <a:off x="6159855" y="3183127"/>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45795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52196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6937095" y="3338575"/>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Je vous ___ (confirmer) vendredi à midi au plus tard.</a:t>
            </a:r>
          </a:p>
        </p:txBody>
      </p:sp>
      <p:sp>
        <p:nvSpPr>
          <p:cNvPr id="24" name="Rounded Rectangle 23"/>
          <p:cNvSpPr/>
          <p:nvPr/>
        </p:nvSpPr>
        <p:spPr>
          <a:xfrm>
            <a:off x="566928" y="4226560"/>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50138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5653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4382008"/>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Si l'avertissement ___ (être) levé jeudi, nous maintiendrons la sortie.</a:t>
            </a:r>
          </a:p>
        </p:txBody>
      </p:sp>
      <p:sp>
        <p:nvSpPr>
          <p:cNvPr id="28" name="Rounded Rectangle 27"/>
          <p:cNvSpPr/>
          <p:nvPr/>
        </p:nvSpPr>
        <p:spPr>
          <a:xfrm>
            <a:off x="6159855" y="4226560"/>
            <a:ext cx="5464911" cy="915416"/>
          </a:xfrm>
          <a:prstGeom prst="roundRect">
            <a:avLst>
              <a:gd name="adj" fmla="val 1598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50138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5653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6937095" y="4382008"/>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Nous ___ (partir) du Centre à treize heures précises.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Futur proche ou futur simple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145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7853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Je ___ (rappeler) dès que j'aurai la confirmation.   </a:t>
            </a:r>
            <a:r>
              <a:rPr sz="1700" b="1" i="0">
                <a:solidFill>
                  <a:srgbClr val="07734A"/>
                </a:solidFill>
                <a:latin typeface="Verdana"/>
              </a:rPr>
              <a:t>» vais vous rappeler</a:t>
            </a:r>
          </a:p>
        </p:txBody>
      </p:sp>
      <p:sp>
        <p:nvSpPr>
          <p:cNvPr id="12" name="Rounded Rectangle 11"/>
          <p:cNvSpPr/>
          <p:nvPr/>
        </p:nvSpPr>
        <p:spPr>
          <a:xfrm>
            <a:off x="6159855" y="2139696"/>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145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7853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6937095" y="2295144"/>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La sortie ___ (avoir lieu) le samedi 22 février, à treize heures.   </a:t>
            </a:r>
            <a:r>
              <a:rPr sz="1700" b="1" i="0">
                <a:solidFill>
                  <a:srgbClr val="07734A"/>
                </a:solidFill>
                <a:latin typeface="Verdana"/>
              </a:rPr>
              <a:t>» aura lieu</a:t>
            </a:r>
          </a:p>
        </p:txBody>
      </p:sp>
      <p:sp>
        <p:nvSpPr>
          <p:cNvPr id="16" name="Rounded Rectangle 15"/>
          <p:cNvSpPr/>
          <p:nvPr/>
        </p:nvSpPr>
        <p:spPr>
          <a:xfrm>
            <a:off x="566928" y="3183127"/>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45795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52196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338575"/>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Ça ___ (commencer) dans une heure environ.   </a:t>
            </a:r>
            <a:r>
              <a:rPr sz="1700" b="1" i="0">
                <a:solidFill>
                  <a:srgbClr val="07734A"/>
                </a:solidFill>
                <a:latin typeface="Verdana"/>
              </a:rPr>
              <a:t>» va commencer</a:t>
            </a:r>
          </a:p>
        </p:txBody>
      </p:sp>
      <p:sp>
        <p:nvSpPr>
          <p:cNvPr id="20" name="Rounded Rectangle 19"/>
          <p:cNvSpPr/>
          <p:nvPr/>
        </p:nvSpPr>
        <p:spPr>
          <a:xfrm>
            <a:off x="6159855" y="3183127"/>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45795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52196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6937095" y="3338575"/>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Je vous ___ (confirmer) vendredi à midi au plus tard.   </a:t>
            </a:r>
            <a:r>
              <a:rPr sz="1700" b="1" i="0">
                <a:solidFill>
                  <a:srgbClr val="07734A"/>
                </a:solidFill>
                <a:latin typeface="Verdana"/>
              </a:rPr>
              <a:t>» confirmerai</a:t>
            </a:r>
          </a:p>
        </p:txBody>
      </p:sp>
      <p:sp>
        <p:nvSpPr>
          <p:cNvPr id="24" name="Rounded Rectangle 23"/>
          <p:cNvSpPr/>
          <p:nvPr/>
        </p:nvSpPr>
        <p:spPr>
          <a:xfrm>
            <a:off x="566928" y="4226560"/>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50138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5653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4382008"/>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Si l'avertissement ___ (être) levé jeudi, nous maintiendrons la sortie.   </a:t>
            </a:r>
            <a:r>
              <a:rPr sz="1700" b="1" i="0">
                <a:solidFill>
                  <a:srgbClr val="07734A"/>
                </a:solidFill>
                <a:latin typeface="Verdana"/>
              </a:rPr>
              <a:t>» est</a:t>
            </a:r>
          </a:p>
        </p:txBody>
      </p:sp>
      <p:sp>
        <p:nvSpPr>
          <p:cNvPr id="28" name="Rounded Rectangle 27"/>
          <p:cNvSpPr/>
          <p:nvPr/>
        </p:nvSpPr>
        <p:spPr>
          <a:xfrm>
            <a:off x="6159855" y="4226560"/>
            <a:ext cx="5464911" cy="915416"/>
          </a:xfrm>
          <a:prstGeom prst="roundRect">
            <a:avLst>
              <a:gd name="adj" fmla="val 1598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501387"/>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5653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6937095" y="4382008"/>
            <a:ext cx="4504791" cy="641095"/>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Nous ___ (partir) du Centre à treize heures précises.   </a:t>
            </a:r>
            <a:r>
              <a:rPr sz="1700" b="1" i="0">
                <a:solidFill>
                  <a:srgbClr val="07734A"/>
                </a:solidFill>
                <a:latin typeface="Verdana"/>
              </a:rPr>
              <a:t>» partirons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MESSAGE AU GROUPE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exigences, et rien de plus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Une phrase, deux moitiés</a:t>
            </a:r>
          </a:p>
        </p:txBody>
      </p:sp>
      <p:sp>
        <p:nvSpPr>
          <p:cNvPr id="9" name="TextBox 8"/>
          <p:cNvSpPr txBox="1"/>
          <p:nvPr/>
        </p:nvSpPr>
        <p:spPr>
          <a:xfrm>
            <a:off x="886968"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décision et la raison. L'ordre se choisit selon ce que le lecteur doit retenir en premier.</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La décision porte la nouvelle date</a:t>
            </a:r>
          </a:p>
        </p:txBody>
      </p:sp>
      <p:sp>
        <p:nvSpPr>
          <p:cNvPr id="12" name="TextBox 11"/>
          <p:cNvSpPr txBox="1"/>
          <p:nvPr/>
        </p:nvSpPr>
        <p:spPr>
          <a:xfrm>
            <a:off x="6498183"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Reportée » laisse trente personnes sans réponse ; « reportée au 22, même heure, même endroit » les règle toutes.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Une raison, pas trois</a:t>
            </a:r>
          </a:p>
        </p:txBody>
      </p:sp>
      <p:sp>
        <p:nvSpPr>
          <p:cNvPr id="15" name="TextBox 14"/>
          <p:cNvSpPr txBox="1"/>
          <p:nvPr/>
        </p:nvSpPr>
        <p:spPr>
          <a:xfrm>
            <a:off x="886968"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plus forte, et on s'arrête. Trois raisons alignées donnent l'air de se justifier — et on se fait discuter.</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Une ligne pour la suite</a:t>
            </a:r>
          </a:p>
        </p:txBody>
      </p:sp>
      <p:sp>
        <p:nvSpPr>
          <p:cNvPr id="18" name="TextBox 17"/>
          <p:cNvSpPr txBox="1"/>
          <p:nvPr/>
        </p:nvSpPr>
        <p:spPr>
          <a:xfrm>
            <a:off x="6498183"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Ce que le lecteur doit faire : rien, appeler avant jeudi, confirmer. Sans elle, chacun invente sa marche à suivre.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ÉCRITURE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300" b="1" i="0">
                <a:solidFill>
                  <a:srgbClr val="17181A"/>
                </a:solidFill>
                <a:latin typeface="Verdana"/>
              </a:rPr>
              <a:t>La décision et sa raison, dans la même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Une phrase par situation. Rien d'autre que la décision et la raison.</a:t>
            </a:r>
          </a:p>
        </p:txBody>
      </p:sp>
      <p:sp>
        <p:nvSpPr>
          <p:cNvPr id="8" name="Rounded Rectangle 7"/>
          <p:cNvSpPr/>
          <p:nvPr/>
        </p:nvSpPr>
        <p:spPr>
          <a:xfrm>
            <a:off x="566928" y="2139696"/>
            <a:ext cx="11057839" cy="844296"/>
          </a:xfrm>
          <a:prstGeom prst="roundRect">
            <a:avLst>
              <a:gd name="adj" fmla="val 173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7896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4297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Verglas · trottoirs glacés · marche du 8 · nouvelle date : le 22, 13 h.</a:t>
            </a:r>
          </a:p>
        </p:txBody>
      </p:sp>
      <p:sp>
        <p:nvSpPr>
          <p:cNvPr id="12" name="Rounded Rectangle 11"/>
          <p:cNvSpPr/>
          <p:nvPr/>
        </p:nvSpPr>
        <p:spPr>
          <a:xfrm>
            <a:off x="566928" y="3112008"/>
            <a:ext cx="11057839" cy="844296"/>
          </a:xfrm>
          <a:prstGeom prst="roundRect">
            <a:avLst>
              <a:gd name="adj" fmla="val 173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5127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1528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267456"/>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Crue printanière · sentiers inondés · visite du Bic dimanche · le parc rouvre dans deux semaines.</a:t>
            </a:r>
          </a:p>
        </p:txBody>
      </p:sp>
      <p:sp>
        <p:nvSpPr>
          <p:cNvPr id="16" name="Rounded Rectangle 15"/>
          <p:cNvSpPr/>
          <p:nvPr/>
        </p:nvSpPr>
        <p:spPr>
          <a:xfrm>
            <a:off x="566928" y="4084320"/>
            <a:ext cx="11057839" cy="844296"/>
          </a:xfrm>
          <a:prstGeom prst="roundRect">
            <a:avLst>
              <a:gd name="adj" fmla="val 173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3235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875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239768"/>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Chaleur extrême · indice UV de neuf · pétanque samedi 14 h · déplacée à 9 h.</a:t>
            </a:r>
          </a:p>
        </p:txBody>
      </p:sp>
      <p:sp>
        <p:nvSpPr>
          <p:cNvPr id="20" name="Rounded Rectangle 19"/>
          <p:cNvSpPr/>
          <p:nvPr/>
        </p:nvSpPr>
        <p:spPr>
          <a:xfrm>
            <a:off x="566928" y="5056632"/>
            <a:ext cx="11057839" cy="844296"/>
          </a:xfrm>
          <a:prstGeom prst="roundRect">
            <a:avLst>
              <a:gd name="adj" fmla="val 173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29590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35990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5212080"/>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Tempête · le spectacle passe une seule fois · aucune autre 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300" b="1" i="0">
                <a:solidFill>
                  <a:srgbClr val="17181A"/>
                </a:solidFill>
                <a:latin typeface="Verdana"/>
              </a:rPr>
              <a:t>La décision et sa raison, dans la même phrase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844296"/>
          </a:xfrm>
          <a:prstGeom prst="roundRect">
            <a:avLst>
              <a:gd name="adj" fmla="val 173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7896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4297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Verglas · trottoirs glacés · marche du 8 · nouvelle date : le 22, 13 h.   </a:t>
            </a:r>
            <a:r>
              <a:rPr sz="1500" b="1" i="0">
                <a:solidFill>
                  <a:srgbClr val="07734A"/>
                </a:solidFill>
                <a:latin typeface="Verdana"/>
              </a:rPr>
              <a:t>» Comme un avertissement de pluie verglaçante est en vigueur, la marche est reportée au samedi 22, à treize heures.</a:t>
            </a:r>
          </a:p>
        </p:txBody>
      </p:sp>
      <p:sp>
        <p:nvSpPr>
          <p:cNvPr id="12" name="Rounded Rectangle 11"/>
          <p:cNvSpPr/>
          <p:nvPr/>
        </p:nvSpPr>
        <p:spPr>
          <a:xfrm>
            <a:off x="566928" y="3112008"/>
            <a:ext cx="11057839" cy="844296"/>
          </a:xfrm>
          <a:prstGeom prst="roundRect">
            <a:avLst>
              <a:gd name="adj" fmla="val 173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5127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1528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267456"/>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Crue printanière · sentiers inondés · visite du Bic dimanche · le parc rouvre dans deux semaines.   </a:t>
            </a:r>
            <a:r>
              <a:rPr sz="1500" b="1" i="0">
                <a:solidFill>
                  <a:srgbClr val="07734A"/>
                </a:solidFill>
                <a:latin typeface="Verdana"/>
              </a:rPr>
              <a:t>» La visite du parc du Bic est reportée, parce que la crue a inondé les sentiers du bas du parc.</a:t>
            </a:r>
          </a:p>
        </p:txBody>
      </p:sp>
      <p:sp>
        <p:nvSpPr>
          <p:cNvPr id="16" name="Rounded Rectangle 15"/>
          <p:cNvSpPr/>
          <p:nvPr/>
        </p:nvSpPr>
        <p:spPr>
          <a:xfrm>
            <a:off x="566928" y="4084320"/>
            <a:ext cx="11057839" cy="844296"/>
          </a:xfrm>
          <a:prstGeom prst="roundRect">
            <a:avLst>
              <a:gd name="adj" fmla="val 173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3235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875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239768"/>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Chaleur extrême · indice UV de neuf · pétanque samedi 14 h · déplacée à 9 h.   </a:t>
            </a:r>
            <a:r>
              <a:rPr sz="1500" b="1" i="0">
                <a:solidFill>
                  <a:srgbClr val="07734A"/>
                </a:solidFill>
                <a:latin typeface="Verdana"/>
              </a:rPr>
              <a:t>» Étant donné l'avertissement de chaleur extrême, la pétanque est déplacée à neuf heures du matin.</a:t>
            </a:r>
          </a:p>
        </p:txBody>
      </p:sp>
      <p:sp>
        <p:nvSpPr>
          <p:cNvPr id="20" name="Rounded Rectangle 19"/>
          <p:cNvSpPr/>
          <p:nvPr/>
        </p:nvSpPr>
        <p:spPr>
          <a:xfrm>
            <a:off x="566928" y="5056632"/>
            <a:ext cx="11057839" cy="844296"/>
          </a:xfrm>
          <a:prstGeom prst="roundRect">
            <a:avLst>
              <a:gd name="adj" fmla="val 173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29590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35990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5212080"/>
            <a:ext cx="10097719" cy="569976"/>
          </a:xfrm>
          <a:prstGeom prst="rect">
            <a:avLst/>
          </a:prstGeom>
          <a:noFill/>
        </p:spPr>
        <p:txBody>
          <a:bodyPr wrap="square" lIns="0" rIns="0" tIns="0" bIns="0" anchor="t">
            <a:spAutoFit/>
          </a:bodyPr>
          <a:lstStyle/>
          <a:p>
            <a:pPr algn="l">
              <a:lnSpc>
                <a:spcPct val="140000"/>
              </a:lnSpc>
            </a:pPr>
            <a:r>
              <a:rPr sz="1500" b="0" i="0">
                <a:solidFill>
                  <a:srgbClr val="3A3D40"/>
                </a:solidFill>
                <a:latin typeface="Verdana"/>
              </a:rPr>
              <a:t>Tempête · le spectacle passe une seule fois · aucune autre date.   </a:t>
            </a:r>
            <a:r>
              <a:rPr sz="1500" b="1" i="0">
                <a:solidFill>
                  <a:srgbClr val="07734A"/>
                </a:solidFill>
                <a:latin typeface="Verdana"/>
              </a:rPr>
              <a:t>» Le spectacle est annulé, puisqu'une tempête est annoncée et qu'aucune autre date n'est possible.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votre message au groupe pour la situation du verglas : deux lignes, pas plus.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pour la décision et la raison, une ligne pour ce qu'il faut faire.</a:t>
            </a:r>
          </a:p>
        </p:txBody>
      </p:sp>
      <p:sp>
        <p:nvSpPr>
          <p:cNvPr id="10" name="Rounded Rectangle 9"/>
          <p:cNvSpPr/>
          <p:nvPr/>
        </p:nvSpPr>
        <p:spPr>
          <a:xfrm>
            <a:off x="566928" y="4680712"/>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Relisez-vous en vous demandant : est-ce que quelqu'un rappellerait pour poser une question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Quand la météo décide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