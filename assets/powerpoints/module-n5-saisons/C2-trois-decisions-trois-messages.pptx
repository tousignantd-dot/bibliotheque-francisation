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d'application. Elle se fait par équipes de trois, avec les huit cas distribués sur cartons. Chaque équipe décide, puis défend sa décision devant le groupe. L'enseignante ne tranche qu'à la fin, et seulement quand deux équipes s'opposent.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le plus délicat : la limite entre désagréable et dangereux dépend du groupe. Huit personnes de plus de soixante-dix ans déplacent la limite, et c'est exactement ce qu'il faut apprendre à dire.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cas « crue » du jeu de rôle de E1. Le poser ici en groupe permet aux élèves d'arriver au jeu de rôle avec des arguments déjà éprouvés.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remarquer que seule la première question porte sur le bulletin : les deux autres portent sur les gens et sur le calendrier.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compléter la colonne de droite avant de l'afficher. Puis poser la question qui fâche : est-ce que la limite est la même pour un groupe de vingt ans et pour celui de Marisol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les quatre phrases entières. Ce sont des modèles à copier, pas des exemples à commenter : l'élève doit pouvoir en produire une semblable en dix secondes.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des huit énoncés de l'exercice t2dec du module. Exiger la justification autant que la décision. Le dernier surprend toujours : c'est l'argent qui force l'annulation, pas le froid.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Rappeler la formule de A1 : elle revient ici avec tout son poids. Décider trop tôt coûte aussi cher que décider trop tard, et c'est beaucoup moins évident.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billets : ils sont le brouillon direct de l'exercice t2msg de C4. Relever surtout les décisions incomplètes — « reportée » sans date — et les montrer anonymement au début de C4.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C2  ·  MODULE 12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Trois décisions, trois messages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Huit situations du Centre communautaire, quatre saisons, et chaque fois la même méthode : est-ce que ça touche mon créneau, est-ce dangereux ou seulement désagréable, y a-t-il une date de rechange ?</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Quand la météo décide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appliquer les trois questions dans l'ordre, chaque fois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qui est dangereux de ce qui est seulement désagréable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 cas où l'on déplace l'heure au lieu de toucher à la date ;</a:t>
            </a:r>
          </a:p>
        </p:txBody>
      </p:sp>
      <p:sp>
        <p:nvSpPr>
          <p:cNvPr id="19" name="Rounded Rectangle 18"/>
          <p:cNvSpPr/>
          <p:nvPr/>
        </p:nvSpPr>
        <p:spPr>
          <a:xfrm>
            <a:off x="566928" y="4422648"/>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7782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8605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qu'on ne décide pas trop tôt, mais qu'on annonce quand on décidera.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Un sentier sous l'eau au printemps. Faut-il annuler la visite guidée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rue-sentier.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parc rouvre dans deux semaines. Est-ce que ça change quelque chose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L'autobus est réservé, mais pas encore payé. Et maintenant ?</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Vingt-deux personnes sont inscrites. Qui faut-il prévenir en premier ?</a:t>
            </a:r>
          </a:p>
        </p:txBody>
      </p:sp>
      <p:sp>
        <p:nvSpPr>
          <p:cNvPr id="18" name="Rounded Rectangle 17"/>
          <p:cNvSpPr/>
          <p:nvPr/>
        </p:nvSpPr>
        <p:spPr>
          <a:xfrm>
            <a:off x="566928" y="522732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diriez-vous à quelqu'un qui trouve qu'on exagère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TROIS QUESTIONS, TOUJOURS DANS CET ORDRE</a:t>
            </a:r>
          </a:p>
        </p:txBody>
      </p:sp>
      <p:sp>
        <p:nvSpPr>
          <p:cNvPr id="6" name="Rounded Rectangle 5"/>
          <p:cNvSpPr/>
          <p:nvPr/>
        </p:nvSpPr>
        <p:spPr>
          <a:xfrm>
            <a:off x="566928" y="1225296"/>
            <a:ext cx="11057839" cy="3021583"/>
          </a:xfrm>
          <a:prstGeom prst="roundRect">
            <a:avLst>
              <a:gd name="adj" fmla="val 4841"/>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198623"/>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Est-ce que ça touche mon créneau ? Est-ce dangereux ou seulement désagréable ? Existe-t-il une date de rechange ?</a:t>
            </a:r>
          </a:p>
        </p:txBody>
      </p:sp>
      <p:sp>
        <p:nvSpPr>
          <p:cNvPr id="8" name="Rounded Rectangle 7"/>
          <p:cNvSpPr/>
          <p:nvPr/>
        </p:nvSpPr>
        <p:spPr>
          <a:xfrm>
            <a:off x="566928" y="4521199"/>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795519"/>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première vient du Défi 1, la deuxième dépend de votre groupe, la troisième ne dépend pas du tout de la météo.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DEUX CATÉGORIES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Désagréable, ou dangereux ?</a:t>
            </a:r>
          </a:p>
        </p:txBody>
      </p:sp>
      <p:sp>
        <p:nvSpPr>
          <p:cNvPr id="7" name="Rounded Rectangle 6"/>
          <p:cNvSpPr/>
          <p:nvPr/>
        </p:nvSpPr>
        <p:spPr>
          <a:xfrm>
            <a:off x="566928" y="1810512"/>
            <a:ext cx="11057839" cy="3099816"/>
          </a:xfrm>
          <a:prstGeom prst="roundRect">
            <a:avLst>
              <a:gd name="adj" fmla="val 471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DÉSAGRÉABLE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DANGEREUX</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 la pluie, du vent ordinaire</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De la glace au sol</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Du froid d'hiver normal</a:t>
            </a:r>
          </a:p>
        </p:txBody>
      </p:sp>
      <p:sp>
        <p:nvSpPr>
          <p:cNvPr id="14" name="TextBox 13"/>
          <p:cNvSpPr txBox="1"/>
          <p:nvPr/>
        </p:nvSpPr>
        <p:spPr>
          <a:xfrm>
            <a:off x="4443636" y="3236976"/>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 refroidissement éolien de −35</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ciel gris toute la journée</a:t>
            </a:r>
          </a:p>
        </p:txBody>
      </p:sp>
      <p:sp>
        <p:nvSpPr>
          <p:cNvPr id="17" name="TextBox 16"/>
          <p:cNvSpPr txBox="1"/>
          <p:nvPr/>
        </p:nvSpPr>
        <p:spPr>
          <a:xfrm>
            <a:off x="4443636" y="3776472"/>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Une visibilité nulle en poudrerie</a:t>
            </a:r>
          </a:p>
        </p:txBody>
      </p:sp>
      <p:sp>
        <p:nvSpPr>
          <p:cNvPr id="18" name="Rectangle 17"/>
          <p:cNvSpPr/>
          <p:nvPr/>
        </p:nvSpPr>
        <p:spPr>
          <a:xfrm>
            <a:off x="932688" y="4187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1596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journée chaude d'été</a:t>
            </a:r>
          </a:p>
        </p:txBody>
      </p:sp>
      <p:sp>
        <p:nvSpPr>
          <p:cNvPr id="20" name="TextBox 19"/>
          <p:cNvSpPr txBox="1"/>
          <p:nvPr/>
        </p:nvSpPr>
        <p:spPr>
          <a:xfrm>
            <a:off x="4443636" y="4315968"/>
            <a:ext cx="6595914"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Une chaleur extrême, indice UV de 9</a:t>
            </a:r>
          </a:p>
        </p:txBody>
      </p:sp>
      <p:sp>
        <p:nvSpPr>
          <p:cNvPr id="21" name="Rounded Rectangle 20"/>
          <p:cNvSpPr/>
          <p:nvPr/>
        </p:nvSpPr>
        <p:spPr>
          <a:xfrm>
            <a:off x="566928" y="5148072"/>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404104"/>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Et la limite bouge : huit personnes de plus de 70 ans la déplacent.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QUATRE DÉCISIONS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dit dans chaque cas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On maintient</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L'atelier de cuisine est maintenu : il a lieu à l'intérieur. »</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On reporte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La marche est reportée au samedi 22, même heure, même endroit.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On annule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Le spectacle est annulé : la chorale ne repasse pas cette saison. »</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B45309"/>
                </a:solidFill>
                <a:latin typeface="Verdana"/>
              </a:rPr>
              <a:t>On déplace</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La pétanque est maintenue, mais déplacée à neuf heures.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DÉCISION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Maintenir, reporter ou annuler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Pour chaque situation du Centre, choisissez et justifiez.</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Verglas samedi matin ; la marche peut se refaire le 22.</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Ciel gris, averses ; l'atelier de cuisine est à l'intérieur.</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Tempête samedi ; le spectacle de la chorale passe ce soir-là seulement.</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Crue printanière ; le parc rouvre dans deux semaines.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Chaleur extrême, UV de 9 ; la pétanque était à 14 h.</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Froid extrême ; l'autobus loué est payé et non remboursable.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Maintenir, reporter ou annuler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Verglas samedi matin ; la marche peut se refaire le 22.   </a:t>
            </a:r>
            <a:r>
              <a:rPr sz="1400" b="1" i="0">
                <a:solidFill>
                  <a:srgbClr val="07734A"/>
                </a:solidFill>
                <a:latin typeface="Verdana"/>
              </a:rPr>
              <a:t>» on reporte — une date existe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Ciel gris, averses ; l'atelier de cuisine est à l'intérieur.   </a:t>
            </a:r>
            <a:r>
              <a:rPr sz="1400" b="1" i="0">
                <a:solidFill>
                  <a:srgbClr val="07734A"/>
                </a:solidFill>
                <a:latin typeface="Verdana"/>
              </a:rPr>
              <a:t>» on maintient — ça ne touche pas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Tempête samedi ; le spectacle de la chorale passe ce soir-là seulement.   </a:t>
            </a:r>
            <a:r>
              <a:rPr sz="1400" b="1" i="0">
                <a:solidFill>
                  <a:srgbClr val="07734A"/>
                </a:solidFill>
                <a:latin typeface="Verdana"/>
              </a:rPr>
              <a:t>» on annule — aucune date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Crue printanière ; le parc rouvre dans deux semaines.   </a:t>
            </a:r>
            <a:r>
              <a:rPr sz="1400" b="1" i="0">
                <a:solidFill>
                  <a:srgbClr val="07734A"/>
                </a:solidFill>
                <a:latin typeface="Verdana"/>
              </a:rPr>
              <a:t>» on reporte — après la réouverture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Chaleur extrême, UV de 9 ; la pétanque était à 14 h.   </a:t>
            </a:r>
            <a:r>
              <a:rPr sz="1400" b="1" i="0">
                <a:solidFill>
                  <a:srgbClr val="07734A"/>
                </a:solidFill>
                <a:latin typeface="Verdana"/>
              </a:rPr>
              <a:t>» on déplace à 9 h</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Froid extrême ; l'autobus loué est payé et non remboursable.   </a:t>
            </a:r>
            <a:r>
              <a:rPr sz="1400" b="1" i="0">
                <a:solidFill>
                  <a:srgbClr val="07734A"/>
                </a:solidFill>
                <a:latin typeface="Verdana"/>
              </a:rPr>
              <a:t>» on annule — l'argent, pas la météo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DÉCIDER TROP TÔT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Mercredi : « J'annule, il y a une veille pour samedi.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Mercredi : « Je vous confirme vendredi à midi.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Les prévisions changeront d'ici là, souvent dans le bon sens. On annonce le moment de la décision, on écoute jusque-là, et on tranche à l'heure dite — même si l'on n'est pas plus sûr.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la décision et sa raison pour l'un des huit cas, en une seule phrase.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Choisissez le cas que votre équipe a défendu.</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La décision doit contenir la date, l'heure ou le lieu, selon le cas.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Quand la météo décide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