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Ouvrir en montrant une vraie alerte d'Environnement Canada sur un téléphone, sans rien expliquer, et demander au groupe ce qu'elle veut dire. La réponse est presque toujours « il va faire mauvais » — ce qui ne permet de décider de rien. C'est exactement le point de départ du module.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objectif est le plus rentable des quatre : il change la façon de lire une alerte pour le reste de la vie de l'élève. Le quatrième est celui que les gens oublient — annoncer le moment de sa réponse est déjà une réponse.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pistes sont l'ossature du module : le phénomène, la région, le moment, et la décision. Les écrire au tableau dans cet ordre et les y laisser toute la séance ; on y reviendra à chaque exercice.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écouter deux fois avant d'afficher. À la deuxième écoute, demander seulement le mot qui pose problème : « veille ». Personne ne le connaît, et c'est normal — il ne s'apprend nulle part ailleurs qu'ici.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Avec une veille, on surveille ; avec un avertissement, on décide » est la phrase à retenir de la séance. La faire répéter, l'écrire au tableau, y revenir en A4.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réplique de Réjean est la solution pratique la plus utile du module. Demander au groupe qui a déjà eu à répondre « je ne sais pas encore » à quelqu'un — et comment ça s'est passé.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Elle reviendra en A4 et en B4, et c'est elle qu'il faut avoir en tête pendant le jeu de rôle de E1.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avec l'article. « En vigueur » et « levé » ne sont pas décoratifs : c'est le second qui dit qu'on peut maintenir la sortie, et personne ne pense à l'attendre.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compléter la colonne de droite par le groupe avant de l'afficher. C'est la distinction la plus rentable de la séance, et elle se joue en quatre lignes.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piège fait annuler des activités pour rien. Il vient du mot lui-même, pas d'une difficulté de langue : le signaler franchement.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 du dialogue. La dernière prépare le travail de repérage de tout le bloc 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 ils serviront en C2, où chacun doit dire s'il fallait maintenir, reporter ou annuler. Une situation vécue vaut mieux qu'un exemple inventé.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12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Une veille, ce n'est pas un avertissement</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Marisol Quintero anime les sorties du Centre communautaire de la Pointe, à Rimouski : une par mois, une trentaine de personnes. Jeudi soir, une alerte apparaît sur son téléphone — et trente personnes attendent qu'elle décide.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Quand la météo décide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une veille d'un avertissement, et savoir ce que chacun dit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 bulletin météorologique spécial, le plus faible des trois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noter les trois choses qu'un avis donne toujours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quand on répondra, quand on ne peut pas encore répondre.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 trottoir couvert de glace. Qu'est-ce que vous voulez savoir avant de sortir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verglas-trottoir.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est annoncé, exactement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Pour quelle région ? Pour quel moment ?</a:t>
            </a:r>
          </a:p>
        </p:txBody>
      </p:sp>
      <p:sp>
        <p:nvSpPr>
          <p:cNvPr id="15" name="Rounded Rectangle 14"/>
          <p:cNvSpPr/>
          <p:nvPr/>
        </p:nvSpPr>
        <p:spPr>
          <a:xfrm>
            <a:off x="566928" y="342798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c'est certain, ou seulement possible ?</a:t>
            </a:r>
          </a:p>
        </p:txBody>
      </p:sp>
      <p:sp>
        <p:nvSpPr>
          <p:cNvPr id="18" name="Rounded Rectangle 17"/>
          <p:cNvSpPr/>
          <p:nvPr/>
        </p:nvSpPr>
        <p:spPr>
          <a:xfrm>
            <a:off x="566928" y="455168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ça change à ce que vous aviez prévu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Une alerte sur le téléphone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0" name="TextBox 9"/>
          <p:cNvSpPr txBox="1"/>
          <p:nvPr/>
        </p:nvSpPr>
        <p:spPr>
          <a:xfrm>
            <a:off x="2431161" y="2322576"/>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Réjean, j'ai reçu une alerte. C'est écrit « veille de tempête hivernale ». Est-ce que la sortie de samedi tombe à l'eau ?</a:t>
            </a:r>
          </a:p>
        </p:txBody>
      </p:sp>
      <p:sp>
        <p:nvSpPr>
          <p:cNvPr id="11" name="Rounded Rectangle 10"/>
          <p:cNvSpPr/>
          <p:nvPr/>
        </p:nvSpPr>
        <p:spPr>
          <a:xfrm>
            <a:off x="566928" y="324510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409696"/>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RÉJEAN</a:t>
            </a:r>
          </a:p>
        </p:txBody>
      </p:sp>
      <p:sp>
        <p:nvSpPr>
          <p:cNvPr id="13" name="TextBox 12"/>
          <p:cNvSpPr txBox="1"/>
          <p:nvPr/>
        </p:nvSpPr>
        <p:spPr>
          <a:xfrm>
            <a:off x="2431161" y="3409696"/>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Pas encore. Une veille, ça veut dire que les conditions sont favorables. Le phénomène est possible, il n'est pas certain.</a:t>
            </a:r>
          </a:p>
        </p:txBody>
      </p:sp>
      <p:sp>
        <p:nvSpPr>
          <p:cNvPr id="14" name="Rounded Rectangle 13"/>
          <p:cNvSpPr/>
          <p:nvPr/>
        </p:nvSpPr>
        <p:spPr>
          <a:xfrm>
            <a:off x="566928" y="433222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4496816"/>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6" name="TextBox 15"/>
          <p:cNvSpPr txBox="1"/>
          <p:nvPr/>
        </p:nvSpPr>
        <p:spPr>
          <a:xfrm>
            <a:off x="2431161" y="4496816"/>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Alors quand est-ce qu'il devient certain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qui change</a:t>
            </a:r>
          </a:p>
        </p:txBody>
      </p:sp>
      <p:sp>
        <p:nvSpPr>
          <p:cNvPr id="7" name="Rounded Rectangle 6"/>
          <p:cNvSpPr/>
          <p:nvPr/>
        </p:nvSpPr>
        <p:spPr>
          <a:xfrm>
            <a:off x="566928" y="1737360"/>
            <a:ext cx="11057839" cy="1342644"/>
          </a:xfrm>
          <a:prstGeom prst="roundRect">
            <a:avLst>
              <a:gd name="adj" fmla="val 1089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106832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RÉJEAN</a:t>
            </a:r>
          </a:p>
        </p:txBody>
      </p:sp>
      <p:sp>
        <p:nvSpPr>
          <p:cNvPr id="9" name="TextBox 8"/>
          <p:cNvSpPr txBox="1"/>
          <p:nvPr/>
        </p:nvSpPr>
        <p:spPr>
          <a:xfrm>
            <a:off x="2431161" y="1901952"/>
            <a:ext cx="8644966"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Quand Environnement Canada change le mot. Une veille devient un avertissement quand le phénomène est imminent ou qu'il a déjà commencé.</a:t>
            </a:r>
          </a:p>
        </p:txBody>
      </p:sp>
      <p:sp>
        <p:nvSpPr>
          <p:cNvPr id="10" name="Rounded Rectangle 9"/>
          <p:cNvSpPr/>
          <p:nvPr/>
        </p:nvSpPr>
        <p:spPr>
          <a:xfrm>
            <a:off x="566928" y="316229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32689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2" name="TextBox 11"/>
          <p:cNvSpPr txBox="1"/>
          <p:nvPr/>
        </p:nvSpPr>
        <p:spPr>
          <a:xfrm>
            <a:off x="2431161" y="332689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Deux mots pour la même chose, mais pas au même moment.</a:t>
            </a:r>
          </a:p>
        </p:txBody>
      </p:sp>
      <p:sp>
        <p:nvSpPr>
          <p:cNvPr id="13" name="TextBox 12"/>
          <p:cNvSpPr txBox="1"/>
          <p:nvPr/>
        </p:nvSpPr>
        <p:spPr>
          <a:xfrm>
            <a:off x="932688" y="4076191"/>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RÉJEAN</a:t>
            </a:r>
          </a:p>
        </p:txBody>
      </p:sp>
      <p:sp>
        <p:nvSpPr>
          <p:cNvPr id="14" name="TextBox 13"/>
          <p:cNvSpPr txBox="1"/>
          <p:nvPr/>
        </p:nvSpPr>
        <p:spPr>
          <a:xfrm>
            <a:off x="2431161" y="4076191"/>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exactement ça. Avec une veille, on surveille. Avec un avertissement, on décide.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Trente personnes attendent</a:t>
            </a:r>
          </a:p>
        </p:txBody>
      </p:sp>
      <p:sp>
        <p:nvSpPr>
          <p:cNvPr id="7" name="Rounded Rectangle 6"/>
          <p:cNvSpPr/>
          <p:nvPr/>
        </p:nvSpPr>
        <p:spPr>
          <a:xfrm>
            <a:off x="566928" y="1737360"/>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9" name="TextBox 8"/>
          <p:cNvSpPr txBox="1"/>
          <p:nvPr/>
        </p:nvSpPr>
        <p:spPr>
          <a:xfrm>
            <a:off x="2431161" y="190195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Trente personnes attendent ma réponse. Je ne peux pas leur dire « c'est possible ».</a:t>
            </a:r>
          </a:p>
        </p:txBody>
      </p:sp>
      <p:sp>
        <p:nvSpPr>
          <p:cNvPr id="10" name="Rounded Rectangle 9"/>
          <p:cNvSpPr/>
          <p:nvPr/>
        </p:nvSpPr>
        <p:spPr>
          <a:xfrm>
            <a:off x="566928" y="28244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RÉJEAN</a:t>
            </a:r>
          </a:p>
        </p:txBody>
      </p:sp>
      <p:sp>
        <p:nvSpPr>
          <p:cNvPr id="12" name="TextBox 11"/>
          <p:cNvSpPr txBox="1"/>
          <p:nvPr/>
        </p:nvSpPr>
        <p:spPr>
          <a:xfrm>
            <a:off x="2431161" y="2989072"/>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Non. Mais tu peux leur dire quand tu vas répondre : « Je vous confirme vendredi à midi. »</a:t>
            </a:r>
          </a:p>
        </p:txBody>
      </p:sp>
      <p:sp>
        <p:nvSpPr>
          <p:cNvPr id="13" name="TextBox 12"/>
          <p:cNvSpPr txBox="1"/>
          <p:nvPr/>
        </p:nvSpPr>
        <p:spPr>
          <a:xfrm>
            <a:off x="932688" y="407619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4" name="TextBox 13"/>
          <p:cNvSpPr txBox="1"/>
          <p:nvPr/>
        </p:nvSpPr>
        <p:spPr>
          <a:xfrm>
            <a:off x="2431161" y="407619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Donc j'écoute le bulletin jusqu'à vendredi, et vendredi je tranche.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TROIS AVIS, TROIS DEGRÉS DE CERTITUDE</a:t>
            </a:r>
          </a:p>
        </p:txBody>
      </p:sp>
      <p:sp>
        <p:nvSpPr>
          <p:cNvPr id="6" name="Rounded Rectangle 5"/>
          <p:cNvSpPr/>
          <p:nvPr/>
        </p:nvSpPr>
        <p:spPr>
          <a:xfrm>
            <a:off x="566928" y="1225296"/>
            <a:ext cx="11057839" cy="3021583"/>
          </a:xfrm>
          <a:prstGeom prst="roundRect">
            <a:avLst>
              <a:gd name="adj" fmla="val 484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198623"/>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Bulletin spécial : quelque chose s'en vient. Veille : c'est possible. Avertissement : c'est imminent, ou c'est commencé.</a:t>
            </a:r>
          </a:p>
        </p:txBody>
      </p:sp>
      <p:sp>
        <p:nvSpPr>
          <p:cNvPr id="8" name="Rounded Rectangle 7"/>
          <p:cNvSpPr/>
          <p:nvPr/>
        </p:nvSpPr>
        <p:spPr>
          <a:xfrm>
            <a:off x="566928" y="4521199"/>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795519"/>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plus fort des trois est l'avertissement, pas le bulletin « spécial » — le mot trompe presque tout le monde.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TROIS AVIS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vocabulaire de l'alerte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bulletin météorologique spécial</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 temps inhabituel s'en vient. On lit, on note, on attend.</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veille</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Les conditions sont favorables. C'est possible, pas certain.</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avertissement</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phénomène est imminent ou déjà commencé. On décide.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En vigueur · levé</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L'avis compte encore · l'avis a été retiré.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DEUX AVIS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qu'on fait devant chacun</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UNE VEILLE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UN AVERTISSEMENT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C'est possible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C'est imminent ou commencé</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Émise d'avance, parfois deux jours</a:t>
            </a:r>
          </a:p>
        </p:txBody>
      </p:sp>
      <p:sp>
        <p:nvSpPr>
          <p:cNvPr id="14" name="TextBox 13"/>
          <p:cNvSpPr txBox="1"/>
          <p:nvPr/>
        </p:nvSpPr>
        <p:spPr>
          <a:xfrm>
            <a:off x="4443636" y="2935224"/>
            <a:ext cx="6595914"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Émis quelques heures avant</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Peut être levée sans rien</a:t>
            </a:r>
          </a:p>
        </p:txBody>
      </p:sp>
      <p:sp>
        <p:nvSpPr>
          <p:cNvPr id="17" name="TextBox 16"/>
          <p:cNvSpPr txBox="1"/>
          <p:nvPr/>
        </p:nvSpPr>
        <p:spPr>
          <a:xfrm>
            <a:off x="4443636" y="3776472"/>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 phénomène arrive presque toujours</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On surveille et on prépare</a:t>
            </a:r>
          </a:p>
        </p:txBody>
      </p:sp>
      <p:sp>
        <p:nvSpPr>
          <p:cNvPr id="20" name="TextBox 19"/>
          <p:cNvSpPr txBox="1"/>
          <p:nvPr/>
        </p:nvSpPr>
        <p:spPr>
          <a:xfrm>
            <a:off x="4443636" y="431596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On décide et on prévient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CROIRE QUE « SPÉCIAL » VEUT DIRE « GRAVE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 bulletin météorologique spécial : c'est le plus sérieux.</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Un bulletin spécial : c'est le plus faible des trois avis.</a:t>
            </a:r>
          </a:p>
        </p:txBody>
      </p:sp>
      <p:sp>
        <p:nvSpPr>
          <p:cNvPr id="13" name="Rounded Rectangle 12"/>
          <p:cNvSpPr/>
          <p:nvPr/>
        </p:nvSpPr>
        <p:spPr>
          <a:xfrm>
            <a:off x="566928" y="4462272"/>
            <a:ext cx="11057839" cy="1285240"/>
          </a:xfrm>
          <a:prstGeom prst="roundRect">
            <a:avLst>
              <a:gd name="adj" fmla="val 113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mot « spécial » veut seulement dire que le temps sort de l'ordinaire. Le service ne sait pas encore de quoi il s'agit ni combien il en tombera.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veille veut dire que le phénomène est certain.</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avertissement est émis quand c'est imminent ou commencé.</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bulletin spécial est le plus fort des trois avis.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Marisol doit répondre à une trentaine de personnes.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Réjean conseille d'annoncer tout de suite quand on répondra.</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région annoncée n'a pas vraiment d'importance.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veille veut dire que le phénomène est certain.   </a:t>
            </a:r>
            <a:r>
              <a:rPr sz="1400" b="1" i="0">
                <a:solidFill>
                  <a:srgbClr val="07734A"/>
                </a:solidFill>
                <a:latin typeface="Verdana"/>
              </a:rPr>
              <a:t>» faux — il est possible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avertissement est émis quand c'est imminent ou commencé.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bulletin spécial est le plus fort des trois avis.   </a:t>
            </a:r>
            <a:r>
              <a:rPr sz="1400" b="1" i="0">
                <a:solidFill>
                  <a:srgbClr val="07734A"/>
                </a:solidFill>
                <a:latin typeface="Verdana"/>
              </a:rPr>
              <a:t>» faux — c'est le plus faible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Marisol doit répondre à une trentaine de personnes.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Réjean conseille d'annoncer tout de suite quand on répondra.   </a:t>
            </a:r>
            <a:r>
              <a:rPr sz="1400" b="1" i="0">
                <a:solidFill>
                  <a:srgbClr val="07734A"/>
                </a:solidFill>
                <a:latin typeface="Verdana"/>
              </a:rPr>
              <a:t>» vrai</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région annoncée n'a pas vraiment d'importance.   </a:t>
            </a:r>
            <a:r>
              <a:rPr sz="1400" b="1" i="0">
                <a:solidFill>
                  <a:srgbClr val="07734A"/>
                </a:solidFill>
                <a:latin typeface="Verdana"/>
              </a:rPr>
              <a:t>» faux — la moitié des annulations viennent de là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Quand la météo décide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une activité que vous avez déjà dû reporter ou annuler à cause du temps.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Dites en une phrase ce qui était annoncé ce jour-là.</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Si ce n'est jamais arrivé, écrivez une activité qui pourrait l'être.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Quand la météo décide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