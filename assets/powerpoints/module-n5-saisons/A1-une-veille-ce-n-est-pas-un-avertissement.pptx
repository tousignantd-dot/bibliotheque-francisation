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Première séance du module. Ouvrir en montrant une vraie alerte d'Environnement Canada sur un téléphone, sans rien expliquer, et demander au groupe ce qu'elle veut dire. La réponse est presque toujours « il va faire mauvais » — ce qui ne permet de décider de rien. C'est exactement le point de départ du module.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premier objectif est le plus rentable des quatre : il change la façon de lire une alerte pour le reste de la vie de l'élève. Le quatrième est celui que les gens oublient — annoncer le moment de sa réponse est déjà une réponse.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Les quatre pistes sont l'ossature du module : le phénomène, la région, le moment, et la décision. Les écrire au tableau dans cet ordre et les y laisser toute la séance ; on y reviendra à chaque exercice.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écouter deux fois avant d'afficher. À la deuxième écoute, demander seulement le mot qui pose problème : « veille ». Personne ne le connaît, et c'est normal — il ne s'apprend nulle part ailleurs qu'ici.</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Avec une veille, on surveille ; avec un avertissement, on décide » est la phrase à retenir de la séance. La faire répéter, l'écrire au tableau, y revenir en A4.</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Cette réplique de Réjean est la solution pratique la plus utile du module. Demander au groupe qui a déjà eu à répondre « je ne sais pas encore » à quelqu'un — et comment ça s'est passé.</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Diapositive à photographier. Elle reviendra en A4 et en B4, et c'est elle qu'il faut avoir en tête pendant le jeu de rôle de E1.</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répéter avec l'article. « En vigueur » et « levé » ne sont pas décoratifs : c'est le second qui dit qu'on peut maintenir la sortie, et personne ne pense à l'attendre.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compléter la colonne de droite par le groupe avant de l'afficher. C'est la distinction la plus rentable de la séance, et elle se joue en quatre lignes.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 piège fait annuler des activités pour rien. Il vient du mot lui-même, pas d'une difficulté de langue : le signaler franchement.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justifier chaque « faux » par la réplique exacte du dialogue. La dernière prépare le travail de repérage de tout le bloc B.</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Corriger en groupe. Donner la bonne réponse, sans revenir sur qui s'est trompé.</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Ramasser les billets : ils serviront en C2, où chacun doit dire s'il fallait maintenir, reporter ou annuler. Une situation vécue vaut mieux qu'un exemple inventé.</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DF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1234440"/>
            <a:ext cx="11057839" cy="274320"/>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SÉANCE A1  ·  MODULE 12</a:t>
            </a:r>
          </a:p>
        </p:txBody>
      </p:sp>
      <p:sp>
        <p:nvSpPr>
          <p:cNvPr id="4" name="TextBox 3"/>
          <p:cNvSpPr txBox="1"/>
          <p:nvPr/>
        </p:nvSpPr>
        <p:spPr>
          <a:xfrm>
            <a:off x="566928" y="1691640"/>
            <a:ext cx="9960559" cy="1874519"/>
          </a:xfrm>
          <a:prstGeom prst="rect">
            <a:avLst/>
          </a:prstGeom>
          <a:noFill/>
        </p:spPr>
        <p:txBody>
          <a:bodyPr wrap="square" lIns="0" rIns="0" tIns="0" bIns="0" anchor="t">
            <a:spAutoFit/>
          </a:bodyPr>
          <a:lstStyle/>
          <a:p>
            <a:pPr algn="l">
              <a:lnSpc>
                <a:spcPct val="105000"/>
              </a:lnSpc>
            </a:pPr>
            <a:r>
              <a:rPr sz="4000" b="1" i="0">
                <a:solidFill>
                  <a:srgbClr val="17181A"/>
                </a:solidFill>
                <a:latin typeface="Verdana"/>
              </a:rPr>
              <a:t>Une veille, ce n'est pas un avertissement</a:t>
            </a:r>
          </a:p>
        </p:txBody>
      </p:sp>
      <p:sp>
        <p:nvSpPr>
          <p:cNvPr id="5" name="Rounded Rectangle 4"/>
          <p:cNvSpPr/>
          <p:nvPr/>
        </p:nvSpPr>
        <p:spPr>
          <a:xfrm>
            <a:off x="566928" y="3794760"/>
            <a:ext cx="9960559" cy="2131568"/>
          </a:xfrm>
          <a:prstGeom prst="roundRect">
            <a:avLst>
              <a:gd name="adj" fmla="val 6863"/>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96112" y="4123944"/>
            <a:ext cx="9302191" cy="15189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Marisol Quintero anime les sorties du Centre communautaire de la Pointe, à Rimouski : une par mois, une trentaine de personnes. Jeudi soir, une alerte apparaît sur son téléphone — et trente personnes attendent qu'elle décide.</a:t>
            </a:r>
          </a:p>
        </p:txBody>
      </p:sp>
      <p:sp>
        <p:nvSpPr>
          <p:cNvPr id="7" name="TextBox 6"/>
          <p:cNvSpPr txBox="1"/>
          <p:nvPr/>
        </p:nvSpPr>
        <p:spPr>
          <a:xfrm>
            <a:off x="566928" y="6035040"/>
            <a:ext cx="11057839" cy="274320"/>
          </a:xfrm>
          <a:prstGeom prst="rect">
            <a:avLst/>
          </a:prstGeom>
          <a:noFill/>
        </p:spPr>
        <p:txBody>
          <a:bodyPr wrap="square" lIns="0" rIns="0" tIns="0" bIns="0" anchor="t">
            <a:spAutoFit/>
          </a:bodyPr>
          <a:lstStyle/>
          <a:p>
            <a:pPr algn="l">
              <a:lnSpc>
                <a:spcPct val="135000"/>
              </a:lnSpc>
            </a:pPr>
            <a:r>
              <a:rPr sz="1500" b="0" i="0">
                <a:solidFill>
                  <a:srgbClr val="6E7175"/>
                </a:solidFill>
                <a:latin typeface="Verdana"/>
              </a:rPr>
              <a:t>75 minutes  ·  Quand la météo décide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Quand la météo décide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2</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OBJECTIFS DE LA SÉANCE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À la fin, je serai capable de…</a:t>
            </a:r>
          </a:p>
        </p:txBody>
      </p:sp>
      <p:sp>
        <p:nvSpPr>
          <p:cNvPr id="7" name="Rounded Rectangle 6"/>
          <p:cNvSpPr/>
          <p:nvPr/>
        </p:nvSpPr>
        <p:spPr>
          <a:xfrm>
            <a:off x="566928" y="1764792"/>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804672" y="1942592"/>
            <a:ext cx="402336" cy="402336"/>
          </a:xfrm>
          <a:prstGeom prst="roundRect">
            <a:avLst>
              <a:gd name="adj" fmla="val 31818"/>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04672" y="2024887"/>
            <a:ext cx="402336" cy="274320"/>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1</a:t>
            </a:r>
          </a:p>
        </p:txBody>
      </p:sp>
      <p:sp>
        <p:nvSpPr>
          <p:cNvPr id="10" name="TextBox 9"/>
          <p:cNvSpPr txBox="1"/>
          <p:nvPr/>
        </p:nvSpPr>
        <p:spPr>
          <a:xfrm>
            <a:off x="1408176" y="1965960"/>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distinguer une veille d'un avertissement, et savoir ce que chacun dit ;</a:t>
            </a:r>
          </a:p>
        </p:txBody>
      </p:sp>
      <p:sp>
        <p:nvSpPr>
          <p:cNvPr id="11" name="Rounded Rectangle 10"/>
          <p:cNvSpPr/>
          <p:nvPr/>
        </p:nvSpPr>
        <p:spPr>
          <a:xfrm>
            <a:off x="566928" y="2650744"/>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804672" y="2828544"/>
            <a:ext cx="402336" cy="402336"/>
          </a:xfrm>
          <a:prstGeom prst="roundRect">
            <a:avLst>
              <a:gd name="adj" fmla="val 31818"/>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04672" y="2910840"/>
            <a:ext cx="402336" cy="274320"/>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2</a:t>
            </a:r>
          </a:p>
        </p:txBody>
      </p:sp>
      <p:sp>
        <p:nvSpPr>
          <p:cNvPr id="14" name="TextBox 13"/>
          <p:cNvSpPr txBox="1"/>
          <p:nvPr/>
        </p:nvSpPr>
        <p:spPr>
          <a:xfrm>
            <a:off x="1408176" y="2851912"/>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reconnaître le bulletin météorologique spécial, le plus faible des trois ;</a:t>
            </a:r>
          </a:p>
        </p:txBody>
      </p:sp>
      <p:sp>
        <p:nvSpPr>
          <p:cNvPr id="15" name="Rounded Rectangle 14"/>
          <p:cNvSpPr/>
          <p:nvPr/>
        </p:nvSpPr>
        <p:spPr>
          <a:xfrm>
            <a:off x="566928" y="3536696"/>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804672" y="3714496"/>
            <a:ext cx="402336" cy="402336"/>
          </a:xfrm>
          <a:prstGeom prst="roundRect">
            <a:avLst>
              <a:gd name="adj" fmla="val 31818"/>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804672" y="3796792"/>
            <a:ext cx="402336" cy="274320"/>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3</a:t>
            </a:r>
          </a:p>
        </p:txBody>
      </p:sp>
      <p:sp>
        <p:nvSpPr>
          <p:cNvPr id="18" name="TextBox 17"/>
          <p:cNvSpPr txBox="1"/>
          <p:nvPr/>
        </p:nvSpPr>
        <p:spPr>
          <a:xfrm>
            <a:off x="1408176" y="3737864"/>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noter les trois choses qu'un avis donne toujours ;</a:t>
            </a:r>
          </a:p>
        </p:txBody>
      </p:sp>
      <p:sp>
        <p:nvSpPr>
          <p:cNvPr id="19" name="Rounded Rectangle 18"/>
          <p:cNvSpPr/>
          <p:nvPr/>
        </p:nvSpPr>
        <p:spPr>
          <a:xfrm>
            <a:off x="566928" y="4422648"/>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ounded Rectangle 19"/>
          <p:cNvSpPr/>
          <p:nvPr/>
        </p:nvSpPr>
        <p:spPr>
          <a:xfrm>
            <a:off x="804672" y="4600448"/>
            <a:ext cx="402336" cy="402336"/>
          </a:xfrm>
          <a:prstGeom prst="roundRect">
            <a:avLst>
              <a:gd name="adj" fmla="val 31818"/>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04672" y="4682744"/>
            <a:ext cx="402336" cy="274320"/>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4</a:t>
            </a:r>
          </a:p>
        </p:txBody>
      </p:sp>
      <p:sp>
        <p:nvSpPr>
          <p:cNvPr id="22" name="TextBox 21"/>
          <p:cNvSpPr txBox="1"/>
          <p:nvPr/>
        </p:nvSpPr>
        <p:spPr>
          <a:xfrm>
            <a:off x="1408176" y="4623816"/>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dire quand on répondra, quand on ne peut pas encore répondre.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Quand la météo décide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3</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OBSERVATION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2800" b="1" i="0">
                <a:solidFill>
                  <a:srgbClr val="17181A"/>
                </a:solidFill>
                <a:latin typeface="Verdana"/>
              </a:rPr>
              <a:t>Un trottoir couvert de glace. Qu'est-ce que vous voulez savoir avant de sortir ?</a:t>
            </a:r>
          </a:p>
        </p:txBody>
      </p:sp>
      <p:sp>
        <p:nvSpPr>
          <p:cNvPr id="7" name="Rounded Rectangle 6"/>
          <p:cNvSpPr/>
          <p:nvPr/>
        </p:nvSpPr>
        <p:spPr>
          <a:xfrm>
            <a:off x="7424927" y="1719072"/>
            <a:ext cx="4199839" cy="4361688"/>
          </a:xfrm>
          <a:prstGeom prst="roundRect">
            <a:avLst>
              <a:gd name="adj" fmla="val 3483"/>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verglas-trottoir.jpg"/>
          <p:cNvPicPr>
            <a:picLocks noChangeAspect="1"/>
          </p:cNvPicPr>
          <p:nvPr/>
        </p:nvPicPr>
        <p:blipFill>
          <a:blip r:embed="rId2"/>
          <a:stretch>
            <a:fillRect/>
          </a:stretch>
        </p:blipFill>
        <p:spPr>
          <a:xfrm>
            <a:off x="7644383" y="2638438"/>
            <a:ext cx="3760927" cy="2522955"/>
          </a:xfrm>
          <a:prstGeom prst="rect">
            <a:avLst/>
          </a:prstGeom>
        </p:spPr>
      </p:pic>
      <p:sp>
        <p:nvSpPr>
          <p:cNvPr id="9" name="Rounded Rectangle 8"/>
          <p:cNvSpPr/>
          <p:nvPr/>
        </p:nvSpPr>
        <p:spPr>
          <a:xfrm>
            <a:off x="566928" y="1856232"/>
            <a:ext cx="6492240"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566928" y="1965960"/>
            <a:ext cx="50292" cy="484123"/>
          </a:xfrm>
          <a:prstGeom prst="rect">
            <a:avLst/>
          </a:prstGeom>
          <a:solidFill>
            <a:srgbClr val="1D6B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50976" y="2039112"/>
            <a:ext cx="5806440"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Qu'est-ce qui est annoncé, exactement ?</a:t>
            </a:r>
          </a:p>
        </p:txBody>
      </p:sp>
      <p:sp>
        <p:nvSpPr>
          <p:cNvPr id="12" name="Rounded Rectangle 11"/>
          <p:cNvSpPr/>
          <p:nvPr/>
        </p:nvSpPr>
        <p:spPr>
          <a:xfrm>
            <a:off x="566928" y="2642108"/>
            <a:ext cx="6492240"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566928" y="2751836"/>
            <a:ext cx="50292" cy="484123"/>
          </a:xfrm>
          <a:prstGeom prst="rect">
            <a:avLst/>
          </a:prstGeom>
          <a:solidFill>
            <a:srgbClr val="1D6B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50976" y="2824988"/>
            <a:ext cx="5806440"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Pour quelle région ? Pour quel moment ?</a:t>
            </a:r>
          </a:p>
        </p:txBody>
      </p:sp>
      <p:sp>
        <p:nvSpPr>
          <p:cNvPr id="15" name="Rounded Rectangle 14"/>
          <p:cNvSpPr/>
          <p:nvPr/>
        </p:nvSpPr>
        <p:spPr>
          <a:xfrm>
            <a:off x="566928" y="3427984"/>
            <a:ext cx="6492240" cy="1041400"/>
          </a:xfrm>
          <a:prstGeom prst="roundRect">
            <a:avLst>
              <a:gd name="adj" fmla="val 1404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566928" y="3537712"/>
            <a:ext cx="50292" cy="821944"/>
          </a:xfrm>
          <a:prstGeom prst="rect">
            <a:avLst/>
          </a:prstGeom>
          <a:solidFill>
            <a:srgbClr val="1D6B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950976" y="3610864"/>
            <a:ext cx="5806440" cy="71221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Est-ce que c'est certain, ou seulement possible ?</a:t>
            </a:r>
          </a:p>
        </p:txBody>
      </p:sp>
      <p:sp>
        <p:nvSpPr>
          <p:cNvPr id="18" name="Rounded Rectangle 17"/>
          <p:cNvSpPr/>
          <p:nvPr/>
        </p:nvSpPr>
        <p:spPr>
          <a:xfrm>
            <a:off x="566928" y="4551680"/>
            <a:ext cx="6492240" cy="1041400"/>
          </a:xfrm>
          <a:prstGeom prst="roundRect">
            <a:avLst>
              <a:gd name="adj" fmla="val 1404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566928" y="4661408"/>
            <a:ext cx="50292" cy="821944"/>
          </a:xfrm>
          <a:prstGeom prst="rect">
            <a:avLst/>
          </a:prstGeom>
          <a:solidFill>
            <a:srgbClr val="1D6B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950976" y="4734560"/>
            <a:ext cx="5806440" cy="71221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Qu'est-ce que ça change à ce que vous aviez prévu ?</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Quand la météo décide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4</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DIALOGUE · 1 DE 3</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Une alerte sur le téléphone</a:t>
            </a:r>
          </a:p>
        </p:txBody>
      </p:sp>
      <p:sp>
        <p:nvSpPr>
          <p:cNvPr id="7" name="TextBox 6"/>
          <p:cNvSpPr txBox="1"/>
          <p:nvPr/>
        </p:nvSpPr>
        <p:spPr>
          <a:xfrm>
            <a:off x="566928" y="173736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Écoutez d'abord, diapositive masquée.</a:t>
            </a:r>
          </a:p>
        </p:txBody>
      </p:sp>
      <p:sp>
        <p:nvSpPr>
          <p:cNvPr id="8" name="Rounded Rectangle 7"/>
          <p:cNvSpPr/>
          <p:nvPr/>
        </p:nvSpPr>
        <p:spPr>
          <a:xfrm>
            <a:off x="566928" y="2157984"/>
            <a:ext cx="11057839" cy="1004823"/>
          </a:xfrm>
          <a:prstGeom prst="roundRect">
            <a:avLst>
              <a:gd name="adj" fmla="val 14560"/>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32688" y="2322576"/>
            <a:ext cx="1498473" cy="73050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MARISOL</a:t>
            </a:r>
          </a:p>
        </p:txBody>
      </p:sp>
      <p:sp>
        <p:nvSpPr>
          <p:cNvPr id="10" name="TextBox 9"/>
          <p:cNvSpPr txBox="1"/>
          <p:nvPr/>
        </p:nvSpPr>
        <p:spPr>
          <a:xfrm>
            <a:off x="2431161" y="2322576"/>
            <a:ext cx="8644966" cy="73050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Réjean, j'ai reçu une alerte. C'est écrit « veille de tempête hivernale ». Est-ce que la sortie de samedi tombe à l'eau ?</a:t>
            </a:r>
          </a:p>
        </p:txBody>
      </p:sp>
      <p:sp>
        <p:nvSpPr>
          <p:cNvPr id="11" name="Rounded Rectangle 10"/>
          <p:cNvSpPr/>
          <p:nvPr/>
        </p:nvSpPr>
        <p:spPr>
          <a:xfrm>
            <a:off x="566928" y="3245103"/>
            <a:ext cx="11057839" cy="1004823"/>
          </a:xfrm>
          <a:prstGeom prst="roundRect">
            <a:avLst>
              <a:gd name="adj" fmla="val 14560"/>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932688" y="3409696"/>
            <a:ext cx="1498473" cy="73050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RÉJEAN</a:t>
            </a:r>
          </a:p>
        </p:txBody>
      </p:sp>
      <p:sp>
        <p:nvSpPr>
          <p:cNvPr id="13" name="TextBox 12"/>
          <p:cNvSpPr txBox="1"/>
          <p:nvPr/>
        </p:nvSpPr>
        <p:spPr>
          <a:xfrm>
            <a:off x="2431161" y="3409696"/>
            <a:ext cx="8644966" cy="73050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Pas encore. Une veille, ça veut dire que les conditions sont favorables. Le phénomène est possible, il n'est pas certain.</a:t>
            </a:r>
          </a:p>
        </p:txBody>
      </p:sp>
      <p:sp>
        <p:nvSpPr>
          <p:cNvPr id="14" name="Rounded Rectangle 13"/>
          <p:cNvSpPr/>
          <p:nvPr/>
        </p:nvSpPr>
        <p:spPr>
          <a:xfrm>
            <a:off x="566928" y="4332224"/>
            <a:ext cx="11057839" cy="667003"/>
          </a:xfrm>
          <a:prstGeom prst="roundRect">
            <a:avLst>
              <a:gd name="adj" fmla="val 21934"/>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932688" y="4496816"/>
            <a:ext cx="1498473" cy="39268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MARISOL</a:t>
            </a:r>
          </a:p>
        </p:txBody>
      </p:sp>
      <p:sp>
        <p:nvSpPr>
          <p:cNvPr id="16" name="TextBox 15"/>
          <p:cNvSpPr txBox="1"/>
          <p:nvPr/>
        </p:nvSpPr>
        <p:spPr>
          <a:xfrm>
            <a:off x="2431161" y="4496816"/>
            <a:ext cx="8644966"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Alors quand est-ce qu'il devient certain ?</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Quand la météo décide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5</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DIALOGUE · 2 DE 3</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 mot qui change</a:t>
            </a:r>
          </a:p>
        </p:txBody>
      </p:sp>
      <p:sp>
        <p:nvSpPr>
          <p:cNvPr id="7" name="Rounded Rectangle 6"/>
          <p:cNvSpPr/>
          <p:nvPr/>
        </p:nvSpPr>
        <p:spPr>
          <a:xfrm>
            <a:off x="566928" y="1737360"/>
            <a:ext cx="11057839" cy="1342644"/>
          </a:xfrm>
          <a:prstGeom prst="roundRect">
            <a:avLst>
              <a:gd name="adj" fmla="val 10896"/>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01952"/>
            <a:ext cx="1498473" cy="1068324"/>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RÉJEAN</a:t>
            </a:r>
          </a:p>
        </p:txBody>
      </p:sp>
      <p:sp>
        <p:nvSpPr>
          <p:cNvPr id="9" name="TextBox 8"/>
          <p:cNvSpPr txBox="1"/>
          <p:nvPr/>
        </p:nvSpPr>
        <p:spPr>
          <a:xfrm>
            <a:off x="2431161" y="1901952"/>
            <a:ext cx="8644966" cy="1068324"/>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Quand Environnement Canada change le mot. Une veille devient un avertissement quand le phénomène est imminent ou qu'il a déjà commencé.</a:t>
            </a:r>
          </a:p>
        </p:txBody>
      </p:sp>
      <p:sp>
        <p:nvSpPr>
          <p:cNvPr id="10" name="Rounded Rectangle 9"/>
          <p:cNvSpPr/>
          <p:nvPr/>
        </p:nvSpPr>
        <p:spPr>
          <a:xfrm>
            <a:off x="566928" y="3162299"/>
            <a:ext cx="11057839" cy="667003"/>
          </a:xfrm>
          <a:prstGeom prst="roundRect">
            <a:avLst>
              <a:gd name="adj" fmla="val 21934"/>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3326892"/>
            <a:ext cx="1498473" cy="39268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MARISOL</a:t>
            </a:r>
          </a:p>
        </p:txBody>
      </p:sp>
      <p:sp>
        <p:nvSpPr>
          <p:cNvPr id="12" name="TextBox 11"/>
          <p:cNvSpPr txBox="1"/>
          <p:nvPr/>
        </p:nvSpPr>
        <p:spPr>
          <a:xfrm>
            <a:off x="2431161" y="3326892"/>
            <a:ext cx="8644966"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Deux mots pour la même chose, mais pas au même moment.</a:t>
            </a:r>
          </a:p>
        </p:txBody>
      </p:sp>
      <p:sp>
        <p:nvSpPr>
          <p:cNvPr id="13" name="TextBox 12"/>
          <p:cNvSpPr txBox="1"/>
          <p:nvPr/>
        </p:nvSpPr>
        <p:spPr>
          <a:xfrm>
            <a:off x="932688" y="4076191"/>
            <a:ext cx="1498473" cy="73050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RÉJEAN</a:t>
            </a:r>
          </a:p>
        </p:txBody>
      </p:sp>
      <p:sp>
        <p:nvSpPr>
          <p:cNvPr id="14" name="TextBox 13"/>
          <p:cNvSpPr txBox="1"/>
          <p:nvPr/>
        </p:nvSpPr>
        <p:spPr>
          <a:xfrm>
            <a:off x="2431161" y="4076191"/>
            <a:ext cx="8644966" cy="73050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C'est exactement ça. Avec une veille, on surveille. Avec un avertissement, on décide.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Quand la météo décide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6</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DIALOGUE · 3 DE 3</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Trente personnes attendent</a:t>
            </a:r>
          </a:p>
        </p:txBody>
      </p:sp>
      <p:sp>
        <p:nvSpPr>
          <p:cNvPr id="7" name="Rounded Rectangle 6"/>
          <p:cNvSpPr/>
          <p:nvPr/>
        </p:nvSpPr>
        <p:spPr>
          <a:xfrm>
            <a:off x="566928" y="1737360"/>
            <a:ext cx="11057839" cy="1004823"/>
          </a:xfrm>
          <a:prstGeom prst="roundRect">
            <a:avLst>
              <a:gd name="adj" fmla="val 14560"/>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01952"/>
            <a:ext cx="1498473" cy="73050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MARISOL</a:t>
            </a:r>
          </a:p>
        </p:txBody>
      </p:sp>
      <p:sp>
        <p:nvSpPr>
          <p:cNvPr id="9" name="TextBox 8"/>
          <p:cNvSpPr txBox="1"/>
          <p:nvPr/>
        </p:nvSpPr>
        <p:spPr>
          <a:xfrm>
            <a:off x="2431161" y="1901952"/>
            <a:ext cx="8644966" cy="73050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Trente personnes attendent ma réponse. Je ne peux pas leur dire « c'est possible ».</a:t>
            </a:r>
          </a:p>
        </p:txBody>
      </p:sp>
      <p:sp>
        <p:nvSpPr>
          <p:cNvPr id="10" name="Rounded Rectangle 9"/>
          <p:cNvSpPr/>
          <p:nvPr/>
        </p:nvSpPr>
        <p:spPr>
          <a:xfrm>
            <a:off x="566928" y="2824479"/>
            <a:ext cx="11057839" cy="1004823"/>
          </a:xfrm>
          <a:prstGeom prst="roundRect">
            <a:avLst>
              <a:gd name="adj" fmla="val 14560"/>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2989072"/>
            <a:ext cx="1498473" cy="73050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RÉJEAN</a:t>
            </a:r>
          </a:p>
        </p:txBody>
      </p:sp>
      <p:sp>
        <p:nvSpPr>
          <p:cNvPr id="12" name="TextBox 11"/>
          <p:cNvSpPr txBox="1"/>
          <p:nvPr/>
        </p:nvSpPr>
        <p:spPr>
          <a:xfrm>
            <a:off x="2431161" y="2989072"/>
            <a:ext cx="8644966" cy="73050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Non. Mais tu peux leur dire quand tu vas répondre : « Je vous confirme vendredi à midi. »</a:t>
            </a:r>
          </a:p>
        </p:txBody>
      </p:sp>
      <p:sp>
        <p:nvSpPr>
          <p:cNvPr id="13" name="TextBox 12"/>
          <p:cNvSpPr txBox="1"/>
          <p:nvPr/>
        </p:nvSpPr>
        <p:spPr>
          <a:xfrm>
            <a:off x="932688" y="4076191"/>
            <a:ext cx="1498473" cy="39268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MARISOL</a:t>
            </a:r>
          </a:p>
        </p:txBody>
      </p:sp>
      <p:sp>
        <p:nvSpPr>
          <p:cNvPr id="14" name="TextBox 13"/>
          <p:cNvSpPr txBox="1"/>
          <p:nvPr/>
        </p:nvSpPr>
        <p:spPr>
          <a:xfrm>
            <a:off x="2431161" y="4076191"/>
            <a:ext cx="8644966"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Donc j'écoute le bulletin jusqu'à vendredi, et vendredi je tranche.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Quand la météo décide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7</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TROIS AVIS, TROIS DEGRÉS DE CERTITUDE</a:t>
            </a:r>
          </a:p>
        </p:txBody>
      </p:sp>
      <p:sp>
        <p:nvSpPr>
          <p:cNvPr id="6" name="Rounded Rectangle 5"/>
          <p:cNvSpPr/>
          <p:nvPr/>
        </p:nvSpPr>
        <p:spPr>
          <a:xfrm>
            <a:off x="566928" y="1225296"/>
            <a:ext cx="11057839" cy="3021583"/>
          </a:xfrm>
          <a:prstGeom prst="roundRect">
            <a:avLst>
              <a:gd name="adj" fmla="val 4841"/>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298448" y="1682496"/>
            <a:ext cx="9594799" cy="2198623"/>
          </a:xfrm>
          <a:prstGeom prst="rect">
            <a:avLst/>
          </a:prstGeom>
          <a:noFill/>
        </p:spPr>
        <p:txBody>
          <a:bodyPr wrap="square" lIns="0" rIns="0" tIns="0" bIns="0" anchor="t">
            <a:spAutoFit/>
          </a:bodyPr>
          <a:lstStyle/>
          <a:p>
            <a:pPr algn="l">
              <a:lnSpc>
                <a:spcPct val="122000"/>
              </a:lnSpc>
            </a:pPr>
            <a:r>
              <a:rPr sz="3400" b="1" i="0">
                <a:solidFill>
                  <a:srgbClr val="17181A"/>
                </a:solidFill>
                <a:latin typeface="Verdana"/>
              </a:rPr>
              <a:t>Bulletin spécial : quelque chose s'en vient. Veille : c'est possible. Avertissement : c'est imminent, ou c'est commencé.</a:t>
            </a:r>
          </a:p>
        </p:txBody>
      </p:sp>
      <p:sp>
        <p:nvSpPr>
          <p:cNvPr id="8" name="Rounded Rectangle 7"/>
          <p:cNvSpPr/>
          <p:nvPr/>
        </p:nvSpPr>
        <p:spPr>
          <a:xfrm>
            <a:off x="566928" y="4521199"/>
            <a:ext cx="11057839" cy="1303528"/>
          </a:xfrm>
          <a:prstGeom prst="roundRect">
            <a:avLst>
              <a:gd name="adj" fmla="val 11223"/>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69264" y="4795519"/>
            <a:ext cx="10234879" cy="846327"/>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Le plus fort des trois est l'avertissement, pas le bulletin « spécial » — le mot trompe presque tout le monde.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Quand la météo décide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8</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TROIS AVIS</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 vocabulaire de l'alerte</a:t>
            </a:r>
          </a:p>
        </p:txBody>
      </p:sp>
      <p:sp>
        <p:nvSpPr>
          <p:cNvPr id="7" name="Rounded Rectangle 6"/>
          <p:cNvSpPr/>
          <p:nvPr/>
        </p:nvSpPr>
        <p:spPr>
          <a:xfrm>
            <a:off x="566928" y="181051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886968" y="2084831"/>
            <a:ext cx="4806543" cy="746760"/>
          </a:xfrm>
          <a:prstGeom prst="rect">
            <a:avLst/>
          </a:prstGeom>
          <a:noFill/>
        </p:spPr>
        <p:txBody>
          <a:bodyPr wrap="square" lIns="0" rIns="0" tIns="0" bIns="0" anchor="t">
            <a:spAutoFit/>
          </a:bodyPr>
          <a:lstStyle/>
          <a:p>
            <a:pPr algn="l">
              <a:lnSpc>
                <a:spcPct val="118000"/>
              </a:lnSpc>
            </a:pPr>
            <a:r>
              <a:rPr sz="2400" b="1" i="0">
                <a:solidFill>
                  <a:srgbClr val="1D6B8F"/>
                </a:solidFill>
                <a:latin typeface="Verdana"/>
              </a:rPr>
              <a:t>Un bulletin météorologique spécial</a:t>
            </a:r>
          </a:p>
        </p:txBody>
      </p:sp>
      <p:sp>
        <p:nvSpPr>
          <p:cNvPr id="9" name="TextBox 8"/>
          <p:cNvSpPr txBox="1"/>
          <p:nvPr/>
        </p:nvSpPr>
        <p:spPr>
          <a:xfrm>
            <a:off x="886968" y="2859024"/>
            <a:ext cx="4806543" cy="729996"/>
          </a:xfrm>
          <a:prstGeom prst="rect">
            <a:avLst/>
          </a:prstGeom>
          <a:noFill/>
        </p:spPr>
        <p:txBody>
          <a:bodyPr wrap="square" lIns="0" rIns="0" tIns="0" bIns="0" anchor="t">
            <a:spAutoFit/>
          </a:bodyPr>
          <a:lstStyle/>
          <a:p>
            <a:pPr algn="l">
              <a:lnSpc>
                <a:spcPct val="142000"/>
              </a:lnSpc>
            </a:pPr>
            <a:r>
              <a:rPr sz="1800" b="0" i="0">
                <a:solidFill>
                  <a:srgbClr val="3A3D40"/>
                </a:solidFill>
                <a:latin typeface="Verdana"/>
              </a:rPr>
              <a:t>Un temps inhabituel s'en vient. On lit, on note, on attend.</a:t>
            </a:r>
          </a:p>
        </p:txBody>
      </p:sp>
      <p:sp>
        <p:nvSpPr>
          <p:cNvPr id="10" name="Rounded Rectangle 9"/>
          <p:cNvSpPr/>
          <p:nvPr/>
        </p:nvSpPr>
        <p:spPr>
          <a:xfrm>
            <a:off x="6178143" y="181051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498183" y="2084831"/>
            <a:ext cx="4806543" cy="746760"/>
          </a:xfrm>
          <a:prstGeom prst="rect">
            <a:avLst/>
          </a:prstGeom>
          <a:noFill/>
        </p:spPr>
        <p:txBody>
          <a:bodyPr wrap="square" lIns="0" rIns="0" tIns="0" bIns="0" anchor="t">
            <a:spAutoFit/>
          </a:bodyPr>
          <a:lstStyle/>
          <a:p>
            <a:pPr algn="l">
              <a:lnSpc>
                <a:spcPct val="118000"/>
              </a:lnSpc>
            </a:pPr>
            <a:r>
              <a:rPr sz="2400" b="1" i="0">
                <a:solidFill>
                  <a:srgbClr val="1D6B8F"/>
                </a:solidFill>
                <a:latin typeface="Verdana"/>
              </a:rPr>
              <a:t>Une veille</a:t>
            </a:r>
          </a:p>
        </p:txBody>
      </p:sp>
      <p:sp>
        <p:nvSpPr>
          <p:cNvPr id="12" name="TextBox 11"/>
          <p:cNvSpPr txBox="1"/>
          <p:nvPr/>
        </p:nvSpPr>
        <p:spPr>
          <a:xfrm>
            <a:off x="6498183" y="2859024"/>
            <a:ext cx="4806543" cy="729996"/>
          </a:xfrm>
          <a:prstGeom prst="rect">
            <a:avLst/>
          </a:prstGeom>
          <a:noFill/>
        </p:spPr>
        <p:txBody>
          <a:bodyPr wrap="square" lIns="0" rIns="0" tIns="0" bIns="0" anchor="t">
            <a:spAutoFit/>
          </a:bodyPr>
          <a:lstStyle/>
          <a:p>
            <a:pPr algn="l">
              <a:lnSpc>
                <a:spcPct val="142000"/>
              </a:lnSpc>
            </a:pPr>
            <a:r>
              <a:rPr sz="1800" b="0" i="0">
                <a:solidFill>
                  <a:srgbClr val="3A3D40"/>
                </a:solidFill>
                <a:latin typeface="Verdana"/>
              </a:rPr>
              <a:t>Les conditions sont favorables. C'est possible, pas certain.</a:t>
            </a:r>
          </a:p>
        </p:txBody>
      </p:sp>
      <p:sp>
        <p:nvSpPr>
          <p:cNvPr id="13" name="Rounded Rectangle 12"/>
          <p:cNvSpPr/>
          <p:nvPr/>
        </p:nvSpPr>
        <p:spPr>
          <a:xfrm>
            <a:off x="566928" y="402793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86968" y="4302252"/>
            <a:ext cx="4806543" cy="746760"/>
          </a:xfrm>
          <a:prstGeom prst="rect">
            <a:avLst/>
          </a:prstGeom>
          <a:noFill/>
        </p:spPr>
        <p:txBody>
          <a:bodyPr wrap="square" lIns="0" rIns="0" tIns="0" bIns="0" anchor="t">
            <a:spAutoFit/>
          </a:bodyPr>
          <a:lstStyle/>
          <a:p>
            <a:pPr algn="l">
              <a:lnSpc>
                <a:spcPct val="118000"/>
              </a:lnSpc>
            </a:pPr>
            <a:r>
              <a:rPr sz="2400" b="1" i="0">
                <a:solidFill>
                  <a:srgbClr val="1D6B8F"/>
                </a:solidFill>
                <a:latin typeface="Verdana"/>
              </a:rPr>
              <a:t>Un avertissement</a:t>
            </a:r>
          </a:p>
        </p:txBody>
      </p:sp>
      <p:sp>
        <p:nvSpPr>
          <p:cNvPr id="15" name="TextBox 14"/>
          <p:cNvSpPr txBox="1"/>
          <p:nvPr/>
        </p:nvSpPr>
        <p:spPr>
          <a:xfrm>
            <a:off x="886968" y="5076444"/>
            <a:ext cx="4806543" cy="729996"/>
          </a:xfrm>
          <a:prstGeom prst="rect">
            <a:avLst/>
          </a:prstGeom>
          <a:noFill/>
        </p:spPr>
        <p:txBody>
          <a:bodyPr wrap="square" lIns="0" rIns="0" tIns="0" bIns="0" anchor="t">
            <a:spAutoFit/>
          </a:bodyPr>
          <a:lstStyle/>
          <a:p>
            <a:pPr algn="l">
              <a:lnSpc>
                <a:spcPct val="142000"/>
              </a:lnSpc>
            </a:pPr>
            <a:r>
              <a:rPr sz="1800" b="0" i="0">
                <a:solidFill>
                  <a:srgbClr val="3A3D40"/>
                </a:solidFill>
                <a:latin typeface="Verdana"/>
              </a:rPr>
              <a:t>Le phénomène est imminent ou déjà commencé. On décide.</a:t>
            </a:r>
          </a:p>
        </p:txBody>
      </p:sp>
      <p:sp>
        <p:nvSpPr>
          <p:cNvPr id="16" name="Rounded Rectangle 15"/>
          <p:cNvSpPr/>
          <p:nvPr/>
        </p:nvSpPr>
        <p:spPr>
          <a:xfrm>
            <a:off x="6178143" y="402793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98183" y="4302252"/>
            <a:ext cx="4806543" cy="746760"/>
          </a:xfrm>
          <a:prstGeom prst="rect">
            <a:avLst/>
          </a:prstGeom>
          <a:noFill/>
        </p:spPr>
        <p:txBody>
          <a:bodyPr wrap="square" lIns="0" rIns="0" tIns="0" bIns="0" anchor="t">
            <a:spAutoFit/>
          </a:bodyPr>
          <a:lstStyle/>
          <a:p>
            <a:pPr algn="l">
              <a:lnSpc>
                <a:spcPct val="118000"/>
              </a:lnSpc>
            </a:pPr>
            <a:r>
              <a:rPr sz="2400" b="1" i="0">
                <a:solidFill>
                  <a:srgbClr val="1D6B8F"/>
                </a:solidFill>
                <a:latin typeface="Verdana"/>
              </a:rPr>
              <a:t>En vigueur · levé</a:t>
            </a:r>
          </a:p>
        </p:txBody>
      </p:sp>
      <p:sp>
        <p:nvSpPr>
          <p:cNvPr id="18" name="TextBox 17"/>
          <p:cNvSpPr txBox="1"/>
          <p:nvPr/>
        </p:nvSpPr>
        <p:spPr>
          <a:xfrm>
            <a:off x="6498183" y="5076444"/>
            <a:ext cx="4806543" cy="729996"/>
          </a:xfrm>
          <a:prstGeom prst="rect">
            <a:avLst/>
          </a:prstGeom>
          <a:noFill/>
        </p:spPr>
        <p:txBody>
          <a:bodyPr wrap="square" lIns="0" rIns="0" tIns="0" bIns="0" anchor="t">
            <a:spAutoFit/>
          </a:bodyPr>
          <a:lstStyle/>
          <a:p>
            <a:pPr algn="l">
              <a:lnSpc>
                <a:spcPct val="142000"/>
              </a:lnSpc>
            </a:pPr>
            <a:r>
              <a:rPr sz="1800" b="0" i="0">
                <a:solidFill>
                  <a:srgbClr val="3A3D40"/>
                </a:solidFill>
                <a:latin typeface="Verdana"/>
              </a:rPr>
              <a:t>L'avis compte encore · l'avis a été retiré.</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Quand la météo décide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9</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DEUX AVIS</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Ce qu'on fait devant chacun</a:t>
            </a:r>
          </a:p>
        </p:txBody>
      </p:sp>
      <p:sp>
        <p:nvSpPr>
          <p:cNvPr id="7" name="Rounded Rectangle 6"/>
          <p:cNvSpPr/>
          <p:nvPr/>
        </p:nvSpPr>
        <p:spPr>
          <a:xfrm>
            <a:off x="566928" y="1810512"/>
            <a:ext cx="11057839" cy="3099816"/>
          </a:xfrm>
          <a:prstGeom prst="roundRect">
            <a:avLst>
              <a:gd name="adj" fmla="val 4719"/>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75104"/>
            <a:ext cx="3291492"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UNE VEILLE</a:t>
            </a:r>
          </a:p>
        </p:txBody>
      </p:sp>
      <p:sp>
        <p:nvSpPr>
          <p:cNvPr id="9" name="TextBox 8"/>
          <p:cNvSpPr txBox="1"/>
          <p:nvPr/>
        </p:nvSpPr>
        <p:spPr>
          <a:xfrm>
            <a:off x="4443636" y="1975104"/>
            <a:ext cx="6595914"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UN AVERTISSEMENT</a:t>
            </a:r>
          </a:p>
        </p:txBody>
      </p:sp>
      <p:sp>
        <p:nvSpPr>
          <p:cNvPr id="10" name="TextBox 9"/>
          <p:cNvSpPr txBox="1"/>
          <p:nvPr/>
        </p:nvSpPr>
        <p:spPr>
          <a:xfrm>
            <a:off x="932688" y="2395728"/>
            <a:ext cx="3291492"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C'est possible</a:t>
            </a:r>
          </a:p>
        </p:txBody>
      </p:sp>
      <p:sp>
        <p:nvSpPr>
          <p:cNvPr id="11" name="TextBox 10"/>
          <p:cNvSpPr txBox="1"/>
          <p:nvPr/>
        </p:nvSpPr>
        <p:spPr>
          <a:xfrm>
            <a:off x="4443636" y="2395728"/>
            <a:ext cx="6595914" cy="338328"/>
          </a:xfrm>
          <a:prstGeom prst="rect">
            <a:avLst/>
          </a:prstGeom>
          <a:noFill/>
        </p:spPr>
        <p:txBody>
          <a:bodyPr wrap="square" lIns="0" rIns="0" tIns="0" bIns="0" anchor="t">
            <a:spAutoFit/>
          </a:bodyPr>
          <a:lstStyle/>
          <a:p>
            <a:pPr algn="l">
              <a:lnSpc>
                <a:spcPct val="132000"/>
              </a:lnSpc>
            </a:pPr>
            <a:r>
              <a:rPr sz="1800" b="1" i="0">
                <a:solidFill>
                  <a:srgbClr val="1D6B8F"/>
                </a:solidFill>
                <a:latin typeface="Verdana"/>
              </a:rPr>
              <a:t>C'est imminent ou commencé</a:t>
            </a:r>
          </a:p>
        </p:txBody>
      </p:sp>
      <p:sp>
        <p:nvSpPr>
          <p:cNvPr id="12" name="Rectangle 11"/>
          <p:cNvSpPr/>
          <p:nvPr/>
        </p:nvSpPr>
        <p:spPr>
          <a:xfrm>
            <a:off x="932688" y="2807208"/>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32688" y="2935224"/>
            <a:ext cx="3291492" cy="640080"/>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Émise d'avance, parfois deux jours</a:t>
            </a:r>
          </a:p>
        </p:txBody>
      </p:sp>
      <p:sp>
        <p:nvSpPr>
          <p:cNvPr id="14" name="TextBox 13"/>
          <p:cNvSpPr txBox="1"/>
          <p:nvPr/>
        </p:nvSpPr>
        <p:spPr>
          <a:xfrm>
            <a:off x="4443636" y="2935224"/>
            <a:ext cx="6595914" cy="640080"/>
          </a:xfrm>
          <a:prstGeom prst="rect">
            <a:avLst/>
          </a:prstGeom>
          <a:noFill/>
        </p:spPr>
        <p:txBody>
          <a:bodyPr wrap="square" lIns="0" rIns="0" tIns="0" bIns="0" anchor="t">
            <a:spAutoFit/>
          </a:bodyPr>
          <a:lstStyle/>
          <a:p>
            <a:pPr algn="l">
              <a:lnSpc>
                <a:spcPct val="132000"/>
              </a:lnSpc>
            </a:pPr>
            <a:r>
              <a:rPr sz="1800" b="1" i="0">
                <a:solidFill>
                  <a:srgbClr val="1D6B8F"/>
                </a:solidFill>
                <a:latin typeface="Verdana"/>
              </a:rPr>
              <a:t>Émis quelques heures avant</a:t>
            </a:r>
          </a:p>
        </p:txBody>
      </p:sp>
      <p:sp>
        <p:nvSpPr>
          <p:cNvPr id="15" name="Rectangle 14"/>
          <p:cNvSpPr/>
          <p:nvPr/>
        </p:nvSpPr>
        <p:spPr>
          <a:xfrm>
            <a:off x="932688" y="3648456"/>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932688" y="3776472"/>
            <a:ext cx="3291492"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Peut être levée sans rien</a:t>
            </a:r>
          </a:p>
        </p:txBody>
      </p:sp>
      <p:sp>
        <p:nvSpPr>
          <p:cNvPr id="17" name="TextBox 16"/>
          <p:cNvSpPr txBox="1"/>
          <p:nvPr/>
        </p:nvSpPr>
        <p:spPr>
          <a:xfrm>
            <a:off x="4443636" y="3776472"/>
            <a:ext cx="6595914" cy="338328"/>
          </a:xfrm>
          <a:prstGeom prst="rect">
            <a:avLst/>
          </a:prstGeom>
          <a:noFill/>
        </p:spPr>
        <p:txBody>
          <a:bodyPr wrap="square" lIns="0" rIns="0" tIns="0" bIns="0" anchor="t">
            <a:spAutoFit/>
          </a:bodyPr>
          <a:lstStyle/>
          <a:p>
            <a:pPr algn="l">
              <a:lnSpc>
                <a:spcPct val="132000"/>
              </a:lnSpc>
            </a:pPr>
            <a:r>
              <a:rPr sz="1800" b="1" i="0">
                <a:solidFill>
                  <a:srgbClr val="1D6B8F"/>
                </a:solidFill>
                <a:latin typeface="Verdana"/>
              </a:rPr>
              <a:t>Le phénomène arrive presque toujours</a:t>
            </a:r>
          </a:p>
        </p:txBody>
      </p:sp>
      <p:sp>
        <p:nvSpPr>
          <p:cNvPr id="18" name="Rectangle 17"/>
          <p:cNvSpPr/>
          <p:nvPr/>
        </p:nvSpPr>
        <p:spPr>
          <a:xfrm>
            <a:off x="932688" y="4187952"/>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32688" y="4315968"/>
            <a:ext cx="3291492"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On surveille et on prépare</a:t>
            </a:r>
          </a:p>
        </p:txBody>
      </p:sp>
      <p:sp>
        <p:nvSpPr>
          <p:cNvPr id="20" name="TextBox 19"/>
          <p:cNvSpPr txBox="1"/>
          <p:nvPr/>
        </p:nvSpPr>
        <p:spPr>
          <a:xfrm>
            <a:off x="4443636" y="4315968"/>
            <a:ext cx="6595914" cy="338328"/>
          </a:xfrm>
          <a:prstGeom prst="rect">
            <a:avLst/>
          </a:prstGeom>
          <a:noFill/>
        </p:spPr>
        <p:txBody>
          <a:bodyPr wrap="square" lIns="0" rIns="0" tIns="0" bIns="0" anchor="t">
            <a:spAutoFit/>
          </a:bodyPr>
          <a:lstStyle/>
          <a:p>
            <a:pPr algn="l">
              <a:lnSpc>
                <a:spcPct val="132000"/>
              </a:lnSpc>
            </a:pPr>
            <a:r>
              <a:rPr sz="1800" b="1" i="0">
                <a:solidFill>
                  <a:srgbClr val="1D6B8F"/>
                </a:solidFill>
                <a:latin typeface="Verdana"/>
              </a:rPr>
              <a:t>On décide et on prévient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Quand la météo décide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10</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CROIRE QUE « SPÉCIAL » VEUT DIRE « GRAVE »</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 piège le plus fréquent</a:t>
            </a:r>
          </a:p>
        </p:txBody>
      </p:sp>
      <p:sp>
        <p:nvSpPr>
          <p:cNvPr id="7" name="Rounded Rectangle 6"/>
          <p:cNvSpPr/>
          <p:nvPr/>
        </p:nvSpPr>
        <p:spPr>
          <a:xfrm>
            <a:off x="566928" y="1856232"/>
            <a:ext cx="5428335" cy="2331720"/>
          </a:xfrm>
          <a:prstGeom prst="roundRect">
            <a:avLst>
              <a:gd name="adj" fmla="val 6274"/>
            </a:avLst>
          </a:prstGeom>
          <a:solidFill>
            <a:srgbClr val="FFF6F5"/>
          </a:solidFill>
          <a:ln w="12700">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B91C1C"/>
                </a:solidFill>
                <a:latin typeface="Verdana"/>
              </a:rPr>
              <a:t>ON ENTEND SOUVENT</a:t>
            </a:r>
          </a:p>
        </p:txBody>
      </p:sp>
      <p:sp>
        <p:nvSpPr>
          <p:cNvPr id="9" name="TextBox 8"/>
          <p:cNvSpPr txBox="1"/>
          <p:nvPr/>
        </p:nvSpPr>
        <p:spPr>
          <a:xfrm>
            <a:off x="932688"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Un bulletin météorologique spécial : c'est le plus sérieux.</a:t>
            </a:r>
          </a:p>
        </p:txBody>
      </p:sp>
      <p:sp>
        <p:nvSpPr>
          <p:cNvPr id="10" name="Rounded Rectangle 9"/>
          <p:cNvSpPr/>
          <p:nvPr/>
        </p:nvSpPr>
        <p:spPr>
          <a:xfrm>
            <a:off x="6196431" y="1856232"/>
            <a:ext cx="5428335" cy="2331720"/>
          </a:xfrm>
          <a:prstGeom prst="roundRect">
            <a:avLst>
              <a:gd name="adj" fmla="val 6274"/>
            </a:avLst>
          </a:prstGeom>
          <a:solidFill>
            <a:srgbClr val="E6F5EE"/>
          </a:solidFill>
          <a:ln w="12700">
            <a:solidFill>
              <a:srgbClr val="0A8F5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562191"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07734A"/>
                </a:solidFill>
                <a:latin typeface="Verdana"/>
              </a:rPr>
              <a:t>IL FAUT DIRE PLUTÔT</a:t>
            </a:r>
          </a:p>
        </p:txBody>
      </p:sp>
      <p:sp>
        <p:nvSpPr>
          <p:cNvPr id="12" name="TextBox 11"/>
          <p:cNvSpPr txBox="1"/>
          <p:nvPr/>
        </p:nvSpPr>
        <p:spPr>
          <a:xfrm>
            <a:off x="6562191"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Un bulletin spécial : c'est le plus faible des trois avis.</a:t>
            </a:r>
          </a:p>
        </p:txBody>
      </p:sp>
      <p:sp>
        <p:nvSpPr>
          <p:cNvPr id="13" name="Rounded Rectangle 12"/>
          <p:cNvSpPr/>
          <p:nvPr/>
        </p:nvSpPr>
        <p:spPr>
          <a:xfrm>
            <a:off x="566928" y="4462272"/>
            <a:ext cx="11057839" cy="1285240"/>
          </a:xfrm>
          <a:prstGeom prst="roundRect">
            <a:avLst>
              <a:gd name="adj" fmla="val 11383"/>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69264" y="4736592"/>
            <a:ext cx="10234879" cy="7823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Le mot « spécial » veut seulement dire que le temps sort de l'ordinaire. Le service ne sait pas encore de quoi il s'agit ni combien il en tombera.</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Quand la météo décide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11</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COMPRÉHENSION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Vrai ou faux ?</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Répondez d'après le dialogue.</a:t>
            </a:r>
          </a:p>
        </p:txBody>
      </p:sp>
      <p:sp>
        <p:nvSpPr>
          <p:cNvPr id="8" name="Rounded Rectangle 7"/>
          <p:cNvSpPr/>
          <p:nvPr/>
        </p:nvSpPr>
        <p:spPr>
          <a:xfrm>
            <a:off x="566928" y="2139696"/>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36724"/>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00732"/>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1</a:t>
            </a:r>
          </a:p>
        </p:txBody>
      </p:sp>
      <p:sp>
        <p:nvSpPr>
          <p:cNvPr id="11" name="TextBox 10"/>
          <p:cNvSpPr txBox="1"/>
          <p:nvPr/>
        </p:nvSpPr>
        <p:spPr>
          <a:xfrm>
            <a:off x="1344168" y="229514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Une veille veut dire que le phénomène est certain.</a:t>
            </a:r>
          </a:p>
        </p:txBody>
      </p:sp>
      <p:sp>
        <p:nvSpPr>
          <p:cNvPr id="12" name="Rounded Rectangle 11"/>
          <p:cNvSpPr/>
          <p:nvPr/>
        </p:nvSpPr>
        <p:spPr>
          <a:xfrm>
            <a:off x="566928" y="2827528"/>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2924556"/>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2988564"/>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2</a:t>
            </a:r>
          </a:p>
        </p:txBody>
      </p:sp>
      <p:sp>
        <p:nvSpPr>
          <p:cNvPr id="15" name="TextBox 14"/>
          <p:cNvSpPr txBox="1"/>
          <p:nvPr/>
        </p:nvSpPr>
        <p:spPr>
          <a:xfrm>
            <a:off x="1344168" y="2982975"/>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Un avertissement est émis quand c'est imminent ou commencé.</a:t>
            </a:r>
          </a:p>
        </p:txBody>
      </p:sp>
      <p:sp>
        <p:nvSpPr>
          <p:cNvPr id="16" name="Rounded Rectangle 15"/>
          <p:cNvSpPr/>
          <p:nvPr/>
        </p:nvSpPr>
        <p:spPr>
          <a:xfrm>
            <a:off x="566928" y="3515359"/>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612388"/>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676395"/>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3</a:t>
            </a:r>
          </a:p>
        </p:txBody>
      </p:sp>
      <p:sp>
        <p:nvSpPr>
          <p:cNvPr id="19" name="TextBox 18"/>
          <p:cNvSpPr txBox="1"/>
          <p:nvPr/>
        </p:nvSpPr>
        <p:spPr>
          <a:xfrm>
            <a:off x="1344168" y="3670807"/>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Le bulletin spécial est le plus fort des trois avis.</a:t>
            </a:r>
          </a:p>
        </p:txBody>
      </p:sp>
      <p:sp>
        <p:nvSpPr>
          <p:cNvPr id="20" name="Rounded Rectangle 19"/>
          <p:cNvSpPr/>
          <p:nvPr/>
        </p:nvSpPr>
        <p:spPr>
          <a:xfrm>
            <a:off x="566928" y="4203192"/>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300220"/>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364228"/>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4</a:t>
            </a:r>
          </a:p>
        </p:txBody>
      </p:sp>
      <p:sp>
        <p:nvSpPr>
          <p:cNvPr id="23" name="TextBox 22"/>
          <p:cNvSpPr txBox="1"/>
          <p:nvPr/>
        </p:nvSpPr>
        <p:spPr>
          <a:xfrm>
            <a:off x="1344168" y="4358640"/>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Marisol doit répondre à une trentaine de personnes.</a:t>
            </a:r>
          </a:p>
        </p:txBody>
      </p:sp>
      <p:sp>
        <p:nvSpPr>
          <p:cNvPr id="24" name="Rounded Rectangle 23"/>
          <p:cNvSpPr/>
          <p:nvPr/>
        </p:nvSpPr>
        <p:spPr>
          <a:xfrm>
            <a:off x="566928" y="4891023"/>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4988051"/>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052059"/>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5</a:t>
            </a:r>
          </a:p>
        </p:txBody>
      </p:sp>
      <p:sp>
        <p:nvSpPr>
          <p:cNvPr id="27" name="TextBox 26"/>
          <p:cNvSpPr txBox="1"/>
          <p:nvPr/>
        </p:nvSpPr>
        <p:spPr>
          <a:xfrm>
            <a:off x="1344168" y="5046471"/>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Réjean conseille d'annoncer tout de suite quand on répondra.</a:t>
            </a:r>
          </a:p>
        </p:txBody>
      </p:sp>
      <p:sp>
        <p:nvSpPr>
          <p:cNvPr id="28" name="Rounded Rectangle 27"/>
          <p:cNvSpPr/>
          <p:nvPr/>
        </p:nvSpPr>
        <p:spPr>
          <a:xfrm>
            <a:off x="566928" y="5578856"/>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841247" y="5675884"/>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41247" y="5739892"/>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6</a:t>
            </a:r>
          </a:p>
        </p:txBody>
      </p:sp>
      <p:sp>
        <p:nvSpPr>
          <p:cNvPr id="31" name="TextBox 30"/>
          <p:cNvSpPr txBox="1"/>
          <p:nvPr/>
        </p:nvSpPr>
        <p:spPr>
          <a:xfrm>
            <a:off x="1344168" y="573430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La région annoncée n'a pas vraiment d'importance.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Quand la météo décide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12</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CORRECTION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Vrai ou faux ?</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Correction — on lit la réponse, on ne commente pas l'erreur.</a:t>
            </a:r>
          </a:p>
        </p:txBody>
      </p:sp>
      <p:sp>
        <p:nvSpPr>
          <p:cNvPr id="8" name="Rounded Rectangle 7"/>
          <p:cNvSpPr/>
          <p:nvPr/>
        </p:nvSpPr>
        <p:spPr>
          <a:xfrm>
            <a:off x="566928" y="2139696"/>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36724"/>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00732"/>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1</a:t>
            </a:r>
          </a:p>
        </p:txBody>
      </p:sp>
      <p:sp>
        <p:nvSpPr>
          <p:cNvPr id="11" name="TextBox 10"/>
          <p:cNvSpPr txBox="1"/>
          <p:nvPr/>
        </p:nvSpPr>
        <p:spPr>
          <a:xfrm>
            <a:off x="1344168" y="229514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Une veille veut dire que le phénomène est certain.   </a:t>
            </a:r>
            <a:r>
              <a:rPr sz="1400" b="1" i="0">
                <a:solidFill>
                  <a:srgbClr val="07734A"/>
                </a:solidFill>
                <a:latin typeface="Verdana"/>
              </a:rPr>
              <a:t>» faux — il est possible</a:t>
            </a:r>
          </a:p>
        </p:txBody>
      </p:sp>
      <p:sp>
        <p:nvSpPr>
          <p:cNvPr id="12" name="Rounded Rectangle 11"/>
          <p:cNvSpPr/>
          <p:nvPr/>
        </p:nvSpPr>
        <p:spPr>
          <a:xfrm>
            <a:off x="566928" y="2827528"/>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2924556"/>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2988564"/>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2</a:t>
            </a:r>
          </a:p>
        </p:txBody>
      </p:sp>
      <p:sp>
        <p:nvSpPr>
          <p:cNvPr id="15" name="TextBox 14"/>
          <p:cNvSpPr txBox="1"/>
          <p:nvPr/>
        </p:nvSpPr>
        <p:spPr>
          <a:xfrm>
            <a:off x="1344168" y="2982975"/>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Un avertissement est émis quand c'est imminent ou commencé.   </a:t>
            </a:r>
            <a:r>
              <a:rPr sz="1400" b="1" i="0">
                <a:solidFill>
                  <a:srgbClr val="07734A"/>
                </a:solidFill>
                <a:latin typeface="Verdana"/>
              </a:rPr>
              <a:t>» vrai</a:t>
            </a:r>
          </a:p>
        </p:txBody>
      </p:sp>
      <p:sp>
        <p:nvSpPr>
          <p:cNvPr id="16" name="Rounded Rectangle 15"/>
          <p:cNvSpPr/>
          <p:nvPr/>
        </p:nvSpPr>
        <p:spPr>
          <a:xfrm>
            <a:off x="566928" y="3515359"/>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612388"/>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676395"/>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3</a:t>
            </a:r>
          </a:p>
        </p:txBody>
      </p:sp>
      <p:sp>
        <p:nvSpPr>
          <p:cNvPr id="19" name="TextBox 18"/>
          <p:cNvSpPr txBox="1"/>
          <p:nvPr/>
        </p:nvSpPr>
        <p:spPr>
          <a:xfrm>
            <a:off x="1344168" y="3670807"/>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Le bulletin spécial est le plus fort des trois avis.   </a:t>
            </a:r>
            <a:r>
              <a:rPr sz="1400" b="1" i="0">
                <a:solidFill>
                  <a:srgbClr val="07734A"/>
                </a:solidFill>
                <a:latin typeface="Verdana"/>
              </a:rPr>
              <a:t>» faux — c'est le plus faible</a:t>
            </a:r>
          </a:p>
        </p:txBody>
      </p:sp>
      <p:sp>
        <p:nvSpPr>
          <p:cNvPr id="20" name="Rounded Rectangle 19"/>
          <p:cNvSpPr/>
          <p:nvPr/>
        </p:nvSpPr>
        <p:spPr>
          <a:xfrm>
            <a:off x="566928" y="4203192"/>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300220"/>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364228"/>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4</a:t>
            </a:r>
          </a:p>
        </p:txBody>
      </p:sp>
      <p:sp>
        <p:nvSpPr>
          <p:cNvPr id="23" name="TextBox 22"/>
          <p:cNvSpPr txBox="1"/>
          <p:nvPr/>
        </p:nvSpPr>
        <p:spPr>
          <a:xfrm>
            <a:off x="1344168" y="4358640"/>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Marisol doit répondre à une trentaine de personnes.   </a:t>
            </a:r>
            <a:r>
              <a:rPr sz="1400" b="1" i="0">
                <a:solidFill>
                  <a:srgbClr val="07734A"/>
                </a:solidFill>
                <a:latin typeface="Verdana"/>
              </a:rPr>
              <a:t>» vrai</a:t>
            </a:r>
          </a:p>
        </p:txBody>
      </p:sp>
      <p:sp>
        <p:nvSpPr>
          <p:cNvPr id="24" name="Rounded Rectangle 23"/>
          <p:cNvSpPr/>
          <p:nvPr/>
        </p:nvSpPr>
        <p:spPr>
          <a:xfrm>
            <a:off x="566928" y="4891023"/>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4988051"/>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052059"/>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5</a:t>
            </a:r>
          </a:p>
        </p:txBody>
      </p:sp>
      <p:sp>
        <p:nvSpPr>
          <p:cNvPr id="27" name="TextBox 26"/>
          <p:cNvSpPr txBox="1"/>
          <p:nvPr/>
        </p:nvSpPr>
        <p:spPr>
          <a:xfrm>
            <a:off x="1344168" y="5046471"/>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Réjean conseille d'annoncer tout de suite quand on répondra.   </a:t>
            </a:r>
            <a:r>
              <a:rPr sz="1400" b="1" i="0">
                <a:solidFill>
                  <a:srgbClr val="07734A"/>
                </a:solidFill>
                <a:latin typeface="Verdana"/>
              </a:rPr>
              <a:t>» vrai</a:t>
            </a:r>
          </a:p>
        </p:txBody>
      </p:sp>
      <p:sp>
        <p:nvSpPr>
          <p:cNvPr id="28" name="Rounded Rectangle 27"/>
          <p:cNvSpPr/>
          <p:nvPr/>
        </p:nvSpPr>
        <p:spPr>
          <a:xfrm>
            <a:off x="566928" y="5578856"/>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841247" y="5675884"/>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41247" y="5739892"/>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6</a:t>
            </a:r>
          </a:p>
        </p:txBody>
      </p:sp>
      <p:sp>
        <p:nvSpPr>
          <p:cNvPr id="31" name="TextBox 30"/>
          <p:cNvSpPr txBox="1"/>
          <p:nvPr/>
        </p:nvSpPr>
        <p:spPr>
          <a:xfrm>
            <a:off x="1344168" y="573430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La région annoncée n'a pas vraiment d'importance.   </a:t>
            </a:r>
            <a:r>
              <a:rPr sz="1400" b="1" i="0">
                <a:solidFill>
                  <a:srgbClr val="07734A"/>
                </a:solidFill>
                <a:latin typeface="Verdana"/>
              </a:rPr>
              <a:t>» faux — la moitié des annulations viennent de là</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Quand la météo décide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13</a:t>
            </a:r>
          </a:p>
        </p:txBody>
      </p:sp>
      <p:sp>
        <p:nvSpPr>
          <p:cNvPr id="5" name="Rectangle 4"/>
          <p:cNvSpPr/>
          <p:nvPr/>
        </p:nvSpPr>
        <p:spPr>
          <a:xfrm>
            <a:off x="0" y="0"/>
            <a:ext cx="12191695" cy="6858000"/>
          </a:xfrm>
          <a:prstGeom prst="rect">
            <a:avLst/>
          </a:prstGeom>
          <a:solidFill>
            <a:srgbClr val="1718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66928" y="1051560"/>
            <a:ext cx="11057839" cy="274320"/>
          </a:xfrm>
          <a:prstGeom prst="rect">
            <a:avLst/>
          </a:prstGeom>
          <a:noFill/>
        </p:spPr>
        <p:txBody>
          <a:bodyPr wrap="square" lIns="0" rIns="0" tIns="0" bIns="0" anchor="t">
            <a:spAutoFit/>
          </a:bodyPr>
          <a:lstStyle/>
          <a:p>
            <a:pPr algn="l">
              <a:lnSpc>
                <a:spcPct val="135000"/>
              </a:lnSpc>
            </a:pPr>
            <a:r>
              <a:rPr sz="1300" b="1" i="0" spc="156">
                <a:solidFill>
                  <a:srgbClr val="FFFFFF"/>
                </a:solidFill>
                <a:latin typeface="Verdana"/>
              </a:rPr>
              <a:t>BILLET DE SORTIE</a:t>
            </a:r>
          </a:p>
        </p:txBody>
      </p:sp>
      <p:sp>
        <p:nvSpPr>
          <p:cNvPr id="7" name="TextBox 6"/>
          <p:cNvSpPr txBox="1"/>
          <p:nvPr/>
        </p:nvSpPr>
        <p:spPr>
          <a:xfrm>
            <a:off x="566928" y="1572768"/>
            <a:ext cx="9777679" cy="2103120"/>
          </a:xfrm>
          <a:prstGeom prst="rect">
            <a:avLst/>
          </a:prstGeom>
          <a:noFill/>
        </p:spPr>
        <p:txBody>
          <a:bodyPr wrap="square" lIns="0" rIns="0" tIns="0" bIns="0" anchor="t">
            <a:spAutoFit/>
          </a:bodyPr>
          <a:lstStyle/>
          <a:p>
            <a:pPr algn="l">
              <a:lnSpc>
                <a:spcPct val="125000"/>
              </a:lnSpc>
            </a:pPr>
            <a:r>
              <a:rPr sz="3400" b="1" i="0">
                <a:solidFill>
                  <a:srgbClr val="FFFFFF"/>
                </a:solidFill>
                <a:latin typeface="Verdana"/>
              </a:rPr>
              <a:t>Écrivez une activité que vous avez déjà dû reporter ou annuler à cause du temps.</a:t>
            </a:r>
          </a:p>
        </p:txBody>
      </p:sp>
      <p:sp>
        <p:nvSpPr>
          <p:cNvPr id="8" name="Rounded Rectangle 7"/>
          <p:cNvSpPr/>
          <p:nvPr/>
        </p:nvSpPr>
        <p:spPr>
          <a:xfrm>
            <a:off x="566928" y="3931920"/>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32688" y="4087368"/>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Dites en une phrase ce qui était annoncé ce jour-là.</a:t>
            </a:r>
          </a:p>
        </p:txBody>
      </p:sp>
      <p:sp>
        <p:nvSpPr>
          <p:cNvPr id="10" name="Rounded Rectangle 9"/>
          <p:cNvSpPr/>
          <p:nvPr/>
        </p:nvSpPr>
        <p:spPr>
          <a:xfrm>
            <a:off x="566928" y="4680712"/>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4836160"/>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Si ce n'est jamais arrivé, écrivez une activité qui pourrait l'être.</a:t>
            </a:r>
          </a:p>
        </p:txBody>
      </p:sp>
      <p:sp>
        <p:nvSpPr>
          <p:cNvPr id="12" name="TextBox 11"/>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Quand la météo décide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