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Dernière séance du module. Prévoir quarante minutes d'écriture en silence, puis le bilan. Rendre au début les billets de E1 et les rétroactions des productions orales : la comparaison est le vrai moment d'apprentissage de la séance.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troisième objectif relie les deux moitiés du module : le Défi 2 donne la décision, le Défi 3 donne l'équipement. L'avis est le seul endroit où les deux se rencontrent.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Écrire au tableau deux premières phrases — une qui commence par la météo, une qui commence par la décision — et faire choisir. Le groupe choisit toujours la seconde, et c'est l'argument.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Annoncer les critères avant l'écriture, jamais après. Un élève qui sait qu'on regarde le gérondif en écrit un ; celui qui l'apprend à la correction se sent piégé. Ce sont les six points de la liste en ligne.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la faute la plus fréquente de cette production, et elle n'est pas une faute de langue : c'est une faute de destinataire. La nommer ainsi aide les élèves à la voir.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Quatre points seulement. Un avis d'élève qui les porte tous est publiable tel quel dans un vrai centre communautaire — le dire au groupe, parce que c'est vrai.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Huit des seize, ceux que le relevé montre comme les moins sûrs. Faire dire chaque mot avec son article et une phrase. Les huit autres se révisent avec les cartes mémoire de l'activité.</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cocher individuellement, sans ramasser. Proposer à ceux qui hésitent sur deux points ou plus de refaire le défi correspondant dans l'activité interactive : elle reste ouverte après la fin du module.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 pas ramasser celui-ci. Le module a commencé par une femme qui devait décider pour trente personnes ; il se termine par la même question, posée à chacun.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SÉANCE E2  ·  MODULE 12</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L'avis à la porte, et les seize mots</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Dernière séance. Vous écrivez l'avis que les gens liront demain matin en entrant, debout, leur manteau sur le bras. Puis on rassemble les mots du module et on fait le point.</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Quand la météo décide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Quand la météo décide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écrire un avis qui annonce une décision et sa raison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employer le futur simple pour la date, l'heure et le lieu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donner deux consignes à l'impératif, dont une avec un gérondif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faire le point sur ce qu'on est maintenant capable de faire.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Quand la météo décide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UN AVIS SE LIT DEBOUT, EN TRENTE SECONDES</a:t>
            </a:r>
          </a:p>
        </p:txBody>
      </p:sp>
      <p:sp>
        <p:nvSpPr>
          <p:cNvPr id="6" name="Rounded Rectangle 5"/>
          <p:cNvSpPr/>
          <p:nvPr/>
        </p:nvSpPr>
        <p:spPr>
          <a:xfrm>
            <a:off x="566928" y="1225296"/>
            <a:ext cx="11057839" cy="1967991"/>
          </a:xfrm>
          <a:prstGeom prst="roundRect">
            <a:avLst>
              <a:gd name="adj" fmla="val 7434"/>
            </a:avLst>
          </a:prstGeom>
          <a:solidFill>
            <a:srgbClr val="FCE9F0"/>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La décision d'abord. La météo ensuite, jamais l'inverse.</a:t>
            </a:r>
          </a:p>
        </p:txBody>
      </p:sp>
      <p:sp>
        <p:nvSpPr>
          <p:cNvPr id="8" name="Rounded Rectangle 7"/>
          <p:cNvSpPr/>
          <p:nvPr/>
        </p:nvSpPr>
        <p:spPr>
          <a:xfrm>
            <a:off x="566928" y="3467607"/>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Quelqu'un qui entre avec son manteau sur le bras ne lira pas trois phrases de contexte avant de savoir si sa sortie a lieu. De six à neuf phrases, avec « vous », et la nouvelle est dans la première.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Quand la météo décide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L'AVIS</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Six exigences, annoncées d'avance</a:t>
            </a:r>
          </a:p>
        </p:txBody>
      </p:sp>
      <p:sp>
        <p:nvSpPr>
          <p:cNvPr id="7" name="Rounded Rectangle 6"/>
          <p:cNvSpPr/>
          <p:nvPr/>
        </p:nvSpPr>
        <p:spPr>
          <a:xfrm>
            <a:off x="566928" y="1810512"/>
            <a:ext cx="11057839" cy="3877056"/>
          </a:xfrm>
          <a:prstGeom prst="roundRect">
            <a:avLst>
              <a:gd name="adj" fmla="val 377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LA PARTIE</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QU'ON Y MET</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La première phrase</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la décision — pas la météo</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La raison</a:t>
            </a:r>
          </a:p>
        </p:txBody>
      </p:sp>
      <p:sp>
        <p:nvSpPr>
          <p:cNvPr id="14" name="TextBox 13"/>
          <p:cNvSpPr txBox="1"/>
          <p:nvPr/>
        </p:nvSpPr>
        <p:spPr>
          <a:xfrm>
            <a:off x="4443636" y="2935224"/>
            <a:ext cx="6595914" cy="338328"/>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étant donné que, comme, ou parce que</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 nom exact de l'avis</a:t>
            </a:r>
          </a:p>
        </p:txBody>
      </p:sp>
      <p:sp>
        <p:nvSpPr>
          <p:cNvPr id="17" name="TextBox 16"/>
          <p:cNvSpPr txBox="1"/>
          <p:nvPr/>
        </p:nvSpPr>
        <p:spPr>
          <a:xfrm>
            <a:off x="4443636" y="3474720"/>
            <a:ext cx="6595914" cy="338328"/>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veille ou avertissement, et de quoi</a:t>
            </a:r>
          </a:p>
        </p:txBody>
      </p:sp>
      <p:sp>
        <p:nvSpPr>
          <p:cNvPr id="18" name="Rectangle 17"/>
          <p:cNvSpPr/>
          <p:nvPr/>
        </p:nvSpPr>
        <p:spPr>
          <a:xfrm>
            <a:off x="932688" y="388620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014215"/>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Deux phrases au futur</a:t>
            </a:r>
          </a:p>
        </p:txBody>
      </p:sp>
      <p:sp>
        <p:nvSpPr>
          <p:cNvPr id="20" name="TextBox 19"/>
          <p:cNvSpPr txBox="1"/>
          <p:nvPr/>
        </p:nvSpPr>
        <p:spPr>
          <a:xfrm>
            <a:off x="4443636" y="4014215"/>
            <a:ext cx="6595914" cy="338328"/>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la nouvelle date, l'heure, le lieu</a:t>
            </a:r>
          </a:p>
        </p:txBody>
      </p:sp>
      <p:sp>
        <p:nvSpPr>
          <p:cNvPr id="21" name="Rectangle 20"/>
          <p:cNvSpPr/>
          <p:nvPr/>
        </p:nvSpPr>
        <p:spPr>
          <a:xfrm>
            <a:off x="932688" y="442569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32688" y="4553712"/>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Deux consignes</a:t>
            </a:r>
          </a:p>
        </p:txBody>
      </p:sp>
      <p:sp>
        <p:nvSpPr>
          <p:cNvPr id="23" name="TextBox 22"/>
          <p:cNvSpPr txBox="1"/>
          <p:nvPr/>
        </p:nvSpPr>
        <p:spPr>
          <a:xfrm>
            <a:off x="4443636" y="4553712"/>
            <a:ext cx="6595914" cy="338328"/>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à l'impératif, dont une avec un gérondif</a:t>
            </a:r>
          </a:p>
        </p:txBody>
      </p:sp>
      <p:sp>
        <p:nvSpPr>
          <p:cNvPr id="24" name="Rectangle 23"/>
          <p:cNvSpPr/>
          <p:nvPr/>
        </p:nvSpPr>
        <p:spPr>
          <a:xfrm>
            <a:off x="932688" y="496519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32688" y="5093207"/>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La fin</a:t>
            </a:r>
          </a:p>
        </p:txBody>
      </p:sp>
      <p:sp>
        <p:nvSpPr>
          <p:cNvPr id="26" name="TextBox 25"/>
          <p:cNvSpPr txBox="1"/>
          <p:nvPr/>
        </p:nvSpPr>
        <p:spPr>
          <a:xfrm>
            <a:off x="4443636" y="5093207"/>
            <a:ext cx="6595914" cy="338328"/>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quoi faire si la date ne convient pas, et votre nom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Quand la météo décide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COMMENCER PAR LA MÉTÉO</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Environnement Canada a émis un avertissement…</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La marche du samedi 8 est reportée au samedi 22 février.</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Le premier avis se lit dans l'ordre où l'information est arrivée à celui qui l'écrit. Le second se lit dans l'ordre où elle intéresse celui qui la reçoit. Le contexte vient après la nouvelle, toujours.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Quand la météo décide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CE QUE LE CORRECTEUR REGARDE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Quatre points, et vous les connaissez</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746760"/>
          </a:xfrm>
          <a:prstGeom prst="rect">
            <a:avLst/>
          </a:prstGeom>
          <a:noFill/>
        </p:spPr>
        <p:txBody>
          <a:bodyPr wrap="square" lIns="0" rIns="0" tIns="0" bIns="0" anchor="t">
            <a:spAutoFit/>
          </a:bodyPr>
          <a:lstStyle/>
          <a:p>
            <a:pPr algn="l">
              <a:lnSpc>
                <a:spcPct val="118000"/>
              </a:lnSpc>
            </a:pPr>
            <a:r>
              <a:rPr sz="2400" b="1" i="0">
                <a:solidFill>
                  <a:srgbClr val="A5335F"/>
                </a:solidFill>
                <a:latin typeface="Verdana"/>
              </a:rPr>
              <a:t>La décision est complète</a:t>
            </a:r>
          </a:p>
        </p:txBody>
      </p:sp>
      <p:sp>
        <p:nvSpPr>
          <p:cNvPr id="9" name="TextBox 8"/>
          <p:cNvSpPr txBox="1"/>
          <p:nvPr/>
        </p:nvSpPr>
        <p:spPr>
          <a:xfrm>
            <a:off x="886968" y="2859024"/>
            <a:ext cx="4806543" cy="729996"/>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Reportée à quelle date, à quelle heure, à quel endroit. Les trois.</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746760"/>
          </a:xfrm>
          <a:prstGeom prst="rect">
            <a:avLst/>
          </a:prstGeom>
          <a:noFill/>
        </p:spPr>
        <p:txBody>
          <a:bodyPr wrap="square" lIns="0" rIns="0" tIns="0" bIns="0" anchor="t">
            <a:spAutoFit/>
          </a:bodyPr>
          <a:lstStyle/>
          <a:p>
            <a:pPr algn="l">
              <a:lnSpc>
                <a:spcPct val="118000"/>
              </a:lnSpc>
            </a:pPr>
            <a:r>
              <a:rPr sz="2400" b="1" i="0">
                <a:solidFill>
                  <a:srgbClr val="A5335F"/>
                </a:solidFill>
                <a:latin typeface="Verdana"/>
              </a:rPr>
              <a:t>Une raison, avec un connecteur</a:t>
            </a:r>
          </a:p>
        </p:txBody>
      </p:sp>
      <p:sp>
        <p:nvSpPr>
          <p:cNvPr id="12" name="TextBox 11"/>
          <p:cNvSpPr txBox="1"/>
          <p:nvPr/>
        </p:nvSpPr>
        <p:spPr>
          <a:xfrm>
            <a:off x="6498183" y="2859024"/>
            <a:ext cx="4806543" cy="729996"/>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Une seule, la plus forte, reliée à la décision dans la même phrase.</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746760"/>
          </a:xfrm>
          <a:prstGeom prst="rect">
            <a:avLst/>
          </a:prstGeom>
          <a:noFill/>
        </p:spPr>
        <p:txBody>
          <a:bodyPr wrap="square" lIns="0" rIns="0" tIns="0" bIns="0" anchor="t">
            <a:spAutoFit/>
          </a:bodyPr>
          <a:lstStyle/>
          <a:p>
            <a:pPr algn="l">
              <a:lnSpc>
                <a:spcPct val="118000"/>
              </a:lnSpc>
            </a:pPr>
            <a:r>
              <a:rPr sz="2400" b="1" i="0">
                <a:solidFill>
                  <a:srgbClr val="A5335F"/>
                </a:solidFill>
                <a:latin typeface="Verdana"/>
              </a:rPr>
              <a:t>Les temps sont justes</a:t>
            </a:r>
          </a:p>
        </p:txBody>
      </p:sp>
      <p:sp>
        <p:nvSpPr>
          <p:cNvPr id="15" name="TextBox 14"/>
          <p:cNvSpPr txBox="1"/>
          <p:nvPr/>
        </p:nvSpPr>
        <p:spPr>
          <a:xfrm>
            <a:off x="886968" y="5076444"/>
            <a:ext cx="4806543" cy="729996"/>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Futur simple pour ce qui est fixé ; présent pour la décision déjà prise.</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746760"/>
          </a:xfrm>
          <a:prstGeom prst="rect">
            <a:avLst/>
          </a:prstGeom>
          <a:noFill/>
        </p:spPr>
        <p:txBody>
          <a:bodyPr wrap="square" lIns="0" rIns="0" tIns="0" bIns="0" anchor="t">
            <a:spAutoFit/>
          </a:bodyPr>
          <a:lstStyle/>
          <a:p>
            <a:pPr algn="l">
              <a:lnSpc>
                <a:spcPct val="118000"/>
              </a:lnSpc>
            </a:pPr>
            <a:r>
              <a:rPr sz="2400" b="1" i="0">
                <a:solidFill>
                  <a:srgbClr val="A5335F"/>
                </a:solidFill>
                <a:latin typeface="Verdana"/>
              </a:rPr>
              <a:t>Consigne et manière</a:t>
            </a:r>
          </a:p>
        </p:txBody>
      </p:sp>
      <p:sp>
        <p:nvSpPr>
          <p:cNvPr id="18" name="TextBox 17"/>
          <p:cNvSpPr txBox="1"/>
          <p:nvPr/>
        </p:nvSpPr>
        <p:spPr>
          <a:xfrm>
            <a:off x="6498183" y="5076444"/>
            <a:ext cx="4806543" cy="729996"/>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Un impératif pour ce qu'il faut apporter, un gérondif pour le comment.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Quand la météo décide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BILAN DU VOCABULAIRE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Huit des seize mots, une dernière fois</a:t>
            </a:r>
          </a:p>
        </p:txBody>
      </p:sp>
      <p:sp>
        <p:nvSpPr>
          <p:cNvPr id="7" name="Rounded Rectangle 6"/>
          <p:cNvSpPr/>
          <p:nvPr/>
        </p:nvSpPr>
        <p:spPr>
          <a:xfrm>
            <a:off x="566928" y="1810512"/>
            <a:ext cx="11057839" cy="4270248"/>
          </a:xfrm>
          <a:prstGeom prst="roundRect">
            <a:avLst>
              <a:gd name="adj" fmla="val 34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21408"/>
            <a:ext cx="3579685" cy="27317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une veille</a:t>
            </a:r>
          </a:p>
        </p:txBody>
      </p:sp>
      <p:sp>
        <p:nvSpPr>
          <p:cNvPr id="9" name="TextBox 8"/>
          <p:cNvSpPr txBox="1"/>
          <p:nvPr/>
        </p:nvSpPr>
        <p:spPr>
          <a:xfrm>
            <a:off x="4786693" y="2121408"/>
            <a:ext cx="6472313" cy="273176"/>
          </a:xfrm>
          <a:prstGeom prst="rect">
            <a:avLst/>
          </a:prstGeom>
          <a:noFill/>
        </p:spPr>
        <p:txBody>
          <a:bodyPr wrap="square" lIns="0" rIns="0" tIns="0" bIns="0" anchor="t">
            <a:spAutoFit/>
          </a:bodyPr>
          <a:lstStyle/>
          <a:p>
            <a:pPr algn="l">
              <a:lnSpc>
                <a:spcPct val="135000"/>
              </a:lnSpc>
            </a:pPr>
            <a:r>
              <a:rPr sz="1500" b="0" i="0">
                <a:solidFill>
                  <a:srgbClr val="4B4F52"/>
                </a:solidFill>
                <a:latin typeface="Verdana"/>
              </a:rPr>
              <a:t>L'avis qui dit que le phénomène est possible, sans être certain.</a:t>
            </a:r>
          </a:p>
        </p:txBody>
      </p:sp>
      <p:sp>
        <p:nvSpPr>
          <p:cNvPr id="10" name="Rectangle 9"/>
          <p:cNvSpPr/>
          <p:nvPr/>
        </p:nvSpPr>
        <p:spPr>
          <a:xfrm>
            <a:off x="932688" y="2467737"/>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614041"/>
            <a:ext cx="3579685" cy="27317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avertissement</a:t>
            </a:r>
          </a:p>
        </p:txBody>
      </p:sp>
      <p:sp>
        <p:nvSpPr>
          <p:cNvPr id="12" name="TextBox 11"/>
          <p:cNvSpPr txBox="1"/>
          <p:nvPr/>
        </p:nvSpPr>
        <p:spPr>
          <a:xfrm>
            <a:off x="4786693" y="2614041"/>
            <a:ext cx="6472313" cy="273176"/>
          </a:xfrm>
          <a:prstGeom prst="rect">
            <a:avLst/>
          </a:prstGeom>
          <a:noFill/>
        </p:spPr>
        <p:txBody>
          <a:bodyPr wrap="square" lIns="0" rIns="0" tIns="0" bIns="0" anchor="t">
            <a:spAutoFit/>
          </a:bodyPr>
          <a:lstStyle/>
          <a:p>
            <a:pPr algn="l">
              <a:lnSpc>
                <a:spcPct val="135000"/>
              </a:lnSpc>
            </a:pPr>
            <a:r>
              <a:rPr sz="1600" b="0" i="0">
                <a:solidFill>
                  <a:srgbClr val="4B4F52"/>
                </a:solidFill>
                <a:latin typeface="Verdana"/>
              </a:rPr>
              <a:t>L'avis qui dit que le phénomène est imminent ou commencé.</a:t>
            </a:r>
          </a:p>
        </p:txBody>
      </p:sp>
      <p:sp>
        <p:nvSpPr>
          <p:cNvPr id="13" name="Rectangle 12"/>
          <p:cNvSpPr/>
          <p:nvPr/>
        </p:nvSpPr>
        <p:spPr>
          <a:xfrm>
            <a:off x="932688" y="296037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3106674"/>
            <a:ext cx="3579685" cy="27317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la pluie verglaçante</a:t>
            </a:r>
          </a:p>
        </p:txBody>
      </p:sp>
      <p:sp>
        <p:nvSpPr>
          <p:cNvPr id="15" name="TextBox 14"/>
          <p:cNvSpPr txBox="1"/>
          <p:nvPr/>
        </p:nvSpPr>
        <p:spPr>
          <a:xfrm>
            <a:off x="4786693" y="3106674"/>
            <a:ext cx="6472313" cy="273176"/>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La pluie qui gèle en touchant le sol.</a:t>
            </a:r>
          </a:p>
        </p:txBody>
      </p:sp>
      <p:sp>
        <p:nvSpPr>
          <p:cNvPr id="16" name="Rectangle 15"/>
          <p:cNvSpPr/>
          <p:nvPr/>
        </p:nvSpPr>
        <p:spPr>
          <a:xfrm>
            <a:off x="932688" y="345300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3599307"/>
            <a:ext cx="3579685" cy="27317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le refroidissement éolien</a:t>
            </a:r>
          </a:p>
        </p:txBody>
      </p:sp>
      <p:sp>
        <p:nvSpPr>
          <p:cNvPr id="18" name="TextBox 17"/>
          <p:cNvSpPr txBox="1"/>
          <p:nvPr/>
        </p:nvSpPr>
        <p:spPr>
          <a:xfrm>
            <a:off x="4786693" y="3599307"/>
            <a:ext cx="6472313" cy="273176"/>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Le froid que la peau ressent quand le vent s'ajoute.</a:t>
            </a:r>
          </a:p>
        </p:txBody>
      </p:sp>
      <p:sp>
        <p:nvSpPr>
          <p:cNvPr id="19" name="Rectangle 18"/>
          <p:cNvSpPr/>
          <p:nvPr/>
        </p:nvSpPr>
        <p:spPr>
          <a:xfrm>
            <a:off x="932688" y="3945635"/>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32688" y="4091939"/>
            <a:ext cx="3579685" cy="27317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la crue printanière</a:t>
            </a:r>
          </a:p>
        </p:txBody>
      </p:sp>
      <p:sp>
        <p:nvSpPr>
          <p:cNvPr id="21" name="TextBox 20"/>
          <p:cNvSpPr txBox="1"/>
          <p:nvPr/>
        </p:nvSpPr>
        <p:spPr>
          <a:xfrm>
            <a:off x="4786693" y="4091939"/>
            <a:ext cx="6472313" cy="273176"/>
          </a:xfrm>
          <a:prstGeom prst="rect">
            <a:avLst/>
          </a:prstGeom>
          <a:noFill/>
        </p:spPr>
        <p:txBody>
          <a:bodyPr wrap="square" lIns="0" rIns="0" tIns="0" bIns="0" anchor="t">
            <a:spAutoFit/>
          </a:bodyPr>
          <a:lstStyle/>
          <a:p>
            <a:pPr algn="l">
              <a:lnSpc>
                <a:spcPct val="135000"/>
              </a:lnSpc>
            </a:pPr>
            <a:r>
              <a:rPr sz="1700" b="0" i="0">
                <a:solidFill>
                  <a:srgbClr val="4B4F52"/>
                </a:solidFill>
                <a:latin typeface="Verdana"/>
              </a:rPr>
              <a:t>La montée de l'eau quand la neige fond partout à la fois.</a:t>
            </a:r>
          </a:p>
        </p:txBody>
      </p:sp>
      <p:sp>
        <p:nvSpPr>
          <p:cNvPr id="22" name="Rectangle 21"/>
          <p:cNvSpPr/>
          <p:nvPr/>
        </p:nvSpPr>
        <p:spPr>
          <a:xfrm>
            <a:off x="932688" y="4438269"/>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32688" y="4584573"/>
            <a:ext cx="3579685" cy="27317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reporter</a:t>
            </a:r>
          </a:p>
        </p:txBody>
      </p:sp>
      <p:sp>
        <p:nvSpPr>
          <p:cNvPr id="24" name="TextBox 23"/>
          <p:cNvSpPr txBox="1"/>
          <p:nvPr/>
        </p:nvSpPr>
        <p:spPr>
          <a:xfrm>
            <a:off x="4786693" y="4584573"/>
            <a:ext cx="6472313" cy="273176"/>
          </a:xfrm>
          <a:prstGeom prst="rect">
            <a:avLst/>
          </a:prstGeom>
          <a:noFill/>
        </p:spPr>
        <p:txBody>
          <a:bodyPr wrap="square" lIns="0" rIns="0" tIns="0" bIns="0" anchor="t">
            <a:spAutoFit/>
          </a:bodyPr>
          <a:lstStyle/>
          <a:p>
            <a:pPr algn="l">
              <a:lnSpc>
                <a:spcPct val="135000"/>
              </a:lnSpc>
            </a:pPr>
            <a:r>
              <a:rPr sz="1700" b="0" i="0">
                <a:solidFill>
                  <a:srgbClr val="4B4F52"/>
                </a:solidFill>
                <a:latin typeface="Verdana"/>
              </a:rPr>
              <a:t>Déplacer une activité à une autre date, sans y renoncer.</a:t>
            </a:r>
          </a:p>
        </p:txBody>
      </p:sp>
      <p:sp>
        <p:nvSpPr>
          <p:cNvPr id="25" name="Rectangle 24"/>
          <p:cNvSpPr/>
          <p:nvPr/>
        </p:nvSpPr>
        <p:spPr>
          <a:xfrm>
            <a:off x="932688" y="493090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32688" y="5077206"/>
            <a:ext cx="3579685" cy="27317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des crampons</a:t>
            </a:r>
          </a:p>
        </p:txBody>
      </p:sp>
      <p:sp>
        <p:nvSpPr>
          <p:cNvPr id="27" name="TextBox 26"/>
          <p:cNvSpPr txBox="1"/>
          <p:nvPr/>
        </p:nvSpPr>
        <p:spPr>
          <a:xfrm>
            <a:off x="4786693" y="5077206"/>
            <a:ext cx="6472313" cy="273176"/>
          </a:xfrm>
          <a:prstGeom prst="rect">
            <a:avLst/>
          </a:prstGeom>
          <a:noFill/>
        </p:spPr>
        <p:txBody>
          <a:bodyPr wrap="square" lIns="0" rIns="0" tIns="0" bIns="0" anchor="t">
            <a:spAutoFit/>
          </a:bodyPr>
          <a:lstStyle/>
          <a:p>
            <a:pPr algn="l">
              <a:lnSpc>
                <a:spcPct val="135000"/>
              </a:lnSpc>
            </a:pPr>
            <a:r>
              <a:rPr sz="1500" b="0" i="0">
                <a:solidFill>
                  <a:srgbClr val="4B4F52"/>
                </a:solidFill>
                <a:latin typeface="Verdana"/>
              </a:rPr>
              <a:t>Les pointes qu'on attache sous ses bottes pour ne pas glisser.</a:t>
            </a:r>
          </a:p>
        </p:txBody>
      </p:sp>
      <p:sp>
        <p:nvSpPr>
          <p:cNvPr id="28" name="Rectangle 27"/>
          <p:cNvSpPr/>
          <p:nvPr/>
        </p:nvSpPr>
        <p:spPr>
          <a:xfrm>
            <a:off x="932688" y="5423535"/>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932688" y="5569839"/>
            <a:ext cx="3579685" cy="27317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coup de chaleur</a:t>
            </a:r>
          </a:p>
        </p:txBody>
      </p:sp>
      <p:sp>
        <p:nvSpPr>
          <p:cNvPr id="30" name="TextBox 29"/>
          <p:cNvSpPr txBox="1"/>
          <p:nvPr/>
        </p:nvSpPr>
        <p:spPr>
          <a:xfrm>
            <a:off x="4786693" y="5569839"/>
            <a:ext cx="6472313" cy="273176"/>
          </a:xfrm>
          <a:prstGeom prst="rect">
            <a:avLst/>
          </a:prstGeom>
          <a:noFill/>
        </p:spPr>
        <p:txBody>
          <a:bodyPr wrap="square" lIns="0" rIns="0" tIns="0" bIns="0" anchor="t">
            <a:spAutoFit/>
          </a:bodyPr>
          <a:lstStyle/>
          <a:p>
            <a:pPr algn="l">
              <a:lnSpc>
                <a:spcPct val="135000"/>
              </a:lnSpc>
            </a:pPr>
            <a:r>
              <a:rPr sz="1600" b="0" i="0">
                <a:solidFill>
                  <a:srgbClr val="4B4F52"/>
                </a:solidFill>
                <a:latin typeface="Verdana"/>
              </a:rPr>
              <a:t>Le malaise grave quand le corps n'arrive plus à se refroidir.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Quand la météo décide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BILAN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Êtes-vous maintenant capable de…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Répondez pour vous-même, honnêtement.</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Distinguer une veille d'un avertissement ?</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Tirer d'un bulletin le phénomène, la région et le moment ?</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Dire si un avis touche votre activité ?</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Choisir entre maintenir, reporter et annuler ?</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Donner la raison avec le bon connecteur ?</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Dire ce qu'il faut apporter, et comment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Quand la météo décide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Êtes-vous maintenant capable de…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Distinguer une veille d'un avertissement ?   </a:t>
            </a:r>
            <a:r>
              <a:rPr sz="1400" b="1" i="0">
                <a:solidFill>
                  <a:srgbClr val="07734A"/>
                </a:solidFill>
                <a:latin typeface="Verdana"/>
              </a:rPr>
              <a:t>» possible, ou imminent</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Tirer d'un bulletin le phénomène, la région et le moment ?   </a:t>
            </a:r>
            <a:r>
              <a:rPr sz="1400" b="1" i="0">
                <a:solidFill>
                  <a:srgbClr val="07734A"/>
                </a:solidFill>
                <a:latin typeface="Verdana"/>
              </a:rPr>
              <a:t>» les trois, au passage</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Dire si un avis touche votre activité ?   </a:t>
            </a:r>
            <a:r>
              <a:rPr sz="1400" b="1" i="0">
                <a:solidFill>
                  <a:srgbClr val="07734A"/>
                </a:solidFill>
                <a:latin typeface="Verdana"/>
              </a:rPr>
              <a:t>» la région, puis l'heure</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Choisir entre maintenir, reporter et annuler ?   </a:t>
            </a:r>
            <a:r>
              <a:rPr sz="1400" b="1" i="0">
                <a:solidFill>
                  <a:srgbClr val="07734A"/>
                </a:solidFill>
                <a:latin typeface="Verdana"/>
              </a:rPr>
              <a:t>» c'est le calendrier qui tranche</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Donner la raison avec le bon connecteur ?   </a:t>
            </a:r>
            <a:r>
              <a:rPr sz="1400" b="1" i="0">
                <a:solidFill>
                  <a:srgbClr val="07734A"/>
                </a:solidFill>
                <a:latin typeface="Verdana"/>
              </a:rPr>
              <a:t>» un seul, le plus fort</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Dire ce qu'il faut apporter, et comment ?   </a:t>
            </a:r>
            <a:r>
              <a:rPr sz="1400" b="1" i="0">
                <a:solidFill>
                  <a:srgbClr val="07734A"/>
                </a:solidFill>
                <a:latin typeface="Verdana"/>
              </a:rPr>
              <a:t>» impératif, puis gérondif</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Quand la météo décide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En une phrase : quelle décision météo avez-vous déjà eu à prendre, pour vous ou pour d'autres ?</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Une vraie situation : un rendez-vous, un déplacement, un travail.</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Gardez ce billet : c'est le seul du module qui ne se corrige pas.</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Quand la météo décide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