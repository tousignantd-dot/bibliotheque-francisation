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Séance de grammaire du texte. Ouvrir en écrivant la même décision de six façons au tableau et en demandant laquelle le groupe préfère recevoir. Les avis diffèrent, et c'est le sujet de la séance : le choix du connecteur est un choix de destinataire.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deux premiers objectifs suffisent à un élève pressé ; les deux autres sont ce qui distingue un message correct d'un avis affiché qui a l'air écrit par le Centre. Ne pas sacrifier les deux derniers : la production écrite de E2 en dépend.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 n'y a pas de bonne réponse et il faut le dire. Ce qui compte est que le groupe entende la différence d'ordre : la décision d'abord, ou la situation d'abord.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C'est la règle qui règle la moitié des fautes de ce point. La faire produire dans les deux sens, cinq fois chacun, avant de passer à la suite.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produire une phrase par carte, sur la situation de son choix. Six phrases par élève, c'est beaucoup et c'est le bon nombre : le connecteur s'installe par l'usage, pas par la définition.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note en bas est la faute la plus fréquente après celle de « comme » au milieu. Une seule relation, un seul mot : le dire, l'écrire, et corriger sans discuter pendant l'exercice.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Elle vient souvent d'une traduction directe de l'anglais « as » ou de l'espagnol « como ». Le nommer aide : la faute est logique, elle n'est pas de l'inattention.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Nuance fine mais réelle, et les élèves la sentent quand on la leur fait entendre. Faire dire la même phrase avec les deux connecteurs, sur un ton neutre : la différence s'entend.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 sont les six items de l'exercice t2cause du module. Faire remarquer les élisions — « parce qu' », « étant donné qu' » — qui sont une deuxième difficulté cachée dans le même exercice.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dernière question est l'essentiel de la séance : le connecteur se choisit, il ne se subit pas. Ramasser les billets et en lire trois au début de C4.</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SÉANCE C3  ·  MODULE 12</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Parce que, comme, puisque</a:t>
            </a:r>
          </a:p>
        </p:txBody>
      </p:sp>
      <p:sp>
        <p:nvSpPr>
          <p:cNvPr id="5" name="Rounded Rectangle 4"/>
          <p:cNvSpPr/>
          <p:nvPr/>
        </p:nvSpPr>
        <p:spPr>
          <a:xfrm>
            <a:off x="566928" y="3794760"/>
            <a:ext cx="9960559" cy="2131568"/>
          </a:xfrm>
          <a:prstGeom prst="roundRect">
            <a:avLst>
              <a:gd name="adj" fmla="val 686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5189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 Les gens acceptent presque tout quand ils comprennent pourquoi. » Six connecteurs pour dire la raison, et ils ne se placent pas au même endroit : choisir le bon, c'est décider ce que le lecteur entendra en premier.</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Quand la météo décide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Quand la météo décide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employer « parce que » après la décision, et jamais en tête de phrase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employer « comme » en tête de phrase, et jamais ailleurs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distinguer « puisque » d'« étant donné que » par le registre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employer « donc » et « c'est pourquoi » pour la conséquence.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Quand la météo décide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COMPARAISON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2800" b="1" i="0">
                <a:solidFill>
                  <a:srgbClr val="17181A"/>
                </a:solidFill>
                <a:latin typeface="Verdana"/>
              </a:rPr>
              <a:t>Deux phrases, la même décision. Laquelle préférez-vous recevoir ?</a:t>
            </a:r>
          </a:p>
        </p:txBody>
      </p:sp>
      <p:sp>
        <p:nvSpPr>
          <p:cNvPr id="7" name="Rounded Rectangle 6"/>
          <p:cNvSpPr/>
          <p:nvPr/>
        </p:nvSpPr>
        <p:spPr>
          <a:xfrm>
            <a:off x="566928" y="1856232"/>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965960"/>
            <a:ext cx="50292" cy="48412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50976" y="2039112"/>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La sortie est reportée parce qu'un avertissement est en vigueur. »</a:t>
            </a:r>
          </a:p>
        </p:txBody>
      </p:sp>
      <p:sp>
        <p:nvSpPr>
          <p:cNvPr id="10" name="Rounded Rectangle 9"/>
          <p:cNvSpPr/>
          <p:nvPr/>
        </p:nvSpPr>
        <p:spPr>
          <a:xfrm>
            <a:off x="566928" y="2642108"/>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66928" y="2751836"/>
            <a:ext cx="50292" cy="48412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50976" y="2824988"/>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Comme un avertissement est en vigueur, la sortie est reportée. »</a:t>
            </a:r>
          </a:p>
        </p:txBody>
      </p:sp>
      <p:sp>
        <p:nvSpPr>
          <p:cNvPr id="13" name="Rounded Rectangle 12"/>
          <p:cNvSpPr/>
          <p:nvPr/>
        </p:nvSpPr>
        <p:spPr>
          <a:xfrm>
            <a:off x="566928" y="3427984"/>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66928" y="3537712"/>
            <a:ext cx="50292" cy="48412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50976" y="3610864"/>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Qu'est-ce que vous entendez en premier, dans chacune ?</a:t>
            </a:r>
          </a:p>
        </p:txBody>
      </p:sp>
      <p:sp>
        <p:nvSpPr>
          <p:cNvPr id="16" name="Rounded Rectangle 15"/>
          <p:cNvSpPr/>
          <p:nvPr/>
        </p:nvSpPr>
        <p:spPr>
          <a:xfrm>
            <a:off x="566928" y="4213860"/>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66928" y="4323588"/>
            <a:ext cx="50292" cy="48412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50976" y="4396740"/>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Devant trente personnes déçues, laquelle passe le mieux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Quand la météo décide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PARCE QUE VIENT APRÈS ; COMME VIENT AVANT</a:t>
            </a:r>
          </a:p>
        </p:txBody>
      </p:sp>
      <p:sp>
        <p:nvSpPr>
          <p:cNvPr id="6" name="Rounded Rectangle 5"/>
          <p:cNvSpPr/>
          <p:nvPr/>
        </p:nvSpPr>
        <p:spPr>
          <a:xfrm>
            <a:off x="566928" y="1225296"/>
            <a:ext cx="11057839" cy="3021583"/>
          </a:xfrm>
          <a:prstGeom prst="roundRect">
            <a:avLst>
              <a:gd name="adj" fmla="val 4841"/>
            </a:avLst>
          </a:prstGeom>
          <a:solidFill>
            <a:srgbClr val="FBEEDC"/>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2198623"/>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 La sortie est reportée parce qu'un avis est en vigueur. » « Comme un avis est en vigueur, la sortie est reportée. »</a:t>
            </a:r>
          </a:p>
        </p:txBody>
      </p:sp>
      <p:sp>
        <p:nvSpPr>
          <p:cNvPr id="8" name="Rounded Rectangle 7"/>
          <p:cNvSpPr/>
          <p:nvPr/>
        </p:nvSpPr>
        <p:spPr>
          <a:xfrm>
            <a:off x="566928" y="4521199"/>
            <a:ext cx="11057839" cy="1303528"/>
          </a:xfrm>
          <a:prstGeom prst="roundRect">
            <a:avLst>
              <a:gd name="adj" fmla="val 1122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4795519"/>
            <a:ext cx="10234879" cy="8463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 Comme » de cause ne se place qu'en tête de phrase. Au milieu, il veut dire « de la même façon que » — autre chose.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Quand la météo décide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SIX CONNECTEURS</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Où chacun se place, et pour qui</a:t>
            </a:r>
          </a:p>
        </p:txBody>
      </p:sp>
      <p:sp>
        <p:nvSpPr>
          <p:cNvPr id="7" name="Rounded Rectangle 6"/>
          <p:cNvSpPr/>
          <p:nvPr/>
        </p:nvSpPr>
        <p:spPr>
          <a:xfrm>
            <a:off x="566928" y="1810512"/>
            <a:ext cx="5446623" cy="1313687"/>
          </a:xfrm>
          <a:prstGeom prst="roundRect">
            <a:avLst>
              <a:gd name="adj" fmla="val 1113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237236"/>
          </a:xfrm>
          <a:prstGeom prst="rect">
            <a:avLst/>
          </a:prstGeom>
          <a:noFill/>
        </p:spPr>
        <p:txBody>
          <a:bodyPr wrap="square" lIns="0" rIns="0" tIns="0" bIns="0" anchor="t">
            <a:spAutoFit/>
          </a:bodyPr>
          <a:lstStyle/>
          <a:p>
            <a:pPr algn="l">
              <a:lnSpc>
                <a:spcPct val="118000"/>
              </a:lnSpc>
            </a:pPr>
            <a:r>
              <a:rPr sz="1400" b="1" i="0">
                <a:solidFill>
                  <a:srgbClr val="B45309"/>
                </a:solidFill>
                <a:latin typeface="Verdana"/>
              </a:rPr>
              <a:t>Parce que</a:t>
            </a:r>
          </a:p>
        </p:txBody>
      </p:sp>
      <p:sp>
        <p:nvSpPr>
          <p:cNvPr id="9" name="TextBox 8"/>
          <p:cNvSpPr txBox="1"/>
          <p:nvPr/>
        </p:nvSpPr>
        <p:spPr>
          <a:xfrm>
            <a:off x="886968" y="2349500"/>
            <a:ext cx="4806543" cy="500379"/>
          </a:xfrm>
          <a:prstGeom prst="rect">
            <a:avLst/>
          </a:prstGeom>
          <a:noFill/>
        </p:spPr>
        <p:txBody>
          <a:bodyPr wrap="square" lIns="0" rIns="0" tIns="0" bIns="0" anchor="t">
            <a:spAutoFit/>
          </a:bodyPr>
          <a:lstStyle/>
          <a:p>
            <a:pPr algn="l">
              <a:lnSpc>
                <a:spcPct val="142000"/>
              </a:lnSpc>
            </a:pPr>
            <a:r>
              <a:rPr sz="1400" b="0" i="0">
                <a:solidFill>
                  <a:srgbClr val="3A3D40"/>
                </a:solidFill>
                <a:latin typeface="Verdana"/>
              </a:rPr>
              <a:t>Après la décision. Le plus neutre : dans le doute, prenez celui-là.</a:t>
            </a:r>
          </a:p>
        </p:txBody>
      </p:sp>
      <p:sp>
        <p:nvSpPr>
          <p:cNvPr id="10" name="Rounded Rectangle 9"/>
          <p:cNvSpPr/>
          <p:nvPr/>
        </p:nvSpPr>
        <p:spPr>
          <a:xfrm>
            <a:off x="6178143" y="1810512"/>
            <a:ext cx="5446623" cy="1313687"/>
          </a:xfrm>
          <a:prstGeom prst="roundRect">
            <a:avLst>
              <a:gd name="adj" fmla="val 1113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237236"/>
          </a:xfrm>
          <a:prstGeom prst="rect">
            <a:avLst/>
          </a:prstGeom>
          <a:noFill/>
        </p:spPr>
        <p:txBody>
          <a:bodyPr wrap="square" lIns="0" rIns="0" tIns="0" bIns="0" anchor="t">
            <a:spAutoFit/>
          </a:bodyPr>
          <a:lstStyle/>
          <a:p>
            <a:pPr algn="l">
              <a:lnSpc>
                <a:spcPct val="118000"/>
              </a:lnSpc>
            </a:pPr>
            <a:r>
              <a:rPr sz="1400" b="1" i="0">
                <a:solidFill>
                  <a:srgbClr val="B45309"/>
                </a:solidFill>
                <a:latin typeface="Verdana"/>
              </a:rPr>
              <a:t>Comme</a:t>
            </a:r>
          </a:p>
        </p:txBody>
      </p:sp>
      <p:sp>
        <p:nvSpPr>
          <p:cNvPr id="12" name="TextBox 11"/>
          <p:cNvSpPr txBox="1"/>
          <p:nvPr/>
        </p:nvSpPr>
        <p:spPr>
          <a:xfrm>
            <a:off x="6498183" y="2349500"/>
            <a:ext cx="4806543" cy="500379"/>
          </a:xfrm>
          <a:prstGeom prst="rect">
            <a:avLst/>
          </a:prstGeom>
          <a:noFill/>
        </p:spPr>
        <p:txBody>
          <a:bodyPr wrap="square" lIns="0" rIns="0" tIns="0" bIns="0" anchor="t">
            <a:spAutoFit/>
          </a:bodyPr>
          <a:lstStyle/>
          <a:p>
            <a:pPr algn="l">
              <a:lnSpc>
                <a:spcPct val="142000"/>
              </a:lnSpc>
            </a:pPr>
            <a:r>
              <a:rPr sz="1400" b="0" i="0">
                <a:solidFill>
                  <a:srgbClr val="3A3D40"/>
                </a:solidFill>
                <a:latin typeface="Verdana"/>
              </a:rPr>
              <a:t>En tête de phrase seulement. La situation d'abord, la décision ensuite.</a:t>
            </a:r>
          </a:p>
        </p:txBody>
      </p:sp>
      <p:sp>
        <p:nvSpPr>
          <p:cNvPr id="13" name="Rounded Rectangle 12"/>
          <p:cNvSpPr/>
          <p:nvPr/>
        </p:nvSpPr>
        <p:spPr>
          <a:xfrm>
            <a:off x="566928" y="3288792"/>
            <a:ext cx="5446623" cy="1313687"/>
          </a:xfrm>
          <a:prstGeom prst="roundRect">
            <a:avLst>
              <a:gd name="adj" fmla="val 1113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3563112"/>
            <a:ext cx="4806543" cy="237236"/>
          </a:xfrm>
          <a:prstGeom prst="rect">
            <a:avLst/>
          </a:prstGeom>
          <a:noFill/>
        </p:spPr>
        <p:txBody>
          <a:bodyPr wrap="square" lIns="0" rIns="0" tIns="0" bIns="0" anchor="t">
            <a:spAutoFit/>
          </a:bodyPr>
          <a:lstStyle/>
          <a:p>
            <a:pPr algn="l">
              <a:lnSpc>
                <a:spcPct val="118000"/>
              </a:lnSpc>
            </a:pPr>
            <a:r>
              <a:rPr sz="1400" b="1" i="0">
                <a:solidFill>
                  <a:srgbClr val="B45309"/>
                </a:solidFill>
                <a:latin typeface="Verdana"/>
              </a:rPr>
              <a:t>Puisque</a:t>
            </a:r>
          </a:p>
        </p:txBody>
      </p:sp>
      <p:sp>
        <p:nvSpPr>
          <p:cNvPr id="15" name="TextBox 14"/>
          <p:cNvSpPr txBox="1"/>
          <p:nvPr/>
        </p:nvSpPr>
        <p:spPr>
          <a:xfrm>
            <a:off x="886968" y="3827780"/>
            <a:ext cx="4806543" cy="500379"/>
          </a:xfrm>
          <a:prstGeom prst="rect">
            <a:avLst/>
          </a:prstGeom>
          <a:noFill/>
        </p:spPr>
        <p:txBody>
          <a:bodyPr wrap="square" lIns="0" rIns="0" tIns="0" bIns="0" anchor="t">
            <a:spAutoFit/>
          </a:bodyPr>
          <a:lstStyle/>
          <a:p>
            <a:pPr algn="l">
              <a:lnSpc>
                <a:spcPct val="142000"/>
              </a:lnSpc>
            </a:pPr>
            <a:r>
              <a:rPr sz="1400" b="0" i="0">
                <a:solidFill>
                  <a:srgbClr val="3A3D40"/>
                </a:solidFill>
                <a:latin typeface="Verdana"/>
              </a:rPr>
              <a:t>Une raison que l'autre connaît déjà. Sinon, il sonne prétentieux.</a:t>
            </a:r>
          </a:p>
        </p:txBody>
      </p:sp>
      <p:sp>
        <p:nvSpPr>
          <p:cNvPr id="16" name="Rounded Rectangle 15"/>
          <p:cNvSpPr/>
          <p:nvPr/>
        </p:nvSpPr>
        <p:spPr>
          <a:xfrm>
            <a:off x="6178143" y="3288792"/>
            <a:ext cx="5446623" cy="1313687"/>
          </a:xfrm>
          <a:prstGeom prst="roundRect">
            <a:avLst>
              <a:gd name="adj" fmla="val 1113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3563112"/>
            <a:ext cx="4806543" cy="237236"/>
          </a:xfrm>
          <a:prstGeom prst="rect">
            <a:avLst/>
          </a:prstGeom>
          <a:noFill/>
        </p:spPr>
        <p:txBody>
          <a:bodyPr wrap="square" lIns="0" rIns="0" tIns="0" bIns="0" anchor="t">
            <a:spAutoFit/>
          </a:bodyPr>
          <a:lstStyle/>
          <a:p>
            <a:pPr algn="l">
              <a:lnSpc>
                <a:spcPct val="118000"/>
              </a:lnSpc>
            </a:pPr>
            <a:r>
              <a:rPr sz="1400" b="1" i="0">
                <a:solidFill>
                  <a:srgbClr val="B45309"/>
                </a:solidFill>
                <a:latin typeface="Verdana"/>
              </a:rPr>
              <a:t>Étant donné que</a:t>
            </a:r>
          </a:p>
        </p:txBody>
      </p:sp>
      <p:sp>
        <p:nvSpPr>
          <p:cNvPr id="18" name="TextBox 17"/>
          <p:cNvSpPr txBox="1"/>
          <p:nvPr/>
        </p:nvSpPr>
        <p:spPr>
          <a:xfrm>
            <a:off x="6498183" y="3827780"/>
            <a:ext cx="4806543" cy="500379"/>
          </a:xfrm>
          <a:prstGeom prst="rect">
            <a:avLst/>
          </a:prstGeom>
          <a:noFill/>
        </p:spPr>
        <p:txBody>
          <a:bodyPr wrap="square" lIns="0" rIns="0" tIns="0" bIns="0" anchor="t">
            <a:spAutoFit/>
          </a:bodyPr>
          <a:lstStyle/>
          <a:p>
            <a:pPr algn="l">
              <a:lnSpc>
                <a:spcPct val="142000"/>
              </a:lnSpc>
            </a:pPr>
            <a:r>
              <a:rPr sz="1400" b="0" i="0">
                <a:solidFill>
                  <a:srgbClr val="3A3D40"/>
                </a:solidFill>
                <a:latin typeface="Verdana"/>
              </a:rPr>
              <a:t>Le registre de l'avis affiché et du courriel de service.</a:t>
            </a:r>
          </a:p>
        </p:txBody>
      </p:sp>
      <p:sp>
        <p:nvSpPr>
          <p:cNvPr id="19" name="Rounded Rectangle 18"/>
          <p:cNvSpPr/>
          <p:nvPr/>
        </p:nvSpPr>
        <p:spPr>
          <a:xfrm>
            <a:off x="566928" y="4767072"/>
            <a:ext cx="5446623" cy="1313687"/>
          </a:xfrm>
          <a:prstGeom prst="roundRect">
            <a:avLst>
              <a:gd name="adj" fmla="val 1113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86968" y="5041391"/>
            <a:ext cx="4806543" cy="237236"/>
          </a:xfrm>
          <a:prstGeom prst="rect">
            <a:avLst/>
          </a:prstGeom>
          <a:noFill/>
        </p:spPr>
        <p:txBody>
          <a:bodyPr wrap="square" lIns="0" rIns="0" tIns="0" bIns="0" anchor="t">
            <a:spAutoFit/>
          </a:bodyPr>
          <a:lstStyle/>
          <a:p>
            <a:pPr algn="l">
              <a:lnSpc>
                <a:spcPct val="118000"/>
              </a:lnSpc>
            </a:pPr>
            <a:r>
              <a:rPr sz="1400" b="1" i="0">
                <a:solidFill>
                  <a:srgbClr val="B45309"/>
                </a:solidFill>
                <a:latin typeface="Verdana"/>
              </a:rPr>
              <a:t>Donc</a:t>
            </a:r>
          </a:p>
        </p:txBody>
      </p:sp>
      <p:sp>
        <p:nvSpPr>
          <p:cNvPr id="21" name="TextBox 20"/>
          <p:cNvSpPr txBox="1"/>
          <p:nvPr/>
        </p:nvSpPr>
        <p:spPr>
          <a:xfrm>
            <a:off x="886968" y="5306060"/>
            <a:ext cx="4806543" cy="500379"/>
          </a:xfrm>
          <a:prstGeom prst="rect">
            <a:avLst/>
          </a:prstGeom>
          <a:noFill/>
        </p:spPr>
        <p:txBody>
          <a:bodyPr wrap="square" lIns="0" rIns="0" tIns="0" bIns="0" anchor="t">
            <a:spAutoFit/>
          </a:bodyPr>
          <a:lstStyle/>
          <a:p>
            <a:pPr algn="l">
              <a:lnSpc>
                <a:spcPct val="142000"/>
              </a:lnSpc>
            </a:pPr>
            <a:r>
              <a:rPr sz="1400" b="0" i="0">
                <a:solidFill>
                  <a:srgbClr val="3A3D40"/>
                </a:solidFill>
                <a:latin typeface="Verdana"/>
              </a:rPr>
              <a:t>La conséquence, à l'oral. « Il y a un avertissement, donc on reporte. »</a:t>
            </a:r>
          </a:p>
        </p:txBody>
      </p:sp>
      <p:sp>
        <p:nvSpPr>
          <p:cNvPr id="22" name="Rounded Rectangle 21"/>
          <p:cNvSpPr/>
          <p:nvPr/>
        </p:nvSpPr>
        <p:spPr>
          <a:xfrm>
            <a:off x="6178143" y="4767072"/>
            <a:ext cx="5446623" cy="1313687"/>
          </a:xfrm>
          <a:prstGeom prst="roundRect">
            <a:avLst>
              <a:gd name="adj" fmla="val 1113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498183" y="5041391"/>
            <a:ext cx="4806543" cy="237236"/>
          </a:xfrm>
          <a:prstGeom prst="rect">
            <a:avLst/>
          </a:prstGeom>
          <a:noFill/>
        </p:spPr>
        <p:txBody>
          <a:bodyPr wrap="square" lIns="0" rIns="0" tIns="0" bIns="0" anchor="t">
            <a:spAutoFit/>
          </a:bodyPr>
          <a:lstStyle/>
          <a:p>
            <a:pPr algn="l">
              <a:lnSpc>
                <a:spcPct val="118000"/>
              </a:lnSpc>
            </a:pPr>
            <a:r>
              <a:rPr sz="1400" b="1" i="0">
                <a:solidFill>
                  <a:srgbClr val="B45309"/>
                </a:solidFill>
                <a:latin typeface="Verdana"/>
              </a:rPr>
              <a:t>C'est pourquoi</a:t>
            </a:r>
          </a:p>
        </p:txBody>
      </p:sp>
      <p:sp>
        <p:nvSpPr>
          <p:cNvPr id="24" name="TextBox 23"/>
          <p:cNvSpPr txBox="1"/>
          <p:nvPr/>
        </p:nvSpPr>
        <p:spPr>
          <a:xfrm>
            <a:off x="6498183" y="5306060"/>
            <a:ext cx="4806543" cy="500379"/>
          </a:xfrm>
          <a:prstGeom prst="rect">
            <a:avLst/>
          </a:prstGeom>
          <a:noFill/>
        </p:spPr>
        <p:txBody>
          <a:bodyPr wrap="square" lIns="0" rIns="0" tIns="0" bIns="0" anchor="t">
            <a:spAutoFit/>
          </a:bodyPr>
          <a:lstStyle/>
          <a:p>
            <a:pPr algn="l">
              <a:lnSpc>
                <a:spcPct val="142000"/>
              </a:lnSpc>
            </a:pPr>
            <a:r>
              <a:rPr sz="1400" b="0" i="0">
                <a:solidFill>
                  <a:srgbClr val="3A3D40"/>
                </a:solidFill>
                <a:latin typeface="Verdana"/>
              </a:rPr>
              <a:t>La conséquence, à l'écrit. Il vient après la cause, jamais avant.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Quand la météo décide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DEUX DIRECTIONS</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Cause et conséquence</a:t>
            </a:r>
          </a:p>
        </p:txBody>
      </p:sp>
      <p:sp>
        <p:nvSpPr>
          <p:cNvPr id="7" name="Rounded Rectangle 6"/>
          <p:cNvSpPr/>
          <p:nvPr/>
        </p:nvSpPr>
        <p:spPr>
          <a:xfrm>
            <a:off x="566928" y="1810512"/>
            <a:ext cx="11057839" cy="2798064"/>
          </a:xfrm>
          <a:prstGeom prst="roundRect">
            <a:avLst>
              <a:gd name="adj" fmla="val 52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ILS DISENT LA CAUSE</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ILS DISENT LA CONSÉQUENCE</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parce que</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donc</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comme</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c'est pourquoi</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puisque</a:t>
            </a:r>
          </a:p>
        </p:txBody>
      </p:sp>
      <p:sp>
        <p:nvSpPr>
          <p:cNvPr id="17" name="TextBox 16"/>
          <p:cNvSpPr txBox="1"/>
          <p:nvPr/>
        </p:nvSpPr>
        <p:spPr>
          <a:xfrm>
            <a:off x="4443636" y="3474720"/>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par conséquent</a:t>
            </a:r>
          </a:p>
        </p:txBody>
      </p:sp>
      <p:sp>
        <p:nvSpPr>
          <p:cNvPr id="18" name="Rectangle 17"/>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014215"/>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étant donné que</a:t>
            </a:r>
          </a:p>
        </p:txBody>
      </p:sp>
      <p:sp>
        <p:nvSpPr>
          <p:cNvPr id="20" name="TextBox 19"/>
          <p:cNvSpPr txBox="1"/>
          <p:nvPr/>
        </p:nvSpPr>
        <p:spPr>
          <a:xfrm>
            <a:off x="4443636" y="4014215"/>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a:t>
            </a:r>
          </a:p>
        </p:txBody>
      </p:sp>
      <p:sp>
        <p:nvSpPr>
          <p:cNvPr id="21" name="Rounded Rectangle 20"/>
          <p:cNvSpPr/>
          <p:nvPr/>
        </p:nvSpPr>
        <p:spPr>
          <a:xfrm>
            <a:off x="566928" y="4846320"/>
            <a:ext cx="11057839" cy="843534"/>
          </a:xfrm>
          <a:prstGeom prst="roundRect">
            <a:avLst>
              <a:gd name="adj" fmla="val 17344"/>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69264" y="5102352"/>
            <a:ext cx="10234879" cy="38633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Un seul connecteur par relation : jamais « comme… , donc…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Quand la météo décide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METTRE « COMME » AU MILIEU DE LA PHRASE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La sortie est reportée comme il y a du verglas.</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La sortie est reportée parce qu'il y a du verglas.</a:t>
            </a:r>
          </a:p>
        </p:txBody>
      </p:sp>
      <p:sp>
        <p:nvSpPr>
          <p:cNvPr id="13" name="Rounded Rectangle 12"/>
          <p:cNvSpPr/>
          <p:nvPr/>
        </p:nvSpPr>
        <p:spPr>
          <a:xfrm>
            <a:off x="566928" y="4462272"/>
            <a:ext cx="11057839" cy="1285240"/>
          </a:xfrm>
          <a:prstGeom prst="roundRect">
            <a:avLst>
              <a:gd name="adj" fmla="val 1138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7823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 Comme » de cause ne se place qu'en tête. Au milieu, employez « parce que » — c'est une règle sans exception.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Quand la météo décide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EMPLOYER « PUISQUE » AVEC UNE INFORMATION NEUVE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000" b="1" i="0">
                <a:solidFill>
                  <a:srgbClr val="17181A"/>
                </a:solidFill>
                <a:latin typeface="Verdana"/>
              </a:rPr>
              <a:t>Puisqu'il tombera cinq millimètres de glace, la sortie est reportée. (À quelqu'un qui l'ignore.)</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Parce qu'il tombera cinq millimètres de glace, la sortie est reportée.</a:t>
            </a:r>
          </a:p>
        </p:txBody>
      </p:sp>
      <p:sp>
        <p:nvSpPr>
          <p:cNvPr id="13" name="Rounded Rectangle 12"/>
          <p:cNvSpPr/>
          <p:nvPr/>
        </p:nvSpPr>
        <p:spPr>
          <a:xfrm>
            <a:off x="566928" y="4462272"/>
            <a:ext cx="11057839" cy="1285240"/>
          </a:xfrm>
          <a:prstGeom prst="roundRect">
            <a:avLst>
              <a:gd name="adj" fmla="val 1138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7823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 Puisque » s'appuie sur ce que l'autre sait déjà. Devant une information neuve, il donne l'impression de reprocher à l'autre de ne pas être au courant.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Quand la météo décide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GRAMMAIRE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Complétez avec le bon connecteur</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parce que · comme · puisque · étant donné que · donc · c'est pourquoi</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sortie est reportée ___ un avertissement est en vigueur.</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___ les trottoirs seront glacés, nous préférons attendre.</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___ vous avez tous reçu l'alerte, vous savez de quoi je parle.</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___ un avertissement est en vigueur, l'activité du 8 est reportée.</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parc est fermé jusqu'au 20 ; ___ nous avons choisi le 22.</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Il y a de la glace partout, ___ on ne sort pas.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Quand la météo décide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Complétez avec le bon connecteur</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sortie est reportée ___ un avertissement est en vigueur.   </a:t>
            </a:r>
            <a:r>
              <a:rPr sz="1400" b="1" i="0">
                <a:solidFill>
                  <a:srgbClr val="07734A"/>
                </a:solidFill>
                <a:latin typeface="Verdana"/>
              </a:rPr>
              <a:t>» parce qu'</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___ les trottoirs seront glacés, nous préférons attendre.   </a:t>
            </a:r>
            <a:r>
              <a:rPr sz="1400" b="1" i="0">
                <a:solidFill>
                  <a:srgbClr val="07734A"/>
                </a:solidFill>
                <a:latin typeface="Verdana"/>
              </a:rPr>
              <a:t>» Comme</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___ vous avez tous reçu l'alerte, vous savez de quoi je parle.   </a:t>
            </a:r>
            <a:r>
              <a:rPr sz="1400" b="1" i="0">
                <a:solidFill>
                  <a:srgbClr val="07734A"/>
                </a:solidFill>
                <a:latin typeface="Verdana"/>
              </a:rPr>
              <a:t>» Puisque</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___ un avertissement est en vigueur, l'activité du 8 est reportée.   </a:t>
            </a:r>
            <a:r>
              <a:rPr sz="1400" b="1" i="0">
                <a:solidFill>
                  <a:srgbClr val="07734A"/>
                </a:solidFill>
                <a:latin typeface="Verdana"/>
              </a:rPr>
              <a:t>» Étant donné qu'</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parc est fermé jusqu'au 20 ; ___ nous avons choisi le 22.   </a:t>
            </a:r>
            <a:r>
              <a:rPr sz="1400" b="1" i="0">
                <a:solidFill>
                  <a:srgbClr val="07734A"/>
                </a:solidFill>
                <a:latin typeface="Verdana"/>
              </a:rPr>
              <a:t>» c'est pourquoi</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Il y a de la glace partout, ___ on ne sort pas.   </a:t>
            </a:r>
            <a:r>
              <a:rPr sz="1400" b="1" i="0">
                <a:solidFill>
                  <a:srgbClr val="07734A"/>
                </a:solidFill>
                <a:latin typeface="Verdana"/>
              </a:rPr>
              <a:t>» donc</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Quand la météo décide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Reprenez votre décision de C2 et réécrivez-la trois fois, avec trois connecteurs différents.</a:t>
            </a:r>
          </a:p>
        </p:txBody>
      </p:sp>
      <p:sp>
        <p:nvSpPr>
          <p:cNvPr id="8" name="Rounded Rectangle 7"/>
          <p:cNvSpPr/>
          <p:nvPr/>
        </p:nvSpPr>
        <p:spPr>
          <a:xfrm>
            <a:off x="566928" y="3931920"/>
            <a:ext cx="11057839" cy="1022096"/>
          </a:xfrm>
          <a:prstGeom prst="roundRect">
            <a:avLst>
              <a:gd name="adj" fmla="val 8946"/>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7477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Une version avec « parce que », une avec « comme », une avec « c'est pourquoi ».</a:t>
            </a:r>
          </a:p>
        </p:txBody>
      </p:sp>
      <p:sp>
        <p:nvSpPr>
          <p:cNvPr id="10" name="Rounded Rectangle 9"/>
          <p:cNvSpPr/>
          <p:nvPr/>
        </p:nvSpPr>
        <p:spPr>
          <a:xfrm>
            <a:off x="566928" y="5036311"/>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5191759"/>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Laquelle enverriez-vous vraiment ? Écrivez pourquoi en une ligne.</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Quand la météo décide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