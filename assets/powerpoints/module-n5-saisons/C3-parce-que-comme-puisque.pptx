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du texte. Ouvrir en écrivant la même décision de six façons au tableau et en demandant laquelle le groupe préfère recevoir. Les avis diffèrent, et c'est le sujet de la séance : le choix du connecteur est un choix de destinataire.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premiers objectifs suffisent à un élève pressé ; les deux autres sont ce qui distingue un message correct d'un avis affiché qui a l'air écrit par le Centre. Ne pas sacrifier les deux derniers : la production écrite de E2 en dépend.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n'y a pas de bonne réponse et il faut le dire. Ce qui compte est que le groupe entende la différence d'ordre : la décision d'abord, ou la situation d'abord.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qui règle la moitié des fautes de ce point. La faire produire dans les deux sens, cinq fois chacun, avant de passer à la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une phrase par carte, sur la situation de son choix. Six phrases par élève, c'est beaucoup et c'est le bon nombre : le connecteur s'installe par l'usage, pas par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note en bas est la faute la plus fréquente après celle de « comme » au milieu. Une seule relation, un seul mot : le dire, l'écrire, et corriger sans discuter pendant l'exercice.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vient souvent d'une traduction directe de l'anglais « as » ou de l'espagnol « como ». Le nommer aide : la faute est logique, elle n'est pas de l'inattention.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Nuance fine mais réelle, et les élèves la sentent quand on la leur fait entendre. Faire dire la même phrase avec les deux connecteurs, sur un ton neutre : la différence s'entend.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les six items de l'exercice t2cause du module. Faire remarquer les élisions — « parce qu' », « étant donné qu' » — qui sont une deuxième difficulté cachée dans le même exercice.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l'essentiel de la séance : le connecteur se choisit, il ne se subit pas. Ramasser les billets et en lire trois au début de C4.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Parce que, comme, puisque</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Les gens acceptent presque tout quand ils comprennent pourquoi. » Six connecteurs pour dire la raison, et ils ne se placent pas au même endroit : choisir le bon, c'est décider ce que le lecteur entendra en premier.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Quand la météo décide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parce que » après la décision, et jamais en tête de phrase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comme » en tête de phrase, et jamais ailleurs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 puisque » d'« étant donné que » par le registre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donc » et « c'est pourquoi » pour la conséquence.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COMPARAISON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Deux phrases, la même décision. Laquelle préférez-vous recevoir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La sortie est reportée parce qu'un avertissement est en vigueur.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Comme un avertissement est en vigueur, la sortie est reportée.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entendez en premier, dans chacune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Devant trente personnes déçues, laquelle passe le mieux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PARCE QUE VIENT APRÈS ; COMME VIENT AVANT</a:t>
            </a:r>
          </a:p>
        </p:txBody>
      </p:sp>
      <p:sp>
        <p:nvSpPr>
          <p:cNvPr id="6" name="Rounded Rectangle 5"/>
          <p:cNvSpPr/>
          <p:nvPr/>
        </p:nvSpPr>
        <p:spPr>
          <a:xfrm>
            <a:off x="566928" y="1225296"/>
            <a:ext cx="11057839" cy="3021583"/>
          </a:xfrm>
          <a:prstGeom prst="roundRect">
            <a:avLst>
              <a:gd name="adj" fmla="val 484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La sortie est reportée parce qu'un avis est en vigueur. » « Comme un avis est en vigueur, la sortie est reportée. »</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Comme » de cause ne se place qu'en tête de phrase. Au milieu, il veut dire « de la même façon que » — autre chose.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SIX CONNECTEURS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chacun se place, et pour qui</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Parce que</a:t>
            </a:r>
          </a:p>
        </p:txBody>
      </p:sp>
      <p:sp>
        <p:nvSpPr>
          <p:cNvPr id="9" name="TextBox 8"/>
          <p:cNvSpPr txBox="1"/>
          <p:nvPr/>
        </p:nvSpPr>
        <p:spPr>
          <a:xfrm>
            <a:off x="886968"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Après la décision. Le plus neutre : dans le doute, prenez celui-là.</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Comme</a:t>
            </a:r>
          </a:p>
        </p:txBody>
      </p:sp>
      <p:sp>
        <p:nvSpPr>
          <p:cNvPr id="12" name="TextBox 11"/>
          <p:cNvSpPr txBox="1"/>
          <p:nvPr/>
        </p:nvSpPr>
        <p:spPr>
          <a:xfrm>
            <a:off x="6498183"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En tête de phrase seulement. La situation d'abord, la décision ensuite.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Puisque</a:t>
            </a:r>
          </a:p>
        </p:txBody>
      </p:sp>
      <p:sp>
        <p:nvSpPr>
          <p:cNvPr id="15" name="TextBox 14"/>
          <p:cNvSpPr txBox="1"/>
          <p:nvPr/>
        </p:nvSpPr>
        <p:spPr>
          <a:xfrm>
            <a:off x="886968"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Une raison que l'autre connaît déjà. Sinon, il sonne prétentieux.</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Étant donné que</a:t>
            </a:r>
          </a:p>
        </p:txBody>
      </p:sp>
      <p:sp>
        <p:nvSpPr>
          <p:cNvPr id="18" name="TextBox 17"/>
          <p:cNvSpPr txBox="1"/>
          <p:nvPr/>
        </p:nvSpPr>
        <p:spPr>
          <a:xfrm>
            <a:off x="6498183"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registre de l'avis affiché et du courriel de service.</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Donc</a:t>
            </a:r>
          </a:p>
        </p:txBody>
      </p:sp>
      <p:sp>
        <p:nvSpPr>
          <p:cNvPr id="21" name="TextBox 20"/>
          <p:cNvSpPr txBox="1"/>
          <p:nvPr/>
        </p:nvSpPr>
        <p:spPr>
          <a:xfrm>
            <a:off x="886968"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conséquence, à l'oral. « Il y a un avertissement, donc on reporte. »</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C'est pourquoi</a:t>
            </a:r>
          </a:p>
        </p:txBody>
      </p:sp>
      <p:sp>
        <p:nvSpPr>
          <p:cNvPr id="24" name="TextBox 23"/>
          <p:cNvSpPr txBox="1"/>
          <p:nvPr/>
        </p:nvSpPr>
        <p:spPr>
          <a:xfrm>
            <a:off x="6498183"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conséquence, à l'écrit. Il vient après la cause, jamais avant.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DEUX DIRECTIONS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Cause et conséquence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ILS DISENT LA CAUSE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ILS DISENT LA CONSÉQUENCE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parce 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donc</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comme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pourquoi</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puisque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 conséquent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étant donné que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 seul connecteur par relation : jamais « comme… , donc…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METTRE « COMME » AU MILIEU DE LA PHRASE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sortie est reportée comme il y a du verglas.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sortie est reportée parce qu'il y a du verglas.</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Comme » de cause ne se place qu'en tête. Au milieu, employez « parce que » — c'est une règle sans exception.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EMPLOYER « PUISQUE » AVEC UNE INFORMATION NEUVE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000" b="1" i="0">
                <a:solidFill>
                  <a:srgbClr val="17181A"/>
                </a:solidFill>
                <a:latin typeface="Verdana"/>
              </a:rPr>
              <a:t>Puisqu'il tombera cinq millimètres de glace, la sortie est reportée. (À quelqu'un qui l'ignore.)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Parce qu'il tombera cinq millimètres de glace, la sortie est reportée.</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Puisque » s'appuie sur ce que l'autre sait déjà. Devant une information neuve, il donne l'impression de reprocher à l'autre de ne pas être au courant.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bon connecteur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parce que · comme · puisque · étant donné que · donc · c'est pourquoi</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sortie est reportée ___ un avertissement est en vigueur.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les trottoirs seront glacés, nous préférons attendre.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vous avez tous reçu l'alerte, vous savez de quoi je parle.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un avertissement est en vigueur, l'activité du 8 est reportée.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parc est fermé jusqu'au 20 ; ___ nous avons choisi le 22.</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 la glace partout, ___ on ne sort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le bon connecteur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sortie est reportée ___ un avertissement est en vigueur.   </a:t>
            </a:r>
            <a:r>
              <a:rPr sz="1400" b="1" i="0">
                <a:solidFill>
                  <a:srgbClr val="07734A"/>
                </a:solidFill>
                <a:latin typeface="Verdana"/>
              </a:rPr>
              <a:t>» parce qu'</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les trottoirs seront glacés, nous préférons attendre.   </a:t>
            </a:r>
            <a:r>
              <a:rPr sz="1400" b="1" i="0">
                <a:solidFill>
                  <a:srgbClr val="07734A"/>
                </a:solidFill>
                <a:latin typeface="Verdana"/>
              </a:rPr>
              <a:t>» Comme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vous avez tous reçu l'alerte, vous savez de quoi je parle.   </a:t>
            </a:r>
            <a:r>
              <a:rPr sz="1400" b="1" i="0">
                <a:solidFill>
                  <a:srgbClr val="07734A"/>
                </a:solidFill>
                <a:latin typeface="Verdana"/>
              </a:rPr>
              <a:t>» Puisque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un avertissement est en vigueur, l'activité du 8 est reportée.   </a:t>
            </a:r>
            <a:r>
              <a:rPr sz="1400" b="1" i="0">
                <a:solidFill>
                  <a:srgbClr val="07734A"/>
                </a:solidFill>
                <a:latin typeface="Verdana"/>
              </a:rPr>
              <a:t>» Étant donné qu'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parc est fermé jusqu'au 20 ; ___ nous avons choisi le 22.   </a:t>
            </a:r>
            <a:r>
              <a:rPr sz="1400" b="1" i="0">
                <a:solidFill>
                  <a:srgbClr val="07734A"/>
                </a:solidFill>
                <a:latin typeface="Verdana"/>
              </a:rPr>
              <a:t>» c'est pourquoi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de la glace partout, ___ on ne sort pas.   </a:t>
            </a:r>
            <a:r>
              <a:rPr sz="1400" b="1" i="0">
                <a:solidFill>
                  <a:srgbClr val="07734A"/>
                </a:solidFill>
                <a:latin typeface="Verdana"/>
              </a:rPr>
              <a:t>» donc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Reprenez votre décision de C2 et réécrivez-la trois fois, avec trois connecteurs différents.</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version avec « parce que », une avec « comme », une avec « c'est pourquoi ».</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Laquelle enverriez-vous vraiment ? Écrivez pourquoi en une ligne.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Quand la météo décide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