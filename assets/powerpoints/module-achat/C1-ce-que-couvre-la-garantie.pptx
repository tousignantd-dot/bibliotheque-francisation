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Ouverture du bloc C. Question d'entrée : « qui a déjà fait réparer un appareil sous garantie ? ». Les récits sortent tout seuls, et ils sont instructifs.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Lire les objectifs à voix haute. Y revenir au billet de sortie.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Les quatre répliques sont teintées : chacune contient une information essentielle. La dernière est la définition à retenir.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« Je vais y penser » est une réponse parfaitement acceptable devant une offre supplémentaire. Le dire : personne n'est obligé de décider sur place.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Diapo centrale. Faire trouver le verdict par le groupe avant d'afficher la colonne de droite.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Diapo à photographier. Le déplacement est le poste le plus souvent oublié, et le plus contesté au comptoir de service.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Point utile et rarement dit. Les élèves subissent souvent une pression de vente sur ce produit.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C'est la source de presque tous les malentendus au service à la clientèle. Le formuler clairement une fois suffit.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Faire justifier chaque réponse : défaut, accident, mauvaise utilisation, ou hors période 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Corriger en groupe. Donner la bonne réponse, sans revenir sur qui s'est trompé.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Ces trois réflexes prennent cinq minutes le jour de l'achat et évitent des heures de discussion plus tard.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La troisième situation est la plus intéressante à corriger : elle révèle ce que le groupe n'a pas encore assimilé.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DF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123444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SÉANCE C1  ·  MODULE 15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691640"/>
            <a:ext cx="9960559" cy="187451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4000" b="1" i="0">
                <a:solidFill>
                  <a:srgbClr val="17181A"/>
                </a:solidFill>
                <a:latin typeface="Verdana"/>
              </a:rPr>
              <a:t>Ce que couvre la garantie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6928" y="3794760"/>
            <a:ext cx="9960559" cy="1763268"/>
          </a:xfrm>
          <a:prstGeom prst="roundRect">
            <a:avLst>
              <a:gd name="adj" fmla="val 8297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896112" y="4123944"/>
            <a:ext cx="9302191" cy="11506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Une garantie n'est pas une assurance tous risques. Elle couvre ce qui vient de l'usine — jamais ce qu'on fait à l'appareil. Toute la différence est là.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03504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0" i="0">
                <a:solidFill>
                  <a:srgbClr val="6E7175"/>
                </a:solidFill>
                <a:latin typeface="Verdana"/>
              </a:rPr>
              <a:t>75 minutes  ·  Acheter un appareil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C1 · Acheter un appareil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OBJECTIFS DE LA SÉANCE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À la fin, je serai capable de…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764792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ounded Rectangle 7"/>
          <p:cNvSpPr/>
          <p:nvPr/>
        </p:nvSpPr>
        <p:spPr>
          <a:xfrm>
            <a:off x="804672" y="1942592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804672" y="2024887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08176" y="1965960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distinguer un défaut de fabrication d'un accident ;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66928" y="2650744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Rounded Rectangle 11"/>
          <p:cNvSpPr/>
          <p:nvPr/>
        </p:nvSpPr>
        <p:spPr>
          <a:xfrm>
            <a:off x="804672" y="2828544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804672" y="2910840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408176" y="2851912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comprendre « pièces et main-d'œuvre » ;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66928" y="3536696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ounded Rectangle 15"/>
          <p:cNvSpPr/>
          <p:nvPr/>
        </p:nvSpPr>
        <p:spPr>
          <a:xfrm>
            <a:off x="804672" y="3714496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804672" y="3796792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408176" y="3737864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savoir si le déplacement du technicien est couvert ;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66928" y="4422648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Rounded Rectangle 19"/>
          <p:cNvSpPr/>
          <p:nvPr/>
        </p:nvSpPr>
        <p:spPr>
          <a:xfrm>
            <a:off x="804672" y="4600448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804672" y="4682744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408176" y="4623816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décider si une garantie prolongée vaut la peine.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C1 · Acheter un appareil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DIALOGUE · 1 DE 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Ce qui est couvert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73736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Écoutez d'abord, diapo masquée.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57984"/>
            <a:ext cx="11057839" cy="667003"/>
          </a:xfrm>
          <a:prstGeom prst="roundRect">
            <a:avLst>
              <a:gd name="adj" fmla="val 21934"/>
            </a:avLst>
          </a:prstGeom>
          <a:solidFill>
            <a:srgbClr val="E7F0F6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32688" y="2322576"/>
            <a:ext cx="1343025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 i="0">
                <a:solidFill>
                  <a:srgbClr val="1D6B8F"/>
                </a:solidFill>
                <a:latin typeface="Verdana"/>
              </a:rPr>
              <a:t>YIN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275713" y="2322576"/>
            <a:ext cx="8800414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Qu'est-ce que la garantie couvre, au juste ?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66928" y="2907283"/>
            <a:ext cx="11057839" cy="1004823"/>
          </a:xfrm>
          <a:prstGeom prst="roundRect">
            <a:avLst>
              <a:gd name="adj" fmla="val 14560"/>
            </a:avLst>
          </a:prstGeom>
          <a:solidFill>
            <a:srgbClr val="E7F0F6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932688" y="3071876"/>
            <a:ext cx="1343025" cy="73050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 i="0">
                <a:solidFill>
                  <a:srgbClr val="1D6B8F"/>
                </a:solidFill>
                <a:latin typeface="Verdana"/>
              </a:rPr>
              <a:t>MARTIN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275713" y="3071876"/>
            <a:ext cx="8800414" cy="73050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Un an, pièces et main-d'œuvre. Si l'appareil brise, on répare sans frais.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66928" y="3994404"/>
            <a:ext cx="11057839" cy="667003"/>
          </a:xfrm>
          <a:prstGeom prst="roundRect">
            <a:avLst>
              <a:gd name="adj" fmla="val 21934"/>
            </a:avLst>
          </a:prstGeom>
          <a:solidFill>
            <a:srgbClr val="E7F0F6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932688" y="4158995"/>
            <a:ext cx="1343025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 i="0">
                <a:solidFill>
                  <a:srgbClr val="1D6B8F"/>
                </a:solidFill>
                <a:latin typeface="Verdana"/>
              </a:rPr>
              <a:t>YIN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275713" y="4158995"/>
            <a:ext cx="8800414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Et si c'est moi qui l'abîme ?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66928" y="4743704"/>
            <a:ext cx="11057839" cy="1004823"/>
          </a:xfrm>
          <a:prstGeom prst="roundRect">
            <a:avLst>
              <a:gd name="adj" fmla="val 14560"/>
            </a:avLst>
          </a:prstGeom>
          <a:solidFill>
            <a:srgbClr val="E7F0F6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932688" y="4908296"/>
            <a:ext cx="1343025" cy="73050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 i="0">
                <a:solidFill>
                  <a:srgbClr val="1D6B8F"/>
                </a:solidFill>
                <a:latin typeface="Verdana"/>
              </a:rPr>
              <a:t>MARTIN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275713" y="4908296"/>
            <a:ext cx="8800414" cy="73050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Ça, ce n'est pas couvert. La garantie couvre les défauts de fabrication, pas les accidents.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C1 · Acheter un appareil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DIALOGUE · 2 DE 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La garantie prolongée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32688" y="1901952"/>
            <a:ext cx="1343025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 i="0">
                <a:solidFill>
                  <a:srgbClr val="1D6B8F"/>
                </a:solidFill>
                <a:latin typeface="Verdana"/>
              </a:rPr>
              <a:t>YIN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275713" y="1901952"/>
            <a:ext cx="8800414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Vous parliez d'une garantie prolongée.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66928" y="2486659"/>
            <a:ext cx="11057839" cy="1004823"/>
          </a:xfrm>
          <a:prstGeom prst="roundRect">
            <a:avLst>
              <a:gd name="adj" fmla="val 14560"/>
            </a:avLst>
          </a:prstGeom>
          <a:solidFill>
            <a:srgbClr val="E7F0F6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932688" y="2651252"/>
            <a:ext cx="1343025" cy="73050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 i="0">
                <a:solidFill>
                  <a:srgbClr val="1D6B8F"/>
                </a:solidFill>
                <a:latin typeface="Verdana"/>
              </a:rPr>
              <a:t>MARTIN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275713" y="2651252"/>
            <a:ext cx="8800414" cy="73050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Cent vingt dollars pour trois ans de plus. Elle couvre aussi le déplacement du technicien.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3573780"/>
            <a:ext cx="11057839" cy="667003"/>
          </a:xfrm>
          <a:prstGeom prst="roundRect">
            <a:avLst>
              <a:gd name="adj" fmla="val 21934"/>
            </a:avLst>
          </a:prstGeom>
          <a:solidFill>
            <a:srgbClr val="E7F0F6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932688" y="3738371"/>
            <a:ext cx="1343025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 i="0">
                <a:solidFill>
                  <a:srgbClr val="1D6B8F"/>
                </a:solidFill>
                <a:latin typeface="Verdana"/>
              </a:rPr>
              <a:t>YIN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275713" y="3738371"/>
            <a:ext cx="8800414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Je vais y penser. Pour le paiement, vous prenez quoi ?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32688" y="4487672"/>
            <a:ext cx="1343025" cy="73050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 i="0">
                <a:solidFill>
                  <a:srgbClr val="1D6B8F"/>
                </a:solidFill>
                <a:latin typeface="Verdana"/>
              </a:rPr>
              <a:t>MARTIN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275713" y="4487672"/>
            <a:ext cx="8800414" cy="73050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Comptant, débit, crédit. Ou en douze versements sans intérêt, si vous préférez.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C1 · Acheter un appareil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ANALYSE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Couvert, ou pas couvert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11057839" cy="3200400"/>
          </a:xfrm>
          <a:prstGeom prst="roundRect">
            <a:avLst>
              <a:gd name="adj" fmla="val 4571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1975104"/>
            <a:ext cx="3291492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LA SITUATION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443636" y="1975104"/>
            <a:ext cx="6595914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LE VERDICT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2688" y="2395728"/>
            <a:ext cx="3291492" cy="573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600" b="1" i="0">
                <a:solidFill>
                  <a:srgbClr val="1D6B8F"/>
                </a:solidFill>
                <a:latin typeface="Verdana"/>
              </a:rPr>
              <a:t>Le moteur brise après huit mois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43636" y="2395728"/>
            <a:ext cx="6595914" cy="573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600" b="0" i="0">
                <a:solidFill>
                  <a:srgbClr val="3A3D40"/>
                </a:solidFill>
                <a:latin typeface="Verdana"/>
              </a:rPr>
              <a:t>couvert — défaut de fabrication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32688" y="3041904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932688" y="3169920"/>
            <a:ext cx="3291492" cy="573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600" b="1" i="0">
                <a:solidFill>
                  <a:srgbClr val="1D6B8F"/>
                </a:solidFill>
                <a:latin typeface="Verdana"/>
              </a:rPr>
              <a:t>L'appareil tombe au déménagement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43636" y="3169920"/>
            <a:ext cx="6595914" cy="573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600" b="0" i="0">
                <a:solidFill>
                  <a:srgbClr val="3A3D40"/>
                </a:solidFill>
                <a:latin typeface="Verdana"/>
              </a:rPr>
              <a:t>pas couvert — accident</a:t>
            </a:r>
          </a:p>
        </p:txBody>
      </p:sp>
      <p:sp>
        <p:nvSpPr>
          <p:cNvPr id="15" name="Rectangle 14"/>
          <p:cNvSpPr/>
          <p:nvPr/>
        </p:nvSpPr>
        <p:spPr>
          <a:xfrm>
            <a:off x="932688" y="3816096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932688" y="3944112"/>
            <a:ext cx="3291492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600" b="1" i="0">
                <a:solidFill>
                  <a:srgbClr val="1D6B8F"/>
                </a:solidFill>
                <a:latin typeface="Verdana"/>
              </a:rPr>
              <a:t>Trois fois trop de savon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43636" y="3944112"/>
            <a:ext cx="6595914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600" b="0" i="0">
                <a:solidFill>
                  <a:srgbClr val="3A3D40"/>
                </a:solidFill>
                <a:latin typeface="Verdana"/>
              </a:rPr>
              <a:t>pas couvert — mauvaise utilisation</a:t>
            </a:r>
          </a:p>
        </p:txBody>
      </p:sp>
      <p:sp>
        <p:nvSpPr>
          <p:cNvPr id="18" name="Rectangle 17"/>
          <p:cNvSpPr/>
          <p:nvPr/>
        </p:nvSpPr>
        <p:spPr>
          <a:xfrm>
            <a:off x="932688" y="4322064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932688" y="4450080"/>
            <a:ext cx="3291492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600" b="1" i="0">
                <a:solidFill>
                  <a:srgbClr val="1D6B8F"/>
                </a:solidFill>
                <a:latin typeface="Verdana"/>
              </a:rPr>
              <a:t>Panne après quatorze mois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443636" y="4450080"/>
            <a:ext cx="6595914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600" b="0" i="0">
                <a:solidFill>
                  <a:srgbClr val="3A3D40"/>
                </a:solidFill>
                <a:latin typeface="Verdana"/>
              </a:rPr>
              <a:t>pas couvert — hors période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66928" y="5248656"/>
            <a:ext cx="11057839" cy="769874"/>
          </a:xfrm>
          <a:prstGeom prst="roundRect">
            <a:avLst>
              <a:gd name="adj" fmla="val 19003"/>
            </a:avLst>
          </a:prstGeom>
          <a:solidFill>
            <a:srgbClr val="FBFBFA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969264" y="5504688"/>
            <a:ext cx="10234879" cy="31267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400" b="0" i="0">
                <a:solidFill>
                  <a:srgbClr val="4B4F52"/>
                </a:solidFill>
                <a:latin typeface="Verdana"/>
              </a:rPr>
              <a:t>Trois sur quatre ne sont pas couvertes. C'est le rapport habituel.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C1 · Acheter un appareil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PIÈCES ET MAIN-D'ŒUVRE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1225296"/>
            <a:ext cx="11057839" cy="1967991"/>
          </a:xfrm>
          <a:prstGeom prst="roundRect">
            <a:avLst>
              <a:gd name="adj" fmla="val 7434"/>
            </a:avLst>
          </a:prstGeom>
          <a:solidFill>
            <a:srgbClr val="E7F0F6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1298448" y="1682496"/>
            <a:ext cx="9594799" cy="1145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Ni la pièce ni le travail du technicien ne vous sont facturés.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3467607"/>
            <a:ext cx="11057839" cy="2040128"/>
          </a:xfrm>
          <a:prstGeom prst="roundRect">
            <a:avLst>
              <a:gd name="adj" fmla="val 7171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69264" y="3741927"/>
            <a:ext cx="10234879" cy="1582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C'est la formule standard. Elle ne comprend pas toujours le &lt;b&gt;déplacement&lt;/b&gt; — souvent quatre-vingt-dix dollars. Certaines garanties prolongées le couvrent ; la garantie de base rarement. À demander avant d'acheter.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C1 · Acheter un appareil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LA GARANTIE PROLONGÉE : QUAND ÇA VAUT LA PEINE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1225296"/>
            <a:ext cx="11057839" cy="1967991"/>
          </a:xfrm>
          <a:prstGeom prst="roundRect">
            <a:avLst>
              <a:gd name="adj" fmla="val 7434"/>
            </a:avLst>
          </a:prstGeom>
          <a:solidFill>
            <a:srgbClr val="E7F0F6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1298448" y="1682496"/>
            <a:ext cx="9594799" cy="1145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Pour les appareils chers à réparer, pas pour les petits.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3467607"/>
            <a:ext cx="11057839" cy="2040128"/>
          </a:xfrm>
          <a:prstGeom prst="roundRect">
            <a:avLst>
              <a:gd name="adj" fmla="val 7171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69264" y="3741927"/>
            <a:ext cx="10234879" cy="1582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Un réfrigérateur ou une laveuse coûtent cher à réparer : la prolongée peut se justifier. Un petit appareil se remplace au lieu de se réparer : elle ne vaut presque jamais la peine. Repère : au-delà du tiers du prix de l'appareil, c'est rarement avantageux.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C1 · Acheter un appareil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CROIRE QUE LA GARANTIE COUVRE TOUT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Le piège le plus fréquent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56232"/>
            <a:ext cx="5428335" cy="2331720"/>
          </a:xfrm>
          <a:prstGeom prst="roundRect">
            <a:avLst>
              <a:gd name="adj" fmla="val 6274"/>
            </a:avLst>
          </a:prstGeom>
          <a:solidFill>
            <a:srgbClr val="FFF6F5"/>
          </a:solidFill>
          <a:ln w="12700">
            <a:solidFill>
              <a:srgbClr val="DC26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2130552"/>
            <a:ext cx="46968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91C1C"/>
                </a:solidFill>
                <a:latin typeface="Verdana"/>
              </a:rPr>
              <a:t>ON ENTEND SOUVENT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32688" y="2569464"/>
            <a:ext cx="4696815" cy="1417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500" b="1" i="0">
                <a:solidFill>
                  <a:srgbClr val="17181A"/>
                </a:solidFill>
                <a:latin typeface="Verdana"/>
              </a:rPr>
              <a:t>L'appareil est tombé, mais il est sous garantie.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96431" y="1856232"/>
            <a:ext cx="5428335" cy="2331720"/>
          </a:xfrm>
          <a:prstGeom prst="roundRect">
            <a:avLst>
              <a:gd name="adj" fmla="val 6274"/>
            </a:avLst>
          </a:prstGeom>
          <a:solidFill>
            <a:srgbClr val="E6F5EE"/>
          </a:solidFill>
          <a:ln w="12700">
            <a:solidFill>
              <a:srgbClr val="0A8F5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6562191" y="2130552"/>
            <a:ext cx="46968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7734A"/>
                </a:solidFill>
                <a:latin typeface="Verdana"/>
              </a:rPr>
              <a:t>IL FAUT DIRE PLUTÔT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62191" y="2569464"/>
            <a:ext cx="4696815" cy="1417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500" b="1" i="0">
                <a:solidFill>
                  <a:srgbClr val="17181A"/>
                </a:solidFill>
                <a:latin typeface="Verdana"/>
              </a:rPr>
              <a:t>La garantie couvre les défauts de fabrication, pas les accidents.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4462272"/>
            <a:ext cx="11057839" cy="1618487"/>
          </a:xfrm>
          <a:prstGeom prst="roundRect">
            <a:avLst>
              <a:gd name="adj" fmla="val 9039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969264" y="4736592"/>
            <a:ext cx="10234879" cy="11506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Une garantie n'est pas une assurance. Elle promet que l'appareil est conforme à sa sortie d'usine et qu'il le restera un certain temps. Ce qui lui arrive chez vous ne la concerne pas.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C1 · Acheter un appareil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PRATIQUE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Couvert ou pas 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Dites si la garantie de base s'applique.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3672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0073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Le moteur brise après huit mois.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827528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2924556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2988564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2982975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L'appareil tombe pendant le déménagement.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515359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61238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676395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670807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Une pièce casse toute seule la première semaine.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203192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30022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36422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358640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L'appareil ne fonctionne plus après quatorze mois.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4891023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4988051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052059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5046471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On a mis trois fois trop de savon.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66928" y="557885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Rounded Rectangle 28"/>
          <p:cNvSpPr/>
          <p:nvPr/>
        </p:nvSpPr>
        <p:spPr>
          <a:xfrm>
            <a:off x="841247" y="567588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841247" y="573989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344168" y="573430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Le déplacement du technicien, sans garantie prolongée.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C1 · Acheter un appareil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CORRECTION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Couvert ou pas 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Correction — on lit la réponse, on ne commente pas l'erreur.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3672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0073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Le moteur brise après huit mois.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couvert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827528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2924556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2988564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2982975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L'appareil tombe pendant le déménagement.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pas couvert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515359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61238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676395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670807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Une pièce casse toute seule la première semaine.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couvert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203192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30022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36422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358640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L'appareil ne fonctionne plus après quatorze mois.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pas couvert — hors période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4891023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4988051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052059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5046471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On a mis trois fois trop de savon.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pas couvert — mauvaise utilisation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66928" y="557885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Rounded Rectangle 28"/>
          <p:cNvSpPr/>
          <p:nvPr/>
        </p:nvSpPr>
        <p:spPr>
          <a:xfrm>
            <a:off x="841247" y="567588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841247" y="573989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344168" y="573430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Le déplacement du technicien, sans garantie prolongée.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pas couvert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C1 · Acheter un appareil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GARDER SES PREUVES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Trois réflexes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886968" y="2084831"/>
            <a:ext cx="4806543" cy="3870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400" b="1" i="0">
                <a:solidFill>
                  <a:srgbClr val="1D6B8F"/>
                </a:solidFill>
                <a:latin typeface="Verdana"/>
              </a:rPr>
              <a:t>Photographier la facture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6968" y="2499360"/>
            <a:ext cx="4806543" cy="10896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Le jour de l'achat. La date déclenche la période de garantie, et le papier s'efface avec le temps.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78143" y="181051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6498183" y="2084831"/>
            <a:ext cx="4806543" cy="3870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400" b="1" i="0">
                <a:solidFill>
                  <a:srgbClr val="1D6B8F"/>
                </a:solidFill>
                <a:latin typeface="Verdana"/>
              </a:rPr>
              <a:t>Garder le bon de livraison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98183" y="2499360"/>
            <a:ext cx="4806543" cy="10896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Il prouve ce qui a été promis : installation, reprise, date.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402793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86968" y="4302252"/>
            <a:ext cx="4806543" cy="3870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400" b="1" i="0">
                <a:solidFill>
                  <a:srgbClr val="1D6B8F"/>
                </a:solidFill>
                <a:latin typeface="Verdana"/>
              </a:rPr>
              <a:t>Noter le numéro de modèle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86968" y="4716780"/>
            <a:ext cx="4806543" cy="10896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Il est sur une plaque, souvent à l'arrière ou dans la porte. Le service le demandera au premier appel.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C1 · Acheter un appareil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12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718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566928" y="105156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FFFFFF"/>
                </a:solidFill>
                <a:latin typeface="Verdana"/>
              </a:rPr>
              <a:t>BILLET DE SORTIE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572768"/>
            <a:ext cx="9777679" cy="2103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3400" b="1" i="0">
                <a:solidFill>
                  <a:srgbClr val="FFFFFF"/>
                </a:solidFill>
                <a:latin typeface="Verdana"/>
              </a:rPr>
              <a:t>Décrivez trois situations et dites si elles seraient couvertes.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3931920"/>
            <a:ext cx="11057839" cy="666496"/>
          </a:xfrm>
          <a:prstGeom prst="roundRect">
            <a:avLst>
              <a:gd name="adj" fmla="val 13719"/>
            </a:avLst>
          </a:prstGeom>
          <a:solidFill>
            <a:srgbClr val="2A2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32688" y="4087368"/>
            <a:ext cx="1005199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FFFFFF"/>
                </a:solidFill>
                <a:latin typeface="Verdana"/>
              </a:rPr>
              <a:t>Une couverte, une non couverte, une dont vous n'êtes pas sûr.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4680712"/>
            <a:ext cx="11057839" cy="666496"/>
          </a:xfrm>
          <a:prstGeom prst="roundRect">
            <a:avLst>
              <a:gd name="adj" fmla="val 13719"/>
            </a:avLst>
          </a:prstGeom>
          <a:solidFill>
            <a:srgbClr val="2A2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932688" y="4836160"/>
            <a:ext cx="1005199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FFFFFF"/>
                </a:solidFill>
                <a:latin typeface="Verdana"/>
              </a:rPr>
              <a:t>Pour la troisième, écrivez la question que vous poseriez au magasin.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C1 · Acheter un appareil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