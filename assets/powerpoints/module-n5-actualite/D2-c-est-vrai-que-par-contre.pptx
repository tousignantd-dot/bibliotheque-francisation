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Dernière séance du défi 3 et dernière séance de contenu du module. Elle réunit trois choses : la mise en relief, les phrases impersonnelles, et la réponse à un désaccord. Garder la dernière moitié pour l'exercice t3nuance, qui est le plus exigeant du module.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Les quatre objectifs sont les quatre critères de la production orale de E1. Les projeter au début et les relire à la fin de la séance.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produire quatre phrases à l'oral, deux avec « ce qui », deux avec « ce que », avant de passer à l'exercice.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La dernière ligne mérite une minute : le « moi » détaché est presque obligatoire quand on répond à quelqu'un qui vient de donner son avis. Sans lui, la phrase a l'air d'une correction.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Faire choisir à chaque élève l'entrée qui lui va, et la faire employer trois fois dans la séance. Une formule qu'on adopte vaut mieux que cinq qu'on récite.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t3disl de l'activité. Les deux plus instructives sont la troisième et la quatrième : un nom appelle « c'est », une phrase appelle « c'est que ». Une syllabe de différence, et c'est celle qu'on oublie.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photographier. Faire transformer trois reproches personnels en phrases impersonnelles à l'oral : l'effet sur le ton de la classe est immédiat et parlant.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t3imp de l'activité. Rappeler que le verbe reste au singulier : « il y a eu trente vols », jamais « il y ont eu ». Le sujet est « il », pas « trente vols ».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Diapositive à photographier, et à laisser affichée pendant l'exercice t3nuance. C'est la structure exacte que le jeu de rôle de E1 demandera quand l'assistant ne sera pas d'accord.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Exercice t3nuance de l'activité, le plus exigeant du module. Les corrigés sont des modèles, pas des réponses attendues. Faire lire quatre productions d'élèves à voix haute avant la fin.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Corriger en groupe. Donner la bonne réponse, sans revenir sur qui s'est trompé.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Dernier piège du module, et celui qui referme les trois défis : l'ordre du récit, la source de la parole, la nature de l'avis. Le dire ainsi en clôture.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Fin du bloc D. Corriger et rendre avant E1 : ces deux phrases sont exactement ce que l'assistant demandera dans le jeu de rôle.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EDF6F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12344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SÉANCE D2  ·  MODULE 11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691640"/>
            <a:ext cx="9960559" cy="18745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</a:pPr>
            <a:r>
              <a:rPr sz="4000" b="1" i="0">
                <a:solidFill>
                  <a:srgbClr val="17181A"/>
                </a:solidFill>
                <a:latin typeface="Verdana"/>
              </a:rPr>
              <a:t>« C'est vrai que… Par contre… »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3794760"/>
            <a:ext cx="9960559" cy="1763268"/>
          </a:xfrm>
          <a:prstGeom prst="roundRect">
            <a:avLst>
              <a:gd name="adj" fmla="val 8297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896112" y="4123944"/>
            <a:ext cx="9302191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Quand l'autre n'est pas d'accord, ne le contredisez pas d'un bloc. Donnez-lui ce qu'il a de juste, puis tournez. C'est plus poli, c'est plus efficace, et la conversation continue au lieu de bloquer.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603504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6E7175"/>
                </a:solidFill>
                <a:latin typeface="Verdana"/>
              </a:rPr>
              <a:t>75 minutes  ·  Raconter une nouvelle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OBJECTIFS DE LA SÉANCE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À la fin, je serai capable de…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764792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Rounded Rectangle 7"/>
          <p:cNvSpPr/>
          <p:nvPr/>
        </p:nvSpPr>
        <p:spPr>
          <a:xfrm>
            <a:off x="804672" y="1942592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804672" y="2024887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08176" y="1965960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construire une phrase de mise en relief : moi, ce qui me…, c'est… ;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650744"/>
            <a:ext cx="11057839" cy="1113536"/>
          </a:xfrm>
          <a:prstGeom prst="roundRect">
            <a:avLst>
              <a:gd name="adj" fmla="val 1313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Rounded Rectangle 11"/>
          <p:cNvSpPr/>
          <p:nvPr/>
        </p:nvSpPr>
        <p:spPr>
          <a:xfrm>
            <a:off x="804672" y="3006344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804672" y="3088640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08176" y="2851912"/>
            <a:ext cx="9549079" cy="747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employer une phrase impersonnelle pour ne montrer personne du doigt ;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3892296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Rounded Rectangle 15"/>
          <p:cNvSpPr/>
          <p:nvPr/>
        </p:nvSpPr>
        <p:spPr>
          <a:xfrm>
            <a:off x="804672" y="4070096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804672" y="4152392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408176" y="4093464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accorder à l'autre ce qu'il a de juste, puis objecter ;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78248"/>
            <a:ext cx="11057839" cy="757936"/>
          </a:xfrm>
          <a:prstGeom prst="roundRect">
            <a:avLst>
              <a:gd name="adj" fmla="val 19302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Rounded Rectangle 19"/>
          <p:cNvSpPr/>
          <p:nvPr/>
        </p:nvSpPr>
        <p:spPr>
          <a:xfrm>
            <a:off x="804672" y="4956048"/>
            <a:ext cx="402336" cy="402336"/>
          </a:xfrm>
          <a:prstGeom prst="roundRect">
            <a:avLst>
              <a:gd name="adj" fmla="val 31818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TextBox 20"/>
          <p:cNvSpPr txBox="1"/>
          <p:nvPr/>
        </p:nvSpPr>
        <p:spPr>
          <a:xfrm>
            <a:off x="804672" y="5038344"/>
            <a:ext cx="40233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408176" y="4979415"/>
            <a:ext cx="954907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3A3D40"/>
                </a:solidFill>
                <a:latin typeface="Verdana"/>
              </a:rPr>
              <a:t>justifier son avis avec « parce que ».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DEUX MOULES, À APPRENDRE TELS QUELS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1967991"/>
          </a:xfrm>
          <a:prstGeom prst="roundRect">
            <a:avLst>
              <a:gd name="adj" fmla="val 743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145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Ce qui me + verbe, c'est + un nom. · Ce que je + verbe, c'est + un nom.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467607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3741927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On emploie « ce qui » quand le morceau est le sujet du verbe : ce qui me surprend. On emploie « ce que » quand il en est le complément : ce que je trouve inquiétant. Et quand la suite est une phrase entière, c'est « c'est que ».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LA MISE EN RELIEF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Un nom, ou une phrase ?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11057839" cy="4242816"/>
          </a:xfrm>
          <a:prstGeom prst="roundRect">
            <a:avLst>
              <a:gd name="adj" fmla="val 344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1975104"/>
            <a:ext cx="3291492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LA SUITE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443636" y="1975104"/>
            <a:ext cx="6595914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6E7175"/>
                </a:solidFill>
                <a:latin typeface="Verdana"/>
              </a:rPr>
              <a:t>CE QU'ON EMPLOIE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32688" y="2395728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nom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43636" y="2395728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qui me surprend, c'est le nombre.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932688" y="2807208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TextBox 12"/>
          <p:cNvSpPr txBox="1"/>
          <p:nvPr/>
        </p:nvSpPr>
        <p:spPr>
          <a:xfrm>
            <a:off x="932688" y="2935224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une phrase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443636" y="2935224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qui me dérange, c'est que les cabanons restent ouverts.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32688" y="3648456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TextBox 15"/>
          <p:cNvSpPr txBox="1"/>
          <p:nvPr/>
        </p:nvSpPr>
        <p:spPr>
          <a:xfrm>
            <a:off x="932688" y="3776472"/>
            <a:ext cx="3291492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sujet du verbe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443636" y="3776472"/>
            <a:ext cx="6595914" cy="3383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qui me choque… (ce qui = sujet de choquer)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32688" y="4187952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TextBox 18"/>
          <p:cNvSpPr txBox="1"/>
          <p:nvPr/>
        </p:nvSpPr>
        <p:spPr>
          <a:xfrm>
            <a:off x="932688" y="4315968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complément du verbe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43636" y="4315968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Ce que je trouve inquiétant… (ce que = complément)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32688" y="5029200"/>
            <a:ext cx="10326319" cy="10058"/>
          </a:xfrm>
          <a:prstGeom prst="rect">
            <a:avLst/>
          </a:prstGeom>
          <a:solidFill>
            <a:srgbClr val="EAEA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932688" y="5157216"/>
            <a:ext cx="3291492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le « moi » du début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443636" y="5157216"/>
            <a:ext cx="6595914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2000"/>
              </a:lnSpc>
            </a:pPr>
            <a:r>
              <a:rPr sz="1800" b="1" i="0">
                <a:solidFill>
                  <a:srgbClr val="B45309"/>
                </a:solidFill>
                <a:latin typeface="Verdana"/>
              </a:rPr>
              <a:t>Il dit : voici mon point de vue, il n'engage que moi.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CINQ ENTRÉES, UNE MÊME FONCTION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Prévenir que c'est vous qui parlez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886968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À mon avis…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6968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neutre, et celle qui passe partout, à l'oral comme à l'écrit.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8143" y="181051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498183" y="2084831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Personnellement…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8183" y="249936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Un peu plus appuyée : elle annonce que vous savez qu'on peut penser autrement.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86968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Je trouve que…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86968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courante à l'oral, et la plus facile à enchaîner avec « parce que ».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8143" y="4027932"/>
            <a:ext cx="5446623" cy="2052828"/>
          </a:xfrm>
          <a:prstGeom prst="roundRect">
            <a:avLst>
              <a:gd name="adj" fmla="val 7126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TextBox 16"/>
          <p:cNvSpPr txBox="1"/>
          <p:nvPr/>
        </p:nvSpPr>
        <p:spPr>
          <a:xfrm>
            <a:off x="6498183" y="4302252"/>
            <a:ext cx="4806543" cy="3870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8000"/>
              </a:lnSpc>
            </a:pPr>
            <a:r>
              <a:rPr sz="2400" b="1" i="0">
                <a:solidFill>
                  <a:srgbClr val="B45309"/>
                </a:solidFill>
                <a:latin typeface="Verdana"/>
              </a:rPr>
              <a:t>Il me semble que…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8183" y="4716780"/>
            <a:ext cx="4806543" cy="10896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2000"/>
              </a:lnSpc>
            </a:pPr>
            <a:r>
              <a:rPr sz="1800" b="0" i="0">
                <a:solidFill>
                  <a:srgbClr val="3A3D40"/>
                </a:solidFill>
                <a:latin typeface="Verdana"/>
              </a:rPr>
              <a:t>La plus prudente : elle laisse la place au doute et à l'autre.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Moi, ce qui me…, c'est…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: moi, ce qui, c'est, c'est que, par contre.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___, ce qui me surprend, c'est le nombre de vélos volés.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___ me dérange, c'est qu'on laisse les cabanons ouverts.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trouve inquiétant, ___ le retour des mêmes vols.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me rassure, ___ la police a demandé de signaler chaque vol.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vrai que ça aide de barrer sa porte. ___, ça n'excuse pas le voleur.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___, ce qui me choque, c'est qu'on n'ait rien dit aux voisins.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Moi, ce qui me…, c'est…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___, ce qui me surprend, c'est le nombre de vélos volés.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___ me dérange, c'est qu'on laisse les cabanons ouverts.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qui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que je trouve inquiétant, ___ le retour des mêmes vols.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Ce qui me rassure, ___ la police a demandé de signaler chaque vol.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c'est que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C'est vrai que ça aide de barrer sa porte. ___, ça n'excuse pas le voleur.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Par contre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___, ce qui me choque, c'est qu'on n'ait rien dit aux voisins.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Moi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UN « IL » QUI NE DÉSIGNE PERSONNE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Il faut noter son numéro de série. Il vaut mieux barrer son cabanon, même pour une heure.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2040128"/>
          </a:xfrm>
          <a:prstGeom prst="roundRect">
            <a:avLst>
              <a:gd name="adj" fmla="val 717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5829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« Tu devrais barrer ton cabanon » vise quelqu'un. « Il vaut mieux barrer son cabanon » ne vise personne, dit la même chose, et n'a pas besoin d'être adoucie. Six tournures servent tous les jours : il faut, il faudrait, il est important de, il vaut mieux, il arrive que, il y a.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9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Sans montrer personne du doigt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Complétez avec la tournure impersonnelle qui convient.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noter le numéro de série de son vélo : la police le demande.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des vélos soient retrouvés sans qu'on sache à qui les rendre.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barrer son cabanon, même pour une heure.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eu une trentaine de vols dans le quartier en un mois.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refaire le fossé avant l'automne, à mon avis.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signaler chaque vol, même petit.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Sans montrer personne du doigt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23672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30073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noter le numéro de série de son vélo : la police le demande.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2827528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292455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2988564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2982975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que des vélos soient retrouvés sans qu'on sache à qui les rendre.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arrive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515359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36123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3676395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3670807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barrer son cabanon, même pour une heure.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vaut mieux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203192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430022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436422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4358640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eu une trentaine de vols dans le quartier en un mois.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y a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4891023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Rounded Rectangle 24"/>
          <p:cNvSpPr/>
          <p:nvPr/>
        </p:nvSpPr>
        <p:spPr>
          <a:xfrm>
            <a:off x="841247" y="4988051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TextBox 25"/>
          <p:cNvSpPr txBox="1"/>
          <p:nvPr/>
        </p:nvSpPr>
        <p:spPr>
          <a:xfrm>
            <a:off x="841247" y="5052059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44168" y="5046471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refaire le fossé avant l'automne, à mon avis.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faudrait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66928" y="5578856"/>
            <a:ext cx="11057839" cy="559816"/>
          </a:xfrm>
          <a:prstGeom prst="roundRect">
            <a:avLst>
              <a:gd name="adj" fmla="val 26134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Rounded Rectangle 28"/>
          <p:cNvSpPr/>
          <p:nvPr/>
        </p:nvSpPr>
        <p:spPr>
          <a:xfrm>
            <a:off x="841247" y="567588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TextBox 29"/>
          <p:cNvSpPr txBox="1"/>
          <p:nvPr/>
        </p:nvSpPr>
        <p:spPr>
          <a:xfrm>
            <a:off x="841247" y="5739892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44168" y="5734304"/>
            <a:ext cx="10097719" cy="2854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400" b="0" i="0">
                <a:solidFill>
                  <a:srgbClr val="3A3D40"/>
                </a:solidFill>
                <a:latin typeface="Verdana"/>
              </a:rPr>
              <a:t>___ signaler chaque vol, même petit.   </a:t>
            </a:r>
            <a:r>
              <a:rPr sz="1400" b="1" i="0">
                <a:solidFill>
                  <a:srgbClr val="07734A"/>
                </a:solidFill>
                <a:latin typeface="Verdana"/>
              </a:rPr>
              <a:t>» Il est important de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ACCORDER D'ABORD, OBJECTER ENSUITE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225296"/>
            <a:ext cx="11057839" cy="2494788"/>
          </a:xfrm>
          <a:prstGeom prst="roundRect">
            <a:avLst>
              <a:gd name="adj" fmla="val 5864"/>
            </a:avLst>
          </a:prstGeom>
          <a:solidFill>
            <a:srgbClr val="FBEEDC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7" name="TextBox 6"/>
          <p:cNvSpPr txBox="1"/>
          <p:nvPr/>
        </p:nvSpPr>
        <p:spPr>
          <a:xfrm>
            <a:off x="1298448" y="1682496"/>
            <a:ext cx="9594799" cy="167182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2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C'est vrai que ça aide de barrer sa porte. Par contre, ça n'excuse pas celui qui entre.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94404"/>
            <a:ext cx="11057839" cy="1671827"/>
          </a:xfrm>
          <a:prstGeom prst="roundRect">
            <a:avLst>
              <a:gd name="adj" fmla="val 8751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69264" y="4268724"/>
            <a:ext cx="10234879" cy="1214627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Quatre mots pour tourner : par contre, cependant, quand même, n'empêche que. Et une opinion se justifie toujours : ajoutez la raison avec « parce que ». Un avis sans raison est un avis qu'on ne peut pas discuter.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ÉCRITURE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Répondre à quelqu'un qui pense autrement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Deux phrases : accordez d'abord, objectez ensuite.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Ça, c'est de la négligence, pas du vol. »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Noter un numéro de série, ça n'a jamais ramené un vélo. »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monde qui achète au bord de l'eau savait ce qui l'attendait. »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De toute façon, les journaux en rajoutent toujours. »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CORRECTION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Répondre à quelqu'un qui pense autrement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645920"/>
            <a:ext cx="11057839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800" b="0" i="0">
                <a:solidFill>
                  <a:srgbClr val="6E7175"/>
                </a:solidFill>
                <a:latin typeface="Verdana"/>
              </a:rPr>
              <a:t>Correction — on lit la réponse, on ne commente pas l'erreur.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139696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Rounded Rectangle 8"/>
          <p:cNvSpPr/>
          <p:nvPr/>
        </p:nvSpPr>
        <p:spPr>
          <a:xfrm>
            <a:off x="841247" y="2396744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0" name="TextBox 9"/>
          <p:cNvSpPr txBox="1"/>
          <p:nvPr/>
        </p:nvSpPr>
        <p:spPr>
          <a:xfrm>
            <a:off x="841247" y="2460751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44168" y="2295144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Ça, c'est de la négligence, pas du vol.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vrai qu'une porte barrée aide. Par contre, ça n'excuse pas celui qui entre.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147568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Rounded Rectangle 12"/>
          <p:cNvSpPr/>
          <p:nvPr/>
        </p:nvSpPr>
        <p:spPr>
          <a:xfrm>
            <a:off x="841247" y="3404616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841247" y="3468623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44168" y="3303016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Noter un numéro de série, ça n'a jamais ramené un vélo.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Je comprends que ça paraisse inutile. Cependant, sans numéro, la police ne peut rien rendre.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155440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Rounded Rectangle 16"/>
          <p:cNvSpPr/>
          <p:nvPr/>
        </p:nvSpPr>
        <p:spPr>
          <a:xfrm>
            <a:off x="841247" y="4412488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TextBox 17"/>
          <p:cNvSpPr txBox="1"/>
          <p:nvPr/>
        </p:nvSpPr>
        <p:spPr>
          <a:xfrm>
            <a:off x="841247" y="4476496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44168" y="4310888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Le monde qui achète au bord de l'eau savait ce qui l'attendait.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C'est sûr que le risque était connu. N'empêche que personne ne mérite de tout perdre.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163312"/>
            <a:ext cx="11057839" cy="879856"/>
          </a:xfrm>
          <a:prstGeom prst="roundRect">
            <a:avLst>
              <a:gd name="adj" fmla="val 16628"/>
            </a:avLst>
          </a:prstGeom>
          <a:solidFill>
            <a:srgbClr val="E6F5EE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Rounded Rectangle 20"/>
          <p:cNvSpPr/>
          <p:nvPr/>
        </p:nvSpPr>
        <p:spPr>
          <a:xfrm>
            <a:off x="841247" y="5420360"/>
            <a:ext cx="365760" cy="365760"/>
          </a:xfrm>
          <a:prstGeom prst="roundRect">
            <a:avLst>
              <a:gd name="adj" fmla="val 32500"/>
            </a:avLst>
          </a:prstGeom>
          <a:solidFill>
            <a:srgbClr val="FBEED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TextBox 21"/>
          <p:cNvSpPr txBox="1"/>
          <p:nvPr/>
        </p:nvSpPr>
        <p:spPr>
          <a:xfrm>
            <a:off x="841247" y="5484368"/>
            <a:ext cx="36576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35000"/>
              </a:lnSpc>
            </a:pPr>
            <a:r>
              <a:rPr sz="1500" b="1" i="0">
                <a:solidFill>
                  <a:srgbClr val="B45309"/>
                </a:solidFill>
                <a:latin typeface="Verdana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44168" y="5318760"/>
            <a:ext cx="10097719" cy="6055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1600" b="0" i="0">
                <a:solidFill>
                  <a:srgbClr val="3A3D40"/>
                </a:solidFill>
                <a:latin typeface="Verdana"/>
              </a:rPr>
              <a:t>« De toute façon, les journaux en rajoutent toujours. »   </a:t>
            </a:r>
            <a:r>
              <a:rPr sz="1600" b="1" i="0">
                <a:solidFill>
                  <a:srgbClr val="07734A"/>
                </a:solidFill>
                <a:latin typeface="Verdana"/>
              </a:rPr>
              <a:t>» Il y a du vrai là-dedans. Par contre, les chiffres de la police, eux, se vérifient.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420624"/>
            <a:ext cx="11057839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45309"/>
                </a:solidFill>
                <a:latin typeface="Verdana"/>
              </a:rPr>
              <a:t>PRÉSENTER SON OPINION COMME UN FAIT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749808"/>
            <a:ext cx="11057839" cy="8778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3400" b="1" i="0">
                <a:solidFill>
                  <a:srgbClr val="17181A"/>
                </a:solidFill>
                <a:latin typeface="Verdana"/>
              </a:rPr>
              <a:t>Le piège le plus fréquent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FFF6F5"/>
          </a:solidFill>
          <a:ln w="12700">
            <a:solidFill>
              <a:srgbClr val="DC262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8" name="TextBox 7"/>
          <p:cNvSpPr txBox="1"/>
          <p:nvPr/>
        </p:nvSpPr>
        <p:spPr>
          <a:xfrm>
            <a:off x="932688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B91C1C"/>
                </a:solidFill>
                <a:latin typeface="Verdana"/>
              </a:rPr>
              <a:t>ON ENTEND SOUVENT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32688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Laisser son cabanon ouvert, c'est de la négligence.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96431" y="1856232"/>
            <a:ext cx="5428335" cy="2331720"/>
          </a:xfrm>
          <a:prstGeom prst="roundRect">
            <a:avLst>
              <a:gd name="adj" fmla="val 6274"/>
            </a:avLst>
          </a:prstGeom>
          <a:solidFill>
            <a:srgbClr val="E6F5EE"/>
          </a:solidFill>
          <a:ln w="12700">
            <a:solidFill>
              <a:srgbClr val="0A8F5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6562191" y="2130552"/>
            <a:ext cx="4696815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07734A"/>
                </a:solidFill>
                <a:latin typeface="Verdana"/>
              </a:rPr>
              <a:t>IL FAUT DIRE PLUTÔT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62191" y="2569464"/>
            <a:ext cx="4696815" cy="1417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2500" b="1" i="0">
                <a:solidFill>
                  <a:srgbClr val="17181A"/>
                </a:solidFill>
                <a:latin typeface="Verdana"/>
              </a:rPr>
              <a:t>Moi, ce qui me dérange, c'est qu'on laisse les cabanons ouverts.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462272"/>
            <a:ext cx="11057839" cy="1618487"/>
          </a:xfrm>
          <a:prstGeom prst="roundRect">
            <a:avLst>
              <a:gd name="adj" fmla="val 9039"/>
            </a:avLst>
          </a:prstGeom>
          <a:solidFill>
            <a:srgbClr val="FFFFFF"/>
          </a:solidFill>
          <a:ln w="12700">
            <a:solidFill>
              <a:srgbClr val="EAEA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TextBox 13"/>
          <p:cNvSpPr txBox="1"/>
          <p:nvPr/>
        </p:nvSpPr>
        <p:spPr>
          <a:xfrm>
            <a:off x="969264" y="4736592"/>
            <a:ext cx="10234879" cy="11506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5000"/>
              </a:lnSpc>
            </a:pPr>
            <a:r>
              <a:rPr sz="2000" b="0" i="0">
                <a:solidFill>
                  <a:srgbClr val="4B4F52"/>
                </a:solidFill>
                <a:latin typeface="Verdana"/>
              </a:rPr>
              <a:t>Sans annonce, votre jugement se range avec les chiffres de la police, et la personne en face le répétera comme une information. D'abord les faits, avec leur source ; ensuite votre avis, annoncé comme tel.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7F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" name="TextBox 2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710367" y="6355080"/>
            <a:ext cx="9144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15</a:t>
            </a:r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18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6" name="TextBox 5"/>
          <p:cNvSpPr txBox="1"/>
          <p:nvPr/>
        </p:nvSpPr>
        <p:spPr>
          <a:xfrm>
            <a:off x="566928" y="1051560"/>
            <a:ext cx="11057839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300" b="1" i="0" spc="156">
                <a:solidFill>
                  <a:srgbClr val="FFFFFF"/>
                </a:solidFill>
                <a:latin typeface="Verdana"/>
              </a:rPr>
              <a:t>BILLET DE SORTIE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1572768"/>
            <a:ext cx="9777679" cy="2103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3400" b="1" i="0">
                <a:solidFill>
                  <a:srgbClr val="FFFFFF"/>
                </a:solidFill>
                <a:latin typeface="Verdana"/>
              </a:rPr>
              <a:t>Répondez en deux phrases à quelqu'un qui n'est pas d'accord avec vous.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3931920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9" name="TextBox 8"/>
          <p:cNvSpPr txBox="1"/>
          <p:nvPr/>
        </p:nvSpPr>
        <p:spPr>
          <a:xfrm>
            <a:off x="932688" y="4087368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Première phrase : ce que vous lui accordez. Deuxième : votre objection.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680712"/>
            <a:ext cx="11057839" cy="666496"/>
          </a:xfrm>
          <a:prstGeom prst="roundRect">
            <a:avLst>
              <a:gd name="adj" fmla="val 13719"/>
            </a:avLst>
          </a:prstGeom>
          <a:solidFill>
            <a:srgbClr val="2A2C2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TextBox 10"/>
          <p:cNvSpPr txBox="1"/>
          <p:nvPr/>
        </p:nvSpPr>
        <p:spPr>
          <a:xfrm>
            <a:off x="932688" y="4836160"/>
            <a:ext cx="10051999" cy="3921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40000"/>
              </a:lnSpc>
            </a:pPr>
            <a:r>
              <a:rPr sz="2000" b="0" i="0">
                <a:solidFill>
                  <a:srgbClr val="FFFFFF"/>
                </a:solidFill>
                <a:latin typeface="Verdana"/>
              </a:rPr>
              <a:t>Terminez par « parce que » et donnez votre raison.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355080"/>
            <a:ext cx="6400800" cy="21945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i="0">
                <a:solidFill>
                  <a:srgbClr val="6E7175"/>
                </a:solidFill>
                <a:latin typeface="Verdana"/>
              </a:rPr>
              <a:t>D2 · Raconter une nouvelle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