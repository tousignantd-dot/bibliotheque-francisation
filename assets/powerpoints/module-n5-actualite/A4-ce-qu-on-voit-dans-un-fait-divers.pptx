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Elle referme la découverte : après la forme du texte, les sons et les mots, on regarde ce que le journal montre. Commencer par projeter une photo sans rien dire et laisser le groupe raconter ce qu'il voit.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prépare tout le bloc D : ce qu'on voit est un fait, ce qu'on en conclut est une opinion. Le dire dès maintenant, en une phrase, sans y insister.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tenir la distinction pendant tout l'exercice : on voit des fenêtres noircies, on ne voit pas un incendie. La photo est prise le lendemain, et c'est vrai de presque toutes les photos de fait divers.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Projeter, faire décrire à l'oral, puis ouvrir l'exercice prImg dans l'activité : les six photos s'y glissent sur leur phrase. La description orale doit venir avant la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piste est celle qui compte. Quand une porte-parole parle, ce n'est pas son avis à elle : c'est la position du service. La nuance a l'air petite ; elle est énorme, et le bloc C entier repose dessus.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justifie tout le module : si la photo suffisait, personne n'aurait besoin de raconter.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cacher la colonne de droite et demander au groupe ce qui manque à chaque photo. La réponse est toujours la même : l'heure, la durée, le nombre, la source. C'est ce que la parole apporte.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prImg de l'activité. Exiger l'article et un mot du module dans chaque phrase : c'est le premier réinvestissement du vocabulaire de A3.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central du module, posé ici sous sa forme la plus simple. Il reviendra au bloc C sous la forme « qui l'a dit ? » et au bloc D sous la forme « fait ou opinion ?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bloc A. Ramasser et relire deux billets en ouverture de B1 : la séparation entre ce qu'on voit et ce qu'on conclut est exactement ce qui va manquer aux premiers récits du bloc 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qu'on voit dans un fait divers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fait divers arrive rarement seul : il y a une photo, et sous la photo une légende d'une ligne. La photo montre l'après — les fenêtres noircies, l'eau dans le sous-sol, la porte du cabanon restée ouverte.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Raconter une nouvelle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décrire en une phrase ce qu'une photo de fait divers montre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est visible sur la photo de ce qu'on suppose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qui parle dans un fait divers, et au nom de qui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mots du module pour décrire une scène.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immeuble aux fenêtres noircies. Qu'est-ce qu'on sait, et qu'est-ce qu'on suppose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meuble-incendi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qu'on voit : les fenêtres, la façade, l'heure du jour.</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qu'on suppose : la cause, le nombre de personnes, l'heure du feu.</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pourrait parler dans l'article, à votre avis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serait la légende de cette photo, en une ligne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SIX PHOTOS, SIX PHRASES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montre chaque image de l'activité</a:t>
            </a:r>
          </a:p>
        </p:txBody>
      </p:sp>
      <p:sp>
        <p:nvSpPr>
          <p:cNvPr id="7" name="Rounded Rectangle 6"/>
          <p:cNvSpPr/>
          <p:nvPr/>
        </p:nvSpPr>
        <p:spPr>
          <a:xfrm>
            <a:off x="566928" y="181051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2936138"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Le journal sur la table</a:t>
            </a:r>
          </a:p>
        </p:txBody>
      </p:sp>
      <p:sp>
        <p:nvSpPr>
          <p:cNvPr id="9" name="TextBox 8"/>
          <p:cNvSpPr txBox="1"/>
          <p:nvPr/>
        </p:nvSpPr>
        <p:spPr>
          <a:xfrm>
            <a:off x="886968" y="2769108"/>
            <a:ext cx="2936138"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journal de quartier ouvert sur une table de cafétéria.</a:t>
            </a:r>
          </a:p>
        </p:txBody>
      </p:sp>
      <p:sp>
        <p:nvSpPr>
          <p:cNvPr id="10" name="Rounded Rectangle 9"/>
          <p:cNvSpPr/>
          <p:nvPr/>
        </p:nvSpPr>
        <p:spPr>
          <a:xfrm>
            <a:off x="4307738" y="181051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7778" y="2084831"/>
            <a:ext cx="2936138"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L'immeuble le lendemain</a:t>
            </a:r>
          </a:p>
        </p:txBody>
      </p:sp>
      <p:sp>
        <p:nvSpPr>
          <p:cNvPr id="12" name="TextBox 11"/>
          <p:cNvSpPr txBox="1"/>
          <p:nvPr/>
        </p:nvSpPr>
        <p:spPr>
          <a:xfrm>
            <a:off x="4627778" y="2769108"/>
            <a:ext cx="2936138"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immeuble aux fenêtres noircies, le lendemain d'un feu.</a:t>
            </a:r>
          </a:p>
        </p:txBody>
      </p:sp>
      <p:sp>
        <p:nvSpPr>
          <p:cNvPr id="13" name="Rounded Rectangle 12"/>
          <p:cNvSpPr/>
          <p:nvPr/>
        </p:nvSpPr>
        <p:spPr>
          <a:xfrm>
            <a:off x="8048548" y="181051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68588" y="2084831"/>
            <a:ext cx="2936138"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Le sous-sol</a:t>
            </a:r>
          </a:p>
        </p:txBody>
      </p:sp>
      <p:sp>
        <p:nvSpPr>
          <p:cNvPr id="15" name="TextBox 14"/>
          <p:cNvSpPr txBox="1"/>
          <p:nvPr/>
        </p:nvSpPr>
        <p:spPr>
          <a:xfrm>
            <a:off x="8368588" y="2769108"/>
            <a:ext cx="2936138"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sous-sol où l'eau monte au-dessus des boîtes rangées.</a:t>
            </a:r>
          </a:p>
        </p:txBody>
      </p:sp>
      <p:sp>
        <p:nvSpPr>
          <p:cNvPr id="16" name="Rounded Rectangle 15"/>
          <p:cNvSpPr/>
          <p:nvPr/>
        </p:nvSpPr>
        <p:spPr>
          <a:xfrm>
            <a:off x="566928" y="402793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4302252"/>
            <a:ext cx="2936138"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Le cabanon</a:t>
            </a:r>
          </a:p>
        </p:txBody>
      </p:sp>
      <p:sp>
        <p:nvSpPr>
          <p:cNvPr id="18" name="TextBox 17"/>
          <p:cNvSpPr txBox="1"/>
          <p:nvPr/>
        </p:nvSpPr>
        <p:spPr>
          <a:xfrm>
            <a:off x="886968" y="4986528"/>
            <a:ext cx="2936138"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petite bâtisse de cour, la porte grande ouverte.</a:t>
            </a:r>
          </a:p>
        </p:txBody>
      </p:sp>
      <p:sp>
        <p:nvSpPr>
          <p:cNvPr id="19" name="Rounded Rectangle 18"/>
          <p:cNvSpPr/>
          <p:nvPr/>
        </p:nvSpPr>
        <p:spPr>
          <a:xfrm>
            <a:off x="4307738" y="402793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27778" y="4302252"/>
            <a:ext cx="2936138"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Les pompiers</a:t>
            </a:r>
          </a:p>
        </p:txBody>
      </p:sp>
      <p:sp>
        <p:nvSpPr>
          <p:cNvPr id="21" name="TextBox 20"/>
          <p:cNvSpPr txBox="1"/>
          <p:nvPr/>
        </p:nvSpPr>
        <p:spPr>
          <a:xfrm>
            <a:off x="4627778" y="4986528"/>
            <a:ext cx="2936138"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Deux pompiers qui tiennent un boyau devant une façade.</a:t>
            </a:r>
          </a:p>
        </p:txBody>
      </p:sp>
      <p:sp>
        <p:nvSpPr>
          <p:cNvPr id="22" name="Rounded Rectangle 21"/>
          <p:cNvSpPr/>
          <p:nvPr/>
        </p:nvSpPr>
        <p:spPr>
          <a:xfrm>
            <a:off x="8048548" y="4027932"/>
            <a:ext cx="3576218"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68588" y="4302252"/>
            <a:ext cx="2936138"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La porte-parole</a:t>
            </a:r>
          </a:p>
        </p:txBody>
      </p:sp>
      <p:sp>
        <p:nvSpPr>
          <p:cNvPr id="24" name="TextBox 23"/>
          <p:cNvSpPr txBox="1"/>
          <p:nvPr/>
        </p:nvSpPr>
        <p:spPr>
          <a:xfrm>
            <a:off x="8368588" y="4986528"/>
            <a:ext cx="2936138"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femme qui parle devant plusieurs micros tendus.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femme parle devant des micros. Qui est-elle, et au nom de qui parle-t-elle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orte-parole-micros.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témoin parle en son nom : il raconte ce qu'il a vu.</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porte-parole parle au nom d'un service : la Ville, la police.</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journal écrit « la Ville dit que », pas « madame Untel pense que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voisin qui répète ce qu'il a entendu ne parle au nom de personne.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UNE PHOTO MONTRE L'APRÈS, JAMAIS L'ÉVÈNEMENT</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photographe arrive après les pompiers. Ce qu'on voit, c'est ce qui reste.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Des fenêtres noircies, de l'eau dans un sous-sol, une porte ouverte. La photo prouve qu'il y a eu quelque chose ; elle ne dit ni quand, ni comment, ni pourquoi. Ces trois renseignements-là ne sont que dans le texte.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SUR LA PHOTO</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se voit, ce qui se lit</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LE VOIT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LE LIT SEULEMENT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fenêtres noircies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feu a éclaté vers quatre heures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l'eau dans un sous-sol</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rivière montait depuis trois jours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porte de cabanon ouverte</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trentaine de vélos ont disparu</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pompiers avec un boyau</a:t>
            </a:r>
          </a:p>
        </p:txBody>
      </p:sp>
      <p:sp>
        <p:nvSpPr>
          <p:cNvPr id="20" name="TextBox 19"/>
          <p:cNvSpPr txBox="1"/>
          <p:nvPr/>
        </p:nvSpPr>
        <p:spPr>
          <a:xfrm>
            <a:off x="4443636" y="4315968"/>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Ils sont arrivés huit minutes après</a:t>
            </a:r>
          </a:p>
        </p:txBody>
      </p:sp>
      <p:sp>
        <p:nvSpPr>
          <p:cNvPr id="21" name="Rectangle 20"/>
          <p:cNvSpPr/>
          <p:nvPr/>
        </p:nvSpPr>
        <p:spPr>
          <a:xfrm>
            <a:off x="932688" y="5029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57216"/>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femme devant des micros</a:t>
            </a:r>
          </a:p>
        </p:txBody>
      </p:sp>
      <p:sp>
        <p:nvSpPr>
          <p:cNvPr id="23" name="TextBox 22"/>
          <p:cNvSpPr txBox="1"/>
          <p:nvPr/>
        </p:nvSpPr>
        <p:spPr>
          <a:xfrm>
            <a:off x="4443636" y="5157216"/>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Elle parle au nom de la Ville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DESCRIPTION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scène en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Employez les mots du module, et rien que ce que vous voyez.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de l'immeuble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du sous-sol</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du cabanon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des pompiers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de la femme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du journal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scène en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de l'immeuble   </a:t>
            </a:r>
            <a:r>
              <a:rPr sz="1400" b="1" i="0">
                <a:solidFill>
                  <a:srgbClr val="07734A"/>
                </a:solidFill>
                <a:latin typeface="Verdana"/>
              </a:rPr>
              <a:t>» des fenêtres noircies après un incendie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du sous-sol   </a:t>
            </a:r>
            <a:r>
              <a:rPr sz="1400" b="1" i="0">
                <a:solidFill>
                  <a:srgbClr val="07734A"/>
                </a:solidFill>
                <a:latin typeface="Verdana"/>
              </a:rPr>
              <a:t>» de l'eau au-dessus des boîtes, après une inondation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du cabanon   </a:t>
            </a:r>
            <a:r>
              <a:rPr sz="1400" b="1" i="0">
                <a:solidFill>
                  <a:srgbClr val="07734A"/>
                </a:solidFill>
                <a:latin typeface="Verdana"/>
              </a:rPr>
              <a:t>» une porte de cabanon laissée grande ouverte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des pompiers   </a:t>
            </a:r>
            <a:r>
              <a:rPr sz="1400" b="1" i="0">
                <a:solidFill>
                  <a:srgbClr val="07734A"/>
                </a:solidFill>
                <a:latin typeface="Verdana"/>
              </a:rPr>
              <a:t>» deux pompiers qui tiennent un boyau devant une façade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de la femme   </a:t>
            </a:r>
            <a:r>
              <a:rPr sz="1400" b="1" i="0">
                <a:solidFill>
                  <a:srgbClr val="07734A"/>
                </a:solidFill>
                <a:latin typeface="Verdana"/>
              </a:rPr>
              <a:t>» une porte-parole qui fait une déclaration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photo du journal   </a:t>
            </a:r>
            <a:r>
              <a:rPr sz="1400" b="1" i="0">
                <a:solidFill>
                  <a:srgbClr val="07734A"/>
                </a:solidFill>
                <a:latin typeface="Verdana"/>
              </a:rPr>
              <a:t>» un hebdomadaire ouvert sur une 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RACONTER CE QUE LA PHOTO LAISSE CROIRE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voit que le feu est parti de la cuisine.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voit les fenêtres noircies du deuxième étage.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photo ne dit jamais la cause. Quand vous racontez, séparez ce que vous avez vu de ce que vous avez lu, et ce que vous avez lu de ce que vous supposez.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Décrivez en deux phrases une photo de journal que vous avez vue récemment.</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Première phrase : ce qu'on voit. Deuxième phrase : ce que vous en avez conclu.</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la deuxième : c'est la partie qui n'est pas dans la photo.</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Raconter une nouvelle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