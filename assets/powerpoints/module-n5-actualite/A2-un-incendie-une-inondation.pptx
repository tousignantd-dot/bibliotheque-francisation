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phonétique, et elle n'est pas décorative : les deux sons travaillés ici sont ceux des mots du module. Commencer en disant « un incendie » puis « une inondation » deux fois, sans rien expliquer, et demander ce qui change dans la bouche.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qui sert à l'écrit : « in », « ain », « ein », « im » donnent tous le même son, et l'élève qui l'ignore écrit « incendie » avec un 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les sept mots par toute la classe, la main devant la bouche. Le geste installe le son mieux que l'explication, et il reste disponible quand l'élève doute, seul, dans la rue.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avec la précédente. Les deux règles se lisent ensemble : c'est le contraste qui s'apprend, pas chaque son isolé.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comparaison « incendie » / « inondation » est le point le plus difficile de la séance. La faire dire lentement, syllabe par syllabe, avant de l'accélérer.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la surprise de la séance : « bien » et « vin » riment. Le faire entendre plutôt que l'expliquer.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prPhon de l'activité, en cartes écoutables. Chaque mot peut être réécouté autant de fois qu'il le faut : c'est un exercice qui se refait seul, à la maison, et il faut le dire au groupe.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pratiquer en binôme, dos à dos puis face à face. La différence de réussite entre les deux positions frappe le groupe et justifie tout le conseil.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exemples suffisent. Ne pas transformer la séance en cours de phonétique théorique : l'objectif est que les seize mots du module se disent bien, pas que la règle soit récitée.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Écouter trois ou quatre phrases avant la sortie. Corriger la mélodie et les lèvres, jamais le contenu de la phrase.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Un incendie, une inondation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voyelles du nez portent la moitié des mots du fait divers. Celle de « in » — incendie, témoin, voisin, matin. Celle de « on » — inondation, cabanon, prévention, déclaration. Les confondre, c'est faire répéter la personne en face.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Raconter une nouvelle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la différence entre la voyelle de « in » et celle de « on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placer les lèvres correctement pour chacune des deux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graphies qui donnent chaque son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sans hésiter les mots qui contiennent les deux.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SON DE « IN » : LES LÈVRES ÉTIRÉES</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Les lèvres s'écartent sur les côtés, presque comme pour sourire, et l'air passe par le nez.</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fin · main · plein · voisin · matin · témoin · incendie. On l'écrit in, ain, ein, im : la graphie change, le son ne change pas. Mettez la main devant la bouche : vous sentez une fente large et plate.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SON DE « ON » : LES LÈVRES EN ROND</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Les lèvres se ferment en petit rond, la langue recule, et l'air passe encore par le nez.</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bon · son · long · pont · cabanon · inondation · prévention. On l'écrit on ou om. La main devant la bouche sent un petit rond serré, pas une fente.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À L'OREILLE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graphie, deux sons différents</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LIT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incendie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 in » étiré, puis « an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inondation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 i-non » : le n se dit, puis « on » rond</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témoin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 in » à la fin, lèvres étirées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cabanon</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 on » à la fin, lèvres en rond</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important</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 in » étiré, puis « an »</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prévention</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 an », puis « on » rond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QUATRE GRAPHIES POUR UN SEUL SON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son de « in » à l'écrit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in</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incendie · voisin · matin · quinze. La graphie la plus fréquente.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ain / aim</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main · demain · plainte · faim. Le a ne s'entend pas du tout.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ein / eim</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plein · peintre · frein. Rare, mais elle revient dans « peinture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en après i</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bien · rien · combien · chien. Le son de « in » se cache derrière un 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in » ou « on »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le mot et dites quelle voyelle du nez vous entendez.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incendie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inondation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témoin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cabanon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matin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prévention</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voisin</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déclaration</a:t>
            </a:r>
          </a:p>
        </p:txBody>
      </p:sp>
      <p:sp>
        <p:nvSpPr>
          <p:cNvPr id="40" name="Rounded Rectangle 39"/>
          <p:cNvSpPr/>
          <p:nvPr/>
        </p:nvSpPr>
        <p:spPr>
          <a:xfrm>
            <a:off x="566928" y="764235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41247" y="773938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41247" y="780338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9</a:t>
            </a:r>
          </a:p>
        </p:txBody>
      </p:sp>
      <p:sp>
        <p:nvSpPr>
          <p:cNvPr id="43" name="TextBox 42"/>
          <p:cNvSpPr txBox="1"/>
          <p:nvPr/>
        </p:nvSpPr>
        <p:spPr>
          <a:xfrm>
            <a:off x="1344168" y="779780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fin de la rue</a:t>
            </a:r>
          </a:p>
        </p:txBody>
      </p:sp>
      <p:sp>
        <p:nvSpPr>
          <p:cNvPr id="44" name="Rounded Rectangle 43"/>
          <p:cNvSpPr/>
          <p:nvPr/>
        </p:nvSpPr>
        <p:spPr>
          <a:xfrm>
            <a:off x="566928" y="8330184"/>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41247" y="842721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1247" y="849122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10</a:t>
            </a:r>
          </a:p>
        </p:txBody>
      </p:sp>
      <p:sp>
        <p:nvSpPr>
          <p:cNvPr id="47" name="TextBox 46"/>
          <p:cNvSpPr txBox="1"/>
          <p:nvPr/>
        </p:nvSpPr>
        <p:spPr>
          <a:xfrm>
            <a:off x="1344168" y="8485632"/>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soupçon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in » ou « on »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incendie   </a:t>
            </a:r>
            <a:r>
              <a:rPr sz="1400" b="1" i="0">
                <a:solidFill>
                  <a:srgbClr val="07734A"/>
                </a:solidFill>
                <a:latin typeface="Verdana"/>
              </a:rPr>
              <a:t>» le son de « in »</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inondation   </a:t>
            </a:r>
            <a:r>
              <a:rPr sz="1400" b="1" i="0">
                <a:solidFill>
                  <a:srgbClr val="07734A"/>
                </a:solidFill>
                <a:latin typeface="Verdana"/>
              </a:rPr>
              <a:t>» le son de « on »</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témoin   </a:t>
            </a:r>
            <a:r>
              <a:rPr sz="1400" b="1" i="0">
                <a:solidFill>
                  <a:srgbClr val="07734A"/>
                </a:solidFill>
                <a:latin typeface="Verdana"/>
              </a:rPr>
              <a:t>» le son de « in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cabanon   </a:t>
            </a:r>
            <a:r>
              <a:rPr sz="1400" b="1" i="0">
                <a:solidFill>
                  <a:srgbClr val="07734A"/>
                </a:solidFill>
                <a:latin typeface="Verdana"/>
              </a:rPr>
              <a:t>» le son de « on »</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matin   </a:t>
            </a:r>
            <a:r>
              <a:rPr sz="1400" b="1" i="0">
                <a:solidFill>
                  <a:srgbClr val="07734A"/>
                </a:solidFill>
                <a:latin typeface="Verdana"/>
              </a:rPr>
              <a:t>» le son de « in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prévention   </a:t>
            </a:r>
            <a:r>
              <a:rPr sz="1400" b="1" i="0">
                <a:solidFill>
                  <a:srgbClr val="07734A"/>
                </a:solidFill>
                <a:latin typeface="Verdana"/>
              </a:rPr>
              <a:t>» le son de « on »</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voisin   </a:t>
            </a:r>
            <a:r>
              <a:rPr sz="1400" b="1" i="0">
                <a:solidFill>
                  <a:srgbClr val="07734A"/>
                </a:solidFill>
                <a:latin typeface="Verdana"/>
              </a:rPr>
              <a:t>» le son de « in »</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déclaration   </a:t>
            </a:r>
            <a:r>
              <a:rPr sz="1400" b="1" i="0">
                <a:solidFill>
                  <a:srgbClr val="07734A"/>
                </a:solidFill>
                <a:latin typeface="Verdana"/>
              </a:rPr>
              <a:t>» le son de « on »</a:t>
            </a:r>
          </a:p>
        </p:txBody>
      </p:sp>
      <p:sp>
        <p:nvSpPr>
          <p:cNvPr id="40" name="Rounded Rectangle 39"/>
          <p:cNvSpPr/>
          <p:nvPr/>
        </p:nvSpPr>
        <p:spPr>
          <a:xfrm>
            <a:off x="566928" y="764235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41247" y="773938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41247" y="780338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9</a:t>
            </a:r>
          </a:p>
        </p:txBody>
      </p:sp>
      <p:sp>
        <p:nvSpPr>
          <p:cNvPr id="43" name="TextBox 42"/>
          <p:cNvSpPr txBox="1"/>
          <p:nvPr/>
        </p:nvSpPr>
        <p:spPr>
          <a:xfrm>
            <a:off x="1344168" y="779780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fin de la rue   </a:t>
            </a:r>
            <a:r>
              <a:rPr sz="1400" b="1" i="0">
                <a:solidFill>
                  <a:srgbClr val="07734A"/>
                </a:solidFill>
                <a:latin typeface="Verdana"/>
              </a:rPr>
              <a:t>» le son de « in »</a:t>
            </a:r>
          </a:p>
        </p:txBody>
      </p:sp>
      <p:sp>
        <p:nvSpPr>
          <p:cNvPr id="44" name="Rounded Rectangle 43"/>
          <p:cNvSpPr/>
          <p:nvPr/>
        </p:nvSpPr>
        <p:spPr>
          <a:xfrm>
            <a:off x="566928" y="8330184"/>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41247" y="842721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1247" y="849122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10</a:t>
            </a:r>
          </a:p>
        </p:txBody>
      </p:sp>
      <p:sp>
        <p:nvSpPr>
          <p:cNvPr id="47" name="TextBox 46"/>
          <p:cNvSpPr txBox="1"/>
          <p:nvPr/>
        </p:nvSpPr>
        <p:spPr>
          <a:xfrm>
            <a:off x="1344168" y="8485632"/>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soupçon   </a:t>
            </a:r>
            <a:r>
              <a:rPr sz="1400" b="1" i="0">
                <a:solidFill>
                  <a:srgbClr val="07734A"/>
                </a:solidFill>
                <a:latin typeface="Verdana"/>
              </a:rPr>
              <a:t>» le son de « on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CONFONDRE LES DEUX VOYELLES DU NEZ</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bon voisin dit avec un seul son pour les deux</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bon (rond) voisin (étiré)</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Un bain » et « un bon » ne veulent pas dire la même chose. Quand le doute vient, regardez les lèvres de la personne qui parle : la moitié de l'écoute passe par les yeux, et personne ne le dit jamais.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FAIRE SONNER LA VOYELLE DU NEZ DEVANT UNE AUTRE VOYELLE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une i-non-dation dite « un-ondation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i-non-da-tion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le n est suivi d'une voyelle, il se prononce et la voyelle du nez disparaît : inondation, inutile, initial. C'est la règle qui explique pourquoi « incendie » et « inondation » ne commencent pas pareil.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phrase qui contient les deux sons, et dites-la à voix haute.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Un incendie important dans le cabanon du voisin.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les mots où vous entendez la voyelle du nez.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Raconter une nouvelle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