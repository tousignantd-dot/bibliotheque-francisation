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Ouverture du défi 2. Commencer par un jeu : dire au groupe « il paraît que le centre ferme deux jours la semaine prochaine » et laisser passer trois secondes. Demander ensuite qui l'a dit. Personne. C'est toute la séance.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deuxième objectif est le seul qui compte vraiment. Les trois autres sont les moyens de le tenir : sans nom, la phrase la mieux construite ne vaut rien.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deviner les quatre voix avant de lire le dialogue. Elles y sont toutes les quatre, et le groupe les retrouvera sans peine : c'est un bon moyen de montrer qu'un fait divers est prévisible.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Teresa est une amie qui habite loin : c'est pour cela qu'elle ne sait rien. Sa toute première phrase commence par « il paraît que » — la formule que la séance va démonter. La faire remarquer tout de suite.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question de Teresa est la question du module entier. La projeter seule si besoin. Faire remarquer la réponse : « entre guillemets » — c'est le signe visible d'une parole rapportée mot pour mot.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structures dans quatre répliques : « raconte que » pour une affirmation, « demande si » pour une question par oui ou non. Les signaler sans les développer : elles font l'objet de la séance C2.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La Ville n'a pas voulu dire quand » est une information, pas un vide : un refus de répondre se rapporte comme le reste. Le faire remarquer, c'est un point de lecture que peu d'élèves voient seuls.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Dernière voix du dialogue, et troisième verbe : dit, raconte, demande, explique. Faire relever les quatre au tableau avant la mise en commun : ils sont la matière du reste de la séance.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C'est la règle que le jeu de rôle de E1 vérifie : l'assistant demandera « qui dit ça ? » chaque fois qu'une information arrivera sans propriétaire.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ligne est la leçon. Demander au groupe ce qu'on peut faire d'une information sans propriétaire : ni la vérifier, ni la corriger, ni la citer. On ne peut que la répéter.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Exercice t2a de l'activité. La cinquième est la plus formatrice : elle demande de se rappeler non pas l'information, mais sa source. C'est exactement la compétence du défi.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Ramasser. Les billets sans nom — il y en aura — servent d'ouverture à C2 : les lire à voix haute sans nommer les auteurs et demander au groupe ce qui manque.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C1  ·  MODULE 11</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 Qui a dit ça, au juste ? »</a:t>
            </a:r>
          </a:p>
        </p:txBody>
      </p:sp>
      <p:sp>
        <p:nvSpPr>
          <p:cNvPr id="5" name="Rounded Rectangle 4"/>
          <p:cNvSpPr/>
          <p:nvPr/>
        </p:nvSpPr>
        <p:spPr>
          <a:xfrm>
            <a:off x="566928" y="3794760"/>
            <a:ext cx="9960559" cy="2131568"/>
          </a:xfrm>
          <a:prstGeom prst="roundRect">
            <a:avLst>
              <a:gd name="adj" fmla="val 686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Trois jours de pluie, la rivière Magog sortie de son lit, une dizaine de sous-sols inondés. La Ville affirme une chose, une résidente en demande une autre, les pompiers en expliquent une troisième. Répéter tout ça sans dire qui l'a dit, c'est transformer une nouvelle en rumeur.</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Raconter une nouvelle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rapporter au présent une parole lue dans le journal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la personne ou le service qui a parlé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choisir le verbe qui convient : dit, explique, demande, raconte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une déclaration d'une rumeur.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Un sous-sol où l'eau monte au-dessus des boîtes. Qui va parler dans cet article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sous-sol-inonde.jpg"/>
          <p:cNvPicPr>
            <a:picLocks noChangeAspect="1"/>
          </p:cNvPicPr>
          <p:nvPr/>
        </p:nvPicPr>
        <p:blipFill>
          <a:blip r:embed="rId2"/>
          <a:stretch>
            <a:fillRect/>
          </a:stretch>
        </p:blipFill>
        <p:spPr>
          <a:xfrm>
            <a:off x="7644383" y="2638438"/>
            <a:ext cx="3760927" cy="2522955"/>
          </a:xfrm>
          <a:prstGeom prst="rect">
            <a:avLst/>
          </a:prstGeom>
        </p:spPr>
      </p:pic>
      <p:sp>
        <p:nvSpPr>
          <p:cNvPr id="9" name="Rounded Rectangle 8"/>
          <p:cNvSpPr/>
          <p:nvPr/>
        </p:nvSpPr>
        <p:spPr>
          <a:xfrm>
            <a:off x="566928" y="1856232"/>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personne qui habite la maison : elle raconte ce qu'elle a perdu.</a:t>
            </a:r>
          </a:p>
        </p:txBody>
      </p:sp>
      <p:sp>
        <p:nvSpPr>
          <p:cNvPr id="12" name="Rounded Rectangle 11"/>
          <p:cNvSpPr/>
          <p:nvPr/>
        </p:nvSpPr>
        <p:spPr>
          <a:xfrm>
            <a:off x="566928" y="2979928"/>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3089656"/>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3162808"/>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Ville : elle explique ce qu'elle a fait, et quand.</a:t>
            </a:r>
          </a:p>
        </p:txBody>
      </p:sp>
      <p:sp>
        <p:nvSpPr>
          <p:cNvPr id="15" name="Rounded Rectangle 14"/>
          <p:cNvSpPr/>
          <p:nvPr/>
        </p:nvSpPr>
        <p:spPr>
          <a:xfrm>
            <a:off x="566928" y="4103624"/>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4213352"/>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4286504"/>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pompiers : ils disent ce qu'ils font en ce moment.</a:t>
            </a:r>
          </a:p>
        </p:txBody>
      </p:sp>
      <p:sp>
        <p:nvSpPr>
          <p:cNvPr id="18" name="Rounded Rectangle 17"/>
          <p:cNvSpPr/>
          <p:nvPr/>
        </p:nvSpPr>
        <p:spPr>
          <a:xfrm>
            <a:off x="566928" y="5227320"/>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5337048"/>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5410200"/>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Environnement Canada : l'avertissement avait été émis la veille.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5</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Il a mouillé sans bon sens</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diapositive masquée.</a:t>
            </a:r>
          </a:p>
        </p:txBody>
      </p:sp>
      <p:sp>
        <p:nvSpPr>
          <p:cNvPr id="8" name="Rounded Rectangle 7"/>
          <p:cNvSpPr/>
          <p:nvPr/>
        </p:nvSpPr>
        <p:spPr>
          <a:xfrm>
            <a:off x="566928" y="2157984"/>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TERESA</a:t>
            </a:r>
          </a:p>
        </p:txBody>
      </p:sp>
      <p:sp>
        <p:nvSpPr>
          <p:cNvPr id="10" name="TextBox 9"/>
          <p:cNvSpPr txBox="1"/>
          <p:nvPr/>
        </p:nvSpPr>
        <p:spPr>
          <a:xfrm>
            <a:off x="2431161" y="2322576"/>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Allô ! Ça va ? Il paraît qu'il a mouillé sans bon sens chez vous.</a:t>
            </a:r>
          </a:p>
        </p:txBody>
      </p:sp>
      <p:sp>
        <p:nvSpPr>
          <p:cNvPr id="11" name="Rounded Rectangle 10"/>
          <p:cNvSpPr/>
          <p:nvPr/>
        </p:nvSpPr>
        <p:spPr>
          <a:xfrm>
            <a:off x="566928" y="29072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071876"/>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13" name="TextBox 12"/>
          <p:cNvSpPr txBox="1"/>
          <p:nvPr/>
        </p:nvSpPr>
        <p:spPr>
          <a:xfrm>
            <a:off x="2431161" y="3071876"/>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Trois jours de pluie. La rivière Magog est sortie de son lit.</a:t>
            </a:r>
          </a:p>
        </p:txBody>
      </p:sp>
      <p:sp>
        <p:nvSpPr>
          <p:cNvPr id="14" name="Rounded Rectangle 13"/>
          <p:cNvSpPr/>
          <p:nvPr/>
        </p:nvSpPr>
        <p:spPr>
          <a:xfrm>
            <a:off x="566928" y="36565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821175"/>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TERESA</a:t>
            </a:r>
          </a:p>
        </p:txBody>
      </p:sp>
      <p:sp>
        <p:nvSpPr>
          <p:cNvPr id="16" name="TextBox 15"/>
          <p:cNvSpPr txBox="1"/>
          <p:nvPr/>
        </p:nvSpPr>
        <p:spPr>
          <a:xfrm>
            <a:off x="2431161" y="3821175"/>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Sortie de son lit ? C'est grave, ça ?</a:t>
            </a:r>
          </a:p>
        </p:txBody>
      </p:sp>
      <p:sp>
        <p:nvSpPr>
          <p:cNvPr id="17" name="Rounded Rectangle 16"/>
          <p:cNvSpPr/>
          <p:nvPr/>
        </p:nvSpPr>
        <p:spPr>
          <a:xfrm>
            <a:off x="566928" y="44058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 y="4570475"/>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19" name="TextBox 18"/>
          <p:cNvSpPr txBox="1"/>
          <p:nvPr/>
        </p:nvSpPr>
        <p:spPr>
          <a:xfrm>
            <a:off x="2431161" y="4570475"/>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dizaine de sous-sols inondés sur la rue des Peupliers.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5</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Elle le dit, ou tu le penses ?</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TERESA</a:t>
            </a:r>
          </a:p>
        </p:txBody>
      </p:sp>
      <p:sp>
        <p:nvSpPr>
          <p:cNvPr id="9" name="TextBox 8"/>
          <p:cNvSpPr txBox="1"/>
          <p:nvPr/>
        </p:nvSpPr>
        <p:spPr>
          <a:xfrm>
            <a:off x="2431161" y="1901952"/>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la Ville, elle fait quoi ?</a:t>
            </a:r>
          </a:p>
        </p:txBody>
      </p:sp>
      <p:sp>
        <p:nvSpPr>
          <p:cNvPr id="10" name="Rounded Rectangle 9"/>
          <p:cNvSpPr/>
          <p:nvPr/>
        </p:nvSpPr>
        <p:spPr>
          <a:xfrm>
            <a:off x="566928" y="24866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12" name="TextBox 11"/>
          <p:cNvSpPr txBox="1"/>
          <p:nvPr/>
        </p:nvSpPr>
        <p:spPr>
          <a:xfrm>
            <a:off x="2431161" y="2651252"/>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Ville dit qu'elle a distribué des sacs de sable dès lundi.</a:t>
            </a:r>
          </a:p>
        </p:txBody>
      </p:sp>
      <p:sp>
        <p:nvSpPr>
          <p:cNvPr id="13" name="Rounded Rectangle 12"/>
          <p:cNvSpPr/>
          <p:nvPr/>
        </p:nvSpPr>
        <p:spPr>
          <a:xfrm>
            <a:off x="566928" y="32359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00551"/>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TERESA</a:t>
            </a:r>
          </a:p>
        </p:txBody>
      </p:sp>
      <p:sp>
        <p:nvSpPr>
          <p:cNvPr id="15" name="TextBox 14"/>
          <p:cNvSpPr txBox="1"/>
          <p:nvPr/>
        </p:nvSpPr>
        <p:spPr>
          <a:xfrm>
            <a:off x="2431161" y="3400551"/>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Elle le dit, ou tu le penses ?</a:t>
            </a:r>
          </a:p>
        </p:txBody>
      </p:sp>
      <p:sp>
        <p:nvSpPr>
          <p:cNvPr id="16" name="Rounded Rectangle 15"/>
          <p:cNvSpPr/>
          <p:nvPr/>
        </p:nvSpPr>
        <p:spPr>
          <a:xfrm>
            <a:off x="566928" y="39852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149851"/>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18" name="TextBox 17"/>
          <p:cNvSpPr txBox="1"/>
          <p:nvPr/>
        </p:nvSpPr>
        <p:spPr>
          <a:xfrm>
            <a:off x="2431161" y="4149851"/>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Elle le dit. C'est écrit dans le journal, entre guillemets.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3 DE 5</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Une résidente raconte</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TERESA</a:t>
            </a:r>
          </a:p>
        </p:txBody>
      </p:sp>
      <p:sp>
        <p:nvSpPr>
          <p:cNvPr id="9" name="TextBox 8"/>
          <p:cNvSpPr txBox="1"/>
          <p:nvPr/>
        </p:nvSpPr>
        <p:spPr>
          <a:xfrm>
            <a:off x="2431161" y="1901952"/>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le monde de la rue, ils disent quoi ?</a:t>
            </a:r>
          </a:p>
        </p:txBody>
      </p:sp>
      <p:sp>
        <p:nvSpPr>
          <p:cNvPr id="10" name="Rounded Rectangle 9"/>
          <p:cNvSpPr/>
          <p:nvPr/>
        </p:nvSpPr>
        <p:spPr>
          <a:xfrm>
            <a:off x="566928" y="24866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12" name="TextBox 11"/>
          <p:cNvSpPr txBox="1"/>
          <p:nvPr/>
        </p:nvSpPr>
        <p:spPr>
          <a:xfrm>
            <a:off x="2431161" y="2651252"/>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résidente raconte qu'elle a tout perdu dans son sous-sol.</a:t>
            </a:r>
          </a:p>
        </p:txBody>
      </p:sp>
      <p:sp>
        <p:nvSpPr>
          <p:cNvPr id="13" name="Rounded Rectangle 12"/>
          <p:cNvSpPr/>
          <p:nvPr/>
        </p:nvSpPr>
        <p:spPr>
          <a:xfrm>
            <a:off x="566928" y="32359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00551"/>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TERESA</a:t>
            </a:r>
          </a:p>
        </p:txBody>
      </p:sp>
      <p:sp>
        <p:nvSpPr>
          <p:cNvPr id="15" name="TextBox 14"/>
          <p:cNvSpPr txBox="1"/>
          <p:nvPr/>
        </p:nvSpPr>
        <p:spPr>
          <a:xfrm>
            <a:off x="2431161" y="3400551"/>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Pauvre elle. Elle demande quelque chose ?</a:t>
            </a:r>
          </a:p>
        </p:txBody>
      </p:sp>
      <p:sp>
        <p:nvSpPr>
          <p:cNvPr id="16" name="Rounded Rectangle 15"/>
          <p:cNvSpPr/>
          <p:nvPr/>
        </p:nvSpPr>
        <p:spPr>
          <a:xfrm>
            <a:off x="566928" y="39852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149851"/>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18" name="TextBox 17"/>
          <p:cNvSpPr txBox="1"/>
          <p:nvPr/>
        </p:nvSpPr>
        <p:spPr>
          <a:xfrm>
            <a:off x="2431161" y="4149851"/>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Elle demande si la Ville va refaire le fossé au bout de la rue.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4 DE 5</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Ville n'a pas voulu dire quand</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TERESA</a:t>
            </a:r>
          </a:p>
        </p:txBody>
      </p:sp>
      <p:sp>
        <p:nvSpPr>
          <p:cNvPr id="9" name="TextBox 8"/>
          <p:cNvSpPr txBox="1"/>
          <p:nvPr/>
        </p:nvSpPr>
        <p:spPr>
          <a:xfrm>
            <a:off x="2431161" y="1901952"/>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personne ne répond à ça ?</a:t>
            </a:r>
          </a:p>
        </p:txBody>
      </p:sp>
      <p:sp>
        <p:nvSpPr>
          <p:cNvPr id="10" name="Rounded Rectangle 9"/>
          <p:cNvSpPr/>
          <p:nvPr/>
        </p:nvSpPr>
        <p:spPr>
          <a:xfrm>
            <a:off x="566928" y="24866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12" name="TextBox 11"/>
          <p:cNvSpPr txBox="1"/>
          <p:nvPr/>
        </p:nvSpPr>
        <p:spPr>
          <a:xfrm>
            <a:off x="2431161" y="2651252"/>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journal écrit que la Ville n'a pas voulu dire quand.</a:t>
            </a:r>
          </a:p>
        </p:txBody>
      </p:sp>
      <p:sp>
        <p:nvSpPr>
          <p:cNvPr id="13" name="Rounded Rectangle 12"/>
          <p:cNvSpPr/>
          <p:nvPr/>
        </p:nvSpPr>
        <p:spPr>
          <a:xfrm>
            <a:off x="566928" y="32359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00551"/>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TERESA</a:t>
            </a:r>
          </a:p>
        </p:txBody>
      </p:sp>
      <p:sp>
        <p:nvSpPr>
          <p:cNvPr id="15" name="TextBox 14"/>
          <p:cNvSpPr txBox="1"/>
          <p:nvPr/>
        </p:nvSpPr>
        <p:spPr>
          <a:xfrm>
            <a:off x="2431161" y="3400551"/>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Toi, tu me dis toujours qui parle. J'aime ça.</a:t>
            </a:r>
          </a:p>
        </p:txBody>
      </p:sp>
      <p:sp>
        <p:nvSpPr>
          <p:cNvPr id="16" name="Rounded Rectangle 15"/>
          <p:cNvSpPr/>
          <p:nvPr/>
        </p:nvSpPr>
        <p:spPr>
          <a:xfrm>
            <a:off x="566928" y="39852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149851"/>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18" name="TextBox 17"/>
          <p:cNvSpPr txBox="1"/>
          <p:nvPr/>
        </p:nvSpPr>
        <p:spPr>
          <a:xfrm>
            <a:off x="2431161" y="4149851"/>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Sinon on ne sait plus qui pense quoi. C'est mêlant.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5 DE 5</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Ils pompent depuis mercredi</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TERESA</a:t>
            </a:r>
          </a:p>
        </p:txBody>
      </p:sp>
      <p:sp>
        <p:nvSpPr>
          <p:cNvPr id="9" name="TextBox 8"/>
          <p:cNvSpPr txBox="1"/>
          <p:nvPr/>
        </p:nvSpPr>
        <p:spPr>
          <a:xfrm>
            <a:off x="2431161" y="1901952"/>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C'est vrai. Bon, et il reste de l'eau dans les maisons ?</a:t>
            </a:r>
          </a:p>
        </p:txBody>
      </p:sp>
      <p:sp>
        <p:nvSpPr>
          <p:cNvPr id="10" name="TextBox 9"/>
          <p:cNvSpPr txBox="1"/>
          <p:nvPr/>
        </p:nvSpPr>
        <p:spPr>
          <a:xfrm>
            <a:off x="932688" y="2651252"/>
            <a:ext cx="1498473"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MARISOL</a:t>
            </a:r>
          </a:p>
        </p:txBody>
      </p:sp>
      <p:sp>
        <p:nvSpPr>
          <p:cNvPr id="11" name="TextBox 10"/>
          <p:cNvSpPr txBox="1"/>
          <p:nvPr/>
        </p:nvSpPr>
        <p:spPr>
          <a:xfrm>
            <a:off x="2431161" y="2651252"/>
            <a:ext cx="8644966"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Les pompiers expliquent qu'ils pompent depuis mercredi matin.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ON NOMME D'ABORD CELUI QUI PARLE, ON RAPPORTE ENSUITE</a:t>
            </a:r>
          </a:p>
        </p:txBody>
      </p:sp>
      <p:sp>
        <p:nvSpPr>
          <p:cNvPr id="6" name="Rounded Rectangle 5"/>
          <p:cNvSpPr/>
          <p:nvPr/>
        </p:nvSpPr>
        <p:spPr>
          <a:xfrm>
            <a:off x="566928" y="1225296"/>
            <a:ext cx="11057839" cy="2494788"/>
          </a:xfrm>
          <a:prstGeom prst="roundRect">
            <a:avLst>
              <a:gd name="adj" fmla="val 586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71828"/>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La Ville dit qu'elle a distribué des sacs de sable. Les pompiers expliquent qu'ils pompent depuis mercredi.</a:t>
            </a:r>
          </a:p>
        </p:txBody>
      </p:sp>
      <p:sp>
        <p:nvSpPr>
          <p:cNvPr id="8" name="Rounded Rectangle 7"/>
          <p:cNvSpPr/>
          <p:nvPr/>
        </p:nvSpPr>
        <p:spPr>
          <a:xfrm>
            <a:off x="566928" y="3994404"/>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68724"/>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verbe reste au présent : la parole a été dite hier, mais elle tient encore aujourd'hui. C'est la position de la Ville, pas un évènement de sa journée. Sans le nom au début, la phrase devient « il paraît que » — et ça ne vaut rien.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QUATRE VOIX</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Qui parle, et ce que chacun apporte</a:t>
            </a:r>
          </a:p>
        </p:txBody>
      </p:sp>
      <p:sp>
        <p:nvSpPr>
          <p:cNvPr id="7" name="Rounded Rectangle 6"/>
          <p:cNvSpPr/>
          <p:nvPr/>
        </p:nvSpPr>
        <p:spPr>
          <a:xfrm>
            <a:off x="566928" y="1810512"/>
            <a:ext cx="11057839" cy="3337560"/>
          </a:xfrm>
          <a:prstGeom prst="roundRect">
            <a:avLst>
              <a:gd name="adj" fmla="val 43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QUI PARLE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QU'IL APPORTE</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La Ville</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Ce qu'elle a fait, et quand : les sacs de sable dès lundi</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Une résidente</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Ce qu'elle a vécu, et ce qu'elle demande</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Les pompiers</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Ce qui se passe en ce moment : ils pompent</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Le journal</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Ce que personne n'a voulu dire : la date du fossé</a:t>
            </a:r>
          </a:p>
        </p:txBody>
      </p:sp>
      <p:sp>
        <p:nvSpPr>
          <p:cNvPr id="21" name="Rectangle 20"/>
          <p:cNvSpPr/>
          <p:nvPr/>
        </p:nvSpPr>
        <p:spPr>
          <a:xfrm>
            <a:off x="932688" y="442569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553712"/>
            <a:ext cx="3291492"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 Il paraît que »</a:t>
            </a:r>
          </a:p>
        </p:txBody>
      </p:sp>
      <p:sp>
        <p:nvSpPr>
          <p:cNvPr id="23" name="TextBox 22"/>
          <p:cNvSpPr txBox="1"/>
          <p:nvPr/>
        </p:nvSpPr>
        <p:spPr>
          <a:xfrm>
            <a:off x="4443636" y="4553712"/>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Rien du tout : personne ne le dit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l'appel du soir avec Teresa.</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a plu trois jours de suite à Sherbrooke.</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rivière Magog est sortie de son lit.</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trentaine de sous-sols ont été inondés.</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Ville dit qu'elle a distribué des sacs de sable dès lundi.</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C'est Marisol qui pense que la Ville a distribué des sacs.</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résidente raconte qu'elle a tout perdu dans son sous-sol.</a:t>
            </a:r>
          </a:p>
        </p:txBody>
      </p:sp>
      <p:sp>
        <p:nvSpPr>
          <p:cNvPr id="32" name="Rounded Rectangle 31"/>
          <p:cNvSpPr/>
          <p:nvPr/>
        </p:nvSpPr>
        <p:spPr>
          <a:xfrm>
            <a:off x="566928" y="626668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636371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642772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7</a:t>
            </a:r>
          </a:p>
        </p:txBody>
      </p:sp>
      <p:sp>
        <p:nvSpPr>
          <p:cNvPr id="35" name="TextBox 34"/>
          <p:cNvSpPr txBox="1"/>
          <p:nvPr/>
        </p:nvSpPr>
        <p:spPr>
          <a:xfrm>
            <a:off x="1344168" y="6422136"/>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Ville a répondu quand elle referait le fossé.</a:t>
            </a:r>
          </a:p>
        </p:txBody>
      </p:sp>
      <p:sp>
        <p:nvSpPr>
          <p:cNvPr id="36" name="Rounded Rectangle 35"/>
          <p:cNvSpPr/>
          <p:nvPr/>
        </p:nvSpPr>
        <p:spPr>
          <a:xfrm>
            <a:off x="566928" y="6954520"/>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841247" y="705154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841247" y="711555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8</a:t>
            </a:r>
          </a:p>
        </p:txBody>
      </p:sp>
      <p:sp>
        <p:nvSpPr>
          <p:cNvPr id="39" name="TextBox 38"/>
          <p:cNvSpPr txBox="1"/>
          <p:nvPr/>
        </p:nvSpPr>
        <p:spPr>
          <a:xfrm>
            <a:off x="1344168" y="7109968"/>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pompiers expliquent qu'ils pompent depuis mercredi matin.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a plu trois jours de suite à Sherbrooke.   </a:t>
            </a:r>
            <a:r>
              <a:rPr sz="1400" b="1" i="0">
                <a:solidFill>
                  <a:srgbClr val="07734A"/>
                </a:solidFill>
                <a:latin typeface="Verdana"/>
              </a:rPr>
              <a:t>» vrai</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rivière Magog est sortie de son lit.   </a:t>
            </a:r>
            <a:r>
              <a:rPr sz="1400" b="1" i="0">
                <a:solidFill>
                  <a:srgbClr val="07734A"/>
                </a:solidFill>
                <a:latin typeface="Verdana"/>
              </a:rPr>
              <a:t>» vrai</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trentaine de sous-sols ont été inondés.   </a:t>
            </a:r>
            <a:r>
              <a:rPr sz="1400" b="1" i="0">
                <a:solidFill>
                  <a:srgbClr val="07734A"/>
                </a:solidFill>
                <a:latin typeface="Verdana"/>
              </a:rPr>
              <a:t>» faux — une dizaine</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Ville dit qu'elle a distribué des sacs de sable dès lundi.   </a:t>
            </a:r>
            <a:r>
              <a:rPr sz="1400" b="1" i="0">
                <a:solidFill>
                  <a:srgbClr val="07734A"/>
                </a:solidFill>
                <a:latin typeface="Verdana"/>
              </a:rPr>
              <a:t>» vrai</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C'est Marisol qui pense que la Ville a distribué des sacs.   </a:t>
            </a:r>
            <a:r>
              <a:rPr sz="1400" b="1" i="0">
                <a:solidFill>
                  <a:srgbClr val="07734A"/>
                </a:solidFill>
                <a:latin typeface="Verdana"/>
              </a:rPr>
              <a:t>» faux — la Ville le dit</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résidente raconte qu'elle a tout perdu dans son sous-sol.   </a:t>
            </a:r>
            <a:r>
              <a:rPr sz="1400" b="1" i="0">
                <a:solidFill>
                  <a:srgbClr val="07734A"/>
                </a:solidFill>
                <a:latin typeface="Verdana"/>
              </a:rPr>
              <a:t>» vrai</a:t>
            </a:r>
          </a:p>
        </p:txBody>
      </p:sp>
      <p:sp>
        <p:nvSpPr>
          <p:cNvPr id="32" name="Rounded Rectangle 31"/>
          <p:cNvSpPr/>
          <p:nvPr/>
        </p:nvSpPr>
        <p:spPr>
          <a:xfrm>
            <a:off x="566928" y="626668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636371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642772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7</a:t>
            </a:r>
          </a:p>
        </p:txBody>
      </p:sp>
      <p:sp>
        <p:nvSpPr>
          <p:cNvPr id="35" name="TextBox 34"/>
          <p:cNvSpPr txBox="1"/>
          <p:nvPr/>
        </p:nvSpPr>
        <p:spPr>
          <a:xfrm>
            <a:off x="1344168" y="6422136"/>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Ville a répondu quand elle referait le fossé.   </a:t>
            </a:r>
            <a:r>
              <a:rPr sz="1400" b="1" i="0">
                <a:solidFill>
                  <a:srgbClr val="07734A"/>
                </a:solidFill>
                <a:latin typeface="Verdana"/>
              </a:rPr>
              <a:t>» faux — elle n'a pas voulu dire quand</a:t>
            </a:r>
          </a:p>
        </p:txBody>
      </p:sp>
      <p:sp>
        <p:nvSpPr>
          <p:cNvPr id="36" name="Rounded Rectangle 35"/>
          <p:cNvSpPr/>
          <p:nvPr/>
        </p:nvSpPr>
        <p:spPr>
          <a:xfrm>
            <a:off x="566928" y="6954520"/>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841247" y="705154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841247" y="711555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8</a:t>
            </a:r>
          </a:p>
        </p:txBody>
      </p:sp>
      <p:sp>
        <p:nvSpPr>
          <p:cNvPr id="39" name="TextBox 38"/>
          <p:cNvSpPr txBox="1"/>
          <p:nvPr/>
        </p:nvSpPr>
        <p:spPr>
          <a:xfrm>
            <a:off x="1344168" y="7109968"/>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pompiers expliquent qu'ils pompent depuis mercredi matin.   </a:t>
            </a:r>
            <a:r>
              <a:rPr sz="1400" b="1" i="0">
                <a:solidFill>
                  <a:srgbClr val="07734A"/>
                </a:solidFill>
                <a:latin typeface="Verdana"/>
              </a:rPr>
              <a:t>» vrai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Raconter une nouvelle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Rapportez une parole du dialogue, en nommant qui l'a dite.</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seule phrase : qui parle, le verbe au présent, puis « que » ou « si ».</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Relisez : est-ce qu'on sait de qui vient l'information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Raconter une nouvelle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