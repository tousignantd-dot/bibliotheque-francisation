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défi 3. Commencer par annoncer le chiffre — trente vélos en un mois — et demander au groupe sa réaction, sans consigne. Les réponses spontanées mêlent presque toujours faits et opinions : c'est le matériau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celui qui rend la conversation possible. Le montrer dans le dialogue : Marisol accorde deux fois à Sylvain avant de tourner, et c'est pour ça qu'il finit par l'écouter.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pistes suffisent à installer le tri. Insister sur la troisième : « négligence » est un mot de jugement, et personne ne peut aller le vérifier nulle 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réplique est une opinion présentée comme un fait, et elle arrive au bout de quinze secondes. La faire relever : c'est exactement ce que la séance apprend à repérer.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réplique est le modèle du désaccord poli : « c'est vrai que… par contre… ». La faire répéter à voix haute par tout le groupe. C'est la formule évaluée en D2 et en E1.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réplique porte la formule du défi. Faire remarquer sa construction : le « moi » qui annonce, le sentiment qui se nomme, puis ce dont il s'agit. Elle se démontera en D2.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Tu marques un point » vaut d'être relevé : dans une discussion, reconnaître qu'on a appris quelque chose n'est pas une défaite. Le dire explicitement — beaucoup d'élèves croient l'inverse.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Clôture du dernier dialogue du module. La réplique de Sylvain dit la réussite de Marisol : elle lui a transmis une nouvelle complète, avec ses sources et son avis, sans qu'il ait ouvert le journal.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sera démontée pièce par pièce en D2 ; ici, on l'installe entière et on la fait répéter.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seule question suffit : est-ce qu'on peut aller vérifier ? Faire remarquer les mots qui trahissent l'opinion — trop, pas assez, il faudrait, inacceptable, c'est normal.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t3a de l'activité. Enchaîner ensuite avec t3fait, le tri entre fait et opinion : le tableau projeté plus haut sert de corrigé partiel.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Beaucoup mélangeront encore les deux : c'est normal à ce stade, et ces billets ouvrent parfaitement la séance D2.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11</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Moi, ce qui me surprend, c'est le nombre »</a:t>
            </a:r>
          </a:p>
        </p:txBody>
      </p:sp>
      <p:sp>
        <p:nvSpPr>
          <p:cNvPr id="5" name="Rounded Rectangle 4"/>
          <p:cNvSpPr/>
          <p:nvPr/>
        </p:nvSpPr>
        <p:spPr>
          <a:xfrm>
            <a:off x="566928" y="3794760"/>
            <a:ext cx="9960559" cy="2499868"/>
          </a:xfrm>
          <a:prstGeom prst="roundRect">
            <a:avLst>
              <a:gd name="adj" fmla="val 58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Trente vélos volés dans le quartier en un mois, presque tous dans des cabanons laissés ouverts. Une fois la nouvelle racontée, il reste la vraie conversation : ce que ça vous fait. Et là, deux choses comptent — annoncer son avis comme un avis, et savoir répondre à qui pense autrement.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Raconter une nouvelle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annoncer un avis comme un avis, et non comme un fait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 fait vérifiable d'un jugement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justifier une opinion avec « parce que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accorder à l'autre ce qu'il a de juste avant d'objecter.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Une porte de cabanon grande ouverte. Qu'est-ce qui est un fait, ici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banon-ouvert.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porte est ouverte : ça se voit, c'est un fait.</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 vélos ont disparu en un mois : ça se compte, c'est un fait.</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C'est de la négligence » : ça ne se vérifie pas, c'est un jugement.</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Il faudrait des caméras dans les ruelles » : c'est une opinion aussi.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Trente ? Voyons donc</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0" name="TextBox 9"/>
          <p:cNvSpPr txBox="1"/>
          <p:nvPr/>
        </p:nvSpPr>
        <p:spPr>
          <a:xfrm>
            <a:off x="2431161" y="23225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Sylvain, trente vélos volés dans le quartier en un mois.</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3" name="TextBox 12"/>
          <p:cNvSpPr txBox="1"/>
          <p:nvPr/>
        </p:nvSpPr>
        <p:spPr>
          <a:xfrm>
            <a:off x="2431161" y="30718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 ? Voyons donc. Volés où ?</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6" name="TextBox 15"/>
          <p:cNvSpPr txBox="1"/>
          <p:nvPr/>
        </p:nvSpPr>
        <p:spPr>
          <a:xfrm>
            <a:off x="2431161" y="38211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des cabanons et des garages laissés ouverts, presque tous.</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9" name="TextBox 18"/>
          <p:cNvSpPr txBox="1"/>
          <p:nvPr/>
        </p:nvSpPr>
        <p:spPr>
          <a:xfrm>
            <a:off x="2431161" y="45704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Bon. Ça, c'est de la négligence, pas du vol.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porte ouverte n'est pas une invitation</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ne suis pas d'accord avec toi. Une porte ouverte, ce n'est pas une invitation.</a:t>
            </a:r>
          </a:p>
        </p:txBody>
      </p:sp>
      <p:sp>
        <p:nvSpPr>
          <p:cNvPr id="10" name="Rounded Rectangle 9"/>
          <p:cNvSpPr/>
          <p:nvPr/>
        </p:nvSpPr>
        <p:spPr>
          <a:xfrm>
            <a:off x="566928" y="28244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2" name="TextBox 11"/>
          <p:cNvSpPr txBox="1"/>
          <p:nvPr/>
        </p:nvSpPr>
        <p:spPr>
          <a:xfrm>
            <a:off x="2431161" y="298907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Peut-être. Mais barre ta porte, et il n'arrive rien.</a:t>
            </a:r>
          </a:p>
        </p:txBody>
      </p:sp>
      <p:sp>
        <p:nvSpPr>
          <p:cNvPr id="13" name="Rounded Rectangle 12"/>
          <p:cNvSpPr/>
          <p:nvPr/>
        </p:nvSpPr>
        <p:spPr>
          <a:xfrm>
            <a:off x="566928" y="35737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373837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vrai que ça aide. Par contre, ça n'excuse pas celui qui entre.</a:t>
            </a:r>
          </a:p>
        </p:txBody>
      </p:sp>
      <p:sp>
        <p:nvSpPr>
          <p:cNvPr id="16" name="Rounded Rectangle 15"/>
          <p:cNvSpPr/>
          <p:nvPr/>
        </p:nvSpPr>
        <p:spPr>
          <a:xfrm>
            <a:off x="566928" y="43230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8" name="TextBox 17"/>
          <p:cNvSpPr txBox="1"/>
          <p:nvPr/>
        </p:nvSpPr>
        <p:spPr>
          <a:xfrm>
            <a:off x="2431161" y="448767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police dit quoi, elle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Noter le numéro de série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demande aux gens de noter le numéro de série de leur vélo.</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numéro. Ça ne ramènera jamais un vélo, ça.</a:t>
            </a:r>
          </a:p>
        </p:txBody>
      </p:sp>
      <p:sp>
        <p:nvSpPr>
          <p:cNvPr id="13" name="Rounded Rectangle 12"/>
          <p:cNvSpPr/>
          <p:nvPr/>
        </p:nvSpPr>
        <p:spPr>
          <a:xfrm>
            <a:off x="566928" y="32359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340055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Moi, ce qui me surprend, c'est qu'un vélo retrouvé sans numéro reste à la police.</a:t>
            </a:r>
          </a:p>
        </p:txBody>
      </p:sp>
      <p:sp>
        <p:nvSpPr>
          <p:cNvPr id="16" name="Rounded Rectangle 15"/>
          <p:cNvSpPr/>
          <p:nvPr/>
        </p:nvSpPr>
        <p:spPr>
          <a:xfrm>
            <a:off x="566928" y="43230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8" name="TextBox 17"/>
          <p:cNvSpPr txBox="1"/>
          <p:nvPr/>
        </p:nvSpPr>
        <p:spPr>
          <a:xfrm>
            <a:off x="2431161" y="448767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oui ? Ils le gardent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4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Tu marques un point</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Ils ne savent pas à qui le rendre. C'est pour ça que le numéro sert.</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je ne le savais pas. Tu marques un point.</a:t>
            </a:r>
          </a:p>
        </p:txBody>
      </p:sp>
      <p:sp>
        <p:nvSpPr>
          <p:cNvPr id="13" name="Rounded Rectangle 12"/>
          <p:cNvSpPr/>
          <p:nvPr/>
        </p:nvSpPr>
        <p:spPr>
          <a:xfrm>
            <a:off x="566928" y="32359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340055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il y a un témoin : un commerçant a vu trois vélos dans une remorque.</a:t>
            </a:r>
          </a:p>
        </p:txBody>
      </p:sp>
      <p:sp>
        <p:nvSpPr>
          <p:cNvPr id="16" name="Rounded Rectangle 15"/>
          <p:cNvSpPr/>
          <p:nvPr/>
        </p:nvSpPr>
        <p:spPr>
          <a:xfrm>
            <a:off x="566928" y="432307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8" name="TextBox 17"/>
          <p:cNvSpPr txBox="1"/>
          <p:nvPr/>
        </p:nvSpPr>
        <p:spPr>
          <a:xfrm>
            <a:off x="2431161" y="448767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Tard le soir, j'imagine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5 DE 5</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Tu me fais lire le journal</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Vers minuit. Il l'a signalé le lendemain matin.</a:t>
            </a:r>
          </a:p>
        </p:txBody>
      </p:sp>
      <p:sp>
        <p:nvSpPr>
          <p:cNvPr id="10" name="TextBox 9"/>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SYLVAIN</a:t>
            </a:r>
          </a:p>
        </p:txBody>
      </p:sp>
      <p:sp>
        <p:nvSpPr>
          <p:cNvPr id="11" name="TextBox 10"/>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plate à dire, mais tu me fais lire le journal sans que je le lise.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ANNONCER SON AVIS COMME UN AVIS</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Moi, ce qui me surprend, c'est le nombre.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annonce qu'on parle de soi, on nomme ce qu'on ressent, puis on dit de quoi. La personne en face sait tout de suite que ce n'est pas un fait du journal, et elle vous écoute autrement.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TRI</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 fait, ou une opinion ?</a:t>
            </a:r>
          </a:p>
        </p:txBody>
      </p:sp>
      <p:sp>
        <p:nvSpPr>
          <p:cNvPr id="7" name="Rounded Rectangle 6"/>
          <p:cNvSpPr/>
          <p:nvPr/>
        </p:nvSpPr>
        <p:spPr>
          <a:xfrm>
            <a:off x="566928" y="1810512"/>
            <a:ext cx="11057839" cy="4108704"/>
          </a:xfrm>
          <a:prstGeom prst="roundRect">
            <a:avLst>
              <a:gd name="adj" fmla="val 35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TEST</a:t>
            </a:r>
          </a:p>
        </p:txBody>
      </p:sp>
      <p:sp>
        <p:nvSpPr>
          <p:cNvPr id="10" name="TextBox 9"/>
          <p:cNvSpPr txBox="1"/>
          <p:nvPr/>
        </p:nvSpPr>
        <p:spPr>
          <a:xfrm>
            <a:off x="932688" y="2395728"/>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Trente vélos ont été volés en un mois.</a:t>
            </a:r>
          </a:p>
        </p:txBody>
      </p:sp>
      <p:sp>
        <p:nvSpPr>
          <p:cNvPr id="11" name="TextBox 10"/>
          <p:cNvSpPr txBox="1"/>
          <p:nvPr/>
        </p:nvSpPr>
        <p:spPr>
          <a:xfrm>
            <a:off x="4443636" y="2395728"/>
            <a:ext cx="6595914"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On compte : un fait</a:t>
            </a:r>
          </a:p>
        </p:txBody>
      </p:sp>
      <p:sp>
        <p:nvSpPr>
          <p:cNvPr id="12" name="Rectangle 11"/>
          <p:cNvSpPr/>
          <p:nvPr/>
        </p:nvSpPr>
        <p:spPr>
          <a:xfrm>
            <a:off x="932688" y="30754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03448"/>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C'est de la négligence.</a:t>
            </a:r>
          </a:p>
        </p:txBody>
      </p:sp>
      <p:sp>
        <p:nvSpPr>
          <p:cNvPr id="14" name="TextBox 13"/>
          <p:cNvSpPr txBox="1"/>
          <p:nvPr/>
        </p:nvSpPr>
        <p:spPr>
          <a:xfrm>
            <a:off x="4443636" y="3203448"/>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On ne vérifie pas : une opinion</a:t>
            </a:r>
          </a:p>
        </p:txBody>
      </p:sp>
      <p:sp>
        <p:nvSpPr>
          <p:cNvPr id="15" name="Rectangle 14"/>
          <p:cNvSpPr/>
          <p:nvPr/>
        </p:nvSpPr>
        <p:spPr>
          <a:xfrm>
            <a:off x="932688" y="35981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26180"/>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police recommande de noter le numéro.</a:t>
            </a:r>
          </a:p>
        </p:txBody>
      </p:sp>
      <p:sp>
        <p:nvSpPr>
          <p:cNvPr id="17" name="TextBox 16"/>
          <p:cNvSpPr txBox="1"/>
          <p:nvPr/>
        </p:nvSpPr>
        <p:spPr>
          <a:xfrm>
            <a:off x="4443636" y="3726180"/>
            <a:ext cx="6595914"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C'est écrit : un fait</a:t>
            </a:r>
          </a:p>
        </p:txBody>
      </p:sp>
      <p:sp>
        <p:nvSpPr>
          <p:cNvPr id="18" name="Rectangle 17"/>
          <p:cNvSpPr/>
          <p:nvPr/>
        </p:nvSpPr>
        <p:spPr>
          <a:xfrm>
            <a:off x="932688" y="44058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533900"/>
            <a:ext cx="3291492"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La police n'en fait pas assez.</a:t>
            </a:r>
          </a:p>
        </p:txBody>
      </p:sp>
      <p:sp>
        <p:nvSpPr>
          <p:cNvPr id="20" name="TextBox 19"/>
          <p:cNvSpPr txBox="1"/>
          <p:nvPr/>
        </p:nvSpPr>
        <p:spPr>
          <a:xfrm>
            <a:off x="4443636" y="4533900"/>
            <a:ext cx="6595914" cy="321564"/>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 pas assez » juge : une opinion</a:t>
            </a:r>
          </a:p>
        </p:txBody>
      </p:sp>
      <p:sp>
        <p:nvSpPr>
          <p:cNvPr id="21" name="Rectangle 20"/>
          <p:cNvSpPr/>
          <p:nvPr/>
        </p:nvSpPr>
        <p:spPr>
          <a:xfrm>
            <a:off x="932688" y="49286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056632"/>
            <a:ext cx="3291492" cy="606552"/>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 faudrait des caméras dans les ruelles.</a:t>
            </a:r>
          </a:p>
        </p:txBody>
      </p:sp>
      <p:sp>
        <p:nvSpPr>
          <p:cNvPr id="23" name="TextBox 22"/>
          <p:cNvSpPr txBox="1"/>
          <p:nvPr/>
        </p:nvSpPr>
        <p:spPr>
          <a:xfrm>
            <a:off x="4443636" y="5056632"/>
            <a:ext cx="6595914" cy="606552"/>
          </a:xfrm>
          <a:prstGeom prst="rect">
            <a:avLst/>
          </a:prstGeom>
          <a:noFill/>
        </p:spPr>
        <p:txBody>
          <a:bodyPr wrap="square" lIns="0" rIns="0" tIns="0" bIns="0" anchor="t">
            <a:spAutoFit/>
          </a:bodyPr>
          <a:lstStyle/>
          <a:p>
            <a:pPr algn="l">
              <a:lnSpc>
                <a:spcPct val="132000"/>
              </a:lnSpc>
            </a:pPr>
            <a:r>
              <a:rPr sz="1700" b="1" i="0">
                <a:solidFill>
                  <a:srgbClr val="1D6B8F"/>
                </a:solidFill>
                <a:latin typeface="Verdana"/>
              </a:rPr>
              <a:t>« il faudrait » : une opinion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la discussion avec Sylvain.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trentaine de vélos ont été volés en un mois.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Presque tous les vols ont eu lieu dans des cabanons ouverts.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est d'accord quand Sylvain parle de négligence.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police demande de noter le numéro de série.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vélo retrouvé sans numéro est rendu tout de suite.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commerçant a vu trois vélos dans une remorque vers minuit.</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commerçant a signalé la chose le soir même.</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Sylvain reconnaît à la fin qu'il a appris quelque chose.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trentaine de vélos ont été volés en un mois.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Presque tous les vols ont eu lieu dans des cabanons ouverts.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est d'accord quand Sylvain parle de négligence.   </a:t>
            </a:r>
            <a:r>
              <a:rPr sz="1400" b="1" i="0">
                <a:solidFill>
                  <a:srgbClr val="07734A"/>
                </a:solidFill>
                <a:latin typeface="Verdana"/>
              </a:rPr>
              <a:t>» faux — elle n'est pas d'accord</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police demande de noter le numéro de série.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vélo retrouvé sans numéro est rendu tout de suite.   </a:t>
            </a:r>
            <a:r>
              <a:rPr sz="1400" b="1" i="0">
                <a:solidFill>
                  <a:srgbClr val="07734A"/>
                </a:solidFill>
                <a:latin typeface="Verdana"/>
              </a:rPr>
              <a:t>» faux — il reste à la police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commerçant a vu trois vélos dans une remorque vers minuit.   </a:t>
            </a:r>
            <a:r>
              <a:rPr sz="1400" b="1" i="0">
                <a:solidFill>
                  <a:srgbClr val="07734A"/>
                </a:solidFill>
                <a:latin typeface="Verdana"/>
              </a:rPr>
              <a:t>» vrai</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commerçant a signalé la chose le soir même.   </a:t>
            </a:r>
            <a:r>
              <a:rPr sz="1400" b="1" i="0">
                <a:solidFill>
                  <a:srgbClr val="07734A"/>
                </a:solidFill>
                <a:latin typeface="Verdana"/>
              </a:rPr>
              <a:t>» faux — le lendemain matin</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Sylvain reconnaît à la fin qu'il a appris quelque chose.   </a:t>
            </a:r>
            <a:r>
              <a:rPr sz="1400" b="1" i="0">
                <a:solidFill>
                  <a:srgbClr val="07734A"/>
                </a:solidFill>
                <a:latin typeface="Verdana"/>
              </a:rPr>
              <a:t>» vrai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 fait tiré de la nouvelle, puis votre avis sur ce fait.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fait : quelque chose qu'on peut aller vérifier.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L'avis : commencez par « Moi, ce qui me… » ou par « Je trouve que…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Raconter une nouvelle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