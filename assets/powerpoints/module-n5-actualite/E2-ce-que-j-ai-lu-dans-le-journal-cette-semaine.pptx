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clôture. Prévoir trois temps : l'écriture du courriel, la révision du vocabulaire par les cartes mémoire, puis l'autoévaluation. Ne pas sacrifier le troisième : c'est lui qui dit à l'élève ce qu'il a gagné en quatre semaines.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 distingue ce module de tous les autres récits écrits du niveau. Le rappeler avant l'écriture, pas après.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laisser affichée pendant l'écriture. Les six exigences sont exactement celles de la carte de production écrite de l'activité.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le courriel en suivant le tableau ligne par ligne la première fois. Les élèves rapides peuvent ensuite en écrire un second sur une autre nouvelle, sans le tableau.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est la plus transférable du module : elle vaut pour tout ce que l'élève écrira ensuite, du courriel au commentaire en ligne.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points sont exactement ceux de la carte de production écrite. Faire cocher avant de demander la correction assistée : l'élève corrige d'abord lui-même.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des seize mots, choisis parce qu'ils servent à lire n'importe quel journal, pas seulement celui du module. Renvoyer aux cartes mémoire pour les douze autres.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phrases sont le module entier en quatre lignes — une par bloc. Les faire recopier dans le cahier : ce sont celles qui serviront dès la semaine prochaine.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piège du module. Il fait le lien avec tout le reste : raconter, c'est se mettre à la place de quelqu'un qui n'était pas là et qui n'a rien lu.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module. Ramasser les billets et y revenir la semaine suivante : demander qui l'a fait. Faire ensuite l'autoévaluation en seize points de l'onglet « Je retiens des mots », en classe, sans la ramasser.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Ce que j'ai lu dans le journal cette semaine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Un courriel de sept à dix phrases à quelqu'un qui habite ailleurs et qui ne lit pas L'Écho des Cantons : la nouvelle des vélos volés, ce que la police demande, et ce que vous en pensez.</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Raconter une nouvelle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qui raconte une nouvelle à quelqu'un qui est loin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croiser le passé composé et l'imparfait dans le même texte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une parole au présent en nommant sa source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le bilan de ce qu'on est maintenant capable de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SIX EXIGENCES, ET ELLES SE COCHENT</a:t>
            </a:r>
          </a:p>
        </p:txBody>
      </p:sp>
      <p:sp>
        <p:nvSpPr>
          <p:cNvPr id="6" name="Rounded Rectangle 5"/>
          <p:cNvSpPr/>
          <p:nvPr/>
        </p:nvSpPr>
        <p:spPr>
          <a:xfrm>
            <a:off x="566928" y="1225296"/>
            <a:ext cx="11057839" cy="2835656"/>
          </a:xfrm>
          <a:prstGeom prst="roundRect">
            <a:avLst>
              <a:gd name="adj" fmla="val 5159"/>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12696"/>
          </a:xfrm>
          <a:prstGeom prst="rect">
            <a:avLst/>
          </a:prstGeom>
          <a:noFill/>
        </p:spPr>
        <p:txBody>
          <a:bodyPr wrap="square" lIns="0" rIns="0" tIns="0" bIns="0" anchor="t">
            <a:spAutoFit/>
          </a:bodyPr>
          <a:lstStyle/>
          <a:p>
            <a:pPr algn="l">
              <a:lnSpc>
                <a:spcPct val="122000"/>
              </a:lnSpc>
            </a:pPr>
            <a:r>
              <a:rPr sz="3100" b="1" i="0">
                <a:solidFill>
                  <a:srgbClr val="17181A"/>
                </a:solidFill>
                <a:latin typeface="Verdana"/>
              </a:rPr>
              <a:t>Une salutation et la nouvelle · deux passés composés · un imparfait · une parole rapportée · une phrase impersonnelle · votre avis et sa signature.</a:t>
            </a:r>
          </a:p>
        </p:txBody>
      </p:sp>
      <p:sp>
        <p:nvSpPr>
          <p:cNvPr id="8" name="Rounded Rectangle 7"/>
          <p:cNvSpPr/>
          <p:nvPr/>
        </p:nvSpPr>
        <p:spPr>
          <a:xfrm>
            <a:off x="566928" y="433527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09591"/>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personne qui est loin ne connaît ni la rue, ni le quartier, ni le journal. Dites où c'est, dites d'où vient l'information, et séparez nettement ce que le journal rapporte de ce que vous en pensez.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chaque phrase doit faire</a:t>
            </a:r>
          </a:p>
        </p:txBody>
      </p:sp>
      <p:sp>
        <p:nvSpPr>
          <p:cNvPr id="7" name="Rounded Rectangle 6"/>
          <p:cNvSpPr/>
          <p:nvPr/>
        </p:nvSpPr>
        <p:spPr>
          <a:xfrm>
            <a:off x="566928" y="1810512"/>
            <a:ext cx="11057839" cy="4178808"/>
          </a:xfrm>
          <a:prstGeom prst="roundRect">
            <a:avLst>
              <a:gd name="adj" fmla="val 350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SON RÔLE</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Allô Teresa,</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Une ligne, pas trois</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Une trentaine de vélos ont été volés ici.</a:t>
            </a:r>
          </a:p>
        </p:txBody>
      </p:sp>
      <p:sp>
        <p:nvSpPr>
          <p:cNvPr id="14" name="TextBox 13"/>
          <p:cNvSpPr txBox="1"/>
          <p:nvPr/>
        </p:nvSpPr>
        <p:spPr>
          <a:xfrm>
            <a:off x="4443636" y="2868168"/>
            <a:ext cx="6595914"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La nouvelle, dès le début</a:t>
            </a:r>
          </a:p>
        </p:txBody>
      </p:sp>
      <p:sp>
        <p:nvSpPr>
          <p:cNvPr id="15" name="Rectangle 14"/>
          <p:cNvSpPr/>
          <p:nvPr/>
        </p:nvSpPr>
        <p:spPr>
          <a:xfrm>
            <a:off x="932688" y="344728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575304"/>
            <a:ext cx="3291492"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Les cabanons n'étaient pas barrés.</a:t>
            </a:r>
          </a:p>
        </p:txBody>
      </p:sp>
      <p:sp>
        <p:nvSpPr>
          <p:cNvPr id="17" name="TextBox 16"/>
          <p:cNvSpPr txBox="1"/>
          <p:nvPr/>
        </p:nvSpPr>
        <p:spPr>
          <a:xfrm>
            <a:off x="4443636" y="3575304"/>
            <a:ext cx="6595914"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Le décor, à l'imparfait</a:t>
            </a:r>
          </a:p>
        </p:txBody>
      </p:sp>
      <p:sp>
        <p:nvSpPr>
          <p:cNvPr id="18" name="Rectangle 17"/>
          <p:cNvSpPr/>
          <p:nvPr/>
        </p:nvSpPr>
        <p:spPr>
          <a:xfrm>
            <a:off x="932688" y="39197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47744"/>
            <a:ext cx="3291492"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La police demande de noter le numéro.</a:t>
            </a:r>
          </a:p>
        </p:txBody>
      </p:sp>
      <p:sp>
        <p:nvSpPr>
          <p:cNvPr id="20" name="TextBox 19"/>
          <p:cNvSpPr txBox="1"/>
          <p:nvPr/>
        </p:nvSpPr>
        <p:spPr>
          <a:xfrm>
            <a:off x="4443636" y="4047744"/>
            <a:ext cx="6595914"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Une parole rapportée, avec sa source</a:t>
            </a:r>
          </a:p>
        </p:txBody>
      </p:sp>
      <p:sp>
        <p:nvSpPr>
          <p:cNvPr id="21" name="Rectangle 20"/>
          <p:cNvSpPr/>
          <p:nvPr/>
        </p:nvSpPr>
        <p:spPr>
          <a:xfrm>
            <a:off x="932688" y="46268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754880"/>
            <a:ext cx="3291492"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Il vaut mieux barrer son cabanon.</a:t>
            </a:r>
          </a:p>
        </p:txBody>
      </p:sp>
      <p:sp>
        <p:nvSpPr>
          <p:cNvPr id="23" name="TextBox 22"/>
          <p:cNvSpPr txBox="1"/>
          <p:nvPr/>
        </p:nvSpPr>
        <p:spPr>
          <a:xfrm>
            <a:off x="4443636" y="4754880"/>
            <a:ext cx="6595914" cy="271271"/>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Une phrase impersonnelle</a:t>
            </a:r>
          </a:p>
        </p:txBody>
      </p:sp>
      <p:sp>
        <p:nvSpPr>
          <p:cNvPr id="24" name="Rectangle 23"/>
          <p:cNvSpPr/>
          <p:nvPr/>
        </p:nvSpPr>
        <p:spPr>
          <a:xfrm>
            <a:off x="932688" y="50993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227320"/>
            <a:ext cx="3291492"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Moi, ce qui me surprend, c'est le nombre.</a:t>
            </a:r>
          </a:p>
        </p:txBody>
      </p:sp>
      <p:sp>
        <p:nvSpPr>
          <p:cNvPr id="26" name="TextBox 25"/>
          <p:cNvSpPr txBox="1"/>
          <p:nvPr/>
        </p:nvSpPr>
        <p:spPr>
          <a:xfrm>
            <a:off x="4443636" y="5227320"/>
            <a:ext cx="6595914"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L'avis, annoncé comme un avis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TROIS DÉTAILS QUI CHANGENT TOUT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Ce qui distingue un courriel qu'on comprend de loin</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 lieu nommé</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dans mon quartier, à Sherbrooke » — Teresa ne connaît pas la rue.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source nommée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la police demande » vaut mieux que « il paraît qu'il faut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frontière nette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faits d'abord, l'avis ensuite : jamais les deux dans la même phrase.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signature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Votre prénom, et le lien : ta belle-sœur, ton cousin, ton amie du cours.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Avant d'envoyer votre courriel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Six choses à vérifier, dans l'ordre.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nouvelle est-elle dite dès le début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deux phrases au passé composé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une phrase à l'imparfait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parole est-elle rapportée avec son nom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une phrase impersonnelle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avis est-il annoncé et justifié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Avant d'envoyer votre courriel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nouvelle est-elle dite dès le début ?   </a:t>
            </a:r>
            <a:r>
              <a:rPr sz="1400" b="1" i="0">
                <a:solidFill>
                  <a:srgbClr val="07734A"/>
                </a:solidFill>
                <a:latin typeface="Verdana"/>
              </a:rPr>
              <a:t>» sinon, on ne sait pas de quoi il s'agit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deux phrases au passé composé ?   </a:t>
            </a:r>
            <a:r>
              <a:rPr sz="1400" b="1" i="0">
                <a:solidFill>
                  <a:srgbClr val="07734A"/>
                </a:solidFill>
                <a:latin typeface="Verdana"/>
              </a:rPr>
              <a:t>» les évènements, dans l'ordre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une phrase à l'imparfait ?   </a:t>
            </a:r>
            <a:r>
              <a:rPr sz="1400" b="1" i="0">
                <a:solidFill>
                  <a:srgbClr val="07734A"/>
                </a:solidFill>
                <a:latin typeface="Verdana"/>
              </a:rPr>
              <a:t>» le décor : les cabanons n'étaient pas barrés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parole est-elle rapportée avec son nom ?   </a:t>
            </a:r>
            <a:r>
              <a:rPr sz="1400" b="1" i="0">
                <a:solidFill>
                  <a:srgbClr val="07734A"/>
                </a:solidFill>
                <a:latin typeface="Verdana"/>
              </a:rPr>
              <a:t>» la police, un témoin, la Ville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 a-t-il une phrase impersonnelle ?   </a:t>
            </a:r>
            <a:r>
              <a:rPr sz="1400" b="1" i="0">
                <a:solidFill>
                  <a:srgbClr val="07734A"/>
                </a:solidFill>
                <a:latin typeface="Verdana"/>
              </a:rPr>
              <a:t>» il faut, il vaut mieux, il est important de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avis est-il annoncé et justifié ?   </a:t>
            </a:r>
            <a:r>
              <a:rPr sz="1400" b="1" i="0">
                <a:solidFill>
                  <a:srgbClr val="07734A"/>
                </a:solidFill>
                <a:latin typeface="Verdana"/>
              </a:rPr>
              <a:t>» et le courriel est-il signé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à emporter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29076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fait divers</a:t>
            </a:r>
          </a:p>
        </p:txBody>
      </p:sp>
      <p:sp>
        <p:nvSpPr>
          <p:cNvPr id="9" name="TextBox 8"/>
          <p:cNvSpPr txBox="1"/>
          <p:nvPr/>
        </p:nvSpPr>
        <p:spPr>
          <a:xfrm>
            <a:off x="3497770" y="2121408"/>
            <a:ext cx="776123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court article qui raconte un évènement arrivé près de chez soi.</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229076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chapeau</a:t>
            </a:r>
          </a:p>
        </p:txBody>
      </p:sp>
      <p:sp>
        <p:nvSpPr>
          <p:cNvPr id="12" name="TextBox 11"/>
          <p:cNvSpPr txBox="1"/>
          <p:nvPr/>
        </p:nvSpPr>
        <p:spPr>
          <a:xfrm>
            <a:off x="3497770" y="3106674"/>
            <a:ext cx="776123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 lignes en gras sous le titre, qui disent toute la nouvelle.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229076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témoin</a:t>
            </a:r>
          </a:p>
        </p:txBody>
      </p:sp>
      <p:sp>
        <p:nvSpPr>
          <p:cNvPr id="15" name="TextBox 14"/>
          <p:cNvSpPr txBox="1"/>
          <p:nvPr/>
        </p:nvSpPr>
        <p:spPr>
          <a:xfrm>
            <a:off x="3497770" y="4091939"/>
            <a:ext cx="776123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était sur place et qui a vu ce qui s'est passé.</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2290762"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déclaration</a:t>
            </a:r>
          </a:p>
        </p:txBody>
      </p:sp>
      <p:sp>
        <p:nvSpPr>
          <p:cNvPr id="18" name="TextBox 17"/>
          <p:cNvSpPr txBox="1"/>
          <p:nvPr/>
        </p:nvSpPr>
        <p:spPr>
          <a:xfrm>
            <a:off x="3497770" y="5077205"/>
            <a:ext cx="7761236"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que quelqu'un dit officiellement, et que le journal peut répéter.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phrases à emporter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3725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immeuble a passé au feu cette nuit.</a:t>
            </a:r>
          </a:p>
        </p:txBody>
      </p:sp>
      <p:sp>
        <p:nvSpPr>
          <p:cNvPr id="9" name="TextBox 8"/>
          <p:cNvSpPr txBox="1"/>
          <p:nvPr/>
        </p:nvSpPr>
        <p:spPr>
          <a:xfrm>
            <a:off x="5579531" y="2121408"/>
            <a:ext cx="56794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nouvelle d'abord : quoi, où, quand.</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43725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Il dormait quand il a entendu l'alarme.</a:t>
            </a:r>
          </a:p>
        </p:txBody>
      </p:sp>
      <p:sp>
        <p:nvSpPr>
          <p:cNvPr id="12" name="TextBox 11"/>
          <p:cNvSpPr txBox="1"/>
          <p:nvPr/>
        </p:nvSpPr>
        <p:spPr>
          <a:xfrm>
            <a:off x="5579531" y="3106674"/>
            <a:ext cx="56794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décor et l'évènement dans la même phrase.</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43725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police dit que l'enquête se poursuit.</a:t>
            </a:r>
          </a:p>
        </p:txBody>
      </p:sp>
      <p:sp>
        <p:nvSpPr>
          <p:cNvPr id="15" name="TextBox 14"/>
          <p:cNvSpPr txBox="1"/>
          <p:nvPr/>
        </p:nvSpPr>
        <p:spPr>
          <a:xfrm>
            <a:off x="5579531" y="4091939"/>
            <a:ext cx="56794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parole rapportée porte toujours un nom.</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43725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Moi, ce qui me surprend, c'est le nombre.</a:t>
            </a:r>
          </a:p>
        </p:txBody>
      </p:sp>
      <p:sp>
        <p:nvSpPr>
          <p:cNvPr id="18" name="TextBox 17"/>
          <p:cNvSpPr txBox="1"/>
          <p:nvPr/>
        </p:nvSpPr>
        <p:spPr>
          <a:xfrm>
            <a:off x="5579531" y="5077205"/>
            <a:ext cx="56794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avis s'annonce comme un avis.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ÉCRIRE À QUELQU'UN DE LOIN COMME À UN VOISIN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y a eu un gros vol sur la rue, tu sais bien.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Une trentaine de vélos ont été volés dans mon quartier, à Sherbrooke.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personne qui reçoit votre courriel ne connaît ni la rue, ni le quartier, ni le journal. Chaque nom propre que vous employez doit être situé, sinon il ne veut rien dire.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Nommez une chose que vous ferez cette semaine grâce à ce module.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chose concrète : lire un fait divers, le raconter, poser une question.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Écrivez à qui vous le raconterez, et quel jour.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Raconter une nouvelle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