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Séance de bilan. Ton différent des autres : on ne présente rien de nouveau. Laisser beaucoup de place aux questions restées en suspens.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Lire les objectifs à voix haute. Y revenir au billet de sortie.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Cacher la colonne de droite et faire donner les définitions par le groupe. Puis l'inverse : cacher la gauche et faire retrouver les mots.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Faire produire une phrase complète avec chaque mot, en lien avec le logement réel de l'élève.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Ces cinq mots sont ceux du droit et de la démarche. Ce sont aussi ceux que les élèves oublient le plus vite, parce qu'ils servent moins souvent.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Faire cocher individuellement. Les lignes non cochées indiquent où renvoyer l'élève dans le module en ligne.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Faire nommer par le groupe le savoir qui leur a semblé le plus utile. Utile pour ajuster la prochaine fois qu'on donne le module.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Faire l'autoévaluation à main levée, honnêtement. Sur les points faibles, renvoyer aux séances précises indiquées.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Terminer là-dessus : le module a servi à parler, pas seulement à apprendre des règles.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Écrire les trois gestes au tableau et les y laisser jusqu'à la fin du cours. C'est ce qui restera dans six mois.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Dernier billet du module. Le lire à voix haute, anonymement, à la fin du cours : c'est le meilleur bilan collectif possible.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EDF6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1234440"/>
            <a:ext cx="11057839" cy="274320"/>
          </a:xfrm>
          <a:prstGeom prst="rect">
            <a:avLst/>
          </a:prstGeom>
          <a:noFill/>
        </p:spPr>
        <p:txBody>
          <a:bodyPr wrap="square" lIns="0" rIns="0" tIns="0" bIns="0" anchor="t">
            <a:spAutoFit/>
          </a:bodyPr>
          <a:lstStyle/>
          <a:p>
            <a:pPr algn="l">
              <a:lnSpc>
                <a:spcPct val="135000"/>
              </a:lnSpc>
            </a:pPr>
            <a:r>
              <a:rPr sz="1300" b="1" i="0" spc="156">
                <a:solidFill>
                  <a:srgbClr val="166534"/>
                </a:solidFill>
                <a:latin typeface="Verdana"/>
              </a:rPr>
              <a:t>SÉANCE E2  ·  MODULE 9</a:t>
            </a:r>
          </a:p>
        </p:txBody>
      </p:sp>
      <p:sp>
        <p:nvSpPr>
          <p:cNvPr id="4" name="TextBox 3"/>
          <p:cNvSpPr txBox="1"/>
          <p:nvPr/>
        </p:nvSpPr>
        <p:spPr>
          <a:xfrm>
            <a:off x="566928" y="1691640"/>
            <a:ext cx="9960559" cy="1874519"/>
          </a:xfrm>
          <a:prstGeom prst="rect">
            <a:avLst/>
          </a:prstGeom>
          <a:noFill/>
        </p:spPr>
        <p:txBody>
          <a:bodyPr wrap="square" lIns="0" rIns="0" tIns="0" bIns="0" anchor="t">
            <a:spAutoFit/>
          </a:bodyPr>
          <a:lstStyle/>
          <a:p>
            <a:pPr algn="l">
              <a:lnSpc>
                <a:spcPct val="105000"/>
              </a:lnSpc>
            </a:pPr>
            <a:r>
              <a:rPr sz="4000" b="1" i="0">
                <a:solidFill>
                  <a:srgbClr val="17181A"/>
                </a:solidFill>
                <a:latin typeface="Verdana"/>
              </a:rPr>
              <a:t>Je retiens des mots</a:t>
            </a:r>
          </a:p>
        </p:txBody>
      </p:sp>
      <p:sp>
        <p:nvSpPr>
          <p:cNvPr id="5" name="Rounded Rectangle 4"/>
          <p:cNvSpPr/>
          <p:nvPr/>
        </p:nvSpPr>
        <p:spPr>
          <a:xfrm>
            <a:off x="566928" y="3794760"/>
            <a:ext cx="9960559" cy="1763268"/>
          </a:xfrm>
          <a:prstGeom prst="roundRect">
            <a:avLst>
              <a:gd name="adj" fmla="val 8297"/>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896112" y="4123944"/>
            <a:ext cx="9302191" cy="1150620"/>
          </a:xfrm>
          <a:prstGeom prst="rect">
            <a:avLst/>
          </a:prstGeom>
          <a:noFill/>
        </p:spPr>
        <p:txBody>
          <a:bodyPr wrap="square" lIns="0" rIns="0" tIns="0" bIns="0" anchor="t">
            <a:spAutoFit/>
          </a:bodyPr>
          <a:lstStyle/>
          <a:p>
            <a:pPr algn="l">
              <a:lnSpc>
                <a:spcPct val="145000"/>
              </a:lnSpc>
            </a:pPr>
            <a:r>
              <a:rPr sz="2000" b="0" i="0">
                <a:solidFill>
                  <a:srgbClr val="4B4F52"/>
                </a:solidFill>
                <a:latin typeface="Verdana"/>
              </a:rPr>
              <a:t>Dernière séance du module. On rassemble le vocabulaire, on revoit les neuf savoirs, et chacun fait le point sur ce qu'il est maintenant capable de faire.</a:t>
            </a:r>
          </a:p>
        </p:txBody>
      </p:sp>
      <p:sp>
        <p:nvSpPr>
          <p:cNvPr id="7" name="TextBox 6"/>
          <p:cNvSpPr txBox="1"/>
          <p:nvPr/>
        </p:nvSpPr>
        <p:spPr>
          <a:xfrm>
            <a:off x="566928" y="6035040"/>
            <a:ext cx="11057839" cy="274320"/>
          </a:xfrm>
          <a:prstGeom prst="rect">
            <a:avLst/>
          </a:prstGeom>
          <a:noFill/>
        </p:spPr>
        <p:txBody>
          <a:bodyPr wrap="square" lIns="0" rIns="0" tIns="0" bIns="0" anchor="t">
            <a:spAutoFit/>
          </a:bodyPr>
          <a:lstStyle/>
          <a:p>
            <a:pPr algn="l">
              <a:lnSpc>
                <a:spcPct val="135000"/>
              </a:lnSpc>
            </a:pPr>
            <a:r>
              <a:rPr sz="1500" b="0" i="0">
                <a:solidFill>
                  <a:srgbClr val="6E7175"/>
                </a:solidFill>
                <a:latin typeface="Verdana"/>
              </a:rPr>
              <a:t>60 minutes  ·  Pouvez-vous régler le problème ?</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E2 · Pouvez-vous régler le problème ?</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2</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166534"/>
                </a:solidFill>
                <a:latin typeface="Verdana"/>
              </a:rPr>
              <a:t>OBJECTIFS DE LA SÉANCE</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À la fin, je serai capable de…</a:t>
            </a:r>
          </a:p>
        </p:txBody>
      </p:sp>
      <p:sp>
        <p:nvSpPr>
          <p:cNvPr id="7" name="Rounded Rectangle 6"/>
          <p:cNvSpPr/>
          <p:nvPr/>
        </p:nvSpPr>
        <p:spPr>
          <a:xfrm>
            <a:off x="566928" y="1764792"/>
            <a:ext cx="11057839" cy="757936"/>
          </a:xfrm>
          <a:prstGeom prst="roundRect">
            <a:avLst>
              <a:gd name="adj" fmla="val 1930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ounded Rectangle 7"/>
          <p:cNvSpPr/>
          <p:nvPr/>
        </p:nvSpPr>
        <p:spPr>
          <a:xfrm>
            <a:off x="804672" y="1942592"/>
            <a:ext cx="402336" cy="402336"/>
          </a:xfrm>
          <a:prstGeom prst="roundRect">
            <a:avLst>
              <a:gd name="adj" fmla="val 31818"/>
            </a:avLst>
          </a:prstGeom>
          <a:solidFill>
            <a:srgbClr val="E3F1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804672" y="2024887"/>
            <a:ext cx="402336" cy="274320"/>
          </a:xfrm>
          <a:prstGeom prst="rect">
            <a:avLst/>
          </a:prstGeom>
          <a:noFill/>
        </p:spPr>
        <p:txBody>
          <a:bodyPr wrap="square" lIns="0" rIns="0" tIns="0" bIns="0" anchor="t">
            <a:spAutoFit/>
          </a:bodyPr>
          <a:lstStyle/>
          <a:p>
            <a:pPr algn="ctr">
              <a:lnSpc>
                <a:spcPct val="135000"/>
              </a:lnSpc>
            </a:pPr>
            <a:r>
              <a:rPr sz="1500" b="1" i="0">
                <a:solidFill>
                  <a:srgbClr val="166534"/>
                </a:solidFill>
                <a:latin typeface="Verdana"/>
              </a:rPr>
              <a:t>1</a:t>
            </a:r>
          </a:p>
        </p:txBody>
      </p:sp>
      <p:sp>
        <p:nvSpPr>
          <p:cNvPr id="10" name="TextBox 9"/>
          <p:cNvSpPr txBox="1"/>
          <p:nvPr/>
        </p:nvSpPr>
        <p:spPr>
          <a:xfrm>
            <a:off x="1408176" y="1965960"/>
            <a:ext cx="9549079" cy="392176"/>
          </a:xfrm>
          <a:prstGeom prst="rect">
            <a:avLst/>
          </a:prstGeom>
          <a:noFill/>
        </p:spPr>
        <p:txBody>
          <a:bodyPr wrap="square" lIns="0" rIns="0" tIns="0" bIns="0" anchor="t">
            <a:spAutoFit/>
          </a:bodyPr>
          <a:lstStyle/>
          <a:p>
            <a:pPr algn="l">
              <a:lnSpc>
                <a:spcPct val="140000"/>
              </a:lnSpc>
            </a:pPr>
            <a:r>
              <a:rPr sz="2000" b="0" i="0">
                <a:solidFill>
                  <a:srgbClr val="3A3D40"/>
                </a:solidFill>
                <a:latin typeface="Verdana"/>
              </a:rPr>
              <a:t>revoir les seize mots essentiels du module ;</a:t>
            </a:r>
          </a:p>
        </p:txBody>
      </p:sp>
      <p:sp>
        <p:nvSpPr>
          <p:cNvPr id="11" name="Rounded Rectangle 10"/>
          <p:cNvSpPr/>
          <p:nvPr/>
        </p:nvSpPr>
        <p:spPr>
          <a:xfrm>
            <a:off x="566928" y="2650744"/>
            <a:ext cx="11057839" cy="757936"/>
          </a:xfrm>
          <a:prstGeom prst="roundRect">
            <a:avLst>
              <a:gd name="adj" fmla="val 1930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ounded Rectangle 11"/>
          <p:cNvSpPr/>
          <p:nvPr/>
        </p:nvSpPr>
        <p:spPr>
          <a:xfrm>
            <a:off x="804672" y="2828544"/>
            <a:ext cx="402336" cy="402336"/>
          </a:xfrm>
          <a:prstGeom prst="roundRect">
            <a:avLst>
              <a:gd name="adj" fmla="val 31818"/>
            </a:avLst>
          </a:prstGeom>
          <a:solidFill>
            <a:srgbClr val="E3F1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804672" y="2910840"/>
            <a:ext cx="402336" cy="274320"/>
          </a:xfrm>
          <a:prstGeom prst="rect">
            <a:avLst/>
          </a:prstGeom>
          <a:noFill/>
        </p:spPr>
        <p:txBody>
          <a:bodyPr wrap="square" lIns="0" rIns="0" tIns="0" bIns="0" anchor="t">
            <a:spAutoFit/>
          </a:bodyPr>
          <a:lstStyle/>
          <a:p>
            <a:pPr algn="ctr">
              <a:lnSpc>
                <a:spcPct val="135000"/>
              </a:lnSpc>
            </a:pPr>
            <a:r>
              <a:rPr sz="1500" b="1" i="0">
                <a:solidFill>
                  <a:srgbClr val="166534"/>
                </a:solidFill>
                <a:latin typeface="Verdana"/>
              </a:rPr>
              <a:t>2</a:t>
            </a:r>
          </a:p>
        </p:txBody>
      </p:sp>
      <p:sp>
        <p:nvSpPr>
          <p:cNvPr id="14" name="TextBox 13"/>
          <p:cNvSpPr txBox="1"/>
          <p:nvPr/>
        </p:nvSpPr>
        <p:spPr>
          <a:xfrm>
            <a:off x="1408176" y="2851912"/>
            <a:ext cx="9549079" cy="392176"/>
          </a:xfrm>
          <a:prstGeom prst="rect">
            <a:avLst/>
          </a:prstGeom>
          <a:noFill/>
        </p:spPr>
        <p:txBody>
          <a:bodyPr wrap="square" lIns="0" rIns="0" tIns="0" bIns="0" anchor="t">
            <a:spAutoFit/>
          </a:bodyPr>
          <a:lstStyle/>
          <a:p>
            <a:pPr algn="l">
              <a:lnSpc>
                <a:spcPct val="140000"/>
              </a:lnSpc>
            </a:pPr>
            <a:r>
              <a:rPr sz="2000" b="0" i="0">
                <a:solidFill>
                  <a:srgbClr val="3A3D40"/>
                </a:solidFill>
                <a:latin typeface="Verdana"/>
              </a:rPr>
              <a:t>retrouver les neuf savoirs travaillés et savoir où chacun sert ;</a:t>
            </a:r>
          </a:p>
        </p:txBody>
      </p:sp>
      <p:sp>
        <p:nvSpPr>
          <p:cNvPr id="15" name="Rounded Rectangle 14"/>
          <p:cNvSpPr/>
          <p:nvPr/>
        </p:nvSpPr>
        <p:spPr>
          <a:xfrm>
            <a:off x="566928" y="3536696"/>
            <a:ext cx="11057839" cy="757936"/>
          </a:xfrm>
          <a:prstGeom prst="roundRect">
            <a:avLst>
              <a:gd name="adj" fmla="val 1930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ounded Rectangle 15"/>
          <p:cNvSpPr/>
          <p:nvPr/>
        </p:nvSpPr>
        <p:spPr>
          <a:xfrm>
            <a:off x="804672" y="3714496"/>
            <a:ext cx="402336" cy="402336"/>
          </a:xfrm>
          <a:prstGeom prst="roundRect">
            <a:avLst>
              <a:gd name="adj" fmla="val 31818"/>
            </a:avLst>
          </a:prstGeom>
          <a:solidFill>
            <a:srgbClr val="E3F1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804672" y="3796792"/>
            <a:ext cx="402336" cy="274320"/>
          </a:xfrm>
          <a:prstGeom prst="rect">
            <a:avLst/>
          </a:prstGeom>
          <a:noFill/>
        </p:spPr>
        <p:txBody>
          <a:bodyPr wrap="square" lIns="0" rIns="0" tIns="0" bIns="0" anchor="t">
            <a:spAutoFit/>
          </a:bodyPr>
          <a:lstStyle/>
          <a:p>
            <a:pPr algn="ctr">
              <a:lnSpc>
                <a:spcPct val="135000"/>
              </a:lnSpc>
            </a:pPr>
            <a:r>
              <a:rPr sz="1500" b="1" i="0">
                <a:solidFill>
                  <a:srgbClr val="166534"/>
                </a:solidFill>
                <a:latin typeface="Verdana"/>
              </a:rPr>
              <a:t>3</a:t>
            </a:r>
          </a:p>
        </p:txBody>
      </p:sp>
      <p:sp>
        <p:nvSpPr>
          <p:cNvPr id="18" name="TextBox 17"/>
          <p:cNvSpPr txBox="1"/>
          <p:nvPr/>
        </p:nvSpPr>
        <p:spPr>
          <a:xfrm>
            <a:off x="1408176" y="3737864"/>
            <a:ext cx="9549079" cy="392176"/>
          </a:xfrm>
          <a:prstGeom prst="rect">
            <a:avLst/>
          </a:prstGeom>
          <a:noFill/>
        </p:spPr>
        <p:txBody>
          <a:bodyPr wrap="square" lIns="0" rIns="0" tIns="0" bIns="0" anchor="t">
            <a:spAutoFit/>
          </a:bodyPr>
          <a:lstStyle/>
          <a:p>
            <a:pPr algn="l">
              <a:lnSpc>
                <a:spcPct val="140000"/>
              </a:lnSpc>
            </a:pPr>
            <a:r>
              <a:rPr sz="2000" b="0" i="0">
                <a:solidFill>
                  <a:srgbClr val="3A3D40"/>
                </a:solidFill>
                <a:latin typeface="Verdana"/>
              </a:rPr>
              <a:t>évaluer honnêtement ce que je suis maintenant capable de faire ;</a:t>
            </a:r>
          </a:p>
        </p:txBody>
      </p:sp>
      <p:sp>
        <p:nvSpPr>
          <p:cNvPr id="19" name="Rounded Rectangle 18"/>
          <p:cNvSpPr/>
          <p:nvPr/>
        </p:nvSpPr>
        <p:spPr>
          <a:xfrm>
            <a:off x="566928" y="4422648"/>
            <a:ext cx="11057839" cy="757936"/>
          </a:xfrm>
          <a:prstGeom prst="roundRect">
            <a:avLst>
              <a:gd name="adj" fmla="val 1930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Rounded Rectangle 19"/>
          <p:cNvSpPr/>
          <p:nvPr/>
        </p:nvSpPr>
        <p:spPr>
          <a:xfrm>
            <a:off x="804672" y="4600448"/>
            <a:ext cx="402336" cy="402336"/>
          </a:xfrm>
          <a:prstGeom prst="roundRect">
            <a:avLst>
              <a:gd name="adj" fmla="val 31818"/>
            </a:avLst>
          </a:prstGeom>
          <a:solidFill>
            <a:srgbClr val="E3F1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804672" y="4682744"/>
            <a:ext cx="402336" cy="274320"/>
          </a:xfrm>
          <a:prstGeom prst="rect">
            <a:avLst/>
          </a:prstGeom>
          <a:noFill/>
        </p:spPr>
        <p:txBody>
          <a:bodyPr wrap="square" lIns="0" rIns="0" tIns="0" bIns="0" anchor="t">
            <a:spAutoFit/>
          </a:bodyPr>
          <a:lstStyle/>
          <a:p>
            <a:pPr algn="ctr">
              <a:lnSpc>
                <a:spcPct val="135000"/>
              </a:lnSpc>
            </a:pPr>
            <a:r>
              <a:rPr sz="1500" b="1" i="0">
                <a:solidFill>
                  <a:srgbClr val="166534"/>
                </a:solidFill>
                <a:latin typeface="Verdana"/>
              </a:rPr>
              <a:t>4</a:t>
            </a:r>
          </a:p>
        </p:txBody>
      </p:sp>
      <p:sp>
        <p:nvSpPr>
          <p:cNvPr id="22" name="TextBox 21"/>
          <p:cNvSpPr txBox="1"/>
          <p:nvPr/>
        </p:nvSpPr>
        <p:spPr>
          <a:xfrm>
            <a:off x="1408176" y="4623816"/>
            <a:ext cx="9549079" cy="392176"/>
          </a:xfrm>
          <a:prstGeom prst="rect">
            <a:avLst/>
          </a:prstGeom>
          <a:noFill/>
        </p:spPr>
        <p:txBody>
          <a:bodyPr wrap="square" lIns="0" rIns="0" tIns="0" bIns="0" anchor="t">
            <a:spAutoFit/>
          </a:bodyPr>
          <a:lstStyle/>
          <a:p>
            <a:pPr algn="l">
              <a:lnSpc>
                <a:spcPct val="140000"/>
              </a:lnSpc>
            </a:pPr>
            <a:r>
              <a:rPr sz="2000" b="0" i="0">
                <a:solidFill>
                  <a:srgbClr val="3A3D40"/>
                </a:solidFill>
                <a:latin typeface="Verdana"/>
              </a:rPr>
              <a:t>savoir où retourner chercher ce qui n'est pas encore acquis.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E2 · Pouvez-vous régler le problème ?</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3</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166534"/>
                </a:solidFill>
                <a:latin typeface="Verdana"/>
              </a:rPr>
              <a:t>VOCABULAIRE · 1 DE 3</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Le logement et ses appareils</a:t>
            </a:r>
          </a:p>
        </p:txBody>
      </p:sp>
      <p:sp>
        <p:nvSpPr>
          <p:cNvPr id="7" name="Rounded Rectangle 6"/>
          <p:cNvSpPr/>
          <p:nvPr/>
        </p:nvSpPr>
        <p:spPr>
          <a:xfrm>
            <a:off x="566928" y="1810512"/>
            <a:ext cx="11057839" cy="4270248"/>
          </a:xfrm>
          <a:prstGeom prst="roundRect">
            <a:avLst>
              <a:gd name="adj" fmla="val 3426"/>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32688" y="2121408"/>
            <a:ext cx="3322224" cy="437387"/>
          </a:xfrm>
          <a:prstGeom prst="rect">
            <a:avLst/>
          </a:prstGeom>
          <a:noFill/>
        </p:spPr>
        <p:txBody>
          <a:bodyPr wrap="square" lIns="0" rIns="0" tIns="0" bIns="0" anchor="t">
            <a:spAutoFit/>
          </a:bodyPr>
          <a:lstStyle/>
          <a:p>
            <a:pPr algn="l">
              <a:lnSpc>
                <a:spcPct val="128000"/>
              </a:lnSpc>
            </a:pPr>
            <a:r>
              <a:rPr sz="1900" b="1" i="0">
                <a:solidFill>
                  <a:srgbClr val="17181A"/>
                </a:solidFill>
                <a:latin typeface="Verdana"/>
              </a:rPr>
              <a:t>un calorifère</a:t>
            </a:r>
          </a:p>
        </p:txBody>
      </p:sp>
      <p:sp>
        <p:nvSpPr>
          <p:cNvPr id="9" name="TextBox 8"/>
          <p:cNvSpPr txBox="1"/>
          <p:nvPr/>
        </p:nvSpPr>
        <p:spPr>
          <a:xfrm>
            <a:off x="4529232" y="2121408"/>
            <a:ext cx="6729774" cy="437387"/>
          </a:xfrm>
          <a:prstGeom prst="rect">
            <a:avLst/>
          </a:prstGeom>
          <a:noFill/>
        </p:spPr>
        <p:txBody>
          <a:bodyPr wrap="square" lIns="0" rIns="0" tIns="0" bIns="0" anchor="t">
            <a:spAutoFit/>
          </a:bodyPr>
          <a:lstStyle/>
          <a:p>
            <a:pPr algn="l">
              <a:lnSpc>
                <a:spcPct val="135000"/>
              </a:lnSpc>
            </a:pPr>
            <a:r>
              <a:rPr sz="1800" b="0" i="0">
                <a:solidFill>
                  <a:srgbClr val="4B4F52"/>
                </a:solidFill>
                <a:latin typeface="Verdana"/>
              </a:rPr>
              <a:t>L'appareil fixé au mur qui chauffe une pièce.</a:t>
            </a:r>
          </a:p>
        </p:txBody>
      </p:sp>
      <p:sp>
        <p:nvSpPr>
          <p:cNvPr id="10" name="Rectangle 9"/>
          <p:cNvSpPr/>
          <p:nvPr/>
        </p:nvSpPr>
        <p:spPr>
          <a:xfrm>
            <a:off x="932688" y="2631948"/>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932688" y="2778252"/>
            <a:ext cx="3322224" cy="437387"/>
          </a:xfrm>
          <a:prstGeom prst="rect">
            <a:avLst/>
          </a:prstGeom>
          <a:noFill/>
        </p:spPr>
        <p:txBody>
          <a:bodyPr wrap="square" lIns="0" rIns="0" tIns="0" bIns="0" anchor="t">
            <a:spAutoFit/>
          </a:bodyPr>
          <a:lstStyle/>
          <a:p>
            <a:pPr algn="l">
              <a:lnSpc>
                <a:spcPct val="128000"/>
              </a:lnSpc>
            </a:pPr>
            <a:r>
              <a:rPr sz="1900" b="1" i="0">
                <a:solidFill>
                  <a:srgbClr val="17181A"/>
                </a:solidFill>
                <a:latin typeface="Verdana"/>
              </a:rPr>
              <a:t>un disjoncteur</a:t>
            </a:r>
          </a:p>
        </p:txBody>
      </p:sp>
      <p:sp>
        <p:nvSpPr>
          <p:cNvPr id="12" name="TextBox 11"/>
          <p:cNvSpPr txBox="1"/>
          <p:nvPr/>
        </p:nvSpPr>
        <p:spPr>
          <a:xfrm>
            <a:off x="4529232" y="2778252"/>
            <a:ext cx="6729774" cy="437387"/>
          </a:xfrm>
          <a:prstGeom prst="rect">
            <a:avLst/>
          </a:prstGeom>
          <a:noFill/>
        </p:spPr>
        <p:txBody>
          <a:bodyPr wrap="square" lIns="0" rIns="0" tIns="0" bIns="0" anchor="t">
            <a:spAutoFit/>
          </a:bodyPr>
          <a:lstStyle/>
          <a:p>
            <a:pPr algn="l">
              <a:lnSpc>
                <a:spcPct val="135000"/>
              </a:lnSpc>
            </a:pPr>
            <a:r>
              <a:rPr sz="1700" b="0" i="0">
                <a:solidFill>
                  <a:srgbClr val="4B4F52"/>
                </a:solidFill>
                <a:latin typeface="Verdana"/>
              </a:rPr>
              <a:t>L'interrupteur du panneau électrique qui coupe le courant.</a:t>
            </a:r>
          </a:p>
        </p:txBody>
      </p:sp>
      <p:sp>
        <p:nvSpPr>
          <p:cNvPr id="13" name="Rectangle 12"/>
          <p:cNvSpPr/>
          <p:nvPr/>
        </p:nvSpPr>
        <p:spPr>
          <a:xfrm>
            <a:off x="932688" y="3288792"/>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932688" y="3435096"/>
            <a:ext cx="3322224" cy="437387"/>
          </a:xfrm>
          <a:prstGeom prst="rect">
            <a:avLst/>
          </a:prstGeom>
          <a:noFill/>
        </p:spPr>
        <p:txBody>
          <a:bodyPr wrap="square" lIns="0" rIns="0" tIns="0" bIns="0" anchor="t">
            <a:spAutoFit/>
          </a:bodyPr>
          <a:lstStyle/>
          <a:p>
            <a:pPr algn="l">
              <a:lnSpc>
                <a:spcPct val="128000"/>
              </a:lnSpc>
            </a:pPr>
            <a:r>
              <a:rPr sz="1900" b="1" i="0">
                <a:solidFill>
                  <a:srgbClr val="17181A"/>
                </a:solidFill>
                <a:latin typeface="Verdana"/>
              </a:rPr>
              <a:t>un chauffage d'appoint</a:t>
            </a:r>
          </a:p>
        </p:txBody>
      </p:sp>
      <p:sp>
        <p:nvSpPr>
          <p:cNvPr id="15" name="TextBox 14"/>
          <p:cNvSpPr txBox="1"/>
          <p:nvPr/>
        </p:nvSpPr>
        <p:spPr>
          <a:xfrm>
            <a:off x="4529232" y="3435096"/>
            <a:ext cx="6729774" cy="437387"/>
          </a:xfrm>
          <a:prstGeom prst="rect">
            <a:avLst/>
          </a:prstGeom>
          <a:noFill/>
        </p:spPr>
        <p:txBody>
          <a:bodyPr wrap="square" lIns="0" rIns="0" tIns="0" bIns="0" anchor="t">
            <a:spAutoFit/>
          </a:bodyPr>
          <a:lstStyle/>
          <a:p>
            <a:pPr algn="l">
              <a:lnSpc>
                <a:spcPct val="135000"/>
              </a:lnSpc>
            </a:pPr>
            <a:r>
              <a:rPr sz="1800" b="0" i="0">
                <a:solidFill>
                  <a:srgbClr val="4B4F52"/>
                </a:solidFill>
                <a:latin typeface="Verdana"/>
              </a:rPr>
              <a:t>Un petit appareil de chauffage ajouté temporairement.</a:t>
            </a:r>
          </a:p>
        </p:txBody>
      </p:sp>
      <p:sp>
        <p:nvSpPr>
          <p:cNvPr id="16" name="Rectangle 15"/>
          <p:cNvSpPr/>
          <p:nvPr/>
        </p:nvSpPr>
        <p:spPr>
          <a:xfrm>
            <a:off x="932688" y="3945635"/>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932688" y="4091939"/>
            <a:ext cx="3322224" cy="437387"/>
          </a:xfrm>
          <a:prstGeom prst="rect">
            <a:avLst/>
          </a:prstGeom>
          <a:noFill/>
        </p:spPr>
        <p:txBody>
          <a:bodyPr wrap="square" lIns="0" rIns="0" tIns="0" bIns="0" anchor="t">
            <a:spAutoFit/>
          </a:bodyPr>
          <a:lstStyle/>
          <a:p>
            <a:pPr algn="l">
              <a:lnSpc>
                <a:spcPct val="128000"/>
              </a:lnSpc>
            </a:pPr>
            <a:r>
              <a:rPr sz="1900" b="1" i="0">
                <a:solidFill>
                  <a:srgbClr val="17181A"/>
                </a:solidFill>
                <a:latin typeface="Verdana"/>
              </a:rPr>
              <a:t>le bail</a:t>
            </a:r>
          </a:p>
        </p:txBody>
      </p:sp>
      <p:sp>
        <p:nvSpPr>
          <p:cNvPr id="18" name="TextBox 17"/>
          <p:cNvSpPr txBox="1"/>
          <p:nvPr/>
        </p:nvSpPr>
        <p:spPr>
          <a:xfrm>
            <a:off x="4529232" y="4091939"/>
            <a:ext cx="6729774" cy="437387"/>
          </a:xfrm>
          <a:prstGeom prst="rect">
            <a:avLst/>
          </a:prstGeom>
          <a:noFill/>
        </p:spPr>
        <p:txBody>
          <a:bodyPr wrap="square" lIns="0" rIns="0" tIns="0" bIns="0" anchor="t">
            <a:spAutoFit/>
          </a:bodyPr>
          <a:lstStyle/>
          <a:p>
            <a:pPr algn="l">
              <a:lnSpc>
                <a:spcPct val="135000"/>
              </a:lnSpc>
            </a:pPr>
            <a:r>
              <a:rPr sz="1800" b="0" i="0">
                <a:solidFill>
                  <a:srgbClr val="4B4F52"/>
                </a:solidFill>
                <a:latin typeface="Verdana"/>
              </a:rPr>
              <a:t>Le contrat signé entre le locataire et le propriétaire.</a:t>
            </a:r>
          </a:p>
        </p:txBody>
      </p:sp>
      <p:sp>
        <p:nvSpPr>
          <p:cNvPr id="19" name="Rectangle 18"/>
          <p:cNvSpPr/>
          <p:nvPr/>
        </p:nvSpPr>
        <p:spPr>
          <a:xfrm>
            <a:off x="932688" y="4602480"/>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932688" y="4748784"/>
            <a:ext cx="3322224" cy="437387"/>
          </a:xfrm>
          <a:prstGeom prst="rect">
            <a:avLst/>
          </a:prstGeom>
          <a:noFill/>
        </p:spPr>
        <p:txBody>
          <a:bodyPr wrap="square" lIns="0" rIns="0" tIns="0" bIns="0" anchor="t">
            <a:spAutoFit/>
          </a:bodyPr>
          <a:lstStyle/>
          <a:p>
            <a:pPr algn="l">
              <a:lnSpc>
                <a:spcPct val="128000"/>
              </a:lnSpc>
            </a:pPr>
            <a:r>
              <a:rPr sz="1900" b="1" i="0">
                <a:solidFill>
                  <a:srgbClr val="17181A"/>
                </a:solidFill>
                <a:latin typeface="Verdana"/>
              </a:rPr>
              <a:t>un couvreur</a:t>
            </a:r>
          </a:p>
        </p:txBody>
      </p:sp>
      <p:sp>
        <p:nvSpPr>
          <p:cNvPr id="21" name="TextBox 20"/>
          <p:cNvSpPr txBox="1"/>
          <p:nvPr/>
        </p:nvSpPr>
        <p:spPr>
          <a:xfrm>
            <a:off x="4529232" y="4748784"/>
            <a:ext cx="6729774" cy="437387"/>
          </a:xfrm>
          <a:prstGeom prst="rect">
            <a:avLst/>
          </a:prstGeom>
          <a:noFill/>
        </p:spPr>
        <p:txBody>
          <a:bodyPr wrap="square" lIns="0" rIns="0" tIns="0" bIns="0" anchor="t">
            <a:spAutoFit/>
          </a:bodyPr>
          <a:lstStyle/>
          <a:p>
            <a:pPr algn="l">
              <a:lnSpc>
                <a:spcPct val="135000"/>
              </a:lnSpc>
            </a:pPr>
            <a:r>
              <a:rPr sz="1800" b="0" i="0">
                <a:solidFill>
                  <a:srgbClr val="4B4F52"/>
                </a:solidFill>
                <a:latin typeface="Verdana"/>
              </a:rPr>
              <a:t>La personne qui répare les toitures.</a:t>
            </a:r>
          </a:p>
        </p:txBody>
      </p:sp>
      <p:sp>
        <p:nvSpPr>
          <p:cNvPr id="22" name="Rectangle 21"/>
          <p:cNvSpPr/>
          <p:nvPr/>
        </p:nvSpPr>
        <p:spPr>
          <a:xfrm>
            <a:off x="932688" y="5259324"/>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932688" y="5405628"/>
            <a:ext cx="3322224" cy="437387"/>
          </a:xfrm>
          <a:prstGeom prst="rect">
            <a:avLst/>
          </a:prstGeom>
          <a:noFill/>
        </p:spPr>
        <p:txBody>
          <a:bodyPr wrap="square" lIns="0" rIns="0" tIns="0" bIns="0" anchor="t">
            <a:spAutoFit/>
          </a:bodyPr>
          <a:lstStyle/>
          <a:p>
            <a:pPr algn="l">
              <a:lnSpc>
                <a:spcPct val="128000"/>
              </a:lnSpc>
            </a:pPr>
            <a:r>
              <a:rPr sz="1900" b="1" i="0">
                <a:solidFill>
                  <a:srgbClr val="17181A"/>
                </a:solidFill>
                <a:latin typeface="Verdana"/>
              </a:rPr>
              <a:t>un dégraissant</a:t>
            </a:r>
          </a:p>
        </p:txBody>
      </p:sp>
      <p:sp>
        <p:nvSpPr>
          <p:cNvPr id="24" name="TextBox 23"/>
          <p:cNvSpPr txBox="1"/>
          <p:nvPr/>
        </p:nvSpPr>
        <p:spPr>
          <a:xfrm>
            <a:off x="4529232" y="5405628"/>
            <a:ext cx="6729774" cy="437387"/>
          </a:xfrm>
          <a:prstGeom prst="rect">
            <a:avLst/>
          </a:prstGeom>
          <a:noFill/>
        </p:spPr>
        <p:txBody>
          <a:bodyPr wrap="square" lIns="0" rIns="0" tIns="0" bIns="0" anchor="t">
            <a:spAutoFit/>
          </a:bodyPr>
          <a:lstStyle/>
          <a:p>
            <a:pPr algn="l">
              <a:lnSpc>
                <a:spcPct val="135000"/>
              </a:lnSpc>
            </a:pPr>
            <a:r>
              <a:rPr sz="1800" b="0" i="0">
                <a:solidFill>
                  <a:srgbClr val="4B4F52"/>
                </a:solidFill>
                <a:latin typeface="Verdana"/>
              </a:rPr>
              <a:t>Un produit fort qui enlève l'huile et la graisse.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E2 · Pouvez-vous régler le problème ?</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4</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166534"/>
                </a:solidFill>
                <a:latin typeface="Verdana"/>
              </a:rPr>
              <a:t>VOCABULAIRE · 2 DE 3</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Ce qui abîme un logement</a:t>
            </a:r>
          </a:p>
        </p:txBody>
      </p:sp>
      <p:sp>
        <p:nvSpPr>
          <p:cNvPr id="7" name="Rounded Rectangle 6"/>
          <p:cNvSpPr/>
          <p:nvPr/>
        </p:nvSpPr>
        <p:spPr>
          <a:xfrm>
            <a:off x="566928" y="1810512"/>
            <a:ext cx="11057839" cy="4270248"/>
          </a:xfrm>
          <a:prstGeom prst="roundRect">
            <a:avLst>
              <a:gd name="adj" fmla="val 3426"/>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32688" y="2121408"/>
            <a:ext cx="2204942" cy="568756"/>
          </a:xfrm>
          <a:prstGeom prst="rect">
            <a:avLst/>
          </a:prstGeom>
          <a:noFill/>
        </p:spPr>
        <p:txBody>
          <a:bodyPr wrap="square" lIns="0" rIns="0" tIns="0" bIns="0" anchor="t">
            <a:spAutoFit/>
          </a:bodyPr>
          <a:lstStyle/>
          <a:p>
            <a:pPr algn="l">
              <a:lnSpc>
                <a:spcPct val="128000"/>
              </a:lnSpc>
            </a:pPr>
            <a:r>
              <a:rPr sz="1900" b="1" i="0">
                <a:solidFill>
                  <a:srgbClr val="17181A"/>
                </a:solidFill>
                <a:latin typeface="Verdana"/>
              </a:rPr>
              <a:t>une infiltration</a:t>
            </a:r>
          </a:p>
        </p:txBody>
      </p:sp>
      <p:sp>
        <p:nvSpPr>
          <p:cNvPr id="9" name="TextBox 8"/>
          <p:cNvSpPr txBox="1"/>
          <p:nvPr/>
        </p:nvSpPr>
        <p:spPr>
          <a:xfrm>
            <a:off x="3411950" y="2121408"/>
            <a:ext cx="7847056" cy="568756"/>
          </a:xfrm>
          <a:prstGeom prst="rect">
            <a:avLst/>
          </a:prstGeom>
          <a:noFill/>
        </p:spPr>
        <p:txBody>
          <a:bodyPr wrap="square" lIns="0" rIns="0" tIns="0" bIns="0" anchor="t">
            <a:spAutoFit/>
          </a:bodyPr>
          <a:lstStyle/>
          <a:p>
            <a:pPr algn="l">
              <a:lnSpc>
                <a:spcPct val="135000"/>
              </a:lnSpc>
            </a:pPr>
            <a:r>
              <a:rPr sz="1800" b="0" i="0">
                <a:solidFill>
                  <a:srgbClr val="4B4F52"/>
                </a:solidFill>
                <a:latin typeface="Verdana"/>
              </a:rPr>
              <a:t>De l'eau qui entre par le toit ou par un mur.</a:t>
            </a:r>
          </a:p>
        </p:txBody>
      </p:sp>
      <p:sp>
        <p:nvSpPr>
          <p:cNvPr id="10" name="Rectangle 9"/>
          <p:cNvSpPr/>
          <p:nvPr/>
        </p:nvSpPr>
        <p:spPr>
          <a:xfrm>
            <a:off x="932688" y="2763316"/>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932688" y="2909620"/>
            <a:ext cx="2204942" cy="568756"/>
          </a:xfrm>
          <a:prstGeom prst="rect">
            <a:avLst/>
          </a:prstGeom>
          <a:noFill/>
        </p:spPr>
        <p:txBody>
          <a:bodyPr wrap="square" lIns="0" rIns="0" tIns="0" bIns="0" anchor="t">
            <a:spAutoFit/>
          </a:bodyPr>
          <a:lstStyle/>
          <a:p>
            <a:pPr algn="l">
              <a:lnSpc>
                <a:spcPct val="128000"/>
              </a:lnSpc>
            </a:pPr>
            <a:r>
              <a:rPr sz="1900" b="1" i="0">
                <a:solidFill>
                  <a:srgbClr val="17181A"/>
                </a:solidFill>
                <a:latin typeface="Verdana"/>
              </a:rPr>
              <a:t>la moisissure</a:t>
            </a:r>
          </a:p>
        </p:txBody>
      </p:sp>
      <p:sp>
        <p:nvSpPr>
          <p:cNvPr id="12" name="TextBox 11"/>
          <p:cNvSpPr txBox="1"/>
          <p:nvPr/>
        </p:nvSpPr>
        <p:spPr>
          <a:xfrm>
            <a:off x="3411950" y="2909620"/>
            <a:ext cx="7847056" cy="568756"/>
          </a:xfrm>
          <a:prstGeom prst="rect">
            <a:avLst/>
          </a:prstGeom>
          <a:noFill/>
        </p:spPr>
        <p:txBody>
          <a:bodyPr wrap="square" lIns="0" rIns="0" tIns="0" bIns="0" anchor="t">
            <a:spAutoFit/>
          </a:bodyPr>
          <a:lstStyle/>
          <a:p>
            <a:pPr algn="l">
              <a:lnSpc>
                <a:spcPct val="135000"/>
              </a:lnSpc>
            </a:pPr>
            <a:r>
              <a:rPr sz="1800" b="0" i="0">
                <a:solidFill>
                  <a:srgbClr val="4B4F52"/>
                </a:solidFill>
                <a:latin typeface="Verdana"/>
              </a:rPr>
              <a:t>Des taches noires ou vertes causées par l'humidité.</a:t>
            </a:r>
          </a:p>
        </p:txBody>
      </p:sp>
      <p:sp>
        <p:nvSpPr>
          <p:cNvPr id="13" name="Rectangle 12"/>
          <p:cNvSpPr/>
          <p:nvPr/>
        </p:nvSpPr>
        <p:spPr>
          <a:xfrm>
            <a:off x="932688" y="3551529"/>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932688" y="3697833"/>
            <a:ext cx="2204942" cy="568756"/>
          </a:xfrm>
          <a:prstGeom prst="rect">
            <a:avLst/>
          </a:prstGeom>
          <a:noFill/>
        </p:spPr>
        <p:txBody>
          <a:bodyPr wrap="square" lIns="0" rIns="0" tIns="0" bIns="0" anchor="t">
            <a:spAutoFit/>
          </a:bodyPr>
          <a:lstStyle/>
          <a:p>
            <a:pPr algn="l">
              <a:lnSpc>
                <a:spcPct val="128000"/>
              </a:lnSpc>
            </a:pPr>
            <a:r>
              <a:rPr sz="1900" b="1" i="0">
                <a:solidFill>
                  <a:srgbClr val="17181A"/>
                </a:solidFill>
                <a:latin typeface="Verdana"/>
              </a:rPr>
              <a:t>l'insalubrité</a:t>
            </a:r>
          </a:p>
        </p:txBody>
      </p:sp>
      <p:sp>
        <p:nvSpPr>
          <p:cNvPr id="15" name="TextBox 14"/>
          <p:cNvSpPr txBox="1"/>
          <p:nvPr/>
        </p:nvSpPr>
        <p:spPr>
          <a:xfrm>
            <a:off x="3411950" y="3697833"/>
            <a:ext cx="7847056" cy="568756"/>
          </a:xfrm>
          <a:prstGeom prst="rect">
            <a:avLst/>
          </a:prstGeom>
          <a:noFill/>
        </p:spPr>
        <p:txBody>
          <a:bodyPr wrap="square" lIns="0" rIns="0" tIns="0" bIns="0" anchor="t">
            <a:spAutoFit/>
          </a:bodyPr>
          <a:lstStyle/>
          <a:p>
            <a:pPr algn="l">
              <a:lnSpc>
                <a:spcPct val="135000"/>
              </a:lnSpc>
            </a:pPr>
            <a:r>
              <a:rPr sz="1800" b="0" i="0">
                <a:solidFill>
                  <a:srgbClr val="4B4F52"/>
                </a:solidFill>
                <a:latin typeface="Verdana"/>
              </a:rPr>
              <a:t>L'état d'un logement malpropre ou dangereux pour la santé.</a:t>
            </a:r>
          </a:p>
        </p:txBody>
      </p:sp>
      <p:sp>
        <p:nvSpPr>
          <p:cNvPr id="16" name="Rectangle 15"/>
          <p:cNvSpPr/>
          <p:nvPr/>
        </p:nvSpPr>
        <p:spPr>
          <a:xfrm>
            <a:off x="932688" y="4339742"/>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932688" y="4486046"/>
            <a:ext cx="2204942" cy="568756"/>
          </a:xfrm>
          <a:prstGeom prst="rect">
            <a:avLst/>
          </a:prstGeom>
          <a:noFill/>
        </p:spPr>
        <p:txBody>
          <a:bodyPr wrap="square" lIns="0" rIns="0" tIns="0" bIns="0" anchor="t">
            <a:spAutoFit/>
          </a:bodyPr>
          <a:lstStyle/>
          <a:p>
            <a:pPr algn="l">
              <a:lnSpc>
                <a:spcPct val="128000"/>
              </a:lnSpc>
            </a:pPr>
            <a:r>
              <a:rPr sz="1900" b="1" i="0">
                <a:solidFill>
                  <a:srgbClr val="17181A"/>
                </a:solidFill>
                <a:latin typeface="Verdana"/>
              </a:rPr>
              <a:t>l'ampleur</a:t>
            </a:r>
          </a:p>
        </p:txBody>
      </p:sp>
      <p:sp>
        <p:nvSpPr>
          <p:cNvPr id="18" name="TextBox 17"/>
          <p:cNvSpPr txBox="1"/>
          <p:nvPr/>
        </p:nvSpPr>
        <p:spPr>
          <a:xfrm>
            <a:off x="3411950" y="4486046"/>
            <a:ext cx="7847056" cy="568756"/>
          </a:xfrm>
          <a:prstGeom prst="rect">
            <a:avLst/>
          </a:prstGeom>
          <a:noFill/>
        </p:spPr>
        <p:txBody>
          <a:bodyPr wrap="square" lIns="0" rIns="0" tIns="0" bIns="0" anchor="t">
            <a:spAutoFit/>
          </a:bodyPr>
          <a:lstStyle/>
          <a:p>
            <a:pPr algn="l">
              <a:lnSpc>
                <a:spcPct val="135000"/>
              </a:lnSpc>
            </a:pPr>
            <a:r>
              <a:rPr sz="1800" b="0" i="0">
                <a:solidFill>
                  <a:srgbClr val="4B4F52"/>
                </a:solidFill>
                <a:latin typeface="Verdana"/>
              </a:rPr>
              <a:t>La grandeur, l'importance d'un problème.</a:t>
            </a:r>
          </a:p>
        </p:txBody>
      </p:sp>
      <p:sp>
        <p:nvSpPr>
          <p:cNvPr id="19" name="Rectangle 18"/>
          <p:cNvSpPr/>
          <p:nvPr/>
        </p:nvSpPr>
        <p:spPr>
          <a:xfrm>
            <a:off x="932688" y="5127955"/>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932688" y="5274259"/>
            <a:ext cx="2204942" cy="568756"/>
          </a:xfrm>
          <a:prstGeom prst="rect">
            <a:avLst/>
          </a:prstGeom>
          <a:noFill/>
        </p:spPr>
        <p:txBody>
          <a:bodyPr wrap="square" lIns="0" rIns="0" tIns="0" bIns="0" anchor="t">
            <a:spAutoFit/>
          </a:bodyPr>
          <a:lstStyle/>
          <a:p>
            <a:pPr algn="l">
              <a:lnSpc>
                <a:spcPct val="128000"/>
              </a:lnSpc>
            </a:pPr>
            <a:r>
              <a:rPr sz="1900" b="1" i="0">
                <a:solidFill>
                  <a:srgbClr val="17181A"/>
                </a:solidFill>
                <a:latin typeface="Verdana"/>
              </a:rPr>
              <a:t>encombrer</a:t>
            </a:r>
          </a:p>
        </p:txBody>
      </p:sp>
      <p:sp>
        <p:nvSpPr>
          <p:cNvPr id="21" name="TextBox 20"/>
          <p:cNvSpPr txBox="1"/>
          <p:nvPr/>
        </p:nvSpPr>
        <p:spPr>
          <a:xfrm>
            <a:off x="3411950" y="5274259"/>
            <a:ext cx="7847056" cy="568756"/>
          </a:xfrm>
          <a:prstGeom prst="rect">
            <a:avLst/>
          </a:prstGeom>
          <a:noFill/>
        </p:spPr>
        <p:txBody>
          <a:bodyPr wrap="square" lIns="0" rIns="0" tIns="0" bIns="0" anchor="t">
            <a:spAutoFit/>
          </a:bodyPr>
          <a:lstStyle/>
          <a:p>
            <a:pPr algn="l">
              <a:lnSpc>
                <a:spcPct val="135000"/>
              </a:lnSpc>
            </a:pPr>
            <a:r>
              <a:rPr sz="1800" b="0" i="0">
                <a:solidFill>
                  <a:srgbClr val="4B4F52"/>
                </a:solidFill>
                <a:latin typeface="Verdana"/>
              </a:rPr>
              <a:t>Occuper une place et gêner le passage.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E2 · Pouvez-vous régler le problème ?</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5</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166534"/>
                </a:solidFill>
                <a:latin typeface="Verdana"/>
              </a:rPr>
              <a:t>VOCABULAIRE · 3 DE 3</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Demander et garder une trace</a:t>
            </a:r>
          </a:p>
        </p:txBody>
      </p:sp>
      <p:sp>
        <p:nvSpPr>
          <p:cNvPr id="7" name="Rounded Rectangle 6"/>
          <p:cNvSpPr/>
          <p:nvPr/>
        </p:nvSpPr>
        <p:spPr>
          <a:xfrm>
            <a:off x="566928" y="1810512"/>
            <a:ext cx="11057839" cy="4270248"/>
          </a:xfrm>
          <a:prstGeom prst="roundRect">
            <a:avLst>
              <a:gd name="adj" fmla="val 3426"/>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32688" y="2121408"/>
            <a:ext cx="3100387" cy="568756"/>
          </a:xfrm>
          <a:prstGeom prst="rect">
            <a:avLst/>
          </a:prstGeom>
          <a:noFill/>
        </p:spPr>
        <p:txBody>
          <a:bodyPr wrap="square" lIns="0" rIns="0" tIns="0" bIns="0" anchor="t">
            <a:spAutoFit/>
          </a:bodyPr>
          <a:lstStyle/>
          <a:p>
            <a:pPr algn="l">
              <a:lnSpc>
                <a:spcPct val="128000"/>
              </a:lnSpc>
            </a:pPr>
            <a:r>
              <a:rPr sz="1900" b="1" i="0">
                <a:solidFill>
                  <a:srgbClr val="17181A"/>
                </a:solidFill>
                <a:latin typeface="Verdana"/>
              </a:rPr>
              <a:t>se plaindre</a:t>
            </a:r>
          </a:p>
        </p:txBody>
      </p:sp>
      <p:sp>
        <p:nvSpPr>
          <p:cNvPr id="9" name="TextBox 8"/>
          <p:cNvSpPr txBox="1"/>
          <p:nvPr/>
        </p:nvSpPr>
        <p:spPr>
          <a:xfrm>
            <a:off x="4307395" y="2121408"/>
            <a:ext cx="6951611" cy="568756"/>
          </a:xfrm>
          <a:prstGeom prst="rect">
            <a:avLst/>
          </a:prstGeom>
          <a:noFill/>
        </p:spPr>
        <p:txBody>
          <a:bodyPr wrap="square" lIns="0" rIns="0" tIns="0" bIns="0" anchor="t">
            <a:spAutoFit/>
          </a:bodyPr>
          <a:lstStyle/>
          <a:p>
            <a:pPr algn="l">
              <a:lnSpc>
                <a:spcPct val="135000"/>
              </a:lnSpc>
            </a:pPr>
            <a:r>
              <a:rPr sz="1700" b="0" i="0">
                <a:solidFill>
                  <a:srgbClr val="4B4F52"/>
                </a:solidFill>
                <a:latin typeface="Verdana"/>
              </a:rPr>
              <a:t>Dire qu'on n'accepte plus une situation et demander qu'elle change.</a:t>
            </a:r>
          </a:p>
        </p:txBody>
      </p:sp>
      <p:sp>
        <p:nvSpPr>
          <p:cNvPr id="10" name="Rectangle 9"/>
          <p:cNvSpPr/>
          <p:nvPr/>
        </p:nvSpPr>
        <p:spPr>
          <a:xfrm>
            <a:off x="932688" y="2763316"/>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932688" y="2909620"/>
            <a:ext cx="3100387" cy="568756"/>
          </a:xfrm>
          <a:prstGeom prst="rect">
            <a:avLst/>
          </a:prstGeom>
          <a:noFill/>
        </p:spPr>
        <p:txBody>
          <a:bodyPr wrap="square" lIns="0" rIns="0" tIns="0" bIns="0" anchor="t">
            <a:spAutoFit/>
          </a:bodyPr>
          <a:lstStyle/>
          <a:p>
            <a:pPr algn="l">
              <a:lnSpc>
                <a:spcPct val="128000"/>
              </a:lnSpc>
            </a:pPr>
            <a:r>
              <a:rPr sz="1900" b="1" i="0">
                <a:solidFill>
                  <a:srgbClr val="17181A"/>
                </a:solidFill>
                <a:latin typeface="Verdana"/>
              </a:rPr>
              <a:t>un avis écrit</a:t>
            </a:r>
          </a:p>
        </p:txBody>
      </p:sp>
      <p:sp>
        <p:nvSpPr>
          <p:cNvPr id="12" name="TextBox 11"/>
          <p:cNvSpPr txBox="1"/>
          <p:nvPr/>
        </p:nvSpPr>
        <p:spPr>
          <a:xfrm>
            <a:off x="4307395" y="2909620"/>
            <a:ext cx="6951611" cy="568756"/>
          </a:xfrm>
          <a:prstGeom prst="rect">
            <a:avLst/>
          </a:prstGeom>
          <a:noFill/>
        </p:spPr>
        <p:txBody>
          <a:bodyPr wrap="square" lIns="0" rIns="0" tIns="0" bIns="0" anchor="t">
            <a:spAutoFit/>
          </a:bodyPr>
          <a:lstStyle/>
          <a:p>
            <a:pPr algn="l">
              <a:lnSpc>
                <a:spcPct val="135000"/>
              </a:lnSpc>
            </a:pPr>
            <a:r>
              <a:rPr sz="1700" b="0" i="0">
                <a:solidFill>
                  <a:srgbClr val="4B4F52"/>
                </a:solidFill>
                <a:latin typeface="Verdana"/>
              </a:rPr>
              <a:t>Une lettre ou un courriel qui garde une trace d'une demande.</a:t>
            </a:r>
          </a:p>
        </p:txBody>
      </p:sp>
      <p:sp>
        <p:nvSpPr>
          <p:cNvPr id="13" name="Rectangle 12"/>
          <p:cNvSpPr/>
          <p:nvPr/>
        </p:nvSpPr>
        <p:spPr>
          <a:xfrm>
            <a:off x="932688" y="3551529"/>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932688" y="3697833"/>
            <a:ext cx="3100387" cy="568756"/>
          </a:xfrm>
          <a:prstGeom prst="rect">
            <a:avLst/>
          </a:prstGeom>
          <a:noFill/>
        </p:spPr>
        <p:txBody>
          <a:bodyPr wrap="square" lIns="0" rIns="0" tIns="0" bIns="0" anchor="t">
            <a:spAutoFit/>
          </a:bodyPr>
          <a:lstStyle/>
          <a:p>
            <a:pPr algn="l">
              <a:lnSpc>
                <a:spcPct val="128000"/>
              </a:lnSpc>
            </a:pPr>
            <a:r>
              <a:rPr sz="1900" b="1" i="0">
                <a:solidFill>
                  <a:srgbClr val="17181A"/>
                </a:solidFill>
                <a:latin typeface="Verdana"/>
              </a:rPr>
              <a:t>un recours</a:t>
            </a:r>
          </a:p>
        </p:txBody>
      </p:sp>
      <p:sp>
        <p:nvSpPr>
          <p:cNvPr id="15" name="TextBox 14"/>
          <p:cNvSpPr txBox="1"/>
          <p:nvPr/>
        </p:nvSpPr>
        <p:spPr>
          <a:xfrm>
            <a:off x="4307395" y="3697833"/>
            <a:ext cx="6951611" cy="568756"/>
          </a:xfrm>
          <a:prstGeom prst="rect">
            <a:avLst/>
          </a:prstGeom>
          <a:noFill/>
        </p:spPr>
        <p:txBody>
          <a:bodyPr wrap="square" lIns="0" rIns="0" tIns="0" bIns="0" anchor="t">
            <a:spAutoFit/>
          </a:bodyPr>
          <a:lstStyle/>
          <a:p>
            <a:pPr algn="l">
              <a:lnSpc>
                <a:spcPct val="135000"/>
              </a:lnSpc>
            </a:pPr>
            <a:r>
              <a:rPr sz="1800" b="0" i="0">
                <a:solidFill>
                  <a:srgbClr val="4B4F52"/>
                </a:solidFill>
                <a:latin typeface="Verdana"/>
              </a:rPr>
              <a:t>Le moyen légal de faire régler un problème qui traîne.</a:t>
            </a:r>
          </a:p>
        </p:txBody>
      </p:sp>
      <p:sp>
        <p:nvSpPr>
          <p:cNvPr id="16" name="Rectangle 15"/>
          <p:cNvSpPr/>
          <p:nvPr/>
        </p:nvSpPr>
        <p:spPr>
          <a:xfrm>
            <a:off x="932688" y="4339742"/>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932688" y="4486046"/>
            <a:ext cx="3100387" cy="568756"/>
          </a:xfrm>
          <a:prstGeom prst="rect">
            <a:avLst/>
          </a:prstGeom>
          <a:noFill/>
        </p:spPr>
        <p:txBody>
          <a:bodyPr wrap="square" lIns="0" rIns="0" tIns="0" bIns="0" anchor="t">
            <a:spAutoFit/>
          </a:bodyPr>
          <a:lstStyle/>
          <a:p>
            <a:pPr algn="l">
              <a:lnSpc>
                <a:spcPct val="128000"/>
              </a:lnSpc>
            </a:pPr>
            <a:r>
              <a:rPr sz="1900" b="1" i="0">
                <a:solidFill>
                  <a:srgbClr val="17181A"/>
                </a:solidFill>
                <a:latin typeface="Verdana"/>
              </a:rPr>
              <a:t>une partie commune</a:t>
            </a:r>
          </a:p>
        </p:txBody>
      </p:sp>
      <p:sp>
        <p:nvSpPr>
          <p:cNvPr id="18" name="TextBox 17"/>
          <p:cNvSpPr txBox="1"/>
          <p:nvPr/>
        </p:nvSpPr>
        <p:spPr>
          <a:xfrm>
            <a:off x="4307395" y="4486046"/>
            <a:ext cx="6951611" cy="568756"/>
          </a:xfrm>
          <a:prstGeom prst="rect">
            <a:avLst/>
          </a:prstGeom>
          <a:noFill/>
        </p:spPr>
        <p:txBody>
          <a:bodyPr wrap="square" lIns="0" rIns="0" tIns="0" bIns="0" anchor="t">
            <a:spAutoFit/>
          </a:bodyPr>
          <a:lstStyle/>
          <a:p>
            <a:pPr algn="l">
              <a:lnSpc>
                <a:spcPct val="135000"/>
              </a:lnSpc>
            </a:pPr>
            <a:r>
              <a:rPr sz="1800" b="0" i="0">
                <a:solidFill>
                  <a:srgbClr val="4B4F52"/>
                </a:solidFill>
                <a:latin typeface="Verdana"/>
              </a:rPr>
              <a:t>Un espace de l'immeuble partagé par tous les locataires.</a:t>
            </a:r>
          </a:p>
        </p:txBody>
      </p:sp>
      <p:sp>
        <p:nvSpPr>
          <p:cNvPr id="19" name="Rectangle 18"/>
          <p:cNvSpPr/>
          <p:nvPr/>
        </p:nvSpPr>
        <p:spPr>
          <a:xfrm>
            <a:off x="932688" y="5127955"/>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932688" y="5274259"/>
            <a:ext cx="3100387" cy="568756"/>
          </a:xfrm>
          <a:prstGeom prst="rect">
            <a:avLst/>
          </a:prstGeom>
          <a:noFill/>
        </p:spPr>
        <p:txBody>
          <a:bodyPr wrap="square" lIns="0" rIns="0" tIns="0" bIns="0" anchor="t">
            <a:spAutoFit/>
          </a:bodyPr>
          <a:lstStyle/>
          <a:p>
            <a:pPr algn="l">
              <a:lnSpc>
                <a:spcPct val="128000"/>
              </a:lnSpc>
            </a:pPr>
            <a:r>
              <a:rPr sz="1900" b="1" i="0">
                <a:solidFill>
                  <a:srgbClr val="17181A"/>
                </a:solidFill>
                <a:latin typeface="Verdana"/>
              </a:rPr>
              <a:t>une sortie de secours</a:t>
            </a:r>
          </a:p>
        </p:txBody>
      </p:sp>
      <p:sp>
        <p:nvSpPr>
          <p:cNvPr id="21" name="TextBox 20"/>
          <p:cNvSpPr txBox="1"/>
          <p:nvPr/>
        </p:nvSpPr>
        <p:spPr>
          <a:xfrm>
            <a:off x="4307395" y="5274259"/>
            <a:ext cx="6951611" cy="568756"/>
          </a:xfrm>
          <a:prstGeom prst="rect">
            <a:avLst/>
          </a:prstGeom>
          <a:noFill/>
        </p:spPr>
        <p:txBody>
          <a:bodyPr wrap="square" lIns="0" rIns="0" tIns="0" bIns="0" anchor="t">
            <a:spAutoFit/>
          </a:bodyPr>
          <a:lstStyle/>
          <a:p>
            <a:pPr algn="l">
              <a:lnSpc>
                <a:spcPct val="135000"/>
              </a:lnSpc>
            </a:pPr>
            <a:r>
              <a:rPr sz="1800" b="0" i="0">
                <a:solidFill>
                  <a:srgbClr val="4B4F52"/>
                </a:solidFill>
                <a:latin typeface="Verdana"/>
              </a:rPr>
              <a:t>Le chemin à garder libre pour évacuer en cas d'incendie.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E2 · Pouvez-vous régler le problème ?</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6</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166534"/>
                </a:solidFill>
                <a:latin typeface="Verdana"/>
              </a:rPr>
              <a:t>RÉVISION · 1 DE 2</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Les savoirs du module</a:t>
            </a:r>
          </a:p>
        </p:txBody>
      </p:sp>
      <p:sp>
        <p:nvSpPr>
          <p:cNvPr id="7" name="Rounded Rectangle 6"/>
          <p:cNvSpPr/>
          <p:nvPr/>
        </p:nvSpPr>
        <p:spPr>
          <a:xfrm>
            <a:off x="566928" y="1810512"/>
            <a:ext cx="11057839" cy="2798064"/>
          </a:xfrm>
          <a:prstGeom prst="roundRect">
            <a:avLst>
              <a:gd name="adj" fmla="val 5228"/>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32688" y="1975104"/>
            <a:ext cx="2671913" cy="237744"/>
          </a:xfrm>
          <a:prstGeom prst="rect">
            <a:avLst/>
          </a:prstGeom>
          <a:noFill/>
        </p:spPr>
        <p:txBody>
          <a:bodyPr wrap="square" lIns="0" rIns="0" tIns="0" bIns="0" anchor="t">
            <a:spAutoFit/>
          </a:bodyPr>
          <a:lstStyle/>
          <a:p>
            <a:pPr algn="l">
              <a:lnSpc>
                <a:spcPct val="135000"/>
              </a:lnSpc>
            </a:pPr>
            <a:r>
              <a:rPr sz="1300" b="1" i="0" spc="156">
                <a:solidFill>
                  <a:srgbClr val="6E7175"/>
                </a:solidFill>
                <a:latin typeface="Verdana"/>
              </a:rPr>
              <a:t>LE SAVOIR</a:t>
            </a:r>
          </a:p>
        </p:txBody>
      </p:sp>
      <p:sp>
        <p:nvSpPr>
          <p:cNvPr id="9" name="TextBox 8"/>
          <p:cNvSpPr txBox="1"/>
          <p:nvPr/>
        </p:nvSpPr>
        <p:spPr>
          <a:xfrm>
            <a:off x="3824057" y="1975104"/>
            <a:ext cx="5666545" cy="237744"/>
          </a:xfrm>
          <a:prstGeom prst="rect">
            <a:avLst/>
          </a:prstGeom>
          <a:noFill/>
        </p:spPr>
        <p:txBody>
          <a:bodyPr wrap="square" lIns="0" rIns="0" tIns="0" bIns="0" anchor="t">
            <a:spAutoFit/>
          </a:bodyPr>
          <a:lstStyle/>
          <a:p>
            <a:pPr algn="l">
              <a:lnSpc>
                <a:spcPct val="135000"/>
              </a:lnSpc>
            </a:pPr>
            <a:r>
              <a:rPr sz="1300" b="1" i="0" spc="156">
                <a:solidFill>
                  <a:srgbClr val="6E7175"/>
                </a:solidFill>
                <a:latin typeface="Verdana"/>
              </a:rPr>
              <a:t>LA RÈGLE EN UNE PHRASE</a:t>
            </a:r>
          </a:p>
        </p:txBody>
      </p:sp>
      <p:sp>
        <p:nvSpPr>
          <p:cNvPr id="10" name="TextBox 9"/>
          <p:cNvSpPr txBox="1"/>
          <p:nvPr/>
        </p:nvSpPr>
        <p:spPr>
          <a:xfrm>
            <a:off x="9710059" y="1975104"/>
            <a:ext cx="1329491" cy="237744"/>
          </a:xfrm>
          <a:prstGeom prst="rect">
            <a:avLst/>
          </a:prstGeom>
          <a:noFill/>
        </p:spPr>
        <p:txBody>
          <a:bodyPr wrap="square" lIns="0" rIns="0" tIns="0" bIns="0" anchor="t">
            <a:spAutoFit/>
          </a:bodyPr>
          <a:lstStyle/>
          <a:p>
            <a:pPr algn="l">
              <a:lnSpc>
                <a:spcPct val="135000"/>
              </a:lnSpc>
            </a:pPr>
            <a:r>
              <a:rPr sz="1300" b="1" i="0" spc="156">
                <a:solidFill>
                  <a:srgbClr val="6E7175"/>
                </a:solidFill>
                <a:latin typeface="Verdana"/>
              </a:rPr>
              <a:t>SÉANCE</a:t>
            </a:r>
          </a:p>
        </p:txBody>
      </p:sp>
      <p:sp>
        <p:nvSpPr>
          <p:cNvPr id="11" name="TextBox 10"/>
          <p:cNvSpPr txBox="1"/>
          <p:nvPr/>
        </p:nvSpPr>
        <p:spPr>
          <a:xfrm>
            <a:off x="932688" y="2395728"/>
            <a:ext cx="2671913" cy="338328"/>
          </a:xfrm>
          <a:prstGeom prst="rect">
            <a:avLst/>
          </a:prstGeom>
          <a:noFill/>
        </p:spPr>
        <p:txBody>
          <a:bodyPr wrap="square" lIns="0" rIns="0" tIns="0" bIns="0" anchor="t">
            <a:spAutoFit/>
          </a:bodyPr>
          <a:lstStyle/>
          <a:p>
            <a:pPr algn="l">
              <a:lnSpc>
                <a:spcPct val="132000"/>
              </a:lnSpc>
            </a:pPr>
            <a:r>
              <a:rPr sz="1800" b="0" i="0">
                <a:solidFill>
                  <a:srgbClr val="3A3D40"/>
                </a:solidFill>
                <a:latin typeface="Verdana"/>
              </a:rPr>
              <a:t>[ø] et [œ]</a:t>
            </a:r>
          </a:p>
        </p:txBody>
      </p:sp>
      <p:sp>
        <p:nvSpPr>
          <p:cNvPr id="12" name="TextBox 11"/>
          <p:cNvSpPr txBox="1"/>
          <p:nvPr/>
        </p:nvSpPr>
        <p:spPr>
          <a:xfrm>
            <a:off x="3824057" y="2395728"/>
            <a:ext cx="5666545" cy="338328"/>
          </a:xfrm>
          <a:prstGeom prst="rect">
            <a:avLst/>
          </a:prstGeom>
          <a:noFill/>
        </p:spPr>
        <p:txBody>
          <a:bodyPr wrap="square" lIns="0" rIns="0" tIns="0" bIns="0" anchor="t">
            <a:spAutoFit/>
          </a:bodyPr>
          <a:lstStyle/>
          <a:p>
            <a:pPr algn="l">
              <a:lnSpc>
                <a:spcPct val="132000"/>
              </a:lnSpc>
            </a:pPr>
            <a:r>
              <a:rPr sz="1800" b="1" i="0">
                <a:solidFill>
                  <a:srgbClr val="166534"/>
                </a:solidFill>
                <a:latin typeface="Verdana"/>
              </a:rPr>
              <a:t>la fin du mot écrit décide</a:t>
            </a:r>
          </a:p>
        </p:txBody>
      </p:sp>
      <p:sp>
        <p:nvSpPr>
          <p:cNvPr id="13" name="TextBox 12"/>
          <p:cNvSpPr txBox="1"/>
          <p:nvPr/>
        </p:nvSpPr>
        <p:spPr>
          <a:xfrm>
            <a:off x="9710059" y="2395728"/>
            <a:ext cx="1329491" cy="338328"/>
          </a:xfrm>
          <a:prstGeom prst="rect">
            <a:avLst/>
          </a:prstGeom>
          <a:noFill/>
        </p:spPr>
        <p:txBody>
          <a:bodyPr wrap="square" lIns="0" rIns="0" tIns="0" bIns="0" anchor="t">
            <a:spAutoFit/>
          </a:bodyPr>
          <a:lstStyle/>
          <a:p>
            <a:pPr algn="l">
              <a:lnSpc>
                <a:spcPct val="132000"/>
              </a:lnSpc>
            </a:pPr>
            <a:r>
              <a:rPr sz="1800" b="0" i="0">
                <a:solidFill>
                  <a:srgbClr val="3A3D40"/>
                </a:solidFill>
                <a:latin typeface="Verdana"/>
              </a:rPr>
              <a:t>A2</a:t>
            </a:r>
          </a:p>
        </p:txBody>
      </p:sp>
      <p:sp>
        <p:nvSpPr>
          <p:cNvPr id="14" name="Rectangle 13"/>
          <p:cNvSpPr/>
          <p:nvPr/>
        </p:nvSpPr>
        <p:spPr>
          <a:xfrm>
            <a:off x="932688" y="2807208"/>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932688" y="2935224"/>
            <a:ext cx="2671913" cy="338328"/>
          </a:xfrm>
          <a:prstGeom prst="rect">
            <a:avLst/>
          </a:prstGeom>
          <a:noFill/>
        </p:spPr>
        <p:txBody>
          <a:bodyPr wrap="square" lIns="0" rIns="0" tIns="0" bIns="0" anchor="t">
            <a:spAutoFit/>
          </a:bodyPr>
          <a:lstStyle/>
          <a:p>
            <a:pPr algn="l">
              <a:lnSpc>
                <a:spcPct val="132000"/>
              </a:lnSpc>
            </a:pPr>
            <a:r>
              <a:rPr sz="1800" b="0" i="0">
                <a:solidFill>
                  <a:srgbClr val="3A3D40"/>
                </a:solidFill>
                <a:latin typeface="Verdana"/>
              </a:rPr>
              <a:t>Les métiers</a:t>
            </a:r>
          </a:p>
        </p:txBody>
      </p:sp>
      <p:sp>
        <p:nvSpPr>
          <p:cNvPr id="16" name="TextBox 15"/>
          <p:cNvSpPr txBox="1"/>
          <p:nvPr/>
        </p:nvSpPr>
        <p:spPr>
          <a:xfrm>
            <a:off x="3824057" y="2935224"/>
            <a:ext cx="5666545" cy="338328"/>
          </a:xfrm>
          <a:prstGeom prst="rect">
            <a:avLst/>
          </a:prstGeom>
          <a:noFill/>
        </p:spPr>
        <p:txBody>
          <a:bodyPr wrap="square" lIns="0" rIns="0" tIns="0" bIns="0" anchor="t">
            <a:spAutoFit/>
          </a:bodyPr>
          <a:lstStyle/>
          <a:p>
            <a:pPr algn="l">
              <a:lnSpc>
                <a:spcPct val="132000"/>
              </a:lnSpc>
            </a:pPr>
            <a:r>
              <a:rPr sz="1800" b="1" i="0">
                <a:solidFill>
                  <a:srgbClr val="166534"/>
                </a:solidFill>
                <a:latin typeface="Verdana"/>
              </a:rPr>
              <a:t>on retient la matière, pas le problème</a:t>
            </a:r>
          </a:p>
        </p:txBody>
      </p:sp>
      <p:sp>
        <p:nvSpPr>
          <p:cNvPr id="17" name="TextBox 16"/>
          <p:cNvSpPr txBox="1"/>
          <p:nvPr/>
        </p:nvSpPr>
        <p:spPr>
          <a:xfrm>
            <a:off x="9710059" y="2935224"/>
            <a:ext cx="1329491" cy="338328"/>
          </a:xfrm>
          <a:prstGeom prst="rect">
            <a:avLst/>
          </a:prstGeom>
          <a:noFill/>
        </p:spPr>
        <p:txBody>
          <a:bodyPr wrap="square" lIns="0" rIns="0" tIns="0" bIns="0" anchor="t">
            <a:spAutoFit/>
          </a:bodyPr>
          <a:lstStyle/>
          <a:p>
            <a:pPr algn="l">
              <a:lnSpc>
                <a:spcPct val="132000"/>
              </a:lnSpc>
            </a:pPr>
            <a:r>
              <a:rPr sz="1800" b="0" i="0">
                <a:solidFill>
                  <a:srgbClr val="3A3D40"/>
                </a:solidFill>
                <a:latin typeface="Verdana"/>
              </a:rPr>
              <a:t>A3</a:t>
            </a:r>
          </a:p>
        </p:txBody>
      </p:sp>
      <p:sp>
        <p:nvSpPr>
          <p:cNvPr id="18" name="Rectangle 17"/>
          <p:cNvSpPr/>
          <p:nvPr/>
        </p:nvSpPr>
        <p:spPr>
          <a:xfrm>
            <a:off x="932688" y="3346704"/>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932688" y="3474720"/>
            <a:ext cx="2671913" cy="338328"/>
          </a:xfrm>
          <a:prstGeom prst="rect">
            <a:avLst/>
          </a:prstGeom>
          <a:noFill/>
        </p:spPr>
        <p:txBody>
          <a:bodyPr wrap="square" lIns="0" rIns="0" tIns="0" bIns="0" anchor="t">
            <a:spAutoFit/>
          </a:bodyPr>
          <a:lstStyle/>
          <a:p>
            <a:pPr algn="l">
              <a:lnSpc>
                <a:spcPct val="132000"/>
              </a:lnSpc>
            </a:pPr>
            <a:r>
              <a:rPr sz="1800" b="0" i="0">
                <a:solidFill>
                  <a:srgbClr val="3A3D40"/>
                </a:solidFill>
                <a:latin typeface="Verdana"/>
              </a:rPr>
              <a:t>Les droits</a:t>
            </a:r>
          </a:p>
        </p:txBody>
      </p:sp>
      <p:sp>
        <p:nvSpPr>
          <p:cNvPr id="20" name="TextBox 19"/>
          <p:cNvSpPr txBox="1"/>
          <p:nvPr/>
        </p:nvSpPr>
        <p:spPr>
          <a:xfrm>
            <a:off x="3824057" y="3474720"/>
            <a:ext cx="5666545" cy="338328"/>
          </a:xfrm>
          <a:prstGeom prst="rect">
            <a:avLst/>
          </a:prstGeom>
          <a:noFill/>
        </p:spPr>
        <p:txBody>
          <a:bodyPr wrap="square" lIns="0" rIns="0" tIns="0" bIns="0" anchor="t">
            <a:spAutoFit/>
          </a:bodyPr>
          <a:lstStyle/>
          <a:p>
            <a:pPr algn="l">
              <a:lnSpc>
                <a:spcPct val="132000"/>
              </a:lnSpc>
            </a:pPr>
            <a:r>
              <a:rPr sz="1800" b="1" i="0">
                <a:solidFill>
                  <a:srgbClr val="166534"/>
                </a:solidFill>
                <a:latin typeface="Verdana"/>
              </a:rPr>
              <a:t>on parle, on écrit, puis on dépose</a:t>
            </a:r>
          </a:p>
        </p:txBody>
      </p:sp>
      <p:sp>
        <p:nvSpPr>
          <p:cNvPr id="21" name="TextBox 20"/>
          <p:cNvSpPr txBox="1"/>
          <p:nvPr/>
        </p:nvSpPr>
        <p:spPr>
          <a:xfrm>
            <a:off x="9710059" y="3474720"/>
            <a:ext cx="1329491" cy="338328"/>
          </a:xfrm>
          <a:prstGeom prst="rect">
            <a:avLst/>
          </a:prstGeom>
          <a:noFill/>
        </p:spPr>
        <p:txBody>
          <a:bodyPr wrap="square" lIns="0" rIns="0" tIns="0" bIns="0" anchor="t">
            <a:spAutoFit/>
          </a:bodyPr>
          <a:lstStyle/>
          <a:p>
            <a:pPr algn="l">
              <a:lnSpc>
                <a:spcPct val="132000"/>
              </a:lnSpc>
            </a:pPr>
            <a:r>
              <a:rPr sz="1800" b="0" i="0">
                <a:solidFill>
                  <a:srgbClr val="3A3D40"/>
                </a:solidFill>
                <a:latin typeface="Verdana"/>
              </a:rPr>
              <a:t>B4</a:t>
            </a:r>
          </a:p>
        </p:txBody>
      </p:sp>
      <p:sp>
        <p:nvSpPr>
          <p:cNvPr id="22" name="Rectangle 21"/>
          <p:cNvSpPr/>
          <p:nvPr/>
        </p:nvSpPr>
        <p:spPr>
          <a:xfrm>
            <a:off x="932688" y="3886200"/>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932688" y="4014215"/>
            <a:ext cx="2671913" cy="338328"/>
          </a:xfrm>
          <a:prstGeom prst="rect">
            <a:avLst/>
          </a:prstGeom>
          <a:noFill/>
        </p:spPr>
        <p:txBody>
          <a:bodyPr wrap="square" lIns="0" rIns="0" tIns="0" bIns="0" anchor="t">
            <a:spAutoFit/>
          </a:bodyPr>
          <a:lstStyle/>
          <a:p>
            <a:pPr algn="l">
              <a:lnSpc>
                <a:spcPct val="132000"/>
              </a:lnSpc>
            </a:pPr>
            <a:r>
              <a:rPr sz="1800" b="0" i="0">
                <a:solidFill>
                  <a:srgbClr val="3A3D40"/>
                </a:solidFill>
                <a:latin typeface="Verdana"/>
              </a:rPr>
              <a:t>leur / leurs</a:t>
            </a:r>
          </a:p>
        </p:txBody>
      </p:sp>
      <p:sp>
        <p:nvSpPr>
          <p:cNvPr id="24" name="TextBox 23"/>
          <p:cNvSpPr txBox="1"/>
          <p:nvPr/>
        </p:nvSpPr>
        <p:spPr>
          <a:xfrm>
            <a:off x="3824057" y="4014215"/>
            <a:ext cx="5666545" cy="338328"/>
          </a:xfrm>
          <a:prstGeom prst="rect">
            <a:avLst/>
          </a:prstGeom>
          <a:noFill/>
        </p:spPr>
        <p:txBody>
          <a:bodyPr wrap="square" lIns="0" rIns="0" tIns="0" bIns="0" anchor="t">
            <a:spAutoFit/>
          </a:bodyPr>
          <a:lstStyle/>
          <a:p>
            <a:pPr algn="l">
              <a:lnSpc>
                <a:spcPct val="132000"/>
              </a:lnSpc>
            </a:pPr>
            <a:r>
              <a:rPr sz="1800" b="1" i="0">
                <a:solidFill>
                  <a:srgbClr val="166534"/>
                </a:solidFill>
                <a:latin typeface="Verdana"/>
              </a:rPr>
              <a:t>le nom qui suit décide, lui seul</a:t>
            </a:r>
          </a:p>
        </p:txBody>
      </p:sp>
      <p:sp>
        <p:nvSpPr>
          <p:cNvPr id="25" name="TextBox 24"/>
          <p:cNvSpPr txBox="1"/>
          <p:nvPr/>
        </p:nvSpPr>
        <p:spPr>
          <a:xfrm>
            <a:off x="9710059" y="4014215"/>
            <a:ext cx="1329491" cy="338328"/>
          </a:xfrm>
          <a:prstGeom prst="rect">
            <a:avLst/>
          </a:prstGeom>
          <a:noFill/>
        </p:spPr>
        <p:txBody>
          <a:bodyPr wrap="square" lIns="0" rIns="0" tIns="0" bIns="0" anchor="t">
            <a:spAutoFit/>
          </a:bodyPr>
          <a:lstStyle/>
          <a:p>
            <a:pPr algn="l">
              <a:lnSpc>
                <a:spcPct val="132000"/>
              </a:lnSpc>
            </a:pPr>
            <a:r>
              <a:rPr sz="1800" b="0" i="0">
                <a:solidFill>
                  <a:srgbClr val="3A3D40"/>
                </a:solidFill>
                <a:latin typeface="Verdana"/>
              </a:rPr>
              <a:t>B2</a:t>
            </a:r>
          </a:p>
        </p:txBody>
      </p:sp>
      <p:sp>
        <p:nvSpPr>
          <p:cNvPr id="26" name="Rounded Rectangle 25"/>
          <p:cNvSpPr/>
          <p:nvPr/>
        </p:nvSpPr>
        <p:spPr>
          <a:xfrm>
            <a:off x="566928" y="4846320"/>
            <a:ext cx="11057839" cy="1175004"/>
          </a:xfrm>
          <a:prstGeom prst="roundRect">
            <a:avLst>
              <a:gd name="adj" fmla="val 12451"/>
            </a:avLst>
          </a:prstGeom>
          <a:solidFill>
            <a:srgbClr val="FBFBFA"/>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969264" y="5102352"/>
            <a:ext cx="10234879" cy="717804"/>
          </a:xfrm>
          <a:prstGeom prst="rect">
            <a:avLst/>
          </a:prstGeom>
          <a:noFill/>
        </p:spPr>
        <p:txBody>
          <a:bodyPr wrap="square" lIns="0" rIns="0" tIns="0" bIns="0" anchor="t">
            <a:spAutoFit/>
          </a:bodyPr>
          <a:lstStyle/>
          <a:p>
            <a:pPr algn="l">
              <a:lnSpc>
                <a:spcPct val="145000"/>
              </a:lnSpc>
            </a:pPr>
            <a:r>
              <a:rPr sz="1800" b="0" i="0">
                <a:solidFill>
                  <a:srgbClr val="4B4F52"/>
                </a:solidFill>
                <a:latin typeface="Verdana"/>
              </a:rPr>
              <a:t>Pour chaque ligne : est-ce que vous sauriez l'expliquer à quelqu'un qui n'était pas là ? C'est le vrai test.</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E2 · Pouvez-vous régler le problème ?</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7</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166534"/>
                </a:solidFill>
                <a:latin typeface="Verdana"/>
              </a:rPr>
              <a:t>RÉVISION · 2 DE 2</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Les savoirs du module</a:t>
            </a:r>
          </a:p>
        </p:txBody>
      </p:sp>
      <p:sp>
        <p:nvSpPr>
          <p:cNvPr id="7" name="Rounded Rectangle 6"/>
          <p:cNvSpPr/>
          <p:nvPr/>
        </p:nvSpPr>
        <p:spPr>
          <a:xfrm>
            <a:off x="566928" y="1810512"/>
            <a:ext cx="11057839" cy="3253740"/>
          </a:xfrm>
          <a:prstGeom prst="roundRect">
            <a:avLst>
              <a:gd name="adj" fmla="val 4496"/>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32688" y="1975104"/>
            <a:ext cx="2671913" cy="237744"/>
          </a:xfrm>
          <a:prstGeom prst="rect">
            <a:avLst/>
          </a:prstGeom>
          <a:noFill/>
        </p:spPr>
        <p:txBody>
          <a:bodyPr wrap="square" lIns="0" rIns="0" tIns="0" bIns="0" anchor="t">
            <a:spAutoFit/>
          </a:bodyPr>
          <a:lstStyle/>
          <a:p>
            <a:pPr algn="l">
              <a:lnSpc>
                <a:spcPct val="135000"/>
              </a:lnSpc>
            </a:pPr>
            <a:r>
              <a:rPr sz="1300" b="1" i="0" spc="156">
                <a:solidFill>
                  <a:srgbClr val="6E7175"/>
                </a:solidFill>
                <a:latin typeface="Verdana"/>
              </a:rPr>
              <a:t>LE SAVOIR</a:t>
            </a:r>
          </a:p>
        </p:txBody>
      </p:sp>
      <p:sp>
        <p:nvSpPr>
          <p:cNvPr id="9" name="TextBox 8"/>
          <p:cNvSpPr txBox="1"/>
          <p:nvPr/>
        </p:nvSpPr>
        <p:spPr>
          <a:xfrm>
            <a:off x="3824057" y="1975104"/>
            <a:ext cx="5666545" cy="237744"/>
          </a:xfrm>
          <a:prstGeom prst="rect">
            <a:avLst/>
          </a:prstGeom>
          <a:noFill/>
        </p:spPr>
        <p:txBody>
          <a:bodyPr wrap="square" lIns="0" rIns="0" tIns="0" bIns="0" anchor="t">
            <a:spAutoFit/>
          </a:bodyPr>
          <a:lstStyle/>
          <a:p>
            <a:pPr algn="l">
              <a:lnSpc>
                <a:spcPct val="135000"/>
              </a:lnSpc>
            </a:pPr>
            <a:r>
              <a:rPr sz="1300" b="1" i="0" spc="156">
                <a:solidFill>
                  <a:srgbClr val="6E7175"/>
                </a:solidFill>
                <a:latin typeface="Verdana"/>
              </a:rPr>
              <a:t>LA RÈGLE EN UNE PHRASE</a:t>
            </a:r>
          </a:p>
        </p:txBody>
      </p:sp>
      <p:sp>
        <p:nvSpPr>
          <p:cNvPr id="10" name="TextBox 9"/>
          <p:cNvSpPr txBox="1"/>
          <p:nvPr/>
        </p:nvSpPr>
        <p:spPr>
          <a:xfrm>
            <a:off x="9710059" y="1975104"/>
            <a:ext cx="1329491" cy="237744"/>
          </a:xfrm>
          <a:prstGeom prst="rect">
            <a:avLst/>
          </a:prstGeom>
          <a:noFill/>
        </p:spPr>
        <p:txBody>
          <a:bodyPr wrap="square" lIns="0" rIns="0" tIns="0" bIns="0" anchor="t">
            <a:spAutoFit/>
          </a:bodyPr>
          <a:lstStyle/>
          <a:p>
            <a:pPr algn="l">
              <a:lnSpc>
                <a:spcPct val="135000"/>
              </a:lnSpc>
            </a:pPr>
            <a:r>
              <a:rPr sz="1300" b="1" i="0" spc="156">
                <a:solidFill>
                  <a:srgbClr val="6E7175"/>
                </a:solidFill>
                <a:latin typeface="Verdana"/>
              </a:rPr>
              <a:t>SÉANCE</a:t>
            </a:r>
          </a:p>
        </p:txBody>
      </p:sp>
      <p:sp>
        <p:nvSpPr>
          <p:cNvPr id="11" name="TextBox 10"/>
          <p:cNvSpPr txBox="1"/>
          <p:nvPr/>
        </p:nvSpPr>
        <p:spPr>
          <a:xfrm>
            <a:off x="932688" y="2395728"/>
            <a:ext cx="2671913" cy="321564"/>
          </a:xfrm>
          <a:prstGeom prst="rect">
            <a:avLst/>
          </a:prstGeom>
          <a:noFill/>
        </p:spPr>
        <p:txBody>
          <a:bodyPr wrap="square" lIns="0" rIns="0" tIns="0" bIns="0" anchor="t">
            <a:spAutoFit/>
          </a:bodyPr>
          <a:lstStyle/>
          <a:p>
            <a:pPr algn="l">
              <a:lnSpc>
                <a:spcPct val="132000"/>
              </a:lnSpc>
            </a:pPr>
            <a:r>
              <a:rPr sz="1700" b="0" i="0">
                <a:solidFill>
                  <a:srgbClr val="3A3D40"/>
                </a:solidFill>
                <a:latin typeface="Verdana"/>
              </a:rPr>
              <a:t>depuis / ça fait… que</a:t>
            </a:r>
          </a:p>
        </p:txBody>
      </p:sp>
      <p:sp>
        <p:nvSpPr>
          <p:cNvPr id="12" name="TextBox 11"/>
          <p:cNvSpPr txBox="1"/>
          <p:nvPr/>
        </p:nvSpPr>
        <p:spPr>
          <a:xfrm>
            <a:off x="3824057" y="2395728"/>
            <a:ext cx="5666545" cy="321564"/>
          </a:xfrm>
          <a:prstGeom prst="rect">
            <a:avLst/>
          </a:prstGeom>
          <a:noFill/>
        </p:spPr>
        <p:txBody>
          <a:bodyPr wrap="square" lIns="0" rIns="0" tIns="0" bIns="0" anchor="t">
            <a:spAutoFit/>
          </a:bodyPr>
          <a:lstStyle/>
          <a:p>
            <a:pPr algn="l">
              <a:lnSpc>
                <a:spcPct val="132000"/>
              </a:lnSpc>
            </a:pPr>
            <a:r>
              <a:rPr sz="1700" b="1" i="0">
                <a:solidFill>
                  <a:srgbClr val="166534"/>
                </a:solidFill>
                <a:latin typeface="Verdana"/>
              </a:rPr>
              <a:t>regardez ce qui vient après</a:t>
            </a:r>
          </a:p>
        </p:txBody>
      </p:sp>
      <p:sp>
        <p:nvSpPr>
          <p:cNvPr id="13" name="TextBox 12"/>
          <p:cNvSpPr txBox="1"/>
          <p:nvPr/>
        </p:nvSpPr>
        <p:spPr>
          <a:xfrm>
            <a:off x="9710059" y="2395728"/>
            <a:ext cx="1329491" cy="321564"/>
          </a:xfrm>
          <a:prstGeom prst="rect">
            <a:avLst/>
          </a:prstGeom>
          <a:noFill/>
        </p:spPr>
        <p:txBody>
          <a:bodyPr wrap="square" lIns="0" rIns="0" tIns="0" bIns="0" anchor="t">
            <a:spAutoFit/>
          </a:bodyPr>
          <a:lstStyle/>
          <a:p>
            <a:pPr algn="l">
              <a:lnSpc>
                <a:spcPct val="132000"/>
              </a:lnSpc>
            </a:pPr>
            <a:r>
              <a:rPr sz="1700" b="0" i="0">
                <a:solidFill>
                  <a:srgbClr val="3A3D40"/>
                </a:solidFill>
                <a:latin typeface="Verdana"/>
              </a:rPr>
              <a:t>B3</a:t>
            </a:r>
          </a:p>
        </p:txBody>
      </p:sp>
      <p:sp>
        <p:nvSpPr>
          <p:cNvPr id="14" name="Rectangle 13"/>
          <p:cNvSpPr/>
          <p:nvPr/>
        </p:nvSpPr>
        <p:spPr>
          <a:xfrm>
            <a:off x="932688" y="2790444"/>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932688" y="2918460"/>
            <a:ext cx="2671913" cy="321564"/>
          </a:xfrm>
          <a:prstGeom prst="rect">
            <a:avLst/>
          </a:prstGeom>
          <a:noFill/>
        </p:spPr>
        <p:txBody>
          <a:bodyPr wrap="square" lIns="0" rIns="0" tIns="0" bIns="0" anchor="t">
            <a:spAutoFit/>
          </a:bodyPr>
          <a:lstStyle/>
          <a:p>
            <a:pPr algn="l">
              <a:lnSpc>
                <a:spcPct val="132000"/>
              </a:lnSpc>
            </a:pPr>
            <a:r>
              <a:rPr sz="1700" b="0" i="0">
                <a:solidFill>
                  <a:srgbClr val="3A3D40"/>
                </a:solidFill>
                <a:latin typeface="Verdana"/>
              </a:rPr>
              <a:t>avant de / après avoir</a:t>
            </a:r>
          </a:p>
        </p:txBody>
      </p:sp>
      <p:sp>
        <p:nvSpPr>
          <p:cNvPr id="16" name="TextBox 15"/>
          <p:cNvSpPr txBox="1"/>
          <p:nvPr/>
        </p:nvSpPr>
        <p:spPr>
          <a:xfrm>
            <a:off x="3824057" y="2918460"/>
            <a:ext cx="5666545" cy="321564"/>
          </a:xfrm>
          <a:prstGeom prst="rect">
            <a:avLst/>
          </a:prstGeom>
          <a:noFill/>
        </p:spPr>
        <p:txBody>
          <a:bodyPr wrap="square" lIns="0" rIns="0" tIns="0" bIns="0" anchor="t">
            <a:spAutoFit/>
          </a:bodyPr>
          <a:lstStyle/>
          <a:p>
            <a:pPr algn="l">
              <a:lnSpc>
                <a:spcPct val="132000"/>
              </a:lnSpc>
            </a:pPr>
            <a:r>
              <a:rPr sz="1700" b="1" i="0">
                <a:solidFill>
                  <a:srgbClr val="166534"/>
                </a:solidFill>
                <a:latin typeface="Verdana"/>
              </a:rPr>
              <a:t>après « avant de », l'action est deuxième</a:t>
            </a:r>
          </a:p>
        </p:txBody>
      </p:sp>
      <p:sp>
        <p:nvSpPr>
          <p:cNvPr id="17" name="TextBox 16"/>
          <p:cNvSpPr txBox="1"/>
          <p:nvPr/>
        </p:nvSpPr>
        <p:spPr>
          <a:xfrm>
            <a:off x="9710059" y="2918460"/>
            <a:ext cx="1329491" cy="321564"/>
          </a:xfrm>
          <a:prstGeom prst="rect">
            <a:avLst/>
          </a:prstGeom>
          <a:noFill/>
        </p:spPr>
        <p:txBody>
          <a:bodyPr wrap="square" lIns="0" rIns="0" tIns="0" bIns="0" anchor="t">
            <a:spAutoFit/>
          </a:bodyPr>
          <a:lstStyle/>
          <a:p>
            <a:pPr algn="l">
              <a:lnSpc>
                <a:spcPct val="132000"/>
              </a:lnSpc>
            </a:pPr>
            <a:r>
              <a:rPr sz="1700" b="0" i="0">
                <a:solidFill>
                  <a:srgbClr val="3A3D40"/>
                </a:solidFill>
                <a:latin typeface="Verdana"/>
              </a:rPr>
              <a:t>C2</a:t>
            </a:r>
          </a:p>
        </p:txBody>
      </p:sp>
      <p:sp>
        <p:nvSpPr>
          <p:cNvPr id="18" name="Rectangle 17"/>
          <p:cNvSpPr/>
          <p:nvPr/>
        </p:nvSpPr>
        <p:spPr>
          <a:xfrm>
            <a:off x="932688" y="3313176"/>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932688" y="3441192"/>
            <a:ext cx="2671913" cy="321564"/>
          </a:xfrm>
          <a:prstGeom prst="rect">
            <a:avLst/>
          </a:prstGeom>
          <a:noFill/>
        </p:spPr>
        <p:txBody>
          <a:bodyPr wrap="square" lIns="0" rIns="0" tIns="0" bIns="0" anchor="t">
            <a:spAutoFit/>
          </a:bodyPr>
          <a:lstStyle/>
          <a:p>
            <a:pPr algn="l">
              <a:lnSpc>
                <a:spcPct val="132000"/>
              </a:lnSpc>
            </a:pPr>
            <a:r>
              <a:rPr sz="1700" b="0" i="0">
                <a:solidFill>
                  <a:srgbClr val="3A3D40"/>
                </a:solidFill>
                <a:latin typeface="Verdana"/>
              </a:rPr>
              <a:t>faire + infinitif</a:t>
            </a:r>
          </a:p>
        </p:txBody>
      </p:sp>
      <p:sp>
        <p:nvSpPr>
          <p:cNvPr id="20" name="TextBox 19"/>
          <p:cNvSpPr txBox="1"/>
          <p:nvPr/>
        </p:nvSpPr>
        <p:spPr>
          <a:xfrm>
            <a:off x="3824057" y="3441192"/>
            <a:ext cx="5666545" cy="321564"/>
          </a:xfrm>
          <a:prstGeom prst="rect">
            <a:avLst/>
          </a:prstGeom>
          <a:noFill/>
        </p:spPr>
        <p:txBody>
          <a:bodyPr wrap="square" lIns="0" rIns="0" tIns="0" bIns="0" anchor="t">
            <a:spAutoFit/>
          </a:bodyPr>
          <a:lstStyle/>
          <a:p>
            <a:pPr algn="l">
              <a:lnSpc>
                <a:spcPct val="132000"/>
              </a:lnSpc>
            </a:pPr>
            <a:r>
              <a:rPr sz="1700" b="1" i="0">
                <a:solidFill>
                  <a:srgbClr val="166534"/>
                </a:solidFill>
                <a:latin typeface="Verdana"/>
              </a:rPr>
              <a:t>les deux verbes se touchent</a:t>
            </a:r>
          </a:p>
        </p:txBody>
      </p:sp>
      <p:sp>
        <p:nvSpPr>
          <p:cNvPr id="21" name="TextBox 20"/>
          <p:cNvSpPr txBox="1"/>
          <p:nvPr/>
        </p:nvSpPr>
        <p:spPr>
          <a:xfrm>
            <a:off x="9710059" y="3441192"/>
            <a:ext cx="1329491" cy="321564"/>
          </a:xfrm>
          <a:prstGeom prst="rect">
            <a:avLst/>
          </a:prstGeom>
          <a:noFill/>
        </p:spPr>
        <p:txBody>
          <a:bodyPr wrap="square" lIns="0" rIns="0" tIns="0" bIns="0" anchor="t">
            <a:spAutoFit/>
          </a:bodyPr>
          <a:lstStyle/>
          <a:p>
            <a:pPr algn="l">
              <a:lnSpc>
                <a:spcPct val="132000"/>
              </a:lnSpc>
            </a:pPr>
            <a:r>
              <a:rPr sz="1700" b="0" i="0">
                <a:solidFill>
                  <a:srgbClr val="3A3D40"/>
                </a:solidFill>
                <a:latin typeface="Verdana"/>
              </a:rPr>
              <a:t>C3</a:t>
            </a:r>
          </a:p>
        </p:txBody>
      </p:sp>
      <p:sp>
        <p:nvSpPr>
          <p:cNvPr id="22" name="Rectangle 21"/>
          <p:cNvSpPr/>
          <p:nvPr/>
        </p:nvSpPr>
        <p:spPr>
          <a:xfrm>
            <a:off x="932688" y="3835908"/>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932688" y="3963924"/>
            <a:ext cx="2671913" cy="321564"/>
          </a:xfrm>
          <a:prstGeom prst="rect">
            <a:avLst/>
          </a:prstGeom>
          <a:noFill/>
        </p:spPr>
        <p:txBody>
          <a:bodyPr wrap="square" lIns="0" rIns="0" tIns="0" bIns="0" anchor="t">
            <a:spAutoFit/>
          </a:bodyPr>
          <a:lstStyle/>
          <a:p>
            <a:pPr algn="l">
              <a:lnSpc>
                <a:spcPct val="132000"/>
              </a:lnSpc>
            </a:pPr>
            <a:r>
              <a:rPr sz="1700" b="0" i="0">
                <a:solidFill>
                  <a:srgbClr val="3A3D40"/>
                </a:solidFill>
                <a:latin typeface="Verdana"/>
              </a:rPr>
              <a:t>Privé, coop, HLM</a:t>
            </a:r>
          </a:p>
        </p:txBody>
      </p:sp>
      <p:sp>
        <p:nvSpPr>
          <p:cNvPr id="24" name="TextBox 23"/>
          <p:cNvSpPr txBox="1"/>
          <p:nvPr/>
        </p:nvSpPr>
        <p:spPr>
          <a:xfrm>
            <a:off x="3824057" y="3963924"/>
            <a:ext cx="5666545" cy="321564"/>
          </a:xfrm>
          <a:prstGeom prst="rect">
            <a:avLst/>
          </a:prstGeom>
          <a:noFill/>
        </p:spPr>
        <p:txBody>
          <a:bodyPr wrap="square" lIns="0" rIns="0" tIns="0" bIns="0" anchor="t">
            <a:spAutoFit/>
          </a:bodyPr>
          <a:lstStyle/>
          <a:p>
            <a:pPr algn="l">
              <a:lnSpc>
                <a:spcPct val="132000"/>
              </a:lnSpc>
            </a:pPr>
            <a:r>
              <a:rPr sz="1700" b="1" i="0">
                <a:solidFill>
                  <a:srgbClr val="166534"/>
                </a:solidFill>
                <a:latin typeface="Verdana"/>
              </a:rPr>
              <a:t>trois logiques, trois interlocuteurs</a:t>
            </a:r>
          </a:p>
        </p:txBody>
      </p:sp>
      <p:sp>
        <p:nvSpPr>
          <p:cNvPr id="25" name="TextBox 24"/>
          <p:cNvSpPr txBox="1"/>
          <p:nvPr/>
        </p:nvSpPr>
        <p:spPr>
          <a:xfrm>
            <a:off x="9710059" y="3963924"/>
            <a:ext cx="1329491" cy="321564"/>
          </a:xfrm>
          <a:prstGeom prst="rect">
            <a:avLst/>
          </a:prstGeom>
          <a:noFill/>
        </p:spPr>
        <p:txBody>
          <a:bodyPr wrap="square" lIns="0" rIns="0" tIns="0" bIns="0" anchor="t">
            <a:spAutoFit/>
          </a:bodyPr>
          <a:lstStyle/>
          <a:p>
            <a:pPr algn="l">
              <a:lnSpc>
                <a:spcPct val="132000"/>
              </a:lnSpc>
            </a:pPr>
            <a:r>
              <a:rPr sz="1700" b="0" i="0">
                <a:solidFill>
                  <a:srgbClr val="3A3D40"/>
                </a:solidFill>
                <a:latin typeface="Verdana"/>
              </a:rPr>
              <a:t>C4</a:t>
            </a:r>
          </a:p>
        </p:txBody>
      </p:sp>
      <p:sp>
        <p:nvSpPr>
          <p:cNvPr id="26" name="Rectangle 25"/>
          <p:cNvSpPr/>
          <p:nvPr/>
        </p:nvSpPr>
        <p:spPr>
          <a:xfrm>
            <a:off x="932688" y="4358640"/>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932688" y="4486656"/>
            <a:ext cx="2671913" cy="321564"/>
          </a:xfrm>
          <a:prstGeom prst="rect">
            <a:avLst/>
          </a:prstGeom>
          <a:noFill/>
        </p:spPr>
        <p:txBody>
          <a:bodyPr wrap="square" lIns="0" rIns="0" tIns="0" bIns="0" anchor="t">
            <a:spAutoFit/>
          </a:bodyPr>
          <a:lstStyle/>
          <a:p>
            <a:pPr algn="l">
              <a:lnSpc>
                <a:spcPct val="132000"/>
              </a:lnSpc>
            </a:pPr>
            <a:r>
              <a:rPr sz="1700" b="0" i="0">
                <a:solidFill>
                  <a:srgbClr val="3A3D40"/>
                </a:solidFill>
                <a:latin typeface="Verdana"/>
              </a:rPr>
              <a:t>Se plaindre</a:t>
            </a:r>
          </a:p>
        </p:txBody>
      </p:sp>
      <p:sp>
        <p:nvSpPr>
          <p:cNvPr id="28" name="TextBox 27"/>
          <p:cNvSpPr txBox="1"/>
          <p:nvPr/>
        </p:nvSpPr>
        <p:spPr>
          <a:xfrm>
            <a:off x="3824057" y="4486656"/>
            <a:ext cx="5666545" cy="321564"/>
          </a:xfrm>
          <a:prstGeom prst="rect">
            <a:avLst/>
          </a:prstGeom>
          <a:noFill/>
        </p:spPr>
        <p:txBody>
          <a:bodyPr wrap="square" lIns="0" rIns="0" tIns="0" bIns="0" anchor="t">
            <a:spAutoFit/>
          </a:bodyPr>
          <a:lstStyle/>
          <a:p>
            <a:pPr algn="l">
              <a:lnSpc>
                <a:spcPct val="132000"/>
              </a:lnSpc>
            </a:pPr>
            <a:r>
              <a:rPr sz="1700" b="1" i="0">
                <a:solidFill>
                  <a:srgbClr val="166534"/>
                </a:solidFill>
                <a:latin typeface="Verdana"/>
              </a:rPr>
              <a:t>le fait, l'effet sur moi, la demande</a:t>
            </a:r>
          </a:p>
        </p:txBody>
      </p:sp>
      <p:sp>
        <p:nvSpPr>
          <p:cNvPr id="29" name="TextBox 28"/>
          <p:cNvSpPr txBox="1"/>
          <p:nvPr/>
        </p:nvSpPr>
        <p:spPr>
          <a:xfrm>
            <a:off x="9710059" y="4486656"/>
            <a:ext cx="1329491" cy="321564"/>
          </a:xfrm>
          <a:prstGeom prst="rect">
            <a:avLst/>
          </a:prstGeom>
          <a:noFill/>
        </p:spPr>
        <p:txBody>
          <a:bodyPr wrap="square" lIns="0" rIns="0" tIns="0" bIns="0" anchor="t">
            <a:spAutoFit/>
          </a:bodyPr>
          <a:lstStyle/>
          <a:p>
            <a:pPr algn="l">
              <a:lnSpc>
                <a:spcPct val="132000"/>
              </a:lnSpc>
            </a:pPr>
            <a:r>
              <a:rPr sz="1700" b="0" i="0">
                <a:solidFill>
                  <a:srgbClr val="3A3D40"/>
                </a:solidFill>
                <a:latin typeface="Verdana"/>
              </a:rPr>
              <a:t>D2</a:t>
            </a:r>
          </a:p>
        </p:txBody>
      </p:sp>
      <p:sp>
        <p:nvSpPr>
          <p:cNvPr id="30" name="Rounded Rectangle 29"/>
          <p:cNvSpPr/>
          <p:nvPr/>
        </p:nvSpPr>
        <p:spPr>
          <a:xfrm>
            <a:off x="566928" y="5301996"/>
            <a:ext cx="11057839" cy="769874"/>
          </a:xfrm>
          <a:prstGeom prst="roundRect">
            <a:avLst>
              <a:gd name="adj" fmla="val 19003"/>
            </a:avLst>
          </a:prstGeom>
          <a:solidFill>
            <a:srgbClr val="FBFBFA"/>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TextBox 30"/>
          <p:cNvSpPr txBox="1"/>
          <p:nvPr/>
        </p:nvSpPr>
        <p:spPr>
          <a:xfrm>
            <a:off x="969264" y="5558028"/>
            <a:ext cx="10234879" cy="312674"/>
          </a:xfrm>
          <a:prstGeom prst="rect">
            <a:avLst/>
          </a:prstGeom>
          <a:noFill/>
        </p:spPr>
        <p:txBody>
          <a:bodyPr wrap="square" lIns="0" rIns="0" tIns="0" bIns="0" anchor="t">
            <a:spAutoFit/>
          </a:bodyPr>
          <a:lstStyle/>
          <a:p>
            <a:pPr algn="l">
              <a:lnSpc>
                <a:spcPct val="145000"/>
              </a:lnSpc>
            </a:pPr>
            <a:r>
              <a:rPr sz="1400" b="0" i="0">
                <a:solidFill>
                  <a:srgbClr val="4B4F52"/>
                </a:solidFill>
                <a:latin typeface="Verdana"/>
              </a:rPr>
              <a:t>Neuf savoirs en tout. Le dernier sert le plus souvent.</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E2 · Pouvez-vous régler le problème ?</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8</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166534"/>
                </a:solidFill>
                <a:latin typeface="Verdana"/>
              </a:rPr>
              <a:t>BILAN</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Je suis maintenant capable de…</a:t>
            </a:r>
          </a:p>
        </p:txBody>
      </p:sp>
      <p:sp>
        <p:nvSpPr>
          <p:cNvPr id="7" name="Rounded Rectangle 6"/>
          <p:cNvSpPr/>
          <p:nvPr/>
        </p:nvSpPr>
        <p:spPr>
          <a:xfrm>
            <a:off x="566928" y="1810512"/>
            <a:ext cx="5446623" cy="2052828"/>
          </a:xfrm>
          <a:prstGeom prst="roundRect">
            <a:avLst>
              <a:gd name="adj" fmla="val 7126"/>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886968" y="2084831"/>
            <a:ext cx="4806543" cy="656843"/>
          </a:xfrm>
          <a:prstGeom prst="rect">
            <a:avLst/>
          </a:prstGeom>
          <a:noFill/>
        </p:spPr>
        <p:txBody>
          <a:bodyPr wrap="square" lIns="0" rIns="0" tIns="0" bIns="0" anchor="t">
            <a:spAutoFit/>
          </a:bodyPr>
          <a:lstStyle/>
          <a:p>
            <a:pPr algn="l">
              <a:lnSpc>
                <a:spcPct val="118000"/>
              </a:lnSpc>
            </a:pPr>
            <a:r>
              <a:rPr sz="2100" b="1" i="0">
                <a:solidFill>
                  <a:srgbClr val="166534"/>
                </a:solidFill>
                <a:latin typeface="Verdana"/>
              </a:rPr>
              <a:t>Nommer un problème précisément</a:t>
            </a:r>
          </a:p>
        </p:txBody>
      </p:sp>
      <p:sp>
        <p:nvSpPr>
          <p:cNvPr id="9" name="TextBox 8"/>
          <p:cNvSpPr txBox="1"/>
          <p:nvPr/>
        </p:nvSpPr>
        <p:spPr>
          <a:xfrm>
            <a:off x="886968" y="2769108"/>
            <a:ext cx="4806543" cy="819912"/>
          </a:xfrm>
          <a:prstGeom prst="rect">
            <a:avLst/>
          </a:prstGeom>
          <a:noFill/>
        </p:spPr>
        <p:txBody>
          <a:bodyPr wrap="square" lIns="0" rIns="0" tIns="0" bIns="0" anchor="t">
            <a:spAutoFit/>
          </a:bodyPr>
          <a:lstStyle/>
          <a:p>
            <a:pPr algn="l">
              <a:lnSpc>
                <a:spcPct val="142000"/>
              </a:lnSpc>
            </a:pPr>
            <a:r>
              <a:rPr sz="1500" b="0" i="0">
                <a:solidFill>
                  <a:srgbClr val="3A3D40"/>
                </a:solidFill>
                <a:latin typeface="Verdana"/>
              </a:rPr>
              <a:t>Avec l'appareil, la pièce, la durée et un chiffre — pas avec « il y a un problème ». Séances A1 et A4.</a:t>
            </a:r>
          </a:p>
        </p:txBody>
      </p:sp>
      <p:sp>
        <p:nvSpPr>
          <p:cNvPr id="10" name="Rounded Rectangle 9"/>
          <p:cNvSpPr/>
          <p:nvPr/>
        </p:nvSpPr>
        <p:spPr>
          <a:xfrm>
            <a:off x="6178143" y="1810512"/>
            <a:ext cx="5446623" cy="2052828"/>
          </a:xfrm>
          <a:prstGeom prst="roundRect">
            <a:avLst>
              <a:gd name="adj" fmla="val 7126"/>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6498183" y="2084831"/>
            <a:ext cx="4806543" cy="656843"/>
          </a:xfrm>
          <a:prstGeom prst="rect">
            <a:avLst/>
          </a:prstGeom>
          <a:noFill/>
        </p:spPr>
        <p:txBody>
          <a:bodyPr wrap="square" lIns="0" rIns="0" tIns="0" bIns="0" anchor="t">
            <a:spAutoFit/>
          </a:bodyPr>
          <a:lstStyle/>
          <a:p>
            <a:pPr algn="l">
              <a:lnSpc>
                <a:spcPct val="118000"/>
              </a:lnSpc>
            </a:pPr>
            <a:r>
              <a:rPr sz="2100" b="1" i="0">
                <a:solidFill>
                  <a:srgbClr val="166534"/>
                </a:solidFill>
                <a:latin typeface="Verdana"/>
              </a:rPr>
              <a:t>Savoir qui appeler, et dans quel ordre</a:t>
            </a:r>
          </a:p>
        </p:txBody>
      </p:sp>
      <p:sp>
        <p:nvSpPr>
          <p:cNvPr id="12" name="TextBox 11"/>
          <p:cNvSpPr txBox="1"/>
          <p:nvPr/>
        </p:nvSpPr>
        <p:spPr>
          <a:xfrm>
            <a:off x="6498183" y="2769108"/>
            <a:ext cx="4806543" cy="819912"/>
          </a:xfrm>
          <a:prstGeom prst="rect">
            <a:avLst/>
          </a:prstGeom>
          <a:noFill/>
        </p:spPr>
        <p:txBody>
          <a:bodyPr wrap="square" lIns="0" rIns="0" tIns="0" bIns="0" anchor="t">
            <a:spAutoFit/>
          </a:bodyPr>
          <a:lstStyle/>
          <a:p>
            <a:pPr algn="l">
              <a:lnSpc>
                <a:spcPct val="142000"/>
              </a:lnSpc>
            </a:pPr>
            <a:r>
              <a:rPr sz="1500" b="0" i="0">
                <a:solidFill>
                  <a:srgbClr val="3A3D40"/>
                </a:solidFill>
                <a:latin typeface="Verdana"/>
              </a:rPr>
              <a:t>Le bon métier pour le bon problème, mais surtout : prévenir la propriétaire avant tout. Séances A3 et B4.</a:t>
            </a:r>
          </a:p>
        </p:txBody>
      </p:sp>
      <p:sp>
        <p:nvSpPr>
          <p:cNvPr id="13" name="Rounded Rectangle 12"/>
          <p:cNvSpPr/>
          <p:nvPr/>
        </p:nvSpPr>
        <p:spPr>
          <a:xfrm>
            <a:off x="566928" y="4027932"/>
            <a:ext cx="5446623" cy="2052828"/>
          </a:xfrm>
          <a:prstGeom prst="roundRect">
            <a:avLst>
              <a:gd name="adj" fmla="val 7126"/>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86968" y="4302252"/>
            <a:ext cx="4806543" cy="656843"/>
          </a:xfrm>
          <a:prstGeom prst="rect">
            <a:avLst/>
          </a:prstGeom>
          <a:noFill/>
        </p:spPr>
        <p:txBody>
          <a:bodyPr wrap="square" lIns="0" rIns="0" tIns="0" bIns="0" anchor="t">
            <a:spAutoFit/>
          </a:bodyPr>
          <a:lstStyle/>
          <a:p>
            <a:pPr algn="l">
              <a:lnSpc>
                <a:spcPct val="118000"/>
              </a:lnSpc>
            </a:pPr>
            <a:r>
              <a:rPr sz="2100" b="1" i="0">
                <a:solidFill>
                  <a:srgbClr val="166534"/>
                </a:solidFill>
                <a:latin typeface="Verdana"/>
              </a:rPr>
              <a:t>Mener l'appel jusqu'au bout</a:t>
            </a:r>
          </a:p>
        </p:txBody>
      </p:sp>
      <p:sp>
        <p:nvSpPr>
          <p:cNvPr id="15" name="TextBox 14"/>
          <p:cNvSpPr txBox="1"/>
          <p:nvPr/>
        </p:nvSpPr>
        <p:spPr>
          <a:xfrm>
            <a:off x="886968" y="4986528"/>
            <a:ext cx="4806543" cy="819912"/>
          </a:xfrm>
          <a:prstGeom prst="rect">
            <a:avLst/>
          </a:prstGeom>
          <a:noFill/>
        </p:spPr>
        <p:txBody>
          <a:bodyPr wrap="square" lIns="0" rIns="0" tIns="0" bIns="0" anchor="t">
            <a:spAutoFit/>
          </a:bodyPr>
          <a:lstStyle/>
          <a:p>
            <a:pPr algn="l">
              <a:lnSpc>
                <a:spcPct val="142000"/>
              </a:lnSpc>
            </a:pPr>
            <a:r>
              <a:rPr sz="1500" b="0" i="0">
                <a:solidFill>
                  <a:srgbClr val="3A3D40"/>
                </a:solidFill>
                <a:latin typeface="Verdana"/>
              </a:rPr>
              <a:t>Me présenter, décrire, donner un chiffre, dire ce que j'ai vérifié, demander une solution temporaire. Séances B1 et E1.</a:t>
            </a:r>
          </a:p>
        </p:txBody>
      </p:sp>
      <p:sp>
        <p:nvSpPr>
          <p:cNvPr id="16" name="Rounded Rectangle 15"/>
          <p:cNvSpPr/>
          <p:nvPr/>
        </p:nvSpPr>
        <p:spPr>
          <a:xfrm>
            <a:off x="6178143" y="4027932"/>
            <a:ext cx="5446623" cy="2052828"/>
          </a:xfrm>
          <a:prstGeom prst="roundRect">
            <a:avLst>
              <a:gd name="adj" fmla="val 7126"/>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6498183" y="4302252"/>
            <a:ext cx="4806543" cy="656843"/>
          </a:xfrm>
          <a:prstGeom prst="rect">
            <a:avLst/>
          </a:prstGeom>
          <a:noFill/>
        </p:spPr>
        <p:txBody>
          <a:bodyPr wrap="square" lIns="0" rIns="0" tIns="0" bIns="0" anchor="t">
            <a:spAutoFit/>
          </a:bodyPr>
          <a:lstStyle/>
          <a:p>
            <a:pPr algn="l">
              <a:lnSpc>
                <a:spcPct val="118000"/>
              </a:lnSpc>
            </a:pPr>
            <a:r>
              <a:rPr sz="2100" b="1" i="0">
                <a:solidFill>
                  <a:srgbClr val="166534"/>
                </a:solidFill>
                <a:latin typeface="Verdana"/>
              </a:rPr>
              <a:t>Laisser une trace écrite</a:t>
            </a:r>
          </a:p>
        </p:txBody>
      </p:sp>
      <p:sp>
        <p:nvSpPr>
          <p:cNvPr id="18" name="TextBox 17"/>
          <p:cNvSpPr txBox="1"/>
          <p:nvPr/>
        </p:nvSpPr>
        <p:spPr>
          <a:xfrm>
            <a:off x="6498183" y="4986528"/>
            <a:ext cx="4806543" cy="819912"/>
          </a:xfrm>
          <a:prstGeom prst="rect">
            <a:avLst/>
          </a:prstGeom>
          <a:noFill/>
        </p:spPr>
        <p:txBody>
          <a:bodyPr wrap="square" lIns="0" rIns="0" tIns="0" bIns="0" anchor="t">
            <a:spAutoFit/>
          </a:bodyPr>
          <a:lstStyle/>
          <a:p>
            <a:pPr algn="l">
              <a:lnSpc>
                <a:spcPct val="142000"/>
              </a:lnSpc>
            </a:pPr>
            <a:r>
              <a:rPr sz="1500" b="0" i="0">
                <a:solidFill>
                  <a:srgbClr val="3A3D40"/>
                </a:solidFill>
                <a:latin typeface="Verdana"/>
              </a:rPr>
              <a:t>Un courriel de trois lignes, daté, avec une demande claire. C'est ce qui protège quand ça traîne. Séances B4 et E1.</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E2 · Pouvez-vous régler le problème ?</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9</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166534"/>
                </a:solidFill>
                <a:latin typeface="Verdana"/>
              </a:rPr>
              <a:t>BILAN</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Et aussi…</a:t>
            </a:r>
          </a:p>
        </p:txBody>
      </p:sp>
      <p:sp>
        <p:nvSpPr>
          <p:cNvPr id="7" name="Rounded Rectangle 6"/>
          <p:cNvSpPr/>
          <p:nvPr/>
        </p:nvSpPr>
        <p:spPr>
          <a:xfrm>
            <a:off x="566928" y="1810512"/>
            <a:ext cx="5446623" cy="2052828"/>
          </a:xfrm>
          <a:prstGeom prst="roundRect">
            <a:avLst>
              <a:gd name="adj" fmla="val 7126"/>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886968" y="2084831"/>
            <a:ext cx="4806543" cy="656843"/>
          </a:xfrm>
          <a:prstGeom prst="rect">
            <a:avLst/>
          </a:prstGeom>
          <a:noFill/>
        </p:spPr>
        <p:txBody>
          <a:bodyPr wrap="square" lIns="0" rIns="0" tIns="0" bIns="0" anchor="t">
            <a:spAutoFit/>
          </a:bodyPr>
          <a:lstStyle/>
          <a:p>
            <a:pPr algn="l">
              <a:lnSpc>
                <a:spcPct val="118000"/>
              </a:lnSpc>
            </a:pPr>
            <a:r>
              <a:rPr sz="2100" b="1" i="0">
                <a:solidFill>
                  <a:srgbClr val="166534"/>
                </a:solidFill>
                <a:latin typeface="Verdana"/>
              </a:rPr>
              <a:t>Me plaindre sans me fâcher</a:t>
            </a:r>
          </a:p>
        </p:txBody>
      </p:sp>
      <p:sp>
        <p:nvSpPr>
          <p:cNvPr id="9" name="TextBox 8"/>
          <p:cNvSpPr txBox="1"/>
          <p:nvPr/>
        </p:nvSpPr>
        <p:spPr>
          <a:xfrm>
            <a:off x="886968" y="2769108"/>
            <a:ext cx="4806543" cy="819912"/>
          </a:xfrm>
          <a:prstGeom prst="rect">
            <a:avLst/>
          </a:prstGeom>
          <a:noFill/>
        </p:spPr>
        <p:txBody>
          <a:bodyPr wrap="square" lIns="0" rIns="0" tIns="0" bIns="0" anchor="t">
            <a:spAutoFit/>
          </a:bodyPr>
          <a:lstStyle/>
          <a:p>
            <a:pPr algn="l">
              <a:lnSpc>
                <a:spcPct val="142000"/>
              </a:lnSpc>
            </a:pPr>
            <a:r>
              <a:rPr sz="1500" b="0" i="0">
                <a:solidFill>
                  <a:srgbClr val="3A3D40"/>
                </a:solidFill>
                <a:latin typeface="Verdana"/>
              </a:rPr>
              <a:t>Le fait, l'effet sur moi, la demande — et une échelle d'intensité que je monte seulement si rien ne bouge. Séance D2.</a:t>
            </a:r>
          </a:p>
        </p:txBody>
      </p:sp>
      <p:sp>
        <p:nvSpPr>
          <p:cNvPr id="10" name="Rounded Rectangle 9"/>
          <p:cNvSpPr/>
          <p:nvPr/>
        </p:nvSpPr>
        <p:spPr>
          <a:xfrm>
            <a:off x="6178143" y="1810512"/>
            <a:ext cx="5446623" cy="2052828"/>
          </a:xfrm>
          <a:prstGeom prst="roundRect">
            <a:avLst>
              <a:gd name="adj" fmla="val 7126"/>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6498183" y="2084831"/>
            <a:ext cx="4806543" cy="656843"/>
          </a:xfrm>
          <a:prstGeom prst="rect">
            <a:avLst/>
          </a:prstGeom>
          <a:noFill/>
        </p:spPr>
        <p:txBody>
          <a:bodyPr wrap="square" lIns="0" rIns="0" tIns="0" bIns="0" anchor="t">
            <a:spAutoFit/>
          </a:bodyPr>
          <a:lstStyle/>
          <a:p>
            <a:pPr algn="l">
              <a:lnSpc>
                <a:spcPct val="118000"/>
              </a:lnSpc>
            </a:pPr>
            <a:r>
              <a:rPr sz="2100" b="1" i="0">
                <a:solidFill>
                  <a:srgbClr val="166534"/>
                </a:solidFill>
                <a:latin typeface="Verdana"/>
              </a:rPr>
              <a:t>Comprendre où j'habite</a:t>
            </a:r>
          </a:p>
        </p:txBody>
      </p:sp>
      <p:sp>
        <p:nvSpPr>
          <p:cNvPr id="12" name="TextBox 11"/>
          <p:cNvSpPr txBox="1"/>
          <p:nvPr/>
        </p:nvSpPr>
        <p:spPr>
          <a:xfrm>
            <a:off x="6498183" y="2769108"/>
            <a:ext cx="4806543" cy="819912"/>
          </a:xfrm>
          <a:prstGeom prst="rect">
            <a:avLst/>
          </a:prstGeom>
          <a:noFill/>
        </p:spPr>
        <p:txBody>
          <a:bodyPr wrap="square" lIns="0" rIns="0" tIns="0" bIns="0" anchor="t">
            <a:spAutoFit/>
          </a:bodyPr>
          <a:lstStyle/>
          <a:p>
            <a:pPr algn="l">
              <a:lnSpc>
                <a:spcPct val="142000"/>
              </a:lnSpc>
            </a:pPr>
            <a:r>
              <a:rPr sz="1500" b="0" i="0">
                <a:solidFill>
                  <a:srgbClr val="3A3D40"/>
                </a:solidFill>
                <a:latin typeface="Verdana"/>
              </a:rPr>
              <a:t>Privé, coopérative ou HLM : qui décide, qui paie, à qui je m'adresse. Séance C4.</a:t>
            </a:r>
          </a:p>
        </p:txBody>
      </p:sp>
      <p:sp>
        <p:nvSpPr>
          <p:cNvPr id="13" name="Rounded Rectangle 12"/>
          <p:cNvSpPr/>
          <p:nvPr/>
        </p:nvSpPr>
        <p:spPr>
          <a:xfrm>
            <a:off x="566928" y="4027932"/>
            <a:ext cx="5446623" cy="2052828"/>
          </a:xfrm>
          <a:prstGeom prst="roundRect">
            <a:avLst>
              <a:gd name="adj" fmla="val 7126"/>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86968" y="4302252"/>
            <a:ext cx="4806543" cy="656843"/>
          </a:xfrm>
          <a:prstGeom prst="rect">
            <a:avLst/>
          </a:prstGeom>
          <a:noFill/>
        </p:spPr>
        <p:txBody>
          <a:bodyPr wrap="square" lIns="0" rIns="0" tIns="0" bIns="0" anchor="t">
            <a:spAutoFit/>
          </a:bodyPr>
          <a:lstStyle/>
          <a:p>
            <a:pPr algn="l">
              <a:lnSpc>
                <a:spcPct val="118000"/>
              </a:lnSpc>
            </a:pPr>
            <a:r>
              <a:rPr sz="2100" b="1" i="0">
                <a:solidFill>
                  <a:srgbClr val="166534"/>
                </a:solidFill>
                <a:latin typeface="Verdana"/>
              </a:rPr>
              <a:t>Dire depuis quand</a:t>
            </a:r>
          </a:p>
        </p:txBody>
      </p:sp>
      <p:sp>
        <p:nvSpPr>
          <p:cNvPr id="15" name="TextBox 14"/>
          <p:cNvSpPr txBox="1"/>
          <p:nvPr/>
        </p:nvSpPr>
        <p:spPr>
          <a:xfrm>
            <a:off x="886968" y="4986528"/>
            <a:ext cx="4806543" cy="819912"/>
          </a:xfrm>
          <a:prstGeom prst="rect">
            <a:avLst/>
          </a:prstGeom>
          <a:noFill/>
        </p:spPr>
        <p:txBody>
          <a:bodyPr wrap="square" lIns="0" rIns="0" tIns="0" bIns="0" anchor="t">
            <a:spAutoFit/>
          </a:bodyPr>
          <a:lstStyle/>
          <a:p>
            <a:pPr algn="l">
              <a:lnSpc>
                <a:spcPct val="142000"/>
              </a:lnSpc>
            </a:pPr>
            <a:r>
              <a:rPr sz="1500" b="0" i="0">
                <a:solidFill>
                  <a:srgbClr val="3A3D40"/>
                </a:solidFill>
                <a:latin typeface="Verdana"/>
              </a:rPr>
              <a:t>Trois façons de répondre à la question la plus posée au téléphone, avec le verbe au présent. Séance B3.</a:t>
            </a:r>
          </a:p>
        </p:txBody>
      </p:sp>
      <p:sp>
        <p:nvSpPr>
          <p:cNvPr id="16" name="Rounded Rectangle 15"/>
          <p:cNvSpPr/>
          <p:nvPr/>
        </p:nvSpPr>
        <p:spPr>
          <a:xfrm>
            <a:off x="6178143" y="4027932"/>
            <a:ext cx="5446623" cy="2052828"/>
          </a:xfrm>
          <a:prstGeom prst="roundRect">
            <a:avLst>
              <a:gd name="adj" fmla="val 7126"/>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6498183" y="4302252"/>
            <a:ext cx="4806543" cy="656843"/>
          </a:xfrm>
          <a:prstGeom prst="rect">
            <a:avLst/>
          </a:prstGeom>
          <a:noFill/>
        </p:spPr>
        <p:txBody>
          <a:bodyPr wrap="square" lIns="0" rIns="0" tIns="0" bIns="0" anchor="t">
            <a:spAutoFit/>
          </a:bodyPr>
          <a:lstStyle/>
          <a:p>
            <a:pPr algn="l">
              <a:lnSpc>
                <a:spcPct val="118000"/>
              </a:lnSpc>
            </a:pPr>
            <a:r>
              <a:rPr sz="2100" b="1" i="0">
                <a:solidFill>
                  <a:srgbClr val="166534"/>
                </a:solidFill>
                <a:latin typeface="Verdana"/>
              </a:rPr>
              <a:t>Prononcer le vocabulaire du logement</a:t>
            </a:r>
          </a:p>
        </p:txBody>
      </p:sp>
      <p:sp>
        <p:nvSpPr>
          <p:cNvPr id="18" name="TextBox 17"/>
          <p:cNvSpPr txBox="1"/>
          <p:nvPr/>
        </p:nvSpPr>
        <p:spPr>
          <a:xfrm>
            <a:off x="6498183" y="4986528"/>
            <a:ext cx="4806543" cy="819912"/>
          </a:xfrm>
          <a:prstGeom prst="rect">
            <a:avLst/>
          </a:prstGeom>
          <a:noFill/>
        </p:spPr>
        <p:txBody>
          <a:bodyPr wrap="square" lIns="0" rIns="0" tIns="0" bIns="0" anchor="t">
            <a:spAutoFit/>
          </a:bodyPr>
          <a:lstStyle/>
          <a:p>
            <a:pPr algn="l">
              <a:lnSpc>
                <a:spcPct val="142000"/>
              </a:lnSpc>
            </a:pPr>
            <a:r>
              <a:rPr sz="1500" b="0" i="0">
                <a:solidFill>
                  <a:srgbClr val="3A3D40"/>
                </a:solidFill>
                <a:latin typeface="Verdana"/>
              </a:rPr>
              <a:t>Les mots en -eur et en -eux, qui sont partout dans ce champ lexical. Séance A2.</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E2 · Pouvez-vous régler le problème ?</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10</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166534"/>
                </a:solidFill>
                <a:latin typeface="Verdana"/>
              </a:rPr>
              <a:t>LA PHRASE À EMPORTER</a:t>
            </a:r>
          </a:p>
        </p:txBody>
      </p:sp>
      <p:sp>
        <p:nvSpPr>
          <p:cNvPr id="6" name="Rounded Rectangle 5"/>
          <p:cNvSpPr/>
          <p:nvPr/>
        </p:nvSpPr>
        <p:spPr>
          <a:xfrm>
            <a:off x="566928" y="1225296"/>
            <a:ext cx="11057839" cy="1967991"/>
          </a:xfrm>
          <a:prstGeom prst="roundRect">
            <a:avLst>
              <a:gd name="adj" fmla="val 7434"/>
            </a:avLst>
          </a:prstGeom>
          <a:solidFill>
            <a:srgbClr val="E3F1E7"/>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298448" y="1682496"/>
            <a:ext cx="9594799" cy="1145032"/>
          </a:xfrm>
          <a:prstGeom prst="rect">
            <a:avLst/>
          </a:prstGeom>
          <a:noFill/>
        </p:spPr>
        <p:txBody>
          <a:bodyPr wrap="square" lIns="0" rIns="0" tIns="0" bIns="0" anchor="t">
            <a:spAutoFit/>
          </a:bodyPr>
          <a:lstStyle/>
          <a:p>
            <a:pPr algn="l">
              <a:lnSpc>
                <a:spcPct val="122000"/>
              </a:lnSpc>
            </a:pPr>
            <a:r>
              <a:rPr sz="3400" b="1" i="0">
                <a:solidFill>
                  <a:srgbClr val="17181A"/>
                </a:solidFill>
                <a:latin typeface="Verdana"/>
              </a:rPr>
              <a:t>Signaler tôt, nommer précisément, garder une trace.</a:t>
            </a:r>
          </a:p>
        </p:txBody>
      </p:sp>
      <p:sp>
        <p:nvSpPr>
          <p:cNvPr id="8" name="Rounded Rectangle 7"/>
          <p:cNvSpPr/>
          <p:nvPr/>
        </p:nvSpPr>
        <p:spPr>
          <a:xfrm>
            <a:off x="566928" y="3467607"/>
            <a:ext cx="11057839" cy="1671827"/>
          </a:xfrm>
          <a:prstGeom prst="roundRect">
            <a:avLst>
              <a:gd name="adj" fmla="val 8751"/>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969264" y="3741927"/>
            <a:ext cx="10234879" cy="1214627"/>
          </a:xfrm>
          <a:prstGeom prst="rect">
            <a:avLst/>
          </a:prstGeom>
          <a:noFill/>
        </p:spPr>
        <p:txBody>
          <a:bodyPr wrap="square" lIns="0" rIns="0" tIns="0" bIns="0" anchor="t">
            <a:spAutoFit/>
          </a:bodyPr>
          <a:lstStyle/>
          <a:p>
            <a:pPr algn="l">
              <a:lnSpc>
                <a:spcPct val="145000"/>
              </a:lnSpc>
            </a:pPr>
            <a:r>
              <a:rPr sz="2000" b="0" i="0">
                <a:solidFill>
                  <a:srgbClr val="4B4F52"/>
                </a:solidFill>
                <a:latin typeface="Verdana"/>
              </a:rPr>
              <a:t>Trois gestes, dans cet ordre, quel que soit le problème et quel que soit le type de logement. Tout le reste du module n'est que la manière de les faire en français.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E2 · Pouvez-vous régler le problème ?</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11</a:t>
            </a:r>
          </a:p>
        </p:txBody>
      </p:sp>
      <p:sp>
        <p:nvSpPr>
          <p:cNvPr id="5" name="Rectangle 4"/>
          <p:cNvSpPr/>
          <p:nvPr/>
        </p:nvSpPr>
        <p:spPr>
          <a:xfrm>
            <a:off x="0" y="0"/>
            <a:ext cx="12191695" cy="6858000"/>
          </a:xfrm>
          <a:prstGeom prst="rect">
            <a:avLst/>
          </a:prstGeom>
          <a:solidFill>
            <a:srgbClr val="1718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566928" y="1051560"/>
            <a:ext cx="11057839" cy="274320"/>
          </a:xfrm>
          <a:prstGeom prst="rect">
            <a:avLst/>
          </a:prstGeom>
          <a:noFill/>
        </p:spPr>
        <p:txBody>
          <a:bodyPr wrap="square" lIns="0" rIns="0" tIns="0" bIns="0" anchor="t">
            <a:spAutoFit/>
          </a:bodyPr>
          <a:lstStyle/>
          <a:p>
            <a:pPr algn="l">
              <a:lnSpc>
                <a:spcPct val="135000"/>
              </a:lnSpc>
            </a:pPr>
            <a:r>
              <a:rPr sz="1300" b="1" i="0" spc="156">
                <a:solidFill>
                  <a:srgbClr val="FFFFFF"/>
                </a:solidFill>
                <a:latin typeface="Verdana"/>
              </a:rPr>
              <a:t>BILLET DE SORTIE</a:t>
            </a:r>
          </a:p>
        </p:txBody>
      </p:sp>
      <p:sp>
        <p:nvSpPr>
          <p:cNvPr id="7" name="TextBox 6"/>
          <p:cNvSpPr txBox="1"/>
          <p:nvPr/>
        </p:nvSpPr>
        <p:spPr>
          <a:xfrm>
            <a:off x="566928" y="1572768"/>
            <a:ext cx="9777679" cy="2103120"/>
          </a:xfrm>
          <a:prstGeom prst="rect">
            <a:avLst/>
          </a:prstGeom>
          <a:noFill/>
        </p:spPr>
        <p:txBody>
          <a:bodyPr wrap="square" lIns="0" rIns="0" tIns="0" bIns="0" anchor="t">
            <a:spAutoFit/>
          </a:bodyPr>
          <a:lstStyle/>
          <a:p>
            <a:pPr algn="l">
              <a:lnSpc>
                <a:spcPct val="125000"/>
              </a:lnSpc>
            </a:pPr>
            <a:r>
              <a:rPr sz="3400" b="1" i="0">
                <a:solidFill>
                  <a:srgbClr val="FFFFFF"/>
                </a:solidFill>
                <a:latin typeface="Verdana"/>
              </a:rPr>
              <a:t>Qu'est-ce que vous ferez différemment la prochaine fois qu'un problème surviendra chez vous ?</a:t>
            </a:r>
          </a:p>
        </p:txBody>
      </p:sp>
      <p:sp>
        <p:nvSpPr>
          <p:cNvPr id="8" name="Rounded Rectangle 7"/>
          <p:cNvSpPr/>
          <p:nvPr/>
        </p:nvSpPr>
        <p:spPr>
          <a:xfrm>
            <a:off x="566928" y="3931920"/>
            <a:ext cx="11057839" cy="666496"/>
          </a:xfrm>
          <a:prstGeom prst="roundRect">
            <a:avLst>
              <a:gd name="adj" fmla="val 13719"/>
            </a:avLst>
          </a:prstGeom>
          <a:solidFill>
            <a:srgbClr val="2A2C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932688" y="4087368"/>
            <a:ext cx="10051999" cy="392176"/>
          </a:xfrm>
          <a:prstGeom prst="rect">
            <a:avLst/>
          </a:prstGeom>
          <a:noFill/>
        </p:spPr>
        <p:txBody>
          <a:bodyPr wrap="square" lIns="0" rIns="0" tIns="0" bIns="0" anchor="t">
            <a:spAutoFit/>
          </a:bodyPr>
          <a:lstStyle/>
          <a:p>
            <a:pPr algn="l">
              <a:lnSpc>
                <a:spcPct val="140000"/>
              </a:lnSpc>
            </a:pPr>
            <a:r>
              <a:rPr sz="2000" b="0" i="0">
                <a:solidFill>
                  <a:srgbClr val="FFFFFF"/>
                </a:solidFill>
                <a:latin typeface="Verdana"/>
              </a:rPr>
              <a:t>Une phrase, concrète. Pas une intention générale.</a:t>
            </a:r>
          </a:p>
        </p:txBody>
      </p:sp>
      <p:sp>
        <p:nvSpPr>
          <p:cNvPr id="10" name="Rounded Rectangle 9"/>
          <p:cNvSpPr/>
          <p:nvPr/>
        </p:nvSpPr>
        <p:spPr>
          <a:xfrm>
            <a:off x="566928" y="4680712"/>
            <a:ext cx="11057839" cy="666496"/>
          </a:xfrm>
          <a:prstGeom prst="roundRect">
            <a:avLst>
              <a:gd name="adj" fmla="val 13719"/>
            </a:avLst>
          </a:prstGeom>
          <a:solidFill>
            <a:srgbClr val="2A2C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932688" y="4836160"/>
            <a:ext cx="10051999" cy="392176"/>
          </a:xfrm>
          <a:prstGeom prst="rect">
            <a:avLst/>
          </a:prstGeom>
          <a:noFill/>
        </p:spPr>
        <p:txBody>
          <a:bodyPr wrap="square" lIns="0" rIns="0" tIns="0" bIns="0" anchor="t">
            <a:spAutoFit/>
          </a:bodyPr>
          <a:lstStyle/>
          <a:p>
            <a:pPr algn="l">
              <a:lnSpc>
                <a:spcPct val="140000"/>
              </a:lnSpc>
            </a:pPr>
            <a:r>
              <a:rPr sz="2000" b="0" i="0">
                <a:solidFill>
                  <a:srgbClr val="FFFFFF"/>
                </a:solidFill>
                <a:latin typeface="Verdana"/>
              </a:rPr>
              <a:t>Exemple : « Je vais prendre une photo avec la date avant d'appeler. »</a:t>
            </a:r>
          </a:p>
        </p:txBody>
      </p:sp>
      <p:sp>
        <p:nvSpPr>
          <p:cNvPr id="12" name="TextBox 11"/>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E2 · Pouvez-vous régler le problème ?</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