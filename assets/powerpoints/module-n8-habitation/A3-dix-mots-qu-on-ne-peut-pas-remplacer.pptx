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vocabulaire. Prévenir le groupe : dans ce module, employer le mot exact n'est pas une élégance, c'est ce qui décide si l'on vous répond. Le module entier repose sur deux mots qu'on confond — plancher et fondation.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le pivot du module : toute la contestation de Teodora tient à cette différence-là.</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observer avant de nommer. Le cerne brunâtre autour de l'ouverture est ce que l'expert appellera « un dépôt » : c'est le seul constat visuel de tout son rapport.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avec l'article. « Contre-expertise » est le mot que personne ne connaît et qui change tout : on peut payer son propre expert, et beaucoup de gens l'ignorent toute leur vie.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Acquittée » mérite un arrêt : une facture n'est pas une preuve de paiement. Beaucoup d'élèves envoient la facture et pas le reçu, et le dossier reste incomplet sans que personne le leur dise.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et la plus importante de la séance. Faire dessiner les deux au tableau, en coupe. Trente secondes de craie valent un paragraphe.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à faire à l'oral d'abord, sans écrire. Les articles comptent : refuser « avenant » sans « un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décrire chaque photo à voix haute avant de l'associer. La sixième anticipe le bloc B : c'est la caméra de la contre-expertise, et l'assureur ne l'a jamais passée.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Ouvrir le module. Faire travailler à deux : celui qui glisse doit dire pourquoi avant de lâcher la photo.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liste sert de repère personnel pour tout le module. Ceux qui en trouvent moins de cinq peuvent écrire ceux dont ils ne sont pas sûrs.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A3  ·  MODULE 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Dix mots qu'on ne peut pas remplacer</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dossier d'assurance a son vocabulaire, et il n'a pas de synonyme. Employer « le tuyau » à la place de « le drain de fondation » suffit à rendre une contestation illisible.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Faire renverser une décision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dix mots restants du dossier avec leur article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le drain de plancher du drain de fondation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associer un mot à la scène qu'il désigne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mots qui ne se laissent pas remplacer par un synonyme.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000" b="1" i="0">
                <a:solidFill>
                  <a:srgbClr val="17181A"/>
                </a:solidFill>
                <a:latin typeface="Verdana"/>
              </a:rPr>
              <a:t>Où est le drain, sur cette photo, et à quoi sert-il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drain-de-plancher.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se trouve ce drain : dedans ou dehors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a été soulevé, et pourquoi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voit-on autour de l'ouverture ?</a:t>
            </a:r>
          </a:p>
        </p:txBody>
      </p:sp>
      <p:sp>
        <p:nvSpPr>
          <p:cNvPr id="18" name="Rounded Rectangle 17"/>
          <p:cNvSpPr/>
          <p:nvPr/>
        </p:nvSpPr>
        <p:spPr>
          <a:xfrm>
            <a:off x="566928" y="421386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Y a-t-il un drain comme celui-là chez vous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sinistre et l'installation</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116580"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clapet antiretour</a:t>
            </a:r>
          </a:p>
        </p:txBody>
      </p:sp>
      <p:sp>
        <p:nvSpPr>
          <p:cNvPr id="9" name="TextBox 8"/>
          <p:cNvSpPr txBox="1"/>
          <p:nvPr/>
        </p:nvSpPr>
        <p:spPr>
          <a:xfrm>
            <a:off x="4323588" y="2121408"/>
            <a:ext cx="6935419"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Un petit dispositif installé sur un drain, qui laisse l'eau sortir mais l'empêche de revenir.</a:t>
            </a:r>
          </a:p>
        </p:txBody>
      </p:sp>
      <p:sp>
        <p:nvSpPr>
          <p:cNvPr id="10" name="Rectangle 9"/>
          <p:cNvSpPr/>
          <p:nvPr/>
        </p:nvSpPr>
        <p:spPr>
          <a:xfrm>
            <a:off x="932688" y="27633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09620"/>
            <a:ext cx="3116580"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drain de fondation</a:t>
            </a:r>
          </a:p>
        </p:txBody>
      </p:sp>
      <p:sp>
        <p:nvSpPr>
          <p:cNvPr id="12" name="TextBox 11"/>
          <p:cNvSpPr txBox="1"/>
          <p:nvPr/>
        </p:nvSpPr>
        <p:spPr>
          <a:xfrm>
            <a:off x="4323588" y="2909620"/>
            <a:ext cx="6935419"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Le tuyau perforé posé au pied des murs d'un bâtiment pour évacuer l'eau du sol.</a:t>
            </a:r>
          </a:p>
        </p:txBody>
      </p:sp>
      <p:sp>
        <p:nvSpPr>
          <p:cNvPr id="13" name="Rectangle 12"/>
          <p:cNvSpPr/>
          <p:nvPr/>
        </p:nvSpPr>
        <p:spPr>
          <a:xfrm>
            <a:off x="932688" y="355152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97833"/>
            <a:ext cx="3116580"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expert en sinistre</a:t>
            </a:r>
          </a:p>
        </p:txBody>
      </p:sp>
      <p:sp>
        <p:nvSpPr>
          <p:cNvPr id="15" name="TextBox 14"/>
          <p:cNvSpPr txBox="1"/>
          <p:nvPr/>
        </p:nvSpPr>
        <p:spPr>
          <a:xfrm>
            <a:off x="4323588" y="3697833"/>
            <a:ext cx="6935419"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La personne qui examine les dommages, en cherche la cause et évalue ce qu'ils coûtent.</a:t>
            </a:r>
          </a:p>
        </p:txBody>
      </p:sp>
      <p:sp>
        <p:nvSpPr>
          <p:cNvPr id="16" name="Rectangle 15"/>
          <p:cNvSpPr/>
          <p:nvPr/>
        </p:nvSpPr>
        <p:spPr>
          <a:xfrm>
            <a:off x="932688" y="433974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6046"/>
            <a:ext cx="3116580"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contre-expertise</a:t>
            </a:r>
          </a:p>
        </p:txBody>
      </p:sp>
      <p:sp>
        <p:nvSpPr>
          <p:cNvPr id="18" name="TextBox 17"/>
          <p:cNvSpPr txBox="1"/>
          <p:nvPr/>
        </p:nvSpPr>
        <p:spPr>
          <a:xfrm>
            <a:off x="4323588" y="4486046"/>
            <a:ext cx="6935419"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Un second examen, demandé par l'assuré, qui vient discuter les conclusions du premier.</a:t>
            </a:r>
          </a:p>
        </p:txBody>
      </p:sp>
      <p:sp>
        <p:nvSpPr>
          <p:cNvPr id="19" name="Rectangle 18"/>
          <p:cNvSpPr/>
          <p:nvPr/>
        </p:nvSpPr>
        <p:spPr>
          <a:xfrm>
            <a:off x="932688" y="512795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74259"/>
            <a:ext cx="3116580"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constat</a:t>
            </a:r>
          </a:p>
        </p:txBody>
      </p:sp>
      <p:sp>
        <p:nvSpPr>
          <p:cNvPr id="21" name="TextBox 20"/>
          <p:cNvSpPr txBox="1"/>
          <p:nvPr/>
        </p:nvSpPr>
        <p:spPr>
          <a:xfrm>
            <a:off x="4323588" y="5274259"/>
            <a:ext cx="6935419"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Ce qu'une personne a vu de ses propres yeux et qu'elle écrit sans l'interpréter.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refus et le recours</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299555"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défaut d'entretien</a:t>
            </a:r>
          </a:p>
        </p:txBody>
      </p:sp>
      <p:sp>
        <p:nvSpPr>
          <p:cNvPr id="9" name="TextBox 8"/>
          <p:cNvSpPr txBox="1"/>
          <p:nvPr/>
        </p:nvSpPr>
        <p:spPr>
          <a:xfrm>
            <a:off x="4506563" y="2121408"/>
            <a:ext cx="6752443"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Le reproche fait à quelqu'un de ne pas avoir entretenu ce dont il avait la charge.</a:t>
            </a:r>
          </a:p>
        </p:txBody>
      </p:sp>
      <p:sp>
        <p:nvSpPr>
          <p:cNvPr id="10" name="Rectangle 9"/>
          <p:cNvSpPr/>
          <p:nvPr/>
        </p:nvSpPr>
        <p:spPr>
          <a:xfrm>
            <a:off x="932688" y="27633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09620"/>
            <a:ext cx="3299555"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facture acquittée</a:t>
            </a:r>
          </a:p>
        </p:txBody>
      </p:sp>
      <p:sp>
        <p:nvSpPr>
          <p:cNvPr id="12" name="TextBox 11"/>
          <p:cNvSpPr txBox="1"/>
          <p:nvPr/>
        </p:nvSpPr>
        <p:spPr>
          <a:xfrm>
            <a:off x="4506563" y="2909620"/>
            <a:ext cx="6752443"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Une facture accompagnée de la preuve qu'elle a bien été payée.</a:t>
            </a:r>
          </a:p>
        </p:txBody>
      </p:sp>
      <p:sp>
        <p:nvSpPr>
          <p:cNvPr id="13" name="Rectangle 12"/>
          <p:cNvSpPr/>
          <p:nvPr/>
        </p:nvSpPr>
        <p:spPr>
          <a:xfrm>
            <a:off x="932688" y="355152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97833"/>
            <a:ext cx="3299555"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réponse finale</a:t>
            </a:r>
          </a:p>
        </p:txBody>
      </p:sp>
      <p:sp>
        <p:nvSpPr>
          <p:cNvPr id="15" name="TextBox 14"/>
          <p:cNvSpPr txBox="1"/>
          <p:nvPr/>
        </p:nvSpPr>
        <p:spPr>
          <a:xfrm>
            <a:off x="4506563" y="3697833"/>
            <a:ext cx="6752443"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La dernière position écrite d'une entreprise sur une plainte, avec ses raisons.</a:t>
            </a:r>
          </a:p>
        </p:txBody>
      </p:sp>
      <p:sp>
        <p:nvSpPr>
          <p:cNvPr id="16" name="Rectangle 15"/>
          <p:cNvSpPr/>
          <p:nvPr/>
        </p:nvSpPr>
        <p:spPr>
          <a:xfrm>
            <a:off x="932688" y="433974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6046"/>
            <a:ext cx="3299555"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transfert de dossier</a:t>
            </a:r>
          </a:p>
        </p:txBody>
      </p:sp>
      <p:sp>
        <p:nvSpPr>
          <p:cNvPr id="18" name="TextBox 17"/>
          <p:cNvSpPr txBox="1"/>
          <p:nvPr/>
        </p:nvSpPr>
        <p:spPr>
          <a:xfrm>
            <a:off x="4506563" y="4486046"/>
            <a:ext cx="6752443"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L'envoi de tout le dossier d'une plainte à l'organisme public qui surveille l'entreprise.</a:t>
            </a:r>
          </a:p>
        </p:txBody>
      </p:sp>
      <p:sp>
        <p:nvSpPr>
          <p:cNvPr id="19" name="Rectangle 18"/>
          <p:cNvSpPr/>
          <p:nvPr/>
        </p:nvSpPr>
        <p:spPr>
          <a:xfrm>
            <a:off x="932688" y="512795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74259"/>
            <a:ext cx="3299555"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décision motivée</a:t>
            </a:r>
          </a:p>
        </p:txBody>
      </p:sp>
      <p:sp>
        <p:nvSpPr>
          <p:cNvPr id="21" name="TextBox 20"/>
          <p:cNvSpPr txBox="1"/>
          <p:nvPr/>
        </p:nvSpPr>
        <p:spPr>
          <a:xfrm>
            <a:off x="4506563" y="5274259"/>
            <a:ext cx="6752443"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Une décision qui dit non seulement ce qui est décidé, mais sur quoi elle s'appuie.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DEUX DRAINS, ET TOUT LE MODULE TIENT À LA DIFFÉRENCE</a:t>
            </a:r>
          </a:p>
        </p:txBody>
      </p:sp>
      <p:sp>
        <p:nvSpPr>
          <p:cNvPr id="6" name="Rounded Rectangle 5"/>
          <p:cNvSpPr/>
          <p:nvPr/>
        </p:nvSpPr>
        <p:spPr>
          <a:xfrm>
            <a:off x="566928" y="1225296"/>
            <a:ext cx="11057839" cy="2928619"/>
          </a:xfrm>
          <a:prstGeom prst="roundRect">
            <a:avLst>
              <a:gd name="adj" fmla="val 4995"/>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105660"/>
          </a:xfrm>
          <a:prstGeom prst="rect">
            <a:avLst/>
          </a:prstGeom>
          <a:noFill/>
        </p:spPr>
        <p:txBody>
          <a:bodyPr wrap="square" lIns="0" rIns="0" tIns="0" bIns="0" anchor="t">
            <a:spAutoFit/>
          </a:bodyPr>
          <a:lstStyle/>
          <a:p>
            <a:pPr algn="l">
              <a:lnSpc>
                <a:spcPct val="122000"/>
              </a:lnSpc>
            </a:pPr>
            <a:r>
              <a:rPr sz="2600" b="1" i="0">
                <a:solidFill>
                  <a:srgbClr val="17181A"/>
                </a:solidFill>
                <a:latin typeface="Verdana"/>
              </a:rPr>
              <a:t>Le drain de plancher est à l'intérieur, dans la dalle du sous-sol. Le drain de fondation est à l'extérieur, au pied des murs, sous la terre. Ce ne sont ni le même tuyau, ni le même entretien, ni la même responsabilité.</a:t>
            </a:r>
          </a:p>
        </p:txBody>
      </p:sp>
      <p:sp>
        <p:nvSpPr>
          <p:cNvPr id="8" name="Rounded Rectangle 7"/>
          <p:cNvSpPr/>
          <p:nvPr/>
        </p:nvSpPr>
        <p:spPr>
          <a:xfrm>
            <a:off x="566928" y="4428235"/>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702555"/>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lettre de refus de Teodora parle du drain de plancher. Le rapport d'expertise du même assureur décrit le drain de fondation. Personne chez l'assureur ne l'avait remarqué, et c'est là que se gagne la révision.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mot juste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 avec le mot exact du dossier.</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protection ajoutée au contrat en 2023 s'appelle un ___.</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mille dollars qui restent à ma charge, c'est la ___.</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cas nommé au contrat pour lequel on ne paie pas, c'est une ___.</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second examen que j'ai payé, c'est une ___.</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preuve que la facture a été payée : une facture ___.</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dernière position écrite de l'entreprise : une ___.</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mot juste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protection ajoutée au contrat en 2023 s'appelle un ___.   </a:t>
            </a:r>
            <a:r>
              <a:rPr sz="1400" b="1" i="0">
                <a:solidFill>
                  <a:srgbClr val="07734A"/>
                </a:solidFill>
                <a:latin typeface="Verdana"/>
              </a:rPr>
              <a:t>» avenant</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mille dollars qui restent à ma charge, c'est la ___.   </a:t>
            </a:r>
            <a:r>
              <a:rPr sz="1400" b="1" i="0">
                <a:solidFill>
                  <a:srgbClr val="07734A"/>
                </a:solidFill>
                <a:latin typeface="Verdana"/>
              </a:rPr>
              <a:t>» franchise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cas nommé au contrat pour lequel on ne paie pas, c'est une ___.   </a:t>
            </a:r>
            <a:r>
              <a:rPr sz="1400" b="1" i="0">
                <a:solidFill>
                  <a:srgbClr val="07734A"/>
                </a:solidFill>
                <a:latin typeface="Verdana"/>
              </a:rPr>
              <a:t>» exclusion</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second examen que j'ai payé, c'est une ___.   </a:t>
            </a:r>
            <a:r>
              <a:rPr sz="1400" b="1" i="0">
                <a:solidFill>
                  <a:srgbClr val="07734A"/>
                </a:solidFill>
                <a:latin typeface="Verdana"/>
              </a:rPr>
              <a:t>» contre-expertise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preuve que la facture a été payée : une facture ___.   </a:t>
            </a:r>
            <a:r>
              <a:rPr sz="1400" b="1" i="0">
                <a:solidFill>
                  <a:srgbClr val="07734A"/>
                </a:solidFill>
                <a:latin typeface="Verdana"/>
              </a:rPr>
              <a:t>» acquittée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dernière position écrite de l'entreprise : une ___.   </a:t>
            </a:r>
            <a:r>
              <a:rPr sz="1400" b="1" i="0">
                <a:solidFill>
                  <a:srgbClr val="07734A"/>
                </a:solidFill>
                <a:latin typeface="Verdana"/>
              </a:rPr>
              <a:t>» réponse finale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ASSOCIATION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photo pour quelle phrase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Six scènes du sous-sol, deux jours après le sinistre.</a:t>
            </a:r>
          </a:p>
        </p:txBody>
      </p:sp>
      <p:sp>
        <p:nvSpPr>
          <p:cNvPr id="8" name="Rounded Rectangle 7"/>
          <p:cNvSpPr/>
          <p:nvPr/>
        </p:nvSpPr>
        <p:spPr>
          <a:xfrm>
            <a:off x="566928" y="2139696"/>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611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251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sous-sol fini où l'eau brune arrive à mi-mollet, entre un divan et une bibliothèque basse.</a:t>
            </a:r>
          </a:p>
        </p:txBody>
      </p:sp>
      <p:sp>
        <p:nvSpPr>
          <p:cNvPr id="12" name="Rounded Rectangle 11"/>
          <p:cNvSpPr/>
          <p:nvPr/>
        </p:nvSpPr>
        <p:spPr>
          <a:xfrm>
            <a:off x="566928" y="3076447"/>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17347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3748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23189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drain rond au centre d'une dalle de béton, sa grille de fonte soulevée et posée à côté.</a:t>
            </a:r>
          </a:p>
        </p:txBody>
      </p:sp>
      <p:sp>
        <p:nvSpPr>
          <p:cNvPr id="16" name="Rounded Rectangle 15"/>
          <p:cNvSpPr/>
          <p:nvPr/>
        </p:nvSpPr>
        <p:spPr>
          <a:xfrm>
            <a:off x="566928" y="376427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61307"/>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92531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91972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Des lés de plancher flottant gondolés et des bacs de plastique empilés au bord d'un trottoir.</a:t>
            </a:r>
          </a:p>
        </p:txBody>
      </p:sp>
      <p:sp>
        <p:nvSpPr>
          <p:cNvPr id="20" name="Rounded Rectangle 19"/>
          <p:cNvSpPr/>
          <p:nvPr/>
        </p:nvSpPr>
        <p:spPr>
          <a:xfrm>
            <a:off x="566928" y="4452111"/>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73599"/>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737607"/>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07559"/>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Deux ventilateurs de séchage posés au pied d'un mur dont le gypse a été coupé à mi-hauteur.</a:t>
            </a:r>
          </a:p>
        </p:txBody>
      </p:sp>
      <p:sp>
        <p:nvSpPr>
          <p:cNvPr id="24" name="Rounded Rectangle 23"/>
          <p:cNvSpPr/>
          <p:nvPr/>
        </p:nvSpPr>
        <p:spPr>
          <a:xfrm>
            <a:off x="566928" y="538886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48589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54989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54431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regard d'égout dans une ruelle de brique, l'eau qui affleure au ras de la fonte.</a:t>
            </a:r>
          </a:p>
        </p:txBody>
      </p:sp>
      <p:sp>
        <p:nvSpPr>
          <p:cNvPr id="28" name="Rounded Rectangle 27"/>
          <p:cNvSpPr/>
          <p:nvPr/>
        </p:nvSpPr>
        <p:spPr>
          <a:xfrm>
            <a:off x="566928" y="6076696"/>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6298183"/>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63621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623214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touret de câble de caméra déroulé sur le béton, devant l'ouverture d'un drain de fondation.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photo pour quelle phrase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611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251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sous-sol fini où l'eau brune arrive à mi-mollet, entre un divan et une bibliothèque basse.   </a:t>
            </a:r>
            <a:r>
              <a:rPr sz="1400" b="1" i="0">
                <a:solidFill>
                  <a:srgbClr val="07734A"/>
                </a:solidFill>
                <a:latin typeface="Verdana"/>
              </a:rPr>
              <a:t>» sous-sol-inonde</a:t>
            </a:r>
          </a:p>
        </p:txBody>
      </p:sp>
      <p:sp>
        <p:nvSpPr>
          <p:cNvPr id="12" name="Rounded Rectangle 11"/>
          <p:cNvSpPr/>
          <p:nvPr/>
        </p:nvSpPr>
        <p:spPr>
          <a:xfrm>
            <a:off x="566928" y="3076447"/>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17347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3748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23189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drain rond au centre d'une dalle de béton, sa grille de fonte soulevée et posée à côté.   </a:t>
            </a:r>
            <a:r>
              <a:rPr sz="1400" b="1" i="0">
                <a:solidFill>
                  <a:srgbClr val="07734A"/>
                </a:solidFill>
                <a:latin typeface="Verdana"/>
              </a:rPr>
              <a:t>» drain-de-plancher</a:t>
            </a:r>
          </a:p>
        </p:txBody>
      </p:sp>
      <p:sp>
        <p:nvSpPr>
          <p:cNvPr id="16" name="Rounded Rectangle 15"/>
          <p:cNvSpPr/>
          <p:nvPr/>
        </p:nvSpPr>
        <p:spPr>
          <a:xfrm>
            <a:off x="566928" y="376427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61307"/>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92531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91972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Des lés de plancher flottant gondolés et des bacs de plastique empilés au bord d'un trottoir.   </a:t>
            </a:r>
            <a:r>
              <a:rPr sz="1400" b="1" i="0">
                <a:solidFill>
                  <a:srgbClr val="07734A"/>
                </a:solidFill>
                <a:latin typeface="Verdana"/>
              </a:rPr>
              <a:t>» bord-de-trottoir</a:t>
            </a:r>
          </a:p>
        </p:txBody>
      </p:sp>
      <p:sp>
        <p:nvSpPr>
          <p:cNvPr id="20" name="Rounded Rectangle 19"/>
          <p:cNvSpPr/>
          <p:nvPr/>
        </p:nvSpPr>
        <p:spPr>
          <a:xfrm>
            <a:off x="566928" y="4452111"/>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73599"/>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737607"/>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07559"/>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Deux ventilateurs de séchage posés au pied d'un mur dont le gypse a été coupé à mi-hauteur.   </a:t>
            </a:r>
            <a:r>
              <a:rPr sz="1400" b="1" i="0">
                <a:solidFill>
                  <a:srgbClr val="07734A"/>
                </a:solidFill>
                <a:latin typeface="Verdana"/>
              </a:rPr>
              <a:t>» ventilateurs-sechage</a:t>
            </a:r>
          </a:p>
        </p:txBody>
      </p:sp>
      <p:sp>
        <p:nvSpPr>
          <p:cNvPr id="24" name="Rounded Rectangle 23"/>
          <p:cNvSpPr/>
          <p:nvPr/>
        </p:nvSpPr>
        <p:spPr>
          <a:xfrm>
            <a:off x="566928" y="538886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48589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54989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54431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regard d'égout dans une ruelle de brique, l'eau qui affleure au ras de la fonte.   </a:t>
            </a:r>
            <a:r>
              <a:rPr sz="1400" b="1" i="0">
                <a:solidFill>
                  <a:srgbClr val="07734A"/>
                </a:solidFill>
                <a:latin typeface="Verdana"/>
              </a:rPr>
              <a:t>» regard-ruelle</a:t>
            </a:r>
          </a:p>
        </p:txBody>
      </p:sp>
      <p:sp>
        <p:nvSpPr>
          <p:cNvPr id="28" name="Rounded Rectangle 27"/>
          <p:cNvSpPr/>
          <p:nvPr/>
        </p:nvSpPr>
        <p:spPr>
          <a:xfrm>
            <a:off x="566928" y="6076696"/>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6298183"/>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63621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623214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touret de câble de caméra déroulé sur le béton, devant l'ouverture d'un drain de fondation.   </a:t>
            </a:r>
            <a:r>
              <a:rPr sz="1400" b="1" i="0">
                <a:solidFill>
                  <a:srgbClr val="07734A"/>
                </a:solidFill>
                <a:latin typeface="Verdana"/>
              </a:rPr>
              <a:t>» camera-de-drain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DANS L'ACTIVITÉ INTERACTIVE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L'exercice tel que les élèves le verront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Glissez chaque photo sur la phrase qui la décrit.</a:t>
            </a:r>
          </a:p>
        </p:txBody>
      </p:sp>
      <p:sp>
        <p:nvSpPr>
          <p:cNvPr id="8" name="Rounded Rectangle 7"/>
          <p:cNvSpPr/>
          <p:nvPr/>
        </p:nvSpPr>
        <p:spPr>
          <a:xfrm>
            <a:off x="4814281" y="2084831"/>
            <a:ext cx="2563131" cy="4087368"/>
          </a:xfrm>
          <a:prstGeom prst="roundRect">
            <a:avLst>
              <a:gd name="adj" fmla="val 3567"/>
            </a:avLst>
          </a:prstGeom>
          <a:solidFill>
            <a:srgbClr val="FFFFFF"/>
          </a:solidFill>
          <a:ln w="12700">
            <a:solidFill>
              <a:srgbClr val="D6D6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rImg.png"/>
          <p:cNvPicPr>
            <a:picLocks noChangeAspect="1"/>
          </p:cNvPicPr>
          <p:nvPr/>
        </p:nvPicPr>
        <p:blipFill>
          <a:blip r:embed="rId2"/>
          <a:stretch>
            <a:fillRect/>
          </a:stretch>
        </p:blipFill>
        <p:spPr>
          <a:xfrm>
            <a:off x="4832569" y="2103120"/>
            <a:ext cx="2526555" cy="405079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les cinq mots du dossier que vous ne connaissiez pas ce matin.</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 mot par ligne, avec son article.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À côté de chacun, la définition dans vos propres mots.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Faire renverser une décision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