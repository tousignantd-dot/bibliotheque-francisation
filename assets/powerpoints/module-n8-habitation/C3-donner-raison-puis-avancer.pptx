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grammaire, mais le point de départ n'est pas grammatical : c'est un calcul. Concéder est ce qui rend la suite crédible, et c'est vrai bien au-delà d'une lettre d'assurance.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premiers objectifs vont ensemble et se commettent souvent en même temps, chacun à l'envers de l'autre.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venir la réponse du groupe. Nier en bloc met l'autre en position de chercher ce qu'on cache ; concéder un point lui enlève cette position. C'est du calcul, pas de la morale.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lire les deux versions par deux personnes différentes, puis demander laquelle on croit.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 repère qui sauve : « même si » est un « si », et « si » n'a jamais de subjonctif.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le couple au tableau et l'y laisser toute la séance. Les deux fautes inverses se commettent souvent le même jour, chez la même personne.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le mode à chaque fois. Le troisième est une formule figée : la faire répéter à voix haute jusqu'à ce qu'elle vienne seule.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ce qu'on concède : toujours un constat, jamais une déduction. On donne raison sur ce que l'expert a vu, et on discute ce qu'il en tire. C'est le lien direct avec le bloc B.</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seule phrase, deux temps. Elle entrera telle quelle dans la lettre du bloc E : le paragraphe de concession est écrit ce matin.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C3  ·  MODULE 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Donner raison, puis avancer</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contestation qui nie tout se lit en dix secondes et se classe comme une plainte de plus. Trois lignes de concession font lire les quinze suivantes.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Faire renverser une décision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 bien que » et « quoique » avec le subjonctif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 même si » avec l'indicatif, sans se tromper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construire une concession écrite : certes… ; il n'en reste pas moins que…</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placer la concession avant les faits, jamais après.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DISCUSSION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Quelqu'un vous accuse de quelque chose que vous n'avez pas fait. Que dites-vous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vous niez tout, d'un bloc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Y a-t-il une petite partie de ce qu'il dit qui est vraie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ça change de le reconnaître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ça change de ne pas le reconnaître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CE QU'ON MET EN SECOND L'EMPORTE</a:t>
            </a:r>
          </a:p>
        </p:txBody>
      </p:sp>
      <p:sp>
        <p:nvSpPr>
          <p:cNvPr id="6" name="Rounded Rectangle 5"/>
          <p:cNvSpPr/>
          <p:nvPr/>
        </p:nvSpPr>
        <p:spPr>
          <a:xfrm>
            <a:off x="566928" y="1225296"/>
            <a:ext cx="11057839" cy="2649728"/>
          </a:xfrm>
          <a:prstGeom prst="roundRect">
            <a:avLst>
              <a:gd name="adj" fmla="val 5521"/>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826768"/>
          </a:xfrm>
          <a:prstGeom prst="rect">
            <a:avLst/>
          </a:prstGeom>
          <a:noFill/>
        </p:spPr>
        <p:txBody>
          <a:bodyPr wrap="square" lIns="0" rIns="0" tIns="0" bIns="0" anchor="t">
            <a:spAutoFit/>
          </a:bodyPr>
          <a:lstStyle/>
          <a:p>
            <a:pPr algn="l">
              <a:lnSpc>
                <a:spcPct val="122000"/>
              </a:lnSpc>
            </a:pPr>
            <a:r>
              <a:rPr sz="2800" b="1" i="0">
                <a:solidFill>
                  <a:srgbClr val="17181A"/>
                </a:solidFill>
                <a:latin typeface="Verdana"/>
              </a:rPr>
              <a:t>« Le drain était vieux, mais il avait été nettoyé » plaide pour vous. « Le drain avait été nettoyé, mais il était vieux » plaide contre vous. Ce sont exactement les mêmes mots.</a:t>
            </a:r>
          </a:p>
        </p:txBody>
      </p:sp>
      <p:sp>
        <p:nvSpPr>
          <p:cNvPr id="8" name="Rounded Rectangle 7"/>
          <p:cNvSpPr/>
          <p:nvPr/>
        </p:nvSpPr>
        <p:spPr>
          <a:xfrm>
            <a:off x="566928" y="4149343"/>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42366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Concédez donc en premier, sans exception, et gardez votre fait le plus solide pour la fin de la phrase. C'est vrai de la phrase, et c'est vrai de la lettre entière.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FORMES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marqueur, quel mode</a:t>
            </a:r>
          </a:p>
        </p:txBody>
      </p:sp>
      <p:sp>
        <p:nvSpPr>
          <p:cNvPr id="7" name="Rounded Rectangle 6"/>
          <p:cNvSpPr/>
          <p:nvPr/>
        </p:nvSpPr>
        <p:spPr>
          <a:xfrm>
            <a:off x="566928" y="1810512"/>
            <a:ext cx="11057839" cy="3639312"/>
          </a:xfrm>
          <a:prstGeom prst="roundRect">
            <a:avLst>
              <a:gd name="adj" fmla="val 402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MARQUEUR</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MODE ET EXEMPLE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bien que · quoique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subjonctif — bien que le rapport SOIT détaillé</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même si</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indicatif — même si l'obstruction EST ancienne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certes…, mais…</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indicatif — le registre de l'écrit</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il n'en reste pas moins que</a:t>
            </a:r>
          </a:p>
        </p:txBody>
      </p:sp>
      <p:sp>
        <p:nvSpPr>
          <p:cNvPr id="20" name="TextBox 19"/>
          <p:cNvSpPr txBox="1"/>
          <p:nvPr/>
        </p:nvSpPr>
        <p:spPr>
          <a:xfrm>
            <a:off x="4443636" y="4014215"/>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indicatif — la formule qui conclut</a:t>
            </a:r>
          </a:p>
        </p:txBody>
      </p:sp>
      <p:sp>
        <p:nvSpPr>
          <p:cNvPr id="21" name="Rectangle 20"/>
          <p:cNvSpPr/>
          <p:nvPr/>
        </p:nvSpPr>
        <p:spPr>
          <a:xfrm>
            <a:off x="932688" y="47274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85546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en revanche · toutefois</a:t>
            </a:r>
          </a:p>
        </p:txBody>
      </p:sp>
      <p:sp>
        <p:nvSpPr>
          <p:cNvPr id="23" name="TextBox 22"/>
          <p:cNvSpPr txBox="1"/>
          <p:nvPr/>
        </p:nvSpPr>
        <p:spPr>
          <a:xfrm>
            <a:off x="4443636" y="485546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indicatif — opposer sans concéder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MODE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même si le rapport soit détaillé</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même si le rapport est détaillé</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Même si » veut l'indicatif, toujours. C'est la faute qui trahit le plus vite un apprenant avancé, parce qu'elle vient d'une sur-correction : on a appris que la concession demande le subjonctif, et on l'applique partout. Retenez le couple : bien que, subjonctif ; même si, indicatif.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GRAMMAIRE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marqueur qui convient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Attention au mode du verbe qui suit.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le rapport soit détaillé, il ne s'appuie sur aucune caméra.</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l'obstruction est ancienne, elle n'explique pas une seule soirée.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n'est pas vous qui avez fermé le dossier ; il n'en ___ pas moins que c'est à vous que j'écris.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contrat couvre le refoulement ; ___ revanche, il exclut le défaut d'entretien.</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 la visite a été courte ; mais elle a donné lieu à des mesures.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franchise reste due ; ___ , le reste des dommages est couvert.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marqueur qui convient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le rapport soit détaillé, il ne s'appuie sur aucune caméra.   </a:t>
            </a:r>
            <a:r>
              <a:rPr sz="1400" b="1" i="0">
                <a:solidFill>
                  <a:srgbClr val="07734A"/>
                </a:solidFill>
                <a:latin typeface="Verdana"/>
              </a:rPr>
              <a:t>» Bien que / Quoique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l'obstruction est ancienne, elle n'explique pas une seule soirée.   </a:t>
            </a:r>
            <a:r>
              <a:rPr sz="1400" b="1" i="0">
                <a:solidFill>
                  <a:srgbClr val="07734A"/>
                </a:solidFill>
                <a:latin typeface="Verdana"/>
              </a:rPr>
              <a:t>» Même si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n'est pas vous qui avez fermé le dossier ; il n'en ___ pas moins que c'est à vous que j'écris.   </a:t>
            </a:r>
            <a:r>
              <a:rPr sz="1400" b="1" i="0">
                <a:solidFill>
                  <a:srgbClr val="07734A"/>
                </a:solidFill>
                <a:latin typeface="Verdana"/>
              </a:rPr>
              <a:t>» reste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contrat couvre le refoulement ; ___ revanche, il exclut le défaut d'entretien.   </a:t>
            </a:r>
            <a:r>
              <a:rPr sz="1400" b="1" i="0">
                <a:solidFill>
                  <a:srgbClr val="07734A"/>
                </a:solidFill>
                <a:latin typeface="Verdana"/>
              </a:rPr>
              <a:t>» en</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 la visite a été courte ; mais elle a donné lieu à des mesures.   </a:t>
            </a:r>
            <a:r>
              <a:rPr sz="1400" b="1" i="0">
                <a:solidFill>
                  <a:srgbClr val="07734A"/>
                </a:solidFill>
                <a:latin typeface="Verdana"/>
              </a:rPr>
              <a:t>» Certes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franchise reste due ; ___ , le reste des dommages est couvert.   </a:t>
            </a:r>
            <a:r>
              <a:rPr sz="1400" b="1" i="0">
                <a:solidFill>
                  <a:srgbClr val="07734A"/>
                </a:solidFill>
                <a:latin typeface="Verdana"/>
              </a:rPr>
              <a:t>» toutefois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MODÈLES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Concéder, puis retourner</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57124"/>
          </a:xfrm>
          <a:prstGeom prst="rect">
            <a:avLst/>
          </a:prstGeom>
          <a:noFill/>
        </p:spPr>
        <p:txBody>
          <a:bodyPr wrap="square" lIns="0" rIns="0" tIns="0" bIns="0" anchor="t">
            <a:spAutoFit/>
          </a:bodyPr>
          <a:lstStyle/>
          <a:p>
            <a:pPr algn="l">
              <a:lnSpc>
                <a:spcPct val="118000"/>
              </a:lnSpc>
            </a:pPr>
            <a:r>
              <a:rPr sz="2200" b="1" i="0">
                <a:solidFill>
                  <a:srgbClr val="B45309"/>
                </a:solidFill>
                <a:latin typeface="Verdana"/>
              </a:rPr>
              <a:t>Sur un constat</a:t>
            </a:r>
          </a:p>
        </p:txBody>
      </p:sp>
      <p:sp>
        <p:nvSpPr>
          <p:cNvPr id="9" name="TextBox 8"/>
          <p:cNvSpPr txBox="1"/>
          <p:nvPr/>
        </p:nvSpPr>
        <p:spPr>
          <a:xfrm>
            <a:off x="886968" y="2469388"/>
            <a:ext cx="4806543" cy="111963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Certes, un dépôt a bien été observé sur la grille ; il n'en reste pas moins qu'aucune mesure n'a été prise et qu'aucune inspection par caméra n'a été effectuée. »</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57124"/>
          </a:xfrm>
          <a:prstGeom prst="rect">
            <a:avLst/>
          </a:prstGeom>
          <a:noFill/>
        </p:spPr>
        <p:txBody>
          <a:bodyPr wrap="square" lIns="0" rIns="0" tIns="0" bIns="0" anchor="t">
            <a:spAutoFit/>
          </a:bodyPr>
          <a:lstStyle/>
          <a:p>
            <a:pPr algn="l">
              <a:lnSpc>
                <a:spcPct val="118000"/>
              </a:lnSpc>
            </a:pPr>
            <a:r>
              <a:rPr sz="2200" b="1" i="0">
                <a:solidFill>
                  <a:srgbClr val="B45309"/>
                </a:solidFill>
                <a:latin typeface="Verdana"/>
              </a:rPr>
              <a:t>Sur une durée</a:t>
            </a:r>
          </a:p>
        </p:txBody>
      </p:sp>
      <p:sp>
        <p:nvSpPr>
          <p:cNvPr id="12" name="TextBox 11"/>
          <p:cNvSpPr txBox="1"/>
          <p:nvPr/>
        </p:nvSpPr>
        <p:spPr>
          <a:xfrm>
            <a:off x="6498183" y="2469388"/>
            <a:ext cx="4806543" cy="111963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Bien que la visite ait eu lieu deux jours après le sinistre, elle n'a duré que vingt-cinq minutes.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57124"/>
          </a:xfrm>
          <a:prstGeom prst="rect">
            <a:avLst/>
          </a:prstGeom>
          <a:noFill/>
        </p:spPr>
        <p:txBody>
          <a:bodyPr wrap="square" lIns="0" rIns="0" tIns="0" bIns="0" anchor="t">
            <a:spAutoFit/>
          </a:bodyPr>
          <a:lstStyle/>
          <a:p>
            <a:pPr algn="l">
              <a:lnSpc>
                <a:spcPct val="118000"/>
              </a:lnSpc>
            </a:pPr>
            <a:r>
              <a:rPr sz="2200" b="1" i="0">
                <a:solidFill>
                  <a:srgbClr val="B45309"/>
                </a:solidFill>
                <a:latin typeface="Verdana"/>
              </a:rPr>
              <a:t>Sur l'âge de l'installation</a:t>
            </a:r>
          </a:p>
        </p:txBody>
      </p:sp>
      <p:sp>
        <p:nvSpPr>
          <p:cNvPr id="15" name="TextBox 14"/>
          <p:cNvSpPr txBox="1"/>
          <p:nvPr/>
        </p:nvSpPr>
        <p:spPr>
          <a:xfrm>
            <a:off x="886968" y="4686808"/>
            <a:ext cx="4806543" cy="111963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Même si le drain a douze ans, il a été nettoyé cinq mois avant le sinistre, et la facture acquittée est jointe. »</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57124"/>
          </a:xfrm>
          <a:prstGeom prst="rect">
            <a:avLst/>
          </a:prstGeom>
          <a:noFill/>
        </p:spPr>
        <p:txBody>
          <a:bodyPr wrap="square" lIns="0" rIns="0" tIns="0" bIns="0" anchor="t">
            <a:spAutoFit/>
          </a:bodyPr>
          <a:lstStyle/>
          <a:p>
            <a:pPr algn="l">
              <a:lnSpc>
                <a:spcPct val="118000"/>
              </a:lnSpc>
            </a:pPr>
            <a:r>
              <a:rPr sz="2200" b="1" i="0">
                <a:solidFill>
                  <a:srgbClr val="B45309"/>
                </a:solidFill>
                <a:latin typeface="Verdana"/>
              </a:rPr>
              <a:t>Sur la personne au téléphone</a:t>
            </a:r>
          </a:p>
        </p:txBody>
      </p:sp>
      <p:sp>
        <p:nvSpPr>
          <p:cNvPr id="18" name="TextBox 17"/>
          <p:cNvSpPr txBox="1"/>
          <p:nvPr/>
        </p:nvSpPr>
        <p:spPr>
          <a:xfrm>
            <a:off x="6498183" y="4686808"/>
            <a:ext cx="4806543" cy="111963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Certes, ce n'est pas vous qui avez rendu la décision ; il n'en reste pas moins que c'est à vous que je peux parler aujourd'hui.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une concession sur le dossier de Teodora, en deux temps.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Premier temps : ce que vous accordez, avec « certes ».</a:t>
            </a:r>
          </a:p>
        </p:txBody>
      </p:sp>
      <p:sp>
        <p:nvSpPr>
          <p:cNvPr id="10" name="Rounded Rectangle 9"/>
          <p:cNvSpPr/>
          <p:nvPr/>
        </p:nvSpPr>
        <p:spPr>
          <a:xfrm>
            <a:off x="566928" y="4680712"/>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Deuxième temps : ce que vous en faites, avec « il n'en reste pas moins que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Faire renverser une décision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