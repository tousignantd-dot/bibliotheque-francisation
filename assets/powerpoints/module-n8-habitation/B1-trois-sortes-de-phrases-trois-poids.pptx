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bloc B. Rappeler où on en est : la lettre est arrivée, le rapport a été demandé, et Teodora consulte un expert qu'elle paie elle-même. C'est un geste que peu de gens connaissent.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objectif est le cœur du bloc. Tout le reste en découle, y compris la lettre du bloc 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est celle qui ouvre la séance : un rapport d'expertise n'est jamais écrit pour vous. On le lit par-dessus l'épaule de quelqu'un.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noter les trois familles de verbes au tableau, en trois colonnes. Elles y resteront tout le bloc 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réponse de Teodora est celle qu'on attend du groupe. Poser la question à haute voix avant de dévoiler la réplique : « qu'est-ce qui manque à cette phrase ?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de bascule du module. Reprendre le dessin en coupe de A3 si besoin. Faire remarquer que Teodora avait lu les deux documents sans le voir : ce n'est pas une question d'attention, c'est une méthode.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chercher ces formules dans le rapport du module : il y en a trois, et elles sont toutes dans le bloc « Analyse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 on ne conteste pas un constat, on remarque ce qu'il ne couvre pas. Une ligne de mouillure mesurée ne dit rien de la cause.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dernier est le plus important pour la suite : un expert qu'on paie n'est pas un expert qui nous approuve, et c'est ce qui donne de la valeur à son rapport.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est dans le module, exercice 2 du défi 1. Les trois phrases trouvées serviront directement à la séance B2.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B1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Trois sortes de phrases, trois poids</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refus tient en une ligne, mais il s'appuie sur un document de quatre pages que presque personne ne demande. Ce défi apprend à le lire.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Faire renverser une décision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qu'un expert a vu, ce qu'on lui a dit, et ce qu'il en déduit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verbes de constat, de rapport et de déduction ;</a:t>
            </a:r>
          </a:p>
        </p:txBody>
      </p:sp>
      <p:sp>
        <p:nvSpPr>
          <p:cNvPr id="15" name="Rounded Rectangle 14"/>
          <p:cNvSpPr/>
          <p:nvPr/>
        </p:nvSpPr>
        <p:spPr>
          <a:xfrm>
            <a:off x="566928" y="3536696"/>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8922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9745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qu'est un expert en sinistre public, et qu'on peut en engager un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comparer deux documents du même assureur.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Avez-vous déjà lu un rapport écrit sur vous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rapport médical, scolaire, de travail, d'inspection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Était-il facile à comprendre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Y avait-il des phrases dont vous n'étiez pas sûr du sens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qui ce rapport était-il adressé, à votre avis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qu'il faut savoir avant de lire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827024"/>
          </a:xfrm>
          <a:prstGeom prst="roundRect">
            <a:avLst>
              <a:gd name="adj" fmla="val 1769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645824" cy="552703"/>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NORMAND</a:t>
            </a:r>
          </a:p>
        </p:txBody>
      </p:sp>
      <p:sp>
        <p:nvSpPr>
          <p:cNvPr id="10" name="TextBox 9"/>
          <p:cNvSpPr txBox="1"/>
          <p:nvPr/>
        </p:nvSpPr>
        <p:spPr>
          <a:xfrm>
            <a:off x="2578512" y="2322576"/>
            <a:ext cx="8497614" cy="552703"/>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Avant de le lire, une chose : un rapport contient trois sortes de phrases, et elles n'ont pas la même valeur.</a:t>
            </a:r>
          </a:p>
        </p:txBody>
      </p:sp>
      <p:sp>
        <p:nvSpPr>
          <p:cNvPr id="11" name="Rounded Rectangle 10"/>
          <p:cNvSpPr/>
          <p:nvPr/>
        </p:nvSpPr>
        <p:spPr>
          <a:xfrm>
            <a:off x="566928" y="306730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231896"/>
            <a:ext cx="1645824"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TEODORA</a:t>
            </a:r>
          </a:p>
        </p:txBody>
      </p:sp>
      <p:sp>
        <p:nvSpPr>
          <p:cNvPr id="13" name="TextBox 12"/>
          <p:cNvSpPr txBox="1"/>
          <p:nvPr/>
        </p:nvSpPr>
        <p:spPr>
          <a:xfrm>
            <a:off x="2578512" y="3231896"/>
            <a:ext cx="8497614"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Lesquelles ?</a:t>
            </a:r>
          </a:p>
        </p:txBody>
      </p:sp>
      <p:sp>
        <p:nvSpPr>
          <p:cNvPr id="14" name="Rounded Rectangle 13"/>
          <p:cNvSpPr/>
          <p:nvPr/>
        </p:nvSpPr>
        <p:spPr>
          <a:xfrm>
            <a:off x="566928" y="3727703"/>
            <a:ext cx="11057839" cy="827024"/>
          </a:xfrm>
          <a:prstGeom prst="roundRect">
            <a:avLst>
              <a:gd name="adj" fmla="val 1769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92295"/>
            <a:ext cx="1645824" cy="552703"/>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NORMAND</a:t>
            </a:r>
          </a:p>
        </p:txBody>
      </p:sp>
      <p:sp>
        <p:nvSpPr>
          <p:cNvPr id="16" name="TextBox 15"/>
          <p:cNvSpPr txBox="1"/>
          <p:nvPr/>
        </p:nvSpPr>
        <p:spPr>
          <a:xfrm>
            <a:off x="2578512" y="3892295"/>
            <a:ext cx="8497614" cy="552703"/>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que l'expert a vu de ses yeux, ce qu'on lui a dit, et ce qu'il en déduit. Le premier bloc est presque impossible à contester. Le troisième se discute toujours.</a:t>
            </a:r>
          </a:p>
        </p:txBody>
      </p:sp>
      <p:sp>
        <p:nvSpPr>
          <p:cNvPr id="17" name="Rounded Rectangle 16"/>
          <p:cNvSpPr/>
          <p:nvPr/>
        </p:nvSpPr>
        <p:spPr>
          <a:xfrm>
            <a:off x="566928" y="463702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801615"/>
            <a:ext cx="1645824"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TEODORA</a:t>
            </a:r>
          </a:p>
        </p:txBody>
      </p:sp>
      <p:sp>
        <p:nvSpPr>
          <p:cNvPr id="19" name="TextBox 18"/>
          <p:cNvSpPr txBox="1"/>
          <p:nvPr/>
        </p:nvSpPr>
        <p:spPr>
          <a:xfrm>
            <a:off x="2578512" y="4801615"/>
            <a:ext cx="8497614"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je les distingue ?</a:t>
            </a:r>
          </a:p>
        </p:txBody>
      </p:sp>
      <p:sp>
        <p:nvSpPr>
          <p:cNvPr id="20" name="Rounded Rectangle 19"/>
          <p:cNvSpPr/>
          <p:nvPr/>
        </p:nvSpPr>
        <p:spPr>
          <a:xfrm>
            <a:off x="566928" y="5297424"/>
            <a:ext cx="11057839" cy="827024"/>
          </a:xfrm>
          <a:prstGeom prst="roundRect">
            <a:avLst>
              <a:gd name="adj" fmla="val 1769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5462015"/>
            <a:ext cx="1645824" cy="552703"/>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NORMAND</a:t>
            </a:r>
          </a:p>
        </p:txBody>
      </p:sp>
      <p:sp>
        <p:nvSpPr>
          <p:cNvPr id="22" name="TextBox 21"/>
          <p:cNvSpPr txBox="1"/>
          <p:nvPr/>
        </p:nvSpPr>
        <p:spPr>
          <a:xfrm>
            <a:off x="2578512" y="5462015"/>
            <a:ext cx="8497614" cy="552703"/>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Par les verbes. « J'ai constaté », « j'ai mesuré » : c'est vu. « Selon l'assurée » : c'est dit. « Il appert que » : c'est déduit.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passif cache celui qu'on accuse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4582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TEODORA</a:t>
            </a:r>
          </a:p>
        </p:txBody>
      </p:sp>
      <p:sp>
        <p:nvSpPr>
          <p:cNvPr id="9" name="TextBox 8"/>
          <p:cNvSpPr txBox="1"/>
          <p:nvPr/>
        </p:nvSpPr>
        <p:spPr>
          <a:xfrm>
            <a:off x="2578512" y="1901952"/>
            <a:ext cx="849761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y a cette phrase, page deux : « Le drain n'aurait pas été entretenu depuis plusieurs années. »</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64582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NORMAND</a:t>
            </a:r>
          </a:p>
        </p:txBody>
      </p:sp>
      <p:sp>
        <p:nvSpPr>
          <p:cNvPr id="12" name="TextBox 11"/>
          <p:cNvSpPr txBox="1"/>
          <p:nvPr/>
        </p:nvSpPr>
        <p:spPr>
          <a:xfrm>
            <a:off x="2578512" y="2989072"/>
            <a:ext cx="849761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Celle-là est intéressante. Vous voyez ce qui manque ?</a:t>
            </a:r>
          </a:p>
        </p:txBody>
      </p:sp>
      <p:sp>
        <p:nvSpPr>
          <p:cNvPr id="13" name="Rounded Rectangle 12"/>
          <p:cNvSpPr/>
          <p:nvPr/>
        </p:nvSpPr>
        <p:spPr>
          <a:xfrm>
            <a:off x="566928" y="35737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64582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TEODORA</a:t>
            </a:r>
          </a:p>
        </p:txBody>
      </p:sp>
      <p:sp>
        <p:nvSpPr>
          <p:cNvPr id="15" name="TextBox 14"/>
          <p:cNvSpPr txBox="1"/>
          <p:nvPr/>
        </p:nvSpPr>
        <p:spPr>
          <a:xfrm>
            <a:off x="2578512" y="3738371"/>
            <a:ext cx="849761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nom. On ne dit pas qui n'a pas entretenu.</a:t>
            </a:r>
          </a:p>
        </p:txBody>
      </p:sp>
      <p:sp>
        <p:nvSpPr>
          <p:cNvPr id="16" name="Rounded Rectangle 15"/>
          <p:cNvSpPr/>
          <p:nvPr/>
        </p:nvSpPr>
        <p:spPr>
          <a:xfrm>
            <a:off x="566928" y="4323079"/>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1"/>
            <a:ext cx="1645824"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NORMAND</a:t>
            </a:r>
          </a:p>
        </p:txBody>
      </p:sp>
      <p:sp>
        <p:nvSpPr>
          <p:cNvPr id="18" name="TextBox 17"/>
          <p:cNvSpPr txBox="1"/>
          <p:nvPr/>
        </p:nvSpPr>
        <p:spPr>
          <a:xfrm>
            <a:off x="2578512" y="4487671"/>
            <a:ext cx="8497614"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Exactement. C'est le passif, et dans ce métier il travaille tout le temps. La phrase ne met personne en cause à voix haute, mais l'exclusion, elle, s'applique à vous.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documents, deux tuyaux</a:t>
            </a:r>
          </a:p>
        </p:txBody>
      </p:sp>
      <p:sp>
        <p:nvSpPr>
          <p:cNvPr id="7" name="Rounded Rectangle 6"/>
          <p:cNvSpPr/>
          <p:nvPr/>
        </p:nvSpPr>
        <p:spPr>
          <a:xfrm>
            <a:off x="566928" y="1737360"/>
            <a:ext cx="11057839" cy="595884"/>
          </a:xfrm>
          <a:prstGeom prst="roundRect">
            <a:avLst>
              <a:gd name="adj" fmla="val 24552"/>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45824" cy="321563"/>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NORMAND</a:t>
            </a:r>
          </a:p>
        </p:txBody>
      </p:sp>
      <p:sp>
        <p:nvSpPr>
          <p:cNvPr id="9" name="TextBox 8"/>
          <p:cNvSpPr txBox="1"/>
          <p:nvPr/>
        </p:nvSpPr>
        <p:spPr>
          <a:xfrm>
            <a:off x="2578512" y="1901952"/>
            <a:ext cx="8497614" cy="321563"/>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Leur rapport parle d'une obstruction du drain de fondation, pas du drain de plancher.</a:t>
            </a:r>
          </a:p>
        </p:txBody>
      </p:sp>
      <p:sp>
        <p:nvSpPr>
          <p:cNvPr id="10" name="Rounded Rectangle 9"/>
          <p:cNvSpPr/>
          <p:nvPr/>
        </p:nvSpPr>
        <p:spPr>
          <a:xfrm>
            <a:off x="566928" y="2415540"/>
            <a:ext cx="11057839" cy="595884"/>
          </a:xfrm>
          <a:prstGeom prst="roundRect">
            <a:avLst>
              <a:gd name="adj" fmla="val 24552"/>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580132"/>
            <a:ext cx="1645824" cy="321563"/>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TEODORA</a:t>
            </a:r>
          </a:p>
        </p:txBody>
      </p:sp>
      <p:sp>
        <p:nvSpPr>
          <p:cNvPr id="12" name="TextBox 11"/>
          <p:cNvSpPr txBox="1"/>
          <p:nvPr/>
        </p:nvSpPr>
        <p:spPr>
          <a:xfrm>
            <a:off x="2578512" y="2580132"/>
            <a:ext cx="8497614" cy="321563"/>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Ce n'est pas la même chose ?</a:t>
            </a:r>
          </a:p>
        </p:txBody>
      </p:sp>
      <p:sp>
        <p:nvSpPr>
          <p:cNvPr id="13" name="Rounded Rectangle 12"/>
          <p:cNvSpPr/>
          <p:nvPr/>
        </p:nvSpPr>
        <p:spPr>
          <a:xfrm>
            <a:off x="566928" y="3093720"/>
            <a:ext cx="11057839" cy="1129284"/>
          </a:xfrm>
          <a:prstGeom prst="roundRect">
            <a:avLst>
              <a:gd name="adj" fmla="val 1295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258312"/>
            <a:ext cx="1645824" cy="854963"/>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NORMAND</a:t>
            </a:r>
          </a:p>
        </p:txBody>
      </p:sp>
      <p:sp>
        <p:nvSpPr>
          <p:cNvPr id="15" name="TextBox 14"/>
          <p:cNvSpPr txBox="1"/>
          <p:nvPr/>
        </p:nvSpPr>
        <p:spPr>
          <a:xfrm>
            <a:off x="2578512" y="3258312"/>
            <a:ext cx="8497614" cy="854963"/>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Pas du tout. Le drain de fondation est dehors, au pied des murs. Le drain de plancher est dedans. La lettre de refus parle du drain de plancher, le rapport parle du drain de fondation.</a:t>
            </a:r>
          </a:p>
        </p:txBody>
      </p:sp>
      <p:sp>
        <p:nvSpPr>
          <p:cNvPr id="16" name="Rounded Rectangle 15"/>
          <p:cNvSpPr/>
          <p:nvPr/>
        </p:nvSpPr>
        <p:spPr>
          <a:xfrm>
            <a:off x="566928" y="4305300"/>
            <a:ext cx="11057839" cy="595884"/>
          </a:xfrm>
          <a:prstGeom prst="roundRect">
            <a:avLst>
              <a:gd name="adj" fmla="val 24552"/>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69891"/>
            <a:ext cx="1645824" cy="321563"/>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TEODORA</a:t>
            </a:r>
          </a:p>
        </p:txBody>
      </p:sp>
      <p:sp>
        <p:nvSpPr>
          <p:cNvPr id="18" name="TextBox 17"/>
          <p:cNvSpPr txBox="1"/>
          <p:nvPr/>
        </p:nvSpPr>
        <p:spPr>
          <a:xfrm>
            <a:off x="2578512" y="4469891"/>
            <a:ext cx="8497614" cy="321563"/>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Je n'avais pas fait attention.</a:t>
            </a:r>
          </a:p>
        </p:txBody>
      </p:sp>
      <p:sp>
        <p:nvSpPr>
          <p:cNvPr id="19" name="Rounded Rectangle 18"/>
          <p:cNvSpPr/>
          <p:nvPr/>
        </p:nvSpPr>
        <p:spPr>
          <a:xfrm>
            <a:off x="566928" y="4983479"/>
            <a:ext cx="11057839" cy="862584"/>
          </a:xfrm>
          <a:prstGeom prst="roundRect">
            <a:avLst>
              <a:gd name="adj" fmla="val 1696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148071"/>
            <a:ext cx="1645824" cy="588264"/>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NORMAND</a:t>
            </a:r>
          </a:p>
        </p:txBody>
      </p:sp>
      <p:sp>
        <p:nvSpPr>
          <p:cNvPr id="21" name="TextBox 20"/>
          <p:cNvSpPr txBox="1"/>
          <p:nvPr/>
        </p:nvSpPr>
        <p:spPr>
          <a:xfrm>
            <a:off x="2578512" y="5148071"/>
            <a:ext cx="8497614" cy="588264"/>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C'est là qu'est votre dossier, madame Vlaicu. Deux documents du même assureur qui ne parlent pas du même tuyau.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UNE DÉDUCTION SE RECONNAÎT À SES PRÉCAUTIONS</a:t>
            </a:r>
          </a:p>
        </p:txBody>
      </p:sp>
      <p:sp>
        <p:nvSpPr>
          <p:cNvPr id="6" name="Rounded Rectangle 5"/>
          <p:cNvSpPr/>
          <p:nvPr/>
        </p:nvSpPr>
        <p:spPr>
          <a:xfrm>
            <a:off x="566928" y="1225296"/>
            <a:ext cx="11057839" cy="3238500"/>
          </a:xfrm>
          <a:prstGeom prst="roundRect">
            <a:avLst>
              <a:gd name="adj" fmla="val 451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415540"/>
          </a:xfrm>
          <a:prstGeom prst="rect">
            <a:avLst/>
          </a:prstGeom>
          <a:noFill/>
        </p:spPr>
        <p:txBody>
          <a:bodyPr wrap="square" lIns="0" rIns="0" tIns="0" bIns="0" anchor="t">
            <a:spAutoFit/>
          </a:bodyPr>
          <a:lstStyle/>
          <a:p>
            <a:pPr algn="l">
              <a:lnSpc>
                <a:spcPct val="122000"/>
              </a:lnSpc>
            </a:pPr>
            <a:r>
              <a:rPr sz="3000" b="1" i="0">
                <a:solidFill>
                  <a:srgbClr val="17181A"/>
                </a:solidFill>
                <a:latin typeface="Verdana"/>
              </a:rPr>
              <a:t>« Il appert que », « laisse supposer », « pourrait résulter de », « selon toute vraisemblance » : un rapport qui accumule ces formules ne raconte pas ce qu'on a vu. Il propose une explication.</a:t>
            </a:r>
          </a:p>
        </p:txBody>
      </p:sp>
      <p:sp>
        <p:nvSpPr>
          <p:cNvPr id="8" name="Rounded Rectangle 7"/>
          <p:cNvSpPr/>
          <p:nvPr/>
        </p:nvSpPr>
        <p:spPr>
          <a:xfrm>
            <a:off x="566928" y="4738116"/>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5012436"/>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Et une explication se discute avec une autre explication — ou mieux, avec un constat. Une caméra passée dans le tuyau vaut dix « il appert que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familles de verbes</a:t>
            </a:r>
          </a:p>
        </p:txBody>
      </p:sp>
      <p:sp>
        <p:nvSpPr>
          <p:cNvPr id="7" name="Rounded Rectangle 6"/>
          <p:cNvSpPr/>
          <p:nvPr/>
        </p:nvSpPr>
        <p:spPr>
          <a:xfrm>
            <a:off x="566928" y="1810512"/>
            <a:ext cx="11057839" cy="2862072"/>
          </a:xfrm>
          <a:prstGeom prst="roundRect">
            <a:avLst>
              <a:gd name="adj" fmla="val 511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FAMILLE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FORMULES</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Vu</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j'ai constaté · j'ai mesuré · j'ai photographié · j'ai relevé</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Dit</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selon l'assurée · il m'a été rapporté · le service rapporte</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Déduit</a:t>
            </a:r>
          </a:p>
        </p:txBody>
      </p:sp>
      <p:sp>
        <p:nvSpPr>
          <p:cNvPr id="17" name="TextBox 16"/>
          <p:cNvSpPr txBox="1"/>
          <p:nvPr/>
        </p:nvSpPr>
        <p:spPr>
          <a:xfrm>
            <a:off x="4443636" y="4078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appert que · tout indique que · la cause probable est</a:t>
            </a:r>
          </a:p>
        </p:txBody>
      </p:sp>
      <p:sp>
        <p:nvSpPr>
          <p:cNvPr id="18" name="Rounded Rectangle 17"/>
          <p:cNvSpPr/>
          <p:nvPr/>
        </p:nvSpPr>
        <p:spPr>
          <a:xfrm>
            <a:off x="566928" y="4910328"/>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166360"/>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Seule la première famille engage la signature de l'expert.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la rencontre avec l'expert.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que l'expert a vu de ses yeux est le plus difficile à contester.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Il appert que » annonce un constat.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phrase « le drain n'aurait pas été entretenu » nomme la personne en cause.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lettre et le rapport parlent tous les deux du drain de plancher.</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drain de fondation se trouve à l'extérieur, au pied des murs.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Monsieur Lauzière s'engage à écrire un rapport favorable à Teodora.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que l'expert a vu de ses yeux est le plus difficile à contester.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Il appert que » annonce un constat.   </a:t>
            </a:r>
            <a:r>
              <a:rPr sz="1400" b="1" i="0">
                <a:solidFill>
                  <a:srgbClr val="07734A"/>
                </a:solidFill>
                <a:latin typeface="Verdana"/>
              </a:rPr>
              <a:t>» faux - une déduction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phrase « le drain n'aurait pas été entretenu » nomme la personne en cause.   </a:t>
            </a:r>
            <a:r>
              <a:rPr sz="1400" b="1" i="0">
                <a:solidFill>
                  <a:srgbClr val="07734A"/>
                </a:solidFill>
                <a:latin typeface="Verdana"/>
              </a:rPr>
              <a:t>» faux - le passif l'efface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lettre et le rapport parlent tous les deux du drain de plancher.   </a:t>
            </a:r>
            <a:r>
              <a:rPr sz="1400" b="1" i="0">
                <a:solidFill>
                  <a:srgbClr val="07734A"/>
                </a:solidFill>
                <a:latin typeface="Verdana"/>
              </a:rPr>
              <a:t>» faux - la lettre seulement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drain de fondation se trouve à l'extérieur, au pied des murs.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Monsieur Lauzière s'engage à écrire un rapport favorable à Teodora.   </a:t>
            </a:r>
            <a:r>
              <a:rPr sz="1400" b="1" i="0">
                <a:solidFill>
                  <a:srgbClr val="07734A"/>
                </a:solidFill>
                <a:latin typeface="Verdana"/>
              </a:rPr>
              <a:t>» faux - il écrit ce qu'il voit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Cherchez dans le rapport du module une phrase de chaque famille.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qui commence par « j'ai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qui commence par « selon ».</a:t>
            </a:r>
          </a:p>
        </p:txBody>
      </p:sp>
      <p:sp>
        <p:nvSpPr>
          <p:cNvPr id="12" name="Rounded Rectangle 11"/>
          <p:cNvSpPr/>
          <p:nvPr/>
        </p:nvSpPr>
        <p:spPr>
          <a:xfrm>
            <a:off x="566928" y="5429504"/>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584952"/>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qui contient « il appert » ou « laisse supposer ».</a:t>
            </a:r>
          </a:p>
        </p:txBody>
      </p:sp>
      <p:sp>
        <p:nvSpPr>
          <p:cNvPr id="14" name="TextBox 13"/>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Faire renverser une décision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