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C, et la forme grammaticale la plus utile du module. Annoncer d'emblée ce qu'elle permet : faire tomber un argument sans rien nier et sans mettre personne en cause.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qu'on oublie et sans lequel toute la démonstration s'effondre : une hypothèse seule n'est qu'une supposition.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le cœur de la séance : on n'a rien contredit. On a accepté l'affirmation de l'expert et on a montré où elle mène. Le faire dire par le groupe avant de l'expliquer.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répéter les deux montages en chœur, une fois. Ils tiennent en dix mots et ils servent partout.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deux premières lignes sont sur le présent, les trois autres sur le passé. Faire trouver la coupure au groupe avant de la dire.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deuxième moitié de la technique, et celle que tout le monde oublie. La faire écrire.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est le test : c'est celui où l'on est tenté d'écrire « aurait été » après « si ». Le laisser se produire, puis corriger.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niveau 8 demande de les reconnaître, pas nécessairement de les produire. Faire relever la troisième dans le module : elle y 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reformuler la différence par un élève avant de conclure la séance. C'est l'idée la plus transférable du module.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phrases entrent telles quelles dans la lettre du bloc E. À la fin du bloc C, chaque élève a donc écrit sa concession et son hypothèse : la moitié de sa lettre est faite.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C4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L'hypothèse irréelle, l'arme tranquille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Contredire quelqu'un l'oblige à se défendre. L'hypothèse irréelle accepte ce qu'il affirme, en déroule la conséquence, et laisse voir qu'elle ne s'est pas produite.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renverser une décision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les deux montages : sur le présent, sur le passé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n'employer jamais le conditionnel après « si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ajouter le fait qui montre que la conséquence est absente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une condition exprimée sans « si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RAISONNEMENT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Si le drain avait été bouché depuis des années, que se serait-il passé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L'eau serait-elle montée seulement le 14 septembre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se serait-il passé aux grosses pluies des années précédentes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arrivé ? Comment le sait-on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vient de contredire l'expert, ou de faire autre chose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DEUX MONTAGES, ET ON NE LES MÉLANGE PAS</a:t>
            </a:r>
          </a:p>
        </p:txBody>
      </p:sp>
      <p:sp>
        <p:nvSpPr>
          <p:cNvPr id="6" name="Rounded Rectangle 5"/>
          <p:cNvSpPr/>
          <p:nvPr/>
        </p:nvSpPr>
        <p:spPr>
          <a:xfrm>
            <a:off x="566928" y="1225296"/>
            <a:ext cx="11057839" cy="2897632"/>
          </a:xfrm>
          <a:prstGeom prst="roundRect">
            <a:avLst>
              <a:gd name="adj" fmla="val 5049"/>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74671"/>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Sur le présent : si + imparfait, puis conditionnel présent. Sur le passé : si + plus-que-parfait, puis conditionnel passé.</a:t>
            </a:r>
          </a:p>
        </p:txBody>
      </p:sp>
      <p:sp>
        <p:nvSpPr>
          <p:cNvPr id="8" name="Rounded Rectangle 7"/>
          <p:cNvSpPr/>
          <p:nvPr/>
        </p:nvSpPr>
        <p:spPr>
          <a:xfrm>
            <a:off x="566928" y="439724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7156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Jamais de conditionnel après « si ». C'est la faute la plus connue du français et la plus vite remarquée : « si j'aurais su » se corrige en une seconde et se remarque en moins que ça.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FORMES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condition et sa conséquence</a:t>
            </a:r>
          </a:p>
        </p:txBody>
      </p:sp>
      <p:sp>
        <p:nvSpPr>
          <p:cNvPr id="7" name="Rounded Rectangle 6"/>
          <p:cNvSpPr/>
          <p:nvPr/>
        </p:nvSpPr>
        <p:spPr>
          <a:xfrm>
            <a:off x="566928" y="1810512"/>
            <a:ext cx="11057839" cy="3974592"/>
          </a:xfrm>
          <a:prstGeom prst="roundRect">
            <a:avLst>
              <a:gd name="adj" fmla="val 368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 (LA CONDITION)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(LA CONSÉQUENCE)</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Si j'étais couverte</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je recevrais l'indemnité</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Si la lettre nommait le bon drain</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décision se comprendrait mieux</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Si le drain avait été bouché</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l'eau serait remontée bien avant</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Si on m'avait demandé la facture</a:t>
            </a:r>
          </a:p>
        </p:txBody>
      </p:sp>
      <p:sp>
        <p:nvSpPr>
          <p:cNvPr id="20" name="TextBox 19"/>
          <p:cNvSpPr txBox="1"/>
          <p:nvPr/>
        </p:nvSpPr>
        <p:spPr>
          <a:xfrm>
            <a:off x="4443636" y="418185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je l'aurais envoyée le premier jour</a:t>
            </a:r>
          </a:p>
        </p:txBody>
      </p:sp>
      <p:sp>
        <p:nvSpPr>
          <p:cNvPr id="21" name="Rectangle 20"/>
          <p:cNvSpPr/>
          <p:nvPr/>
        </p:nvSpPr>
        <p:spPr>
          <a:xfrm>
            <a:off x="932688" y="48280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956048"/>
            <a:ext cx="3291492"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Si l'expert avait passé une caméra</a:t>
            </a:r>
          </a:p>
        </p:txBody>
      </p:sp>
      <p:sp>
        <p:nvSpPr>
          <p:cNvPr id="23" name="TextBox 22"/>
          <p:cNvSpPr txBox="1"/>
          <p:nvPr/>
        </p:nvSpPr>
        <p:spPr>
          <a:xfrm>
            <a:off x="4443636" y="495604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il aurait vu que le drain était libre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UNE HYPOTHÈSE SEULE NE PROUVE RIEN</a:t>
            </a:r>
          </a:p>
        </p:txBody>
      </p:sp>
      <p:sp>
        <p:nvSpPr>
          <p:cNvPr id="6" name="Rounded Rectangle 5"/>
          <p:cNvSpPr/>
          <p:nvPr/>
        </p:nvSpPr>
        <p:spPr>
          <a:xfrm>
            <a:off x="566928" y="1225296"/>
            <a:ext cx="11057839" cy="3238500"/>
          </a:xfrm>
          <a:prstGeom prst="roundRect">
            <a:avLst>
              <a:gd name="adj" fmla="val 4517"/>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415540"/>
          </a:xfrm>
          <a:prstGeom prst="rect">
            <a:avLst/>
          </a:prstGeom>
          <a:noFill/>
        </p:spPr>
        <p:txBody>
          <a:bodyPr wrap="square" lIns="0" rIns="0" tIns="0" bIns="0" anchor="t">
            <a:spAutoFit/>
          </a:bodyPr>
          <a:lstStyle/>
          <a:p>
            <a:pPr algn="l">
              <a:lnSpc>
                <a:spcPct val="122000"/>
              </a:lnSpc>
            </a:pPr>
            <a:r>
              <a:rPr sz="3000" b="1" i="0">
                <a:solidFill>
                  <a:srgbClr val="17181A"/>
                </a:solidFill>
                <a:latin typeface="Verdana"/>
              </a:rPr>
              <a:t>« Si le drain avait été bouché depuis des années, l'eau serait remontée bien avant. » Il manque une phrase, et c'est elle qui fait l'argument : « et aucune remontée n'est survenue depuis 2019. »</a:t>
            </a:r>
          </a:p>
        </p:txBody>
      </p:sp>
      <p:sp>
        <p:nvSpPr>
          <p:cNvPr id="8" name="Rounded Rectangle 7"/>
          <p:cNvSpPr/>
          <p:nvPr/>
        </p:nvSpPr>
        <p:spPr>
          <a:xfrm>
            <a:off x="566928" y="4738116"/>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5012436"/>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Sans le fait qui constate l'absence de la conséquence, vous n'avez énoncé qu'une supposition — et une supposition ne se verse à aucun dossier.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Mettez le verbe au temps de l'irréel</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Rien de tout cela ne s'est produit.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drain avait été bouché depuis des années, l'eau ___ (remonter) bien avant.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on m'avait demandé la facture, je l'___ (envoyer) le premier jour.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l'expert avait passé une caméra, il ___ (voir) que le drain était libre.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l'obstruction ___ (être) progressive, elle aurait laissé des traces.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j'étais couverte pour ce sinistre, je ___ (recevoir) dix-huit mille quatre cents dollars.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service avait examiné la contre-expertise, il ___ (rouvrir) le dossier.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Mettez le verbe au temps de l'irréel</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drain avait été bouché depuis des années, l'eau ___ (remonter) bien avant.   </a:t>
            </a:r>
            <a:r>
              <a:rPr sz="1400" b="1" i="0">
                <a:solidFill>
                  <a:srgbClr val="07734A"/>
                </a:solidFill>
                <a:latin typeface="Verdana"/>
              </a:rPr>
              <a:t>» serait remontée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on m'avait demandé la facture, je l'___ (envoyer) le premier jour.   </a:t>
            </a:r>
            <a:r>
              <a:rPr sz="1400" b="1" i="0">
                <a:solidFill>
                  <a:srgbClr val="07734A"/>
                </a:solidFill>
                <a:latin typeface="Verdana"/>
              </a:rPr>
              <a:t>» aurais envoyée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l'expert avait passé une caméra, il ___ (voir) que le drain était libre.   </a:t>
            </a:r>
            <a:r>
              <a:rPr sz="1400" b="1" i="0">
                <a:solidFill>
                  <a:srgbClr val="07734A"/>
                </a:solidFill>
                <a:latin typeface="Verdana"/>
              </a:rPr>
              <a:t>» aurait vu</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l'obstruction ___ (être) progressive, elle aurait laissé des traces.   </a:t>
            </a:r>
            <a:r>
              <a:rPr sz="1400" b="1" i="0">
                <a:solidFill>
                  <a:srgbClr val="07734A"/>
                </a:solidFill>
                <a:latin typeface="Verdana"/>
              </a:rPr>
              <a:t>» avait été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j'étais couverte pour ce sinistre, je ___ (recevoir) dix-huit mille quatre cents dollars.   </a:t>
            </a:r>
            <a:r>
              <a:rPr sz="1400" b="1" i="0">
                <a:solidFill>
                  <a:srgbClr val="07734A"/>
                </a:solidFill>
                <a:latin typeface="Verdana"/>
              </a:rPr>
              <a:t>» recevrais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Si le service avait examiné la contre-expertise, il ___ (rouvrir) le dossier.   </a:t>
            </a:r>
            <a:r>
              <a:rPr sz="1400" b="1" i="0">
                <a:solidFill>
                  <a:srgbClr val="07734A"/>
                </a:solidFill>
                <a:latin typeface="Verdana"/>
              </a:rPr>
              <a:t>» aurait rouvert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condition sans « si »</a:t>
            </a:r>
          </a:p>
        </p:txBody>
      </p:sp>
      <p:sp>
        <p:nvSpPr>
          <p:cNvPr id="7" name="Rounded Rectangle 6"/>
          <p:cNvSpPr/>
          <p:nvPr/>
        </p:nvSpPr>
        <p:spPr>
          <a:xfrm>
            <a:off x="566928" y="181051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Par un gérondif</a:t>
            </a:r>
          </a:p>
        </p:txBody>
      </p:sp>
      <p:sp>
        <p:nvSpPr>
          <p:cNvPr id="9" name="TextBox 8"/>
          <p:cNvSpPr txBox="1"/>
          <p:nvPr/>
        </p:nvSpPr>
        <p:spPr>
          <a:xfrm>
            <a:off x="886968" y="2349500"/>
            <a:ext cx="10417759"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En passant une caméra, on aurait su tout de suite. » La condition est dans le gérondif, et la conséquence au conditionnel passé.</a:t>
            </a:r>
          </a:p>
        </p:txBody>
      </p:sp>
      <p:sp>
        <p:nvSpPr>
          <p:cNvPr id="10" name="Rounded Rectangle 9"/>
          <p:cNvSpPr/>
          <p:nvPr/>
        </p:nvSpPr>
        <p:spPr>
          <a:xfrm>
            <a:off x="566928" y="328879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3563112"/>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Par un infinitif</a:t>
            </a:r>
          </a:p>
        </p:txBody>
      </p:sp>
      <p:sp>
        <p:nvSpPr>
          <p:cNvPr id="12" name="TextBox 11"/>
          <p:cNvSpPr txBox="1"/>
          <p:nvPr/>
        </p:nvSpPr>
        <p:spPr>
          <a:xfrm>
            <a:off x="886968" y="3827780"/>
            <a:ext cx="10417759"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À lire le rapport, on comprend l'inverse de la lettre. » Forme soutenue, fréquente à l'écrit administratif.</a:t>
            </a:r>
          </a:p>
        </p:txBody>
      </p:sp>
      <p:sp>
        <p:nvSpPr>
          <p:cNvPr id="13" name="Rounded Rectangle 12"/>
          <p:cNvSpPr/>
          <p:nvPr/>
        </p:nvSpPr>
        <p:spPr>
          <a:xfrm>
            <a:off x="566928" y="4767072"/>
            <a:ext cx="11057839"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5041391"/>
            <a:ext cx="10417759" cy="237236"/>
          </a:xfrm>
          <a:prstGeom prst="rect">
            <a:avLst/>
          </a:prstGeom>
          <a:noFill/>
        </p:spPr>
        <p:txBody>
          <a:bodyPr wrap="square" lIns="0" rIns="0" tIns="0" bIns="0" anchor="t">
            <a:spAutoFit/>
          </a:bodyPr>
          <a:lstStyle/>
          <a:p>
            <a:pPr algn="l">
              <a:lnSpc>
                <a:spcPct val="118000"/>
              </a:lnSpc>
            </a:pPr>
            <a:r>
              <a:rPr sz="1400" b="1" i="0">
                <a:solidFill>
                  <a:srgbClr val="0D7A6F"/>
                </a:solidFill>
                <a:latin typeface="Verdana"/>
              </a:rPr>
              <a:t>Par un conditionnel seul</a:t>
            </a:r>
          </a:p>
        </p:txBody>
      </p:sp>
      <p:sp>
        <p:nvSpPr>
          <p:cNvPr id="15" name="TextBox 14"/>
          <p:cNvSpPr txBox="1"/>
          <p:nvPr/>
        </p:nvSpPr>
        <p:spPr>
          <a:xfrm>
            <a:off x="886968" y="5306060"/>
            <a:ext cx="10417759"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 Un drain bouché depuis dix ans aurait débordé plus tôt. » La condition n'est même pas énoncée : elle est contenue dans le sujet. C'est la plus élégante des trois.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IRRÉEL DU PASSÉ</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Se contenter de dire « ce n'est pas vrai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Dérouler ce qui serait arrivé, puis constater que ce n'est pas arrivé</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Nier oblige l'autre à se défendre, et une contestation qui nie quatre pages d'expertise se lit comme un refus de comprendre. L'hypothèse irréelle fait exactement l'inverse : elle accepte l'affirmation de l'expert, en tire la conséquence logique, et montre que le monde ne s'est pas comporté ainsi. Personne n'a été mis en cause, et l'argument est tombé tout seul.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phrases d'hypothèse irréelle sur le dossier de Teodora.</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première sur le passé : si… avait été…, … se serait produit.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seconde est le fait qui montre que ça ne s'est pas produit.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Faire renverser une décision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