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Dernière séance. Elle se coupe en deux : la lettre d'abord, une heure ; le bilan du module ensuite, un quart d'heure. Rappeler que les trois quarts de la lettre sont déjà écrits — billets de C3, C4 et D2.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troisième objectif est le seul point de langue neuf de la séance. Le reste est un assemblage de ce qui a été écrit dans les blocs C et 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l'exercice `t3rev` du module, le troisième de type `texte`. Il ne sert pas à comprendre un document administratif de plus : il fait lire, découpé par fonctions, le modèle du texte qu'on va écrire vingt minutes plus tard.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et plan de rédaction. Faire recopier la colonne de gauche : c'est le squelette de la lettre, en six mots.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C'est aussi un savoir de ponctuation du niveau : les deux points devant les guillemets d'un discours direct.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formes, et une seule est vraiment neuve pour le groupe : le futur antérieur. Les deux premières se retrouvent déjà dans les dialogues.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troisième est le piège : « avoir besoin de », « disposer de » appellent « ce dont », et la faute est très fréquente y compris chez les locuteurs natifs.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Deuxième piège à nommer si le temps le permet : raconter toute l'histoire depuis le début. Le lecteur a le dossier sous les yeux ; ce qu'il n'a pas, c'est ce que vous apportez de neuf.</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C'est la consigne de rédaction complète ; elle est aussi dans le module, en cases à cocher.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lire quelques réponses à voix haute avant de fermer le module. L'autoévaluation en dix-huit énoncés se fait ensuite dans « Je retiens des mots », chacun à son rythme.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SÉANCE E2  ·  MODULE 4</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La lettre qui demande qu'on recommence</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Ce n'est ni une plainte ni une lettre de colère. C'est une demande adressée à une entreprise pour qu'elle réexamine une décision, avec des raisons qu'elle n'avait pas.</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Faire renverser une décision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rappeler un dossier en une ligne, avec ses trois dates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citer le motif dans les mots de l'assureur, puis le retourner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mettre en avant l'essentiel : ce que je conteste, c'est…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faire le bilan de ce qu'on sait faire à la fin du module.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LECTURE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900" b="1" i="0">
                <a:solidFill>
                  <a:srgbClr val="17181A"/>
                </a:solidFill>
                <a:latin typeface="Verdana"/>
              </a:rPr>
              <a:t>Voici la lettre modèle. Que fait chaque paragraphe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Lequel rattache la lettre au bon dossier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Lequel cite l'assureur, entre guillemets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Lequel concède quelque chose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Lequel demande, et combien de demandes contient-il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PLAN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que fait chaque paragraphe</a:t>
            </a:r>
          </a:p>
        </p:txBody>
      </p:sp>
      <p:sp>
        <p:nvSpPr>
          <p:cNvPr id="7" name="Rounded Rectangle 6"/>
          <p:cNvSpPr/>
          <p:nvPr/>
        </p:nvSpPr>
        <p:spPr>
          <a:xfrm>
            <a:off x="566928" y="1810512"/>
            <a:ext cx="11057839" cy="4061460"/>
          </a:xfrm>
          <a:prstGeom prst="roundRect">
            <a:avLst>
              <a:gd name="adj" fmla="val 36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SON TRAVAIL</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MODÈLE</a:t>
            </a:r>
          </a:p>
        </p:txBody>
      </p:sp>
      <p:sp>
        <p:nvSpPr>
          <p:cNvPr id="10" name="TextBox 9"/>
          <p:cNvSpPr txBox="1"/>
          <p:nvPr/>
        </p:nvSpPr>
        <p:spPr>
          <a:xfrm>
            <a:off x="932688" y="2395728"/>
            <a:ext cx="3291492" cy="321564"/>
          </a:xfrm>
          <a:prstGeom prst="rect">
            <a:avLst/>
          </a:prstGeom>
          <a:noFill/>
        </p:spPr>
        <p:txBody>
          <a:bodyPr wrap="square" lIns="0" rIns="0" tIns="0" bIns="0" anchor="t">
            <a:spAutoFit/>
          </a:bodyPr>
          <a:lstStyle/>
          <a:p>
            <a:pPr algn="l">
              <a:lnSpc>
                <a:spcPct val="132000"/>
              </a:lnSpc>
            </a:pPr>
            <a:r>
              <a:rPr sz="1700" b="1" i="0">
                <a:solidFill>
                  <a:srgbClr val="A5335F"/>
                </a:solidFill>
                <a:latin typeface="Verdana"/>
              </a:rPr>
              <a:t>Rattacher</a:t>
            </a:r>
          </a:p>
        </p:txBody>
      </p:sp>
      <p:sp>
        <p:nvSpPr>
          <p:cNvPr id="11" name="TextBox 10"/>
          <p:cNvSpPr txBox="1"/>
          <p:nvPr/>
        </p:nvSpPr>
        <p:spPr>
          <a:xfrm>
            <a:off x="4443636" y="2395728"/>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Objet : demande de révision — dossier, sinistre, décision</a:t>
            </a:r>
          </a:p>
        </p:txBody>
      </p:sp>
      <p:sp>
        <p:nvSpPr>
          <p:cNvPr id="12" name="Rectangle 11"/>
          <p:cNvSpPr/>
          <p:nvPr/>
        </p:nvSpPr>
        <p:spPr>
          <a:xfrm>
            <a:off x="932688" y="279044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18460"/>
            <a:ext cx="3291492" cy="606552"/>
          </a:xfrm>
          <a:prstGeom prst="rect">
            <a:avLst/>
          </a:prstGeom>
          <a:noFill/>
        </p:spPr>
        <p:txBody>
          <a:bodyPr wrap="square" lIns="0" rIns="0" tIns="0" bIns="0" anchor="t">
            <a:spAutoFit/>
          </a:bodyPr>
          <a:lstStyle/>
          <a:p>
            <a:pPr algn="l">
              <a:lnSpc>
                <a:spcPct val="132000"/>
              </a:lnSpc>
            </a:pPr>
            <a:r>
              <a:rPr sz="1700" b="1" i="0">
                <a:solidFill>
                  <a:srgbClr val="A5335F"/>
                </a:solidFill>
                <a:latin typeface="Verdana"/>
              </a:rPr>
              <a:t>Annoncer</a:t>
            </a:r>
          </a:p>
        </p:txBody>
      </p:sp>
      <p:sp>
        <p:nvSpPr>
          <p:cNvPr id="14" name="TextBox 13"/>
          <p:cNvSpPr txBox="1"/>
          <p:nvPr/>
        </p:nvSpPr>
        <p:spPr>
          <a:xfrm>
            <a:off x="4443636" y="2918460"/>
            <a:ext cx="6595914" cy="606552"/>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Je vous adresse une demande de révision de la décision du…</a:t>
            </a:r>
          </a:p>
        </p:txBody>
      </p:sp>
      <p:sp>
        <p:nvSpPr>
          <p:cNvPr id="15" name="Rectangle 14"/>
          <p:cNvSpPr/>
          <p:nvPr/>
        </p:nvSpPr>
        <p:spPr>
          <a:xfrm>
            <a:off x="932688" y="359816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726180"/>
            <a:ext cx="3291492" cy="321564"/>
          </a:xfrm>
          <a:prstGeom prst="rect">
            <a:avLst/>
          </a:prstGeom>
          <a:noFill/>
        </p:spPr>
        <p:txBody>
          <a:bodyPr wrap="square" lIns="0" rIns="0" tIns="0" bIns="0" anchor="t">
            <a:spAutoFit/>
          </a:bodyPr>
          <a:lstStyle/>
          <a:p>
            <a:pPr algn="l">
              <a:lnSpc>
                <a:spcPct val="132000"/>
              </a:lnSpc>
            </a:pPr>
            <a:r>
              <a:rPr sz="1700" b="1" i="0">
                <a:solidFill>
                  <a:srgbClr val="A5335F"/>
                </a:solidFill>
                <a:latin typeface="Verdana"/>
              </a:rPr>
              <a:t>Citer, puis retourner</a:t>
            </a:r>
          </a:p>
        </p:txBody>
      </p:sp>
      <p:sp>
        <p:nvSpPr>
          <p:cNvPr id="17" name="TextBox 16"/>
          <p:cNvSpPr txBox="1"/>
          <p:nvPr/>
        </p:nvSpPr>
        <p:spPr>
          <a:xfrm>
            <a:off x="4443636" y="3726180"/>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Votre lettre motive le refus ainsi : « … ». Or…</a:t>
            </a:r>
          </a:p>
        </p:txBody>
      </p:sp>
      <p:sp>
        <p:nvSpPr>
          <p:cNvPr id="18" name="Rectangle 17"/>
          <p:cNvSpPr/>
          <p:nvPr/>
        </p:nvSpPr>
        <p:spPr>
          <a:xfrm>
            <a:off x="932688" y="412089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248912"/>
            <a:ext cx="3291492" cy="321564"/>
          </a:xfrm>
          <a:prstGeom prst="rect">
            <a:avLst/>
          </a:prstGeom>
          <a:noFill/>
        </p:spPr>
        <p:txBody>
          <a:bodyPr wrap="square" lIns="0" rIns="0" tIns="0" bIns="0" anchor="t">
            <a:spAutoFit/>
          </a:bodyPr>
          <a:lstStyle/>
          <a:p>
            <a:pPr algn="l">
              <a:lnSpc>
                <a:spcPct val="132000"/>
              </a:lnSpc>
            </a:pPr>
            <a:r>
              <a:rPr sz="1700" b="1" i="0">
                <a:solidFill>
                  <a:srgbClr val="A5335F"/>
                </a:solidFill>
                <a:latin typeface="Verdana"/>
              </a:rPr>
              <a:t>Concéder</a:t>
            </a:r>
          </a:p>
        </p:txBody>
      </p:sp>
      <p:sp>
        <p:nvSpPr>
          <p:cNvPr id="20" name="TextBox 19"/>
          <p:cNvSpPr txBox="1"/>
          <p:nvPr/>
        </p:nvSpPr>
        <p:spPr>
          <a:xfrm>
            <a:off x="4443636" y="4248912"/>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Certes… ; il n'en reste pas moins que…</a:t>
            </a:r>
          </a:p>
        </p:txBody>
      </p:sp>
      <p:sp>
        <p:nvSpPr>
          <p:cNvPr id="21" name="Rectangle 20"/>
          <p:cNvSpPr/>
          <p:nvPr/>
        </p:nvSpPr>
        <p:spPr>
          <a:xfrm>
            <a:off x="932688" y="464362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771644"/>
            <a:ext cx="3291492" cy="321564"/>
          </a:xfrm>
          <a:prstGeom prst="rect">
            <a:avLst/>
          </a:prstGeom>
          <a:noFill/>
        </p:spPr>
        <p:txBody>
          <a:bodyPr wrap="square" lIns="0" rIns="0" tIns="0" bIns="0" anchor="t">
            <a:spAutoFit/>
          </a:bodyPr>
          <a:lstStyle/>
          <a:p>
            <a:pPr algn="l">
              <a:lnSpc>
                <a:spcPct val="132000"/>
              </a:lnSpc>
            </a:pPr>
            <a:r>
              <a:rPr sz="1700" b="1" i="0">
                <a:solidFill>
                  <a:srgbClr val="A5335F"/>
                </a:solidFill>
                <a:latin typeface="Verdana"/>
              </a:rPr>
              <a:t>Opposer</a:t>
            </a:r>
          </a:p>
        </p:txBody>
      </p:sp>
      <p:sp>
        <p:nvSpPr>
          <p:cNvPr id="23" name="TextBox 22"/>
          <p:cNvSpPr txBox="1"/>
          <p:nvPr/>
        </p:nvSpPr>
        <p:spPr>
          <a:xfrm>
            <a:off x="4443636" y="4771644"/>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Le drain a été nettoyé le 3 mai ; la facture est jointe.</a:t>
            </a:r>
          </a:p>
        </p:txBody>
      </p:sp>
      <p:sp>
        <p:nvSpPr>
          <p:cNvPr id="24" name="Rectangle 23"/>
          <p:cNvSpPr/>
          <p:nvPr/>
        </p:nvSpPr>
        <p:spPr>
          <a:xfrm>
            <a:off x="932688" y="516636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32688" y="5294376"/>
            <a:ext cx="3291492" cy="321564"/>
          </a:xfrm>
          <a:prstGeom prst="rect">
            <a:avLst/>
          </a:prstGeom>
          <a:noFill/>
        </p:spPr>
        <p:txBody>
          <a:bodyPr wrap="square" lIns="0" rIns="0" tIns="0" bIns="0" anchor="t">
            <a:spAutoFit/>
          </a:bodyPr>
          <a:lstStyle/>
          <a:p>
            <a:pPr algn="l">
              <a:lnSpc>
                <a:spcPct val="132000"/>
              </a:lnSpc>
            </a:pPr>
            <a:r>
              <a:rPr sz="1700" b="1" i="0">
                <a:solidFill>
                  <a:srgbClr val="A5335F"/>
                </a:solidFill>
                <a:latin typeface="Verdana"/>
              </a:rPr>
              <a:t>Demander</a:t>
            </a:r>
          </a:p>
        </p:txBody>
      </p:sp>
      <p:sp>
        <p:nvSpPr>
          <p:cNvPr id="26" name="TextBox 25"/>
          <p:cNvSpPr txBox="1"/>
          <p:nvPr/>
        </p:nvSpPr>
        <p:spPr>
          <a:xfrm>
            <a:off x="4443636" y="5294376"/>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Je demande que… que… et que…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LE MOTIF SE CITE, IL NE SE REFORMULE PAS</a:t>
            </a:r>
          </a:p>
        </p:txBody>
      </p:sp>
      <p:sp>
        <p:nvSpPr>
          <p:cNvPr id="6" name="Rounded Rectangle 5"/>
          <p:cNvSpPr/>
          <p:nvPr/>
        </p:nvSpPr>
        <p:spPr>
          <a:xfrm>
            <a:off x="566928" y="1225296"/>
            <a:ext cx="11057839" cy="2897632"/>
          </a:xfrm>
          <a:prstGeom prst="roundRect">
            <a:avLst>
              <a:gd name="adj" fmla="val 5049"/>
            </a:avLst>
          </a:prstGeom>
          <a:solidFill>
            <a:srgbClr val="FCE9F0"/>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2074671"/>
          </a:xfrm>
          <a:prstGeom prst="rect">
            <a:avLst/>
          </a:prstGeom>
          <a:noFill/>
        </p:spPr>
        <p:txBody>
          <a:bodyPr wrap="square" lIns="0" rIns="0" tIns="0" bIns="0" anchor="t">
            <a:spAutoFit/>
          </a:bodyPr>
          <a:lstStyle/>
          <a:p>
            <a:pPr algn="l">
              <a:lnSpc>
                <a:spcPct val="122000"/>
              </a:lnSpc>
            </a:pPr>
            <a:r>
              <a:rPr sz="3200" b="1" i="0">
                <a:solidFill>
                  <a:srgbClr val="17181A"/>
                </a:solidFill>
                <a:latin typeface="Verdana"/>
              </a:rPr>
              <a:t>Entre guillemets, précédés de deux points, dans les mots exacts de l'assureur. On ne conteste pas une décision qu'on aurait réécrite à sa façon.</a:t>
            </a:r>
          </a:p>
        </p:txBody>
      </p:sp>
      <p:sp>
        <p:nvSpPr>
          <p:cNvPr id="8" name="Rounded Rectangle 7"/>
          <p:cNvSpPr/>
          <p:nvPr/>
        </p:nvSpPr>
        <p:spPr>
          <a:xfrm>
            <a:off x="566928" y="439724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67156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 mot « Or » qui ouvre la phrase suivante est le pivot de toute la lettre : il annonce que ce qui vient contredit ce qu'on vient de citer. Un seul mot, et le lecteur sait où il va.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MISE EN RELIEF</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100" b="1" i="0">
                <a:solidFill>
                  <a:srgbClr val="17181A"/>
                </a:solidFill>
                <a:latin typeface="Verdana"/>
              </a:rPr>
              <a:t>Une seule phrase sera relue : choisissez laquelle</a:t>
            </a:r>
          </a:p>
        </p:txBody>
      </p:sp>
      <p:sp>
        <p:nvSpPr>
          <p:cNvPr id="7" name="Rounded Rectangle 6"/>
          <p:cNvSpPr/>
          <p:nvPr/>
        </p:nvSpPr>
        <p:spPr>
          <a:xfrm>
            <a:off x="566928" y="1810512"/>
            <a:ext cx="11057839"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10417759" cy="237236"/>
          </a:xfrm>
          <a:prstGeom prst="rect">
            <a:avLst/>
          </a:prstGeom>
          <a:noFill/>
        </p:spPr>
        <p:txBody>
          <a:bodyPr wrap="square" lIns="0" rIns="0" tIns="0" bIns="0" anchor="t">
            <a:spAutoFit/>
          </a:bodyPr>
          <a:lstStyle/>
          <a:p>
            <a:pPr algn="l">
              <a:lnSpc>
                <a:spcPct val="118000"/>
              </a:lnSpc>
            </a:pPr>
            <a:r>
              <a:rPr sz="1400" b="1" i="0">
                <a:solidFill>
                  <a:srgbClr val="A5335F"/>
                </a:solidFill>
                <a:latin typeface="Verdana"/>
              </a:rPr>
              <a:t>Ce qui / ce que / ce dont…, c'est</a:t>
            </a:r>
          </a:p>
        </p:txBody>
      </p:sp>
      <p:sp>
        <p:nvSpPr>
          <p:cNvPr id="9" name="TextBox 8"/>
          <p:cNvSpPr txBox="1"/>
          <p:nvPr/>
        </p:nvSpPr>
        <p:spPr>
          <a:xfrm>
            <a:off x="886968" y="2349500"/>
            <a:ext cx="10417759" cy="50037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 Ce que je conteste, c'est le motif, non le montant. » Le choix entre les trois dépend du verbe : étonner quelque chose, demander quelque chose, disposer DE quelque chose.</a:t>
            </a:r>
          </a:p>
        </p:txBody>
      </p:sp>
      <p:sp>
        <p:nvSpPr>
          <p:cNvPr id="10" name="Rounded Rectangle 9"/>
          <p:cNvSpPr/>
          <p:nvPr/>
        </p:nvSpPr>
        <p:spPr>
          <a:xfrm>
            <a:off x="566928" y="3288792"/>
            <a:ext cx="11057839"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86968" y="3563112"/>
            <a:ext cx="10417759" cy="237236"/>
          </a:xfrm>
          <a:prstGeom prst="rect">
            <a:avLst/>
          </a:prstGeom>
          <a:noFill/>
        </p:spPr>
        <p:txBody>
          <a:bodyPr wrap="square" lIns="0" rIns="0" tIns="0" bIns="0" anchor="t">
            <a:spAutoFit/>
          </a:bodyPr>
          <a:lstStyle/>
          <a:p>
            <a:pPr algn="l">
              <a:lnSpc>
                <a:spcPct val="118000"/>
              </a:lnSpc>
            </a:pPr>
            <a:r>
              <a:rPr sz="1400" b="1" i="0">
                <a:solidFill>
                  <a:srgbClr val="A5335F"/>
                </a:solidFill>
                <a:latin typeface="Verdana"/>
              </a:rPr>
              <a:t>C'est… qui / c'est… que</a:t>
            </a:r>
          </a:p>
        </p:txBody>
      </p:sp>
      <p:sp>
        <p:nvSpPr>
          <p:cNvPr id="12" name="TextBox 11"/>
          <p:cNvSpPr txBox="1"/>
          <p:nvPr/>
        </p:nvSpPr>
        <p:spPr>
          <a:xfrm>
            <a:off x="886968" y="3827780"/>
            <a:ext cx="10417759" cy="50037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 C'est le drain de fondation que le rapport décrit. » « Qui » si l'élément mis en avant est le sujet, « que » s'il est complément. Cette forme corrige sans contredire.</a:t>
            </a:r>
          </a:p>
        </p:txBody>
      </p:sp>
      <p:sp>
        <p:nvSpPr>
          <p:cNvPr id="13" name="Rounded Rectangle 12"/>
          <p:cNvSpPr/>
          <p:nvPr/>
        </p:nvSpPr>
        <p:spPr>
          <a:xfrm>
            <a:off x="566928" y="4767072"/>
            <a:ext cx="11057839"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5041391"/>
            <a:ext cx="10417759" cy="237236"/>
          </a:xfrm>
          <a:prstGeom prst="rect">
            <a:avLst/>
          </a:prstGeom>
          <a:noFill/>
        </p:spPr>
        <p:txBody>
          <a:bodyPr wrap="square" lIns="0" rIns="0" tIns="0" bIns="0" anchor="t">
            <a:spAutoFit/>
          </a:bodyPr>
          <a:lstStyle/>
          <a:p>
            <a:pPr algn="l">
              <a:lnSpc>
                <a:spcPct val="118000"/>
              </a:lnSpc>
            </a:pPr>
            <a:r>
              <a:rPr sz="1400" b="1" i="0">
                <a:solidFill>
                  <a:srgbClr val="A5335F"/>
                </a:solidFill>
                <a:latin typeface="Verdana"/>
              </a:rPr>
              <a:t>Le futur antérieur après « quand »</a:t>
            </a:r>
          </a:p>
        </p:txBody>
      </p:sp>
      <p:sp>
        <p:nvSpPr>
          <p:cNvPr id="15" name="TextBox 14"/>
          <p:cNvSpPr txBox="1"/>
          <p:nvPr/>
        </p:nvSpPr>
        <p:spPr>
          <a:xfrm>
            <a:off x="886968" y="5306060"/>
            <a:ext cx="10417759" cy="50037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 Quand vous aurez reçu ma lettre, le délai commencera à courir. » Deux futurs de suite ne diraient pas cet ordre-là. Très utile dans la dernière phrase.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GRAMMAIRE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Mettez en avant, et fixez l'ordre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Complétez.</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que je conteste, c'est le motif, non le montant.</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 ___ m'étonne, c'est qu'aucune caméra n'ait été passée.</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 ___ je dispose, c'est d'une facture acquittée.</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C'est le drain de fondation ___ le rapport décrit.</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C'est Plomberie Chartier ___ est intervenue le 3 mai.</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Quand vous ___ (recevoir) ma lettre, le délai commencera à courir.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Mettez en avant, et fixez l'ordre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que je conteste, c'est le motif, non le montant.   </a:t>
            </a:r>
            <a:r>
              <a:rPr sz="1400" b="1" i="0">
                <a:solidFill>
                  <a:srgbClr val="07734A"/>
                </a:solidFill>
                <a:latin typeface="Verdana"/>
              </a:rPr>
              <a:t>» Ce</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 ___ m'étonne, c'est qu'aucune caméra n'ait été passée.   </a:t>
            </a:r>
            <a:r>
              <a:rPr sz="1400" b="1" i="0">
                <a:solidFill>
                  <a:srgbClr val="07734A"/>
                </a:solidFill>
                <a:latin typeface="Verdana"/>
              </a:rPr>
              <a:t>» qui</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 ___ je dispose, c'est d'une facture acquittée.   </a:t>
            </a:r>
            <a:r>
              <a:rPr sz="1400" b="1" i="0">
                <a:solidFill>
                  <a:srgbClr val="07734A"/>
                </a:solidFill>
                <a:latin typeface="Verdana"/>
              </a:rPr>
              <a:t>» dont</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C'est le drain de fondation ___ le rapport décrit.   </a:t>
            </a:r>
            <a:r>
              <a:rPr sz="1400" b="1" i="0">
                <a:solidFill>
                  <a:srgbClr val="07734A"/>
                </a:solidFill>
                <a:latin typeface="Verdana"/>
              </a:rPr>
              <a:t>» que</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C'est Plomberie Chartier ___ est intervenue le 3 mai.   </a:t>
            </a:r>
            <a:r>
              <a:rPr sz="1400" b="1" i="0">
                <a:solidFill>
                  <a:srgbClr val="07734A"/>
                </a:solidFill>
                <a:latin typeface="Verdana"/>
              </a:rPr>
              <a:t>» qui</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Quand vous ___ (recevoir) ma lettre, le délai commencera à courir.   </a:t>
            </a:r>
            <a:r>
              <a:rPr sz="1400" b="1" i="0">
                <a:solidFill>
                  <a:srgbClr val="07734A"/>
                </a:solidFill>
                <a:latin typeface="Verdana"/>
              </a:rPr>
              <a:t>» aurez reçu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LETTRE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Menacer de poursuites dès la première lettre</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Rappeler le délai de soixante jours</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menace prématurée fait passer le dossier au service juridique, où il ralentit. Le délai, lui, oblige sans braquer : il dit à votre lecteur que la lettre sera relue à cette date-là, et il est écrit dans le règlement, pas dans votre colère.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DOUZE À SEIZE PHRASES, ET RIEN DE PLUS</a:t>
            </a:r>
          </a:p>
        </p:txBody>
      </p:sp>
      <p:sp>
        <p:nvSpPr>
          <p:cNvPr id="6" name="Rounded Rectangle 5"/>
          <p:cNvSpPr/>
          <p:nvPr/>
        </p:nvSpPr>
        <p:spPr>
          <a:xfrm>
            <a:off x="566928" y="1225296"/>
            <a:ext cx="11057839" cy="2525776"/>
          </a:xfrm>
          <a:prstGeom prst="roundRect">
            <a:avLst>
              <a:gd name="adj" fmla="val 5792"/>
            </a:avLst>
          </a:prstGeom>
          <a:solidFill>
            <a:srgbClr val="FCE9F0"/>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702816"/>
          </a:xfrm>
          <a:prstGeom prst="rect">
            <a:avLst/>
          </a:prstGeom>
          <a:noFill/>
        </p:spPr>
        <p:txBody>
          <a:bodyPr wrap="square" lIns="0" rIns="0" tIns="0" bIns="0" anchor="t">
            <a:spAutoFit/>
          </a:bodyPr>
          <a:lstStyle/>
          <a:p>
            <a:pPr algn="l">
              <a:lnSpc>
                <a:spcPct val="122000"/>
              </a:lnSpc>
            </a:pPr>
            <a:r>
              <a:rPr sz="2600" b="1" i="0">
                <a:solidFill>
                  <a:srgbClr val="17181A"/>
                </a:solidFill>
                <a:latin typeface="Verdana"/>
              </a:rPr>
              <a:t>Trois dates, une phrase qui dit ce que la lettre est, le motif cité puis retourné, une concession, deux faits avec leurs pièces, une hypothèse irréelle, trois demandes, un numéro de téléphone.</a:t>
            </a:r>
          </a:p>
        </p:txBody>
      </p:sp>
      <p:sp>
        <p:nvSpPr>
          <p:cNvPr id="8" name="Rounded Rectangle 7"/>
          <p:cNvSpPr/>
          <p:nvPr/>
        </p:nvSpPr>
        <p:spPr>
          <a:xfrm>
            <a:off x="566928" y="4025392"/>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99712"/>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N'écrivez aucun fait qu'une pièce jointe ne puisse confirmer. Et tenez le vouvoiement et le registre soutenu du début à la fin : on ne commence pas par « Madame, Monsieur » pour finir par « à bientôt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Qu'est-ce que vous savez faire ce matin que vous ne saviez pas faire il y a quatre semaines ?</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phrase, pas une liste.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Commencez par « Maintenant, je sais… ».</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Faire renverser une décision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