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d'écoute longue, la seule du module et la seule du niveau. Prévoir de passer la capsule TROIS fois, avec une consigne différente chaque fois. Ne pas la passer une quatrième : la quatrième écoute n'apprend plus rien.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le plus utile : la partie qui délimite évite d'attendre des mois une chose qui n'arrivera jamais.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écoute : le plan et rien d'autre. Insister pour que personne ne prenne de notes détaillées — c'est ce qui fait perdre le fil. Les quatre titres tiennent en quatre mots.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écrire les marqueurs au tableau avant la deuxième écoute : le groupe les entendra passer.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nombres dans quinze minutes, et deux d'entre eux appartiennent à deux systèmes différents. C'est la confusion la plus coûteuse du module : soixante jours pour l'assureur, trente pour le Tribunal.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deuxième carte est celle qui change une vie administrative. Beaucoup d'élèves ont téléphoné pendant des mois en croyant que leur dossier avançait.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que la réponse aux quatre premières est dans le résumé final de l'orateur : ce qui est dit deux fois est ce qu'il faut retenir, et c'est un résumé gratuit et vérifié.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Ouvrir le module après la troisième écoute, pas avant : l'exercice sert de vérification, il ne remplace pas l'écoute.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Teodora est propriétaire ET propriétaire-bailleresse : c'est exactement le genre de situation où l'on se trompe de porte.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se refait de mémoire à la fin de la séance. Ceux qui inversent les deux dernières ont encore le temps : on y revient en D2 et en E2.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D1  ·  MODULE 4</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Quinze minutes, un seul homme, quatre temps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 n'est pas une conversation : c'est un exposé, et il s'écoute autrement. Il annonce son plan, il marque ses étapes, et il répète à la fin ce qu'il faut retenir.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Faire renverser une décision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noter le plan annoncé par l'orateur, avant qu'il ne commence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repérer les marqueurs d'étape d'un exposé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relever trois délais sans les confondre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entendre ce que l'orateur dit ne pas pouvoir faire.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ÉCOUTE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Première écoute : combien de temps l'orateur annonce-t-il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En combien de temps dit-il qu'il va procéder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Écrivez les quatre titres avant que le premier ne commence.</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Ne notez rien d'autre pour l'instant.</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 est le fait le plus récent qu'il mentionne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UN EXPOSÉ ANNONCE SON PLAN : NOTEZ-LE EN PREMIER</a:t>
            </a:r>
          </a:p>
        </p:txBody>
      </p:sp>
      <p:sp>
        <p:nvSpPr>
          <p:cNvPr id="6" name="Rounded Rectangle 5"/>
          <p:cNvSpPr/>
          <p:nvPr/>
        </p:nvSpPr>
        <p:spPr>
          <a:xfrm>
            <a:off x="566928" y="1225296"/>
            <a:ext cx="11057839" cy="2897632"/>
          </a:xfrm>
          <a:prstGeom prst="roundRect">
            <a:avLst>
              <a:gd name="adj" fmla="val 504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2074671"/>
          </a:xfrm>
          <a:prstGeom prst="rect">
            <a:avLst/>
          </a:prstGeom>
          <a:noFill/>
        </p:spPr>
        <p:txBody>
          <a:bodyPr wrap="square" lIns="0" rIns="0" tIns="0" bIns="0" anchor="t">
            <a:spAutoFit/>
          </a:bodyPr>
          <a:lstStyle/>
          <a:p>
            <a:pPr algn="l">
              <a:lnSpc>
                <a:spcPct val="122000"/>
              </a:lnSpc>
            </a:pPr>
            <a:r>
              <a:rPr sz="3200" b="1" i="0">
                <a:solidFill>
                  <a:srgbClr val="17181A"/>
                </a:solidFill>
                <a:latin typeface="Verdana"/>
              </a:rPr>
              <a:t>« Je vais procéder en quatre temps. » Cette phrase-là vaut la moitié de l'écoute : elle vous donne des tiroirs où ranger la suite.</a:t>
            </a:r>
          </a:p>
        </p:txBody>
      </p:sp>
      <p:sp>
        <p:nvSpPr>
          <p:cNvPr id="8" name="Rounded Rectangle 7"/>
          <p:cNvSpPr/>
          <p:nvPr/>
        </p:nvSpPr>
        <p:spPr>
          <a:xfrm>
            <a:off x="566928" y="439724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67156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Les marqueurs d'étape sont vos repères : d'abord · premier temps · ensuite · j'en viens à · enfin · je répète donc. Ils ne portent aucune information et sont pourtant ce qu'il faut entendre : ils disent où vous en êtes.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ÉCOUTE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chiffres, et à quoi ils se rapportent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Deuxième écoute. Notez seulement les nombres et ce qu'ils comptent.</a:t>
            </a:r>
          </a:p>
        </p:txBody>
      </p:sp>
      <p:sp>
        <p:nvSpPr>
          <p:cNvPr id="8" name="Rounded Rectangle 7"/>
          <p:cNvSpPr/>
          <p:nvPr/>
        </p:nvSpPr>
        <p:spPr>
          <a:xfrm>
            <a:off x="566928" y="2139696"/>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6339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2740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 délai normal d'une réponse finale</a:t>
            </a:r>
          </a:p>
        </p:txBody>
      </p:sp>
      <p:sp>
        <p:nvSpPr>
          <p:cNvPr id="12" name="Rounded Rectangle 11"/>
          <p:cNvSpPr/>
          <p:nvPr/>
        </p:nvSpPr>
        <p:spPr>
          <a:xfrm>
            <a:off x="566928" y="2880868"/>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0456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6857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36316"/>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 délai en circonstances exceptionnelles</a:t>
            </a:r>
          </a:p>
        </p:txBody>
      </p:sp>
      <p:sp>
        <p:nvSpPr>
          <p:cNvPr id="16" name="Rounded Rectangle 15"/>
          <p:cNvSpPr/>
          <p:nvPr/>
        </p:nvSpPr>
        <p:spPr>
          <a:xfrm>
            <a:off x="566928" y="3622040"/>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457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097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777488"/>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 délai pour contester une décision du Tribunal administratif du logement</a:t>
            </a:r>
          </a:p>
        </p:txBody>
      </p:sp>
      <p:sp>
        <p:nvSpPr>
          <p:cNvPr id="20" name="Rounded Rectangle 19"/>
          <p:cNvSpPr/>
          <p:nvPr/>
        </p:nvSpPr>
        <p:spPr>
          <a:xfrm>
            <a:off x="566928" y="4363212"/>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48691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55091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518660"/>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 nombre de temps annoncés par l'orateur</a:t>
            </a:r>
          </a:p>
        </p:txBody>
      </p:sp>
      <p:sp>
        <p:nvSpPr>
          <p:cNvPr id="24" name="Rounded Rectangle 23"/>
          <p:cNvSpPr/>
          <p:nvPr/>
        </p:nvSpPr>
        <p:spPr>
          <a:xfrm>
            <a:off x="566928" y="5104384"/>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28082"/>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292090"/>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259832"/>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Ce qui doit accompagner un courriel de plainte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chiffres, et à quoi ils se rapportent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6339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2740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 délai normal d'une réponse finale   </a:t>
            </a:r>
            <a:r>
              <a:rPr sz="1700" b="1" i="0">
                <a:solidFill>
                  <a:srgbClr val="07734A"/>
                </a:solidFill>
                <a:latin typeface="Verdana"/>
              </a:rPr>
              <a:t>» soixante jours de la réception</a:t>
            </a:r>
          </a:p>
        </p:txBody>
      </p:sp>
      <p:sp>
        <p:nvSpPr>
          <p:cNvPr id="12" name="Rounded Rectangle 11"/>
          <p:cNvSpPr/>
          <p:nvPr/>
        </p:nvSpPr>
        <p:spPr>
          <a:xfrm>
            <a:off x="566928" y="2880868"/>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0456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6857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36316"/>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 délai en circonstances exceptionnelles   </a:t>
            </a:r>
            <a:r>
              <a:rPr sz="1700" b="1" i="0">
                <a:solidFill>
                  <a:srgbClr val="07734A"/>
                </a:solidFill>
                <a:latin typeface="Verdana"/>
              </a:rPr>
              <a:t>» quatre-vingt-dix jours, avec une raison</a:t>
            </a:r>
          </a:p>
        </p:txBody>
      </p:sp>
      <p:sp>
        <p:nvSpPr>
          <p:cNvPr id="16" name="Rounded Rectangle 15"/>
          <p:cNvSpPr/>
          <p:nvPr/>
        </p:nvSpPr>
        <p:spPr>
          <a:xfrm>
            <a:off x="566928" y="3622040"/>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457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097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777488"/>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 délai pour contester une décision du Tribunal administratif du logement   </a:t>
            </a:r>
            <a:r>
              <a:rPr sz="1700" b="1" i="0">
                <a:solidFill>
                  <a:srgbClr val="07734A"/>
                </a:solidFill>
                <a:latin typeface="Verdana"/>
              </a:rPr>
              <a:t>» trente jours</a:t>
            </a:r>
          </a:p>
        </p:txBody>
      </p:sp>
      <p:sp>
        <p:nvSpPr>
          <p:cNvPr id="20" name="Rounded Rectangle 19"/>
          <p:cNvSpPr/>
          <p:nvPr/>
        </p:nvSpPr>
        <p:spPr>
          <a:xfrm>
            <a:off x="566928" y="4363212"/>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48691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55091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518660"/>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Le nombre de temps annoncés par l'orateur   </a:t>
            </a:r>
            <a:r>
              <a:rPr sz="1700" b="1" i="0">
                <a:solidFill>
                  <a:srgbClr val="07734A"/>
                </a:solidFill>
                <a:latin typeface="Verdana"/>
              </a:rPr>
              <a:t>» quatre</a:t>
            </a:r>
          </a:p>
        </p:txBody>
      </p:sp>
      <p:sp>
        <p:nvSpPr>
          <p:cNvPr id="24" name="Rounded Rectangle 23"/>
          <p:cNvSpPr/>
          <p:nvPr/>
        </p:nvSpPr>
        <p:spPr>
          <a:xfrm>
            <a:off x="566928" y="5104384"/>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28082"/>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292090"/>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259832"/>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Ce qui doit accompagner un courriel de plainte   </a:t>
            </a:r>
            <a:r>
              <a:rPr sz="1700" b="1" i="0">
                <a:solidFill>
                  <a:srgbClr val="07734A"/>
                </a:solidFill>
                <a:latin typeface="Verdana"/>
              </a:rPr>
              <a:t>» la date d'envoi et une copie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qu'une plainte est, au sens de la loi</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447040"/>
          </a:xfrm>
          <a:prstGeom prst="rect">
            <a:avLst/>
          </a:prstGeom>
          <a:noFill/>
        </p:spPr>
        <p:txBody>
          <a:bodyPr wrap="square" lIns="0" rIns="0" tIns="0" bIns="0" anchor="t">
            <a:spAutoFit/>
          </a:bodyPr>
          <a:lstStyle/>
          <a:p>
            <a:pPr algn="l">
              <a:lnSpc>
                <a:spcPct val="118000"/>
              </a:lnSpc>
            </a:pPr>
            <a:r>
              <a:rPr sz="1400" b="1" i="0">
                <a:solidFill>
                  <a:srgbClr val="1D6B8F"/>
                </a:solidFill>
                <a:latin typeface="Verdana"/>
              </a:rPr>
              <a:t>Trois éléments, pas un de moins</a:t>
            </a:r>
          </a:p>
        </p:txBody>
      </p:sp>
      <p:sp>
        <p:nvSpPr>
          <p:cNvPr id="9" name="TextBox 8"/>
          <p:cNvSpPr txBox="1"/>
          <p:nvPr/>
        </p:nvSpPr>
        <p:spPr>
          <a:xfrm>
            <a:off x="886968" y="2559303"/>
            <a:ext cx="4806543" cy="1029716"/>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C'est écrit, ça vise l'entreprise, et ça demande une mesure correctrice précise. Un appel où l'on exprime son mécontentement n'est pas une plainte.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447040"/>
          </a:xfrm>
          <a:prstGeom prst="rect">
            <a:avLst/>
          </a:prstGeom>
          <a:noFill/>
        </p:spPr>
        <p:txBody>
          <a:bodyPr wrap="square" lIns="0" rIns="0" tIns="0" bIns="0" anchor="t">
            <a:spAutoFit/>
          </a:bodyPr>
          <a:lstStyle/>
          <a:p>
            <a:pPr algn="l">
              <a:lnSpc>
                <a:spcPct val="118000"/>
              </a:lnSpc>
            </a:pPr>
            <a:r>
              <a:rPr sz="1400" b="1" i="0">
                <a:solidFill>
                  <a:srgbClr val="1D6B8F"/>
                </a:solidFill>
                <a:latin typeface="Verdana"/>
              </a:rPr>
              <a:t>Tant que rien n'est écrit, rien n'a commencé</a:t>
            </a:r>
          </a:p>
        </p:txBody>
      </p:sp>
      <p:sp>
        <p:nvSpPr>
          <p:cNvPr id="12" name="TextBox 11"/>
          <p:cNvSpPr txBox="1"/>
          <p:nvPr/>
        </p:nvSpPr>
        <p:spPr>
          <a:xfrm>
            <a:off x="6498183" y="2559303"/>
            <a:ext cx="4806543" cy="1029716"/>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Vos délais ne courent pas, votre dossier n'est pas ouvert, et personne n'est tenu de vous répondre dans un temps donné. C'est l'écrit qui déclenche tout.</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447040"/>
          </a:xfrm>
          <a:prstGeom prst="rect">
            <a:avLst/>
          </a:prstGeom>
          <a:noFill/>
        </p:spPr>
        <p:txBody>
          <a:bodyPr wrap="square" lIns="0" rIns="0" tIns="0" bIns="0" anchor="t">
            <a:spAutoFit/>
          </a:bodyPr>
          <a:lstStyle/>
          <a:p>
            <a:pPr algn="l">
              <a:lnSpc>
                <a:spcPct val="118000"/>
              </a:lnSpc>
            </a:pPr>
            <a:r>
              <a:rPr sz="1400" b="1" i="0">
                <a:solidFill>
                  <a:srgbClr val="1D6B8F"/>
                </a:solidFill>
                <a:latin typeface="Verdana"/>
              </a:rPr>
              <a:t>Un courriel suffit</a:t>
            </a:r>
          </a:p>
        </p:txBody>
      </p:sp>
      <p:sp>
        <p:nvSpPr>
          <p:cNvPr id="15" name="TextBox 14"/>
          <p:cNvSpPr txBox="1"/>
          <p:nvPr/>
        </p:nvSpPr>
        <p:spPr>
          <a:xfrm>
            <a:off x="886968" y="4776724"/>
            <a:ext cx="4806543" cy="1029716"/>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Ce qui compte est d'avoir une trace de la date d'envoi et une copie de ce qu'on a écrit. Gardez les deux, toujours.</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447040"/>
          </a:xfrm>
          <a:prstGeom prst="rect">
            <a:avLst/>
          </a:prstGeom>
          <a:noFill/>
        </p:spPr>
        <p:txBody>
          <a:bodyPr wrap="square" lIns="0" rIns="0" tIns="0" bIns="0" anchor="t">
            <a:spAutoFit/>
          </a:bodyPr>
          <a:lstStyle/>
          <a:p>
            <a:pPr algn="l">
              <a:lnSpc>
                <a:spcPct val="118000"/>
              </a:lnSpc>
            </a:pPr>
            <a:r>
              <a:rPr sz="1400" b="1" i="0">
                <a:solidFill>
                  <a:srgbClr val="1D6B8F"/>
                </a:solidFill>
                <a:latin typeface="Verdana"/>
              </a:rPr>
              <a:t>« Réponse finale » ne veut pas dire « définitive pour vous »</a:t>
            </a:r>
          </a:p>
        </p:txBody>
      </p:sp>
      <p:sp>
        <p:nvSpPr>
          <p:cNvPr id="18" name="TextBox 17"/>
          <p:cNvSpPr txBox="1"/>
          <p:nvPr/>
        </p:nvSpPr>
        <p:spPr>
          <a:xfrm>
            <a:off x="6498183" y="4776724"/>
            <a:ext cx="4806543" cy="1029716"/>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C'est la dernière position de l'entreprise. Ce que vous en faites ensuite ne dépend que de vous.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ÉCOUTE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Troisième écoute : repérez ce qui est dit deux fois, puis répondez.</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appel téléphonique fait courir les délais de traitement.</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délai de quatre-vingt-dix jours n'a pas à être justifié.</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transfert se demande après la réponse finale, ou le délai écoulé.</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L'Autorité peut ordonner à l'assureur d'indemniser.</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conciliation exige le consentement des deux parties.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différend avec un locataire relève du Tribunal administratif du logement.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appel téléphonique fait courir les délais de traitement.   </a:t>
            </a:r>
            <a:r>
              <a:rPr sz="1400" b="1" i="0">
                <a:solidFill>
                  <a:srgbClr val="07734A"/>
                </a:solidFill>
                <a:latin typeface="Verdana"/>
              </a:rPr>
              <a:t>» faux - seul l'écrit</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délai de quatre-vingt-dix jours n'a pas à être justifié.   </a:t>
            </a:r>
            <a:r>
              <a:rPr sz="1400" b="1" i="0">
                <a:solidFill>
                  <a:srgbClr val="07734A"/>
                </a:solidFill>
                <a:latin typeface="Verdana"/>
              </a:rPr>
              <a:t>» faux - il faut une raison</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transfert se demande après la réponse finale, ou le délai écoulé.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L'Autorité peut ordonner à l'assureur d'indemniser.   </a:t>
            </a:r>
            <a:r>
              <a:rPr sz="1400" b="1" i="0">
                <a:solidFill>
                  <a:srgbClr val="07734A"/>
                </a:solidFill>
                <a:latin typeface="Verdana"/>
              </a:rPr>
              <a:t>» faux - elle n'est pas un tribunal</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conciliation exige le consentement des deux parties.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différend avec un locataire relève du Tribunal administratif du logement.   </a:t>
            </a:r>
            <a:r>
              <a:rPr sz="1400" b="1" i="0">
                <a:solidFill>
                  <a:srgbClr val="07734A"/>
                </a:solidFill>
                <a:latin typeface="Verdana"/>
              </a:rPr>
              <a:t>» vrai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DANS L'ACTIVITÉ INTERACTIVE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L'exercice tel que les élèves le verront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Chaque porte, et ce qu'on y obtient.</a:t>
            </a:r>
          </a:p>
        </p:txBody>
      </p:sp>
      <p:sp>
        <p:nvSpPr>
          <p:cNvPr id="8" name="Rounded Rectangle 7"/>
          <p:cNvSpPr/>
          <p:nvPr/>
        </p:nvSpPr>
        <p:spPr>
          <a:xfrm>
            <a:off x="4291185" y="2084831"/>
            <a:ext cx="3609324" cy="4087368"/>
          </a:xfrm>
          <a:prstGeom prst="roundRect">
            <a:avLst>
              <a:gd name="adj" fmla="val 2533"/>
            </a:avLst>
          </a:prstGeom>
          <a:solidFill>
            <a:srgbClr val="FFFFFF"/>
          </a:solidFill>
          <a:ln w="12700">
            <a:solidFill>
              <a:srgbClr val="D6D6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t3etapes.png"/>
          <p:cNvPicPr>
            <a:picLocks noChangeAspect="1"/>
          </p:cNvPicPr>
          <p:nvPr/>
        </p:nvPicPr>
        <p:blipFill>
          <a:blip r:embed="rId2"/>
          <a:stretch>
            <a:fillRect/>
          </a:stretch>
        </p:blipFill>
        <p:spPr>
          <a:xfrm>
            <a:off x="4309473" y="2103120"/>
            <a:ext cx="3572748" cy="405079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NE CONFONDEZ PAS LES PORTES</a:t>
            </a:r>
          </a:p>
        </p:txBody>
      </p:sp>
      <p:sp>
        <p:nvSpPr>
          <p:cNvPr id="6" name="Rounded Rectangle 5"/>
          <p:cNvSpPr/>
          <p:nvPr/>
        </p:nvSpPr>
        <p:spPr>
          <a:xfrm>
            <a:off x="566928" y="1225296"/>
            <a:ext cx="11057839" cy="2649728"/>
          </a:xfrm>
          <a:prstGeom prst="roundRect">
            <a:avLst>
              <a:gd name="adj" fmla="val 5521"/>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826768"/>
          </a:xfrm>
          <a:prstGeom prst="rect">
            <a:avLst/>
          </a:prstGeom>
          <a:noFill/>
        </p:spPr>
        <p:txBody>
          <a:bodyPr wrap="square" lIns="0" rIns="0" tIns="0" bIns="0" anchor="t">
            <a:spAutoFit/>
          </a:bodyPr>
          <a:lstStyle/>
          <a:p>
            <a:pPr algn="l">
              <a:lnSpc>
                <a:spcPct val="122000"/>
              </a:lnSpc>
            </a:pPr>
            <a:r>
              <a:rPr sz="2800" b="1" i="0">
                <a:solidFill>
                  <a:srgbClr val="17181A"/>
                </a:solidFill>
                <a:latin typeface="Verdana"/>
              </a:rPr>
              <a:t>Un différend avec votre assureur relève de l'Autorité des marchés financiers. Un différend avec votre locataire ou votre propriétaire relève du Tribunal administratif du logement.</a:t>
            </a:r>
          </a:p>
        </p:txBody>
      </p:sp>
      <p:sp>
        <p:nvSpPr>
          <p:cNvPr id="8" name="Rounded Rectangle 7"/>
          <p:cNvSpPr/>
          <p:nvPr/>
        </p:nvSpPr>
        <p:spPr>
          <a:xfrm>
            <a:off x="566928" y="4149343"/>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42366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systèmes distincts, deux séries de délais. Frapper à la mauvaise porte fait perdre des semaines, et parfois un droit. C'est l'erreur la plus coûteuse de tout le module.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Faire renverser une décision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les quatre portes du recours, dans l'ordre, et ce qu'on obtient à chacune.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ligne par porte.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À côté de chaque porte, le document qu'on en rapporte.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Faire renverser une décision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