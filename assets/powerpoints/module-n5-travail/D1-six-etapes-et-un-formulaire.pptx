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défi 3, et cœur de l'intention du programme : comprendre des explications sur les principales étapes d'une démarche administrative simple. Commencer en demandant au groupe comment on demande un congé à leur travail. Les réponses vont de « je le dis à mon boss » à un formulaire en ligne : tout l'écart est intéressant.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pistes sont, dans l'ordre, les étapes 2, 1, 4-5 et 6. Le groupe reconstruit presque toute la démarche seul : ne pas la donner avant d'avoir laissé chercher.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deux choses : Ghislain demande les dates avant tout le reste, et Dorine donne la date du retour, pas seulement la durée. Ce sont les deux réflexes du jeu de rôle de la séance E1.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de compréhension orale du programme, dans sa forme la plus pure : une démarche expliquée une seule fois, à débit normal, avec des marqueurs de temps. Ceux de la séance C3 servent ici à repérer les étapes.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réplique distingue la règle de l'employeur de celle de la loi. C'est une compétence de citoyen autant que de langue : savoir d'où vient une règle permet de savoir si elle se discute.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Elle reprend la règle de A1 — « ce qui n'est pas écrit n'a pas eu lieu » — appliquée au cas le plus concret du module.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les six verbes sans le tableau : vérifier, prendre, remplir, faire signer, envoyer, attendre. C'est ce que l'élève doit savoir redire, et c'est l'intention de production orale du programme.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quatre faits sont vrais et vérifiables : ils viennent de la CNESST et de la Loi sur les normes du travail. Le délai de trois semaines de la coopérative, lui, est une politique interne. Faire dire la différence.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est la plus importante et la plus discutée. Y revenir : confondre une politique d'employeur et une loi empêche de poser les bonnes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d'abord de mémoire, puis vérifier. L'écart entre les deux est ce que la séance D2 devra consolider avant le jeu de rôle de E1.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D1  ·  MODULE 7</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Six étapes et un formulaire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Demander un congé n'est pas demander une permission : c'est suivre une procédure. Six étapes, un formulaire, deux signatures, et une confirmation écrite sans laquelle le congé n'existe pas.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travail par écrit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21203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202688"/>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les six étapes d'une démarche administrative expliquées une seule fois ;</a:t>
            </a:r>
          </a:p>
        </p:txBody>
      </p:sp>
      <p:sp>
        <p:nvSpPr>
          <p:cNvPr id="11" name="Rounded Rectangle 10"/>
          <p:cNvSpPr/>
          <p:nvPr/>
        </p:nvSpPr>
        <p:spPr>
          <a:xfrm>
            <a:off x="566928" y="3006343"/>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1841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266439"/>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32075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les nommer soi-même, dans l'ordre, sans notes ;</a:t>
            </a:r>
          </a:p>
        </p:txBody>
      </p:sp>
      <p:sp>
        <p:nvSpPr>
          <p:cNvPr id="15" name="Rounded Rectangle 14"/>
          <p:cNvSpPr/>
          <p:nvPr/>
        </p:nvSpPr>
        <p:spPr>
          <a:xfrm>
            <a:off x="566928" y="3892295"/>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5"/>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1"/>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4093463"/>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ce que dit la loi de ce que décide l'employeur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réclamer une confirmation écrite avant de sortir du bureau.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Une feuille à cases et un stylo. Qu'est-ce qui se passe avant, et qu'est-ce qui se passe après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ormulaire-rempli.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prend-on un formulaire vierge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faut-il savoir avant de le remplir ?</a:t>
            </a:r>
          </a:p>
        </p:txBody>
      </p:sp>
      <p:sp>
        <p:nvSpPr>
          <p:cNvPr id="15" name="Rounded Rectangle 14"/>
          <p:cNvSpPr/>
          <p:nvPr/>
        </p:nvSpPr>
        <p:spPr>
          <a:xfrm>
            <a:off x="566928" y="342798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Qui doit signer, et à qui l'envoie-t-on ?</a:t>
            </a:r>
          </a:p>
        </p:txBody>
      </p:sp>
      <p:sp>
        <p:nvSpPr>
          <p:cNvPr id="18" name="Rounded Rectangle 17"/>
          <p:cNvSpPr/>
          <p:nvPr/>
        </p:nvSpPr>
        <p:spPr>
          <a:xfrm>
            <a:off x="566928" y="421386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2358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39674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sait-on que la demande a été acceptée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dates, et un remplacement</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578104"/>
          </a:xfrm>
          <a:prstGeom prst="roundRect">
            <a:avLst>
              <a:gd name="adj" fmla="val 25307"/>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608582" cy="303784"/>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DORINE</a:t>
            </a:r>
          </a:p>
        </p:txBody>
      </p:sp>
      <p:sp>
        <p:nvSpPr>
          <p:cNvPr id="10" name="TextBox 9"/>
          <p:cNvSpPr txBox="1"/>
          <p:nvPr/>
        </p:nvSpPr>
        <p:spPr>
          <a:xfrm>
            <a:off x="2541270" y="2322576"/>
            <a:ext cx="8534857"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Ghislain, est-ce que je peux vous parler deux minutes de mes vacances ?</a:t>
            </a:r>
          </a:p>
        </p:txBody>
      </p:sp>
      <p:sp>
        <p:nvSpPr>
          <p:cNvPr id="11" name="Rounded Rectangle 10"/>
          <p:cNvSpPr/>
          <p:nvPr/>
        </p:nvSpPr>
        <p:spPr>
          <a:xfrm>
            <a:off x="566928" y="2818384"/>
            <a:ext cx="11057839" cy="578104"/>
          </a:xfrm>
          <a:prstGeom prst="roundRect">
            <a:avLst>
              <a:gd name="adj" fmla="val 25307"/>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2982976"/>
            <a:ext cx="1608582" cy="303784"/>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GHISLAIN</a:t>
            </a:r>
          </a:p>
        </p:txBody>
      </p:sp>
      <p:sp>
        <p:nvSpPr>
          <p:cNvPr id="13" name="TextBox 12"/>
          <p:cNvSpPr txBox="1"/>
          <p:nvPr/>
        </p:nvSpPr>
        <p:spPr>
          <a:xfrm>
            <a:off x="2541270" y="2982976"/>
            <a:ext cx="8534857"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Entrez. Quelles dates ?</a:t>
            </a:r>
          </a:p>
        </p:txBody>
      </p:sp>
      <p:sp>
        <p:nvSpPr>
          <p:cNvPr id="14" name="Rounded Rectangle 13"/>
          <p:cNvSpPr/>
          <p:nvPr/>
        </p:nvSpPr>
        <p:spPr>
          <a:xfrm>
            <a:off x="566928" y="3478784"/>
            <a:ext cx="11057839" cy="578104"/>
          </a:xfrm>
          <a:prstGeom prst="roundRect">
            <a:avLst>
              <a:gd name="adj" fmla="val 25307"/>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643376"/>
            <a:ext cx="1608582" cy="303784"/>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DORINE</a:t>
            </a:r>
          </a:p>
        </p:txBody>
      </p:sp>
      <p:sp>
        <p:nvSpPr>
          <p:cNvPr id="16" name="TextBox 15"/>
          <p:cNvSpPr txBox="1"/>
          <p:nvPr/>
        </p:nvSpPr>
        <p:spPr>
          <a:xfrm>
            <a:off x="2541270" y="3643376"/>
            <a:ext cx="8534857"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Du lundi 12 août au vendredi 16 août. Cinq jours. Ma sœur arrive de Kinshasa le 12.</a:t>
            </a:r>
          </a:p>
        </p:txBody>
      </p:sp>
      <p:sp>
        <p:nvSpPr>
          <p:cNvPr id="17" name="Rounded Rectangle 16"/>
          <p:cNvSpPr/>
          <p:nvPr/>
        </p:nvSpPr>
        <p:spPr>
          <a:xfrm>
            <a:off x="566928" y="4139183"/>
            <a:ext cx="11057839" cy="578104"/>
          </a:xfrm>
          <a:prstGeom prst="roundRect">
            <a:avLst>
              <a:gd name="adj" fmla="val 25307"/>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303775"/>
            <a:ext cx="1608582" cy="303784"/>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GHISLAIN</a:t>
            </a:r>
          </a:p>
        </p:txBody>
      </p:sp>
      <p:sp>
        <p:nvSpPr>
          <p:cNvPr id="19" name="TextBox 18"/>
          <p:cNvSpPr txBox="1"/>
          <p:nvPr/>
        </p:nvSpPr>
        <p:spPr>
          <a:xfrm>
            <a:off x="2541270" y="4303775"/>
            <a:ext cx="8534857"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semaine du 12 est déjà prise par Amel. Celle du 19 est libre.</a:t>
            </a:r>
          </a:p>
        </p:txBody>
      </p:sp>
      <p:sp>
        <p:nvSpPr>
          <p:cNvPr id="20" name="Rounded Rectangle 19"/>
          <p:cNvSpPr/>
          <p:nvPr/>
        </p:nvSpPr>
        <p:spPr>
          <a:xfrm>
            <a:off x="566928" y="4799584"/>
            <a:ext cx="11057839" cy="578104"/>
          </a:xfrm>
          <a:prstGeom prst="roundRect">
            <a:avLst>
              <a:gd name="adj" fmla="val 25307"/>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2688" y="4964176"/>
            <a:ext cx="1608582" cy="303784"/>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DORINE</a:t>
            </a:r>
          </a:p>
        </p:txBody>
      </p:sp>
      <p:sp>
        <p:nvSpPr>
          <p:cNvPr id="22" name="TextBox 21"/>
          <p:cNvSpPr txBox="1"/>
          <p:nvPr/>
        </p:nvSpPr>
        <p:spPr>
          <a:xfrm>
            <a:off x="2541270" y="4964176"/>
            <a:ext cx="8534857"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Alors ce sera du 19 au 23 août. Retour le lundi 26.</a:t>
            </a:r>
          </a:p>
        </p:txBody>
      </p:sp>
      <p:sp>
        <p:nvSpPr>
          <p:cNvPr id="23" name="Rounded Rectangle 22"/>
          <p:cNvSpPr/>
          <p:nvPr/>
        </p:nvSpPr>
        <p:spPr>
          <a:xfrm>
            <a:off x="566928" y="5459984"/>
            <a:ext cx="11057839" cy="578104"/>
          </a:xfrm>
          <a:prstGeom prst="roundRect">
            <a:avLst>
              <a:gd name="adj" fmla="val 25307"/>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32688" y="5624576"/>
            <a:ext cx="1608582" cy="303784"/>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GHISLAIN</a:t>
            </a:r>
          </a:p>
        </p:txBody>
      </p:sp>
      <p:sp>
        <p:nvSpPr>
          <p:cNvPr id="25" name="TextBox 24"/>
          <p:cNvSpPr txBox="1"/>
          <p:nvPr/>
        </p:nvSpPr>
        <p:spPr>
          <a:xfrm>
            <a:off x="2541270" y="5624576"/>
            <a:ext cx="8534857"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Bien. Qui répond au téléphone de l'accueil pendant ce temps-là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six étapes, dites une seule fois</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deux fois. À la deuxième écoute seulement, écrivez.</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608582"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DORINE</a:t>
            </a:r>
          </a:p>
        </p:txBody>
      </p:sp>
      <p:sp>
        <p:nvSpPr>
          <p:cNvPr id="10" name="TextBox 9"/>
          <p:cNvSpPr txBox="1"/>
          <p:nvPr/>
        </p:nvSpPr>
        <p:spPr>
          <a:xfrm>
            <a:off x="2541270" y="2322576"/>
            <a:ext cx="853485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Pas exactement. Dites-moi les étapes, je les écris.</a:t>
            </a:r>
          </a:p>
        </p:txBody>
      </p:sp>
      <p:sp>
        <p:nvSpPr>
          <p:cNvPr id="11" name="Rounded Rectangle 10"/>
          <p:cNvSpPr/>
          <p:nvPr/>
        </p:nvSpPr>
        <p:spPr>
          <a:xfrm>
            <a:off x="566928" y="2907283"/>
            <a:ext cx="11057839" cy="2018284"/>
          </a:xfrm>
          <a:prstGeom prst="roundRect">
            <a:avLst>
              <a:gd name="adj" fmla="val 7248"/>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608582" cy="174396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GHISLAIN</a:t>
            </a:r>
          </a:p>
        </p:txBody>
      </p:sp>
      <p:sp>
        <p:nvSpPr>
          <p:cNvPr id="13" name="TextBox 12"/>
          <p:cNvSpPr txBox="1"/>
          <p:nvPr/>
        </p:nvSpPr>
        <p:spPr>
          <a:xfrm>
            <a:off x="2541270" y="3071876"/>
            <a:ext cx="8534857" cy="174396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Six. D'abord vous vérifiez au registre combien de jours il vous reste. Ensuite vous prenez le formulaire au babillard. Puis vous le remplissez : les deux dates, le nom de la personne qui vous remplace. Après, vous me le faites signer. Ensuite vous l'envoyez à Sylvie, à la paie. Et enfin vous attendez sa confirmation par courriel.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entente de corridor ne vaut rien</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608582"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DORINE</a:t>
            </a:r>
          </a:p>
        </p:txBody>
      </p:sp>
      <p:sp>
        <p:nvSpPr>
          <p:cNvPr id="9" name="TextBox 8"/>
          <p:cNvSpPr txBox="1"/>
          <p:nvPr/>
        </p:nvSpPr>
        <p:spPr>
          <a:xfrm>
            <a:off x="2541270" y="1901952"/>
            <a:ext cx="853485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si je ne reçois rien ?</a:t>
            </a:r>
          </a:p>
        </p:txBody>
      </p:sp>
      <p:sp>
        <p:nvSpPr>
          <p:cNvPr id="10" name="Rounded Rectangle 9"/>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608582"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GHISLAIN</a:t>
            </a:r>
          </a:p>
        </p:txBody>
      </p:sp>
      <p:sp>
        <p:nvSpPr>
          <p:cNvPr id="12" name="TextBox 11"/>
          <p:cNvSpPr txBox="1"/>
          <p:nvPr/>
        </p:nvSpPr>
        <p:spPr>
          <a:xfrm>
            <a:off x="2541270" y="2651252"/>
            <a:ext cx="853485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relancez. Tant que la confirmation n'est pas écrite, votre congé n'existe pas. Une entente de corridor ne vaut rien au mois d'août.</a:t>
            </a:r>
          </a:p>
        </p:txBody>
      </p:sp>
      <p:sp>
        <p:nvSpPr>
          <p:cNvPr id="13" name="Rounded Rectangle 12"/>
          <p:cNvSpPr/>
          <p:nvPr/>
        </p:nvSpPr>
        <p:spPr>
          <a:xfrm>
            <a:off x="566928" y="357378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608582"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DORINE</a:t>
            </a:r>
          </a:p>
        </p:txBody>
      </p:sp>
      <p:sp>
        <p:nvSpPr>
          <p:cNvPr id="15" name="TextBox 14"/>
          <p:cNvSpPr txBox="1"/>
          <p:nvPr/>
        </p:nvSpPr>
        <p:spPr>
          <a:xfrm>
            <a:off x="2541270" y="3738371"/>
            <a:ext cx="853485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temps d'avance ?</a:t>
            </a:r>
          </a:p>
        </p:txBody>
      </p:sp>
      <p:sp>
        <p:nvSpPr>
          <p:cNvPr id="16" name="TextBox 15"/>
          <p:cNvSpPr txBox="1"/>
          <p:nvPr/>
        </p:nvSpPr>
        <p:spPr>
          <a:xfrm>
            <a:off x="932688" y="4487672"/>
            <a:ext cx="1608582"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GHISLAIN</a:t>
            </a:r>
          </a:p>
        </p:txBody>
      </p:sp>
      <p:sp>
        <p:nvSpPr>
          <p:cNvPr id="17" name="TextBox 16"/>
          <p:cNvSpPr txBox="1"/>
          <p:nvPr/>
        </p:nvSpPr>
        <p:spPr>
          <a:xfrm>
            <a:off x="2541270" y="4487672"/>
            <a:ext cx="8534857"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Ici, trois semaines : c'est notre politique. La loi, elle, oblige l'employeur à annoncer les dates de vacances au moins quatre semaines à l'avance.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TANT QUE CE N'EST PAS ÉCRIT, LE CONGÉ N'EXISTE PAS</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La confirmation de la paie, par courriel, est la seule preuve.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silence n'est pas un oui : si rien n'arrive après quelques jours, on relance. Et on garde le courriel — c'est celui qu'on vous demandera si quelqu'un a oublié.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LES SIX ÉTAPES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y fait exactement</a:t>
            </a:r>
          </a:p>
        </p:txBody>
      </p:sp>
      <p:sp>
        <p:nvSpPr>
          <p:cNvPr id="7" name="Rounded Rectangle 6"/>
          <p:cNvSpPr/>
          <p:nvPr/>
        </p:nvSpPr>
        <p:spPr>
          <a:xfrm>
            <a:off x="566928" y="1810512"/>
            <a:ext cx="11057839" cy="3877056"/>
          </a:xfrm>
          <a:prstGeom prst="roundRect">
            <a:avLst>
              <a:gd name="adj" fmla="val 37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ÉTAPE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Y FAIT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1 · Vérifier</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Combien de jours il reste, au registre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2 · Prendre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Le formulaire vierge, au babillard</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3 · Remplir</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Les deux dates et qui vous remplace</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4 · Faire signer</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Par le chef d'équipe, sur le formulaire</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5 · Envoyer</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Le formulaire signé, à la paie</a:t>
            </a:r>
          </a:p>
        </p:txBody>
      </p:sp>
      <p:sp>
        <p:nvSpPr>
          <p:cNvPr id="24" name="Rectangle 23"/>
          <p:cNvSpPr/>
          <p:nvPr/>
        </p:nvSpPr>
        <p:spPr>
          <a:xfrm>
            <a:off x="932688" y="49651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093207"/>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6 · Attendre</a:t>
            </a:r>
          </a:p>
        </p:txBody>
      </p:sp>
      <p:sp>
        <p:nvSpPr>
          <p:cNvPr id="26" name="TextBox 25"/>
          <p:cNvSpPr txBox="1"/>
          <p:nvPr/>
        </p:nvSpPr>
        <p:spPr>
          <a:xfrm>
            <a:off x="4443636" y="5093207"/>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La confirmation écrite, et la garder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CE QUE DIT LA LOI DU QUÉBEC</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Vérifié auprès de la CNESST</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Deux journées payées par année</a:t>
            </a:r>
          </a:p>
        </p:txBody>
      </p:sp>
      <p:sp>
        <p:nvSpPr>
          <p:cNvPr id="9" name="TextBox 8"/>
          <p:cNvSpPr txBox="1"/>
          <p:nvPr/>
        </p:nvSpPr>
        <p:spPr>
          <a:xfrm>
            <a:off x="886968" y="2859024"/>
            <a:ext cx="4806543" cy="72999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Pour maladie ou obligations familiales, après trois mois de service continu.</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Jusqu'à dix journées d'absence</a:t>
            </a:r>
          </a:p>
        </p:txBody>
      </p:sp>
      <p:sp>
        <p:nvSpPr>
          <p:cNvPr id="12" name="TextBox 11"/>
          <p:cNvSpPr txBox="1"/>
          <p:nvPr/>
        </p:nvSpPr>
        <p:spPr>
          <a:xfrm>
            <a:off x="6498183" y="2859024"/>
            <a:ext cx="4806543" cy="72999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Par année, pour la santé d'un proche ou les obligations familiales.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Deux semaines de vacances après un an</a:t>
            </a:r>
          </a:p>
        </p:txBody>
      </p:sp>
      <p:sp>
        <p:nvSpPr>
          <p:cNvPr id="15" name="TextBox 14"/>
          <p:cNvSpPr txBox="1"/>
          <p:nvPr/>
        </p:nvSpPr>
        <p:spPr>
          <a:xfrm>
            <a:off x="886968" y="5076444"/>
            <a:ext cx="4806543" cy="72999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Et trois semaines après trois ans de service continu.</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Quatre semaines d'avis</a:t>
            </a:r>
          </a:p>
        </p:txBody>
      </p:sp>
      <p:sp>
        <p:nvSpPr>
          <p:cNvPr id="18" name="TextBox 17"/>
          <p:cNvSpPr txBox="1"/>
          <p:nvPr/>
        </p:nvSpPr>
        <p:spPr>
          <a:xfrm>
            <a:off x="6498183" y="5076444"/>
            <a:ext cx="4806543" cy="72999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L'employeur doit faire connaître les dates de vacances au moins quatre semaines à l'avance.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Dorine demande d'abord la semaine du 12 août.</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Cette semaine-là est déjà prise par quelqu'un d'autre.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démarche compte six étapes.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dernière étape est de faire signer le formulaire.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entente de vive voix suffit pour partir en congé.</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délai de trois semaines vient de la loi.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Dorine demande d'abord la semaine du 12 août.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Cette semaine-là est déjà prise par quelqu'un d'autre.   </a:t>
            </a:r>
            <a:r>
              <a:rPr sz="1400" b="1" i="0">
                <a:solidFill>
                  <a:srgbClr val="07734A"/>
                </a:solidFill>
                <a:latin typeface="Verdana"/>
              </a:rPr>
              <a:t>» vrai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démarche compte six étapes.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dernière étape est de faire signer le formulaire.   </a:t>
            </a:r>
            <a:r>
              <a:rPr sz="1400" b="1" i="0">
                <a:solidFill>
                  <a:srgbClr val="07734A"/>
                </a:solidFill>
                <a:latin typeface="Verdana"/>
              </a:rPr>
              <a:t>» faux — d'attendre la confirmation</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entente de vive voix suffit pour partir en congé.   </a:t>
            </a:r>
            <a:r>
              <a:rPr sz="1400" b="1" i="0">
                <a:solidFill>
                  <a:srgbClr val="07734A"/>
                </a:solidFill>
                <a:latin typeface="Verdana"/>
              </a:rPr>
              <a:t>» faux — jamais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délai de trois semaines vient de la loi.   </a:t>
            </a:r>
            <a:r>
              <a:rPr sz="1400" b="1" i="0">
                <a:solidFill>
                  <a:srgbClr val="07734A"/>
                </a:solidFill>
                <a:latin typeface="Verdana"/>
              </a:rPr>
              <a:t>» faux — de la coopérative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travail par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les six étapes, dans l'ordre, sans regarder vos notes.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 verbe par étape suffit.</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Ajoutez, pour votre propre travail, ce qui serait différent.</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Le travail par écrit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