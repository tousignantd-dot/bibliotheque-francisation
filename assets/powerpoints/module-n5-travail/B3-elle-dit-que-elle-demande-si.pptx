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grammaire centrale du module, et celle que les attentes de fin de cours du niveau 5 nomment explicitement : « rapporter le sens général des propos de quelqu'un au présent en employant les pronoms et les déterminants appropriés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écouter une première fois sans écrire, une seconde en écrivant. La différence entre les deux écoutes est le sujet de la séance B4. Ici, on ne travaille que la transformation des phrases.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Insister sur le présent : beaucoup d'élèves ont appris le discours rapporté au passé et compliquent tout.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lignes, cinq mécanismes différents. Les faire lire une à une et demander chaque fois ce qui a disparu : « est-ce que », l'inversion, le point d'interrogation, l'impératif.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quatrième carte est celle qu'on oublie d'enseigner. Or c'est la plus utile dans une note d'appel : les gens demandent presque toujours qu'on fasse quelque chose.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dire la faute à voix haute par le groupe, puis la version juste. L'oreille attrape la lourdeur avant que la règle ne l'explique.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faute-là a des conséquences réelles : une note mal rapportée envoie quelqu'un chercher la mauvaise personne. Le dire.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huit énoncés sont ceux de l'exercice interactif. Faire l'oral en groupe, puis laisser les élèves les refaire seuls sur les postes.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quatre phrases sont exactement les quatre lignes centrales de la note de B4. Le dire au groupe : la grammaire d'aujourd'hui est l'outil de demain.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faire l'exercice en équipes de deux, en classe, si le temps le permet : l'un raconte sa fin de semaine, l'autre rapporte. C'est plus vivant qu'un devoir.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B3  ·  MODULE 7</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 Elle dit que », « elle demande si »</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Quand vous prenez un message, vous n'êtes plus celle qui parle : vous êtes celle qui raconte ce que quelqu'un d'autre a dit. Le français a une façon précise de faire ça, et elle change trois choses à la fois.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Le travail par écrit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Le travail par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rapporter une affirmation avec « que »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rapporter une question fermée avec « si »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rapporter une question ouverte en gardant le mot interrogatif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changer les pronoms en passant du direct au rapporté.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Le travail par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ÉCOUTE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message de madame Thériault</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deux fois. Ne prenez pas de notes à la première écoute.</a:t>
            </a:r>
          </a:p>
        </p:txBody>
      </p:sp>
      <p:sp>
        <p:nvSpPr>
          <p:cNvPr id="8" name="Rounded Rectangle 7"/>
          <p:cNvSpPr/>
          <p:nvPr/>
        </p:nvSpPr>
        <p:spPr>
          <a:xfrm>
            <a:off x="566928" y="2157984"/>
            <a:ext cx="11057839" cy="1342644"/>
          </a:xfrm>
          <a:prstGeom prst="roundRect">
            <a:avLst>
              <a:gd name="adj" fmla="val 1089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776984" cy="106832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THERIAULT</a:t>
            </a:r>
          </a:p>
        </p:txBody>
      </p:sp>
      <p:sp>
        <p:nvSpPr>
          <p:cNvPr id="10" name="TextBox 9"/>
          <p:cNvSpPr txBox="1"/>
          <p:nvPr/>
        </p:nvSpPr>
        <p:spPr>
          <a:xfrm>
            <a:off x="2709672" y="2322576"/>
            <a:ext cx="8366455"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Oui bonjour, c'est madame Thériault, du 5680 rue Beaubien, appartement 3. Je vous appelle parce que la dame qui vient le mercredi matin m'a dit qu'elle ne pourrait pas venir cette semaine.</a:t>
            </a:r>
          </a:p>
        </p:txBody>
      </p:sp>
      <p:sp>
        <p:nvSpPr>
          <p:cNvPr id="11" name="Rounded Rectangle 10"/>
          <p:cNvSpPr/>
          <p:nvPr/>
        </p:nvSpPr>
        <p:spPr>
          <a:xfrm>
            <a:off x="566928" y="3582923"/>
            <a:ext cx="11057839" cy="1342644"/>
          </a:xfrm>
          <a:prstGeom prst="roundRect">
            <a:avLst>
              <a:gd name="adj" fmla="val 1089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747515"/>
            <a:ext cx="1776984" cy="106832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THERIAULT</a:t>
            </a:r>
          </a:p>
        </p:txBody>
      </p:sp>
      <p:sp>
        <p:nvSpPr>
          <p:cNvPr id="13" name="TextBox 12"/>
          <p:cNvSpPr txBox="1"/>
          <p:nvPr/>
        </p:nvSpPr>
        <p:spPr>
          <a:xfrm>
            <a:off x="2709672" y="3747515"/>
            <a:ext cx="8366455"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Alors moi je voulais savoir si quelqu'un d'autre peut passer, parce que j'ai mon rendez-vous à la clinique jeudi et il faut que quelqu'un m'aide avant.</a:t>
            </a:r>
          </a:p>
        </p:txBody>
      </p:sp>
      <p:sp>
        <p:nvSpPr>
          <p:cNvPr id="14" name="Rounded Rectangle 13"/>
          <p:cNvSpPr/>
          <p:nvPr/>
        </p:nvSpPr>
        <p:spPr>
          <a:xfrm>
            <a:off x="566928" y="5007864"/>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5172456"/>
            <a:ext cx="1776984"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THERIAULT</a:t>
            </a:r>
          </a:p>
        </p:txBody>
      </p:sp>
      <p:sp>
        <p:nvSpPr>
          <p:cNvPr id="16" name="TextBox 15"/>
          <p:cNvSpPr txBox="1"/>
          <p:nvPr/>
        </p:nvSpPr>
        <p:spPr>
          <a:xfrm>
            <a:off x="2709672" y="5172456"/>
            <a:ext cx="8366455"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Rappelez-moi avant midi si possible, après je ne réponds pas. Merci beaucoup.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Le travail par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RAPPORTER CHANGE TROIS CHOSES</a:t>
            </a:r>
          </a:p>
        </p:txBody>
      </p:sp>
      <p:sp>
        <p:nvSpPr>
          <p:cNvPr id="6" name="Rounded Rectangle 5"/>
          <p:cNvSpPr/>
          <p:nvPr/>
        </p:nvSpPr>
        <p:spPr>
          <a:xfrm>
            <a:off x="566928" y="1225296"/>
            <a:ext cx="11057839" cy="2494788"/>
          </a:xfrm>
          <a:prstGeom prst="roundRect">
            <a:avLst>
              <a:gd name="adj" fmla="val 586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 mot qui relie les deux phrases, les pronoms, et l'ordre des mots dans la question.</a:t>
            </a:r>
          </a:p>
        </p:txBody>
      </p:sp>
      <p:sp>
        <p:nvSpPr>
          <p:cNvPr id="8" name="Rounded Rectangle 7"/>
          <p:cNvSpPr/>
          <p:nvPr/>
        </p:nvSpPr>
        <p:spPr>
          <a:xfrm>
            <a:off x="566928" y="3994404"/>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verbe qui rapporte reste au présent : elle dit, elle demande, il explique. Une note d'appel est lue le jour même : rien n'oblige à passer au passé.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Le travail par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TROIS CAS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qu'on entend, et ce qu'on écrit</a:t>
            </a:r>
          </a:p>
        </p:txBody>
      </p:sp>
      <p:sp>
        <p:nvSpPr>
          <p:cNvPr id="7" name="Rounded Rectangle 6"/>
          <p:cNvSpPr/>
          <p:nvPr/>
        </p:nvSpPr>
        <p:spPr>
          <a:xfrm>
            <a:off x="566928" y="1810512"/>
            <a:ext cx="11057839" cy="3706367"/>
          </a:xfrm>
          <a:prstGeom prst="roundRect">
            <a:avLst>
              <a:gd name="adj" fmla="val 394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QU'ELLE DIT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ÉCRIT</a:t>
            </a:r>
          </a:p>
        </p:txBody>
      </p:sp>
      <p:sp>
        <p:nvSpPr>
          <p:cNvPr id="10" name="TextBox 9"/>
          <p:cNvSpPr txBox="1"/>
          <p:nvPr/>
        </p:nvSpPr>
        <p:spPr>
          <a:xfrm>
            <a:off x="932688" y="2395728"/>
            <a:ext cx="3291492"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Je ne peux pas venir mercredi.</a:t>
            </a:r>
          </a:p>
        </p:txBody>
      </p:sp>
      <p:sp>
        <p:nvSpPr>
          <p:cNvPr id="11" name="TextBox 10"/>
          <p:cNvSpPr txBox="1"/>
          <p:nvPr/>
        </p:nvSpPr>
        <p:spPr>
          <a:xfrm>
            <a:off x="4443636" y="2395728"/>
            <a:ext cx="6595914" cy="304800"/>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Elle dit qu'elle ne peut pas venir mercredi.</a:t>
            </a:r>
          </a:p>
        </p:txBody>
      </p:sp>
      <p:sp>
        <p:nvSpPr>
          <p:cNvPr id="12" name="Rectangle 11"/>
          <p:cNvSpPr/>
          <p:nvPr/>
        </p:nvSpPr>
        <p:spPr>
          <a:xfrm>
            <a:off x="932688" y="27736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01696"/>
            <a:ext cx="3291492"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Est-ce que quelqu'un peut passer ?</a:t>
            </a:r>
          </a:p>
        </p:txBody>
      </p:sp>
      <p:sp>
        <p:nvSpPr>
          <p:cNvPr id="14" name="TextBox 13"/>
          <p:cNvSpPr txBox="1"/>
          <p:nvPr/>
        </p:nvSpPr>
        <p:spPr>
          <a:xfrm>
            <a:off x="4443636" y="2901696"/>
            <a:ext cx="6595914" cy="573024"/>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Elle demande si quelqu'un peut passer.</a:t>
            </a:r>
          </a:p>
        </p:txBody>
      </p:sp>
      <p:sp>
        <p:nvSpPr>
          <p:cNvPr id="15" name="Rectangle 14"/>
          <p:cNvSpPr/>
          <p:nvPr/>
        </p:nvSpPr>
        <p:spPr>
          <a:xfrm>
            <a:off x="932688" y="354787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675887"/>
            <a:ext cx="3291492"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Quand est-ce que vous rappelez ?</a:t>
            </a:r>
          </a:p>
        </p:txBody>
      </p:sp>
      <p:sp>
        <p:nvSpPr>
          <p:cNvPr id="17" name="TextBox 16"/>
          <p:cNvSpPr txBox="1"/>
          <p:nvPr/>
        </p:nvSpPr>
        <p:spPr>
          <a:xfrm>
            <a:off x="4443636" y="3675887"/>
            <a:ext cx="6595914" cy="573024"/>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Elle demande quand nous rappelons.</a:t>
            </a:r>
          </a:p>
        </p:txBody>
      </p:sp>
      <p:sp>
        <p:nvSpPr>
          <p:cNvPr id="18" name="Rectangle 17"/>
          <p:cNvSpPr/>
          <p:nvPr/>
        </p:nvSpPr>
        <p:spPr>
          <a:xfrm>
            <a:off x="932688" y="432206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450080"/>
            <a:ext cx="3291492"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Qu'est-ce qu'il faut apporter ?</a:t>
            </a:r>
          </a:p>
        </p:txBody>
      </p:sp>
      <p:sp>
        <p:nvSpPr>
          <p:cNvPr id="20" name="TextBox 19"/>
          <p:cNvSpPr txBox="1"/>
          <p:nvPr/>
        </p:nvSpPr>
        <p:spPr>
          <a:xfrm>
            <a:off x="4443636" y="4450080"/>
            <a:ext cx="6595914" cy="304800"/>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Elle demande ce qu'il faut apporter.</a:t>
            </a:r>
          </a:p>
        </p:txBody>
      </p:sp>
      <p:sp>
        <p:nvSpPr>
          <p:cNvPr id="21" name="Rectangle 20"/>
          <p:cNvSpPr/>
          <p:nvPr/>
        </p:nvSpPr>
        <p:spPr>
          <a:xfrm>
            <a:off x="932688" y="482803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956048"/>
            <a:ext cx="3291492"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Rappelez-moi avant midi.</a:t>
            </a:r>
          </a:p>
        </p:txBody>
      </p:sp>
      <p:sp>
        <p:nvSpPr>
          <p:cNvPr id="23" name="TextBox 22"/>
          <p:cNvSpPr txBox="1"/>
          <p:nvPr/>
        </p:nvSpPr>
        <p:spPr>
          <a:xfrm>
            <a:off x="4443636" y="4956048"/>
            <a:ext cx="6595914" cy="304800"/>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Elle demande de la rappeler avant midi.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Le travail par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LES MOTS QUI RELIENT</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 par sorte de phrase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746760"/>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Une affirmation : « que »</a:t>
            </a:r>
          </a:p>
        </p:txBody>
      </p:sp>
      <p:sp>
        <p:nvSpPr>
          <p:cNvPr id="9" name="TextBox 8"/>
          <p:cNvSpPr txBox="1"/>
          <p:nvPr/>
        </p:nvSpPr>
        <p:spPr>
          <a:xfrm>
            <a:off x="886968" y="285902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Elle dit qu'elle ne peut pas venir. Il explique que le formulaire est signé.</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746760"/>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Une question fermée : « si »</a:t>
            </a:r>
          </a:p>
        </p:txBody>
      </p:sp>
      <p:sp>
        <p:nvSpPr>
          <p:cNvPr id="12" name="TextBox 11"/>
          <p:cNvSpPr txBox="1"/>
          <p:nvPr/>
        </p:nvSpPr>
        <p:spPr>
          <a:xfrm>
            <a:off x="6498183" y="285902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Elle demande si la journée est payée. Jamais « si est-ce que ».</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746760"/>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Une question ouverte : le mot reste</a:t>
            </a:r>
          </a:p>
        </p:txBody>
      </p:sp>
      <p:sp>
        <p:nvSpPr>
          <p:cNvPr id="15" name="TextBox 14"/>
          <p:cNvSpPr txBox="1"/>
          <p:nvPr/>
        </p:nvSpPr>
        <p:spPr>
          <a:xfrm>
            <a:off x="886968" y="507644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Elle demande quand nous rappelons, où est le formulaire, qui remplace.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746760"/>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Un ordre : « de » plus l'infinitif</a:t>
            </a:r>
          </a:p>
        </p:txBody>
      </p:sp>
      <p:sp>
        <p:nvSpPr>
          <p:cNvPr id="18" name="TextBox 17"/>
          <p:cNvSpPr txBox="1"/>
          <p:nvPr/>
        </p:nvSpPr>
        <p:spPr>
          <a:xfrm>
            <a:off x="6498183" y="507644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Elle demande de la rappeler. Il demande d'envoyer le formulaire.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Le travail par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GARDER « EST-CE QUE »</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Elle demande si est-ce que quelqu'un peut venir.</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Elle demande si quelqu'un peut venir.</a:t>
            </a:r>
          </a:p>
        </p:txBody>
      </p:sp>
      <p:sp>
        <p:nvSpPr>
          <p:cNvPr id="13" name="Rounded Rectangle 12"/>
          <p:cNvSpPr/>
          <p:nvPr/>
        </p:nvSpPr>
        <p:spPr>
          <a:xfrm>
            <a:off x="566928" y="4462272"/>
            <a:ext cx="11057839" cy="1285240"/>
          </a:xfrm>
          <a:prstGeom prst="roundRect">
            <a:avLst>
              <a:gd name="adj" fmla="val 113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Si » remplace « est-ce que » : il ne s'ajoute pas à lui. Une seule des deux formes survit, et c'est « si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Le travail par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OUBLIER DE CHANGER LES PRONOMS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Elle dit que je ne peux pas venir mercredi.</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Elle dit qu'elle ne peut pas venir mercredi.</a:t>
            </a:r>
          </a:p>
        </p:txBody>
      </p:sp>
      <p:sp>
        <p:nvSpPr>
          <p:cNvPr id="13" name="Rounded Rectangle 12"/>
          <p:cNvSpPr/>
          <p:nvPr/>
        </p:nvSpPr>
        <p:spPr>
          <a:xfrm>
            <a:off x="566928" y="4462272"/>
            <a:ext cx="11057839" cy="1285240"/>
          </a:xfrm>
          <a:prstGeom prst="roundRect">
            <a:avLst>
              <a:gd name="adj" fmla="val 113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En rapportant, « je » devient « elle » et « mon » devient « son ». Sans ce changement, la note fait croire que c'est vous qui ne venez pas.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Le travail par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TRANSFORMATION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Rapportez au présent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Commencez par les mots donnés.</a:t>
            </a:r>
          </a:p>
        </p:txBody>
      </p:sp>
      <p:sp>
        <p:nvSpPr>
          <p:cNvPr id="8" name="Rounded Rectangle 7"/>
          <p:cNvSpPr/>
          <p:nvPr/>
        </p:nvSpPr>
        <p:spPr>
          <a:xfrm>
            <a:off x="566928" y="2139696"/>
            <a:ext cx="5464911" cy="808735"/>
          </a:xfrm>
          <a:prstGeom prst="roundRect">
            <a:avLst>
              <a:gd name="adj" fmla="val 1809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3611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251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4504791"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Je ne peux pas venir cette semaine. » Elle dit…</a:t>
            </a:r>
          </a:p>
        </p:txBody>
      </p:sp>
      <p:sp>
        <p:nvSpPr>
          <p:cNvPr id="12" name="Rounded Rectangle 11"/>
          <p:cNvSpPr/>
          <p:nvPr/>
        </p:nvSpPr>
        <p:spPr>
          <a:xfrm>
            <a:off x="6159855" y="2139696"/>
            <a:ext cx="5464911" cy="808735"/>
          </a:xfrm>
          <a:prstGeom prst="roundRect">
            <a:avLst>
              <a:gd name="adj" fmla="val 1809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3611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4251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6937095" y="2295144"/>
            <a:ext cx="4504791"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Est-ce que quelqu'un peut passer ? » Elle demande…</a:t>
            </a:r>
          </a:p>
        </p:txBody>
      </p:sp>
      <p:sp>
        <p:nvSpPr>
          <p:cNvPr id="16" name="Rounded Rectangle 15"/>
          <p:cNvSpPr/>
          <p:nvPr/>
        </p:nvSpPr>
        <p:spPr>
          <a:xfrm>
            <a:off x="566928" y="3076447"/>
            <a:ext cx="5464911" cy="808735"/>
          </a:xfrm>
          <a:prstGeom prst="roundRect">
            <a:avLst>
              <a:gd name="adj" fmla="val 1809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29793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36194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231895"/>
            <a:ext cx="4504791"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Quand est-ce que vous me rappelez ? » Elle demande…</a:t>
            </a:r>
          </a:p>
        </p:txBody>
      </p:sp>
      <p:sp>
        <p:nvSpPr>
          <p:cNvPr id="20" name="Rounded Rectangle 19"/>
          <p:cNvSpPr/>
          <p:nvPr/>
        </p:nvSpPr>
        <p:spPr>
          <a:xfrm>
            <a:off x="6159855" y="3076447"/>
            <a:ext cx="5464911" cy="808735"/>
          </a:xfrm>
          <a:prstGeom prst="roundRect">
            <a:avLst>
              <a:gd name="adj" fmla="val 1809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29793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36194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6937095" y="3231895"/>
            <a:ext cx="4504791"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Où est le formulaire ? » Il demande…</a:t>
            </a:r>
          </a:p>
        </p:txBody>
      </p:sp>
      <p:sp>
        <p:nvSpPr>
          <p:cNvPr id="24" name="Rounded Rectangle 23"/>
          <p:cNvSpPr/>
          <p:nvPr/>
        </p:nvSpPr>
        <p:spPr>
          <a:xfrm>
            <a:off x="566928" y="4013199"/>
            <a:ext cx="5464911" cy="808735"/>
          </a:xfrm>
          <a:prstGeom prst="roundRect">
            <a:avLst>
              <a:gd name="adj" fmla="val 1809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234687"/>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2986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4168647"/>
            <a:ext cx="4504791"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Qu'est-ce qu'il faut remplir ? » Elle demande…</a:t>
            </a:r>
          </a:p>
        </p:txBody>
      </p:sp>
      <p:sp>
        <p:nvSpPr>
          <p:cNvPr id="28" name="Rounded Rectangle 27"/>
          <p:cNvSpPr/>
          <p:nvPr/>
        </p:nvSpPr>
        <p:spPr>
          <a:xfrm>
            <a:off x="6159855" y="4013199"/>
            <a:ext cx="5464911" cy="808735"/>
          </a:xfrm>
          <a:prstGeom prst="roundRect">
            <a:avLst>
              <a:gd name="adj" fmla="val 1809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234687"/>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2986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6937095" y="4168647"/>
            <a:ext cx="4504791"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Rappelez-moi avant midi. » Elle demande…</a:t>
            </a:r>
          </a:p>
        </p:txBody>
      </p:sp>
      <p:sp>
        <p:nvSpPr>
          <p:cNvPr id="32" name="Rounded Rectangle 31"/>
          <p:cNvSpPr/>
          <p:nvPr/>
        </p:nvSpPr>
        <p:spPr>
          <a:xfrm>
            <a:off x="566928" y="4949951"/>
            <a:ext cx="5464911" cy="808735"/>
          </a:xfrm>
          <a:prstGeom prst="roundRect">
            <a:avLst>
              <a:gd name="adj" fmla="val 1809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5171439"/>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5235447"/>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7</a:t>
            </a:r>
          </a:p>
        </p:txBody>
      </p:sp>
      <p:sp>
        <p:nvSpPr>
          <p:cNvPr id="35" name="TextBox 34"/>
          <p:cNvSpPr txBox="1"/>
          <p:nvPr/>
        </p:nvSpPr>
        <p:spPr>
          <a:xfrm>
            <a:off x="1344168" y="5105399"/>
            <a:ext cx="4504791"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Mon rendez-vous est jeudi matin. » Elle dit…</a:t>
            </a:r>
          </a:p>
        </p:txBody>
      </p:sp>
      <p:sp>
        <p:nvSpPr>
          <p:cNvPr id="36" name="Rounded Rectangle 35"/>
          <p:cNvSpPr/>
          <p:nvPr/>
        </p:nvSpPr>
        <p:spPr>
          <a:xfrm>
            <a:off x="6159855" y="4949951"/>
            <a:ext cx="5464911" cy="808735"/>
          </a:xfrm>
          <a:prstGeom prst="roundRect">
            <a:avLst>
              <a:gd name="adj" fmla="val 1809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6434175" y="5171439"/>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34175" y="5235447"/>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8</a:t>
            </a:r>
          </a:p>
        </p:txBody>
      </p:sp>
      <p:sp>
        <p:nvSpPr>
          <p:cNvPr id="39" name="TextBox 38"/>
          <p:cNvSpPr txBox="1"/>
          <p:nvPr/>
        </p:nvSpPr>
        <p:spPr>
          <a:xfrm>
            <a:off x="6937095" y="5105399"/>
            <a:ext cx="4504791"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Envoyez le formulaire à la paie. » Il demande…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Le travail par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Rapportez au présent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5464911" cy="808735"/>
          </a:xfrm>
          <a:prstGeom prst="roundRect">
            <a:avLst>
              <a:gd name="adj" fmla="val 1809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3611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251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4504791"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Je ne peux pas venir cette semaine. » Elle dit…   </a:t>
            </a:r>
            <a:r>
              <a:rPr sz="1400" b="1" i="0">
                <a:solidFill>
                  <a:srgbClr val="07734A"/>
                </a:solidFill>
                <a:latin typeface="Verdana"/>
              </a:rPr>
              <a:t>» qu'elle ne peut pas venir cette semaine</a:t>
            </a:r>
          </a:p>
        </p:txBody>
      </p:sp>
      <p:sp>
        <p:nvSpPr>
          <p:cNvPr id="12" name="Rounded Rectangle 11"/>
          <p:cNvSpPr/>
          <p:nvPr/>
        </p:nvSpPr>
        <p:spPr>
          <a:xfrm>
            <a:off x="6159855" y="2139696"/>
            <a:ext cx="5464911" cy="808735"/>
          </a:xfrm>
          <a:prstGeom prst="roundRect">
            <a:avLst>
              <a:gd name="adj" fmla="val 1809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3611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4251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6937095" y="2295144"/>
            <a:ext cx="4504791"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Est-ce que quelqu'un peut passer ? » Elle demande…   </a:t>
            </a:r>
            <a:r>
              <a:rPr sz="1400" b="1" i="0">
                <a:solidFill>
                  <a:srgbClr val="07734A"/>
                </a:solidFill>
                <a:latin typeface="Verdana"/>
              </a:rPr>
              <a:t>» si quelqu'un peut passer</a:t>
            </a:r>
          </a:p>
        </p:txBody>
      </p:sp>
      <p:sp>
        <p:nvSpPr>
          <p:cNvPr id="16" name="Rounded Rectangle 15"/>
          <p:cNvSpPr/>
          <p:nvPr/>
        </p:nvSpPr>
        <p:spPr>
          <a:xfrm>
            <a:off x="566928" y="3076447"/>
            <a:ext cx="5464911" cy="808735"/>
          </a:xfrm>
          <a:prstGeom prst="roundRect">
            <a:avLst>
              <a:gd name="adj" fmla="val 1809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29793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36194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231895"/>
            <a:ext cx="4504791"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Quand est-ce que vous me rappelez ? » Elle demande…   </a:t>
            </a:r>
            <a:r>
              <a:rPr sz="1400" b="1" i="0">
                <a:solidFill>
                  <a:srgbClr val="07734A"/>
                </a:solidFill>
                <a:latin typeface="Verdana"/>
              </a:rPr>
              <a:t>» quand nous la rappelons</a:t>
            </a:r>
          </a:p>
        </p:txBody>
      </p:sp>
      <p:sp>
        <p:nvSpPr>
          <p:cNvPr id="20" name="Rounded Rectangle 19"/>
          <p:cNvSpPr/>
          <p:nvPr/>
        </p:nvSpPr>
        <p:spPr>
          <a:xfrm>
            <a:off x="6159855" y="3076447"/>
            <a:ext cx="5464911" cy="808735"/>
          </a:xfrm>
          <a:prstGeom prst="roundRect">
            <a:avLst>
              <a:gd name="adj" fmla="val 1809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29793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36194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6937095" y="3231895"/>
            <a:ext cx="4504791"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Où est le formulaire ? » Il demande…   </a:t>
            </a:r>
            <a:r>
              <a:rPr sz="1400" b="1" i="0">
                <a:solidFill>
                  <a:srgbClr val="07734A"/>
                </a:solidFill>
                <a:latin typeface="Verdana"/>
              </a:rPr>
              <a:t>» où est le formulaire</a:t>
            </a:r>
          </a:p>
        </p:txBody>
      </p:sp>
      <p:sp>
        <p:nvSpPr>
          <p:cNvPr id="24" name="Rounded Rectangle 23"/>
          <p:cNvSpPr/>
          <p:nvPr/>
        </p:nvSpPr>
        <p:spPr>
          <a:xfrm>
            <a:off x="566928" y="4013199"/>
            <a:ext cx="5464911" cy="808735"/>
          </a:xfrm>
          <a:prstGeom prst="roundRect">
            <a:avLst>
              <a:gd name="adj" fmla="val 1809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234687"/>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2986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4168647"/>
            <a:ext cx="4504791"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Qu'est-ce qu'il faut remplir ? » Elle demande…   </a:t>
            </a:r>
            <a:r>
              <a:rPr sz="1400" b="1" i="0">
                <a:solidFill>
                  <a:srgbClr val="07734A"/>
                </a:solidFill>
                <a:latin typeface="Verdana"/>
              </a:rPr>
              <a:t>» ce qu'il faut remplir</a:t>
            </a:r>
          </a:p>
        </p:txBody>
      </p:sp>
      <p:sp>
        <p:nvSpPr>
          <p:cNvPr id="28" name="Rounded Rectangle 27"/>
          <p:cNvSpPr/>
          <p:nvPr/>
        </p:nvSpPr>
        <p:spPr>
          <a:xfrm>
            <a:off x="6159855" y="4013199"/>
            <a:ext cx="5464911" cy="808735"/>
          </a:xfrm>
          <a:prstGeom prst="roundRect">
            <a:avLst>
              <a:gd name="adj" fmla="val 1809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234687"/>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2986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6937095" y="4168647"/>
            <a:ext cx="4504791"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Rappelez-moi avant midi. » Elle demande…   </a:t>
            </a:r>
            <a:r>
              <a:rPr sz="1400" b="1" i="0">
                <a:solidFill>
                  <a:srgbClr val="07734A"/>
                </a:solidFill>
                <a:latin typeface="Verdana"/>
              </a:rPr>
              <a:t>» de la rappeler avant midi</a:t>
            </a:r>
          </a:p>
        </p:txBody>
      </p:sp>
      <p:sp>
        <p:nvSpPr>
          <p:cNvPr id="32" name="Rounded Rectangle 31"/>
          <p:cNvSpPr/>
          <p:nvPr/>
        </p:nvSpPr>
        <p:spPr>
          <a:xfrm>
            <a:off x="566928" y="4949951"/>
            <a:ext cx="5464911" cy="808735"/>
          </a:xfrm>
          <a:prstGeom prst="roundRect">
            <a:avLst>
              <a:gd name="adj" fmla="val 1809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5171439"/>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5235447"/>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7</a:t>
            </a:r>
          </a:p>
        </p:txBody>
      </p:sp>
      <p:sp>
        <p:nvSpPr>
          <p:cNvPr id="35" name="TextBox 34"/>
          <p:cNvSpPr txBox="1"/>
          <p:nvPr/>
        </p:nvSpPr>
        <p:spPr>
          <a:xfrm>
            <a:off x="1344168" y="5105399"/>
            <a:ext cx="4504791"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Mon rendez-vous est jeudi matin. » Elle dit…   </a:t>
            </a:r>
            <a:r>
              <a:rPr sz="1400" b="1" i="0">
                <a:solidFill>
                  <a:srgbClr val="07734A"/>
                </a:solidFill>
                <a:latin typeface="Verdana"/>
              </a:rPr>
              <a:t>» que son rendez-vous est jeudi matin</a:t>
            </a:r>
          </a:p>
        </p:txBody>
      </p:sp>
      <p:sp>
        <p:nvSpPr>
          <p:cNvPr id="36" name="Rounded Rectangle 35"/>
          <p:cNvSpPr/>
          <p:nvPr/>
        </p:nvSpPr>
        <p:spPr>
          <a:xfrm>
            <a:off x="6159855" y="4949951"/>
            <a:ext cx="5464911" cy="808735"/>
          </a:xfrm>
          <a:prstGeom prst="roundRect">
            <a:avLst>
              <a:gd name="adj" fmla="val 1809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6434175" y="5171439"/>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34175" y="5235447"/>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8</a:t>
            </a:r>
          </a:p>
        </p:txBody>
      </p:sp>
      <p:sp>
        <p:nvSpPr>
          <p:cNvPr id="39" name="TextBox 38"/>
          <p:cNvSpPr txBox="1"/>
          <p:nvPr/>
        </p:nvSpPr>
        <p:spPr>
          <a:xfrm>
            <a:off x="6937095" y="5105399"/>
            <a:ext cx="4504791"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Envoyez le formulaire à la paie. » Il demande…   </a:t>
            </a:r>
            <a:r>
              <a:rPr sz="1400" b="1" i="0">
                <a:solidFill>
                  <a:srgbClr val="07734A"/>
                </a:solidFill>
                <a:latin typeface="Verdana"/>
              </a:rPr>
              <a:t>» d'envoyer le formulaire à la paie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Le travail par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ÉCOUTE ET TRANSFORMATION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message de madame Thériault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Rapportez quatre phrases du message que vous venez d'entendre.</a:t>
            </a:r>
          </a:p>
        </p:txBody>
      </p:sp>
      <p:sp>
        <p:nvSpPr>
          <p:cNvPr id="8" name="Rounded Rectangle 7"/>
          <p:cNvSpPr/>
          <p:nvPr/>
        </p:nvSpPr>
        <p:spPr>
          <a:xfrm>
            <a:off x="566928" y="2139696"/>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qu'elle annonce sur son aide du mercredi.</a:t>
            </a:r>
          </a:p>
        </p:txBody>
      </p:sp>
      <p:sp>
        <p:nvSpPr>
          <p:cNvPr id="12" name="Rounded Rectangle 11"/>
          <p:cNvSpPr/>
          <p:nvPr/>
        </p:nvSpPr>
        <p:spPr>
          <a:xfrm>
            <a:off x="566928" y="3254248"/>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56463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62864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409696"/>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qu'elle demande à la coopérative.</a:t>
            </a:r>
          </a:p>
        </p:txBody>
      </p:sp>
      <p:sp>
        <p:nvSpPr>
          <p:cNvPr id="16" name="Rounded Rectangle 15"/>
          <p:cNvSpPr/>
          <p:nvPr/>
        </p:nvSpPr>
        <p:spPr>
          <a:xfrm>
            <a:off x="566928" y="436880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51027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57428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452424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qu'elle dit de son rendez-vous.</a:t>
            </a:r>
          </a:p>
        </p:txBody>
      </p:sp>
      <p:sp>
        <p:nvSpPr>
          <p:cNvPr id="20" name="Rounded Rectangle 19"/>
          <p:cNvSpPr/>
          <p:nvPr/>
        </p:nvSpPr>
        <p:spPr>
          <a:xfrm>
            <a:off x="566928" y="514553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28701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35101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530098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qu'elle demande à la fin.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Le travail par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message de madame Thériault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qu'elle annonce sur son aide du mercredi.   </a:t>
            </a:r>
            <a:r>
              <a:rPr sz="1900" b="1" i="0">
                <a:solidFill>
                  <a:srgbClr val="07734A"/>
                </a:solidFill>
                <a:latin typeface="Verdana"/>
              </a:rPr>
              <a:t>» Elle dit que son aide du mercredi ne viendra pas.</a:t>
            </a:r>
          </a:p>
        </p:txBody>
      </p:sp>
      <p:sp>
        <p:nvSpPr>
          <p:cNvPr id="12" name="Rounded Rectangle 11"/>
          <p:cNvSpPr/>
          <p:nvPr/>
        </p:nvSpPr>
        <p:spPr>
          <a:xfrm>
            <a:off x="566928" y="3254248"/>
            <a:ext cx="11057839"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56463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62864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409696"/>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qu'elle demande à la coopérative.   </a:t>
            </a:r>
            <a:r>
              <a:rPr sz="1900" b="1" i="0">
                <a:solidFill>
                  <a:srgbClr val="07734A"/>
                </a:solidFill>
                <a:latin typeface="Verdana"/>
              </a:rPr>
              <a:t>» Elle demande si quelqu'un d'autre peut passer.</a:t>
            </a:r>
          </a:p>
        </p:txBody>
      </p:sp>
      <p:sp>
        <p:nvSpPr>
          <p:cNvPr id="16" name="Rounded Rectangle 15"/>
          <p:cNvSpPr/>
          <p:nvPr/>
        </p:nvSpPr>
        <p:spPr>
          <a:xfrm>
            <a:off x="566928" y="436880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51027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57428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452424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qu'elle dit de son rendez-vous.   </a:t>
            </a:r>
            <a:r>
              <a:rPr sz="1900" b="1" i="0">
                <a:solidFill>
                  <a:srgbClr val="07734A"/>
                </a:solidFill>
                <a:latin typeface="Verdana"/>
              </a:rPr>
              <a:t>» Elle dit que son rendez-vous est jeudi.</a:t>
            </a:r>
          </a:p>
        </p:txBody>
      </p:sp>
      <p:sp>
        <p:nvSpPr>
          <p:cNvPr id="20" name="Rounded Rectangle 19"/>
          <p:cNvSpPr/>
          <p:nvPr/>
        </p:nvSpPr>
        <p:spPr>
          <a:xfrm>
            <a:off x="566928" y="514553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28701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35101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530098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qu'elle demande à la fin.   </a:t>
            </a:r>
            <a:r>
              <a:rPr sz="1900" b="1" i="0">
                <a:solidFill>
                  <a:srgbClr val="07734A"/>
                </a:solidFill>
                <a:latin typeface="Verdana"/>
              </a:rPr>
              <a:t>» Elle demande de la rappeler avant midi.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Le travail par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Écoutez quelqu'un parler deux minutes, puis rapportez trois de ses phrases.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affirmation, une question fermée, une question ouverte.</a:t>
            </a:r>
          </a:p>
        </p:txBody>
      </p:sp>
      <p:sp>
        <p:nvSpPr>
          <p:cNvPr id="10" name="Rounded Rectangle 9"/>
          <p:cNvSpPr/>
          <p:nvPr/>
        </p:nvSpPr>
        <p:spPr>
          <a:xfrm>
            <a:off x="566928" y="4680712"/>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Commencez chaque fois par « il dit que », « elle demande si », « il demande quand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Le travail par écrit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