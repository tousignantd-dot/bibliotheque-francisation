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de phonétique, mais pas de sons : de prosodie. Prévenir le groupe que rien ne sera nouveau au niveau des mots - tout ce qu'on va travailler, ils le disent déjà, mais sur une seule note.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quatrième objectif surprend toujours : les élèves croient qu'insister veut dire parler plus fort. En français, non.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deux phrases soi-même, deux fois chacune, sans rien expliquer. Laisser le groupe nommer la différence avec ses propres mots avant d'introduire « monte » et « descend ».</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découper trois phrases du dialogue au tableau, à la barre oblique, avant de passer à la suite.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deux dernières cartes règlent une confusion très fréquente : les élèves croient que toute question monte. Faire dire les deux questions l'une après l'autre.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 chaque groupe deux fois, sans exagérer la première fois. Faire lever la main : main en haut si ça monte, main en bas si ça descend. C'est l'exercice `prProso` du module.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Le faire entendre trois fois : sans accent, avec l'accent au bon endroit, puis en criant. Le troisième essai fait rire, et c'est ce qui fait comprendre.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Beaucoup d'élèves viennent de langues à intonation montante généralisée. Nommer ce fait, sans le présenter comme un défaut : c'est une habitude d'une langue transposée dans une autre.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double barre marque la charnière : ça monte avant, ça descend après. Faire passer chaque élève sur une phrase, debout. Deux minutes par personne, pas plus.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Devoir d'écoute de soi. Le téléphone suffit. C'est le seul moyen de corriger une intonation : personne ne s'entend en parlant.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SÉANCE A2  ·  MODULE 2</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La voix qui monte et la voix qui descend</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exposé dit sur une seule note s'entend comme une liste, et une liste ne se retient pas. Ce qui fait qu'on suit quelqu'un pendant douze minutes, ce n'est pas son vocabulaire : c'est sa mélodie.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Présenter un projet au travail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Présenter un projet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découper une phrase en groupes rythmiques de trois à sept syllabes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entendre que la voix monte quand la phrase continue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entendre qu'elle descend quand la phrase est finie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mettre un mot en avant en appuyant sa première syllabe, sans crier.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Présenter un projet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ÉCOUTE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000" b="1" i="0">
                <a:solidFill>
                  <a:srgbClr val="17181A"/>
                </a:solidFill>
                <a:latin typeface="Verdana"/>
              </a:rPr>
              <a:t>Deux fois la même phrase. Qu'est-ce qui change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3B4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D'abord, on mesure... » puis « Voilà. Des questions ?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3B4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que la voix finit en haut ou en bas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3B4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Dans votre première langue, est-ce pareil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3B4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Comment savez-vous qu'une personne a fini de parler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Présenter un projet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ON NE PARLE PAS MOT PAR MOT</a:t>
            </a:r>
          </a:p>
        </p:txBody>
      </p:sp>
      <p:sp>
        <p:nvSpPr>
          <p:cNvPr id="6" name="Rounded Rectangle 5"/>
          <p:cNvSpPr/>
          <p:nvPr/>
        </p:nvSpPr>
        <p:spPr>
          <a:xfrm>
            <a:off x="566928" y="1225296"/>
            <a:ext cx="11057839" cy="1967991"/>
          </a:xfrm>
          <a:prstGeom prst="roundRect">
            <a:avLst>
              <a:gd name="adj" fmla="val 7434"/>
            </a:avLst>
          </a:prstGeom>
          <a:solidFill>
            <a:srgbClr val="E8EA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Le français se dit par groupes de trois à sept syllabes.</a:t>
            </a:r>
          </a:p>
        </p:txBody>
      </p:sp>
      <p:sp>
        <p:nvSpPr>
          <p:cNvPr id="8" name="Rounded Rectangle 7"/>
          <p:cNvSpPr/>
          <p:nvPr/>
        </p:nvSpPr>
        <p:spPr>
          <a:xfrm>
            <a:off x="566928" y="3467607"/>
            <a:ext cx="11057839" cy="2408428"/>
          </a:xfrm>
          <a:prstGeom prst="roundRect">
            <a:avLst>
              <a:gd name="adj" fmla="val 607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9512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Entre deux groupes, il y a un arrêt très court : trop court pour être une pause, assez long pour être entendu. « D'abord, on mesure / pendant deux semaines / chaque camion. » Trois groupes, trois respirations minuscules, et la phrase devient suivable. À l'intérieur d'un groupe, un seul mot est accentué : le dernier.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Présenter un projet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que fait la voix, et ce que ça dit</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3B49A0"/>
                </a:solidFill>
                <a:latin typeface="Verdana"/>
              </a:rPr>
              <a:t>La voix monte</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600" b="0" i="0">
                <a:solidFill>
                  <a:srgbClr val="3A3D40"/>
                </a:solidFill>
                <a:latin typeface="Verdana"/>
              </a:rPr>
              <a:t>À la fin d'un groupe qui n'est pas le dernier. Ce n'est pas une question : c'est un signal qui dit « ne partez pas, la suite arrive ».</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3B49A0"/>
                </a:solidFill>
                <a:latin typeface="Verdana"/>
              </a:rPr>
              <a:t>La voix descend</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600" b="0" i="0">
                <a:solidFill>
                  <a:srgbClr val="3A3D40"/>
                </a:solidFill>
                <a:latin typeface="Verdana"/>
              </a:rPr>
              <a:t>Au dernier groupe de la phrase, franchement. C'est le seul signal qui autorise l'autre à parler.</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3B49A0"/>
                </a:solidFill>
                <a:latin typeface="Verdana"/>
              </a:rPr>
              <a:t>La question qui monte</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600" b="0" i="0">
                <a:solidFill>
                  <a:srgbClr val="3A3D40"/>
                </a:solidFill>
                <a:latin typeface="Verdana"/>
              </a:rPr>
              <a:t>Seule la question sans mot interrogatif monte : « On décide en novembre ? »</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87096"/>
          </a:xfrm>
          <a:prstGeom prst="rect">
            <a:avLst/>
          </a:prstGeom>
          <a:noFill/>
        </p:spPr>
        <p:txBody>
          <a:bodyPr wrap="square" lIns="0" rIns="0" tIns="0" bIns="0" anchor="t">
            <a:spAutoFit/>
          </a:bodyPr>
          <a:lstStyle/>
          <a:p>
            <a:pPr algn="l">
              <a:lnSpc>
                <a:spcPct val="118000"/>
              </a:lnSpc>
            </a:pPr>
            <a:r>
              <a:rPr sz="2400" b="1" i="0">
                <a:solidFill>
                  <a:srgbClr val="3B49A0"/>
                </a:solidFill>
                <a:latin typeface="Verdana"/>
              </a:rPr>
              <a:t>La question qui descend</a:t>
            </a:r>
          </a:p>
        </p:txBody>
      </p:sp>
      <p:sp>
        <p:nvSpPr>
          <p:cNvPr id="18" name="TextBox 17"/>
          <p:cNvSpPr txBox="1"/>
          <p:nvPr/>
        </p:nvSpPr>
        <p:spPr>
          <a:xfrm>
            <a:off x="6498183" y="4716780"/>
            <a:ext cx="4806543" cy="1089660"/>
          </a:xfrm>
          <a:prstGeom prst="rect">
            <a:avLst/>
          </a:prstGeom>
          <a:noFill/>
        </p:spPr>
        <p:txBody>
          <a:bodyPr wrap="square" lIns="0" rIns="0" tIns="0" bIns="0" anchor="t">
            <a:spAutoFit/>
          </a:bodyPr>
          <a:lstStyle/>
          <a:p>
            <a:pPr algn="l">
              <a:lnSpc>
                <a:spcPct val="142000"/>
              </a:lnSpc>
            </a:pPr>
            <a:r>
              <a:rPr sz="1600" b="0" i="0">
                <a:solidFill>
                  <a:srgbClr val="3A3D40"/>
                </a:solidFill>
                <a:latin typeface="Verdana"/>
              </a:rPr>
              <a:t>Une question avec mot interrogatif descend comme une phrase ordinaire : « Quand est-ce qu'on décide ?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Présenter un projet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ÉCOUTE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Est-ce que la voix monte ou descend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chaque groupe et dites ce que fait la voix.</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y a quatre étapes</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Voilà. Des questions ?</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D'abord, on mesure</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Enfin, on installe pour de bon.</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Pour l'échéancier, maintenant</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Rien n'est acheté avant la mi-novembre.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Présenter un projet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Est-ce que la voix monte ou descend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y a quatre étapes   </a:t>
            </a:r>
            <a:r>
              <a:rPr sz="1400" b="1" i="0">
                <a:solidFill>
                  <a:srgbClr val="07734A"/>
                </a:solidFill>
                <a:latin typeface="Verdana"/>
              </a:rPr>
              <a:t>» elle monte - la phrase continue</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Voilà. Des questions ?   </a:t>
            </a:r>
            <a:r>
              <a:rPr sz="1400" b="1" i="0">
                <a:solidFill>
                  <a:srgbClr val="07734A"/>
                </a:solidFill>
                <a:latin typeface="Verdana"/>
              </a:rPr>
              <a:t>» elle descend - la parole est rendue</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D'abord, on mesure   </a:t>
            </a:r>
            <a:r>
              <a:rPr sz="1400" b="1" i="0">
                <a:solidFill>
                  <a:srgbClr val="07734A"/>
                </a:solidFill>
                <a:latin typeface="Verdana"/>
              </a:rPr>
              <a:t>» elle monte</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Enfin, on installe pour de bon.   </a:t>
            </a:r>
            <a:r>
              <a:rPr sz="1400" b="1" i="0">
                <a:solidFill>
                  <a:srgbClr val="07734A"/>
                </a:solidFill>
                <a:latin typeface="Verdana"/>
              </a:rPr>
              <a:t>» elle descend</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Pour l'échéancier, maintenant   </a:t>
            </a:r>
            <a:r>
              <a:rPr sz="1400" b="1" i="0">
                <a:solidFill>
                  <a:srgbClr val="07734A"/>
                </a:solidFill>
                <a:latin typeface="Verdana"/>
              </a:rPr>
              <a:t>» elle monte</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Rien n'est acheté avant la mi-novembre.   </a:t>
            </a:r>
            <a:r>
              <a:rPr sz="1400" b="1" i="0">
                <a:solidFill>
                  <a:srgbClr val="07734A"/>
                </a:solidFill>
                <a:latin typeface="Verdana"/>
              </a:rPr>
              <a:t>» elle descend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Présenter un projet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INSISTER, C'EST APPUYER, PAS CRIER</a:t>
            </a:r>
          </a:p>
        </p:txBody>
      </p:sp>
      <p:sp>
        <p:nvSpPr>
          <p:cNvPr id="6" name="Rounded Rectangle 5"/>
          <p:cNvSpPr/>
          <p:nvPr/>
        </p:nvSpPr>
        <p:spPr>
          <a:xfrm>
            <a:off x="566928" y="1225296"/>
            <a:ext cx="11057839" cy="1967991"/>
          </a:xfrm>
          <a:prstGeom prst="roundRect">
            <a:avLst>
              <a:gd name="adj" fmla="val 7434"/>
            </a:avLst>
          </a:prstGeom>
          <a:solidFill>
            <a:srgbClr val="E8EA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L'accent d'insistance porte sur la PREMIÈRE syllabe du mot.</a:t>
            </a:r>
          </a:p>
        </p:txBody>
      </p:sp>
      <p:sp>
        <p:nvSpPr>
          <p:cNvPr id="8" name="Rounded Rectangle 7"/>
          <p:cNvSpPr/>
          <p:nvPr/>
        </p:nvSpPr>
        <p:spPr>
          <a:xfrm>
            <a:off x="566928" y="3467607"/>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Pour qu'un mot ressorte, on ne monte pas le volume : on appuie sa première syllabe, on la tient un peu plus longtemps, et on ralentit juste avant. « C'est la partie la moins SPEC-taculaire du projet. » Un ou deux accents d'insistance par minute suffisent. Trois de suite, et plus rien ne ressort.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Présenter un projet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PRONONCIATION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monter la voix à la fin de chaque phrase</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descendre quand la phrase est finie</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C'est l'habitude la plus répandue chez les adultes qui présentent en français. Elle donne l'impression qu'on demande la permission à chaque phrase, et la salle finit par ne plus croire ce qu'on dit. Elle se corrige en une semaine, à condition de s'entendre : enregistrez-vous trente secondes et réécoutez-vous.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Présenter un projet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PRATIQUE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Dites-les à voix haute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Un groupe qui monte, puis un groupe qui descend, dans la même phrase.</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D'abord, on mesure, // pendant deux semaines.</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y a quatre étapes, // et je vais les nommer.</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budget, justement : // l'essai coûte quatre cents dollars.</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Trois risques, // et je préfère les nommer moi-même.</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 qui use le dos, // c'est de se pencher.</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En somme : // on mesure, on trace, on essaie, on installe.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Présenter un projet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Enregistrez-vous en disant trois phrases de votre choix.</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Réécoutez-vous : est-ce que vos phrases finissent en haut ou en bas ?</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Redites-les en descendant nettement à la fin.</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Présenter un projet au travail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