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bloc C, et la plus utile hors de la classe. Tout ce qui est présenté ici se vérifie sur cnesst.gouv.qc.ca : le dire au groupe et donner l'adresse. Un élève qui repart avec une règle fausse est moins bien loti qu'un élève qui n'en a aucune.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se travaille dans les deux sens : ce que le droit de refus permet ET ce qu'il ne permet pas. Un élève qui n'apprend que la première moitié se met en difficulté.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Recueillir les réponses sans corriger. Les deux erreurs habituelles sont opposées : « on ne peut rien refuser » et « on peut refuser ce qu'on veut ». Les deux se corrigent avec le tableau du droit de refus.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note règle une question qui vient toujours : une compagnie de deux cents personnes réparties en trois petits ateliers relève du second régime pour chacun. Vérifié sur cnesst.gouv.qc.ca le 22 août 2026.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document qu'Aïcha ne connaissait pas et qui parlait déjà de son problème. Demander au groupe : savez-vous s'il en existe un chez vous ? Presque personne ne le sait, et c'est le point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que Thérèse, dans les dialogues, ne demande jamais la permission de parler : elle intervient de plein droit. C'est ce que son rôle veut dire.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et la plus importante du module hors de la classe. La note est une nuance juridique réelle et elle protège la personne de bonne foi. Loi sur la santé et la sécurité du travail, articles 12 et 13, vérifiés le 22 août 2026.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texte même de l'exercice `t2cnesst`. Les articles 12 et 13 sont cités au mot près : c'est le seul endroit du module où l'on ne reformule pas. Faire remarquer le changement de voix entre 3.4 et l'article 12.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du document. Laisser le temps de le lire en entier avant de poser la première question.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Ouvrir l'exercice `t2cnesst` du module en parallèle : c'est un texte suivi avec passages cliquables, et les élèves y retrouvent les phrases exactes de la loi.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donner un exemple de chaque par le groupe. Les congés supplémentaires d'une convention sont une politique ; le droit de refus est une loi.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réel, à faire hors de la classe. Prévoir cinq minutes au début de la séance D1 pour les réponses : elles sont souvent surprenantes, y compris pour les élèves qui travaillent depuis des années au même endroit.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C4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Ce que la loi dit vraiment</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sortes de textes vous concernent au travail : les politiques de l'employeur, qu'il écrit lui-même, et la loi, qui est la même partout au Québec et qu'aucun employeur ne peut réduire.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Présenter un projet au travail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une politique d'employeur d'une loi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qu'un établissement de vingt travailleurs ou plus doit avoir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qui élit le représentant en santé et en sécurité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dans quels cas le droit de refus s'applique, et dans quels cas non.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DISCUSSION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décide de ce qui est dangereux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nspalette.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trouvez qu'une tâche est dangereuse. Votre chef dit que non.</a:t>
            </a:r>
          </a:p>
        </p:txBody>
      </p:sp>
      <p:sp>
        <p:nvSpPr>
          <p:cNvPr id="12" name="Rounded Rectangle 11"/>
          <p:cNvSpPr/>
          <p:nvPr/>
        </p:nvSpPr>
        <p:spPr>
          <a:xfrm>
            <a:off x="566928" y="297992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 a raison ? Qui tranche ?</a:t>
            </a:r>
          </a:p>
        </p:txBody>
      </p:sp>
      <p:sp>
        <p:nvSpPr>
          <p:cNvPr id="15" name="Rounded Rectangle 14"/>
          <p:cNvSpPr/>
          <p:nvPr/>
        </p:nvSpPr>
        <p:spPr>
          <a:xfrm>
            <a:off x="566928" y="376580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pouvez refuser de la faire ?</a:t>
            </a:r>
          </a:p>
        </p:txBody>
      </p:sp>
      <p:sp>
        <p:nvSpPr>
          <p:cNvPr id="18" name="Rounded Rectangle 17"/>
          <p:cNvSpPr/>
          <p:nvPr/>
        </p:nvSpPr>
        <p:spPr>
          <a:xfrm>
            <a:off x="566928" y="455168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pouvez refuser n'importe quoi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régimes, selon la taille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TAILLE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FAUT AVOIR</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20 travailleurs et plus</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programme de prévention</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comité de santé et de sécurité</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représentant en santé et en sécurité</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19 travailleurs et moins</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plan d'action</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agent de liaison en santé et en sécurité</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Règlement en vigueur depuis le 1er octobre 2025. Le seuil se compte par établissement, pas par entreprise.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PROGRAMME DE PRÉVENTION SE MET À JOUR CHAQUE ANNÉE</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Il s'élabore, s'applique et se met à jour annuellement.</a:t>
            </a:r>
          </a:p>
        </p:txBody>
      </p:sp>
      <p:sp>
        <p:nvSpPr>
          <p:cNvPr id="8" name="Rounded Rectangle 7"/>
          <p:cNvSpPr/>
          <p:nvPr/>
        </p:nvSpPr>
        <p:spPr>
          <a:xfrm>
            <a:off x="566928" y="3467607"/>
            <a:ext cx="11057839" cy="2408428"/>
          </a:xfrm>
          <a:prstGeom prst="roundRect">
            <a:avLst>
              <a:gd name="adj" fmla="val 607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9512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 n'est pas un document qu'on écrit une fois et qu'on range. L'employeur doit y inscrire les risques de son établissement et ce qu'il fait pour les enlever, puis le reprendre tous les ans. Et tous les trois ans, il transmet à la CNESST ses priorités d'action et le suivi de ses mesures, sur le formulaire prescrit.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représentant en santé et en sécurité</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42138"/>
          </a:xfrm>
          <a:prstGeom prst="rect">
            <a:avLst/>
          </a:prstGeom>
          <a:noFill/>
        </p:spPr>
        <p:txBody>
          <a:bodyPr wrap="square" lIns="0" rIns="0" tIns="0" bIns="0" anchor="t">
            <a:spAutoFit/>
          </a:bodyPr>
          <a:lstStyle/>
          <a:p>
            <a:pPr algn="l">
              <a:lnSpc>
                <a:spcPct val="118000"/>
              </a:lnSpc>
            </a:pPr>
            <a:r>
              <a:rPr sz="2100" b="1" i="0">
                <a:solidFill>
                  <a:srgbClr val="1D6B8F"/>
                </a:solidFill>
                <a:latin typeface="Verdana"/>
              </a:rPr>
              <a:t>Il est élu</a:t>
            </a:r>
          </a:p>
        </p:txBody>
      </p:sp>
      <p:sp>
        <p:nvSpPr>
          <p:cNvPr id="9" name="TextBox 8"/>
          <p:cNvSpPr txBox="1"/>
          <p:nvPr/>
        </p:nvSpPr>
        <p:spPr>
          <a:xfrm>
            <a:off x="886968" y="2454402"/>
            <a:ext cx="4806543" cy="1134618"/>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Par les travailleurs, pas nommé par la direction. C'est ce qui distingue Thérèse d'une gestionnaire.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42138"/>
          </a:xfrm>
          <a:prstGeom prst="rect">
            <a:avLst/>
          </a:prstGeom>
          <a:noFill/>
        </p:spPr>
        <p:txBody>
          <a:bodyPr wrap="square" lIns="0" rIns="0" tIns="0" bIns="0" anchor="t">
            <a:spAutoFit/>
          </a:bodyPr>
          <a:lstStyle/>
          <a:p>
            <a:pPr algn="l">
              <a:lnSpc>
                <a:spcPct val="118000"/>
              </a:lnSpc>
            </a:pPr>
            <a:r>
              <a:rPr sz="2100" b="1" i="0">
                <a:solidFill>
                  <a:srgbClr val="1D6B8F"/>
                </a:solidFill>
                <a:latin typeface="Verdana"/>
              </a:rPr>
              <a:t>Il siège au comité</a:t>
            </a:r>
          </a:p>
        </p:txBody>
      </p:sp>
      <p:sp>
        <p:nvSpPr>
          <p:cNvPr id="12" name="TextBox 11"/>
          <p:cNvSpPr txBox="1"/>
          <p:nvPr/>
        </p:nvSpPr>
        <p:spPr>
          <a:xfrm>
            <a:off x="6498183" y="2454402"/>
            <a:ext cx="4806543" cy="1134618"/>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Où au moins la moitié des membres, dont lui, représentent les travailleurs.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42138"/>
          </a:xfrm>
          <a:prstGeom prst="rect">
            <a:avLst/>
          </a:prstGeom>
          <a:noFill/>
        </p:spPr>
        <p:txBody>
          <a:bodyPr wrap="square" lIns="0" rIns="0" tIns="0" bIns="0" anchor="t">
            <a:spAutoFit/>
          </a:bodyPr>
          <a:lstStyle/>
          <a:p>
            <a:pPr algn="l">
              <a:lnSpc>
                <a:spcPct val="118000"/>
              </a:lnSpc>
            </a:pPr>
            <a:r>
              <a:rPr sz="2100" b="1" i="0">
                <a:solidFill>
                  <a:srgbClr val="1D6B8F"/>
                </a:solidFill>
                <a:latin typeface="Verdana"/>
              </a:rPr>
              <a:t>On peut lui parler</a:t>
            </a:r>
          </a:p>
        </p:txBody>
      </p:sp>
      <p:sp>
        <p:nvSpPr>
          <p:cNvPr id="15" name="TextBox 14"/>
          <p:cNvSpPr txBox="1"/>
          <p:nvPr/>
        </p:nvSpPr>
        <p:spPr>
          <a:xfrm>
            <a:off x="886968" y="4671822"/>
            <a:ext cx="4806543" cy="1134618"/>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Sans passer par son supérieur. C'est tout l'intérêt d'une personne élue.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42138"/>
          </a:xfrm>
          <a:prstGeom prst="rect">
            <a:avLst/>
          </a:prstGeom>
          <a:noFill/>
        </p:spPr>
        <p:txBody>
          <a:bodyPr wrap="square" lIns="0" rIns="0" tIns="0" bIns="0" anchor="t">
            <a:spAutoFit/>
          </a:bodyPr>
          <a:lstStyle/>
          <a:p>
            <a:pPr algn="l">
              <a:lnSpc>
                <a:spcPct val="118000"/>
              </a:lnSpc>
            </a:pPr>
            <a:r>
              <a:rPr sz="2100" b="1" i="0">
                <a:solidFill>
                  <a:srgbClr val="1D6B8F"/>
                </a:solidFill>
                <a:latin typeface="Verdana"/>
              </a:rPr>
              <a:t>Le comité réunit les deux côtés</a:t>
            </a:r>
          </a:p>
        </p:txBody>
      </p:sp>
      <p:sp>
        <p:nvSpPr>
          <p:cNvPr id="18" name="TextBox 17"/>
          <p:cNvSpPr txBox="1"/>
          <p:nvPr/>
        </p:nvSpPr>
        <p:spPr>
          <a:xfrm>
            <a:off x="6498183" y="4671822"/>
            <a:ext cx="4806543" cy="1134618"/>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Employeur et travailleurs. Le représentant, lui, est d'un seul côté, et c'est écrit dans la loi.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droit de refus, articles 12 et 13</a:t>
            </a:r>
          </a:p>
        </p:txBody>
      </p:sp>
      <p:sp>
        <p:nvSpPr>
          <p:cNvPr id="7" name="Rounded Rectangle 6"/>
          <p:cNvSpPr/>
          <p:nvPr/>
        </p:nvSpPr>
        <p:spPr>
          <a:xfrm>
            <a:off x="566928" y="1810512"/>
            <a:ext cx="11057839" cy="3169920"/>
          </a:xfrm>
          <a:prstGeom prst="roundRect">
            <a:avLst>
              <a:gd name="adj" fmla="val 461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SITUATION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DIT LA LOI</a:t>
            </a:r>
          </a:p>
        </p:txBody>
      </p:sp>
      <p:sp>
        <p:nvSpPr>
          <p:cNvPr id="10" name="TextBox 9"/>
          <p:cNvSpPr txBox="1"/>
          <p:nvPr/>
        </p:nvSpPr>
        <p:spPr>
          <a:xfrm>
            <a:off x="932688" y="2395728"/>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On peut refuser</a:t>
            </a:r>
          </a:p>
        </p:txBody>
      </p:sp>
      <p:sp>
        <p:nvSpPr>
          <p:cNvPr id="11" name="TextBox 10"/>
          <p:cNvSpPr txBox="1"/>
          <p:nvPr/>
        </p:nvSpPr>
        <p:spPr>
          <a:xfrm>
            <a:off x="4443636" y="2395728"/>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s'il y a des motifs raisonnables de croire à un danger</a:t>
            </a:r>
          </a:p>
        </p:txBody>
      </p:sp>
      <p:sp>
        <p:nvSpPr>
          <p:cNvPr id="12" name="Rectangle 11"/>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01696"/>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Pour soi ou pour autrui</a:t>
            </a:r>
          </a:p>
        </p:txBody>
      </p:sp>
      <p:sp>
        <p:nvSpPr>
          <p:cNvPr id="14" name="TextBox 13"/>
          <p:cNvSpPr txBox="1"/>
          <p:nvPr/>
        </p:nvSpPr>
        <p:spPr>
          <a:xfrm>
            <a:off x="4443636" y="2901696"/>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un danger semblable pour une autre personne compte aussi</a:t>
            </a:r>
          </a:p>
        </p:txBody>
      </p:sp>
      <p:sp>
        <p:nvSpPr>
          <p:cNvPr id="15" name="Rectangle 14"/>
          <p:cNvSpPr/>
          <p:nvPr/>
        </p:nvSpPr>
        <p:spPr>
          <a:xfrm>
            <a:off x="932688" y="32796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07664"/>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On ne peut pas refuser</a:t>
            </a:r>
          </a:p>
        </p:txBody>
      </p:sp>
      <p:sp>
        <p:nvSpPr>
          <p:cNvPr id="17" name="TextBox 16"/>
          <p:cNvSpPr txBox="1"/>
          <p:nvPr/>
        </p:nvSpPr>
        <p:spPr>
          <a:xfrm>
            <a:off x="4443636" y="3407664"/>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si le refus met en péril immédiat une autre personne</a:t>
            </a:r>
          </a:p>
        </p:txBody>
      </p:sp>
      <p:sp>
        <p:nvSpPr>
          <p:cNvPr id="18" name="Rectangle 17"/>
          <p:cNvSpPr/>
          <p:nvPr/>
        </p:nvSpPr>
        <p:spPr>
          <a:xfrm>
            <a:off x="932688" y="378561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13631"/>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Ni refuser</a:t>
            </a:r>
          </a:p>
        </p:txBody>
      </p:sp>
      <p:sp>
        <p:nvSpPr>
          <p:cNvPr id="20" name="TextBox 19"/>
          <p:cNvSpPr txBox="1"/>
          <p:nvPr/>
        </p:nvSpPr>
        <p:spPr>
          <a:xfrm>
            <a:off x="4443636" y="3913631"/>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si les conditions sont normales pour ce genre de travail</a:t>
            </a:r>
          </a:p>
        </p:txBody>
      </p:sp>
      <p:sp>
        <p:nvSpPr>
          <p:cNvPr id="21" name="Rectangle 20"/>
          <p:cNvSpPr/>
          <p:nvPr/>
        </p:nvSpPr>
        <p:spPr>
          <a:xfrm>
            <a:off x="932688" y="429158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19600"/>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En cas de désaccord</a:t>
            </a:r>
          </a:p>
        </p:txBody>
      </p:sp>
      <p:sp>
        <p:nvSpPr>
          <p:cNvPr id="23" name="TextBox 22"/>
          <p:cNvSpPr txBox="1"/>
          <p:nvPr/>
        </p:nvSpPr>
        <p:spPr>
          <a:xfrm>
            <a:off x="4443636" y="441960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l'inspecteur de la CNESST décide s'il y a danger</a:t>
            </a:r>
          </a:p>
        </p:txBody>
      </p:sp>
      <p:sp>
        <p:nvSpPr>
          <p:cNvPr id="24" name="Rounded Rectangle 23"/>
          <p:cNvSpPr/>
          <p:nvPr/>
        </p:nvSpPr>
        <p:spPr>
          <a:xfrm>
            <a:off x="566928" y="521817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47420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 Motifs raisonnables de croire » n'exige pas d'avoir raison : il exige d'avoir des raisons.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DOCUMENT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programme de prévention, et la loi</a:t>
            </a:r>
          </a:p>
        </p:txBody>
      </p:sp>
      <p:sp>
        <p:nvSpPr>
          <p:cNvPr id="7" name="TextBox 6"/>
          <p:cNvSpPr txBox="1"/>
          <p:nvPr/>
        </p:nvSpPr>
        <p:spPr>
          <a:xfrm>
            <a:off x="566928" y="1737360"/>
            <a:ext cx="11057839" cy="630936"/>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 extrait du document interne, puis deux articles de la loi. Les deux premiers blocs sont écrits par l'employeur ; les deux articles, non.</a:t>
            </a:r>
          </a:p>
        </p:txBody>
      </p:sp>
      <p:sp>
        <p:nvSpPr>
          <p:cNvPr id="8" name="Rounded Rectangle 7"/>
          <p:cNvSpPr/>
          <p:nvPr/>
        </p:nvSpPr>
        <p:spPr>
          <a:xfrm>
            <a:off x="566928" y="2532888"/>
            <a:ext cx="11057839" cy="3491865"/>
          </a:xfrm>
          <a:prstGeom prst="roundRect">
            <a:avLst>
              <a:gd name="adj" fmla="val 418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78408" y="2788920"/>
            <a:ext cx="10234879" cy="589026"/>
          </a:xfrm>
          <a:prstGeom prst="rect">
            <a:avLst/>
          </a:prstGeom>
          <a:noFill/>
        </p:spPr>
        <p:txBody>
          <a:bodyPr wrap="square" lIns="0" rIns="0" tIns="0" bIns="0" anchor="t">
            <a:spAutoFit/>
          </a:bodyPr>
          <a:lstStyle/>
          <a:p>
            <a:pPr algn="l">
              <a:lnSpc>
                <a:spcPct val="145000"/>
              </a:lnSpc>
            </a:pPr>
            <a:r>
              <a:rPr sz="1500" b="0" i="0">
                <a:solidFill>
                  <a:srgbClr val="3A3D40"/>
                </a:solidFill>
                <a:latin typeface="Verdana"/>
              </a:rPr>
              <a:t>PROGRAMME DE PRÉVENTION — MEUBLES RIVE-DU-NORD. Section 3 : manutention manuelle. Mise à jour du 14 janvier.</a:t>
            </a:r>
          </a:p>
        </p:txBody>
      </p:sp>
      <p:sp>
        <p:nvSpPr>
          <p:cNvPr id="10" name="TextBox 9"/>
          <p:cNvSpPr txBox="1"/>
          <p:nvPr/>
        </p:nvSpPr>
        <p:spPr>
          <a:xfrm>
            <a:off x="978408" y="3505962"/>
            <a:ext cx="10234879" cy="865251"/>
          </a:xfrm>
          <a:prstGeom prst="rect">
            <a:avLst/>
          </a:prstGeom>
          <a:noFill/>
        </p:spPr>
        <p:txBody>
          <a:bodyPr wrap="square" lIns="0" rIns="0" tIns="0" bIns="0" anchor="t">
            <a:spAutoFit/>
          </a:bodyPr>
          <a:lstStyle/>
          <a:p>
            <a:pPr algn="l">
              <a:lnSpc>
                <a:spcPct val="145000"/>
              </a:lnSpc>
            </a:pPr>
            <a:r>
              <a:rPr sz="1500" b="0" i="0">
                <a:solidFill>
                  <a:srgbClr val="3A3D40"/>
                </a:solidFill>
                <a:latin typeface="Verdana"/>
              </a:rPr>
              <a:t>3.1 L'établissement comptant vingt travailleurs ou plus, il élabore, applique et met à jour annuellement un programme de prévention. La présente section porte sur les postes où des charges sont soulevées à la main.</a:t>
            </a:r>
          </a:p>
        </p:txBody>
      </p:sp>
      <p:sp>
        <p:nvSpPr>
          <p:cNvPr id="11" name="TextBox 10"/>
          <p:cNvSpPr txBox="1"/>
          <p:nvPr/>
        </p:nvSpPr>
        <p:spPr>
          <a:xfrm>
            <a:off x="978408" y="4499229"/>
            <a:ext cx="10234879" cy="589026"/>
          </a:xfrm>
          <a:prstGeom prst="rect">
            <a:avLst/>
          </a:prstGeom>
          <a:noFill/>
        </p:spPr>
        <p:txBody>
          <a:bodyPr wrap="square" lIns="0" rIns="0" tIns="0" bIns="0" anchor="t">
            <a:spAutoFit/>
          </a:bodyPr>
          <a:lstStyle/>
          <a:p>
            <a:pPr algn="l">
              <a:lnSpc>
                <a:spcPct val="145000"/>
              </a:lnSpc>
            </a:pPr>
            <a:r>
              <a:rPr sz="1500" b="0" i="0">
                <a:solidFill>
                  <a:srgbClr val="3A3D40"/>
                </a:solidFill>
                <a:latin typeface="Verdana"/>
              </a:rPr>
              <a:t>3.2 Sont visés les postes 3, 4 et 7. Le risque retenu est la manutention répétitive de charges prises sous la hauteur des genoux.</a:t>
            </a:r>
          </a:p>
        </p:txBody>
      </p:sp>
      <p:sp>
        <p:nvSpPr>
          <p:cNvPr id="12" name="TextBox 11"/>
          <p:cNvSpPr txBox="1"/>
          <p:nvPr/>
        </p:nvSpPr>
        <p:spPr>
          <a:xfrm>
            <a:off x="978408" y="5216271"/>
            <a:ext cx="10234879" cy="589026"/>
          </a:xfrm>
          <a:prstGeom prst="rect">
            <a:avLst/>
          </a:prstGeom>
          <a:noFill/>
        </p:spPr>
        <p:txBody>
          <a:bodyPr wrap="square" lIns="0" rIns="0" tIns="0" bIns="0" anchor="t">
            <a:spAutoFit/>
          </a:bodyPr>
          <a:lstStyle/>
          <a:p>
            <a:pPr algn="l">
              <a:lnSpc>
                <a:spcPct val="145000"/>
              </a:lnSpc>
            </a:pPr>
            <a:r>
              <a:rPr sz="1500" b="0" i="0">
                <a:solidFill>
                  <a:srgbClr val="3A3D40"/>
                </a:solidFill>
                <a:latin typeface="Verdana"/>
              </a:rPr>
              <a:t>3.3 Mesures retenues : réduire le nombre de flexions par quart, maintenir la charge entre la hauteur des genoux et celle des épaules, et former le personnel aux techniques de levage.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DOCUMENT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300" b="1" i="0">
                <a:solidFill>
                  <a:srgbClr val="17181A"/>
                </a:solidFill>
                <a:latin typeface="Verdana"/>
              </a:rPr>
              <a:t>Le programme de prévention, et la loi (suite)</a:t>
            </a:r>
          </a:p>
        </p:txBody>
      </p:sp>
      <p:sp>
        <p:nvSpPr>
          <p:cNvPr id="7" name="Rounded Rectangle 6"/>
          <p:cNvSpPr/>
          <p:nvPr/>
        </p:nvSpPr>
        <p:spPr>
          <a:xfrm>
            <a:off x="566928" y="1737360"/>
            <a:ext cx="11057839" cy="4208907"/>
          </a:xfrm>
          <a:prstGeom prst="roundRect">
            <a:avLst>
              <a:gd name="adj" fmla="val 347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1993391"/>
            <a:ext cx="10234879" cy="589026"/>
          </a:xfrm>
          <a:prstGeom prst="rect">
            <a:avLst/>
          </a:prstGeom>
          <a:noFill/>
        </p:spPr>
        <p:txBody>
          <a:bodyPr wrap="square" lIns="0" rIns="0" tIns="0" bIns="0" anchor="t">
            <a:spAutoFit/>
          </a:bodyPr>
          <a:lstStyle/>
          <a:p>
            <a:pPr algn="l">
              <a:lnSpc>
                <a:spcPct val="145000"/>
              </a:lnSpc>
            </a:pPr>
            <a:r>
              <a:rPr sz="1500" b="0" i="0">
                <a:solidFill>
                  <a:srgbClr val="3A3D40"/>
                </a:solidFill>
                <a:latin typeface="Verdana"/>
              </a:rPr>
              <a:t>3.4 Le comité de santé et de sécurité se réunit quatre fois par année. Au moins la moitié de ses membres, dont la représentante en santé et en sécurité, représentent les travailleurs.</a:t>
            </a:r>
          </a:p>
        </p:txBody>
      </p:sp>
      <p:sp>
        <p:nvSpPr>
          <p:cNvPr id="9" name="TextBox 8"/>
          <p:cNvSpPr txBox="1"/>
          <p:nvPr/>
        </p:nvSpPr>
        <p:spPr>
          <a:xfrm>
            <a:off x="978408" y="2710433"/>
            <a:ext cx="10234879" cy="312800"/>
          </a:xfrm>
          <a:prstGeom prst="rect">
            <a:avLst/>
          </a:prstGeom>
          <a:noFill/>
        </p:spPr>
        <p:txBody>
          <a:bodyPr wrap="square" lIns="0" rIns="0" tIns="0" bIns="0" anchor="t">
            <a:spAutoFit/>
          </a:bodyPr>
          <a:lstStyle/>
          <a:p>
            <a:pPr algn="l">
              <a:lnSpc>
                <a:spcPct val="145000"/>
              </a:lnSpc>
            </a:pPr>
            <a:r>
              <a:rPr sz="1500" b="0" i="0">
                <a:solidFill>
                  <a:srgbClr val="3A3D40"/>
                </a:solidFill>
                <a:latin typeface="Verdana"/>
              </a:rPr>
              <a:t>LOI SUR LA SANTÉ ET LA SÉCURITÉ DU TRAVAIL — extraits.</a:t>
            </a:r>
          </a:p>
        </p:txBody>
      </p:sp>
      <p:sp>
        <p:nvSpPr>
          <p:cNvPr id="10" name="TextBox 9"/>
          <p:cNvSpPr txBox="1"/>
          <p:nvPr/>
        </p:nvSpPr>
        <p:spPr>
          <a:xfrm>
            <a:off x="978408" y="3151250"/>
            <a:ext cx="10234879" cy="865251"/>
          </a:xfrm>
          <a:prstGeom prst="rect">
            <a:avLst/>
          </a:prstGeom>
          <a:noFill/>
        </p:spPr>
        <p:txBody>
          <a:bodyPr wrap="square" lIns="0" rIns="0" tIns="0" bIns="0" anchor="t">
            <a:spAutoFit/>
          </a:bodyPr>
          <a:lstStyle/>
          <a:p>
            <a:pPr algn="l">
              <a:lnSpc>
                <a:spcPct val="145000"/>
              </a:lnSpc>
            </a:pPr>
            <a:r>
              <a:rPr sz="1500" b="0" i="0">
                <a:solidFill>
                  <a:srgbClr val="3A3D40"/>
                </a:solidFill>
                <a:latin typeface="Verdana"/>
              </a:rPr>
              <a:t>Article 12. Un travailleur a le droit de refuser d'exécuter un travail s'il a des motifs raisonnables de croire que l'exécution de ce travail l'expose à un danger pour sa santé, sa sécurité ou son intégrité physique, ou peut avoir l'effet d'exposer une autre personne à un semblable danger.</a:t>
            </a:r>
          </a:p>
        </p:txBody>
      </p:sp>
      <p:sp>
        <p:nvSpPr>
          <p:cNvPr id="11" name="TextBox 10"/>
          <p:cNvSpPr txBox="1"/>
          <p:nvPr/>
        </p:nvSpPr>
        <p:spPr>
          <a:xfrm>
            <a:off x="978408" y="4144518"/>
            <a:ext cx="10234879" cy="865251"/>
          </a:xfrm>
          <a:prstGeom prst="rect">
            <a:avLst/>
          </a:prstGeom>
          <a:noFill/>
        </p:spPr>
        <p:txBody>
          <a:bodyPr wrap="square" lIns="0" rIns="0" tIns="0" bIns="0" anchor="t">
            <a:spAutoFit/>
          </a:bodyPr>
          <a:lstStyle/>
          <a:p>
            <a:pPr algn="l">
              <a:lnSpc>
                <a:spcPct val="145000"/>
              </a:lnSpc>
            </a:pPr>
            <a:r>
              <a:rPr sz="1500" b="0" i="0">
                <a:solidFill>
                  <a:srgbClr val="3A3D40"/>
                </a:solidFill>
                <a:latin typeface="Verdana"/>
              </a:rPr>
              <a:t>Article 13. Le travailleur ne peut cependant pas refuser si ce refus met en péril immédiat la vie, la santé, la sécurité ou l'intégrité physique d'une autre personne, ou si les conditions d'exécution de ce travail sont normales dans le genre de travail qu'il exerce.</a:t>
            </a:r>
          </a:p>
        </p:txBody>
      </p:sp>
      <p:sp>
        <p:nvSpPr>
          <p:cNvPr id="12" name="TextBox 11"/>
          <p:cNvSpPr txBox="1"/>
          <p:nvPr/>
        </p:nvSpPr>
        <p:spPr>
          <a:xfrm>
            <a:off x="978408" y="5137784"/>
            <a:ext cx="10234879" cy="589026"/>
          </a:xfrm>
          <a:prstGeom prst="rect">
            <a:avLst/>
          </a:prstGeom>
          <a:noFill/>
        </p:spPr>
        <p:txBody>
          <a:bodyPr wrap="square" lIns="0" rIns="0" tIns="0" bIns="0" anchor="t">
            <a:spAutoFit/>
          </a:bodyPr>
          <a:lstStyle/>
          <a:p>
            <a:pPr algn="l">
              <a:lnSpc>
                <a:spcPct val="145000"/>
              </a:lnSpc>
            </a:pPr>
            <a:r>
              <a:rPr sz="1500" b="0" i="0">
                <a:solidFill>
                  <a:srgbClr val="3A3D40"/>
                </a:solidFill>
                <a:latin typeface="Verdana"/>
              </a:rPr>
              <a:t>En cas de désaccord, l'inspecteur de la CNESST détermine s'il existe ou non un danger justifiant le refus.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questions sur le document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document et les articles ci-dessus.</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partir de combien de travailleurs un programme est-il obligatoire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quelle fréquence se met-il à jour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élit le représentant en santé et en sécurité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quel cas peut-on refuser un travail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Peut-on refuser si les conditions sont normales pour ce métier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tranche s'il y a désaccord sur le danger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questions sur le document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partir de combien de travailleurs un programme est-il obligatoire ?   </a:t>
            </a:r>
            <a:r>
              <a:rPr sz="1400" b="1" i="0">
                <a:solidFill>
                  <a:srgbClr val="07734A"/>
                </a:solidFill>
                <a:latin typeface="Verdana"/>
              </a:rPr>
              <a:t>» vingt</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quelle fréquence se met-il à jour ?   </a:t>
            </a:r>
            <a:r>
              <a:rPr sz="1400" b="1" i="0">
                <a:solidFill>
                  <a:srgbClr val="07734A"/>
                </a:solidFill>
                <a:latin typeface="Verdana"/>
              </a:rPr>
              <a:t>» chaque année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élit le représentant en santé et en sécurité ?   </a:t>
            </a:r>
            <a:r>
              <a:rPr sz="1400" b="1" i="0">
                <a:solidFill>
                  <a:srgbClr val="07734A"/>
                </a:solidFill>
                <a:latin typeface="Verdana"/>
              </a:rPr>
              <a:t>» les travailleurs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quel cas peut-on refuser un travail ?   </a:t>
            </a:r>
            <a:r>
              <a:rPr sz="1400" b="1" i="0">
                <a:solidFill>
                  <a:srgbClr val="07734A"/>
                </a:solidFill>
                <a:latin typeface="Verdana"/>
              </a:rPr>
              <a:t>» motif raisonnable de croire à un danger</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Peut-on refuser si les conditions sont normales pour ce métier ?   </a:t>
            </a:r>
            <a:r>
              <a:rPr sz="1400" b="1" i="0">
                <a:solidFill>
                  <a:srgbClr val="07734A"/>
                </a:solidFill>
                <a:latin typeface="Verdana"/>
              </a:rPr>
              <a:t>» non - article 13</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tranche s'il y a désaccord sur le danger ?   </a:t>
            </a:r>
            <a:r>
              <a:rPr sz="1400" b="1" i="0">
                <a:solidFill>
                  <a:srgbClr val="07734A"/>
                </a:solidFill>
                <a:latin typeface="Verdana"/>
              </a:rPr>
              <a:t>» l'inspecteur de la CNESST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croire qu'une politique d'employeur est une loi</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demander où c'est écrit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politique interne s'applique parce que l'employeur s'y engage. Elle peut être meilleure que la loi - jamais moins bonne. Savoir de quel texte vient une règle change tout : on négocie une politique, on n'en négocie pas une loi.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Cherchez si votre milieu de travail a un programme de prévention.</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Combien de personnes travaillent dans votre établissement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Y a-t-il un comité de santé et de sécurité ? Un représentant ?</a:t>
            </a:r>
          </a:p>
        </p:txBody>
      </p:sp>
      <p:sp>
        <p:nvSpPr>
          <p:cNvPr id="12" name="Rounded Rectangle 11"/>
          <p:cNvSpPr/>
          <p:nvPr/>
        </p:nvSpPr>
        <p:spPr>
          <a:xfrm>
            <a:off x="566928" y="5429504"/>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5584952"/>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À qui poseriez-vous la question ?</a:t>
            </a:r>
          </a:p>
        </p:txBody>
      </p:sp>
      <p:sp>
        <p:nvSpPr>
          <p:cNvPr id="14" name="TextBox 13"/>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Présenter un projet au travail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