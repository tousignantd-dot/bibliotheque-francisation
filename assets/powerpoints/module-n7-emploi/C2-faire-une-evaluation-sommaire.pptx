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Séance d'assemblage. Chaque élève a maintenant quatre pièces de son projet dans son cahier - constat, objectif, échéancier, conséquence. Aujourd'hui, on les met en ordre et on ajoute ce qui manque.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Le dernier objectif est celui qui distingue le module. Il ne s'évalue pas comme un point de langue : il s'évalue à la présence de la phrase.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Laisser le débat s'installer trois ou quatre minutes. Plusieurs défendront l'estimation, et c'est une position raisonnable. Trancher avec la règle qui suit : un chiffre faux discrédite tous les vrais.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Diapositive à photographier. Les deux éléments de la note sont ceux qui manquent dans quatre-vingts pour cent des présentations de débutants.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Diapositive à photographier. Faire recopier la phrase d'Aïcha telle quelle : elle est réutilisable mot pour mot.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C'est l'exercice `t2eval` du module, qui en compte huit. Faire répondre sans regarder le tableau précédent.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Corriger en groupe. Donner la bonne réponse, sans revenir sur qui s'est trompé.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Les quatre raisons se valent, mais la dernière est la plus fine. Faire relire la réplique d'Aïcha : « C'est voulu. »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Forme papier de l'exercice `t2lex`. Ces six mots sont ceux que tout le monde emploie en milieu de travail : les employer fait gagner du temps.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Corriger en groupe. Donner la bonne réponse, sans revenir sur qui s'est trompé.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C'est le devoir le plus important du module. Ramasser, corriger, rendre : ce texte est ce que l'élève présentera à voix haute en E1.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EDF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1234440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0D7A6F"/>
                </a:solidFill>
                <a:latin typeface="Verdana"/>
              </a:rPr>
              <a:t>SÉANCE C2  ·  MODULE 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1691640"/>
            <a:ext cx="9960559" cy="187451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4000" b="1" i="0">
                <a:solidFill>
                  <a:srgbClr val="17181A"/>
                </a:solidFill>
                <a:latin typeface="Verdana"/>
              </a:rPr>
              <a:t>Faire une évaluation sommaire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66928" y="3794760"/>
            <a:ext cx="9960559" cy="1763268"/>
          </a:xfrm>
          <a:prstGeom prst="roundRect">
            <a:avLst>
              <a:gd name="adj" fmla="val 8297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896112" y="4123944"/>
            <a:ext cx="9302191" cy="11506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2000" b="0" i="0">
                <a:solidFill>
                  <a:srgbClr val="4B4F52"/>
                </a:solidFill>
                <a:latin typeface="Verdana"/>
              </a:rPr>
              <a:t>« Sommaire » ne veut pas dire « approximatif ». C'est un premier examen, pas un examen bâclé : il donne des ordres de grandeur, il dit d'où viennent ses chiffres, et il nomme ce qu'il ne sait pas.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6035040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500" b="0" i="0">
                <a:solidFill>
                  <a:srgbClr val="6E7175"/>
                </a:solidFill>
                <a:latin typeface="Verdana"/>
              </a:rPr>
              <a:t>75 minutes  ·  Présenter un projet au travail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C2 · Présenter un projet au travail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0D7A6F"/>
                </a:solidFill>
                <a:latin typeface="Verdana"/>
              </a:rPr>
              <a:t>OBJECTIFS DE LA SÉANCE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À la fin, je serai capable de…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764792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Rounded Rectangle 7"/>
          <p:cNvSpPr/>
          <p:nvPr/>
        </p:nvSpPr>
        <p:spPr>
          <a:xfrm>
            <a:off x="804672" y="1942592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804672" y="2024887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08176" y="1965960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nommer les sept éléments d'une évaluation sommaire ;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66928" y="2650744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Rounded Rectangle 11"/>
          <p:cNvSpPr/>
          <p:nvPr/>
        </p:nvSpPr>
        <p:spPr>
          <a:xfrm>
            <a:off x="804672" y="2828544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804672" y="2910840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408176" y="2851912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dire d'où vient chaque chiffre qu'on avance ;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66928" y="3536696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Rounded Rectangle 15"/>
          <p:cNvSpPr/>
          <p:nvPr/>
        </p:nvSpPr>
        <p:spPr>
          <a:xfrm>
            <a:off x="804672" y="3714496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804672" y="3796792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408176" y="3737864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proposer au moins deux options, dont une gratuite ;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66928" y="4422648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Rounded Rectangle 19"/>
          <p:cNvSpPr/>
          <p:nvPr/>
        </p:nvSpPr>
        <p:spPr>
          <a:xfrm>
            <a:off x="804672" y="4600448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TextBox 20"/>
          <p:cNvSpPr txBox="1"/>
          <p:nvPr/>
        </p:nvSpPr>
        <p:spPr>
          <a:xfrm>
            <a:off x="804672" y="4682744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4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408176" y="4623816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dire ce qu'on ne sait pas, et qui le sait.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C2 · Présenter un projet au travail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0D7A6F"/>
                </a:solidFill>
                <a:latin typeface="Verdana"/>
              </a:rPr>
              <a:t>DISCUSSION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Un chiffre que vous n'avez pas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56232"/>
            <a:ext cx="11057839" cy="703579"/>
          </a:xfrm>
          <a:prstGeom prst="roundRect">
            <a:avLst>
              <a:gd name="adj" fmla="val 2079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Rectangle 7"/>
          <p:cNvSpPr/>
          <p:nvPr/>
        </p:nvSpPr>
        <p:spPr>
          <a:xfrm>
            <a:off x="566928" y="1965960"/>
            <a:ext cx="50292" cy="484123"/>
          </a:xfrm>
          <a:prstGeom prst="rect">
            <a:avLst/>
          </a:prstGeom>
          <a:solidFill>
            <a:srgbClr val="0D7A6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950976" y="2039112"/>
            <a:ext cx="10372039" cy="37439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On vous demande combien ça coûte, et vous ne le savez pas.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66928" y="2642108"/>
            <a:ext cx="11057839" cy="703579"/>
          </a:xfrm>
          <a:prstGeom prst="roundRect">
            <a:avLst>
              <a:gd name="adj" fmla="val 2079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Rectangle 10"/>
          <p:cNvSpPr/>
          <p:nvPr/>
        </p:nvSpPr>
        <p:spPr>
          <a:xfrm>
            <a:off x="566928" y="2751836"/>
            <a:ext cx="50292" cy="484123"/>
          </a:xfrm>
          <a:prstGeom prst="rect">
            <a:avLst/>
          </a:prstGeom>
          <a:solidFill>
            <a:srgbClr val="0D7A6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TextBox 11"/>
          <p:cNvSpPr txBox="1"/>
          <p:nvPr/>
        </p:nvSpPr>
        <p:spPr>
          <a:xfrm>
            <a:off x="950976" y="2824988"/>
            <a:ext cx="10372039" cy="37439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Est-ce qu'il vaut mieux donner une estimation, ou dire qu'on ne sait pas ?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66928" y="3427984"/>
            <a:ext cx="11057839" cy="703579"/>
          </a:xfrm>
          <a:prstGeom prst="roundRect">
            <a:avLst>
              <a:gd name="adj" fmla="val 2079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Rectangle 13"/>
          <p:cNvSpPr/>
          <p:nvPr/>
        </p:nvSpPr>
        <p:spPr>
          <a:xfrm>
            <a:off x="566928" y="3537712"/>
            <a:ext cx="50292" cy="484123"/>
          </a:xfrm>
          <a:prstGeom prst="rect">
            <a:avLst/>
          </a:prstGeom>
          <a:solidFill>
            <a:srgbClr val="0D7A6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TextBox 14"/>
          <p:cNvSpPr txBox="1"/>
          <p:nvPr/>
        </p:nvSpPr>
        <p:spPr>
          <a:xfrm>
            <a:off x="950976" y="3610864"/>
            <a:ext cx="10372039" cy="37439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Qu'est-ce qui arrive si votre estimation se révèle fausse ?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4213860"/>
            <a:ext cx="11057839" cy="703579"/>
          </a:xfrm>
          <a:prstGeom prst="roundRect">
            <a:avLst>
              <a:gd name="adj" fmla="val 2079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ectangle 16"/>
          <p:cNvSpPr/>
          <p:nvPr/>
        </p:nvSpPr>
        <p:spPr>
          <a:xfrm>
            <a:off x="566928" y="4323588"/>
            <a:ext cx="50292" cy="484123"/>
          </a:xfrm>
          <a:prstGeom prst="rect">
            <a:avLst/>
          </a:prstGeom>
          <a:solidFill>
            <a:srgbClr val="0D7A6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950976" y="4396740"/>
            <a:ext cx="10372039" cy="37439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Qu'est-ce qu'Aïcha a répondu à monsieur Cormier ?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C2 · Présenter un projet au travail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0D7A6F"/>
                </a:solidFill>
                <a:latin typeface="Verdana"/>
              </a:rPr>
              <a:t>ANALYSE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Ce que contient une évaluation sommaire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10512"/>
            <a:ext cx="11057839" cy="3253740"/>
          </a:xfrm>
          <a:prstGeom prst="roundRect">
            <a:avLst>
              <a:gd name="adj" fmla="val 4496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932688" y="1975104"/>
            <a:ext cx="3291492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6E7175"/>
                </a:solidFill>
                <a:latin typeface="Verdana"/>
              </a:rPr>
              <a:t>L'ÉLÉMENT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443636" y="1975104"/>
            <a:ext cx="6595914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6E7175"/>
                </a:solidFill>
                <a:latin typeface="Verdana"/>
              </a:rPr>
              <a:t>CE QU'IL EXIGE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32688" y="2395728"/>
            <a:ext cx="3291492" cy="3215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700" b="1" i="0">
                <a:solidFill>
                  <a:srgbClr val="0D7A6F"/>
                </a:solidFill>
                <a:latin typeface="Verdana"/>
              </a:rPr>
              <a:t>Le constat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443636" y="2395728"/>
            <a:ext cx="6595914" cy="3215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700" b="0" i="0">
                <a:solidFill>
                  <a:srgbClr val="3A3D40"/>
                </a:solidFill>
                <a:latin typeface="Verdana"/>
              </a:rPr>
              <a:t>ce que vous avez observé, avec la période</a:t>
            </a:r>
          </a:p>
        </p:txBody>
      </p:sp>
      <p:sp>
        <p:nvSpPr>
          <p:cNvPr id="12" name="Rectangle 11"/>
          <p:cNvSpPr/>
          <p:nvPr/>
        </p:nvSpPr>
        <p:spPr>
          <a:xfrm>
            <a:off x="932688" y="2790444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932688" y="2918460"/>
            <a:ext cx="3291492" cy="3215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700" b="1" i="0">
                <a:solidFill>
                  <a:srgbClr val="0D7A6F"/>
                </a:solidFill>
                <a:latin typeface="Verdana"/>
              </a:rPr>
              <a:t>Les données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443636" y="2918460"/>
            <a:ext cx="6595914" cy="3215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700" b="0" i="0">
                <a:solidFill>
                  <a:srgbClr val="3A3D40"/>
                </a:solidFill>
                <a:latin typeface="Verdana"/>
              </a:rPr>
              <a:t>d'où elles viennent : le registre, le relevé</a:t>
            </a:r>
          </a:p>
        </p:txBody>
      </p:sp>
      <p:sp>
        <p:nvSpPr>
          <p:cNvPr id="15" name="Rectangle 14"/>
          <p:cNvSpPr/>
          <p:nvPr/>
        </p:nvSpPr>
        <p:spPr>
          <a:xfrm>
            <a:off x="932688" y="3313176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TextBox 15"/>
          <p:cNvSpPr txBox="1"/>
          <p:nvPr/>
        </p:nvSpPr>
        <p:spPr>
          <a:xfrm>
            <a:off x="932688" y="3441192"/>
            <a:ext cx="3291492" cy="3215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700" b="1" i="0">
                <a:solidFill>
                  <a:srgbClr val="0D7A6F"/>
                </a:solidFill>
                <a:latin typeface="Verdana"/>
              </a:rPr>
              <a:t>La cause probable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443636" y="3441192"/>
            <a:ext cx="6595914" cy="3215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700" b="0" i="0">
                <a:solidFill>
                  <a:srgbClr val="3A3D40"/>
                </a:solidFill>
                <a:latin typeface="Verdana"/>
              </a:rPr>
              <a:t>dites « probable » si elle l'est</a:t>
            </a:r>
          </a:p>
        </p:txBody>
      </p:sp>
      <p:sp>
        <p:nvSpPr>
          <p:cNvPr id="18" name="Rectangle 17"/>
          <p:cNvSpPr/>
          <p:nvPr/>
        </p:nvSpPr>
        <p:spPr>
          <a:xfrm>
            <a:off x="932688" y="3835908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TextBox 18"/>
          <p:cNvSpPr txBox="1"/>
          <p:nvPr/>
        </p:nvSpPr>
        <p:spPr>
          <a:xfrm>
            <a:off x="932688" y="3963924"/>
            <a:ext cx="3291492" cy="3215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700" b="1" i="0">
                <a:solidFill>
                  <a:srgbClr val="0D7A6F"/>
                </a:solidFill>
                <a:latin typeface="Verdana"/>
              </a:rPr>
              <a:t>Les conséquences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443636" y="3963924"/>
            <a:ext cx="6595914" cy="3215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700" b="0" i="0">
                <a:solidFill>
                  <a:srgbClr val="3A3D40"/>
                </a:solidFill>
                <a:latin typeface="Verdana"/>
              </a:rPr>
              <a:t>en jours, en argent, en retards</a:t>
            </a:r>
          </a:p>
        </p:txBody>
      </p:sp>
      <p:sp>
        <p:nvSpPr>
          <p:cNvPr id="21" name="Rectangle 20"/>
          <p:cNvSpPr/>
          <p:nvPr/>
        </p:nvSpPr>
        <p:spPr>
          <a:xfrm>
            <a:off x="932688" y="4358640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932688" y="4486656"/>
            <a:ext cx="3291492" cy="3215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700" b="1" i="0">
                <a:solidFill>
                  <a:srgbClr val="0D7A6F"/>
                </a:solidFill>
                <a:latin typeface="Verdana"/>
              </a:rPr>
              <a:t>Les options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443636" y="4486656"/>
            <a:ext cx="6595914" cy="3215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700" b="0" i="0">
                <a:solidFill>
                  <a:srgbClr val="3A3D40"/>
                </a:solidFill>
                <a:latin typeface="Verdana"/>
              </a:rPr>
              <a:t>deux au minimum, dont une gratuite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66928" y="5301996"/>
            <a:ext cx="11057839" cy="769874"/>
          </a:xfrm>
          <a:prstGeom prst="roundRect">
            <a:avLst>
              <a:gd name="adj" fmla="val 19003"/>
            </a:avLst>
          </a:prstGeom>
          <a:solidFill>
            <a:srgbClr val="FBFBFA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TextBox 24"/>
          <p:cNvSpPr txBox="1"/>
          <p:nvPr/>
        </p:nvSpPr>
        <p:spPr>
          <a:xfrm>
            <a:off x="969264" y="5558028"/>
            <a:ext cx="10234879" cy="31267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1400" b="0" i="0">
                <a:solidFill>
                  <a:srgbClr val="4B4F52"/>
                </a:solidFill>
                <a:latin typeface="Verdana"/>
              </a:rPr>
              <a:t>Puis deux éléments que tout le monde saute : ce qui n'est pas connu, et la suite proposée avec une date.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C2 · Présenter un projet au travail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0D7A6F"/>
                </a:solidFill>
                <a:latin typeface="Verdana"/>
              </a:rPr>
              <a:t>UN CHIFFRE INVENTÉ DISCRÉDITE TOUS LES AUTRES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66928" y="1225296"/>
            <a:ext cx="11057839" cy="1967991"/>
          </a:xfrm>
          <a:prstGeom prst="roundRect">
            <a:avLst>
              <a:gd name="adj" fmla="val 7434"/>
            </a:avLst>
          </a:prstGeom>
          <a:solidFill>
            <a:srgbClr val="DCF2E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1298448" y="1682496"/>
            <a:ext cx="9594799" cy="1145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Dire ce qu'on ne sait pas, et nommer qui le sait.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3467607"/>
            <a:ext cx="11057839" cy="2040128"/>
          </a:xfrm>
          <a:prstGeom prst="roundRect">
            <a:avLst>
              <a:gd name="adj" fmla="val 7171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969264" y="3741927"/>
            <a:ext cx="10234879" cy="1582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2000" b="0" i="0">
                <a:solidFill>
                  <a:srgbClr val="4B4F52"/>
                </a:solidFill>
                <a:latin typeface="Verdana"/>
              </a:rPr>
              <a:t>« Je n'ai pas le chiffre exact, madame Ouellet l'a et je ne voulais pas l'inventer ici. » Cette phrase-là fait plus pour la crédibilité d'Aïcha que tous les chiffres qu'elle a donnés avant. La raison est simple : un chiffre faux qu'on découvre jette le doute sur tous les autres, y compris les vrais.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C2 · Présenter un projet au travail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0D7A6F"/>
                </a:solidFill>
                <a:latin typeface="Verdana"/>
              </a:rPr>
              <a:t>PRATIQUE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Quelle partie de l'évaluation 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À quel élément chaque phrase d'Aïcha appartient-elle ?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23672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30073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« Jean-Marc a été absent onze jours ouvrables. »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827528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2924556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2988564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2982975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« L'emballeur se penche quatre-vingt-deux fois par quart. »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515359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361238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3676395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3670807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« Quinze jours d'absence, plus un poste allégé. »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4203192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841247" y="4300220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841247" y="4364228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44168" y="4358640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« Faire tourner les gens : ça ne coûte rien. »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66928" y="4891023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Rounded Rectangle 24"/>
          <p:cNvSpPr/>
          <p:nvPr/>
        </p:nvSpPr>
        <p:spPr>
          <a:xfrm>
            <a:off x="841247" y="4988051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841247" y="5052059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344168" y="5046471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« Je n'ai pas le chiffre exact, madame Ouellet l'a. »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566928" y="5578856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9" name="Rounded Rectangle 28"/>
          <p:cNvSpPr/>
          <p:nvPr/>
        </p:nvSpPr>
        <p:spPr>
          <a:xfrm>
            <a:off x="841247" y="567588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" name="TextBox 29"/>
          <p:cNvSpPr txBox="1"/>
          <p:nvPr/>
        </p:nvSpPr>
        <p:spPr>
          <a:xfrm>
            <a:off x="841247" y="573989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6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344168" y="5734304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« La rotation à l'essai à partir du lundi 22 septembre. »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C2 · Présenter un projet au travail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0D7A6F"/>
                </a:solidFill>
                <a:latin typeface="Verdana"/>
              </a:rPr>
              <a:t>CORRECTION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Quelle partie de l'évaluation 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Correction — on lit la réponse, on ne commente pas l'erreur.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23672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30073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« Jean-Marc a été absent onze jours ouvrables. »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le constat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827528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2924556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2988564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2982975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« L'emballeur se penche quatre-vingt-deux fois par quart. »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la cause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515359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361238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3676395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3670807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« Quinze jours d'absence, plus un poste allégé. »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la conséquence chiffrée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4203192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841247" y="4300220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841247" y="4364228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44168" y="4358640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« Faire tourner les gens : ça ne coûte rien. »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le correctif gratuit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66928" y="4891023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Rounded Rectangle 24"/>
          <p:cNvSpPr/>
          <p:nvPr/>
        </p:nvSpPr>
        <p:spPr>
          <a:xfrm>
            <a:off x="841247" y="4988051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841247" y="5052059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344168" y="5046471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« Je n'ai pas le chiffre exact, madame Ouellet l'a. »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ce qui n'est pas connu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566928" y="5578856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9" name="Rounded Rectangle 28"/>
          <p:cNvSpPr/>
          <p:nvPr/>
        </p:nvSpPr>
        <p:spPr>
          <a:xfrm>
            <a:off x="841247" y="567588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" name="TextBox 29"/>
          <p:cNvSpPr txBox="1"/>
          <p:nvPr/>
        </p:nvSpPr>
        <p:spPr>
          <a:xfrm>
            <a:off x="841247" y="573989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6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344168" y="5734304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« La rotation à l'essai à partir du lundi 22 septembre. »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l'échéance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C2 · Présenter un projet au travail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0D7A6F"/>
                </a:solidFill>
                <a:latin typeface="Verdana"/>
              </a:rPr>
              <a:t>ANALYSE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Pourquoi le gratuit avant le payant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10512"/>
            <a:ext cx="5446623" cy="2052828"/>
          </a:xfrm>
          <a:prstGeom prst="roundRect">
            <a:avLst>
              <a:gd name="adj" fmla="val 7126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886968" y="2084831"/>
            <a:ext cx="4806543" cy="65684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100" b="1" i="0">
                <a:solidFill>
                  <a:srgbClr val="0D7A6F"/>
                </a:solidFill>
                <a:latin typeface="Verdana"/>
              </a:rPr>
              <a:t>Parce qu'on ne peut pas vous refuser les deux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6968" y="2769108"/>
            <a:ext cx="4806543" cy="81991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2000"/>
              </a:lnSpc>
            </a:pPr>
            <a:r>
              <a:rPr sz="1500" b="0" i="0">
                <a:solidFill>
                  <a:srgbClr val="3A3D40"/>
                </a:solidFill>
                <a:latin typeface="Verdana"/>
              </a:rPr>
              <a:t>Une option unique et chère se refuse en une phrase. Deux options, dont une gratuite, obligent à choisir plutôt qu'à dire non.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178143" y="1810512"/>
            <a:ext cx="5446623" cy="2052828"/>
          </a:xfrm>
          <a:prstGeom prst="roundRect">
            <a:avLst>
              <a:gd name="adj" fmla="val 7126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6498183" y="2084831"/>
            <a:ext cx="4806543" cy="65684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100" b="1" i="0">
                <a:solidFill>
                  <a:srgbClr val="0D7A6F"/>
                </a:solidFill>
                <a:latin typeface="Verdana"/>
              </a:rPr>
              <a:t>Parce que ça montre votre sérieux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98183" y="2769108"/>
            <a:ext cx="4806543" cy="81991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2000"/>
              </a:lnSpc>
            </a:pPr>
            <a:r>
              <a:rPr sz="1500" b="0" i="0">
                <a:solidFill>
                  <a:srgbClr val="3A3D40"/>
                </a:solidFill>
                <a:latin typeface="Verdana"/>
              </a:rPr>
              <a:t>Proposer d'abord ce qui ne coûte rien prouve que vous n'êtes pas venu chercher de l'argent par réflexe.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66928" y="4027932"/>
            <a:ext cx="5446623" cy="2052828"/>
          </a:xfrm>
          <a:prstGeom prst="roundRect">
            <a:avLst>
              <a:gd name="adj" fmla="val 7126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86968" y="4302252"/>
            <a:ext cx="4806543" cy="65684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100" b="1" i="0">
                <a:solidFill>
                  <a:srgbClr val="0D7A6F"/>
                </a:solidFill>
                <a:latin typeface="Verdana"/>
              </a:rPr>
              <a:t>Parce que ça permet d'agir tout de suite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86968" y="4986528"/>
            <a:ext cx="4806543" cy="81991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2000"/>
              </a:lnSpc>
            </a:pPr>
            <a:r>
              <a:rPr sz="1500" b="0" i="0">
                <a:solidFill>
                  <a:srgbClr val="3A3D40"/>
                </a:solidFill>
                <a:latin typeface="Verdana"/>
              </a:rPr>
              <a:t>La rotation peut commencer lundi. La table, elle, prendra deux mois. Un projet qui produit quelque chose vite se poursuit plus facilement.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178143" y="4027932"/>
            <a:ext cx="5446623" cy="2052828"/>
          </a:xfrm>
          <a:prstGeom prst="roundRect">
            <a:avLst>
              <a:gd name="adj" fmla="val 7126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6498183" y="4302252"/>
            <a:ext cx="4806543" cy="65684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100" b="1" i="0">
                <a:solidFill>
                  <a:srgbClr val="0D7A6F"/>
                </a:solidFill>
                <a:latin typeface="Verdana"/>
              </a:rPr>
              <a:t>Parce qu'elles doivent être indépendantes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98183" y="4986528"/>
            <a:ext cx="4806543" cy="81991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2000"/>
              </a:lnSpc>
            </a:pPr>
            <a:r>
              <a:rPr sz="1500" b="0" i="0">
                <a:solidFill>
                  <a:srgbClr val="3A3D40"/>
                </a:solidFill>
                <a:latin typeface="Verdana"/>
              </a:rPr>
              <a:t>Si la table est refusée, la rotation reste possible. C'est ce qu'Aïcha dit explicitement, et c'est ce qui sauve son projet.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C2 · Présenter un projet au travail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9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0D7A6F"/>
                </a:solidFill>
                <a:latin typeface="Verdana"/>
              </a:rPr>
              <a:t>PRATIQUE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Le mot juste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Complétez avec le mot de l'évaluation sommaire.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23672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30073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Ce que j'ai vu et compté moi-même, c'est le ...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827528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2924556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2988564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2982975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Pourquoi ça arrive, c'est la ...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515359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361238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3676395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3670807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Ce que le problème coûte, c'est la ...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4203192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841247" y="4300220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841247" y="4364228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44168" y="4358640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Le changement que je propose est un ...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66928" y="4891023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Rounded Rectangle 24"/>
          <p:cNvSpPr/>
          <p:nvPr/>
        </p:nvSpPr>
        <p:spPr>
          <a:xfrm>
            <a:off x="841247" y="4988051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841247" y="5052059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344168" y="5046471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La date à laquelle ce sera fait est l'...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566928" y="5578856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9" name="Rounded Rectangle 28"/>
          <p:cNvSpPr/>
          <p:nvPr/>
        </p:nvSpPr>
        <p:spPr>
          <a:xfrm>
            <a:off x="841247" y="567588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" name="TextBox 29"/>
          <p:cNvSpPr txBox="1"/>
          <p:nvPr/>
        </p:nvSpPr>
        <p:spPr>
          <a:xfrm>
            <a:off x="841247" y="573989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6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344168" y="5734304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La personne nommée pour le faire est le ...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C2 · Présenter un projet au travail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0D7A6F"/>
                </a:solidFill>
                <a:latin typeface="Verdana"/>
              </a:rPr>
              <a:t>CORRECTION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Le mot juste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Correction — on lit la réponse, on ne commente pas l'erreur.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23672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30073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Ce que j'ai vu et compté moi-même, c'est le ...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constat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827528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2924556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2988564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2982975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Pourquoi ça arrive, c'est la ...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cause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515359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361238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3676395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3670807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Ce que le problème coûte, c'est la ...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conséquence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4203192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841247" y="4300220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841247" y="4364228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44168" y="4358640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Le changement que je propose est un ...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correctif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66928" y="4891023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Rounded Rectangle 24"/>
          <p:cNvSpPr/>
          <p:nvPr/>
        </p:nvSpPr>
        <p:spPr>
          <a:xfrm>
            <a:off x="841247" y="4988051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841247" y="5052059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344168" y="5046471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La date à laquelle ce sera fait est l'...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échéance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566928" y="5578856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9" name="Rounded Rectangle 28"/>
          <p:cNvSpPr/>
          <p:nvPr/>
        </p:nvSpPr>
        <p:spPr>
          <a:xfrm>
            <a:off x="841247" y="567588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" name="TextBox 29"/>
          <p:cNvSpPr txBox="1"/>
          <p:nvPr/>
        </p:nvSpPr>
        <p:spPr>
          <a:xfrm>
            <a:off x="841247" y="573989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6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344168" y="5734304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La personne nommée pour le faire est le ...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responsable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C2 · Présenter un projet au travail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11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718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566928" y="1051560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FFFFFF"/>
                </a:solidFill>
                <a:latin typeface="Verdana"/>
              </a:rPr>
              <a:t>BILLET DE SORTIE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572768"/>
            <a:ext cx="9777679" cy="2103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3400" b="1" i="0">
                <a:solidFill>
                  <a:srgbClr val="FFFFFF"/>
                </a:solidFill>
                <a:latin typeface="Verdana"/>
              </a:rPr>
              <a:t>Assemblez votre évaluation sommaire, en sept lignes.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3931920"/>
            <a:ext cx="11057839" cy="666496"/>
          </a:xfrm>
          <a:prstGeom prst="roundRect">
            <a:avLst>
              <a:gd name="adj" fmla="val 13719"/>
            </a:avLst>
          </a:prstGeom>
          <a:solidFill>
            <a:srgbClr val="2A2C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932688" y="4087368"/>
            <a:ext cx="1005199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FFFFFF"/>
                </a:solidFill>
                <a:latin typeface="Verdana"/>
              </a:rPr>
              <a:t>Une ligne par élément, dans l'ordre du tableau.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66928" y="4680712"/>
            <a:ext cx="11057839" cy="666496"/>
          </a:xfrm>
          <a:prstGeom prst="roundRect">
            <a:avLst>
              <a:gd name="adj" fmla="val 13719"/>
            </a:avLst>
          </a:prstGeom>
          <a:solidFill>
            <a:srgbClr val="2A2C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932688" y="4836160"/>
            <a:ext cx="1005199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FFFFFF"/>
                </a:solidFill>
                <a:latin typeface="Verdana"/>
              </a:rPr>
              <a:t>N'oubliez ni « ce que je ne sais pas », ni la date.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5429504"/>
            <a:ext cx="11057839" cy="666496"/>
          </a:xfrm>
          <a:prstGeom prst="roundRect">
            <a:avLst>
              <a:gd name="adj" fmla="val 13719"/>
            </a:avLst>
          </a:prstGeom>
          <a:solidFill>
            <a:srgbClr val="2A2C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932688" y="5584952"/>
            <a:ext cx="1005199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FFFFFF"/>
                </a:solidFill>
                <a:latin typeface="Verdana"/>
              </a:rPr>
              <a:t>Deux options, dont une qui ne coûte rien.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C2 · Présenter un projet au travail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