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y a-t-il quelque chose, à votre travail ou dans votre immeuble, que vous trouvez mal fait ? Laisser trois ou quatre réponses venir. Elles seront presque toutes des plaintes, et c'est exactement le point de départ dont la séance a besoin.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la colonne vertébrale des quatre blocs. Il revient à chaque séance, et l'élève devra pouvoir citer les cinq parties de mémoire 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sans mauvaise réponse. Plusieurs élèves travaillent en usine, en entretien ménager ou en cuisine, et ont déjà vu un poste mal conçu. Ne pas commenter : recueillir. On y revient à la fin de la séance pour montrer que ces réponses sont des constats, donc la première des cinq parties. L'image montre le poste 4 : les caisses attendent au sol.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qu'Aïcha a compté. C'est le geste qui rend tout le reste possible, et c'est celui que personne ne fait spontanément.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 plainte » va faire réagir. Le désamorcer tout de suite comme Thérèse le fait : ce n'est pas un jugement sur la personne, c'est le nom d'un genre de discours.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centrale de la séance. Faire écrire les cinq mots au cahier avant de passer à la suite, puis les faire répéter dans l'ordre, diapositive masquée.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plan du module en trois répliques : on écoute une présentation (bloc B), on en fait une (bloc C), on l'écrit (bloc D). Le dire explicitement au groupe.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de référence de tout le module ; il revient en B2 appliqué à la présentation de monsieur Cormier, et en C2 appliqué à celle d'Aïcha.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on n'écrit pas une date pour faire pression, on l'écrit pour rendre une réponse possible.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 Sommaire » sera compris comme « bâclée » : corriger tout de suite - un premier examen sérieux, mais en ordres de grandeur.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pour chaque « projet », de quelle partie il s'agit. C'est l'exercice qui prépare tout le bloc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concret. Exiger au moins un chiffre. Les billets servent de matière première en C2, quand chacun bâtit son évaluation sommaire.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Se plaindre, ou présenter un projet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Tout le monde sait dire ce qui ne va pas au travail. Beaucoup moins de gens savent en faire un projet qu'on écoute jusqu'au bout. La différence n'est pas dans le ton : elle est dans ce qu'on met dans sa phrase.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Présenter un projet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plainte d'un projet, et dire ce qui les sépare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cinq parties d'un projet : constat, cause, conséquence, correctif, échéance ;</a:t>
            </a:r>
          </a:p>
        </p:txBody>
      </p:sp>
      <p:sp>
        <p:nvSpPr>
          <p:cNvPr id="15" name="Rounded Rectangle 14"/>
          <p:cNvSpPr/>
          <p:nvPr/>
        </p:nvSpPr>
        <p:spPr>
          <a:xfrm>
            <a:off x="566928" y="38922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2478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3301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premiers mots du dossier : un projet, une évaluation sommaire, un ordre du jour ;</a:t>
            </a:r>
          </a:p>
        </p:txBody>
      </p:sp>
      <p:sp>
        <p:nvSpPr>
          <p:cNvPr id="19" name="Rounded Rectangle 18"/>
          <p:cNvSpPr/>
          <p:nvPr/>
        </p:nvSpPr>
        <p:spPr>
          <a:xfrm>
            <a:off x="566928" y="51338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3116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3939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53350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situer le scénario du module : Aïcha Traoré et le poste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Qu'est-ce qui est mal fait, là où vous travaillez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oste-emballag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avez déjà remarqué, sans jamais le dire ?</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l'auriez-vous dit, si vous l'aviez dit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vous a retenu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quelqu'un a déjà changé quelque chose grâce à vous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feuille remplie à la maison</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TextBox 7"/>
          <p:cNvSpPr txBox="1"/>
          <p:nvPr/>
        </p:nvSpPr>
        <p:spPr>
          <a:xfrm>
            <a:off x="932688" y="2322576"/>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9" name="TextBox 8"/>
          <p:cNvSpPr txBox="1"/>
          <p:nvPr/>
        </p:nvSpPr>
        <p:spPr>
          <a:xfrm>
            <a:off x="2385822" y="2322576"/>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Thérèse, tu as deux minutes ? Je voudrais te montrer quelque chose avant que tu partes.</a:t>
            </a:r>
          </a:p>
        </p:txBody>
      </p:sp>
      <p:sp>
        <p:nvSpPr>
          <p:cNvPr id="10" name="TextBox 9"/>
          <p:cNvSpPr txBox="1"/>
          <p:nvPr/>
        </p:nvSpPr>
        <p:spPr>
          <a:xfrm>
            <a:off x="932688" y="3409696"/>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1" name="TextBox 10"/>
          <p:cNvSpPr txBox="1"/>
          <p:nvPr/>
        </p:nvSpPr>
        <p:spPr>
          <a:xfrm>
            <a:off x="2385822" y="3409696"/>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Vas-y, mon dîner attendra. Qu'est-ce que tu as là ?</a:t>
            </a:r>
          </a:p>
        </p:txBody>
      </p:sp>
      <p:sp>
        <p:nvSpPr>
          <p:cNvPr id="12" name="Rounded Rectangle 11"/>
          <p:cNvSpPr/>
          <p:nvPr/>
        </p:nvSpPr>
        <p:spPr>
          <a:xfrm>
            <a:off x="566928" y="39944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158995"/>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14" name="TextBox 13"/>
          <p:cNvSpPr txBox="1"/>
          <p:nvPr/>
        </p:nvSpPr>
        <p:spPr>
          <a:xfrm>
            <a:off x="2385822" y="4158995"/>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feuille que j'ai remplie toute seule, hier soir, à la maison. J'ai compté ce qui se passe au poste 4 depuis le mois de mars.</a:t>
            </a:r>
          </a:p>
        </p:txBody>
      </p:sp>
      <p:sp>
        <p:nvSpPr>
          <p:cNvPr id="15" name="TextBox 14"/>
          <p:cNvSpPr txBox="1"/>
          <p:nvPr/>
        </p:nvSpPr>
        <p:spPr>
          <a:xfrm>
            <a:off x="932688" y="5246116"/>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6" name="TextBox 15"/>
          <p:cNvSpPr txBox="1"/>
          <p:nvPr/>
        </p:nvSpPr>
        <p:spPr>
          <a:xfrm>
            <a:off x="2385822" y="5246116"/>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poste d'emballage. Celui où les caisses se ramassent à terre.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n'est pas encore un projet</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9" name="TextBox 8"/>
          <p:cNvSpPr txBox="1"/>
          <p:nvPr/>
        </p:nvSpPr>
        <p:spPr>
          <a:xfrm>
            <a:off x="2385822" y="1901952"/>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 je vais voir monsieur Cormier et que je lui dis que le poste 4 est mal fait, il va m'écouter deux minutes et passer à autre chose.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2" name="TextBox 11"/>
          <p:cNvSpPr txBox="1"/>
          <p:nvPr/>
        </p:nvSpPr>
        <p:spPr>
          <a:xfrm>
            <a:off x="2385822" y="2989072"/>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va t'écouter deux minutes, oui. Parce que ce que tu viens de me décrire, ce n'est pas encore un projet. C'est une plainte.</a:t>
            </a:r>
          </a:p>
        </p:txBody>
      </p:sp>
      <p:sp>
        <p:nvSpPr>
          <p:cNvPr id="13" name="TextBox 12"/>
          <p:cNvSpPr txBox="1"/>
          <p:nvPr/>
        </p:nvSpPr>
        <p:spPr>
          <a:xfrm>
            <a:off x="932688" y="4076191"/>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14" name="TextBox 13"/>
          <p:cNvSpPr txBox="1"/>
          <p:nvPr/>
        </p:nvSpPr>
        <p:spPr>
          <a:xfrm>
            <a:off x="2385822" y="4076191"/>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plainte. Le mot est dur.</a:t>
            </a:r>
          </a:p>
        </p:txBody>
      </p:sp>
      <p:sp>
        <p:nvSpPr>
          <p:cNvPr id="15" name="TextBox 14"/>
          <p:cNvSpPr txBox="1"/>
          <p:nvPr/>
        </p:nvSpPr>
        <p:spPr>
          <a:xfrm>
            <a:off x="932688" y="4825492"/>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6" name="TextBox 15"/>
          <p:cNvSpPr txBox="1"/>
          <p:nvPr/>
        </p:nvSpPr>
        <p:spPr>
          <a:xfrm>
            <a:off x="2385822" y="4825492"/>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n'est pas dur, il est exact, et ce n'est pas une critique.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choses, pas une</a:t>
            </a:r>
          </a:p>
        </p:txBody>
      </p:sp>
      <p:sp>
        <p:nvSpPr>
          <p:cNvPr id="7" name="Rounded Rectangle 6"/>
          <p:cNvSpPr/>
          <p:nvPr/>
        </p:nvSpPr>
        <p:spPr>
          <a:xfrm>
            <a:off x="566928" y="173736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53134"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9" name="TextBox 8"/>
          <p:cNvSpPr txBox="1"/>
          <p:nvPr/>
        </p:nvSpPr>
        <p:spPr>
          <a:xfrm>
            <a:off x="2385822" y="1901952"/>
            <a:ext cx="8690305"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plainte, ça dit ce qui ne va pas et ça s'arrête là. Un projet, ça dit ce qui ne va pas, ce que ça coûte, ce qu'on fait à la place, combien ça coûte et quand.</a:t>
            </a:r>
          </a:p>
        </p:txBody>
      </p:sp>
      <p:sp>
        <p:nvSpPr>
          <p:cNvPr id="10" name="TextBox 9"/>
          <p:cNvSpPr txBox="1"/>
          <p:nvPr/>
        </p:nvSpPr>
        <p:spPr>
          <a:xfrm>
            <a:off x="932688" y="3326892"/>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11" name="TextBox 10"/>
          <p:cNvSpPr txBox="1"/>
          <p:nvPr/>
        </p:nvSpPr>
        <p:spPr>
          <a:xfrm>
            <a:off x="2385822" y="3326892"/>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Cinq choses. Redis-les-moi lentement, je les écris.</a:t>
            </a:r>
          </a:p>
        </p:txBody>
      </p:sp>
      <p:sp>
        <p:nvSpPr>
          <p:cNvPr id="12" name="Rounded Rectangle 11"/>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076191"/>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4" name="TextBox 13"/>
          <p:cNvSpPr txBox="1"/>
          <p:nvPr/>
        </p:nvSpPr>
        <p:spPr>
          <a:xfrm>
            <a:off x="2385822" y="4076191"/>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constat. La cause. La conséquence, en chiffres si tu en as. Le correctif que tu proposes. Et l'échéance.</a:t>
            </a:r>
          </a:p>
        </p:txBody>
      </p:sp>
      <p:sp>
        <p:nvSpPr>
          <p:cNvPr id="15" name="TextBox 14"/>
          <p:cNvSpPr txBox="1"/>
          <p:nvPr/>
        </p:nvSpPr>
        <p:spPr>
          <a:xfrm>
            <a:off x="932688" y="5163312"/>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16" name="TextBox 15"/>
          <p:cNvSpPr txBox="1"/>
          <p:nvPr/>
        </p:nvSpPr>
        <p:spPr>
          <a:xfrm>
            <a:off x="2385822" y="5163312"/>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le constat et j'ai les chiffres. La cause aussi, je pense.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Écoute-le comme si tu prenais des notes</a:t>
            </a:r>
          </a:p>
        </p:txBody>
      </p:sp>
      <p:sp>
        <p:nvSpPr>
          <p:cNvPr id="7" name="Rounded Rectangle 6"/>
          <p:cNvSpPr/>
          <p:nvPr/>
        </p:nvSpPr>
        <p:spPr>
          <a:xfrm>
            <a:off x="566928" y="173736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53134"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9" name="TextBox 8"/>
          <p:cNvSpPr txBox="1"/>
          <p:nvPr/>
        </p:nvSpPr>
        <p:spPr>
          <a:xfrm>
            <a:off x="2385822" y="1901952"/>
            <a:ext cx="8690305"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Lundi matin, il y a la réunion de production. Monsieur Cormier présente son projet de quai. Écoute-le comme si tu prenais des notes pour l'école.</a:t>
            </a:r>
          </a:p>
        </p:txBody>
      </p:sp>
      <p:sp>
        <p:nvSpPr>
          <p:cNvPr id="10" name="TextBox 9"/>
          <p:cNvSpPr txBox="1"/>
          <p:nvPr/>
        </p:nvSpPr>
        <p:spPr>
          <a:xfrm>
            <a:off x="932688" y="3326892"/>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11" name="TextBox 10"/>
          <p:cNvSpPr txBox="1"/>
          <p:nvPr/>
        </p:nvSpPr>
        <p:spPr>
          <a:xfrm>
            <a:off x="2385822" y="3326892"/>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 Son quai ne me concerne pas.</a:t>
            </a:r>
          </a:p>
        </p:txBody>
      </p:sp>
      <p:sp>
        <p:nvSpPr>
          <p:cNvPr id="12" name="Rounded Rectangle 11"/>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076191"/>
            <a:ext cx="14531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THÉRÈSE</a:t>
            </a:r>
          </a:p>
        </p:txBody>
      </p:sp>
      <p:sp>
        <p:nvSpPr>
          <p:cNvPr id="14" name="TextBox 13"/>
          <p:cNvSpPr txBox="1"/>
          <p:nvPr/>
        </p:nvSpPr>
        <p:spPr>
          <a:xfrm>
            <a:off x="2385822" y="4076191"/>
            <a:ext cx="869030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Son quai, non. Sa façon de le présenter, oui. Tu feras pareil pour le tien, deux semaines plus tard.</a:t>
            </a:r>
          </a:p>
        </p:txBody>
      </p:sp>
      <p:sp>
        <p:nvSpPr>
          <p:cNvPr id="15" name="TextBox 14"/>
          <p:cNvSpPr txBox="1"/>
          <p:nvPr/>
        </p:nvSpPr>
        <p:spPr>
          <a:xfrm>
            <a:off x="932688" y="5163312"/>
            <a:ext cx="14531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AÏCHA</a:t>
            </a:r>
          </a:p>
        </p:txBody>
      </p:sp>
      <p:sp>
        <p:nvSpPr>
          <p:cNvPr id="16" name="TextBox 15"/>
          <p:cNvSpPr txBox="1"/>
          <p:nvPr/>
        </p:nvSpPr>
        <p:spPr>
          <a:xfrm>
            <a:off x="2385822" y="5163312"/>
            <a:ext cx="869030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j'apprends en écoutant quelqu'un d'autre.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parties d'un projet</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CONTIENT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constat</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que vous avez vu et compté, avec la période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cause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pourquoi ça arrive, sans désigner un coupable</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conséquence</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que le problème coûte en jours ou en argent</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correctif</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que vous proposez, le gratuit avant le payant</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L'échéance</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une date précise, jamais « bientôt »</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Une plainte contient la première partie, parfois la deuxième. Un projet contient les cinq.</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 PROJET SANS DATE N'EST PAS REFUSÉ : IL EST OUBLIÉ</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Cinq parties, et la cinquième est une date.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partie qu'on omet le plus souvent, parce qu'elle engage. Sans elle, personne n'a à répondre, et le dossier s'enfonce dans la pile. Une date force une réponse, même négative - et une réponse négative se travaille, alors qu'un silence ne se travaille pas.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 pour commencer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79504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projet</a:t>
            </a:r>
          </a:p>
        </p:txBody>
      </p:sp>
      <p:sp>
        <p:nvSpPr>
          <p:cNvPr id="9" name="TextBox 8"/>
          <p:cNvSpPr txBox="1"/>
          <p:nvPr/>
        </p:nvSpPr>
        <p:spPr>
          <a:xfrm>
            <a:off x="5002053" y="2121408"/>
            <a:ext cx="625695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veut faire, avec les étapes, le coût et la date qui vont avec.</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79504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évaluation sommaire</a:t>
            </a:r>
          </a:p>
        </p:txBody>
      </p:sp>
      <p:sp>
        <p:nvSpPr>
          <p:cNvPr id="12" name="TextBox 11"/>
          <p:cNvSpPr txBox="1"/>
          <p:nvPr/>
        </p:nvSpPr>
        <p:spPr>
          <a:xfrm>
            <a:off x="5002053" y="3106674"/>
            <a:ext cx="625695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premier examen rapide, qui donne des ordres de grandeur et non des chiffres définitifs.</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79504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ordre du jour</a:t>
            </a:r>
          </a:p>
        </p:txBody>
      </p:sp>
      <p:sp>
        <p:nvSpPr>
          <p:cNvPr id="15" name="TextBox 14"/>
          <p:cNvSpPr txBox="1"/>
          <p:nvPr/>
        </p:nvSpPr>
        <p:spPr>
          <a:xfrm>
            <a:off x="5002053" y="4091939"/>
            <a:ext cx="625695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liste écrite des points dont une réunion va traiter, dans l'ordre.</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795045"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réunion de production</a:t>
            </a:r>
          </a:p>
        </p:txBody>
      </p:sp>
      <p:sp>
        <p:nvSpPr>
          <p:cNvPr id="18" name="TextBox 17"/>
          <p:cNvSpPr txBox="1"/>
          <p:nvPr/>
        </p:nvSpPr>
        <p:spPr>
          <a:xfrm>
            <a:off x="5002053" y="5077205"/>
            <a:ext cx="6256953"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rencontre régulière où l'équipe fait le point sur le travail de l'usine.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plainte, ou un projet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phrase, dites de quoi il s'agit.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poste 4 est mal fait, tout le monde le sait.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Depuis mars, trois personnes sur cinq ont consulté pour le dos.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toujours nous qui écopons, à l'expédition.</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table élévatrice garderait la palette à hauteur de coude.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fait des années que ça dure et personne ne fait rien.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rotation pourrait commencer le lundi 22 septembre.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plainte, ou un projet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poste 4 est mal fait, tout le monde le sait.   </a:t>
            </a:r>
            <a:r>
              <a:rPr sz="1400" b="1" i="0">
                <a:solidFill>
                  <a:srgbClr val="07734A"/>
                </a:solidFill>
                <a:latin typeface="Verdana"/>
              </a:rPr>
              <a:t>» plainte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Depuis mars, trois personnes sur cinq ont consulté pour le dos.   </a:t>
            </a:r>
            <a:r>
              <a:rPr sz="1400" b="1" i="0">
                <a:solidFill>
                  <a:srgbClr val="07734A"/>
                </a:solidFill>
                <a:latin typeface="Verdana"/>
              </a:rPr>
              <a:t>» projet - c'est un constat chiffré</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toujours nous qui écopons, à l'expédition.   </a:t>
            </a:r>
            <a:r>
              <a:rPr sz="1400" b="1" i="0">
                <a:solidFill>
                  <a:srgbClr val="07734A"/>
                </a:solidFill>
                <a:latin typeface="Verdana"/>
              </a:rPr>
              <a:t>» plainte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table élévatrice garderait la palette à hauteur de coude.   </a:t>
            </a:r>
            <a:r>
              <a:rPr sz="1400" b="1" i="0">
                <a:solidFill>
                  <a:srgbClr val="07734A"/>
                </a:solidFill>
                <a:latin typeface="Verdana"/>
              </a:rPr>
              <a:t>» projet - c'est un correctif</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fait des années que ça dure et personne ne fait rien.   </a:t>
            </a:r>
            <a:r>
              <a:rPr sz="1400" b="1" i="0">
                <a:solidFill>
                  <a:srgbClr val="07734A"/>
                </a:solidFill>
                <a:latin typeface="Verdana"/>
              </a:rPr>
              <a:t>» plainte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rotation pourrait commencer le lundi 22 septembre.   </a:t>
            </a:r>
            <a:r>
              <a:rPr sz="1400" b="1" i="0">
                <a:solidFill>
                  <a:srgbClr val="07734A"/>
                </a:solidFill>
                <a:latin typeface="Verdana"/>
              </a:rPr>
              <a:t>» projet - c'est une échéance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constat de quelque chose que vous voudriez voir changer.</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Depuis quand est-ce que ça dure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Combien de fois par jour ou par semaine ?</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Combien de personnes est-ce que ça touche ?</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Présenter un projet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