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Dernière séance du bloc A. C'est le premier texte suivi du module - l'exercice `prOrdre` est de type texte, avec des passages cliquables. Prévoir vingt minutes sur le module, en fin de séance.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quatrième objectif est un acte de parole réel, que plusieurs élèves n'ont jamais posé. Il revient à la fin de la séance.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Amener l'idée qu'un document affiché n'est pas un document lu. C'est exactement ce qui arrive à Aïcha avec le programme de prévention, qu'elle découvre au bloc 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Six rangées et une note : c'est la densité maximale lisible de loin. Le document joint est volontairement renvoyé à la note, pour qu'il ressorte.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Beaucoup d'élèves siègent à un conseil d'établissement ou à une assemblée de copropriétaires : le même mot y a le même sens.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Ouvrir l'exercice `prOrdre` du module en parallèle : les élèves cliquent dans le texte pendant que le groupe répond à l'oral. C'est le premier exercice de type texte du module ; montrer une fois comment on arme une question avant de cliquer un passage.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jouer la demande à deux, debout, en trente secondes : un élève demande, l'autre répond. Tout le monde passe.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dire sans culpabiliser : presque personne ne lit les documents joints, y compris les francophones. C'est justement pour ça que celui qui le fait se distingue.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Ramasser. Corriger surtout la durée demandée : ceux qui n'en donnent aucune sont ceux qui n'obtiendront rien.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SÉANCE A4  ·  MODULE 2</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Lire un ordre du jour</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Six lignes qui décident de votre semaine : qui doit être là, ce qui va se discuter, dans quel ordre, pendant combien de temps, et ce qu'il faut avoir lu avant d'arriver.</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Présenter un projet au travail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retrouver dans un ordre du jour la date, la durée et le convocateur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ce que « varia » veut dire, et quand on le demande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repérer le document joint à lire avant la réunion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demander une place à l'ordre du jour d'une prochaine réunion.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Qu'est-ce qui est affiché sur ce babillard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babillard.jpg"/>
          <p:cNvPicPr>
            <a:picLocks noChangeAspect="1"/>
          </p:cNvPicPr>
          <p:nvPr/>
        </p:nvPicPr>
        <p:blipFill>
          <a:blip r:embed="rId2"/>
          <a:stretch>
            <a:fillRect/>
          </a:stretch>
        </p:blipFill>
        <p:spPr>
          <a:xfrm>
            <a:off x="7644383" y="2638438"/>
            <a:ext cx="3760927" cy="2522955"/>
          </a:xfrm>
          <a:prstGeom prst="rect">
            <a:avLst/>
          </a:prstGeom>
        </p:spPr>
      </p:pic>
      <p:sp>
        <p:nvSpPr>
          <p:cNvPr id="9" name="Rounded Rectangle 8"/>
          <p:cNvSpPr/>
          <p:nvPr/>
        </p:nvSpPr>
        <p:spPr>
          <a:xfrm>
            <a:off x="566928" y="1856232"/>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Y a-t-il un babillard là où vous travaillez ?</a:t>
            </a:r>
          </a:p>
        </p:txBody>
      </p:sp>
      <p:sp>
        <p:nvSpPr>
          <p:cNvPr id="12" name="Rounded Rectangle 11"/>
          <p:cNvSpPr/>
          <p:nvPr/>
        </p:nvSpPr>
        <p:spPr>
          <a:xfrm>
            <a:off x="566928" y="2642108"/>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2751836"/>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2824988"/>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Qui le regarde vraiment ?</a:t>
            </a:r>
          </a:p>
        </p:txBody>
      </p:sp>
      <p:sp>
        <p:nvSpPr>
          <p:cNvPr id="15" name="Rounded Rectangle 14"/>
          <p:cNvSpPr/>
          <p:nvPr/>
        </p:nvSpPr>
        <p:spPr>
          <a:xfrm>
            <a:off x="566928" y="3427984"/>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537712"/>
            <a:ext cx="50292" cy="821944"/>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610864"/>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qu'on y trouve : des horaires, des avis, des offres ?</a:t>
            </a:r>
          </a:p>
        </p:txBody>
      </p:sp>
      <p:sp>
        <p:nvSpPr>
          <p:cNvPr id="18" name="Rounded Rectangle 17"/>
          <p:cNvSpPr/>
          <p:nvPr/>
        </p:nvSpPr>
        <p:spPr>
          <a:xfrm>
            <a:off x="566928" y="4551680"/>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661408"/>
            <a:ext cx="50292" cy="821944"/>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4734560"/>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Vous est-il déjà arrivé de manquer quelque chose d'important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qu'un ordre du jour contient</a:t>
            </a:r>
          </a:p>
        </p:txBody>
      </p:sp>
      <p:sp>
        <p:nvSpPr>
          <p:cNvPr id="7" name="Rounded Rectangle 6"/>
          <p:cNvSpPr/>
          <p:nvPr/>
        </p:nvSpPr>
        <p:spPr>
          <a:xfrm>
            <a:off x="566928" y="1810512"/>
            <a:ext cx="11057839" cy="3253740"/>
          </a:xfrm>
          <a:prstGeom prst="roundRect">
            <a:avLst>
              <a:gd name="adj" fmla="val 449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L'ÉLÉMENT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 ÇA VOUS DEMANDE</a:t>
            </a:r>
          </a:p>
        </p:txBody>
      </p:sp>
      <p:sp>
        <p:nvSpPr>
          <p:cNvPr id="10" name="TextBox 9"/>
          <p:cNvSpPr txBox="1"/>
          <p:nvPr/>
        </p:nvSpPr>
        <p:spPr>
          <a:xfrm>
            <a:off x="932688" y="2395728"/>
            <a:ext cx="3291492" cy="321564"/>
          </a:xfrm>
          <a:prstGeom prst="rect">
            <a:avLst/>
          </a:prstGeom>
          <a:noFill/>
        </p:spPr>
        <p:txBody>
          <a:bodyPr wrap="square" lIns="0" rIns="0" tIns="0" bIns="0" anchor="t">
            <a:spAutoFit/>
          </a:bodyPr>
          <a:lstStyle/>
          <a:p>
            <a:pPr algn="l">
              <a:lnSpc>
                <a:spcPct val="132000"/>
              </a:lnSpc>
            </a:pPr>
            <a:r>
              <a:rPr sz="1700" b="1" i="0">
                <a:solidFill>
                  <a:srgbClr val="0D7A6F"/>
                </a:solidFill>
                <a:latin typeface="Verdana"/>
              </a:rPr>
              <a:t>Date et durée</a:t>
            </a:r>
          </a:p>
        </p:txBody>
      </p:sp>
      <p:sp>
        <p:nvSpPr>
          <p:cNvPr id="11" name="TextBox 10"/>
          <p:cNvSpPr txBox="1"/>
          <p:nvPr/>
        </p:nvSpPr>
        <p:spPr>
          <a:xfrm>
            <a:off x="4443636" y="2395728"/>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la durée dit le temps dont vous disposez</a:t>
            </a:r>
          </a:p>
        </p:txBody>
      </p:sp>
      <p:sp>
        <p:nvSpPr>
          <p:cNvPr id="12" name="Rectangle 11"/>
          <p:cNvSpPr/>
          <p:nvPr/>
        </p:nvSpPr>
        <p:spPr>
          <a:xfrm>
            <a:off x="932688" y="279044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18460"/>
            <a:ext cx="3291492" cy="321564"/>
          </a:xfrm>
          <a:prstGeom prst="rect">
            <a:avLst/>
          </a:prstGeom>
          <a:noFill/>
        </p:spPr>
        <p:txBody>
          <a:bodyPr wrap="square" lIns="0" rIns="0" tIns="0" bIns="0" anchor="t">
            <a:spAutoFit/>
          </a:bodyPr>
          <a:lstStyle/>
          <a:p>
            <a:pPr algn="l">
              <a:lnSpc>
                <a:spcPct val="132000"/>
              </a:lnSpc>
            </a:pPr>
            <a:r>
              <a:rPr sz="1700" b="1" i="0">
                <a:solidFill>
                  <a:srgbClr val="0D7A6F"/>
                </a:solidFill>
                <a:latin typeface="Verdana"/>
              </a:rPr>
              <a:t>La convocation</a:t>
            </a:r>
          </a:p>
        </p:txBody>
      </p:sp>
      <p:sp>
        <p:nvSpPr>
          <p:cNvPr id="14" name="TextBox 13"/>
          <p:cNvSpPr txBox="1"/>
          <p:nvPr/>
        </p:nvSpPr>
        <p:spPr>
          <a:xfrm>
            <a:off x="4443636" y="2918460"/>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la personne à qui signaler une absence</a:t>
            </a:r>
          </a:p>
        </p:txBody>
      </p:sp>
      <p:sp>
        <p:nvSpPr>
          <p:cNvPr id="15" name="Rectangle 14"/>
          <p:cNvSpPr/>
          <p:nvPr/>
        </p:nvSpPr>
        <p:spPr>
          <a:xfrm>
            <a:off x="932688" y="331317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41192"/>
            <a:ext cx="3291492" cy="321564"/>
          </a:xfrm>
          <a:prstGeom prst="rect">
            <a:avLst/>
          </a:prstGeom>
          <a:noFill/>
        </p:spPr>
        <p:txBody>
          <a:bodyPr wrap="square" lIns="0" rIns="0" tIns="0" bIns="0" anchor="t">
            <a:spAutoFit/>
          </a:bodyPr>
          <a:lstStyle/>
          <a:p>
            <a:pPr algn="l">
              <a:lnSpc>
                <a:spcPct val="132000"/>
              </a:lnSpc>
            </a:pPr>
            <a:r>
              <a:rPr sz="1700" b="1" i="0">
                <a:solidFill>
                  <a:srgbClr val="0D7A6F"/>
                </a:solidFill>
                <a:latin typeface="Verdana"/>
              </a:rPr>
              <a:t>Les convoqués</a:t>
            </a:r>
          </a:p>
        </p:txBody>
      </p:sp>
      <p:sp>
        <p:nvSpPr>
          <p:cNvPr id="17" name="TextBox 16"/>
          <p:cNvSpPr txBox="1"/>
          <p:nvPr/>
        </p:nvSpPr>
        <p:spPr>
          <a:xfrm>
            <a:off x="4443636" y="3441192"/>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si vous y êtes, on vous attend</a:t>
            </a:r>
          </a:p>
        </p:txBody>
      </p:sp>
      <p:sp>
        <p:nvSpPr>
          <p:cNvPr id="18" name="Rectangle 17"/>
          <p:cNvSpPr/>
          <p:nvPr/>
        </p:nvSpPr>
        <p:spPr>
          <a:xfrm>
            <a:off x="932688" y="38359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963924"/>
            <a:ext cx="3291492" cy="321564"/>
          </a:xfrm>
          <a:prstGeom prst="rect">
            <a:avLst/>
          </a:prstGeom>
          <a:noFill/>
        </p:spPr>
        <p:txBody>
          <a:bodyPr wrap="square" lIns="0" rIns="0" tIns="0" bIns="0" anchor="t">
            <a:spAutoFit/>
          </a:bodyPr>
          <a:lstStyle/>
          <a:p>
            <a:pPr algn="l">
              <a:lnSpc>
                <a:spcPct val="132000"/>
              </a:lnSpc>
            </a:pPr>
            <a:r>
              <a:rPr sz="1700" b="1" i="0">
                <a:solidFill>
                  <a:srgbClr val="0D7A6F"/>
                </a:solidFill>
                <a:latin typeface="Verdana"/>
              </a:rPr>
              <a:t>Les points numérotés</a:t>
            </a:r>
          </a:p>
        </p:txBody>
      </p:sp>
      <p:sp>
        <p:nvSpPr>
          <p:cNvPr id="20" name="TextBox 19"/>
          <p:cNvSpPr txBox="1"/>
          <p:nvPr/>
        </p:nvSpPr>
        <p:spPr>
          <a:xfrm>
            <a:off x="4443636" y="3963924"/>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le numéro nomme un sujet en deux mots</a:t>
            </a:r>
          </a:p>
        </p:txBody>
      </p:sp>
      <p:sp>
        <p:nvSpPr>
          <p:cNvPr id="21" name="Rectangle 20"/>
          <p:cNvSpPr/>
          <p:nvPr/>
        </p:nvSpPr>
        <p:spPr>
          <a:xfrm>
            <a:off x="932688" y="43586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486656"/>
            <a:ext cx="3291492" cy="321564"/>
          </a:xfrm>
          <a:prstGeom prst="rect">
            <a:avLst/>
          </a:prstGeom>
          <a:noFill/>
        </p:spPr>
        <p:txBody>
          <a:bodyPr wrap="square" lIns="0" rIns="0" tIns="0" bIns="0" anchor="t">
            <a:spAutoFit/>
          </a:bodyPr>
          <a:lstStyle/>
          <a:p>
            <a:pPr algn="l">
              <a:lnSpc>
                <a:spcPct val="132000"/>
              </a:lnSpc>
            </a:pPr>
            <a:r>
              <a:rPr sz="1700" b="1" i="0">
                <a:solidFill>
                  <a:srgbClr val="0D7A6F"/>
                </a:solidFill>
                <a:latin typeface="Verdana"/>
              </a:rPr>
              <a:t>Le varia</a:t>
            </a:r>
          </a:p>
        </p:txBody>
      </p:sp>
      <p:sp>
        <p:nvSpPr>
          <p:cNvPr id="23" name="TextBox 22"/>
          <p:cNvSpPr txBox="1"/>
          <p:nvPr/>
        </p:nvSpPr>
        <p:spPr>
          <a:xfrm>
            <a:off x="4443636" y="4486656"/>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les points demandés en début de réunion</a:t>
            </a:r>
          </a:p>
        </p:txBody>
      </p:sp>
      <p:sp>
        <p:nvSpPr>
          <p:cNvPr id="24" name="Rounded Rectangle 23"/>
          <p:cNvSpPr/>
          <p:nvPr/>
        </p:nvSpPr>
        <p:spPr>
          <a:xfrm>
            <a:off x="566928" y="530199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69264" y="555802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La durée d'un point est une contrainte, pas une estimation. Le document joint se lit AVANT.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UN POINT DE VARIA SE DEMANDE AU DÉBUT</a:t>
            </a:r>
          </a:p>
        </p:txBody>
      </p:sp>
      <p:sp>
        <p:nvSpPr>
          <p:cNvPr id="6" name="Rounded Rectangle 5"/>
          <p:cNvSpPr/>
          <p:nvPr/>
        </p:nvSpPr>
        <p:spPr>
          <a:xfrm>
            <a:off x="566928" y="1225296"/>
            <a:ext cx="11057839" cy="1967991"/>
          </a:xfrm>
          <a:prstGeom prst="roundRect">
            <a:avLst>
              <a:gd name="adj" fmla="val 74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Le varia n'est pas une permission d'interrompre.</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C'est un espace prévu à la fin de la réunion, et il se réclame au moment où l'on adopte l'ordre du jour, pas au milieu du point 2. Un point demandé en cours de route sera renvoyé au varia de toute façon - avec, en prime, l'impression que vous ne connaissez pas la procédure.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L'ordre du jour du 8 septembre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le document projeté au module.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Quand la réunion a-t-elle lieu, et pendant combien de temps ?</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Qui convoque la réunion ?</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Combien de temps dure la présentation du point 1 ?</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De quoi Thérèse Lapointe va-t-elle parler ?</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À quel moment demande-t-on à ajouter un point ?</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Qu'est-ce qu'il faut avoir lu avant d'arriver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L'ordre du jour du 8 septembre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Quand la réunion a-t-elle lieu, et pendant combien de temps ?   </a:t>
            </a:r>
            <a:r>
              <a:rPr sz="1400" b="1" i="0">
                <a:solidFill>
                  <a:srgbClr val="07734A"/>
                </a:solidFill>
                <a:latin typeface="Verdana"/>
              </a:rPr>
              <a:t>» le lundi 8 septembre, de 8 h à 9 h 15</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Qui convoque la réunion ?   </a:t>
            </a:r>
            <a:r>
              <a:rPr sz="1400" b="1" i="0">
                <a:solidFill>
                  <a:srgbClr val="07734A"/>
                </a:solidFill>
                <a:latin typeface="Verdana"/>
              </a:rPr>
              <a:t>» Renaud Cormier, chef de production</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Combien de temps dure la présentation du point 1 ?   </a:t>
            </a:r>
            <a:r>
              <a:rPr sz="1400" b="1" i="0">
                <a:solidFill>
                  <a:srgbClr val="07734A"/>
                </a:solidFill>
                <a:latin typeface="Verdana"/>
              </a:rPr>
              <a:t>» douze minutes, puis les questions</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De quoi Thérèse Lapointe va-t-elle parler ?   </a:t>
            </a:r>
            <a:r>
              <a:rPr sz="1400" b="1" i="0">
                <a:solidFill>
                  <a:srgbClr val="07734A"/>
                </a:solidFill>
                <a:latin typeface="Verdana"/>
              </a:rPr>
              <a:t>» du rappel de la procédure de cadenassage</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À quel moment demande-t-on à ajouter un point ?   </a:t>
            </a:r>
            <a:r>
              <a:rPr sz="1400" b="1" i="0">
                <a:solidFill>
                  <a:srgbClr val="07734A"/>
                </a:solidFill>
                <a:latin typeface="Verdana"/>
              </a:rPr>
              <a:t>» en début de réunion, jamais pendant</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Qu'est-ce qu'il faut avoir lu avant d'arriver ?   </a:t>
            </a:r>
            <a:r>
              <a:rPr sz="1400" b="1" i="0">
                <a:solidFill>
                  <a:srgbClr val="07734A"/>
                </a:solidFill>
                <a:latin typeface="Verdana"/>
              </a:rPr>
              <a:t>» le relevé des temps d'attente, deux pages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Demander une place à l'ordre du jour</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57124"/>
          </a:xfrm>
          <a:prstGeom prst="rect">
            <a:avLst/>
          </a:prstGeom>
          <a:noFill/>
        </p:spPr>
        <p:txBody>
          <a:bodyPr wrap="square" lIns="0" rIns="0" tIns="0" bIns="0" anchor="t">
            <a:spAutoFit/>
          </a:bodyPr>
          <a:lstStyle/>
          <a:p>
            <a:pPr algn="l">
              <a:lnSpc>
                <a:spcPct val="118000"/>
              </a:lnSpc>
            </a:pPr>
            <a:r>
              <a:rPr sz="2200" b="1" i="0">
                <a:solidFill>
                  <a:srgbClr val="0D7A6F"/>
                </a:solidFill>
                <a:latin typeface="Verdana"/>
              </a:rPr>
              <a:t>1 · Demander la place d'abord</a:t>
            </a:r>
          </a:p>
        </p:txBody>
      </p:sp>
      <p:sp>
        <p:nvSpPr>
          <p:cNvPr id="9" name="TextBox 8"/>
          <p:cNvSpPr txBox="1"/>
          <p:nvPr/>
        </p:nvSpPr>
        <p:spPr>
          <a:xfrm>
            <a:off x="886968" y="2469388"/>
            <a:ext cx="4806543" cy="111963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 Est-ce qu'il reste de la place à l'ordre du jour d'une prochaine réunion ? » On demande la place avant de préparer le contenu.</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57124"/>
          </a:xfrm>
          <a:prstGeom prst="rect">
            <a:avLst/>
          </a:prstGeom>
          <a:noFill/>
        </p:spPr>
        <p:txBody>
          <a:bodyPr wrap="square" lIns="0" rIns="0" tIns="0" bIns="0" anchor="t">
            <a:spAutoFit/>
          </a:bodyPr>
          <a:lstStyle/>
          <a:p>
            <a:pPr algn="l">
              <a:lnSpc>
                <a:spcPct val="118000"/>
              </a:lnSpc>
            </a:pPr>
            <a:r>
              <a:rPr sz="2200" b="1" i="0">
                <a:solidFill>
                  <a:srgbClr val="0D7A6F"/>
                </a:solidFill>
                <a:latin typeface="Verdana"/>
              </a:rPr>
              <a:t>2 · Dire combien de temps</a:t>
            </a:r>
          </a:p>
        </p:txBody>
      </p:sp>
      <p:sp>
        <p:nvSpPr>
          <p:cNvPr id="12" name="TextBox 11"/>
          <p:cNvSpPr txBox="1"/>
          <p:nvPr/>
        </p:nvSpPr>
        <p:spPr>
          <a:xfrm>
            <a:off x="6498183" y="2469388"/>
            <a:ext cx="4806543" cy="111963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 J'aurais besoin d'une quinzaine de minutes. » Une demande sans durée ne s'accorde pas.</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57124"/>
          </a:xfrm>
          <a:prstGeom prst="rect">
            <a:avLst/>
          </a:prstGeom>
          <a:noFill/>
        </p:spPr>
        <p:txBody>
          <a:bodyPr wrap="square" lIns="0" rIns="0" tIns="0" bIns="0" anchor="t">
            <a:spAutoFit/>
          </a:bodyPr>
          <a:lstStyle/>
          <a:p>
            <a:pPr algn="l">
              <a:lnSpc>
                <a:spcPct val="118000"/>
              </a:lnSpc>
            </a:pPr>
            <a:r>
              <a:rPr sz="2200" b="1" i="0">
                <a:solidFill>
                  <a:srgbClr val="0D7A6F"/>
                </a:solidFill>
                <a:latin typeface="Verdana"/>
              </a:rPr>
              <a:t>3 · Confirmer par écrit</a:t>
            </a:r>
          </a:p>
        </p:txBody>
      </p:sp>
      <p:sp>
        <p:nvSpPr>
          <p:cNvPr id="15" name="TextBox 14"/>
          <p:cNvSpPr txBox="1"/>
          <p:nvPr/>
        </p:nvSpPr>
        <p:spPr>
          <a:xfrm>
            <a:off x="886968" y="4686808"/>
            <a:ext cx="4806543" cy="111963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Avant la date limite indiquée. Une place obtenue de vive voix et jamais confirmée n'existe pas.</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57124"/>
          </a:xfrm>
          <a:prstGeom prst="rect">
            <a:avLst/>
          </a:prstGeom>
          <a:noFill/>
        </p:spPr>
        <p:txBody>
          <a:bodyPr wrap="square" lIns="0" rIns="0" tIns="0" bIns="0" anchor="t">
            <a:spAutoFit/>
          </a:bodyPr>
          <a:lstStyle/>
          <a:p>
            <a:pPr algn="l">
              <a:lnSpc>
                <a:spcPct val="118000"/>
              </a:lnSpc>
            </a:pPr>
            <a:r>
              <a:rPr sz="2200" b="1" i="0">
                <a:solidFill>
                  <a:srgbClr val="0D7A6F"/>
                </a:solidFill>
                <a:latin typeface="Verdana"/>
              </a:rPr>
              <a:t>4 · Tenir sa durée</a:t>
            </a:r>
          </a:p>
        </p:txBody>
      </p:sp>
      <p:sp>
        <p:nvSpPr>
          <p:cNvPr id="18" name="TextBox 17"/>
          <p:cNvSpPr txBox="1"/>
          <p:nvPr/>
        </p:nvSpPr>
        <p:spPr>
          <a:xfrm>
            <a:off x="6498183" y="4686808"/>
            <a:ext cx="4806543" cy="111963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Demander quinze minutes et en prendre vingt-cinq est la façon la plus sûre de ne plus jamais en obtenir.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LECTURE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arriver sans avoir lu le document joint</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le lire la veille, crayon en main</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document joint est la seule partie de la réunion que vous pouvez maîtriser d'avance. C'est aussi ce qui vous permet de poser une question précise plutôt qu'une question générale - et une question précise est ce qui fait qu'on vous écoute la fois suivante.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la phrase par laquelle vous demanderiez une place à l'ordre du jour.</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À qui vous adressez-vous, et comment le nommez-vous ?</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Combien de temps demandez-vous ?</a:t>
            </a:r>
          </a:p>
        </p:txBody>
      </p:sp>
      <p:sp>
        <p:nvSpPr>
          <p:cNvPr id="12" name="Rounded Rectangle 11"/>
          <p:cNvSpPr/>
          <p:nvPr/>
        </p:nvSpPr>
        <p:spPr>
          <a:xfrm>
            <a:off x="566928" y="5429504"/>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5584952"/>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Que dites-vous du sujet, en cinq mots ?</a:t>
            </a:r>
          </a:p>
        </p:txBody>
      </p:sp>
      <p:sp>
        <p:nvSpPr>
          <p:cNvPr id="14" name="TextBox 13"/>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Présenter un projet au travail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