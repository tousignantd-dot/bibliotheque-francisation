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C'est le premier texte suivi du module - l'exercice `prOrdre` est de type texte, avec des passages cliquables. Prévoir vingt minutes sur le module, en fin de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un acte de parole réel, que plusieurs élèves n'ont jamais posé. Il revient à la fin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Amener l'idée qu'un document affiché n'est pas un document lu. C'est exactement ce qui arrive à Aïcha avec le programme de prévention, qu'elle découvre au bloc 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Six rangées et une note : c'est la densité maximale lisible de loin. Le document joint est volontairement renvoyé à la note, pour qu'il ressorte.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Beaucoup d'élèves siègent à un conseil d'établissement ou à une assemblée de copropriétaires : le même mot y a le même sens.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texte même de l'exercice `prOrdre`. Le projeter et laisser lire en silence deux minutes avant la première question : c'est le premier texte suivi du module, et plusieurs élèves n'ont jamais lu d'ordre du jour.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l'exercice `prOrdre` du module en parallèle : les élèves cliquent dans le texte pendant que le groupe répond à l'oral. C'est le premier exercice de type texte du module ; montrer une fois comment on arme une question avant de cliquer un passage.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jouer la demande à deux, debout, en trente secondes : un élève demande, l'autre répond. Tout le monde passe.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sans culpabiliser : presque personne ne lit les documents joints, y compris les francophones. C'est justement pour ça que celui qui le fait se distingue.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Corriger surtout la durée demandée : ceux qui n'en donnent aucune sont ceux qui n'obtiendront rien.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un ordre du jour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lignes qui décident de votre semaine : qui doit être là, ce qui va se discuter, dans quel ordre, pendant combien de temps, et ce qu'il faut avoir lu avant d'arriver.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Présenter un projet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retrouver dans un ordre du jour la date, la durée et le convocateur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 « varia » veut dire, et quand on le demande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 document joint à lire avant la réunion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une place à l'ordre du jour d'une prochaine réunion.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qui est affiché sur ce babillard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abillard.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un babillard là où vous travaillez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le regarde vraiment ?</a:t>
            </a:r>
          </a:p>
        </p:txBody>
      </p:sp>
      <p:sp>
        <p:nvSpPr>
          <p:cNvPr id="15" name="Rounded Rectangle 14"/>
          <p:cNvSpPr/>
          <p:nvPr/>
        </p:nvSpPr>
        <p:spPr>
          <a:xfrm>
            <a:off x="566928" y="342798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y trouve : des horaires, des avis, des offres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est-il déjà arrivé de manquer quelque chose d'important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qu'un ordre du jour contient</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L'ÉLÉMENT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VOUS DEMANDE</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Date et durée</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durée dit le temps dont vous disposez</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La convocation</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personne à qui signaler une absence</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Les convoqués</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si vous y êtes, on vous attend</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Les points numérotés</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numéro nomme un sujet en deux mots</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 varia</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les points demandés en début de réunion</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durée d'un point est une contrainte, pas une estimation. Le document joint se lit AVANT.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 POINT DE VARIA SE DEMANDE AU DÉBUT</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varia n'est pas une permission d'interrompre.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un espace prévu à la fin de la réunion, et il se réclame au moment où l'on adopte l'ordre du jour, pas au milieu du point 2. Un point demandé en cours de route sera renvoyé au varia de toute façon - avec, en prime, l'impression que vous ne connaissez pas la procédure.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DOCUMENT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L'ordre du jour du 8 septembre</a:t>
            </a:r>
          </a:p>
        </p:txBody>
      </p:sp>
      <p:sp>
        <p:nvSpPr>
          <p:cNvPr id="7" name="Rounded Rectangle 6"/>
          <p:cNvSpPr/>
          <p:nvPr/>
        </p:nvSpPr>
        <p:spPr>
          <a:xfrm>
            <a:off x="566928" y="1737360"/>
            <a:ext cx="11057839" cy="4335526"/>
          </a:xfrm>
          <a:prstGeom prst="roundRect">
            <a:avLst>
              <a:gd name="adj" fmla="val 33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1993391"/>
            <a:ext cx="10234879" cy="552196"/>
          </a:xfrm>
          <a:prstGeom prst="rect">
            <a:avLst/>
          </a:prstGeom>
          <a:noFill/>
        </p:spPr>
        <p:txBody>
          <a:bodyPr wrap="square" lIns="0" rIns="0" tIns="0" bIns="0" anchor="t">
            <a:spAutoFit/>
          </a:bodyPr>
          <a:lstStyle/>
          <a:p>
            <a:pPr algn="l">
              <a:lnSpc>
                <a:spcPct val="145000"/>
              </a:lnSpc>
            </a:pPr>
            <a:r>
              <a:rPr sz="1400" b="0" i="0">
                <a:solidFill>
                  <a:srgbClr val="3A3D40"/>
                </a:solidFill>
                <a:latin typeface="Verdana"/>
              </a:rPr>
              <a:t>MEUBLES RIVE-DU-NORD — RÉUNION DE PRODUCTION. Lundi 8 septembre, de 8 h à 9 h 15, salle Bellerive. Convocation : Renaud Cormier, chef de production.</a:t>
            </a:r>
          </a:p>
        </p:txBody>
      </p:sp>
      <p:sp>
        <p:nvSpPr>
          <p:cNvPr id="9" name="TextBox 8"/>
          <p:cNvSpPr txBox="1"/>
          <p:nvPr/>
        </p:nvSpPr>
        <p:spPr>
          <a:xfrm>
            <a:off x="978408" y="2673603"/>
            <a:ext cx="10234879" cy="552196"/>
          </a:xfrm>
          <a:prstGeom prst="rect">
            <a:avLst/>
          </a:prstGeom>
          <a:noFill/>
        </p:spPr>
        <p:txBody>
          <a:bodyPr wrap="square" lIns="0" rIns="0" tIns="0" bIns="0" anchor="t">
            <a:spAutoFit/>
          </a:bodyPr>
          <a:lstStyle/>
          <a:p>
            <a:pPr algn="l">
              <a:lnSpc>
                <a:spcPct val="145000"/>
              </a:lnSpc>
            </a:pPr>
            <a:r>
              <a:rPr sz="1400" b="0" i="0">
                <a:solidFill>
                  <a:srgbClr val="3A3D40"/>
                </a:solidFill>
                <a:latin typeface="Verdana"/>
              </a:rPr>
              <a:t>Personnes convoquées : les cinq chefs d'équipe, la coordonnatrice adjointe à l'expédition et la représentante en santé et en sécurité. Absence à signaler à la réception avant le vendredi 16 h.</a:t>
            </a:r>
          </a:p>
        </p:txBody>
      </p:sp>
      <p:sp>
        <p:nvSpPr>
          <p:cNvPr id="10" name="TextBox 9"/>
          <p:cNvSpPr txBox="1"/>
          <p:nvPr/>
        </p:nvSpPr>
        <p:spPr>
          <a:xfrm>
            <a:off x="978408" y="3353815"/>
            <a:ext cx="10234879" cy="552196"/>
          </a:xfrm>
          <a:prstGeom prst="rect">
            <a:avLst/>
          </a:prstGeom>
          <a:noFill/>
        </p:spPr>
        <p:txBody>
          <a:bodyPr wrap="square" lIns="0" rIns="0" tIns="0" bIns="0" anchor="t">
            <a:spAutoFit/>
          </a:bodyPr>
          <a:lstStyle/>
          <a:p>
            <a:pPr algn="l">
              <a:lnSpc>
                <a:spcPct val="145000"/>
              </a:lnSpc>
            </a:pPr>
            <a:r>
              <a:rPr sz="1400" b="0" i="0">
                <a:solidFill>
                  <a:srgbClr val="3A3D40"/>
                </a:solidFill>
                <a:latin typeface="Verdana"/>
              </a:rPr>
              <a:t>1. Réaménagement du quai d'expédition — présentation du projet, douze minutes suivies d'une période de questions. R. Cormier.</a:t>
            </a:r>
          </a:p>
        </p:txBody>
      </p:sp>
      <p:sp>
        <p:nvSpPr>
          <p:cNvPr id="11" name="TextBox 10"/>
          <p:cNvSpPr txBox="1"/>
          <p:nvPr/>
        </p:nvSpPr>
        <p:spPr>
          <a:xfrm>
            <a:off x="978408" y="4034027"/>
            <a:ext cx="10234879" cy="294386"/>
          </a:xfrm>
          <a:prstGeom prst="rect">
            <a:avLst/>
          </a:prstGeom>
          <a:noFill/>
        </p:spPr>
        <p:txBody>
          <a:bodyPr wrap="square" lIns="0" rIns="0" tIns="0" bIns="0" anchor="t">
            <a:spAutoFit/>
          </a:bodyPr>
          <a:lstStyle/>
          <a:p>
            <a:pPr algn="l">
              <a:lnSpc>
                <a:spcPct val="145000"/>
              </a:lnSpc>
            </a:pPr>
            <a:r>
              <a:rPr sz="1400" b="0" i="0">
                <a:solidFill>
                  <a:srgbClr val="3A3D40"/>
                </a:solidFill>
                <a:latin typeface="Verdana"/>
              </a:rPr>
              <a:t>2. Retards de livraison du mois d'août — tour de table. Les chefs d'équipe.</a:t>
            </a:r>
          </a:p>
        </p:txBody>
      </p:sp>
      <p:sp>
        <p:nvSpPr>
          <p:cNvPr id="12" name="TextBox 11"/>
          <p:cNvSpPr txBox="1"/>
          <p:nvPr/>
        </p:nvSpPr>
        <p:spPr>
          <a:xfrm>
            <a:off x="978408" y="4456430"/>
            <a:ext cx="10234879" cy="294386"/>
          </a:xfrm>
          <a:prstGeom prst="rect">
            <a:avLst/>
          </a:prstGeom>
          <a:noFill/>
        </p:spPr>
        <p:txBody>
          <a:bodyPr wrap="square" lIns="0" rIns="0" tIns="0" bIns="0" anchor="t">
            <a:spAutoFit/>
          </a:bodyPr>
          <a:lstStyle/>
          <a:p>
            <a:pPr algn="l">
              <a:lnSpc>
                <a:spcPct val="145000"/>
              </a:lnSpc>
            </a:pPr>
            <a:r>
              <a:rPr sz="1400" b="0" i="0">
                <a:solidFill>
                  <a:srgbClr val="3A3D40"/>
                </a:solidFill>
                <a:latin typeface="Verdana"/>
              </a:rPr>
              <a:t>3. Rappel de la procédure de cadenassage — cinq minutes. T. Lapointe.</a:t>
            </a:r>
          </a:p>
        </p:txBody>
      </p:sp>
      <p:sp>
        <p:nvSpPr>
          <p:cNvPr id="13" name="TextBox 12"/>
          <p:cNvSpPr txBox="1"/>
          <p:nvPr/>
        </p:nvSpPr>
        <p:spPr>
          <a:xfrm>
            <a:off x="978408" y="4878832"/>
            <a:ext cx="10234879" cy="294386"/>
          </a:xfrm>
          <a:prstGeom prst="rect">
            <a:avLst/>
          </a:prstGeom>
          <a:noFill/>
        </p:spPr>
        <p:txBody>
          <a:bodyPr wrap="square" lIns="0" rIns="0" tIns="0" bIns="0" anchor="t">
            <a:spAutoFit/>
          </a:bodyPr>
          <a:lstStyle/>
          <a:p>
            <a:pPr algn="l">
              <a:lnSpc>
                <a:spcPct val="145000"/>
              </a:lnSpc>
            </a:pPr>
            <a:r>
              <a:rPr sz="1400" b="0" i="0">
                <a:solidFill>
                  <a:srgbClr val="3A3D40"/>
                </a:solidFill>
                <a:latin typeface="Verdana"/>
              </a:rPr>
              <a:t>4. Varia. Les points de varia se demandent en début de réunion, pas pendant.</a:t>
            </a:r>
          </a:p>
        </p:txBody>
      </p:sp>
      <p:sp>
        <p:nvSpPr>
          <p:cNvPr id="14" name="TextBox 13"/>
          <p:cNvSpPr txBox="1"/>
          <p:nvPr/>
        </p:nvSpPr>
        <p:spPr>
          <a:xfrm>
            <a:off x="978408" y="5301234"/>
            <a:ext cx="10234879" cy="552196"/>
          </a:xfrm>
          <a:prstGeom prst="rect">
            <a:avLst/>
          </a:prstGeom>
          <a:noFill/>
        </p:spPr>
        <p:txBody>
          <a:bodyPr wrap="square" lIns="0" rIns="0" tIns="0" bIns="0" anchor="t">
            <a:spAutoFit/>
          </a:bodyPr>
          <a:lstStyle/>
          <a:p>
            <a:pPr algn="l">
              <a:lnSpc>
                <a:spcPct val="145000"/>
              </a:lnSpc>
            </a:pPr>
            <a:r>
              <a:rPr sz="1400" b="0" i="0">
                <a:solidFill>
                  <a:srgbClr val="3A3D40"/>
                </a:solidFill>
                <a:latin typeface="Verdana"/>
              </a:rPr>
              <a:t>Document joint : le relevé des temps d'attente de juillet et d'août, deux pages. Le procès-verbal de la réunion du 25 août est déposé pour adoption.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l'ordre du jour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l'ordre du jour ci-dessus.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la réunion a-t-elle lieu, et pendant combien de temps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convoque la réunion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 présentation du point 1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quoi Thérèse Lapointe va-t-elle parler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 moment demande-t-on à ajouter un point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qu'il faut avoir lu avant d'arriver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l'ordre du jour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la réunion a-t-elle lieu, et pendant combien de temps ?   </a:t>
            </a:r>
            <a:r>
              <a:rPr sz="1400" b="1" i="0">
                <a:solidFill>
                  <a:srgbClr val="07734A"/>
                </a:solidFill>
                <a:latin typeface="Verdana"/>
              </a:rPr>
              <a:t>» le lundi 8 septembre, de 8 h à 9 h 15</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convoque la réunion ?   </a:t>
            </a:r>
            <a:r>
              <a:rPr sz="1400" b="1" i="0">
                <a:solidFill>
                  <a:srgbClr val="07734A"/>
                </a:solidFill>
                <a:latin typeface="Verdana"/>
              </a:rPr>
              <a:t>» Renaud Cormier, chef de production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 présentation du point 1 ?   </a:t>
            </a:r>
            <a:r>
              <a:rPr sz="1400" b="1" i="0">
                <a:solidFill>
                  <a:srgbClr val="07734A"/>
                </a:solidFill>
                <a:latin typeface="Verdana"/>
              </a:rPr>
              <a:t>» douze minutes, puis les questions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quoi Thérèse Lapointe va-t-elle parler ?   </a:t>
            </a:r>
            <a:r>
              <a:rPr sz="1400" b="1" i="0">
                <a:solidFill>
                  <a:srgbClr val="07734A"/>
                </a:solidFill>
                <a:latin typeface="Verdana"/>
              </a:rPr>
              <a:t>» du rappel de la procédure de cadenassage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 moment demande-t-on à ajouter un point ?   </a:t>
            </a:r>
            <a:r>
              <a:rPr sz="1400" b="1" i="0">
                <a:solidFill>
                  <a:srgbClr val="07734A"/>
                </a:solidFill>
                <a:latin typeface="Verdana"/>
              </a:rPr>
              <a:t>» en début de réunion, jamais pendant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qu'il faut avoir lu avant d'arriver ?   </a:t>
            </a:r>
            <a:r>
              <a:rPr sz="1400" b="1" i="0">
                <a:solidFill>
                  <a:srgbClr val="07734A"/>
                </a:solidFill>
                <a:latin typeface="Verdana"/>
              </a:rPr>
              <a:t>» le relevé des temps d'attente, deux pages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Demander une place à l'ordre du jour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1 · Demander la place d'abord</a:t>
            </a:r>
          </a:p>
        </p:txBody>
      </p:sp>
      <p:sp>
        <p:nvSpPr>
          <p:cNvPr id="9" name="TextBox 8"/>
          <p:cNvSpPr txBox="1"/>
          <p:nvPr/>
        </p:nvSpPr>
        <p:spPr>
          <a:xfrm>
            <a:off x="886968"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Est-ce qu'il reste de la place à l'ordre du jour d'une prochaine réunion ? » On demande la place avant de préparer le contenu.</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2 · Dire combien de temps</a:t>
            </a:r>
          </a:p>
        </p:txBody>
      </p:sp>
      <p:sp>
        <p:nvSpPr>
          <p:cNvPr id="12" name="TextBox 11"/>
          <p:cNvSpPr txBox="1"/>
          <p:nvPr/>
        </p:nvSpPr>
        <p:spPr>
          <a:xfrm>
            <a:off x="6498183"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J'aurais besoin d'une quinzaine de minutes. » Une demande sans durée ne s'accorde pas.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3 · Confirmer par écrit</a:t>
            </a:r>
          </a:p>
        </p:txBody>
      </p:sp>
      <p:sp>
        <p:nvSpPr>
          <p:cNvPr id="15" name="TextBox 14"/>
          <p:cNvSpPr txBox="1"/>
          <p:nvPr/>
        </p:nvSpPr>
        <p:spPr>
          <a:xfrm>
            <a:off x="886968"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Avant la date limite indiquée. Une place obtenue de vive voix et jamais confirmée n'existe pas.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4 · Tenir sa durée</a:t>
            </a:r>
          </a:p>
        </p:txBody>
      </p:sp>
      <p:sp>
        <p:nvSpPr>
          <p:cNvPr id="18" name="TextBox 17"/>
          <p:cNvSpPr txBox="1"/>
          <p:nvPr/>
        </p:nvSpPr>
        <p:spPr>
          <a:xfrm>
            <a:off x="6498183"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Demander quinze minutes et en prendre vingt-cinq est la façon la plus sûre de ne plus jamais en obtenir.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arriver sans avoir lu le document joint</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 lire la veille, crayon en main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document joint est la seule partie de la réunion que vous pouvez maîtriser d'avance. C'est aussi ce qui vous permet de poser une question précise plutôt qu'une question générale - et une question précise est ce qui fait qu'on vous écoute la fois suivante.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phrase par laquelle vous demanderiez une place à l'ordre du jour.</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À qui vous adressez-vous, et comment le nommez-vous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Combien de temps demandez-vous ?</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Que dites-vous du sujet, en cinq mots ?</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Présenter un projet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