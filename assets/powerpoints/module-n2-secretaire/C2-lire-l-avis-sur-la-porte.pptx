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Défi 2. Apporter en classe trois vrais avis affichés dans le centre. Les élèves reconnaissent la forme avant de connaître son nom, et ça suffit au niveau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deuxième piste est la bonne réponse de la séance : on cherche la date. Elle est presque toujours à la première ligne, et elle décide de tout le reste.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écouter deux fois. Amel lit à voix haute avant de comprendre : c'est la bonne stratégie, et il faut la nommer.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Poser quatre questions dessus : quel jour ? qu'est-ce qui est fermé ? quand ça reprend ? qui a écrit ? C'est la grille de lecture de n'importe quel avis.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remarquer le « -ez » final, qui s'entend « é » : même terminaison que dans allez et venez.</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Le dernier point est important : une date devinée fait manquer un cours ou fait venir un jour de congé.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dernier énoncé est le plus utile : savoir qui écrit dit à qui aller poser la question.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à l'oral d'abord. « Soyez » est irrégulier : le donner comme un mot, pas comme une conjugaison.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Sortir vraiment. Cet exercice-là est ce que la séance apprend : lire dans le bâtiment, pas sur la diapositive.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court. Accepter une affiche trouvée ailleurs : au dépanneur, à la clinique, dans l'autobus. Les mêmes quatre mots y servent.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C2  ·  MODULE 10</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Lire l'avis sur la porte</a:t>
            </a:r>
          </a:p>
        </p:txBody>
      </p:sp>
      <p:sp>
        <p:nvSpPr>
          <p:cNvPr id="5" name="Rounded Rectangle 4"/>
          <p:cNvSpPr/>
          <p:nvPr/>
        </p:nvSpPr>
        <p:spPr>
          <a:xfrm>
            <a:off x="566928" y="3794760"/>
            <a:ext cx="9960559" cy="1026668"/>
          </a:xfrm>
          <a:prstGeom prst="roundRect">
            <a:avLst>
              <a:gd name="adj" fmla="val 1425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4140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Trouver la date, ce qui est fermé et ce qu'il faut faire.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Je vais au secrétariat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Je vais au secrétariat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trouver la date dans un avis affiché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ce qui est ouvert et ce qui est fermé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lire une consigne écrite sans « vous » devant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c'est permis, c'est interdit, je peux, je dois.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Je vais au secrétariat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Il y a un papier sur la porte. Que dit-il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ieu-avis.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Où est-ce que ce papier est collé ?</a:t>
            </a:r>
          </a:p>
        </p:txBody>
      </p:sp>
      <p:sp>
        <p:nvSpPr>
          <p:cNvPr id="12" name="Rounded Rectangle 11"/>
          <p:cNvSpPr/>
          <p:nvPr/>
        </p:nvSpPr>
        <p:spPr>
          <a:xfrm>
            <a:off x="566928" y="264210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82194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qu'on cherche en premier quand on le lit ?</a:t>
            </a:r>
          </a:p>
        </p:txBody>
      </p:sp>
      <p:sp>
        <p:nvSpPr>
          <p:cNvPr id="15" name="Rounded Rectangle 14"/>
          <p:cNvSpPr/>
          <p:nvPr/>
        </p:nvSpPr>
        <p:spPr>
          <a:xfrm>
            <a:off x="566928" y="376580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87553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94868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À qui est-ce qu'il parle ?</a:t>
            </a:r>
          </a:p>
        </p:txBody>
      </p:sp>
      <p:sp>
        <p:nvSpPr>
          <p:cNvPr id="18" name="Rounded Rectangle 17"/>
          <p:cNvSpPr/>
          <p:nvPr/>
        </p:nvSpPr>
        <p:spPr>
          <a:xfrm>
            <a:off x="566928" y="4551680"/>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661408"/>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734560"/>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qu'on fait si un mot manque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Je vais au secrétariat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DIALOGUE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C'est un congé</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puis dites la date que vous avez entendue.</a:t>
            </a:r>
          </a:p>
        </p:txBody>
      </p:sp>
      <p:sp>
        <p:nvSpPr>
          <p:cNvPr id="8" name="Rounded Rectangle 7"/>
          <p:cNvSpPr/>
          <p:nvPr/>
        </p:nvSpPr>
        <p:spPr>
          <a:xfrm>
            <a:off x="566928" y="2157984"/>
            <a:ext cx="11057839" cy="578104"/>
          </a:xfrm>
          <a:prstGeom prst="roundRect">
            <a:avLst>
              <a:gd name="adj" fmla="val 25307"/>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027271" cy="303784"/>
          </a:xfrm>
          <a:prstGeom prst="rect">
            <a:avLst/>
          </a:prstGeom>
          <a:noFill/>
        </p:spPr>
        <p:txBody>
          <a:bodyPr wrap="square" lIns="0" rIns="0" tIns="0" bIns="0" anchor="t">
            <a:spAutoFit/>
          </a:bodyPr>
          <a:lstStyle/>
          <a:p>
            <a:pPr algn="l">
              <a:lnSpc>
                <a:spcPct val="135000"/>
              </a:lnSpc>
            </a:pPr>
            <a:r>
              <a:rPr sz="1400" b="1" i="0">
                <a:solidFill>
                  <a:srgbClr val="B45309"/>
                </a:solidFill>
                <a:latin typeface="Verdana"/>
              </a:rPr>
              <a:t>AMEL</a:t>
            </a:r>
          </a:p>
        </p:txBody>
      </p:sp>
      <p:sp>
        <p:nvSpPr>
          <p:cNvPr id="10" name="TextBox 9"/>
          <p:cNvSpPr txBox="1"/>
          <p:nvPr/>
        </p:nvSpPr>
        <p:spPr>
          <a:xfrm>
            <a:off x="1959959" y="2322576"/>
            <a:ext cx="9116167"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Monsieur Ouellet ! Il y a un papier sur la porte.</a:t>
            </a:r>
          </a:p>
        </p:txBody>
      </p:sp>
      <p:sp>
        <p:nvSpPr>
          <p:cNvPr id="11" name="Rounded Rectangle 10"/>
          <p:cNvSpPr/>
          <p:nvPr/>
        </p:nvSpPr>
        <p:spPr>
          <a:xfrm>
            <a:off x="566928" y="2818384"/>
            <a:ext cx="11057839" cy="578104"/>
          </a:xfrm>
          <a:prstGeom prst="roundRect">
            <a:avLst>
              <a:gd name="adj" fmla="val 25307"/>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2982976"/>
            <a:ext cx="1027271" cy="303784"/>
          </a:xfrm>
          <a:prstGeom prst="rect">
            <a:avLst/>
          </a:prstGeom>
          <a:noFill/>
        </p:spPr>
        <p:txBody>
          <a:bodyPr wrap="square" lIns="0" rIns="0" tIns="0" bIns="0" anchor="t">
            <a:spAutoFit/>
          </a:bodyPr>
          <a:lstStyle/>
          <a:p>
            <a:pPr algn="l">
              <a:lnSpc>
                <a:spcPct val="135000"/>
              </a:lnSpc>
            </a:pPr>
            <a:r>
              <a:rPr sz="1400" b="1" i="0">
                <a:solidFill>
                  <a:srgbClr val="B45309"/>
                </a:solidFill>
                <a:latin typeface="Verdana"/>
              </a:rPr>
              <a:t>MARC</a:t>
            </a:r>
          </a:p>
        </p:txBody>
      </p:sp>
      <p:sp>
        <p:nvSpPr>
          <p:cNvPr id="13" name="TextBox 12"/>
          <p:cNvSpPr txBox="1"/>
          <p:nvPr/>
        </p:nvSpPr>
        <p:spPr>
          <a:xfrm>
            <a:off x="1959959" y="2982976"/>
            <a:ext cx="9116167"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Oui, c'est un avis. Vous savez lire ça ?</a:t>
            </a:r>
          </a:p>
        </p:txBody>
      </p:sp>
      <p:sp>
        <p:nvSpPr>
          <p:cNvPr id="14" name="Rounded Rectangle 13"/>
          <p:cNvSpPr/>
          <p:nvPr/>
        </p:nvSpPr>
        <p:spPr>
          <a:xfrm>
            <a:off x="566928" y="3478784"/>
            <a:ext cx="11057839" cy="578104"/>
          </a:xfrm>
          <a:prstGeom prst="roundRect">
            <a:avLst>
              <a:gd name="adj" fmla="val 25307"/>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643376"/>
            <a:ext cx="1027271" cy="303784"/>
          </a:xfrm>
          <a:prstGeom prst="rect">
            <a:avLst/>
          </a:prstGeom>
          <a:noFill/>
        </p:spPr>
        <p:txBody>
          <a:bodyPr wrap="square" lIns="0" rIns="0" tIns="0" bIns="0" anchor="t">
            <a:spAutoFit/>
          </a:bodyPr>
          <a:lstStyle/>
          <a:p>
            <a:pPr algn="l">
              <a:lnSpc>
                <a:spcPct val="135000"/>
              </a:lnSpc>
            </a:pPr>
            <a:r>
              <a:rPr sz="1400" b="1" i="0">
                <a:solidFill>
                  <a:srgbClr val="B45309"/>
                </a:solidFill>
                <a:latin typeface="Verdana"/>
              </a:rPr>
              <a:t>AMEL</a:t>
            </a:r>
          </a:p>
        </p:txBody>
      </p:sp>
      <p:sp>
        <p:nvSpPr>
          <p:cNvPr id="16" name="TextBox 15"/>
          <p:cNvSpPr txBox="1"/>
          <p:nvPr/>
        </p:nvSpPr>
        <p:spPr>
          <a:xfrm>
            <a:off x="1959959" y="3643376"/>
            <a:ext cx="9116167"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lis… « Lundi 13 octobre : le centre est fermé. »</a:t>
            </a:r>
          </a:p>
        </p:txBody>
      </p:sp>
      <p:sp>
        <p:nvSpPr>
          <p:cNvPr id="17" name="Rounded Rectangle 16"/>
          <p:cNvSpPr/>
          <p:nvPr/>
        </p:nvSpPr>
        <p:spPr>
          <a:xfrm>
            <a:off x="566928" y="4139183"/>
            <a:ext cx="11057839" cy="578104"/>
          </a:xfrm>
          <a:prstGeom prst="roundRect">
            <a:avLst>
              <a:gd name="adj" fmla="val 25307"/>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4303775"/>
            <a:ext cx="1027271" cy="303784"/>
          </a:xfrm>
          <a:prstGeom prst="rect">
            <a:avLst/>
          </a:prstGeom>
          <a:noFill/>
        </p:spPr>
        <p:txBody>
          <a:bodyPr wrap="square" lIns="0" rIns="0" tIns="0" bIns="0" anchor="t">
            <a:spAutoFit/>
          </a:bodyPr>
          <a:lstStyle/>
          <a:p>
            <a:pPr algn="l">
              <a:lnSpc>
                <a:spcPct val="135000"/>
              </a:lnSpc>
            </a:pPr>
            <a:r>
              <a:rPr sz="1400" b="1" i="0">
                <a:solidFill>
                  <a:srgbClr val="B45309"/>
                </a:solidFill>
                <a:latin typeface="Verdana"/>
              </a:rPr>
              <a:t>MARC</a:t>
            </a:r>
          </a:p>
        </p:txBody>
      </p:sp>
      <p:sp>
        <p:nvSpPr>
          <p:cNvPr id="19" name="TextBox 18"/>
          <p:cNvSpPr txBox="1"/>
          <p:nvPr/>
        </p:nvSpPr>
        <p:spPr>
          <a:xfrm>
            <a:off x="1959959" y="4303775"/>
            <a:ext cx="9116167"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C'est ça. Lundi, c'est un congé.</a:t>
            </a:r>
          </a:p>
        </p:txBody>
      </p:sp>
      <p:sp>
        <p:nvSpPr>
          <p:cNvPr id="20" name="Rounded Rectangle 19"/>
          <p:cNvSpPr/>
          <p:nvPr/>
        </p:nvSpPr>
        <p:spPr>
          <a:xfrm>
            <a:off x="566928" y="4799584"/>
            <a:ext cx="11057839" cy="578104"/>
          </a:xfrm>
          <a:prstGeom prst="roundRect">
            <a:avLst>
              <a:gd name="adj" fmla="val 25307"/>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32688" y="4964176"/>
            <a:ext cx="1027271" cy="303784"/>
          </a:xfrm>
          <a:prstGeom prst="rect">
            <a:avLst/>
          </a:prstGeom>
          <a:noFill/>
        </p:spPr>
        <p:txBody>
          <a:bodyPr wrap="square" lIns="0" rIns="0" tIns="0" bIns="0" anchor="t">
            <a:spAutoFit/>
          </a:bodyPr>
          <a:lstStyle/>
          <a:p>
            <a:pPr algn="l">
              <a:lnSpc>
                <a:spcPct val="135000"/>
              </a:lnSpc>
            </a:pPr>
            <a:r>
              <a:rPr sz="1400" b="1" i="0">
                <a:solidFill>
                  <a:srgbClr val="B45309"/>
                </a:solidFill>
                <a:latin typeface="Verdana"/>
              </a:rPr>
              <a:t>AMEL</a:t>
            </a:r>
          </a:p>
        </p:txBody>
      </p:sp>
      <p:sp>
        <p:nvSpPr>
          <p:cNvPr id="22" name="TextBox 21"/>
          <p:cNvSpPr txBox="1"/>
          <p:nvPr/>
        </p:nvSpPr>
        <p:spPr>
          <a:xfrm>
            <a:off x="1959959" y="4964176"/>
            <a:ext cx="9116167"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Alors il n'y a pas de cours lundi ?</a:t>
            </a:r>
          </a:p>
        </p:txBody>
      </p:sp>
      <p:sp>
        <p:nvSpPr>
          <p:cNvPr id="23" name="Rounded Rectangle 22"/>
          <p:cNvSpPr/>
          <p:nvPr/>
        </p:nvSpPr>
        <p:spPr>
          <a:xfrm>
            <a:off x="566928" y="5459984"/>
            <a:ext cx="11057839" cy="578104"/>
          </a:xfrm>
          <a:prstGeom prst="roundRect">
            <a:avLst>
              <a:gd name="adj" fmla="val 25307"/>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32688" y="5624576"/>
            <a:ext cx="1027271" cy="303784"/>
          </a:xfrm>
          <a:prstGeom prst="rect">
            <a:avLst/>
          </a:prstGeom>
          <a:noFill/>
        </p:spPr>
        <p:txBody>
          <a:bodyPr wrap="square" lIns="0" rIns="0" tIns="0" bIns="0" anchor="t">
            <a:spAutoFit/>
          </a:bodyPr>
          <a:lstStyle/>
          <a:p>
            <a:pPr algn="l">
              <a:lnSpc>
                <a:spcPct val="135000"/>
              </a:lnSpc>
            </a:pPr>
            <a:r>
              <a:rPr sz="1400" b="1" i="0">
                <a:solidFill>
                  <a:srgbClr val="B45309"/>
                </a:solidFill>
                <a:latin typeface="Verdana"/>
              </a:rPr>
              <a:t>MARC</a:t>
            </a:r>
          </a:p>
        </p:txBody>
      </p:sp>
      <p:sp>
        <p:nvSpPr>
          <p:cNvPr id="25" name="TextBox 24"/>
          <p:cNvSpPr txBox="1"/>
          <p:nvPr/>
        </p:nvSpPr>
        <p:spPr>
          <a:xfrm>
            <a:off x="1959959" y="5624576"/>
            <a:ext cx="9116167"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Non. Pas de cours, et le secrétariat est fermé aussi.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Je vais au secrétariat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AVIS — Centre Sainte-Émilie</a:t>
            </a:r>
          </a:p>
        </p:txBody>
      </p:sp>
      <p:sp>
        <p:nvSpPr>
          <p:cNvPr id="7" name="Rounded Rectangle 6"/>
          <p:cNvSpPr/>
          <p:nvPr/>
        </p:nvSpPr>
        <p:spPr>
          <a:xfrm>
            <a:off x="566928" y="1810512"/>
            <a:ext cx="11057839" cy="3253740"/>
          </a:xfrm>
          <a:prstGeom prst="roundRect">
            <a:avLst>
              <a:gd name="adj" fmla="val 4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LIGNE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 EST ÉCRIT</a:t>
            </a:r>
          </a:p>
        </p:txBody>
      </p:sp>
      <p:sp>
        <p:nvSpPr>
          <p:cNvPr id="10" name="TextBox 9"/>
          <p:cNvSpPr txBox="1"/>
          <p:nvPr/>
        </p:nvSpPr>
        <p:spPr>
          <a:xfrm>
            <a:off x="932688" y="2395728"/>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1</a:t>
            </a:r>
          </a:p>
        </p:txBody>
      </p:sp>
      <p:sp>
        <p:nvSpPr>
          <p:cNvPr id="11" name="TextBox 10"/>
          <p:cNvSpPr txBox="1"/>
          <p:nvPr/>
        </p:nvSpPr>
        <p:spPr>
          <a:xfrm>
            <a:off x="4443636" y="2395728"/>
            <a:ext cx="6595914"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Lundi 13 octobre : le centre est fermé.</a:t>
            </a:r>
          </a:p>
        </p:txBody>
      </p:sp>
      <p:sp>
        <p:nvSpPr>
          <p:cNvPr id="12" name="Rectangle 11"/>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18460"/>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2</a:t>
            </a:r>
          </a:p>
        </p:txBody>
      </p:sp>
      <p:sp>
        <p:nvSpPr>
          <p:cNvPr id="14" name="TextBox 13"/>
          <p:cNvSpPr txBox="1"/>
          <p:nvPr/>
        </p:nvSpPr>
        <p:spPr>
          <a:xfrm>
            <a:off x="4443636" y="2918460"/>
            <a:ext cx="6595914"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Il n'y a pas de cours et le secrétariat est fermé.</a:t>
            </a:r>
          </a:p>
        </p:txBody>
      </p:sp>
      <p:sp>
        <p:nvSpPr>
          <p:cNvPr id="15" name="Rectangle 14"/>
          <p:cNvSpPr/>
          <p:nvPr/>
        </p:nvSpPr>
        <p:spPr>
          <a:xfrm>
            <a:off x="932688" y="33131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41192"/>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3</a:t>
            </a:r>
          </a:p>
        </p:txBody>
      </p:sp>
      <p:sp>
        <p:nvSpPr>
          <p:cNvPr id="17" name="TextBox 16"/>
          <p:cNvSpPr txBox="1"/>
          <p:nvPr/>
        </p:nvSpPr>
        <p:spPr>
          <a:xfrm>
            <a:off x="4443636" y="3441192"/>
            <a:ext cx="6595914"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Mardi 14 octobre : les cours reprennent à 8 h 30.</a:t>
            </a:r>
          </a:p>
        </p:txBody>
      </p:sp>
      <p:sp>
        <p:nvSpPr>
          <p:cNvPr id="18" name="Rectangle 17"/>
          <p:cNvSpPr/>
          <p:nvPr/>
        </p:nvSpPr>
        <p:spPr>
          <a:xfrm>
            <a:off x="932688" y="3835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63924"/>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4</a:t>
            </a:r>
          </a:p>
        </p:txBody>
      </p:sp>
      <p:sp>
        <p:nvSpPr>
          <p:cNvPr id="20" name="TextBox 19"/>
          <p:cNvSpPr txBox="1"/>
          <p:nvPr/>
        </p:nvSpPr>
        <p:spPr>
          <a:xfrm>
            <a:off x="4443636" y="3963924"/>
            <a:ext cx="6595914"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Soyez à l'heure.</a:t>
            </a:r>
          </a:p>
        </p:txBody>
      </p:sp>
      <p:sp>
        <p:nvSpPr>
          <p:cNvPr id="21" name="Rectangle 20"/>
          <p:cNvSpPr/>
          <p:nvPr/>
        </p:nvSpPr>
        <p:spPr>
          <a:xfrm>
            <a:off x="932688" y="43586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486656"/>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Signature</a:t>
            </a:r>
          </a:p>
        </p:txBody>
      </p:sp>
      <p:sp>
        <p:nvSpPr>
          <p:cNvPr id="23" name="TextBox 22"/>
          <p:cNvSpPr txBox="1"/>
          <p:nvPr/>
        </p:nvSpPr>
        <p:spPr>
          <a:xfrm>
            <a:off x="4443636" y="4486656"/>
            <a:ext cx="6595914"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La direction</a:t>
            </a:r>
          </a:p>
        </p:txBody>
      </p:sp>
      <p:sp>
        <p:nvSpPr>
          <p:cNvPr id="24" name="Rounded Rectangle 23"/>
          <p:cNvSpPr/>
          <p:nvPr/>
        </p:nvSpPr>
        <p:spPr>
          <a:xfrm>
            <a:off x="566928" y="530199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9264" y="555802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Quatre lignes : la date, ce qui ferme, quand ça reprend, une consigne.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Je vais au secrétariat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est écrit sur les portes</a:t>
            </a:r>
          </a:p>
        </p:txBody>
      </p:sp>
      <p:sp>
        <p:nvSpPr>
          <p:cNvPr id="7" name="Rounded Rectangle 6"/>
          <p:cNvSpPr/>
          <p:nvPr/>
        </p:nvSpPr>
        <p:spPr>
          <a:xfrm>
            <a:off x="566928" y="1810512"/>
            <a:ext cx="11057839" cy="3253740"/>
          </a:xfrm>
          <a:prstGeom prst="roundRect">
            <a:avLst>
              <a:gd name="adj" fmla="val 4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FORME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EXEMPLES</a:t>
            </a:r>
          </a:p>
        </p:txBody>
      </p:sp>
      <p:sp>
        <p:nvSpPr>
          <p:cNvPr id="10" name="TextBox 9"/>
          <p:cNvSpPr txBox="1"/>
          <p:nvPr/>
        </p:nvSpPr>
        <p:spPr>
          <a:xfrm>
            <a:off x="932688" y="2395728"/>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un verbe, sans « vous »</a:t>
            </a:r>
          </a:p>
        </p:txBody>
      </p:sp>
      <p:sp>
        <p:nvSpPr>
          <p:cNvPr id="11" name="TextBox 10"/>
          <p:cNvSpPr txBox="1"/>
          <p:nvPr/>
        </p:nvSpPr>
        <p:spPr>
          <a:xfrm>
            <a:off x="4443636" y="2395728"/>
            <a:ext cx="6595914"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Écrivez votre nom. · Lisez l'avis.</a:t>
            </a:r>
          </a:p>
        </p:txBody>
      </p:sp>
      <p:sp>
        <p:nvSpPr>
          <p:cNvPr id="12" name="Rectangle 11"/>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18460"/>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la plus fréquente</a:t>
            </a:r>
          </a:p>
        </p:txBody>
      </p:sp>
      <p:sp>
        <p:nvSpPr>
          <p:cNvPr id="14" name="TextBox 13"/>
          <p:cNvSpPr txBox="1"/>
          <p:nvPr/>
        </p:nvSpPr>
        <p:spPr>
          <a:xfrm>
            <a:off x="4443636" y="2918460"/>
            <a:ext cx="6595914"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Soyez à l'heure.</a:t>
            </a:r>
          </a:p>
        </p:txBody>
      </p:sp>
      <p:sp>
        <p:nvSpPr>
          <p:cNvPr id="15" name="Rectangle 14"/>
          <p:cNvSpPr/>
          <p:nvPr/>
        </p:nvSpPr>
        <p:spPr>
          <a:xfrm>
            <a:off x="932688" y="33131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41192"/>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ce qui est possible</a:t>
            </a:r>
          </a:p>
        </p:txBody>
      </p:sp>
      <p:sp>
        <p:nvSpPr>
          <p:cNvPr id="17" name="TextBox 16"/>
          <p:cNvSpPr txBox="1"/>
          <p:nvPr/>
        </p:nvSpPr>
        <p:spPr>
          <a:xfrm>
            <a:off x="4443636" y="3441192"/>
            <a:ext cx="6595914"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C'est permis. · C'est possible.</a:t>
            </a:r>
          </a:p>
        </p:txBody>
      </p:sp>
      <p:sp>
        <p:nvSpPr>
          <p:cNvPr id="18" name="Rectangle 17"/>
          <p:cNvSpPr/>
          <p:nvPr/>
        </p:nvSpPr>
        <p:spPr>
          <a:xfrm>
            <a:off x="932688" y="3835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63924"/>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ce qui ne l'est pas</a:t>
            </a:r>
          </a:p>
        </p:txBody>
      </p:sp>
      <p:sp>
        <p:nvSpPr>
          <p:cNvPr id="20" name="TextBox 19"/>
          <p:cNvSpPr txBox="1"/>
          <p:nvPr/>
        </p:nvSpPr>
        <p:spPr>
          <a:xfrm>
            <a:off x="4443636" y="3963924"/>
            <a:ext cx="6595914"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C'est interdit. · C'est fermé.</a:t>
            </a:r>
          </a:p>
        </p:txBody>
      </p:sp>
      <p:sp>
        <p:nvSpPr>
          <p:cNvPr id="21" name="Rectangle 20"/>
          <p:cNvSpPr/>
          <p:nvPr/>
        </p:nvSpPr>
        <p:spPr>
          <a:xfrm>
            <a:off x="932688" y="43586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486656"/>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ce que je dis, moi</a:t>
            </a:r>
          </a:p>
        </p:txBody>
      </p:sp>
      <p:sp>
        <p:nvSpPr>
          <p:cNvPr id="23" name="TextBox 22"/>
          <p:cNvSpPr txBox="1"/>
          <p:nvPr/>
        </p:nvSpPr>
        <p:spPr>
          <a:xfrm>
            <a:off x="4443636" y="4486656"/>
            <a:ext cx="6595914"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Je peux venir. · Je dois prévenir.</a:t>
            </a:r>
          </a:p>
        </p:txBody>
      </p:sp>
      <p:sp>
        <p:nvSpPr>
          <p:cNvPr id="24" name="Rounded Rectangle 23"/>
          <p:cNvSpPr/>
          <p:nvPr/>
        </p:nvSpPr>
        <p:spPr>
          <a:xfrm>
            <a:off x="566928" y="530199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9264" y="555802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Sur une affiche, jamais « vous écrivez » : le verbe est seul.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Je vais au secrétariat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CHERCHEZ LA DATE D'ABORD.</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Elle est presque toujours à la première ligne.</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avis se lit dans cet ordre : la &lt;b&gt;date&lt;/b&gt;, ce qui est &lt;b&gt;fermé&lt;/b&gt; ou &lt;b&gt;ouvert&lt;/b&gt;, puis la &lt;b&gt;consigne&lt;/b&gt;. Si un mot manque, on va le demander au comptoir — on ne devine jamais une date.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Je vais au secrétariat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d'après l'avis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Relisez les quatre lignes de l'avis.</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centre est fermé lundi.</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Lundi, le secrétariat est ouvert.</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Les cours reprennent mardi.</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Mardi, le cours commence à huit heures et demie.</a:t>
            </a:r>
          </a:p>
        </p:txBody>
      </p:sp>
      <p:sp>
        <p:nvSpPr>
          <p:cNvPr id="24" name="Rounded Rectangle 23"/>
          <p:cNvSpPr/>
          <p:nvPr/>
        </p:nvSpPr>
        <p:spPr>
          <a:xfrm>
            <a:off x="566928" y="5246624"/>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l'enseignante qui signe l'avis.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Je vais au secrétariat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d'après l'avis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centre est fermé lundi.   </a:t>
            </a:r>
            <a:r>
              <a:rPr sz="1900" b="1" i="0">
                <a:solidFill>
                  <a:srgbClr val="07734A"/>
                </a:solidFill>
                <a:latin typeface="Verdana"/>
              </a:rPr>
              <a:t>» vrai</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Lundi, le secrétariat est ouvert.   </a:t>
            </a:r>
            <a:r>
              <a:rPr sz="1900" b="1" i="0">
                <a:solidFill>
                  <a:srgbClr val="07734A"/>
                </a:solidFill>
                <a:latin typeface="Verdana"/>
              </a:rPr>
              <a:t>» faux - il est fermé aussi</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Les cours reprennent mardi.   </a:t>
            </a:r>
            <a:r>
              <a:rPr sz="1900" b="1" i="0">
                <a:solidFill>
                  <a:srgbClr val="07734A"/>
                </a:solidFill>
                <a:latin typeface="Verdana"/>
              </a:rPr>
              <a:t>» vrai</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Mardi, le cours commence à huit heures et demie.   </a:t>
            </a:r>
            <a:r>
              <a:rPr sz="1900" b="1" i="0">
                <a:solidFill>
                  <a:srgbClr val="07734A"/>
                </a:solidFill>
                <a:latin typeface="Verdana"/>
              </a:rPr>
              <a:t>» vrai</a:t>
            </a:r>
          </a:p>
        </p:txBody>
      </p:sp>
      <p:sp>
        <p:nvSpPr>
          <p:cNvPr id="24" name="Rounded Rectangle 23"/>
          <p:cNvSpPr/>
          <p:nvPr/>
        </p:nvSpPr>
        <p:spPr>
          <a:xfrm>
            <a:off x="566928" y="5246624"/>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l'enseignante qui signe l'avis.   </a:t>
            </a:r>
            <a:r>
              <a:rPr sz="1900" b="1" i="0">
                <a:solidFill>
                  <a:srgbClr val="07734A"/>
                </a:solidFill>
                <a:latin typeface="Verdana"/>
              </a:rPr>
              <a:t>» faux - c'est la direction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Je vais au secrétariat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Complétez la consigne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Écrivez le mot qui manque.</a:t>
            </a:r>
          </a:p>
        </p:txBody>
      </p:sp>
      <p:sp>
        <p:nvSpPr>
          <p:cNvPr id="8" name="Rounded Rectangle 7"/>
          <p:cNvSpPr/>
          <p:nvPr/>
        </p:nvSpPr>
        <p:spPr>
          <a:xfrm>
            <a:off x="566928" y="2139696"/>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___ votre nom sur la feuille.</a:t>
            </a:r>
          </a:p>
        </p:txBody>
      </p:sp>
      <p:sp>
        <p:nvSpPr>
          <p:cNvPr id="12" name="Rounded Rectangle 11"/>
          <p:cNvSpPr/>
          <p:nvPr/>
        </p:nvSpPr>
        <p:spPr>
          <a:xfrm>
            <a:off x="6159855" y="2139696"/>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5008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5140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6937095"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___ l'avis sur la porte.</a:t>
            </a:r>
          </a:p>
        </p:txBody>
      </p:sp>
      <p:sp>
        <p:nvSpPr>
          <p:cNvPr id="16" name="Rounded Rectangle 15"/>
          <p:cNvSpPr/>
          <p:nvPr/>
        </p:nvSpPr>
        <p:spPr>
          <a:xfrm>
            <a:off x="566928" y="3254248"/>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56463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2864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___ à l'heure, s'il vous plaît.</a:t>
            </a:r>
          </a:p>
        </p:txBody>
      </p:sp>
      <p:sp>
        <p:nvSpPr>
          <p:cNvPr id="20" name="Rounded Rectangle 19"/>
          <p:cNvSpPr/>
          <p:nvPr/>
        </p:nvSpPr>
        <p:spPr>
          <a:xfrm>
            <a:off x="6159855" y="3254248"/>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56463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62864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6937095"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Manger dans le local, c'est ___.</a:t>
            </a:r>
          </a:p>
        </p:txBody>
      </p:sp>
      <p:sp>
        <p:nvSpPr>
          <p:cNvPr id="24" name="Rounded Rectangle 23"/>
          <p:cNvSpPr/>
          <p:nvPr/>
        </p:nvSpPr>
        <p:spPr>
          <a:xfrm>
            <a:off x="566928" y="4368800"/>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6791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743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midi, le bureau est ___.</a:t>
            </a:r>
          </a:p>
        </p:txBody>
      </p:sp>
      <p:sp>
        <p:nvSpPr>
          <p:cNvPr id="28" name="Rounded Rectangle 27"/>
          <p:cNvSpPr/>
          <p:nvPr/>
        </p:nvSpPr>
        <p:spPr>
          <a:xfrm>
            <a:off x="6159855" y="4368800"/>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6791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743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6937095"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___ prévenir avant mon absence.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Je vais au secrétariat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Complétez la consigne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___ votre nom sur la feuille.   </a:t>
            </a:r>
            <a:r>
              <a:rPr sz="1900" b="1" i="0">
                <a:solidFill>
                  <a:srgbClr val="07734A"/>
                </a:solidFill>
                <a:latin typeface="Verdana"/>
              </a:rPr>
              <a:t>» Écrivez</a:t>
            </a:r>
          </a:p>
        </p:txBody>
      </p:sp>
      <p:sp>
        <p:nvSpPr>
          <p:cNvPr id="12" name="Rounded Rectangle 11"/>
          <p:cNvSpPr/>
          <p:nvPr/>
        </p:nvSpPr>
        <p:spPr>
          <a:xfrm>
            <a:off x="6159855" y="2139696"/>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5008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5140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6937095"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___ l'avis sur la porte.   </a:t>
            </a:r>
            <a:r>
              <a:rPr sz="1900" b="1" i="0">
                <a:solidFill>
                  <a:srgbClr val="07734A"/>
                </a:solidFill>
                <a:latin typeface="Verdana"/>
              </a:rPr>
              <a:t>» Lisez</a:t>
            </a:r>
          </a:p>
        </p:txBody>
      </p:sp>
      <p:sp>
        <p:nvSpPr>
          <p:cNvPr id="16" name="Rounded Rectangle 15"/>
          <p:cNvSpPr/>
          <p:nvPr/>
        </p:nvSpPr>
        <p:spPr>
          <a:xfrm>
            <a:off x="566928" y="3254248"/>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56463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2864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___ à l'heure, s'il vous plaît.   </a:t>
            </a:r>
            <a:r>
              <a:rPr sz="1900" b="1" i="0">
                <a:solidFill>
                  <a:srgbClr val="07734A"/>
                </a:solidFill>
                <a:latin typeface="Verdana"/>
              </a:rPr>
              <a:t>» Soyez</a:t>
            </a:r>
          </a:p>
        </p:txBody>
      </p:sp>
      <p:sp>
        <p:nvSpPr>
          <p:cNvPr id="20" name="Rounded Rectangle 19"/>
          <p:cNvSpPr/>
          <p:nvPr/>
        </p:nvSpPr>
        <p:spPr>
          <a:xfrm>
            <a:off x="6159855" y="3254248"/>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56463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62864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6937095"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Manger dans le local, c'est ___.   </a:t>
            </a:r>
            <a:r>
              <a:rPr sz="1900" b="1" i="0">
                <a:solidFill>
                  <a:srgbClr val="07734A"/>
                </a:solidFill>
                <a:latin typeface="Verdana"/>
              </a:rPr>
              <a:t>» interdit</a:t>
            </a:r>
          </a:p>
        </p:txBody>
      </p:sp>
      <p:sp>
        <p:nvSpPr>
          <p:cNvPr id="24" name="Rounded Rectangle 23"/>
          <p:cNvSpPr/>
          <p:nvPr/>
        </p:nvSpPr>
        <p:spPr>
          <a:xfrm>
            <a:off x="566928" y="4368800"/>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6791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743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midi, le bureau est ___.   </a:t>
            </a:r>
            <a:r>
              <a:rPr sz="1900" b="1" i="0">
                <a:solidFill>
                  <a:srgbClr val="07734A"/>
                </a:solidFill>
                <a:latin typeface="Verdana"/>
              </a:rPr>
              <a:t>» fermé</a:t>
            </a:r>
          </a:p>
        </p:txBody>
      </p:sp>
      <p:sp>
        <p:nvSpPr>
          <p:cNvPr id="28" name="Rounded Rectangle 27"/>
          <p:cNvSpPr/>
          <p:nvPr/>
        </p:nvSpPr>
        <p:spPr>
          <a:xfrm>
            <a:off x="6159855" y="4368800"/>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6791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743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6937095"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___ prévenir avant mon absence.   </a:t>
            </a:r>
            <a:r>
              <a:rPr sz="1900" b="1" i="0">
                <a:solidFill>
                  <a:srgbClr val="07734A"/>
                </a:solidFill>
                <a:latin typeface="Verdana"/>
              </a:rPr>
              <a:t>» dois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Je vais au secrétariat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 · LES AFFICHES DU CENTRE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Cinq affiches à trouver</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Vingt minutes, à deux, dans le centre.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Étape 1</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Étape 2</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Étape 3</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Étape 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Je vais au secrétariat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ce que dit une affiche de votre centre.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Le secrétariat est fermé de 12 h à 13 h.</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Soyez à l'heure.</a:t>
            </a:r>
          </a:p>
        </p:txBody>
      </p:sp>
      <p:sp>
        <p:nvSpPr>
          <p:cNvPr id="12" name="Rounded Rectangle 11"/>
          <p:cNvSpPr/>
          <p:nvPr/>
        </p:nvSpPr>
        <p:spPr>
          <a:xfrm>
            <a:off x="566928" y="5429504"/>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5584952"/>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C'est interdit de manger dans le local.</a:t>
            </a:r>
          </a:p>
        </p:txBody>
      </p:sp>
      <p:sp>
        <p:nvSpPr>
          <p:cNvPr id="14" name="TextBox 13"/>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Je vais au secrétariat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