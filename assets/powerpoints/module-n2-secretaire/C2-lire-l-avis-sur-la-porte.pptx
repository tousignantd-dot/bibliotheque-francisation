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2. Apporter en classe trois vrais avis affichés dans le centre. Les élèves reconnaissent la forme avant de connaître son nom, et ça suffit au niveau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piste est la bonne réponse de la séance : on cherche la date. Elle est presque toujours à la première ligne, et elle décide de tout le reste.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écouter deux fois. Amel lit à voix haute avant de comprendre : c'est la bonne stratégie, et il faut la nommer.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Poser quatre questions dessus : quel jour ? qu'est-ce qui est fermé ? quand ça reprend ? qui a écrit ? C'est la grille de lecture de n'importe quel avis.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remarquer le « -ez » final, qui s'entend « é » : même terminaison que dans allez et venez.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dernier point est important : une date devinée fait manquer un cours ou fait venir un jour de congé.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dernier énoncé est le plus utile : savoir qui écrit dit à qui aller poser la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à l'oral d'abord. « Soyez » est irrégulier : le donner comme un mot, pas comme une conjugaison.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Sortir vraiment. Cet exercice-là est ce que la séance apprend : lire dans le bâtiment, pas sur la diapositive.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Accepter une affiche trouvée ailleurs : au dépanneur, à la clinique, dans l'autobus. Les mêmes quatre mots y servent.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l'avis sur la porte</a:t>
            </a:r>
          </a:p>
        </p:txBody>
      </p:sp>
      <p:sp>
        <p:nvSpPr>
          <p:cNvPr id="5" name="Rounded Rectangle 4"/>
          <p:cNvSpPr/>
          <p:nvPr/>
        </p:nvSpPr>
        <p:spPr>
          <a:xfrm>
            <a:off x="566928" y="3794760"/>
            <a:ext cx="9960559" cy="1026668"/>
          </a:xfrm>
          <a:prstGeom prst="roundRect">
            <a:avLst>
              <a:gd name="adj" fmla="val 142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4140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Trouver la date, ce qui est fermé et ce qu'il faut faire.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 vais au secrétariat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trouver la date dans un avis affiché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qui est ouvert et ce qui est fermé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une consigne écrite sans « vous » devant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c'est permis, c'est interdit, je peux, je dois.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 y a un papier sur la porte. Que dit-il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lieu-avis.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est-ce que ce papier est collé ?</a:t>
            </a:r>
          </a:p>
        </p:txBody>
      </p:sp>
      <p:sp>
        <p:nvSpPr>
          <p:cNvPr id="12" name="Rounded Rectangle 11"/>
          <p:cNvSpPr/>
          <p:nvPr/>
        </p:nvSpPr>
        <p:spPr>
          <a:xfrm>
            <a:off x="566928" y="264210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8219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cherche en premier quand on le lit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À qui est-ce qu'il parle ?</a:t>
            </a:r>
          </a:p>
        </p:txBody>
      </p:sp>
      <p:sp>
        <p:nvSpPr>
          <p:cNvPr id="18" name="Rounded Rectangle 17"/>
          <p:cNvSpPr/>
          <p:nvPr/>
        </p:nvSpPr>
        <p:spPr>
          <a:xfrm>
            <a:off x="566928" y="455168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fait si un mot manque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C'est un congé</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puis dites la date que vous avez entendue.</a:t>
            </a:r>
          </a:p>
        </p:txBody>
      </p:sp>
      <p:sp>
        <p:nvSpPr>
          <p:cNvPr id="8" name="Rounded Rectangle 7"/>
          <p:cNvSpPr/>
          <p:nvPr/>
        </p:nvSpPr>
        <p:spPr>
          <a:xfrm>
            <a:off x="566928" y="2157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AMEL</a:t>
            </a:r>
          </a:p>
        </p:txBody>
      </p:sp>
      <p:sp>
        <p:nvSpPr>
          <p:cNvPr id="10" name="TextBox 9"/>
          <p:cNvSpPr txBox="1"/>
          <p:nvPr/>
        </p:nvSpPr>
        <p:spPr>
          <a:xfrm>
            <a:off x="1959959" y="23225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Monsieur Ouellet ! Il y a un papier sur la porte.</a:t>
            </a:r>
          </a:p>
        </p:txBody>
      </p:sp>
      <p:sp>
        <p:nvSpPr>
          <p:cNvPr id="11" name="Rounded Rectangle 10"/>
          <p:cNvSpPr/>
          <p:nvPr/>
        </p:nvSpPr>
        <p:spPr>
          <a:xfrm>
            <a:off x="566928" y="28183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29829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MARC</a:t>
            </a:r>
          </a:p>
        </p:txBody>
      </p:sp>
      <p:sp>
        <p:nvSpPr>
          <p:cNvPr id="13" name="TextBox 12"/>
          <p:cNvSpPr txBox="1"/>
          <p:nvPr/>
        </p:nvSpPr>
        <p:spPr>
          <a:xfrm>
            <a:off x="1959959" y="29829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Oui, c'est un avis. Vous savez lire ça ?</a:t>
            </a:r>
          </a:p>
        </p:txBody>
      </p:sp>
      <p:sp>
        <p:nvSpPr>
          <p:cNvPr id="14" name="Rounded Rectangle 13"/>
          <p:cNvSpPr/>
          <p:nvPr/>
        </p:nvSpPr>
        <p:spPr>
          <a:xfrm>
            <a:off x="566928" y="34787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6433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AMEL</a:t>
            </a:r>
          </a:p>
        </p:txBody>
      </p:sp>
      <p:sp>
        <p:nvSpPr>
          <p:cNvPr id="16" name="TextBox 15"/>
          <p:cNvSpPr txBox="1"/>
          <p:nvPr/>
        </p:nvSpPr>
        <p:spPr>
          <a:xfrm>
            <a:off x="1959959" y="36433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lis… « Lundi 13 octobre : le centre est fermé. »</a:t>
            </a:r>
          </a:p>
        </p:txBody>
      </p:sp>
      <p:sp>
        <p:nvSpPr>
          <p:cNvPr id="17" name="Rounded Rectangle 16"/>
          <p:cNvSpPr/>
          <p:nvPr/>
        </p:nvSpPr>
        <p:spPr>
          <a:xfrm>
            <a:off x="566928" y="4139183"/>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303775"/>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MARC</a:t>
            </a:r>
          </a:p>
        </p:txBody>
      </p:sp>
      <p:sp>
        <p:nvSpPr>
          <p:cNvPr id="19" name="TextBox 18"/>
          <p:cNvSpPr txBox="1"/>
          <p:nvPr/>
        </p:nvSpPr>
        <p:spPr>
          <a:xfrm>
            <a:off x="1959959" y="4303775"/>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ça. Lundi, c'est un congé.</a:t>
            </a:r>
          </a:p>
        </p:txBody>
      </p:sp>
      <p:sp>
        <p:nvSpPr>
          <p:cNvPr id="20" name="Rounded Rectangle 19"/>
          <p:cNvSpPr/>
          <p:nvPr/>
        </p:nvSpPr>
        <p:spPr>
          <a:xfrm>
            <a:off x="566928" y="47995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9641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AMEL</a:t>
            </a:r>
          </a:p>
        </p:txBody>
      </p:sp>
      <p:sp>
        <p:nvSpPr>
          <p:cNvPr id="22" name="TextBox 21"/>
          <p:cNvSpPr txBox="1"/>
          <p:nvPr/>
        </p:nvSpPr>
        <p:spPr>
          <a:xfrm>
            <a:off x="1959959" y="49641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Alors il n'y a pas de cours lundi ?</a:t>
            </a:r>
          </a:p>
        </p:txBody>
      </p:sp>
      <p:sp>
        <p:nvSpPr>
          <p:cNvPr id="23" name="Rounded Rectangle 22"/>
          <p:cNvSpPr/>
          <p:nvPr/>
        </p:nvSpPr>
        <p:spPr>
          <a:xfrm>
            <a:off x="566928" y="5459984"/>
            <a:ext cx="11057839" cy="578104"/>
          </a:xfrm>
          <a:prstGeom prst="roundRect">
            <a:avLst>
              <a:gd name="adj" fmla="val 25307"/>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5624576"/>
            <a:ext cx="1027271" cy="303784"/>
          </a:xfrm>
          <a:prstGeom prst="rect">
            <a:avLst/>
          </a:prstGeom>
          <a:noFill/>
        </p:spPr>
        <p:txBody>
          <a:bodyPr wrap="square" lIns="0" rIns="0" tIns="0" bIns="0" anchor="t">
            <a:spAutoFit/>
          </a:bodyPr>
          <a:lstStyle/>
          <a:p>
            <a:pPr algn="l">
              <a:lnSpc>
                <a:spcPct val="135000"/>
              </a:lnSpc>
            </a:pPr>
            <a:r>
              <a:rPr sz="1400" b="1" i="0">
                <a:solidFill>
                  <a:srgbClr val="B45309"/>
                </a:solidFill>
                <a:latin typeface="Verdana"/>
              </a:rPr>
              <a:t>MARC</a:t>
            </a:r>
          </a:p>
        </p:txBody>
      </p:sp>
      <p:sp>
        <p:nvSpPr>
          <p:cNvPr id="25" name="TextBox 24"/>
          <p:cNvSpPr txBox="1"/>
          <p:nvPr/>
        </p:nvSpPr>
        <p:spPr>
          <a:xfrm>
            <a:off x="1959959" y="5624576"/>
            <a:ext cx="9116167"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Non. Pas de cours, et le secrétariat est fermé aussi.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AVIS — Centre Sainte-Émilie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ÉCRIT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1</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Lundi 13 octobre : le centre est fermé.</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2</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Il n'y a pas de cours et le secrétariat est fermé.</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3</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Mardi 14 octobre : les cours reprennent à 8 h 30.</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4</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Soyez à l'heure.</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Signature</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La direction</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Quatre lignes : la date, ce qui ferme, quand ça reprend, une consigne.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est écrit sur les portes</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EXEMPLES</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verbe, sans « vous »</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Écrivez votre nom. · Lisez l'avis.</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plus fréquente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Soyez à l'heure.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 est possible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permis. · C'est possible.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qui ne l'est pas</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C'est interdit. · C'est fermé.</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 que je dis, moi</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Je peux venir. · Je dois prévenir.</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Sur une affiche, jamais « vous écrivez » : le verbe est seul.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CHERCHEZ LA DATE D'ABORD.</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Elle est presque toujours à la première ligne.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avis se lit dans cet ordre : la </a:t>
            </a:r>
            <a:r>
              <a:rPr sz="2000" b="1" i="0">
                <a:solidFill>
                  <a:srgbClr val="4B4F52"/>
                </a:solidFill>
                <a:latin typeface="Verdana"/>
              </a:rPr>
              <a:t>date</a:t>
            </a:r>
            <a:r>
              <a:rPr sz="2000" b="0" i="0">
                <a:solidFill>
                  <a:srgbClr val="4B4F52"/>
                </a:solidFill>
                <a:latin typeface="Verdana"/>
              </a:rPr>
              <a:t>, ce qui est </a:t>
            </a:r>
            <a:r>
              <a:rPr sz="2000" b="1" i="0">
                <a:solidFill>
                  <a:srgbClr val="4B4F52"/>
                </a:solidFill>
                <a:latin typeface="Verdana"/>
              </a:rPr>
              <a:t>fermé</a:t>
            </a:r>
            <a:r>
              <a:rPr sz="2000" b="0" i="0">
                <a:solidFill>
                  <a:srgbClr val="4B4F52"/>
                </a:solidFill>
                <a:latin typeface="Verdana"/>
              </a:rPr>
              <a:t> ou </a:t>
            </a:r>
            <a:r>
              <a:rPr sz="2000" b="1" i="0">
                <a:solidFill>
                  <a:srgbClr val="4B4F52"/>
                </a:solidFill>
                <a:latin typeface="Verdana"/>
              </a:rPr>
              <a:t>ouvert</a:t>
            </a:r>
            <a:r>
              <a:rPr sz="2000" b="0" i="0">
                <a:solidFill>
                  <a:srgbClr val="4B4F52"/>
                </a:solidFill>
                <a:latin typeface="Verdana"/>
              </a:rPr>
              <a:t>, puis la </a:t>
            </a:r>
            <a:r>
              <a:rPr sz="2000" b="1" i="0">
                <a:solidFill>
                  <a:srgbClr val="4B4F52"/>
                </a:solidFill>
                <a:latin typeface="Verdana"/>
              </a:rPr>
              <a:t>consigne</a:t>
            </a:r>
            <a:r>
              <a:rPr sz="2000" b="0" i="0">
                <a:solidFill>
                  <a:srgbClr val="4B4F52"/>
                </a:solidFill>
                <a:latin typeface="Verdana"/>
              </a:rPr>
              <a:t>. Si un mot manque, on va le demander au comptoir — on ne devine jamais une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d'après l'avis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Relisez les quatre lignes de l'avis.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centre est fermé lundi.</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 le secrétariat est ouvert.</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cours reprennent mardi.</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Mardi, le cours commence à huit heures et demie.</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l'enseignante qui signe l'avis.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d'après l'avis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centre est fermé lundi.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Lundi, le secrétariat est ouvert.   </a:t>
            </a:r>
            <a:r>
              <a:rPr sz="1900" b="1" i="0">
                <a:solidFill>
                  <a:srgbClr val="07734A"/>
                </a:solidFill>
                <a:latin typeface="Verdana"/>
              </a:rPr>
              <a:t>» faux - il est fermé aussi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cours reprennent mardi.   </a:t>
            </a:r>
            <a:r>
              <a:rPr sz="1900" b="1" i="0">
                <a:solidFill>
                  <a:srgbClr val="07734A"/>
                </a:solidFill>
                <a:latin typeface="Verdana"/>
              </a:rPr>
              <a:t>» vrai</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Mardi, le cours commence à huit heures et demie.   </a:t>
            </a:r>
            <a:r>
              <a:rPr sz="1900" b="1" i="0">
                <a:solidFill>
                  <a:srgbClr val="07734A"/>
                </a:solidFill>
                <a:latin typeface="Verdana"/>
              </a:rPr>
              <a:t>» vrai</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l'enseignante qui signe l'avis.   </a:t>
            </a:r>
            <a:r>
              <a:rPr sz="1900" b="1" i="0">
                <a:solidFill>
                  <a:srgbClr val="07734A"/>
                </a:solidFill>
                <a:latin typeface="Verdana"/>
              </a:rPr>
              <a:t>» faux - c'est la direction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la consigne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Écrivez le mot qui manque.</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votre nom sur la feuille.</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l'avis sur la porte.</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à l'heure, s'il vous plaît.</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Manger dans le local, c'est ___.</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midi, le bureau est ___.</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___ prévenir avant mon absence.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la consigne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votre nom sur la feuille.   </a:t>
            </a:r>
            <a:r>
              <a:rPr sz="1900" b="1" i="0">
                <a:solidFill>
                  <a:srgbClr val="07734A"/>
                </a:solidFill>
                <a:latin typeface="Verdana"/>
              </a:rPr>
              <a:t>» Écrivez</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l'avis sur la porte.   </a:t>
            </a:r>
            <a:r>
              <a:rPr sz="1900" b="1" i="0">
                <a:solidFill>
                  <a:srgbClr val="07734A"/>
                </a:solidFill>
                <a:latin typeface="Verdana"/>
              </a:rPr>
              <a:t>» Lisez</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à l'heure, s'il vous plaît.   </a:t>
            </a:r>
            <a:r>
              <a:rPr sz="1900" b="1" i="0">
                <a:solidFill>
                  <a:srgbClr val="07734A"/>
                </a:solidFill>
                <a:latin typeface="Verdana"/>
              </a:rPr>
              <a:t>» Soyez</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Manger dans le local, c'est ___.   </a:t>
            </a:r>
            <a:r>
              <a:rPr sz="1900" b="1" i="0">
                <a:solidFill>
                  <a:srgbClr val="07734A"/>
                </a:solidFill>
                <a:latin typeface="Verdana"/>
              </a:rPr>
              <a:t>» interdit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midi, le bureau est ___.   </a:t>
            </a:r>
            <a:r>
              <a:rPr sz="1900" b="1" i="0">
                <a:solidFill>
                  <a:srgbClr val="07734A"/>
                </a:solidFill>
                <a:latin typeface="Verdana"/>
              </a:rPr>
              <a:t>» fermé</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___ prévenir avant mon absence.   </a:t>
            </a:r>
            <a:r>
              <a:rPr sz="1900" b="1" i="0">
                <a:solidFill>
                  <a:srgbClr val="07734A"/>
                </a:solidFill>
                <a:latin typeface="Verdana"/>
              </a:rPr>
              <a:t>» dois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LES AFFICHES DU CENTRE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affiches à trouver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Vingt minutes, à deux, dans le centre.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1</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2</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3</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ce que dit une affiche de votre centre.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secrétariat est fermé de 12 h à 13 h.</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Soyez à l'heure.</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C'est interdit de manger dans le local.</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Je vais au secrétariat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