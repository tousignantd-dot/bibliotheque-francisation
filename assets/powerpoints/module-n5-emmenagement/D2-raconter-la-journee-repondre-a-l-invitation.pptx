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double : la grammaire du récit d'abord, puis l'acte de parole qui ferme le module. Les deux se tiennent : on raconte, puis on est invité.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test « et ensuite ? » est le plus rapide, et il fonctionne presque toujours.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donner la liste complète : ces dix-là couvrent tout ce dont les élèves ont besoin dans ce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piège propre à ce module : on passe la journée à monter des choses. Faire produire les deux formes en alternance.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sont les items de l'exercice t3passe. Les deux dernières lignes opposent les deux auxiliaires sur des verbes voisins.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trois morceaux : remercier, refuser avec une raison, proposer une autre date. Les faire nommer par le groupe avant de les donner.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règle culturelle la plus utile du module, et elle sert bien au-delà du voisinage.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apprendre la dernière carte telle quelle. On ne change ensuite que la raison.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laboratoire de la mini-leçon t3invit. Faire passer tout le monde : c'est la dernière répétition avant la production orale du bloc 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billet est la répétition écrite de la production orale de E1. Le ramasser et rendre les corrections avant le bloc 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D2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Raconter la journée, répondre à l'invitation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récit sans imparfait est une liste ; un récit sans passé composé ne bouge pas.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Emménager dans un nouveau logement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 passé composé pour ce qui avance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l'imparfait pour ce qui dure autour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accorder le participe avec « être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accepter ou refuser une invitation avec une raison.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DEUX TEMPS, DEUX RÔLES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100" b="1" i="0">
                <a:solidFill>
                  <a:srgbClr val="17181A"/>
                </a:solidFill>
                <a:latin typeface="Verdana"/>
              </a:rPr>
              <a:t>Ce n'est pas deux façons de dire la même chose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33928"/>
          </a:xfrm>
          <a:prstGeom prst="roundRect">
            <a:avLst>
              <a:gd name="adj" fmla="val 452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TEMPS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SON RÔLE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passé composé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qui arrive, une fois — ça avance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camion est arrivé à neuf heures.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9748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102864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imparfait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102864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qui durait autour — le décor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102864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pleuvait depuis le matin.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44728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575304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imparfait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575304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l'habitude d'autrefois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575304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Avant, on déménageait avec les amis.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4154423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282439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les deux ensemble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282439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qui durait, coupé par ce qui arrive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282439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portais la boîte quand elle est sortie.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282184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538216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Si vous pouvez demander « et ensuite ? », c'est du passé composé.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UNE QUINZAINE DE VERBES PRENNENT « ÊTRE 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aller · venir · arriver · partir · monter · descendre · entrer · sortir · rester · tomber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Avec « être », le participe s'accorde avec le sujet : elle est descendue, ils sont montés. Avec « avoir », pas d'accord dans ces phrases.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MONTER ET DESCENDRE AVEC LE MAUVAIS AUXILIAIRE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Ils sont montés le divan.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Ils ont monté le divan.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Avec un complément direct, ces deux verbes prennent « avoir » : ils ont monté le divan, elle a descendu les boîtes. Sans complément, ils prennent « être » : ils sont montés au deuxième, elle est descendue au sous-sol.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CONJUGAISON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Passé composé ou imparfait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L'enseignante lit la phrase ; le groupe donne le verbe au bon temps.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camion ___ (arriver) avec deux heures de retard.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Quand ils ont commencé, il ___ (pleuvoir) depuis le matin.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Mon garçon ___ (dormir) dans l'auto.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hommes ___ (monter) le divan en dix minutes.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___ (finir) à neuf heures et demie.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___ (porter) la dernière boîte quand la voisine est sortie.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En 1998, son mari ___ (échapper) la laveuse.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laveuse ___ (descendre) toute seule jusqu'en bas.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Passé composé ou imparfait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camion ___ (arriver) avec deux heures de retard.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est arrivé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Quand ils ont commencé, il ___ (pleuvoir) depuis le matin.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pleuvait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Mon garçon ___ (dormir) dans l'auto.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dormait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hommes ___ (monter) le divan en dix minutes.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ont monté — complément direct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___ (finir) à neuf heures et demie.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avons fini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___ (porter) la dernière boîte quand la voisine est sortie.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portais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En 1998, son mari ___ (échapper) la laveuse.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 échappé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laveuse ___ (descendre) toute seule jusqu'en bas.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est descendue — accord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DIALOGUE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café dimanche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Écoutez, puis repérez les trois morceaux de la réponse d'Amadou.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31443"/>
          </a:xfrm>
          <a:prstGeom prst="roundRect">
            <a:avLst>
              <a:gd name="adj" fmla="val 23169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453134" cy="3571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THÉRÈSE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85822" y="2322576"/>
            <a:ext cx="8690305" cy="3571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fais du café dimanche après-midi, avec la voisine du 1. Vous viendriez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871724"/>
            <a:ext cx="11057839" cy="933703"/>
          </a:xfrm>
          <a:prstGeom prst="roundRect">
            <a:avLst>
              <a:gd name="adj" fmla="val 15669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36316"/>
            <a:ext cx="1453134" cy="659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AMADOU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85822" y="3036316"/>
            <a:ext cx="8690305" cy="659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C'est gentil de me le proposer. Dimanche après-midi, par exemple, je travaille : je suis à l'hôpital jusqu'à sept heures.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887723"/>
            <a:ext cx="11057839" cy="933703"/>
          </a:xfrm>
          <a:prstGeom prst="roundRect">
            <a:avLst>
              <a:gd name="adj" fmla="val 15669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052315"/>
            <a:ext cx="1453134" cy="659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AMADOU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85822" y="4052315"/>
            <a:ext cx="8690305" cy="659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fin de semaine sur deux. Mais dimanche prochain, je suis libre, et là, j'accepterais avec plaisir.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903723"/>
            <a:ext cx="11057839" cy="933703"/>
          </a:xfrm>
          <a:prstGeom prst="roundRect">
            <a:avLst>
              <a:gd name="adj" fmla="val 15669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5068315"/>
            <a:ext cx="1453134" cy="659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THÉRÈSE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85822" y="5068315"/>
            <a:ext cx="8690305" cy="659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Parfait, on dit dimanche prochain. Deux heures ? Vous amènerez votre garçon si vous voulez.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UN REFUS SANS RAISON N'EST PAS UN REFUS DE L'INVITATION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C'est perçu comme un refus de la personne.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morceaux suffisent : « C'est gentil » · « malheureusement, je travaille » · « par contre, dimanche prochain, je serais libre ». Trente secondes, et la porte reste ouverte.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MOTS QUI RELIENT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connecteurs suffisent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parce 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donne la cause : parce que je travaille ce dimanche-là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par contre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oppose, et ouvre l'autre date : dimanche prochain, par contre…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malheureusement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annonce le non avant de l'expliquer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La phrase complète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gentil, mais malheureusement je travaille. Par contre, dimanche prochain, je serais libre.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Répondez à l'invitation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Par deux : l'un invite, l'autre répond en trois morceaux.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êtes libre et content d'y aller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travaillez ce jour-là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3684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085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avez déjà un rendez-vous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5211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0756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voulez venir avec votre enfant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3994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3697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0097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9539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ne savez pas encore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82777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9248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9888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98322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demandez quoi apporter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Répondez à l'invitation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êtes libre et content d'y aller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C'est gentil. Avec plaisir — deux heures, chez vous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travaillez ce jour-là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C'est gentil, mais malheureusement je travaille. Par contre, dimanche prochain…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3684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085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avez déjà un rendez-vous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Merci d'y avoir pensé. J'ai déjà un rendez-vous ce jour-là. Une autre fois, avec plaisir.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5211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0756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voulez venir avec votre enfant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Avec plaisir. Est-ce que je peux venir avec mon garçon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3994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3697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0097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9539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ne savez pas encore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C'est gentil. Je dois vérifier mon horaire : je vous le confirme demain.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82777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9248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9888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98322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demandez quoi apporter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Est-ce que j'apporte quelque chose 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Racontez votre dernier déménagement en cinq phrases.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Trois au passé composé — ce qui est arrivé.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Deux à l'imparfait — le temps qu'il faisait, ce que faisaient les autres.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Emménager dans un nouveau logement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