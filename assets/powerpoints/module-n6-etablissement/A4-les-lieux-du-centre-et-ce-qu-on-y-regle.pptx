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Dernière séance du bloc A. Elle rassemble ce qui précède et prépare le rendez-vous d'orientation de B1. Prévoir vingt minutes pour la mise en situation finale.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dernier objectif produit un vrai document : les élèves repartent avec leur demande écrite, et ils peuvent la déposer pour de bon.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question du bureau fermé est importante : beaucoup d'élèves n'ont jamais eu de rendez-vous individuel dans un établissement d'ici, et l'idée même les intimide. Nommer cette intimidation, ne pas la nier.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Faire nommer, pour chaque lieu, une question du groupe recueillie en A1 sur les billets.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quatrième item est le plus utile : la réponse n'est pas « au comptoir », c'est la personne nommée en bas de la lettre. Y insister.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écrire les réponses avant de corriger. Vérifier les articles : c'est là que se perdent les points, pas sur le mot lui-même.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C'est la règle qui décide de la qualité du rendez-vous de B1.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trouver au groupe ce qui change : la deuxième demande donne une date, un but et une question. Trois choses, deux lignes.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Dix minutes, et c'est le cœur de la séance. Faire lire trois demandes à voix haute et les améliorer ensemble. Les élèves qui le souhaitent peuvent déposer la leur pour vrai au comptoir du centre.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SÉANCE A4  ·  MODULE 5</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Les lieux du centre, et ce qu'on y règle</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comptoir, un petit bureau fermé, une classe, une salle de réunion. Quatre endroits, quatre façons de parler — et une seule chose qui se règle dans chacun.</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Choisir la suite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Choisir la suite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associer un lieu de l'établissement à ce qui s'y règle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choisir le bon endroit avant de poser une question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réemployer les cinq mots du bloc dans une phrase complète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préparer une demande de rencontre en deux lignes précises.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Choisir la suite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Dans quel local du centre es-tu déjà entré ?</a:t>
            </a:r>
          </a:p>
        </p:txBody>
      </p:sp>
      <p:sp>
        <p:nvSpPr>
          <p:cNvPr id="7" name="Rounded Rectangle 6"/>
          <p:cNvSpPr/>
          <p:nvPr/>
        </p:nvSpPr>
        <p:spPr>
          <a:xfrm>
            <a:off x="566928" y="1856232"/>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65960"/>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50976" y="2039112"/>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comptoir de l'accueil, la classe, autre chose ?</a:t>
            </a:r>
          </a:p>
        </p:txBody>
      </p:sp>
      <p:sp>
        <p:nvSpPr>
          <p:cNvPr id="10" name="Rounded Rectangle 9"/>
          <p:cNvSpPr/>
          <p:nvPr/>
        </p:nvSpPr>
        <p:spPr>
          <a:xfrm>
            <a:off x="566928" y="2642108"/>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2751836"/>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0976" y="2824988"/>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Es-tu déjà allé dans un bureau fermé, avec une seule autre personne ?</a:t>
            </a:r>
          </a:p>
        </p:txBody>
      </p:sp>
      <p:sp>
        <p:nvSpPr>
          <p:cNvPr id="13" name="Rounded Rectangle 12"/>
          <p:cNvSpPr/>
          <p:nvPr/>
        </p:nvSpPr>
        <p:spPr>
          <a:xfrm>
            <a:off x="566928" y="3427984"/>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66928" y="3537712"/>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0976" y="3610864"/>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qui change quand la porte est fermée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Choisir la suite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lieux, quatre travaux</a:t>
            </a:r>
          </a:p>
        </p:txBody>
      </p:sp>
      <p:sp>
        <p:nvSpPr>
          <p:cNvPr id="7" name="Rounded Rectangle 6"/>
          <p:cNvSpPr/>
          <p:nvPr/>
        </p:nvSpPr>
        <p:spPr>
          <a:xfrm>
            <a:off x="566928" y="1810512"/>
            <a:ext cx="11057839" cy="2663952"/>
          </a:xfrm>
          <a:prstGeom prst="roundRect">
            <a:avLst>
              <a:gd name="adj" fmla="val 549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LIEU</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QUI S'Y RÈGLE</a:t>
            </a:r>
          </a:p>
        </p:txBody>
      </p:sp>
      <p:sp>
        <p:nvSpPr>
          <p:cNvPr id="10" name="TextBox 9"/>
          <p:cNvSpPr txBox="1"/>
          <p:nvPr/>
        </p:nvSpPr>
        <p:spPr>
          <a:xfrm>
            <a:off x="932688" y="2395728"/>
            <a:ext cx="3291492" cy="304800"/>
          </a:xfrm>
          <a:prstGeom prst="rect">
            <a:avLst/>
          </a:prstGeom>
          <a:noFill/>
        </p:spPr>
        <p:txBody>
          <a:bodyPr wrap="square" lIns="0" rIns="0" tIns="0" bIns="0" anchor="t">
            <a:spAutoFit/>
          </a:bodyPr>
          <a:lstStyle/>
          <a:p>
            <a:pPr algn="l">
              <a:lnSpc>
                <a:spcPct val="132000"/>
              </a:lnSpc>
            </a:pPr>
            <a:r>
              <a:rPr sz="1600" b="1" i="0">
                <a:solidFill>
                  <a:srgbClr val="0D7A6F"/>
                </a:solidFill>
                <a:latin typeface="Verdana"/>
              </a:rPr>
              <a:t>Le comptoir</a:t>
            </a:r>
          </a:p>
        </p:txBody>
      </p:sp>
      <p:sp>
        <p:nvSpPr>
          <p:cNvPr id="11" name="TextBox 10"/>
          <p:cNvSpPr txBox="1"/>
          <p:nvPr/>
        </p:nvSpPr>
        <p:spPr>
          <a:xfrm>
            <a:off x="4443636" y="2395728"/>
            <a:ext cx="6595914"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un papier à donner ou à demander, en deux minutes debout</a:t>
            </a:r>
          </a:p>
        </p:txBody>
      </p:sp>
      <p:sp>
        <p:nvSpPr>
          <p:cNvPr id="12" name="Rectangle 11"/>
          <p:cNvSpPr/>
          <p:nvPr/>
        </p:nvSpPr>
        <p:spPr>
          <a:xfrm>
            <a:off x="932688" y="277368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01696"/>
            <a:ext cx="3291492" cy="304800"/>
          </a:xfrm>
          <a:prstGeom prst="rect">
            <a:avLst/>
          </a:prstGeom>
          <a:noFill/>
        </p:spPr>
        <p:txBody>
          <a:bodyPr wrap="square" lIns="0" rIns="0" tIns="0" bIns="0" anchor="t">
            <a:spAutoFit/>
          </a:bodyPr>
          <a:lstStyle/>
          <a:p>
            <a:pPr algn="l">
              <a:lnSpc>
                <a:spcPct val="132000"/>
              </a:lnSpc>
            </a:pPr>
            <a:r>
              <a:rPr sz="1600" b="1" i="0">
                <a:solidFill>
                  <a:srgbClr val="0D7A6F"/>
                </a:solidFill>
                <a:latin typeface="Verdana"/>
              </a:rPr>
              <a:t>Le bureau fermé</a:t>
            </a:r>
          </a:p>
        </p:txBody>
      </p:sp>
      <p:sp>
        <p:nvSpPr>
          <p:cNvPr id="14" name="TextBox 13"/>
          <p:cNvSpPr txBox="1"/>
          <p:nvPr/>
        </p:nvSpPr>
        <p:spPr>
          <a:xfrm>
            <a:off x="4443636" y="2901696"/>
            <a:ext cx="6595914"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une situation qui demande d'être expliquée, sur rendez-vous</a:t>
            </a:r>
          </a:p>
        </p:txBody>
      </p:sp>
      <p:sp>
        <p:nvSpPr>
          <p:cNvPr id="15" name="Rectangle 14"/>
          <p:cNvSpPr/>
          <p:nvPr/>
        </p:nvSpPr>
        <p:spPr>
          <a:xfrm>
            <a:off x="932688" y="327964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07664"/>
            <a:ext cx="3291492" cy="304800"/>
          </a:xfrm>
          <a:prstGeom prst="rect">
            <a:avLst/>
          </a:prstGeom>
          <a:noFill/>
        </p:spPr>
        <p:txBody>
          <a:bodyPr wrap="square" lIns="0" rIns="0" tIns="0" bIns="0" anchor="t">
            <a:spAutoFit/>
          </a:bodyPr>
          <a:lstStyle/>
          <a:p>
            <a:pPr algn="l">
              <a:lnSpc>
                <a:spcPct val="132000"/>
              </a:lnSpc>
            </a:pPr>
            <a:r>
              <a:rPr sz="1600" b="1" i="0">
                <a:solidFill>
                  <a:srgbClr val="0D7A6F"/>
                </a:solidFill>
                <a:latin typeface="Verdana"/>
              </a:rPr>
              <a:t>La classe</a:t>
            </a:r>
          </a:p>
        </p:txBody>
      </p:sp>
      <p:sp>
        <p:nvSpPr>
          <p:cNvPr id="17" name="TextBox 16"/>
          <p:cNvSpPr txBox="1"/>
          <p:nvPr/>
        </p:nvSpPr>
        <p:spPr>
          <a:xfrm>
            <a:off x="4443636" y="3407664"/>
            <a:ext cx="6595914"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ce que vous savez faire, et ce qui vous manque encore</a:t>
            </a:r>
          </a:p>
        </p:txBody>
      </p:sp>
      <p:sp>
        <p:nvSpPr>
          <p:cNvPr id="18" name="Rectangle 17"/>
          <p:cNvSpPr/>
          <p:nvPr/>
        </p:nvSpPr>
        <p:spPr>
          <a:xfrm>
            <a:off x="932688" y="378561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913631"/>
            <a:ext cx="3291492" cy="304800"/>
          </a:xfrm>
          <a:prstGeom prst="rect">
            <a:avLst/>
          </a:prstGeom>
          <a:noFill/>
        </p:spPr>
        <p:txBody>
          <a:bodyPr wrap="square" lIns="0" rIns="0" tIns="0" bIns="0" anchor="t">
            <a:spAutoFit/>
          </a:bodyPr>
          <a:lstStyle/>
          <a:p>
            <a:pPr algn="l">
              <a:lnSpc>
                <a:spcPct val="132000"/>
              </a:lnSpc>
            </a:pPr>
            <a:r>
              <a:rPr sz="1600" b="1" i="0">
                <a:solidFill>
                  <a:srgbClr val="0D7A6F"/>
                </a:solidFill>
                <a:latin typeface="Verdana"/>
              </a:rPr>
              <a:t>La salle de réunion</a:t>
            </a:r>
          </a:p>
        </p:txBody>
      </p:sp>
      <p:sp>
        <p:nvSpPr>
          <p:cNvPr id="20" name="TextBox 19"/>
          <p:cNvSpPr txBox="1"/>
          <p:nvPr/>
        </p:nvSpPr>
        <p:spPr>
          <a:xfrm>
            <a:off x="4443636" y="3913631"/>
            <a:ext cx="6595914"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une décision prise à plusieurs, avec un écrit à la fin</a:t>
            </a:r>
          </a:p>
        </p:txBody>
      </p:sp>
      <p:sp>
        <p:nvSpPr>
          <p:cNvPr id="21" name="Rounded Rectangle 20"/>
          <p:cNvSpPr/>
          <p:nvPr/>
        </p:nvSpPr>
        <p:spPr>
          <a:xfrm>
            <a:off x="566928" y="4712208"/>
            <a:ext cx="11057839" cy="769874"/>
          </a:xfrm>
          <a:prstGeom prst="roundRect">
            <a:avLst>
              <a:gd name="adj" fmla="val 19003"/>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4968240"/>
            <a:ext cx="10234879" cy="31267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Une question posée dans le mauvais lieu ne reçoit pas une mauvaise réponse : elle ne reçoit rien.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Choisir la suite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PRATIQUE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Où faut-il aller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Lisez la situation, puis nommez le lieu et la personne.</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Vous voulez une copie de vos résultats de l'an dernier.</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Vous ne savez pas quel programme choisir après la francisation.</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Vous voulez savoir si votre français est assez avancé.</a:t>
            </a:r>
          </a:p>
        </p:txBody>
      </p:sp>
      <p:sp>
        <p:nvSpPr>
          <p:cNvPr id="20" name="Rounded Rectangle 19"/>
          <p:cNvSpPr/>
          <p:nvPr/>
        </p:nvSpPr>
        <p:spPr>
          <a:xfrm>
            <a:off x="566928" y="4203192"/>
            <a:ext cx="11057839" cy="808735"/>
          </a:xfrm>
          <a:prstGeom prst="roundRect">
            <a:avLst>
              <a:gd name="adj" fmla="val 1809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42468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48868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358640"/>
            <a:ext cx="10097719" cy="534415"/>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Vous avez reçu un avis et vous ne comprenez pas la condition.</a:t>
            </a:r>
          </a:p>
        </p:txBody>
      </p:sp>
      <p:sp>
        <p:nvSpPr>
          <p:cNvPr id="24" name="Rounded Rectangle 23"/>
          <p:cNvSpPr/>
          <p:nvPr/>
        </p:nvSpPr>
        <p:spPr>
          <a:xfrm>
            <a:off x="566928" y="513994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236971"/>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300979"/>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29539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Vous voulez changer votre horaire de cours.</a:t>
            </a:r>
          </a:p>
        </p:txBody>
      </p:sp>
      <p:sp>
        <p:nvSpPr>
          <p:cNvPr id="28" name="Rounded Rectangle 27"/>
          <p:cNvSpPr/>
          <p:nvPr/>
        </p:nvSpPr>
        <p:spPr>
          <a:xfrm>
            <a:off x="566928" y="582777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924803"/>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98881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6</a:t>
            </a:r>
          </a:p>
        </p:txBody>
      </p:sp>
      <p:sp>
        <p:nvSpPr>
          <p:cNvPr id="31" name="TextBox 30"/>
          <p:cNvSpPr txBox="1"/>
          <p:nvPr/>
        </p:nvSpPr>
        <p:spPr>
          <a:xfrm>
            <a:off x="1344168" y="598322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Plusieurs personnes doivent s'entendre sur votre dossier.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Choisir la suite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Où faut-il aller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Vous voulez une copie de vos résultats de l'an dernier.   </a:t>
            </a:r>
            <a:r>
              <a:rPr sz="1400" b="1" i="0">
                <a:solidFill>
                  <a:srgbClr val="07734A"/>
                </a:solidFill>
                <a:latin typeface="Verdana"/>
              </a:rPr>
              <a:t>» au comptoir</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Vous ne savez pas quel programme choisir après la francisation.   </a:t>
            </a:r>
            <a:r>
              <a:rPr sz="1400" b="1" i="0">
                <a:solidFill>
                  <a:srgbClr val="07734A"/>
                </a:solidFill>
                <a:latin typeface="Verdana"/>
              </a:rPr>
              <a:t>» au bureau de l'orientation, sur rendez-vous</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Vous voulez savoir si votre français est assez avancé.   </a:t>
            </a:r>
            <a:r>
              <a:rPr sz="1400" b="1" i="0">
                <a:solidFill>
                  <a:srgbClr val="07734A"/>
                </a:solidFill>
                <a:latin typeface="Verdana"/>
              </a:rPr>
              <a:t>» en classe, à votre enseignant</a:t>
            </a:r>
          </a:p>
        </p:txBody>
      </p:sp>
      <p:sp>
        <p:nvSpPr>
          <p:cNvPr id="20" name="Rounded Rectangle 19"/>
          <p:cNvSpPr/>
          <p:nvPr/>
        </p:nvSpPr>
        <p:spPr>
          <a:xfrm>
            <a:off x="566928" y="4203192"/>
            <a:ext cx="11057839" cy="808735"/>
          </a:xfrm>
          <a:prstGeom prst="roundRect">
            <a:avLst>
              <a:gd name="adj" fmla="val 1809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42468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48868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358640"/>
            <a:ext cx="10097719" cy="534415"/>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Vous avez reçu un avis et vous ne comprenez pas la condition.   </a:t>
            </a:r>
            <a:r>
              <a:rPr sz="1400" b="1" i="0">
                <a:solidFill>
                  <a:srgbClr val="07734A"/>
                </a:solidFill>
                <a:latin typeface="Verdana"/>
              </a:rPr>
              <a:t>» à la personne nommée dans la dernière ligne de l'avis</a:t>
            </a:r>
          </a:p>
        </p:txBody>
      </p:sp>
      <p:sp>
        <p:nvSpPr>
          <p:cNvPr id="24" name="Rounded Rectangle 23"/>
          <p:cNvSpPr/>
          <p:nvPr/>
        </p:nvSpPr>
        <p:spPr>
          <a:xfrm>
            <a:off x="566928" y="513994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236971"/>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300979"/>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29539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Vous voulez changer votre horaire de cours.   </a:t>
            </a:r>
            <a:r>
              <a:rPr sz="1400" b="1" i="0">
                <a:solidFill>
                  <a:srgbClr val="07734A"/>
                </a:solidFill>
                <a:latin typeface="Verdana"/>
              </a:rPr>
              <a:t>» au comptoir</a:t>
            </a:r>
          </a:p>
        </p:txBody>
      </p:sp>
      <p:sp>
        <p:nvSpPr>
          <p:cNvPr id="28" name="Rounded Rectangle 27"/>
          <p:cNvSpPr/>
          <p:nvPr/>
        </p:nvSpPr>
        <p:spPr>
          <a:xfrm>
            <a:off x="566928" y="582777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924803"/>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98881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6</a:t>
            </a:r>
          </a:p>
        </p:txBody>
      </p:sp>
      <p:sp>
        <p:nvSpPr>
          <p:cNvPr id="31" name="TextBox 30"/>
          <p:cNvSpPr txBox="1"/>
          <p:nvPr/>
        </p:nvSpPr>
        <p:spPr>
          <a:xfrm>
            <a:off x="1344168" y="598322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Plusieurs personnes doivent s'entendre sur votre dossier.   </a:t>
            </a:r>
            <a:r>
              <a:rPr sz="1400" b="1" i="0">
                <a:solidFill>
                  <a:srgbClr val="07734A"/>
                </a:solidFill>
                <a:latin typeface="Verdana"/>
              </a:rPr>
              <a:t>» en salle de réunion, à une rencontre de suivi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Choisir la suite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VOCABULAIRE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Complétez avec le mot juste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Employez les cinq mots du bloc, chacun une seule fois.</a:t>
            </a:r>
          </a:p>
        </p:txBody>
      </p:sp>
      <p:sp>
        <p:nvSpPr>
          <p:cNvPr id="8" name="Rounded Rectangle 7"/>
          <p:cNvSpPr/>
          <p:nvPr/>
        </p:nvSpPr>
        <p:spPr>
          <a:xfrm>
            <a:off x="566928" y="2139696"/>
            <a:ext cx="11057839" cy="630936"/>
          </a:xfrm>
          <a:prstGeom prst="roundRect">
            <a:avLst>
              <a:gd name="adj" fmla="val 2318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7228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36291"/>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Rien ne compte tant que ce n'est pas au ...</a:t>
            </a:r>
          </a:p>
        </p:txBody>
      </p:sp>
      <p:sp>
        <p:nvSpPr>
          <p:cNvPr id="12" name="Rounded Rectangle 11"/>
          <p:cNvSpPr/>
          <p:nvPr/>
        </p:nvSpPr>
        <p:spPr>
          <a:xfrm>
            <a:off x="566928" y="2898648"/>
            <a:ext cx="11057839" cy="630936"/>
          </a:xfrm>
          <a:prstGeom prst="roundRect">
            <a:avLst>
              <a:gd name="adj" fmla="val 2318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3123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09524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3054096"/>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Elle a demandé son ... au comptoir, et il arrive dans deux jours.</a:t>
            </a:r>
          </a:p>
        </p:txBody>
      </p:sp>
      <p:sp>
        <p:nvSpPr>
          <p:cNvPr id="16" name="Rounded Rectangle 15"/>
          <p:cNvSpPr/>
          <p:nvPr/>
        </p:nvSpPr>
        <p:spPr>
          <a:xfrm>
            <a:off x="566928" y="3657600"/>
            <a:ext cx="11057839" cy="630936"/>
          </a:xfrm>
          <a:prstGeom prst="roundRect">
            <a:avLst>
              <a:gd name="adj" fmla="val 2318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790187"/>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54196"/>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813048"/>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Au centre, presque tout se fait en ...</a:t>
            </a:r>
          </a:p>
        </p:txBody>
      </p:sp>
      <p:sp>
        <p:nvSpPr>
          <p:cNvPr id="20" name="Rounded Rectangle 19"/>
          <p:cNvSpPr/>
          <p:nvPr/>
        </p:nvSpPr>
        <p:spPr>
          <a:xfrm>
            <a:off x="566928" y="4416552"/>
            <a:ext cx="11057839" cy="630936"/>
          </a:xfrm>
          <a:prstGeom prst="roundRect">
            <a:avLst>
              <a:gd name="adj" fmla="val 2318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54914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1314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572000"/>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Il lui manque des unités dans deux ...</a:t>
            </a:r>
          </a:p>
        </p:txBody>
      </p:sp>
      <p:sp>
        <p:nvSpPr>
          <p:cNvPr id="24" name="Rounded Rectangle 23"/>
          <p:cNvSpPr/>
          <p:nvPr/>
        </p:nvSpPr>
        <p:spPr>
          <a:xfrm>
            <a:off x="566928" y="5175504"/>
            <a:ext cx="11057839" cy="630936"/>
          </a:xfrm>
          <a:prstGeom prst="roundRect">
            <a:avLst>
              <a:gd name="adj" fmla="val 2318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08092"/>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372100"/>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330952"/>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La ... reçoit le lundi et le jeudi, sur rendez-vous.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Choisir la suite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Complétez avec le mot juste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30936"/>
          </a:xfrm>
          <a:prstGeom prst="roundRect">
            <a:avLst>
              <a:gd name="adj" fmla="val 2318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7228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36291"/>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Rien ne compte tant que ce n'est pas au ...   </a:t>
            </a:r>
            <a:r>
              <a:rPr sz="1800" b="1" i="0">
                <a:solidFill>
                  <a:srgbClr val="07734A"/>
                </a:solidFill>
                <a:latin typeface="Verdana"/>
              </a:rPr>
              <a:t>» dossier scolaire</a:t>
            </a:r>
          </a:p>
        </p:txBody>
      </p:sp>
      <p:sp>
        <p:nvSpPr>
          <p:cNvPr id="12" name="Rounded Rectangle 11"/>
          <p:cNvSpPr/>
          <p:nvPr/>
        </p:nvSpPr>
        <p:spPr>
          <a:xfrm>
            <a:off x="566928" y="2898648"/>
            <a:ext cx="11057839" cy="630936"/>
          </a:xfrm>
          <a:prstGeom prst="roundRect">
            <a:avLst>
              <a:gd name="adj" fmla="val 2318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3123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09524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3054096"/>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Elle a demandé son ... au comptoir, et il arrive dans deux jours.   </a:t>
            </a:r>
            <a:r>
              <a:rPr sz="1800" b="1" i="0">
                <a:solidFill>
                  <a:srgbClr val="07734A"/>
                </a:solidFill>
                <a:latin typeface="Verdana"/>
              </a:rPr>
              <a:t>» relevé de notes</a:t>
            </a:r>
          </a:p>
        </p:txBody>
      </p:sp>
      <p:sp>
        <p:nvSpPr>
          <p:cNvPr id="16" name="Rounded Rectangle 15"/>
          <p:cNvSpPr/>
          <p:nvPr/>
        </p:nvSpPr>
        <p:spPr>
          <a:xfrm>
            <a:off x="566928" y="3657600"/>
            <a:ext cx="11057839" cy="630936"/>
          </a:xfrm>
          <a:prstGeom prst="roundRect">
            <a:avLst>
              <a:gd name="adj" fmla="val 2318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790187"/>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54196"/>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813048"/>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Au centre, presque tout se fait en ...   </a:t>
            </a:r>
            <a:r>
              <a:rPr sz="1800" b="1" i="0">
                <a:solidFill>
                  <a:srgbClr val="07734A"/>
                </a:solidFill>
                <a:latin typeface="Verdana"/>
              </a:rPr>
              <a:t>» enseignement individualisé</a:t>
            </a:r>
          </a:p>
        </p:txBody>
      </p:sp>
      <p:sp>
        <p:nvSpPr>
          <p:cNvPr id="20" name="Rounded Rectangle 19"/>
          <p:cNvSpPr/>
          <p:nvPr/>
        </p:nvSpPr>
        <p:spPr>
          <a:xfrm>
            <a:off x="566928" y="4416552"/>
            <a:ext cx="11057839" cy="630936"/>
          </a:xfrm>
          <a:prstGeom prst="roundRect">
            <a:avLst>
              <a:gd name="adj" fmla="val 2318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54914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1314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572000"/>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Il lui manque des unités dans deux ...   </a:t>
            </a:r>
            <a:r>
              <a:rPr sz="1800" b="1" i="0">
                <a:solidFill>
                  <a:srgbClr val="07734A"/>
                </a:solidFill>
                <a:latin typeface="Verdana"/>
              </a:rPr>
              <a:t>» matières</a:t>
            </a:r>
          </a:p>
        </p:txBody>
      </p:sp>
      <p:sp>
        <p:nvSpPr>
          <p:cNvPr id="24" name="Rounded Rectangle 23"/>
          <p:cNvSpPr/>
          <p:nvPr/>
        </p:nvSpPr>
        <p:spPr>
          <a:xfrm>
            <a:off x="566928" y="5175504"/>
            <a:ext cx="11057839" cy="630936"/>
          </a:xfrm>
          <a:prstGeom prst="roundRect">
            <a:avLst>
              <a:gd name="adj" fmla="val 2318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08092"/>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372100"/>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330952"/>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La ... reçoit le lundi et le jeudi, sur rendez-vous.   </a:t>
            </a:r>
            <a:r>
              <a:rPr sz="1800" b="1" i="0">
                <a:solidFill>
                  <a:srgbClr val="07734A"/>
                </a:solidFill>
                <a:latin typeface="Verdana"/>
              </a:rPr>
              <a:t>» conseillère d'orientation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Choisir la suite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UNE DEMANDE PRÉCISE OBTIENT UNE RÉPONSE PRÉCISE</a:t>
            </a:r>
          </a:p>
        </p:txBody>
      </p:sp>
      <p:sp>
        <p:nvSpPr>
          <p:cNvPr id="6" name="Rounded Rectangle 5"/>
          <p:cNvSpPr/>
          <p:nvPr/>
        </p:nvSpPr>
        <p:spPr>
          <a:xfrm>
            <a:off x="566928" y="1225296"/>
            <a:ext cx="11057839" cy="2401824"/>
          </a:xfrm>
          <a:prstGeom prst="roundRect">
            <a:avLst>
              <a:gd name="adj" fmla="val 6091"/>
            </a:avLst>
          </a:prstGeom>
          <a:solidFill>
            <a:srgbClr val="DCF2E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578864"/>
          </a:xfrm>
          <a:prstGeom prst="rect">
            <a:avLst/>
          </a:prstGeom>
          <a:noFill/>
        </p:spPr>
        <p:txBody>
          <a:bodyPr wrap="square" lIns="0" rIns="0" tIns="0" bIns="0" anchor="t">
            <a:spAutoFit/>
          </a:bodyPr>
          <a:lstStyle/>
          <a:p>
            <a:pPr algn="l">
              <a:lnSpc>
                <a:spcPct val="122000"/>
              </a:lnSpc>
            </a:pPr>
            <a:r>
              <a:rPr sz="3200" b="1" i="0">
                <a:solidFill>
                  <a:srgbClr val="17181A"/>
                </a:solidFill>
                <a:latin typeface="Verdana"/>
              </a:rPr>
              <a:t>« Je veux de l'information » ne veut rien dire ; « je veux savoir quels préalables il me manque » veut dire quelque chose.</a:t>
            </a:r>
          </a:p>
        </p:txBody>
      </p:sp>
      <p:sp>
        <p:nvSpPr>
          <p:cNvPr id="8" name="Rounded Rectangle 7"/>
          <p:cNvSpPr/>
          <p:nvPr/>
        </p:nvSpPr>
        <p:spPr>
          <a:xfrm>
            <a:off x="566928" y="3901440"/>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4175760"/>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Une demande de rencontre tient en deux lignes. Elle dit ce que vous cherchez, pas ce que vous ressentez. Plus elle est précise, plus la personne d'en face peut préparer votre dossier avant de vous voir — et plus l'heure sert.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Choisir la suite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Deux demandes, deux résultats</a:t>
            </a:r>
          </a:p>
        </p:txBody>
      </p:sp>
      <p:sp>
        <p:nvSpPr>
          <p:cNvPr id="7" name="Rounded Rectangle 6"/>
          <p:cNvSpPr/>
          <p:nvPr/>
        </p:nvSpPr>
        <p:spPr>
          <a:xfrm>
            <a:off x="566928" y="1810512"/>
            <a:ext cx="5446623"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746760"/>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Ce qui ne mène nulle part</a:t>
            </a:r>
          </a:p>
        </p:txBody>
      </p:sp>
      <p:sp>
        <p:nvSpPr>
          <p:cNvPr id="9" name="TextBox 8"/>
          <p:cNvSpPr txBox="1"/>
          <p:nvPr/>
        </p:nvSpPr>
        <p:spPr>
          <a:xfrm>
            <a:off x="886968" y="2859024"/>
            <a:ext cx="4806543" cy="2947416"/>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 Bonjour, je voudrais de l'information sur les cours. Merci. »</a:t>
            </a:r>
          </a:p>
        </p:txBody>
      </p:sp>
      <p:sp>
        <p:nvSpPr>
          <p:cNvPr id="10" name="Rounded Rectangle 9"/>
          <p:cNvSpPr/>
          <p:nvPr/>
        </p:nvSpPr>
        <p:spPr>
          <a:xfrm>
            <a:off x="6178143" y="1810512"/>
            <a:ext cx="5446623"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746760"/>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Ce qui prépare une heure utile</a:t>
            </a:r>
          </a:p>
        </p:txBody>
      </p:sp>
      <p:sp>
        <p:nvSpPr>
          <p:cNvPr id="12" name="TextBox 11"/>
          <p:cNvSpPr txBox="1"/>
          <p:nvPr/>
        </p:nvSpPr>
        <p:spPr>
          <a:xfrm>
            <a:off x="6498183" y="2859024"/>
            <a:ext cx="4806543" cy="2947416"/>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 Je termine ma francisation en février. Je vise un programme de formation professionnelle et je veux savoir quels préalables il me manque.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Choisir la suite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Écris ta propre demande de rencontre, en deux lignes.</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Ligne 1 : où tu en es, avec une date.</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Ligne 2 : ce que tu veux savoir, précisément.</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Choisir la suite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