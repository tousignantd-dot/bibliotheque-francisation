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Elle rassemble ce qui précède et prépare le rendez-vous d'orientation de B1. Prévoir vingt minutes pour la mise en situation finale.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objectif produit un vrai document : les élèves repartent avec leur demande écrite, et ils peuvent la déposer pour de bon.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du bureau fermé est importante : beaucoup d'élèves n'ont jamais eu de rendez-vous individuel dans un établissement d'ici, et l'idée même les intimide. Nommer cette intimidation, ne pas la nier.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nommer, pour chaque lieu, une question du groupe recueillie en A1 sur les billets.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item est le plus utile : la réponse n'est pas « au comptoir », c'est la personne nommée en bas de la lettre. Y insister.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les réponses avant de corriger. Vérifier les articles : c'est là que se perdent les points, pas sur le mot lui-même.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qui décide de la qualité du rendez-vous de B1.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trouver au groupe ce qui change : la deuxième demande donne une date, un but et une question. Trois choses, deux lignes.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 minutes, et c'est le cœur de la séance. Faire lire trois demandes à voix haute et les améliorer ensemble. Les élèves qui le souhaitent peuvent déposer la leur pour vrai au comptoir du centre.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lieux du centre, et ce qu'on y règle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comptoir, un petit bureau fermé, une classe, une salle de réunion. Quatre endroits, quatre façons de parler — et une seule chose qui se règle dans chacun.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Choisir la suite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un lieu de l'établissement à ce qui s'y règle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le bon endroit avant de poser une question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réemployer les cinq mots du bloc dans une phrase complète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préparer une demande de rencontre en deux lignes précises.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 local du centre es-tu déjà entré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comptoir de l'accueil, la classe, autre chose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Es-tu déjà allé dans un bureau fermé, avec une seule autre personne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change quand la porte est fermée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lieux, quatre travaux</a:t>
            </a:r>
          </a:p>
        </p:txBody>
      </p:sp>
      <p:sp>
        <p:nvSpPr>
          <p:cNvPr id="7" name="Rounded Rectangle 6"/>
          <p:cNvSpPr/>
          <p:nvPr/>
        </p:nvSpPr>
        <p:spPr>
          <a:xfrm>
            <a:off x="566928" y="1810512"/>
            <a:ext cx="11057839" cy="2663952"/>
          </a:xfrm>
          <a:prstGeom prst="roundRect">
            <a:avLst>
              <a:gd name="adj" fmla="val 54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LIEU</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S'Y RÈGLE</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comptoir</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papier à donner ou à demander, en deux minutes debout</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bureau fermé</a:t>
            </a:r>
          </a:p>
        </p:txBody>
      </p:sp>
      <p:sp>
        <p:nvSpPr>
          <p:cNvPr id="14" name="TextBox 13"/>
          <p:cNvSpPr txBox="1"/>
          <p:nvPr/>
        </p:nvSpPr>
        <p:spPr>
          <a:xfrm>
            <a:off x="4443636" y="290169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une situation qui demande d'être expliquée, sur rendez-vous</a:t>
            </a:r>
          </a:p>
        </p:txBody>
      </p:sp>
      <p:sp>
        <p:nvSpPr>
          <p:cNvPr id="15" name="Rectangle 14"/>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07664"/>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La classe</a:t>
            </a:r>
          </a:p>
        </p:txBody>
      </p:sp>
      <p:sp>
        <p:nvSpPr>
          <p:cNvPr id="17" name="TextBox 16"/>
          <p:cNvSpPr txBox="1"/>
          <p:nvPr/>
        </p:nvSpPr>
        <p:spPr>
          <a:xfrm>
            <a:off x="4443636" y="3407664"/>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ce que vous savez faire, et ce qui vous manque encore</a:t>
            </a:r>
          </a:p>
        </p:txBody>
      </p:sp>
      <p:sp>
        <p:nvSpPr>
          <p:cNvPr id="18" name="Rectangle 17"/>
          <p:cNvSpPr/>
          <p:nvPr/>
        </p:nvSpPr>
        <p:spPr>
          <a:xfrm>
            <a:off x="932688" y="378561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13631"/>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La salle de réunion</a:t>
            </a:r>
          </a:p>
        </p:txBody>
      </p:sp>
      <p:sp>
        <p:nvSpPr>
          <p:cNvPr id="20" name="TextBox 19"/>
          <p:cNvSpPr txBox="1"/>
          <p:nvPr/>
        </p:nvSpPr>
        <p:spPr>
          <a:xfrm>
            <a:off x="4443636" y="3913631"/>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une décision prise à plusieurs, avec un écrit à la fin</a:t>
            </a:r>
          </a:p>
        </p:txBody>
      </p:sp>
      <p:sp>
        <p:nvSpPr>
          <p:cNvPr id="21" name="Rounded Rectangle 20"/>
          <p:cNvSpPr/>
          <p:nvPr/>
        </p:nvSpPr>
        <p:spPr>
          <a:xfrm>
            <a:off x="566928" y="4712208"/>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4968240"/>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question posée dans le mauvais lieu ne reçoit pas une mauvaise réponse : elle ne reçoit rien.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faut-il aller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la situation, puis nommez le lieu et la personne.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une copie de vos résultats de l'an dernier.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ne savez pas quel programme choisir après la francisation.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savoir si votre français est assez avancé.</a:t>
            </a:r>
          </a:p>
        </p:txBody>
      </p:sp>
      <p:sp>
        <p:nvSpPr>
          <p:cNvPr id="20" name="Rounded Rectangle 19"/>
          <p:cNvSpPr/>
          <p:nvPr/>
        </p:nvSpPr>
        <p:spPr>
          <a:xfrm>
            <a:off x="566928" y="4203192"/>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2468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8868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reçu un avis et vous ne comprenez pas la condition.</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changer votre horaire de cours.</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Plusieurs personnes doivent s'entendre sur votre dossier.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faut-il aller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une copie de vos résultats de l'an dernier.   </a:t>
            </a:r>
            <a:r>
              <a:rPr sz="1400" b="1" i="0">
                <a:solidFill>
                  <a:srgbClr val="07734A"/>
                </a:solidFill>
                <a:latin typeface="Verdana"/>
              </a:rPr>
              <a:t>» au comptoir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ne savez pas quel programme choisir après la francisation.   </a:t>
            </a:r>
            <a:r>
              <a:rPr sz="1400" b="1" i="0">
                <a:solidFill>
                  <a:srgbClr val="07734A"/>
                </a:solidFill>
                <a:latin typeface="Verdana"/>
              </a:rPr>
              <a:t>» au bureau de l'orientation, sur rendez-vous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savoir si votre français est assez avancé.   </a:t>
            </a:r>
            <a:r>
              <a:rPr sz="1400" b="1" i="0">
                <a:solidFill>
                  <a:srgbClr val="07734A"/>
                </a:solidFill>
                <a:latin typeface="Verdana"/>
              </a:rPr>
              <a:t>» en classe, à votre enseignant</a:t>
            </a:r>
          </a:p>
        </p:txBody>
      </p:sp>
      <p:sp>
        <p:nvSpPr>
          <p:cNvPr id="20" name="Rounded Rectangle 19"/>
          <p:cNvSpPr/>
          <p:nvPr/>
        </p:nvSpPr>
        <p:spPr>
          <a:xfrm>
            <a:off x="566928" y="4203192"/>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2468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8868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reçu un avis et vous ne comprenez pas la condition.   </a:t>
            </a:r>
            <a:r>
              <a:rPr sz="1400" b="1" i="0">
                <a:solidFill>
                  <a:srgbClr val="07734A"/>
                </a:solidFill>
                <a:latin typeface="Verdana"/>
              </a:rPr>
              <a:t>» à la personne nommée dans la dernière ligne de l'avis</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changer votre horaire de cours.   </a:t>
            </a:r>
            <a:r>
              <a:rPr sz="1400" b="1" i="0">
                <a:solidFill>
                  <a:srgbClr val="07734A"/>
                </a:solidFill>
                <a:latin typeface="Verdana"/>
              </a:rPr>
              <a:t>» au comptoir</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Plusieurs personnes doivent s'entendre sur votre dossier.   </a:t>
            </a:r>
            <a:r>
              <a:rPr sz="1400" b="1" i="0">
                <a:solidFill>
                  <a:srgbClr val="07734A"/>
                </a:solidFill>
                <a:latin typeface="Verdana"/>
              </a:rPr>
              <a:t>» en salle de réunion, à une rencontre de suivi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le mot juste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Employez les cinq mots du bloc, chacun une seule fois.</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Rien ne compte tant que ce n'est pas au ...</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Elle a demandé son ... au comptoir, et il arrive dans deux jours.</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Au centre, presque tout se fait en ...</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lui manque des unités dans deux ...</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 reçoit le lundi et le jeudi, sur rendez-vous.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le mot juste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Rien ne compte tant que ce n'est pas au ...   </a:t>
            </a:r>
            <a:r>
              <a:rPr sz="1800" b="1" i="0">
                <a:solidFill>
                  <a:srgbClr val="07734A"/>
                </a:solidFill>
                <a:latin typeface="Verdana"/>
              </a:rPr>
              <a:t>» dossier scolaire</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Elle a demandé son ... au comptoir, et il arrive dans deux jours.   </a:t>
            </a:r>
            <a:r>
              <a:rPr sz="1800" b="1" i="0">
                <a:solidFill>
                  <a:srgbClr val="07734A"/>
                </a:solidFill>
                <a:latin typeface="Verdana"/>
              </a:rPr>
              <a:t>» relevé de notes</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Au centre, presque tout se fait en ...   </a:t>
            </a:r>
            <a:r>
              <a:rPr sz="1800" b="1" i="0">
                <a:solidFill>
                  <a:srgbClr val="07734A"/>
                </a:solidFill>
                <a:latin typeface="Verdana"/>
              </a:rPr>
              <a:t>» enseignement individualisé</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lui manque des unités dans deux ...   </a:t>
            </a:r>
            <a:r>
              <a:rPr sz="1800" b="1" i="0">
                <a:solidFill>
                  <a:srgbClr val="07734A"/>
                </a:solidFill>
                <a:latin typeface="Verdana"/>
              </a:rPr>
              <a:t>» matières</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 reçoit le lundi et le jeudi, sur rendez-vous.   </a:t>
            </a:r>
            <a:r>
              <a:rPr sz="1800" b="1" i="0">
                <a:solidFill>
                  <a:srgbClr val="07734A"/>
                </a:solidFill>
                <a:latin typeface="Verdana"/>
              </a:rPr>
              <a:t>» conseillère d'orientation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UNE DEMANDE PRÉCISE OBTIENT UNE RÉPONSE PRÉCISE</a:t>
            </a:r>
          </a:p>
        </p:txBody>
      </p:sp>
      <p:sp>
        <p:nvSpPr>
          <p:cNvPr id="6" name="Rounded Rectangle 5"/>
          <p:cNvSpPr/>
          <p:nvPr/>
        </p:nvSpPr>
        <p:spPr>
          <a:xfrm>
            <a:off x="566928" y="1225296"/>
            <a:ext cx="11057839" cy="2401824"/>
          </a:xfrm>
          <a:prstGeom prst="roundRect">
            <a:avLst>
              <a:gd name="adj" fmla="val 609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578864"/>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 Je veux de l'information » ne veut rien dire ; « je veux savoir quels préalables il me manque » veut dire quelque chose.</a:t>
            </a:r>
          </a:p>
        </p:txBody>
      </p:sp>
      <p:sp>
        <p:nvSpPr>
          <p:cNvPr id="8" name="Rounded Rectangle 7"/>
          <p:cNvSpPr/>
          <p:nvPr/>
        </p:nvSpPr>
        <p:spPr>
          <a:xfrm>
            <a:off x="566928" y="3901440"/>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175760"/>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demande de rencontre tient en deux lignes. Elle dit ce que vous cherchez, pas ce que vous ressentez. Plus elle est précise, plus la personne d'en face peut préparer votre dossier avant de vous voir — et plus l'heure sert.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demandes, deux résultats</a:t>
            </a:r>
          </a:p>
        </p:txBody>
      </p:sp>
      <p:sp>
        <p:nvSpPr>
          <p:cNvPr id="7" name="Rounded Rectangle 6"/>
          <p:cNvSpPr/>
          <p:nvPr/>
        </p:nvSpPr>
        <p:spPr>
          <a:xfrm>
            <a:off x="566928" y="1810512"/>
            <a:ext cx="5446623"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qui ne mène nulle part</a:t>
            </a:r>
          </a:p>
        </p:txBody>
      </p:sp>
      <p:sp>
        <p:nvSpPr>
          <p:cNvPr id="9" name="TextBox 8"/>
          <p:cNvSpPr txBox="1"/>
          <p:nvPr/>
        </p:nvSpPr>
        <p:spPr>
          <a:xfrm>
            <a:off x="886968" y="2859024"/>
            <a:ext cx="4806543" cy="294741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Bonjour, je voudrais de l'information sur les cours. Merci. »</a:t>
            </a:r>
          </a:p>
        </p:txBody>
      </p:sp>
      <p:sp>
        <p:nvSpPr>
          <p:cNvPr id="10" name="Rounded Rectangle 9"/>
          <p:cNvSpPr/>
          <p:nvPr/>
        </p:nvSpPr>
        <p:spPr>
          <a:xfrm>
            <a:off x="6178143" y="1810512"/>
            <a:ext cx="5446623"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qui prépare une heure utile</a:t>
            </a:r>
          </a:p>
        </p:txBody>
      </p:sp>
      <p:sp>
        <p:nvSpPr>
          <p:cNvPr id="12" name="TextBox 11"/>
          <p:cNvSpPr txBox="1"/>
          <p:nvPr/>
        </p:nvSpPr>
        <p:spPr>
          <a:xfrm>
            <a:off x="6498183" y="2859024"/>
            <a:ext cx="4806543" cy="294741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Je termine ma francisation en février. Je vise un programme de formation professionnelle et je veux savoir quels préalables il me manque.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ta propre demande de rencontre, en deux lignes.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Ligne 1 : où tu en es, avec une date.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Ligne 2 : ce que tu veux savoir, précisément.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Choisir la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