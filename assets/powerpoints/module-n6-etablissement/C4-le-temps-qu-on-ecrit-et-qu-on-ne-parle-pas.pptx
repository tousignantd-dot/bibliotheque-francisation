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courte en règles, longue en lecture. Le programme ne demande que de reconnaître et d'associer : ne jamais faire écrire un passé simple, même à un élève rapide qui le demande.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le vrai : le passé simple porte le décor d'un document, jamais l'information qui oblige.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d'élèves l'ont rencontré dans un livre pour enfants ou dans un manuel. Le nommer enfin soulage : ils croyaient avoir mal lu.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Ne pas donner de tableau de conjugaison complet : ce serait faire écrire ce que le programme demande seulement de reconnaître.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faire répéter en chœur, deux fois. C'est la seule mémorisation demandée de toute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vérifier dans la description du programme de C1 : l'historique est au passé simple, les voies d'admission au présent. Le groupe le voit d'un coup.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au troisième : « devenir » prend l'auxiliaire être et s'accorde. C'est le seul du lot, et c'est le plus utile.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dire clairement aux élèves rapides, qui voudront l'employer pour bien faire. Leur donner autre chose à faire : les connecteurs de point de vue de D2, qui les serviront vraiment.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mots seulement, mais ce sont ceux de la production écrite de E2. Les faire employer dans une phrase orale avant de terminer.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C'est le brouillon du premier paragraphe du courriel de E2. Le dire, pour que le travail ne paraisse pas gratuit.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C4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temps qu'on écrit et qu'on ne parle pas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Le centre ouvrit ses portes en 1968. » Personne ne dit cela à voix haute, et vous le lirez sur la première page de presque toutes les brochures.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Choisir la suite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un verbe courant au passé simple, à la 3e personne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associer une forme au passé simple à son passé composé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continuer à lire sans s'arrêter sur ce temps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réemployer les trois mots des écrits officiels.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900" b="1" i="0">
                <a:solidFill>
                  <a:srgbClr val="17181A"/>
                </a:solidFill>
                <a:latin typeface="Verdana"/>
              </a:rPr>
              <a:t>Avez-vous déjà lu une phrase que personne ne dit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Il ouvrit », « ils décidèrent », « ce fut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avez-vous vu ces formes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ça vous a arrêté dans votre lecture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familles de terminaisons</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LES VERBES EN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DONNE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-er</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ferma, ils fermèrent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-ir et beaucoup d'autres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ouvrit, ils ouvrirent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une troisième famille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reçut, ils reçurent</a:t>
            </a:r>
          </a:p>
        </p:txBody>
      </p:sp>
      <p:sp>
        <p:nvSpPr>
          <p:cNvPr id="18" name="Rounded Rectangle 17"/>
          <p:cNvSpPr/>
          <p:nvPr/>
        </p:nvSpPr>
        <p:spPr>
          <a:xfrm>
            <a:off x="566928" y="4306824"/>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Vous ne le rencontrerez presque jamais ailleurs qu'à la 3e personne : un historique parle de gens absents.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qui reviennent partout</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LIT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DIRAIT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il fut</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a été</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il eut</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a eu</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il fit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a fait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il devint</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est devenu</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Ces quatre-là suffisent à comprendre la moitié des historiques d'établissement.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TRADUISEZ DANS VOTRE TÊTE ET CONTINUEZ</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passé simple porte le décor d'un document, jamais l'information qui vous oblige.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brochure raconte l'histoire du centre en passé simple, puis donne ses conditions au présent et ses obligations au futur. Le passage au présent est le signal : c'est là que ça vous concerne.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dirait-on à voix haute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Récrivez chaque forme au passé composé.</a:t>
            </a:r>
          </a:p>
        </p:txBody>
      </p:sp>
      <p:sp>
        <p:nvSpPr>
          <p:cNvPr id="8" name="Rounded Rectangle 7"/>
          <p:cNvSpPr/>
          <p:nvPr/>
        </p:nvSpPr>
        <p:spPr>
          <a:xfrm>
            <a:off x="566928" y="2139696"/>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 centre ouvrit ses portes en 1968.</a:t>
            </a:r>
          </a:p>
        </p:txBody>
      </p:sp>
      <p:sp>
        <p:nvSpPr>
          <p:cNvPr id="12" name="Rounded Rectangle 11"/>
          <p:cNvSpPr/>
          <p:nvPr/>
        </p:nvSpPr>
        <p:spPr>
          <a:xfrm>
            <a:off x="6159855" y="2139696"/>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39674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6075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Les commissaires décidèrent d'agrandir.</a:t>
            </a:r>
          </a:p>
        </p:txBody>
      </p:sp>
      <p:sp>
        <p:nvSpPr>
          <p:cNvPr id="16" name="Rounded Rectangle 15"/>
          <p:cNvSpPr/>
          <p:nvPr/>
        </p:nvSpPr>
        <p:spPr>
          <a:xfrm>
            <a:off x="566928" y="3147568"/>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046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4686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L'école devint un centre d'éducation des adultes.</a:t>
            </a:r>
          </a:p>
        </p:txBody>
      </p:sp>
      <p:sp>
        <p:nvSpPr>
          <p:cNvPr id="20" name="Rounded Rectangle 19"/>
          <p:cNvSpPr/>
          <p:nvPr/>
        </p:nvSpPr>
        <p:spPr>
          <a:xfrm>
            <a:off x="6159855" y="3147568"/>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046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4686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 pavillon reçut ses premiers élèves.</a:t>
            </a:r>
          </a:p>
        </p:txBody>
      </p:sp>
      <p:sp>
        <p:nvSpPr>
          <p:cNvPr id="24" name="Rounded Rectangle 23"/>
          <p:cNvSpPr/>
          <p:nvPr/>
        </p:nvSpPr>
        <p:spPr>
          <a:xfrm>
            <a:off x="566928" y="4155440"/>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4124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4764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Les travaux durèrent deux ans.</a:t>
            </a:r>
          </a:p>
        </p:txBody>
      </p:sp>
      <p:sp>
        <p:nvSpPr>
          <p:cNvPr id="28" name="Rounded Rectangle 27"/>
          <p:cNvSpPr/>
          <p:nvPr/>
        </p:nvSpPr>
        <p:spPr>
          <a:xfrm>
            <a:off x="6159855" y="4155440"/>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4124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4764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On y fit une bibliothèque.</a:t>
            </a:r>
          </a:p>
        </p:txBody>
      </p:sp>
      <p:sp>
        <p:nvSpPr>
          <p:cNvPr id="32" name="Rounded Rectangle 31"/>
          <p:cNvSpPr/>
          <p:nvPr/>
        </p:nvSpPr>
        <p:spPr>
          <a:xfrm>
            <a:off x="566928" y="5163312"/>
            <a:ext cx="5464911"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542036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548436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7</a:t>
            </a:r>
          </a:p>
        </p:txBody>
      </p:sp>
      <p:sp>
        <p:nvSpPr>
          <p:cNvPr id="35" name="TextBox 34"/>
          <p:cNvSpPr txBox="1"/>
          <p:nvPr/>
        </p:nvSpPr>
        <p:spPr>
          <a:xfrm>
            <a:off x="1344168" y="5318760"/>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Ce fut le premier du genre dans la région.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dirait-on à voix haute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9674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6075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 centre ouvrit ses portes en 1968.   </a:t>
            </a:r>
            <a:r>
              <a:rPr sz="1600" b="1" i="0">
                <a:solidFill>
                  <a:srgbClr val="07734A"/>
                </a:solidFill>
                <a:latin typeface="Verdana"/>
              </a:rPr>
              <a:t>» a ouvert</a:t>
            </a:r>
          </a:p>
        </p:txBody>
      </p:sp>
      <p:sp>
        <p:nvSpPr>
          <p:cNvPr id="12" name="Rounded Rectangle 11"/>
          <p:cNvSpPr/>
          <p:nvPr/>
        </p:nvSpPr>
        <p:spPr>
          <a:xfrm>
            <a:off x="6159855" y="2139696"/>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39674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46075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6937095" y="2295144"/>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Les commissaires décidèrent d'agrandir.   </a:t>
            </a:r>
            <a:r>
              <a:rPr sz="1600" b="1" i="0">
                <a:solidFill>
                  <a:srgbClr val="07734A"/>
                </a:solidFill>
                <a:latin typeface="Verdana"/>
              </a:rPr>
              <a:t>» ont décidé</a:t>
            </a:r>
          </a:p>
        </p:txBody>
      </p:sp>
      <p:sp>
        <p:nvSpPr>
          <p:cNvPr id="16" name="Rounded Rectangle 15"/>
          <p:cNvSpPr/>
          <p:nvPr/>
        </p:nvSpPr>
        <p:spPr>
          <a:xfrm>
            <a:off x="566928" y="3147568"/>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4046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4686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L'école devint un centre d'éducation des adultes.   </a:t>
            </a:r>
            <a:r>
              <a:rPr sz="1600" b="1" i="0">
                <a:solidFill>
                  <a:srgbClr val="07734A"/>
                </a:solidFill>
                <a:latin typeface="Verdana"/>
              </a:rPr>
              <a:t>» est devenue</a:t>
            </a:r>
          </a:p>
        </p:txBody>
      </p:sp>
      <p:sp>
        <p:nvSpPr>
          <p:cNvPr id="20" name="Rounded Rectangle 19"/>
          <p:cNvSpPr/>
          <p:nvPr/>
        </p:nvSpPr>
        <p:spPr>
          <a:xfrm>
            <a:off x="6159855" y="3147568"/>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4046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46862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6937095" y="3303016"/>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 pavillon reçut ses premiers élèves.   </a:t>
            </a:r>
            <a:r>
              <a:rPr sz="1600" b="1" i="0">
                <a:solidFill>
                  <a:srgbClr val="07734A"/>
                </a:solidFill>
                <a:latin typeface="Verdana"/>
              </a:rPr>
              <a:t>» a reçu</a:t>
            </a:r>
          </a:p>
        </p:txBody>
      </p:sp>
      <p:sp>
        <p:nvSpPr>
          <p:cNvPr id="24" name="Rounded Rectangle 23"/>
          <p:cNvSpPr/>
          <p:nvPr/>
        </p:nvSpPr>
        <p:spPr>
          <a:xfrm>
            <a:off x="566928" y="4155440"/>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4124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4764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Les travaux durèrent deux ans.   </a:t>
            </a:r>
            <a:r>
              <a:rPr sz="1600" b="1" i="0">
                <a:solidFill>
                  <a:srgbClr val="07734A"/>
                </a:solidFill>
                <a:latin typeface="Verdana"/>
              </a:rPr>
              <a:t>» ont duré</a:t>
            </a:r>
          </a:p>
        </p:txBody>
      </p:sp>
      <p:sp>
        <p:nvSpPr>
          <p:cNvPr id="28" name="Rounded Rectangle 27"/>
          <p:cNvSpPr/>
          <p:nvPr/>
        </p:nvSpPr>
        <p:spPr>
          <a:xfrm>
            <a:off x="6159855" y="4155440"/>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4124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47649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6937095" y="4310888"/>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On y fit une bibliothèque.   </a:t>
            </a:r>
            <a:r>
              <a:rPr sz="1600" b="1" i="0">
                <a:solidFill>
                  <a:srgbClr val="07734A"/>
                </a:solidFill>
                <a:latin typeface="Verdana"/>
              </a:rPr>
              <a:t>» a fait</a:t>
            </a:r>
          </a:p>
        </p:txBody>
      </p:sp>
      <p:sp>
        <p:nvSpPr>
          <p:cNvPr id="32" name="Rounded Rectangle 31"/>
          <p:cNvSpPr/>
          <p:nvPr/>
        </p:nvSpPr>
        <p:spPr>
          <a:xfrm>
            <a:off x="566928" y="5163312"/>
            <a:ext cx="5464911"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542036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548436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7</a:t>
            </a:r>
          </a:p>
        </p:txBody>
      </p:sp>
      <p:sp>
        <p:nvSpPr>
          <p:cNvPr id="35" name="TextBox 34"/>
          <p:cNvSpPr txBox="1"/>
          <p:nvPr/>
        </p:nvSpPr>
        <p:spPr>
          <a:xfrm>
            <a:off x="1344168" y="5318760"/>
            <a:ext cx="4504791"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Ce fut le premier du genre dans la région.   </a:t>
            </a:r>
            <a:r>
              <a:rPr sz="1600" b="1" i="0">
                <a:solidFill>
                  <a:srgbClr val="07734A"/>
                </a:solidFill>
                <a:latin typeface="Verdana"/>
              </a:rPr>
              <a:t>» ça a été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essayer d'en écrire un dans un courriel</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écrire au passé composé, comme tout le monde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passé simple dans un courriel au secrétariat serait déplacé, et souvent faux. Même les gens qui écrivent les brochures n'écrivent pas ainsi leurs propres courriels. Le programme demande de le reconnaître, jamais de le produire.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trois mots des écrits officiels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4172331" cy="1094232"/>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avis officiel</a:t>
            </a:r>
          </a:p>
        </p:txBody>
      </p:sp>
      <p:sp>
        <p:nvSpPr>
          <p:cNvPr id="9" name="TextBox 8"/>
          <p:cNvSpPr txBox="1"/>
          <p:nvPr/>
        </p:nvSpPr>
        <p:spPr>
          <a:xfrm>
            <a:off x="5379339" y="2121408"/>
            <a:ext cx="5879668" cy="1094232"/>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écrit qui informe d'une décision et qui ne se discute pas au comptoir.</a:t>
            </a:r>
          </a:p>
        </p:txBody>
      </p:sp>
      <p:sp>
        <p:nvSpPr>
          <p:cNvPr id="10" name="Rectangle 9"/>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435096"/>
            <a:ext cx="4172331" cy="1094232"/>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admission conditionnelle</a:t>
            </a:r>
          </a:p>
        </p:txBody>
      </p:sp>
      <p:sp>
        <p:nvSpPr>
          <p:cNvPr id="12" name="TextBox 11"/>
          <p:cNvSpPr txBox="1"/>
          <p:nvPr/>
        </p:nvSpPr>
        <p:spPr>
          <a:xfrm>
            <a:off x="5379339" y="3435096"/>
            <a:ext cx="5879668" cy="1094232"/>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acceptation qui ne tient que si une condition est remplie avant une date.</a:t>
            </a:r>
          </a:p>
        </p:txBody>
      </p:sp>
      <p:sp>
        <p:nvSpPr>
          <p:cNvPr id="13" name="Rectangle 12"/>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748784"/>
            <a:ext cx="4172331" cy="1094232"/>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encadré</a:t>
            </a:r>
          </a:p>
        </p:txBody>
      </p:sp>
      <p:sp>
        <p:nvSpPr>
          <p:cNvPr id="15" name="TextBox 14"/>
          <p:cNvSpPr txBox="1"/>
          <p:nvPr/>
        </p:nvSpPr>
        <p:spPr>
          <a:xfrm>
            <a:off x="5379339" y="4748784"/>
            <a:ext cx="5879668" cy="1094232"/>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partie d'un document entourée d'un trait, où l'on met ce qu'il ne faut pas manquer.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Choisir la suite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Résume en trois phrases ce que ton avis te demande.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Phrase 1 : ce que le centre a décidé.</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Phrase 2 : la condition. Phrase 3 : la date.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Choisir la suite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