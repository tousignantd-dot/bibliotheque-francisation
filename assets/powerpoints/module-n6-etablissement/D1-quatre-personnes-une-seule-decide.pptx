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bloc D et séance la plus difficile du module : quatre locuteurs dans un même extrait. Prévenir le groupe et prévoir trois écoutes plutôt que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celui du programme : « saisir les rapports entre les interlocutrices ou les interlocuteurs ». Il n'apparaît qu'au niveau 6 et il ne s'exerce nulle part ailleurs.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Beaucoup répondront « j'ai seulement écouté ». C'est exactement ce que les deux séances du bloc D viennent changer. Le dire tout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choses à faire remarquer : « j'ajoute une chose », qui est la formule d'entrée de Bintou, et « c'est noté », qui veut dire qu'une chose vient d'entrer dans un dossier.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formules de prise de parole en quatre répliques. Les faire relever par le groupe : « si je peux me permettre », « est-ce que je peux poser une question ? », et l'hypothèse en « si » qui suit.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moment le plus important du module : Bintou refuse sans refuser. Elle ne dit pas non, elle déplace la date et elle dit pourquoi. Personne ne perd la face. C'est le sujet de D2.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retrouver dans le dialogue une phrase de chacun des quatre. C'est le meilleur exercice d'écoute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classer six phrases entendues en trois colonnes : propose, décide, témoigne.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le compte rendu : le demander n'est ni impoli ni méfiant. C'est ce qui distingue une conversation d'un engagement.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 Le quatrième est celui qui compte : Bintou n'a pas refusé, elle a déplacé.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minutes. Ramasser : les réponses montrent qui, dans le groupe, entend encore l'autorité dans le ton plutôt que dans les verbes.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Quatre personnes, une seule décide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Autour d'une table, tout le monde parle sur le même ton. Rien, dans la voix, ne dit qui a le pouvoir : c'est dans les verbes que ça se voit.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Choisir la suite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suivre une rencontre où quatre personnes parlent du même dossier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qui explique, qui décide et qui témoigne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une proposition, une règle et un engagement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trois mots de la rencontre avec leur article.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7181A"/>
                </a:solidFill>
                <a:latin typeface="Verdana"/>
              </a:rPr>
              <a:t>Avez-vous déjà assisté à une réunion à votre sujet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l'école de vos enfants, au travail, dans un bureau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Saviez-vous qui décidait, dans la pièce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parlé, ou seulement écouté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résume en trois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Écouter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862584"/>
          </a:xfrm>
          <a:prstGeom prst="roundRect">
            <a:avLst>
              <a:gd name="adj" fmla="val 1696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323594" cy="588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PASCAL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6282" y="2322576"/>
            <a:ext cx="8819845" cy="588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Merci d'être là. On a une heure. Madame Sangaré, je résume pour tout le monde en trois phrases, puis vous corrigerez si je me trompe.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102864"/>
            <a:ext cx="11057839" cy="1129284"/>
          </a:xfrm>
          <a:prstGeom prst="roundRect">
            <a:avLst>
              <a:gd name="adj" fmla="val 12955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267456"/>
            <a:ext cx="1323594" cy="8549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PASCAL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56282" y="3267456"/>
            <a:ext cx="8819845" cy="8549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Bintou Sangaré termine sa francisation en février. Elle vise un diplôme d'études professionnelles. Elle a un avis d'admission conditionnelle, et la condition est la réussite du test.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14444"/>
            <a:ext cx="11057839" cy="595884"/>
          </a:xfrm>
          <a:prstGeom prst="roundRect">
            <a:avLst>
              <a:gd name="adj" fmla="val 24552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479036"/>
            <a:ext cx="1323594" cy="3215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BINTOU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6282" y="4479036"/>
            <a:ext cx="8819845" cy="3215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C'est exact. J'ajoute une chose : le test est le vingt-huit novembre, et je suis inscrite.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992624"/>
            <a:ext cx="11057839" cy="862584"/>
          </a:xfrm>
          <a:prstGeom prst="roundRect">
            <a:avLst>
              <a:gd name="adj" fmla="val 1696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157216"/>
            <a:ext cx="1323594" cy="588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AMÉLIE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56282" y="5157216"/>
            <a:ext cx="8819845" cy="588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C'est noté. De mon côté, je veux qu'une chose soit claire dès maintenant : le centre n'accorde aucun délai après le six février.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 je peux me permettre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2261139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MARC-OLIVIER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93827" y="1901952"/>
            <a:ext cx="7882299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je peux me permettre — sur le français, je n'ai aucune inquiétude. Bintou lit des textes officiels depuis septembre et elle les lit mieux que la moitié du groupe.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16229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326892"/>
            <a:ext cx="226113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AMÉLIE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3827" y="3326892"/>
            <a:ext cx="788229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n'est pas rien non plus. Nos consignes de laboratoire sont écrites comme cet avis-là.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24942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414012"/>
            <a:ext cx="226113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BINTOU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93827" y="4414012"/>
            <a:ext cx="788229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je peux poser une question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226113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BINTOU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93827" y="5163312"/>
            <a:ext cx="788229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je réussis le test le vingt-huit et que la preuve arrive en janvier, est-ce que ça suffit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Pour ma part, je préférerais après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235964"/>
          </a:xfrm>
          <a:prstGeom prst="roundRect">
            <a:avLst>
              <a:gd name="adj" fmla="val 1183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2261139" cy="961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AMÉLIE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93827" y="1901952"/>
            <a:ext cx="7882299" cy="961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J'aimerais que madame Sangaré vienne visiter le laboratoire avant de décider. Beaucoup de gens s'inscrivent sans avoir vu la place où ils passeront neuf mois.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055620"/>
            <a:ext cx="11057839" cy="933703"/>
          </a:xfrm>
          <a:prstGeom prst="roundRect">
            <a:avLst>
              <a:gd name="adj" fmla="val 156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220212"/>
            <a:ext cx="2261139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BINTOU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3827" y="3220212"/>
            <a:ext cx="7882299" cy="659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Pour ma part, je préférerais y aller après le test. Si j'y vais avant, je vais penser à ça pendant l'épreuve.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71619"/>
            <a:ext cx="11057839" cy="631443"/>
          </a:xfrm>
          <a:prstGeom prst="roundRect">
            <a:avLst>
              <a:gd name="adj" fmla="val 2316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236211"/>
            <a:ext cx="2261139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AMÉLIE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93827" y="4236211"/>
            <a:ext cx="7882299" cy="357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C'est raisonnable. Le trois décembre, alors.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785359"/>
            <a:ext cx="11057839" cy="1235964"/>
          </a:xfrm>
          <a:prstGeom prst="roundRect">
            <a:avLst>
              <a:gd name="adj" fmla="val 11837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949951"/>
            <a:ext cx="2261139" cy="961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MARC-OLIVIER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93827" y="4949951"/>
            <a:ext cx="7882299" cy="961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dernière chose, et j'y tiens : que quelqu'un lui envoie le compte rendu de cette rencontre par écrit. On a dit quatre dates en une heure.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peut quoi, autour de la table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15996"/>
          </a:xfrm>
          <a:prstGeom prst="roundRect">
            <a:avLst>
              <a:gd name="adj" fmla="val 48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PERSONNE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PEUT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Le conseiller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explique, calcule, propose — il n'admet personne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La responsable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tient le calendrier et décide de ce que le centre accepte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L'enseignant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dit où en est l'élève : son avis pèse, il ne tranche pas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L'élève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apporte ses documents, pose ses conditions, s'engage sur des dates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064252"/>
            <a:ext cx="11057839" cy="1027684"/>
          </a:xfrm>
          <a:prstGeom prst="roundRect">
            <a:avLst>
              <a:gd name="adj" fmla="val 14236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320284"/>
            <a:ext cx="10234879" cy="570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Confondre une proposition et une règle, c'est repartir en croyant qu'une chose est réglée alors qu'elle a seulement été souhaitée.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ÉCOUTEZ LE VERBE, PAS LE TON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897632"/>
          </a:xfrm>
          <a:prstGeom prst="roundRect">
            <a:avLst>
              <a:gd name="adj" fmla="val 504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07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« Je propose » n'engage rien ; « j'exige » engage l'établissement ; « c'est noté » veut dire qu'une chose vient d'entrer au dossier.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39724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67156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 le monde parle poliment et sur le même ton. Ce sont les verbes qui portent le pouvoir : je vous explique, je vous propose, j'aimerais que, je veux que, aucun délai n'est accordé, c'est noté.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mots de la rencontre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234785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rencontre de suivi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1793" y="2121408"/>
            <a:ext cx="6817213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rendez-vous où plusieurs personnes font le point sur le dossier d'un seul élève.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435096"/>
            <a:ext cx="3234785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plan de 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1793" y="3435096"/>
            <a:ext cx="6817213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L'ordre écrit des cours à suivre, avec le temps prévu et les dates à respecter.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748784"/>
            <a:ext cx="3234785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compte rendu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1793" y="4748784"/>
            <a:ext cx="6817213" cy="1094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texte court qui rapporte ce qui a été dit et décidé pendant une rencontre.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la rencontre du 14 novembre.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Pascal commence en résumant le dossier en trois phrases.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Amélie annonce qu'aucun délai n'est accordé après le 6 février.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Selon Marc-Olivier, c'est la langue qui arrête Bintou.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Bintou accepte de visiter le laboratoire avant l'épreuve.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Marc-Olivier qui demande un compte rendu écrit.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rencontre se termine sans qu'aucune date soit fixée.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Pascal commence en résumant le dossier en trois phrases.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Amélie annonce qu'aucun délai n'est accordé après le 6 février.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Selon Marc-Olivier, c'est la langue qui arrête Bintou.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c'est le vocabulaire administratif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Bintou accepte de visiter le laboratoire avant l'épreuve.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préfère y aller après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Marc-Olivier qui demande un compte rendu écrit.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rencontre se termine sans qu'aucune date soit fixée.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quatre dates en une heure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Qui, dans cette rencontre, peut vraiment changer quelque chose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Nomme une personne et écris la phrase qui te l'a fait comprendre.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Choisir la suite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