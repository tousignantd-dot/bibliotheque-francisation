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bloc A. Elle transforme le vocabulaire de A3 en gestes : quel papier pour quelle situation, et qui peut l'imprimer. Terminer par la première phrase écrite du module.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le pont entre le bloc A et le bloc B. Le quatrième prépare la production écrite de E2 : on commence à écrire dès la quatrième séance, pas à la quatorzième.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compléter la colonne de droite avant de l'afficher. Le tableau tient tout le bloc C d'avance : un avis s'annonce, il ne se discute pas.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confusion la plus fréquente du module. La question qui départage est celle de madame Paradis : « C'est pour prouver que vous êtes inscrite, ou pour prouver ce que vous avez réussi ?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Elle revient en D2 et en E2. Beaucoup d'élèves vivent le formulaire comme une méfiance à leur égard : expliquer que c'est ce qui les protège, eux, quand deux versions ne concordent pas.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les quatre à voix haute, debout. Elles sont courtes exprès : au comptoir, on a environ deux minutes et la première phrase décide de tout le reste.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d'élèves écrivent ce courriel-là, croyant bien faire, et attendent ensuite une réponse qui ne vient pas. Le dire clairement.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par le sens de circulation. La dernière a deux réponses : c'est voulu, et elle annonce le bloc 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Passer dans les rangées. Deux erreurs reviennent : on oublie le groupe, et on commence par la raison. Corriger sur place, à voix basse, sans reprendre le groupe entier.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et les garder : ils reviennent en B1, où la même phrase servira d'ouverture au dialogue du comptoir.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A4  ·  MODULE 14</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Quatre papiers qu'on confond tout le temps</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L'avis vient du centre vers vous. Le formulaire va de vous vers le centre. L'attestation prouve où vous êtes aujourd'hui, le relevé prouve ce que vous avez réussi hier. Se tromper de nom, c'est repartir sans ce qu'on était venu chercher.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Régler une affaire au centre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les quatre documents par leur sens de circulation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lequel s'imprime au comptoir et lequel vient du ministère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demander le bon document avec la bonne phrase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une première phrase de comptoir, complète et vouvoyée.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SENS DE CIRCULATION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écrit à qui</a:t>
            </a:r>
          </a:p>
        </p:txBody>
      </p:sp>
      <p:sp>
        <p:nvSpPr>
          <p:cNvPr id="7" name="Rounded Rectangle 6"/>
          <p:cNvSpPr/>
          <p:nvPr/>
        </p:nvSpPr>
        <p:spPr>
          <a:xfrm>
            <a:off x="566928" y="1810512"/>
            <a:ext cx="11057839" cy="3703320"/>
          </a:xfrm>
          <a:prstGeom prst="roundRect">
            <a:avLst>
              <a:gd name="adj" fmla="val 395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DU CENTRE VERS VOUS</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DE VOUS VERS LE CENTRE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avis</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 formulaire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annonce une décision prise</a:t>
            </a:r>
          </a:p>
        </p:txBody>
      </p:sp>
      <p:sp>
        <p:nvSpPr>
          <p:cNvPr id="14" name="TextBox 13"/>
          <p:cNvSpPr txBox="1"/>
          <p:nvPr/>
        </p:nvSpPr>
        <p:spPr>
          <a:xfrm>
            <a:off x="4443636" y="2935224"/>
            <a:ext cx="6595914"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Il fait entrer une demande</a:t>
            </a:r>
          </a:p>
        </p:txBody>
      </p:sp>
      <p:sp>
        <p:nvSpPr>
          <p:cNvPr id="15" name="Rectangle 14"/>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76472"/>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porte des dates et une échéance</a:t>
            </a:r>
          </a:p>
        </p:txBody>
      </p:sp>
      <p:sp>
        <p:nvSpPr>
          <p:cNvPr id="17" name="TextBox 16"/>
          <p:cNvSpPr txBox="1"/>
          <p:nvPr/>
        </p:nvSpPr>
        <p:spPr>
          <a:xfrm>
            <a:off x="4443636" y="3776472"/>
            <a:ext cx="6595914"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Il porte des cases à remplir</a:t>
            </a:r>
          </a:p>
        </p:txBody>
      </p:sp>
      <p:sp>
        <p:nvSpPr>
          <p:cNvPr id="18" name="Rectangle 17"/>
          <p:cNvSpPr/>
          <p:nvPr/>
        </p:nvSpPr>
        <p:spPr>
          <a:xfrm>
            <a:off x="932688" y="4489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617720"/>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le signe et on le rapporte</a:t>
            </a:r>
          </a:p>
        </p:txBody>
      </p:sp>
      <p:sp>
        <p:nvSpPr>
          <p:cNvPr id="20" name="TextBox 19"/>
          <p:cNvSpPr txBox="1"/>
          <p:nvPr/>
        </p:nvSpPr>
        <p:spPr>
          <a:xfrm>
            <a:off x="4443636" y="4617720"/>
            <a:ext cx="6595914"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On le signe et on le remet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DEUX PREUVES, DEUX MOMENTS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est, ce qu'on a réussi</a:t>
            </a:r>
          </a:p>
        </p:txBody>
      </p:sp>
      <p:sp>
        <p:nvSpPr>
          <p:cNvPr id="7" name="Rounded Rectangle 6"/>
          <p:cNvSpPr/>
          <p:nvPr/>
        </p:nvSpPr>
        <p:spPr>
          <a:xfrm>
            <a:off x="566928" y="1810512"/>
            <a:ext cx="11057839" cy="3703320"/>
          </a:xfrm>
          <a:prstGeom prst="roundRect">
            <a:avLst>
              <a:gd name="adj" fmla="val 395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UNE ATTESTATION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 RELEVÉ</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Vous êtes inscrit ici, en ce moment</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Vous avez réussi tel cours</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secrétariat l'imprime sur-le-champ</a:t>
            </a:r>
          </a:p>
        </p:txBody>
      </p:sp>
      <p:sp>
        <p:nvSpPr>
          <p:cNvPr id="14" name="TextBox 13"/>
          <p:cNvSpPr txBox="1"/>
          <p:nvPr/>
        </p:nvSpPr>
        <p:spPr>
          <a:xfrm>
            <a:off x="4443636" y="3236976"/>
            <a:ext cx="6595914"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 ministère l'envoie</a:t>
            </a:r>
          </a:p>
        </p:txBody>
      </p:sp>
      <p:sp>
        <p:nvSpPr>
          <p:cNvPr id="15" name="Rectangle 14"/>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078224"/>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Pour un employeur, un propriétaire</a:t>
            </a:r>
          </a:p>
        </p:txBody>
      </p:sp>
      <p:sp>
        <p:nvSpPr>
          <p:cNvPr id="17" name="TextBox 16"/>
          <p:cNvSpPr txBox="1"/>
          <p:nvPr/>
        </p:nvSpPr>
        <p:spPr>
          <a:xfrm>
            <a:off x="4443636" y="4078224"/>
            <a:ext cx="6595914"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Pour une équivalence, un dossier</a:t>
            </a:r>
          </a:p>
        </p:txBody>
      </p:sp>
      <p:sp>
        <p:nvSpPr>
          <p:cNvPr id="18" name="Rectangle 17"/>
          <p:cNvSpPr/>
          <p:nvPr/>
        </p:nvSpPr>
        <p:spPr>
          <a:xfrm>
            <a:off x="932688" y="4791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91947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Disponible aujourd'hui</a:t>
            </a:r>
          </a:p>
        </p:txBody>
      </p:sp>
      <p:sp>
        <p:nvSpPr>
          <p:cNvPr id="20" name="TextBox 19"/>
          <p:cNvSpPr txBox="1"/>
          <p:nvPr/>
        </p:nvSpPr>
        <p:spPr>
          <a:xfrm>
            <a:off x="4443636" y="4919472"/>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Après la fin du cours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UNE CONVERSATION NE LAISSE AUCUNE TRACE</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formulaire, lui, en laisse une, datée.</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pour ça qu'on vous le fait remplir même quand vous venez de tout expliquer de vive voix.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 PHRASE QUI DEMANDE LE BON PAPIER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demandes, quatre formules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L'avis</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J'ai reçu un avis et je viens le rapporter signé.</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Le formulaire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Je viens vous remettre mon formulaire d'absence signé.</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L'attestation</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Je voudrais une attestation de fréquentation, s'il vous plaît.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Le relevé</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Est-ce que mon relevé des apprentissages est déjà parti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RÉPONDRE À UN AVIS PAR UN COURRIEL D'EXPLICATION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Bonjour, je voulais expliquer pourquoi je n'ai pas pu venir.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signe l'avis, je le rapporte, et je demande un rendez-vous.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avis annonce une décision déjà prise. Un courriel d'explication n'ouvre aucun dossier et n'arrête aucune échéance. Si la décision pose un problème, c'est un rendez-vous qu'il faut, pas une lettre.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papier, dans quelle situation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oralement, puis justifiez.</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Votre employeur veut une preuve que vous étudiez ici.</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annoncer une absence de trois semaines.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centre vous confirme les dates de votre absence.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demandez une équivalence dans un autre programme.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revenez de l'étranger avec un billet d'hôpital.</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changer de groupe.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papier, dans quelle situation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Votre employeur veut une preuve que vous étudiez ici.   </a:t>
            </a:r>
            <a:r>
              <a:rPr sz="1400" b="1" i="0">
                <a:solidFill>
                  <a:srgbClr val="07734A"/>
                </a:solidFill>
                <a:latin typeface="Verdana"/>
              </a:rPr>
              <a:t>» une attestation</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annoncer une absence de trois semaines.   </a:t>
            </a:r>
            <a:r>
              <a:rPr sz="1400" b="1" i="0">
                <a:solidFill>
                  <a:srgbClr val="07734A"/>
                </a:solidFill>
                <a:latin typeface="Verdana"/>
              </a:rPr>
              <a:t>» un formulaire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centre vous confirme les dates de votre absence.   </a:t>
            </a:r>
            <a:r>
              <a:rPr sz="1400" b="1" i="0">
                <a:solidFill>
                  <a:srgbClr val="07734A"/>
                </a:solidFill>
                <a:latin typeface="Verdana"/>
              </a:rPr>
              <a:t>» un avis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demandez une équivalence dans un autre programme.   </a:t>
            </a:r>
            <a:r>
              <a:rPr sz="1400" b="1" i="0">
                <a:solidFill>
                  <a:srgbClr val="07734A"/>
                </a:solidFill>
                <a:latin typeface="Verdana"/>
              </a:rPr>
              <a:t>» un relevé</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revenez de l'étranger avec un billet d'hôpital.   </a:t>
            </a:r>
            <a:r>
              <a:rPr sz="1400" b="1" i="0">
                <a:solidFill>
                  <a:srgbClr val="07734A"/>
                </a:solidFill>
                <a:latin typeface="Verdana"/>
              </a:rPr>
              <a:t>» une pièce justificative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changer de groupe.   </a:t>
            </a:r>
            <a:r>
              <a:rPr sz="1400" b="1" i="0">
                <a:solidFill>
                  <a:srgbClr val="07734A"/>
                </a:solidFill>
                <a:latin typeface="Verdana"/>
              </a:rPr>
              <a:t>» un formulaire, puis une demande écrite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ÉCRITURE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Votre première phrase de comptoir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Écrivez-la, puis lisez-la à voix haute à votre voisin.</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bonjour, votre nom complet, votre groupe.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 vous venez faire, au présent.</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document que vous demandez, avec son article.</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remerciement pour terminer.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la phrase que vous direz en arrivant au comptoir, en entier.</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Nom complet, groupe, et ce que vous venez faire.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Vouvoyez. Relisez-la à voix haute avant de la remettre.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Régler une affaire au centre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