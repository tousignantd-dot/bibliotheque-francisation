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Dernière séance du bloc A. Elle transforme le vocabulaire de A3 en gestes : quel papier pour quelle situation, et qui peut l'imprimer. Terminer par la première phrase écrite du module.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troisième objectif est le pont entre le bloc A et le bloc B. Le quatrième prépare la production écrite de E2 : on commence à écrire dès la quatrième séance, pas à la quatorzième.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compléter la colonne de droite avant de l'afficher. Le tableau tient tout le bloc C d'avance : un avis s'annonce, il ne se discute pas.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C'est la confusion la plus fréquente du module. La question qui départage est celle de madame Paradis : « C'est pour prouver que vous êtes inscrite, ou pour prouver ce que vous avez réussi ? »</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Elle revient en D2 et en E2. Beaucoup d'élèves vivent le formulaire comme une méfiance à leur égard : expliquer que c'est ce qui les protège, eux, quand deux versions ne concordent pas.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répéter les quatre à voix haute, debout. Elles sont courtes exprès : au comptoir, on a environ deux minutes et la première phrase décide de tout le reste.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Beaucoup d'élèves écrivent ce courriel-là, croyant bien faire, et attendent ensuite une réponse qui ne vient pas. Le dire clairement.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justifier chaque réponse par le sens de circulation. La dernière a deux réponses : c'est voulu, et elle annonce le bloc 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Passer dans les rangées. Deux erreurs reviennent : on oublie le groupe, et on commence par la raison. Corriger sur place, à voix basse, sans reprendre le groupe entier.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Ramasser les billets et les garder : ils reviennent en B1, où la même phrase servira d'ouverture au dialogue du comptoir.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SÉANCE A4  ·  MODULE 14</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Quatre papiers qu'on confond tout le temps</a:t>
            </a:r>
          </a:p>
        </p:txBody>
      </p:sp>
      <p:sp>
        <p:nvSpPr>
          <p:cNvPr id="5" name="Rounded Rectangle 4"/>
          <p:cNvSpPr/>
          <p:nvPr/>
        </p:nvSpPr>
        <p:spPr>
          <a:xfrm>
            <a:off x="566928" y="3794760"/>
            <a:ext cx="9960559" cy="2131568"/>
          </a:xfrm>
          <a:prstGeom prst="roundRect">
            <a:avLst>
              <a:gd name="adj" fmla="val 6863"/>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15189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L'avis vient du centre vers vous. Le formulaire va de vous vers le centre. L'attestation prouve où vous êtes aujourd'hui, le relevé prouve ce que vous avez réussi hier. Se tromper de nom, c'est repartir sans ce qu'on était venu chercher.</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75 minutes  ·  Régler une affaire au centre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A4 · Régler une affaire au centre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1942592"/>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024887"/>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0" name="TextBox 9"/>
          <p:cNvSpPr txBox="1"/>
          <p:nvPr/>
        </p:nvSpPr>
        <p:spPr>
          <a:xfrm>
            <a:off x="1408176" y="1965960"/>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distinguer les quatre documents par leur sens de circulation ;</a:t>
            </a:r>
          </a:p>
        </p:txBody>
      </p:sp>
      <p:sp>
        <p:nvSpPr>
          <p:cNvPr id="11" name="Rounded Rectangle 10"/>
          <p:cNvSpPr/>
          <p:nvPr/>
        </p:nvSpPr>
        <p:spPr>
          <a:xfrm>
            <a:off x="566928" y="2650744"/>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2828544"/>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2910840"/>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4" name="TextBox 13"/>
          <p:cNvSpPr txBox="1"/>
          <p:nvPr/>
        </p:nvSpPr>
        <p:spPr>
          <a:xfrm>
            <a:off x="1408176" y="2851912"/>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savoir lequel s'imprime au comptoir et lequel vient du ministère ;</a:t>
            </a:r>
          </a:p>
        </p:txBody>
      </p:sp>
      <p:sp>
        <p:nvSpPr>
          <p:cNvPr id="15" name="Rounded Rectangle 14"/>
          <p:cNvSpPr/>
          <p:nvPr/>
        </p:nvSpPr>
        <p:spPr>
          <a:xfrm>
            <a:off x="566928" y="3536696"/>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3714496"/>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3796792"/>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8" name="TextBox 17"/>
          <p:cNvSpPr txBox="1"/>
          <p:nvPr/>
        </p:nvSpPr>
        <p:spPr>
          <a:xfrm>
            <a:off x="1408176" y="3737864"/>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demander le bon document avec la bonne phrase ;</a:t>
            </a:r>
          </a:p>
        </p:txBody>
      </p:sp>
      <p:sp>
        <p:nvSpPr>
          <p:cNvPr id="19" name="Rounded Rectangle 18"/>
          <p:cNvSpPr/>
          <p:nvPr/>
        </p:nvSpPr>
        <p:spPr>
          <a:xfrm>
            <a:off x="566928" y="4422648"/>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4600448"/>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4682744"/>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2" name="TextBox 21"/>
          <p:cNvSpPr txBox="1"/>
          <p:nvPr/>
        </p:nvSpPr>
        <p:spPr>
          <a:xfrm>
            <a:off x="1408176" y="4623816"/>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écrire une première phrase de comptoir, complète et vouvoyée.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A4 · Régler une affaire au centre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LE SENS DE CIRCULATION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Qui écrit à qui</a:t>
            </a:r>
          </a:p>
        </p:txBody>
      </p:sp>
      <p:sp>
        <p:nvSpPr>
          <p:cNvPr id="7" name="Rounded Rectangle 6"/>
          <p:cNvSpPr/>
          <p:nvPr/>
        </p:nvSpPr>
        <p:spPr>
          <a:xfrm>
            <a:off x="566928" y="1810512"/>
            <a:ext cx="11057839" cy="3703320"/>
          </a:xfrm>
          <a:prstGeom prst="roundRect">
            <a:avLst>
              <a:gd name="adj" fmla="val 395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DU CENTRE VERS VOUS</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DE VOUS VERS LE CENTRE</a:t>
            </a:r>
          </a:p>
        </p:txBody>
      </p:sp>
      <p:sp>
        <p:nvSpPr>
          <p:cNvPr id="10" name="TextBox 9"/>
          <p:cNvSpPr txBox="1"/>
          <p:nvPr/>
        </p:nvSpPr>
        <p:spPr>
          <a:xfrm>
            <a:off x="932688" y="2395728"/>
            <a:ext cx="3291492"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Un avis</a:t>
            </a:r>
          </a:p>
        </p:txBody>
      </p:sp>
      <p:sp>
        <p:nvSpPr>
          <p:cNvPr id="11" name="TextBox 10"/>
          <p:cNvSpPr txBox="1"/>
          <p:nvPr/>
        </p:nvSpPr>
        <p:spPr>
          <a:xfrm>
            <a:off x="4443636" y="2395728"/>
            <a:ext cx="6595914" cy="338328"/>
          </a:xfrm>
          <a:prstGeom prst="rect">
            <a:avLst/>
          </a:prstGeom>
          <a:noFill/>
        </p:spPr>
        <p:txBody>
          <a:bodyPr wrap="square" lIns="0" rIns="0" tIns="0" bIns="0" anchor="t">
            <a:spAutoFit/>
          </a:bodyPr>
          <a:lstStyle/>
          <a:p>
            <a:pPr algn="l">
              <a:lnSpc>
                <a:spcPct val="132000"/>
              </a:lnSpc>
            </a:pPr>
            <a:r>
              <a:rPr sz="1800" b="1" i="0">
                <a:solidFill>
                  <a:srgbClr val="B45309"/>
                </a:solidFill>
                <a:latin typeface="Verdana"/>
              </a:rPr>
              <a:t>Un formulaire</a:t>
            </a:r>
          </a:p>
        </p:txBody>
      </p:sp>
      <p:sp>
        <p:nvSpPr>
          <p:cNvPr id="12" name="Rectangle 11"/>
          <p:cNvSpPr/>
          <p:nvPr/>
        </p:nvSpPr>
        <p:spPr>
          <a:xfrm>
            <a:off x="932688" y="280720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2935224"/>
            <a:ext cx="3291492" cy="640080"/>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Il annonce une décision prise</a:t>
            </a:r>
          </a:p>
        </p:txBody>
      </p:sp>
      <p:sp>
        <p:nvSpPr>
          <p:cNvPr id="14" name="TextBox 13"/>
          <p:cNvSpPr txBox="1"/>
          <p:nvPr/>
        </p:nvSpPr>
        <p:spPr>
          <a:xfrm>
            <a:off x="4443636" y="2935224"/>
            <a:ext cx="6595914" cy="640080"/>
          </a:xfrm>
          <a:prstGeom prst="rect">
            <a:avLst/>
          </a:prstGeom>
          <a:noFill/>
        </p:spPr>
        <p:txBody>
          <a:bodyPr wrap="square" lIns="0" rIns="0" tIns="0" bIns="0" anchor="t">
            <a:spAutoFit/>
          </a:bodyPr>
          <a:lstStyle/>
          <a:p>
            <a:pPr algn="l">
              <a:lnSpc>
                <a:spcPct val="132000"/>
              </a:lnSpc>
            </a:pPr>
            <a:r>
              <a:rPr sz="1800" b="1" i="0">
                <a:solidFill>
                  <a:srgbClr val="B45309"/>
                </a:solidFill>
                <a:latin typeface="Verdana"/>
              </a:rPr>
              <a:t>Il fait entrer une demande</a:t>
            </a:r>
          </a:p>
        </p:txBody>
      </p:sp>
      <p:sp>
        <p:nvSpPr>
          <p:cNvPr id="15" name="Rectangle 14"/>
          <p:cNvSpPr/>
          <p:nvPr/>
        </p:nvSpPr>
        <p:spPr>
          <a:xfrm>
            <a:off x="932688" y="3648456"/>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776472"/>
            <a:ext cx="3291492" cy="640080"/>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Il porte des dates et une échéance</a:t>
            </a:r>
          </a:p>
        </p:txBody>
      </p:sp>
      <p:sp>
        <p:nvSpPr>
          <p:cNvPr id="17" name="TextBox 16"/>
          <p:cNvSpPr txBox="1"/>
          <p:nvPr/>
        </p:nvSpPr>
        <p:spPr>
          <a:xfrm>
            <a:off x="4443636" y="3776472"/>
            <a:ext cx="6595914" cy="640080"/>
          </a:xfrm>
          <a:prstGeom prst="rect">
            <a:avLst/>
          </a:prstGeom>
          <a:noFill/>
        </p:spPr>
        <p:txBody>
          <a:bodyPr wrap="square" lIns="0" rIns="0" tIns="0" bIns="0" anchor="t">
            <a:spAutoFit/>
          </a:bodyPr>
          <a:lstStyle/>
          <a:p>
            <a:pPr algn="l">
              <a:lnSpc>
                <a:spcPct val="132000"/>
              </a:lnSpc>
            </a:pPr>
            <a:r>
              <a:rPr sz="1800" b="1" i="0">
                <a:solidFill>
                  <a:srgbClr val="B45309"/>
                </a:solidFill>
                <a:latin typeface="Verdana"/>
              </a:rPr>
              <a:t>Il porte des cases à remplir</a:t>
            </a:r>
          </a:p>
        </p:txBody>
      </p:sp>
      <p:sp>
        <p:nvSpPr>
          <p:cNvPr id="18" name="Rectangle 17"/>
          <p:cNvSpPr/>
          <p:nvPr/>
        </p:nvSpPr>
        <p:spPr>
          <a:xfrm>
            <a:off x="932688" y="448970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4617720"/>
            <a:ext cx="3291492" cy="640080"/>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On le signe et on le rapporte</a:t>
            </a:r>
          </a:p>
        </p:txBody>
      </p:sp>
      <p:sp>
        <p:nvSpPr>
          <p:cNvPr id="20" name="TextBox 19"/>
          <p:cNvSpPr txBox="1"/>
          <p:nvPr/>
        </p:nvSpPr>
        <p:spPr>
          <a:xfrm>
            <a:off x="4443636" y="4617720"/>
            <a:ext cx="6595914" cy="640080"/>
          </a:xfrm>
          <a:prstGeom prst="rect">
            <a:avLst/>
          </a:prstGeom>
          <a:noFill/>
        </p:spPr>
        <p:txBody>
          <a:bodyPr wrap="square" lIns="0" rIns="0" tIns="0" bIns="0" anchor="t">
            <a:spAutoFit/>
          </a:bodyPr>
          <a:lstStyle/>
          <a:p>
            <a:pPr algn="l">
              <a:lnSpc>
                <a:spcPct val="132000"/>
              </a:lnSpc>
            </a:pPr>
            <a:r>
              <a:rPr sz="1800" b="1" i="0">
                <a:solidFill>
                  <a:srgbClr val="B45309"/>
                </a:solidFill>
                <a:latin typeface="Verdana"/>
              </a:rPr>
              <a:t>On le signe et on le remet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A4 · Régler une affaire au centre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DEUX PREUVES, DEUX MOMENTS</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Ce qu'on est, ce qu'on a réussi</a:t>
            </a:r>
          </a:p>
        </p:txBody>
      </p:sp>
      <p:sp>
        <p:nvSpPr>
          <p:cNvPr id="7" name="Rounded Rectangle 6"/>
          <p:cNvSpPr/>
          <p:nvPr/>
        </p:nvSpPr>
        <p:spPr>
          <a:xfrm>
            <a:off x="566928" y="1810512"/>
            <a:ext cx="11057839" cy="3703320"/>
          </a:xfrm>
          <a:prstGeom prst="roundRect">
            <a:avLst>
              <a:gd name="adj" fmla="val 395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UNE ATTESTATION</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UN RELEVÉ</a:t>
            </a:r>
          </a:p>
        </p:txBody>
      </p:sp>
      <p:sp>
        <p:nvSpPr>
          <p:cNvPr id="10" name="TextBox 9"/>
          <p:cNvSpPr txBox="1"/>
          <p:nvPr/>
        </p:nvSpPr>
        <p:spPr>
          <a:xfrm>
            <a:off x="932688" y="2395728"/>
            <a:ext cx="3291492" cy="640080"/>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Vous êtes inscrit ici, en ce moment</a:t>
            </a:r>
          </a:p>
        </p:txBody>
      </p:sp>
      <p:sp>
        <p:nvSpPr>
          <p:cNvPr id="11" name="TextBox 10"/>
          <p:cNvSpPr txBox="1"/>
          <p:nvPr/>
        </p:nvSpPr>
        <p:spPr>
          <a:xfrm>
            <a:off x="4443636" y="2395728"/>
            <a:ext cx="6595914" cy="640080"/>
          </a:xfrm>
          <a:prstGeom prst="rect">
            <a:avLst/>
          </a:prstGeom>
          <a:noFill/>
        </p:spPr>
        <p:txBody>
          <a:bodyPr wrap="square" lIns="0" rIns="0" tIns="0" bIns="0" anchor="t">
            <a:spAutoFit/>
          </a:bodyPr>
          <a:lstStyle/>
          <a:p>
            <a:pPr algn="l">
              <a:lnSpc>
                <a:spcPct val="132000"/>
              </a:lnSpc>
            </a:pPr>
            <a:r>
              <a:rPr sz="1800" b="1" i="0">
                <a:solidFill>
                  <a:srgbClr val="B45309"/>
                </a:solidFill>
                <a:latin typeface="Verdana"/>
              </a:rPr>
              <a:t>Vous avez réussi tel cours</a:t>
            </a:r>
          </a:p>
        </p:txBody>
      </p:sp>
      <p:sp>
        <p:nvSpPr>
          <p:cNvPr id="12" name="Rectangle 11"/>
          <p:cNvSpPr/>
          <p:nvPr/>
        </p:nvSpPr>
        <p:spPr>
          <a:xfrm>
            <a:off x="932688" y="310896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3236976"/>
            <a:ext cx="3291492" cy="640080"/>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Le secrétariat l'imprime sur-le-champ</a:t>
            </a:r>
          </a:p>
        </p:txBody>
      </p:sp>
      <p:sp>
        <p:nvSpPr>
          <p:cNvPr id="14" name="TextBox 13"/>
          <p:cNvSpPr txBox="1"/>
          <p:nvPr/>
        </p:nvSpPr>
        <p:spPr>
          <a:xfrm>
            <a:off x="4443636" y="3236976"/>
            <a:ext cx="6595914" cy="640080"/>
          </a:xfrm>
          <a:prstGeom prst="rect">
            <a:avLst/>
          </a:prstGeom>
          <a:noFill/>
        </p:spPr>
        <p:txBody>
          <a:bodyPr wrap="square" lIns="0" rIns="0" tIns="0" bIns="0" anchor="t">
            <a:spAutoFit/>
          </a:bodyPr>
          <a:lstStyle/>
          <a:p>
            <a:pPr algn="l">
              <a:lnSpc>
                <a:spcPct val="132000"/>
              </a:lnSpc>
            </a:pPr>
            <a:r>
              <a:rPr sz="1800" b="1" i="0">
                <a:solidFill>
                  <a:srgbClr val="B45309"/>
                </a:solidFill>
                <a:latin typeface="Verdana"/>
              </a:rPr>
              <a:t>Le ministère l'envoie</a:t>
            </a:r>
          </a:p>
        </p:txBody>
      </p:sp>
      <p:sp>
        <p:nvSpPr>
          <p:cNvPr id="15" name="Rectangle 14"/>
          <p:cNvSpPr/>
          <p:nvPr/>
        </p:nvSpPr>
        <p:spPr>
          <a:xfrm>
            <a:off x="932688" y="395020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4078224"/>
            <a:ext cx="3291492" cy="640080"/>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Pour un employeur, un propriétaire</a:t>
            </a:r>
          </a:p>
        </p:txBody>
      </p:sp>
      <p:sp>
        <p:nvSpPr>
          <p:cNvPr id="17" name="TextBox 16"/>
          <p:cNvSpPr txBox="1"/>
          <p:nvPr/>
        </p:nvSpPr>
        <p:spPr>
          <a:xfrm>
            <a:off x="4443636" y="4078224"/>
            <a:ext cx="6595914" cy="640080"/>
          </a:xfrm>
          <a:prstGeom prst="rect">
            <a:avLst/>
          </a:prstGeom>
          <a:noFill/>
        </p:spPr>
        <p:txBody>
          <a:bodyPr wrap="square" lIns="0" rIns="0" tIns="0" bIns="0" anchor="t">
            <a:spAutoFit/>
          </a:bodyPr>
          <a:lstStyle/>
          <a:p>
            <a:pPr algn="l">
              <a:lnSpc>
                <a:spcPct val="132000"/>
              </a:lnSpc>
            </a:pPr>
            <a:r>
              <a:rPr sz="1800" b="1" i="0">
                <a:solidFill>
                  <a:srgbClr val="B45309"/>
                </a:solidFill>
                <a:latin typeface="Verdana"/>
              </a:rPr>
              <a:t>Pour une équivalence, un dossier</a:t>
            </a:r>
          </a:p>
        </p:txBody>
      </p:sp>
      <p:sp>
        <p:nvSpPr>
          <p:cNvPr id="18" name="Rectangle 17"/>
          <p:cNvSpPr/>
          <p:nvPr/>
        </p:nvSpPr>
        <p:spPr>
          <a:xfrm>
            <a:off x="932688" y="4791456"/>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4919472"/>
            <a:ext cx="3291492"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Disponible aujourd'hui</a:t>
            </a:r>
          </a:p>
        </p:txBody>
      </p:sp>
      <p:sp>
        <p:nvSpPr>
          <p:cNvPr id="20" name="TextBox 19"/>
          <p:cNvSpPr txBox="1"/>
          <p:nvPr/>
        </p:nvSpPr>
        <p:spPr>
          <a:xfrm>
            <a:off x="4443636" y="4919472"/>
            <a:ext cx="6595914" cy="338328"/>
          </a:xfrm>
          <a:prstGeom prst="rect">
            <a:avLst/>
          </a:prstGeom>
          <a:noFill/>
        </p:spPr>
        <p:txBody>
          <a:bodyPr wrap="square" lIns="0" rIns="0" tIns="0" bIns="0" anchor="t">
            <a:spAutoFit/>
          </a:bodyPr>
          <a:lstStyle/>
          <a:p>
            <a:pPr algn="l">
              <a:lnSpc>
                <a:spcPct val="132000"/>
              </a:lnSpc>
            </a:pPr>
            <a:r>
              <a:rPr sz="1800" b="1" i="0">
                <a:solidFill>
                  <a:srgbClr val="B45309"/>
                </a:solidFill>
                <a:latin typeface="Verdana"/>
              </a:rPr>
              <a:t>Après la fin du cours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A4 · Régler une affaire au centre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UNE CONVERSATION NE LAISSE AUCUNE TRACE</a:t>
            </a:r>
          </a:p>
        </p:txBody>
      </p:sp>
      <p:sp>
        <p:nvSpPr>
          <p:cNvPr id="6" name="Rounded Rectangle 5"/>
          <p:cNvSpPr/>
          <p:nvPr/>
        </p:nvSpPr>
        <p:spPr>
          <a:xfrm>
            <a:off x="566928" y="1225296"/>
            <a:ext cx="11057839" cy="1967991"/>
          </a:xfrm>
          <a:prstGeom prst="roundRect">
            <a:avLst>
              <a:gd name="adj" fmla="val 7434"/>
            </a:avLst>
          </a:prstGeom>
          <a:solidFill>
            <a:srgbClr val="FBEEDC"/>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145032"/>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Le formulaire, lui, en laisse une, datée.</a:t>
            </a:r>
          </a:p>
        </p:txBody>
      </p:sp>
      <p:sp>
        <p:nvSpPr>
          <p:cNvPr id="8" name="Rounded Rectangle 7"/>
          <p:cNvSpPr/>
          <p:nvPr/>
        </p:nvSpPr>
        <p:spPr>
          <a:xfrm>
            <a:off x="566928" y="3467607"/>
            <a:ext cx="11057839" cy="1303528"/>
          </a:xfrm>
          <a:prstGeom prst="roundRect">
            <a:avLst>
              <a:gd name="adj" fmla="val 11223"/>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3741927"/>
            <a:ext cx="10234879" cy="846327"/>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C'est pour ça qu'on vous le fait remplir même quand vous venez de tout expliquer de vive voix.</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A4 · Régler une affaire au centre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LA PHRASE QUI DEMANDE LE BON PAPIER</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Quatre demandes, quatre formules</a:t>
            </a:r>
          </a:p>
        </p:txBody>
      </p:sp>
      <p:sp>
        <p:nvSpPr>
          <p:cNvPr id="7" name="Rounded Rectangle 6"/>
          <p:cNvSpPr/>
          <p:nvPr/>
        </p:nvSpPr>
        <p:spPr>
          <a:xfrm>
            <a:off x="566928"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86968" y="2084831"/>
            <a:ext cx="4806543" cy="387096"/>
          </a:xfrm>
          <a:prstGeom prst="rect">
            <a:avLst/>
          </a:prstGeom>
          <a:noFill/>
        </p:spPr>
        <p:txBody>
          <a:bodyPr wrap="square" lIns="0" rIns="0" tIns="0" bIns="0" anchor="t">
            <a:spAutoFit/>
          </a:bodyPr>
          <a:lstStyle/>
          <a:p>
            <a:pPr algn="l">
              <a:lnSpc>
                <a:spcPct val="118000"/>
              </a:lnSpc>
            </a:pPr>
            <a:r>
              <a:rPr sz="2400" b="1" i="0">
                <a:solidFill>
                  <a:srgbClr val="B45309"/>
                </a:solidFill>
                <a:latin typeface="Verdana"/>
              </a:rPr>
              <a:t>L'avis</a:t>
            </a:r>
          </a:p>
        </p:txBody>
      </p:sp>
      <p:sp>
        <p:nvSpPr>
          <p:cNvPr id="9" name="TextBox 8"/>
          <p:cNvSpPr txBox="1"/>
          <p:nvPr/>
        </p:nvSpPr>
        <p:spPr>
          <a:xfrm>
            <a:off x="886968" y="2499360"/>
            <a:ext cx="4806543" cy="1089660"/>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J'ai reçu un avis et je viens le rapporter signé.</a:t>
            </a:r>
          </a:p>
        </p:txBody>
      </p:sp>
      <p:sp>
        <p:nvSpPr>
          <p:cNvPr id="10" name="Rounded Rectangle 9"/>
          <p:cNvSpPr/>
          <p:nvPr/>
        </p:nvSpPr>
        <p:spPr>
          <a:xfrm>
            <a:off x="6178143"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98183" y="2084831"/>
            <a:ext cx="4806543" cy="387096"/>
          </a:xfrm>
          <a:prstGeom prst="rect">
            <a:avLst/>
          </a:prstGeom>
          <a:noFill/>
        </p:spPr>
        <p:txBody>
          <a:bodyPr wrap="square" lIns="0" rIns="0" tIns="0" bIns="0" anchor="t">
            <a:spAutoFit/>
          </a:bodyPr>
          <a:lstStyle/>
          <a:p>
            <a:pPr algn="l">
              <a:lnSpc>
                <a:spcPct val="118000"/>
              </a:lnSpc>
            </a:pPr>
            <a:r>
              <a:rPr sz="2400" b="1" i="0">
                <a:solidFill>
                  <a:srgbClr val="B45309"/>
                </a:solidFill>
                <a:latin typeface="Verdana"/>
              </a:rPr>
              <a:t>Le formulaire</a:t>
            </a:r>
          </a:p>
        </p:txBody>
      </p:sp>
      <p:sp>
        <p:nvSpPr>
          <p:cNvPr id="12" name="TextBox 11"/>
          <p:cNvSpPr txBox="1"/>
          <p:nvPr/>
        </p:nvSpPr>
        <p:spPr>
          <a:xfrm>
            <a:off x="6498183" y="2499360"/>
            <a:ext cx="4806543" cy="1089660"/>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Je viens vous remettre mon formulaire d'absence signé.</a:t>
            </a:r>
          </a:p>
        </p:txBody>
      </p:sp>
      <p:sp>
        <p:nvSpPr>
          <p:cNvPr id="13" name="Rounded Rectangle 12"/>
          <p:cNvSpPr/>
          <p:nvPr/>
        </p:nvSpPr>
        <p:spPr>
          <a:xfrm>
            <a:off x="566928"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86968" y="4302252"/>
            <a:ext cx="4806543" cy="387096"/>
          </a:xfrm>
          <a:prstGeom prst="rect">
            <a:avLst/>
          </a:prstGeom>
          <a:noFill/>
        </p:spPr>
        <p:txBody>
          <a:bodyPr wrap="square" lIns="0" rIns="0" tIns="0" bIns="0" anchor="t">
            <a:spAutoFit/>
          </a:bodyPr>
          <a:lstStyle/>
          <a:p>
            <a:pPr algn="l">
              <a:lnSpc>
                <a:spcPct val="118000"/>
              </a:lnSpc>
            </a:pPr>
            <a:r>
              <a:rPr sz="2400" b="1" i="0">
                <a:solidFill>
                  <a:srgbClr val="B45309"/>
                </a:solidFill>
                <a:latin typeface="Verdana"/>
              </a:rPr>
              <a:t>L'attestation</a:t>
            </a:r>
          </a:p>
        </p:txBody>
      </p:sp>
      <p:sp>
        <p:nvSpPr>
          <p:cNvPr id="15" name="TextBox 14"/>
          <p:cNvSpPr txBox="1"/>
          <p:nvPr/>
        </p:nvSpPr>
        <p:spPr>
          <a:xfrm>
            <a:off x="886968" y="4716780"/>
            <a:ext cx="4806543" cy="1089660"/>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Je voudrais une attestation de fréquentation, s'il vous plaît.</a:t>
            </a:r>
          </a:p>
        </p:txBody>
      </p:sp>
      <p:sp>
        <p:nvSpPr>
          <p:cNvPr id="16" name="Rounded Rectangle 15"/>
          <p:cNvSpPr/>
          <p:nvPr/>
        </p:nvSpPr>
        <p:spPr>
          <a:xfrm>
            <a:off x="6178143"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498183" y="4302252"/>
            <a:ext cx="4806543" cy="387096"/>
          </a:xfrm>
          <a:prstGeom prst="rect">
            <a:avLst/>
          </a:prstGeom>
          <a:noFill/>
        </p:spPr>
        <p:txBody>
          <a:bodyPr wrap="square" lIns="0" rIns="0" tIns="0" bIns="0" anchor="t">
            <a:spAutoFit/>
          </a:bodyPr>
          <a:lstStyle/>
          <a:p>
            <a:pPr algn="l">
              <a:lnSpc>
                <a:spcPct val="118000"/>
              </a:lnSpc>
            </a:pPr>
            <a:r>
              <a:rPr sz="2400" b="1" i="0">
                <a:solidFill>
                  <a:srgbClr val="B45309"/>
                </a:solidFill>
                <a:latin typeface="Verdana"/>
              </a:rPr>
              <a:t>Le relevé</a:t>
            </a:r>
          </a:p>
        </p:txBody>
      </p:sp>
      <p:sp>
        <p:nvSpPr>
          <p:cNvPr id="18" name="TextBox 17"/>
          <p:cNvSpPr txBox="1"/>
          <p:nvPr/>
        </p:nvSpPr>
        <p:spPr>
          <a:xfrm>
            <a:off x="6498183" y="4716780"/>
            <a:ext cx="4806543" cy="1089660"/>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Est-ce que mon relevé des apprentissages est déjà parti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A4 · Régler une affaire au centre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RÉPONDRE À UN AVIS PAR UN COURRIEL D'EXPLICATION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piège le plus fréquent</a:t>
            </a:r>
          </a:p>
        </p:txBody>
      </p:sp>
      <p:sp>
        <p:nvSpPr>
          <p:cNvPr id="7" name="Rounded Rectangle 6"/>
          <p:cNvSpPr/>
          <p:nvPr/>
        </p:nvSpPr>
        <p:spPr>
          <a:xfrm>
            <a:off x="566928" y="1856232"/>
            <a:ext cx="5428335" cy="2331720"/>
          </a:xfrm>
          <a:prstGeom prst="roundRect">
            <a:avLst>
              <a:gd name="adj" fmla="val 6274"/>
            </a:avLst>
          </a:prstGeom>
          <a:solidFill>
            <a:srgbClr val="FFF6F5"/>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B91C1C"/>
                </a:solidFill>
                <a:latin typeface="Verdana"/>
              </a:rPr>
              <a:t>ON ENTEND SOUVENT</a:t>
            </a:r>
          </a:p>
        </p:txBody>
      </p:sp>
      <p:sp>
        <p:nvSpPr>
          <p:cNvPr id="9" name="TextBox 8"/>
          <p:cNvSpPr txBox="1"/>
          <p:nvPr/>
        </p:nvSpPr>
        <p:spPr>
          <a:xfrm>
            <a:off x="932688"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Bonjour, je voulais expliquer pourquoi je n'ai pas pu venir.</a:t>
            </a:r>
          </a:p>
        </p:txBody>
      </p:sp>
      <p:sp>
        <p:nvSpPr>
          <p:cNvPr id="10" name="Rounded Rectangle 9"/>
          <p:cNvSpPr/>
          <p:nvPr/>
        </p:nvSpPr>
        <p:spPr>
          <a:xfrm>
            <a:off x="6196431" y="1856232"/>
            <a:ext cx="5428335" cy="2331720"/>
          </a:xfrm>
          <a:prstGeom prst="roundRect">
            <a:avLst>
              <a:gd name="adj" fmla="val 6274"/>
            </a:avLst>
          </a:prstGeom>
          <a:solidFill>
            <a:srgbClr val="E6F5EE"/>
          </a:solidFill>
          <a:ln w="12700">
            <a:solidFill>
              <a:srgbClr val="0A8F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62191"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07734A"/>
                </a:solidFill>
                <a:latin typeface="Verdana"/>
              </a:rPr>
              <a:t>IL FAUT DIRE PLUTÔT</a:t>
            </a:r>
          </a:p>
        </p:txBody>
      </p:sp>
      <p:sp>
        <p:nvSpPr>
          <p:cNvPr id="12" name="TextBox 11"/>
          <p:cNvSpPr txBox="1"/>
          <p:nvPr/>
        </p:nvSpPr>
        <p:spPr>
          <a:xfrm>
            <a:off x="6562191"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Je signe l'avis, je le rapporte, et je demande un rendez-vous.</a:t>
            </a:r>
          </a:p>
        </p:txBody>
      </p:sp>
      <p:sp>
        <p:nvSpPr>
          <p:cNvPr id="13" name="Rounded Rectangle 12"/>
          <p:cNvSpPr/>
          <p:nvPr/>
        </p:nvSpPr>
        <p:spPr>
          <a:xfrm>
            <a:off x="566928" y="4462272"/>
            <a:ext cx="11057839" cy="1618487"/>
          </a:xfrm>
          <a:prstGeom prst="roundRect">
            <a:avLst>
              <a:gd name="adj" fmla="val 903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9264" y="4736592"/>
            <a:ext cx="10234879"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Un avis annonce une décision déjà prise. Un courriel d'explication n'ouvre aucun dossier et n'arrête aucune échéance. Si la décision pose un problème, c'est un rendez-vous qu'il faut, pas une lettre.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A4 · Régler une affaire au centre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COMPRÉHENSION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Quel papier, dans quelle situation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Répondez oralement, puis justifiez.</a:t>
            </a:r>
          </a:p>
        </p:txBody>
      </p:sp>
      <p:sp>
        <p:nvSpPr>
          <p:cNvPr id="8" name="Rounded Rectangle 7"/>
          <p:cNvSpPr/>
          <p:nvPr/>
        </p:nvSpPr>
        <p:spPr>
          <a:xfrm>
            <a:off x="566928" y="213969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Votre employeur veut une preuve que vous étudiez ici.</a:t>
            </a:r>
          </a:p>
        </p:txBody>
      </p:sp>
      <p:sp>
        <p:nvSpPr>
          <p:cNvPr id="12" name="Rounded Rectangle 11"/>
          <p:cNvSpPr/>
          <p:nvPr/>
        </p:nvSpPr>
        <p:spPr>
          <a:xfrm>
            <a:off x="566928" y="282752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Vous voulez annoncer une absence de trois semaines.</a:t>
            </a:r>
          </a:p>
        </p:txBody>
      </p:sp>
      <p:sp>
        <p:nvSpPr>
          <p:cNvPr id="16" name="Rounded Rectangle 15"/>
          <p:cNvSpPr/>
          <p:nvPr/>
        </p:nvSpPr>
        <p:spPr>
          <a:xfrm>
            <a:off x="566928" y="3515359"/>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centre vous confirme les dates de votre absence.</a:t>
            </a:r>
          </a:p>
        </p:txBody>
      </p:sp>
      <p:sp>
        <p:nvSpPr>
          <p:cNvPr id="20" name="Rounded Rectangle 19"/>
          <p:cNvSpPr/>
          <p:nvPr/>
        </p:nvSpPr>
        <p:spPr>
          <a:xfrm>
            <a:off x="566928" y="4203192"/>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Vous demandez une équivalence dans un autre programme.</a:t>
            </a:r>
          </a:p>
        </p:txBody>
      </p:sp>
      <p:sp>
        <p:nvSpPr>
          <p:cNvPr id="24" name="Rounded Rectangle 23"/>
          <p:cNvSpPr/>
          <p:nvPr/>
        </p:nvSpPr>
        <p:spPr>
          <a:xfrm>
            <a:off x="566928" y="4891023"/>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Vous revenez de l'étranger avec un billet d'hôpital.</a:t>
            </a:r>
          </a:p>
        </p:txBody>
      </p:sp>
      <p:sp>
        <p:nvSpPr>
          <p:cNvPr id="28" name="Rounded Rectangle 27"/>
          <p:cNvSpPr/>
          <p:nvPr/>
        </p:nvSpPr>
        <p:spPr>
          <a:xfrm>
            <a:off x="566928" y="557885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Vous voulez changer de groupe.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A4 · Régler une affaire au centre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Quel papier, dans quelle situation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Votre employeur veut une preuve que vous étudiez ici.   </a:t>
            </a:r>
            <a:r>
              <a:rPr sz="1400" b="1" i="0">
                <a:solidFill>
                  <a:srgbClr val="07734A"/>
                </a:solidFill>
                <a:latin typeface="Verdana"/>
              </a:rPr>
              <a:t>» une attestation</a:t>
            </a:r>
          </a:p>
        </p:txBody>
      </p:sp>
      <p:sp>
        <p:nvSpPr>
          <p:cNvPr id="12" name="Rounded Rectangle 11"/>
          <p:cNvSpPr/>
          <p:nvPr/>
        </p:nvSpPr>
        <p:spPr>
          <a:xfrm>
            <a:off x="566928" y="2827528"/>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Vous voulez annoncer une absence de trois semaines.   </a:t>
            </a:r>
            <a:r>
              <a:rPr sz="1400" b="1" i="0">
                <a:solidFill>
                  <a:srgbClr val="07734A"/>
                </a:solidFill>
                <a:latin typeface="Verdana"/>
              </a:rPr>
              <a:t>» un formulaire</a:t>
            </a:r>
          </a:p>
        </p:txBody>
      </p:sp>
      <p:sp>
        <p:nvSpPr>
          <p:cNvPr id="16" name="Rounded Rectangle 15"/>
          <p:cNvSpPr/>
          <p:nvPr/>
        </p:nvSpPr>
        <p:spPr>
          <a:xfrm>
            <a:off x="566928" y="3515359"/>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centre vous confirme les dates de votre absence.   </a:t>
            </a:r>
            <a:r>
              <a:rPr sz="1400" b="1" i="0">
                <a:solidFill>
                  <a:srgbClr val="07734A"/>
                </a:solidFill>
                <a:latin typeface="Verdana"/>
              </a:rPr>
              <a:t>» un avis</a:t>
            </a:r>
          </a:p>
        </p:txBody>
      </p:sp>
      <p:sp>
        <p:nvSpPr>
          <p:cNvPr id="20" name="Rounded Rectangle 19"/>
          <p:cNvSpPr/>
          <p:nvPr/>
        </p:nvSpPr>
        <p:spPr>
          <a:xfrm>
            <a:off x="566928" y="4203192"/>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Vous demandez une équivalence dans un autre programme.   </a:t>
            </a:r>
            <a:r>
              <a:rPr sz="1400" b="1" i="0">
                <a:solidFill>
                  <a:srgbClr val="07734A"/>
                </a:solidFill>
                <a:latin typeface="Verdana"/>
              </a:rPr>
              <a:t>» un relevé</a:t>
            </a:r>
          </a:p>
        </p:txBody>
      </p:sp>
      <p:sp>
        <p:nvSpPr>
          <p:cNvPr id="24" name="Rounded Rectangle 23"/>
          <p:cNvSpPr/>
          <p:nvPr/>
        </p:nvSpPr>
        <p:spPr>
          <a:xfrm>
            <a:off x="566928" y="4891023"/>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Vous revenez de l'étranger avec un billet d'hôpital.   </a:t>
            </a:r>
            <a:r>
              <a:rPr sz="1400" b="1" i="0">
                <a:solidFill>
                  <a:srgbClr val="07734A"/>
                </a:solidFill>
                <a:latin typeface="Verdana"/>
              </a:rPr>
              <a:t>» une pièce justificative</a:t>
            </a:r>
          </a:p>
        </p:txBody>
      </p:sp>
      <p:sp>
        <p:nvSpPr>
          <p:cNvPr id="28" name="Rounded Rectangle 27"/>
          <p:cNvSpPr/>
          <p:nvPr/>
        </p:nvSpPr>
        <p:spPr>
          <a:xfrm>
            <a:off x="566928" y="557885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Vous voulez changer de groupe.   </a:t>
            </a:r>
            <a:r>
              <a:rPr sz="1400" b="1" i="0">
                <a:solidFill>
                  <a:srgbClr val="07734A"/>
                </a:solidFill>
                <a:latin typeface="Verdana"/>
              </a:rPr>
              <a:t>» un formulaire, puis une demande écrite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A4 · Régler une affaire au centre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ÉCRITURE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Votre première phrase de comptoir</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Écrivez-la, puis lisez-la à voix haute à votre voisin.</a:t>
            </a:r>
          </a:p>
        </p:txBody>
      </p:sp>
      <p:sp>
        <p:nvSpPr>
          <p:cNvPr id="8" name="Rounded Rectangle 7"/>
          <p:cNvSpPr/>
          <p:nvPr/>
        </p:nvSpPr>
        <p:spPr>
          <a:xfrm>
            <a:off x="566928" y="2139696"/>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8117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4518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1" name="TextBox 10"/>
          <p:cNvSpPr txBox="1"/>
          <p:nvPr/>
        </p:nvSpPr>
        <p:spPr>
          <a:xfrm>
            <a:off x="1344168" y="2295144"/>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 bonjour, votre nom complet, votre groupe.</a:t>
            </a:r>
          </a:p>
        </p:txBody>
      </p:sp>
      <p:sp>
        <p:nvSpPr>
          <p:cNvPr id="12" name="Rounded Rectangle 11"/>
          <p:cNvSpPr/>
          <p:nvPr/>
        </p:nvSpPr>
        <p:spPr>
          <a:xfrm>
            <a:off x="566928" y="2916428"/>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057905"/>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121913"/>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5" name="TextBox 14"/>
          <p:cNvSpPr txBox="1"/>
          <p:nvPr/>
        </p:nvSpPr>
        <p:spPr>
          <a:xfrm>
            <a:off x="1344168" y="3071876"/>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Ce que vous venez faire, au présent.</a:t>
            </a:r>
          </a:p>
        </p:txBody>
      </p:sp>
      <p:sp>
        <p:nvSpPr>
          <p:cNvPr id="16" name="Rounded Rectangle 15"/>
          <p:cNvSpPr/>
          <p:nvPr/>
        </p:nvSpPr>
        <p:spPr>
          <a:xfrm>
            <a:off x="566928" y="3693160"/>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834638"/>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898646"/>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9" name="TextBox 18"/>
          <p:cNvSpPr txBox="1"/>
          <p:nvPr/>
        </p:nvSpPr>
        <p:spPr>
          <a:xfrm>
            <a:off x="1344168" y="3848608"/>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 document que vous demandez, avec son article.</a:t>
            </a:r>
          </a:p>
        </p:txBody>
      </p:sp>
      <p:sp>
        <p:nvSpPr>
          <p:cNvPr id="20" name="Rounded Rectangle 19"/>
          <p:cNvSpPr/>
          <p:nvPr/>
        </p:nvSpPr>
        <p:spPr>
          <a:xfrm>
            <a:off x="566928" y="4469892"/>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611370"/>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675378"/>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3" name="TextBox 22"/>
          <p:cNvSpPr txBox="1"/>
          <p:nvPr/>
        </p:nvSpPr>
        <p:spPr>
          <a:xfrm>
            <a:off x="1344168" y="4625340"/>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Un remerciement pour terminer.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A4 · Régler une affaire au centre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11</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Écrivez la phrase que vous direz en arrivant au comptoir, en entier.</a:t>
            </a:r>
          </a:p>
        </p:txBody>
      </p:sp>
      <p:sp>
        <p:nvSpPr>
          <p:cNvPr id="8" name="Rounded Rectangle 7"/>
          <p:cNvSpPr/>
          <p:nvPr/>
        </p:nvSpPr>
        <p:spPr>
          <a:xfrm>
            <a:off x="566928" y="3931920"/>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Nom complet, groupe, et ce que vous venez faire.</a:t>
            </a:r>
          </a:p>
        </p:txBody>
      </p:sp>
      <p:sp>
        <p:nvSpPr>
          <p:cNvPr id="10" name="Rounded Rectangle 9"/>
          <p:cNvSpPr/>
          <p:nvPr/>
        </p:nvSpPr>
        <p:spPr>
          <a:xfrm>
            <a:off x="566928" y="4680712"/>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4836160"/>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Vouvoyez. Relisez-la à voix haute avant de la remettre.</a:t>
            </a:r>
          </a:p>
        </p:txBody>
      </p:sp>
      <p:sp>
        <p:nvSpPr>
          <p:cNvPr id="12" name="TextBox 11"/>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A4 · Régler une affaire au centre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