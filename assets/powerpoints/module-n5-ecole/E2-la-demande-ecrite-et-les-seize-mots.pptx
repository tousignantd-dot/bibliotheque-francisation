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Dernière séance du module. Prévoir quarante minutes d'écriture en silence, puis le bilan. Rendre au début les billets de E1 et les rétroactions des productions orales : la comparaison est le vrai moment d'apprentissage de la séance.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deuxième objectif est celui qui distingue une demande d'une plainte : la demande vient avant l'explication. C'est aussi ce que le correcteur regarde en premier.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première question est celle de tout le module : un dossier ne se souvient d'aucune conversation. La quatrième amène la question glissée sur le délai, qui doit se retrouver dans le courriel.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Écrire au tableau deux premières phrases, une qui commence par l'explication et une qui commence par la demande, et faire choisir. Le groupe choisit la seconde.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des sept points de la liste en ligne. Annoncer les critères avant l'écriture, jamais après : un élève qui sait qu'on regarde le subjonctif en écrit un ; celui qui l'apprend à la correction se sent piégé.</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Le module entier tient dans ces quatre cartes, et la demande écrite est le seul endroit où les trois défis se rencontrent. Le dire au groupe avant l'écriture.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la faute la plus fréquente de cette production, et elle n'est pas une faute de langue : c'est une faute de destinataire. La nommer ainsi aide les élèves à la voir.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Huit des seize, ceux que le relevé montre comme les moins sûrs. Faire dire chaque mot avec son article et une phrase. Les huit autres se révisent avec les cartes mémoire de l'activité.</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cocher individuellement, sans ramasser. Proposer à ceux qui hésitent sur deux points ou plus de refaire le défi correspondant dans l'activité interactive : elle reste ouverte après la fin du module.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 pas ramasser celui-ci. Le module a commencé par une femme qui gardait sa nouvelle depuis trois jours sans oser demander ; il se termine par la même question, posée à chacun.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SÉANCE E2  ·  MODULE 14</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La demande écrite, et les seize mots</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Dernière séance. Vous écrivez à monsieur Gauthier pour demander un changement à votre dossier. Rien ne bouge tant que ce courriel n'est pas envoyé : c'est lui qui entre au dossier, pas la conversation d'hier.</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Régler une affaire au centre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Régler une affaire au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écrire une demande de sept à dix phrases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dire ce qu'on demande avant de l'expliquer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employer une phrase emphatique et une phrase au subjonctif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faire le point sur ce qu'on est maintenant capable de faire.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Régler une affaire au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Pourquoi écrire, quand on a déjà parlé ?</a:t>
            </a:r>
          </a:p>
        </p:txBody>
      </p:sp>
      <p:sp>
        <p:nvSpPr>
          <p:cNvPr id="7" name="Rounded Rectangle 6"/>
          <p:cNvSpPr/>
          <p:nvPr/>
        </p:nvSpPr>
        <p:spPr>
          <a:xfrm>
            <a:off x="7424927" y="1719072"/>
            <a:ext cx="4199839" cy="4361688"/>
          </a:xfrm>
          <a:prstGeom prst="roundRect">
            <a:avLst>
              <a:gd name="adj" fmla="val 34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babillard-avis.jpg"/>
          <p:cNvPicPr>
            <a:picLocks noChangeAspect="1"/>
          </p:cNvPicPr>
          <p:nvPr/>
        </p:nvPicPr>
        <p:blipFill>
          <a:blip r:embed="rId2"/>
          <a:stretch>
            <a:fillRect/>
          </a:stretch>
        </p:blipFill>
        <p:spPr>
          <a:xfrm>
            <a:off x="7644383" y="2638438"/>
            <a:ext cx="3760927" cy="2522955"/>
          </a:xfrm>
          <a:prstGeom prst="rect">
            <a:avLst/>
          </a:prstGeom>
        </p:spPr>
      </p:pic>
      <p:sp>
        <p:nvSpPr>
          <p:cNvPr id="9" name="Rounded Rectangle 8"/>
          <p:cNvSpPr/>
          <p:nvPr/>
        </p:nvSpPr>
        <p:spPr>
          <a:xfrm>
            <a:off x="566928" y="1856232"/>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965960"/>
            <a:ext cx="50292" cy="821944"/>
          </a:xfrm>
          <a:prstGeom prst="rect">
            <a:avLst/>
          </a:prstGeom>
          <a:solidFill>
            <a:srgbClr val="A5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50976" y="2039112"/>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qu'un dossier garde, et qu'est-ce qu'il ne garde pas ?</a:t>
            </a:r>
          </a:p>
        </p:txBody>
      </p:sp>
      <p:sp>
        <p:nvSpPr>
          <p:cNvPr id="12" name="Rounded Rectangle 11"/>
          <p:cNvSpPr/>
          <p:nvPr/>
        </p:nvSpPr>
        <p:spPr>
          <a:xfrm>
            <a:off x="566928" y="2979928"/>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3089656"/>
            <a:ext cx="50292" cy="821944"/>
          </a:xfrm>
          <a:prstGeom prst="rect">
            <a:avLst/>
          </a:prstGeom>
          <a:solidFill>
            <a:srgbClr val="A5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0976" y="3162808"/>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Qui lira votre courriel, et combien en a-t-il devant lui ?</a:t>
            </a:r>
          </a:p>
        </p:txBody>
      </p:sp>
      <p:sp>
        <p:nvSpPr>
          <p:cNvPr id="15" name="Rounded Rectangle 14"/>
          <p:cNvSpPr/>
          <p:nvPr/>
        </p:nvSpPr>
        <p:spPr>
          <a:xfrm>
            <a:off x="566928" y="4103624"/>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4213352"/>
            <a:ext cx="50292" cy="821944"/>
          </a:xfrm>
          <a:prstGeom prst="rect">
            <a:avLst/>
          </a:prstGeom>
          <a:solidFill>
            <a:srgbClr val="A5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50976" y="4286504"/>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Pourquoi garder une copie de ce qu'on envoie ?</a:t>
            </a:r>
          </a:p>
        </p:txBody>
      </p:sp>
      <p:sp>
        <p:nvSpPr>
          <p:cNvPr id="18" name="Rounded Rectangle 17"/>
          <p:cNvSpPr/>
          <p:nvPr/>
        </p:nvSpPr>
        <p:spPr>
          <a:xfrm>
            <a:off x="566928" y="5227320"/>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5337048"/>
            <a:ext cx="50292" cy="821944"/>
          </a:xfrm>
          <a:prstGeom prst="rect">
            <a:avLst/>
          </a:prstGeom>
          <a:solidFill>
            <a:srgbClr val="A5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50976" y="5410200"/>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Combien de temps attend-on une réponse, d'habitude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Régler une affaire au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ON ÉCRIT À QUELQU'UN QUI EN A QUARANTE AUTRES DEVANT LUI</a:t>
            </a:r>
          </a:p>
        </p:txBody>
      </p:sp>
      <p:sp>
        <p:nvSpPr>
          <p:cNvPr id="6" name="Rounded Rectangle 5"/>
          <p:cNvSpPr/>
          <p:nvPr/>
        </p:nvSpPr>
        <p:spPr>
          <a:xfrm>
            <a:off x="566928" y="1225296"/>
            <a:ext cx="11057839" cy="1967991"/>
          </a:xfrm>
          <a:prstGeom prst="roundRect">
            <a:avLst>
              <a:gd name="adj" fmla="val 7434"/>
            </a:avLst>
          </a:prstGeom>
          <a:solidFill>
            <a:srgbClr val="FCE9F0"/>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Le motif de la lettre est dans la première phrase, pas dans la dernière.</a:t>
            </a:r>
          </a:p>
        </p:txBody>
      </p:sp>
      <p:sp>
        <p:nvSpPr>
          <p:cNvPr id="8" name="Rounded Rectangle 7"/>
          <p:cNvSpPr/>
          <p:nvPr/>
        </p:nvSpPr>
        <p:spPr>
          <a:xfrm>
            <a:off x="566928" y="3467607"/>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Sept à dix phrases, avec « vous ». Ce que vous demandez vient avant l'explication ; une raison, pas trois — une lettre qui accumule les explications se lit comme une excuse.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Régler une affaire au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LE COURRIEL</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Sept exigences, annoncées d'avance</a:t>
            </a:r>
          </a:p>
        </p:txBody>
      </p:sp>
      <p:sp>
        <p:nvSpPr>
          <p:cNvPr id="7" name="Rounded Rectangle 6"/>
          <p:cNvSpPr/>
          <p:nvPr/>
        </p:nvSpPr>
        <p:spPr>
          <a:xfrm>
            <a:off x="566928" y="1810512"/>
            <a:ext cx="11057839" cy="4178808"/>
          </a:xfrm>
          <a:prstGeom prst="roundRect">
            <a:avLst>
              <a:gd name="adj" fmla="val 350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 PARTIE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QU'ON Y MET</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La première phrase</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salutation, votre nom, votre groupe</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La demande</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dite avant toute explication</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Une phrase emphatique</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ce qui me bloque, c'est…</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Une raison</a:t>
            </a:r>
          </a:p>
        </p:txBody>
      </p:sp>
      <p:sp>
        <p:nvSpPr>
          <p:cNvPr id="20" name="TextBox 19"/>
          <p:cNvSpPr txBox="1"/>
          <p:nvPr/>
        </p:nvSpPr>
        <p:spPr>
          <a:xfrm>
            <a:off x="4443636" y="4014215"/>
            <a:ext cx="6595914"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introduite par « Comme », en tête de phrase</a:t>
            </a:r>
          </a:p>
        </p:txBody>
      </p:sp>
      <p:sp>
        <p:nvSpPr>
          <p:cNvPr id="21" name="Rectangle 20"/>
          <p:cNvSpPr/>
          <p:nvPr/>
        </p:nvSpPr>
        <p:spPr>
          <a:xfrm>
            <a:off x="932688" y="442569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4553712"/>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Une phrase au subjonctif</a:t>
            </a:r>
          </a:p>
        </p:txBody>
      </p:sp>
      <p:sp>
        <p:nvSpPr>
          <p:cNvPr id="23" name="TextBox 22"/>
          <p:cNvSpPr txBox="1"/>
          <p:nvPr/>
        </p:nvSpPr>
        <p:spPr>
          <a:xfrm>
            <a:off x="4443636" y="4553712"/>
            <a:ext cx="6595914"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il faut que… ou pour que…</a:t>
            </a:r>
          </a:p>
        </p:txBody>
      </p:sp>
      <p:sp>
        <p:nvSpPr>
          <p:cNvPr id="24" name="Rectangle 23"/>
          <p:cNvSpPr/>
          <p:nvPr/>
        </p:nvSpPr>
        <p:spPr>
          <a:xfrm>
            <a:off x="932688" y="496519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32688" y="5093207"/>
            <a:ext cx="3291492"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La fin</a:t>
            </a:r>
          </a:p>
        </p:txBody>
      </p:sp>
      <p:sp>
        <p:nvSpPr>
          <p:cNvPr id="26" name="TextBox 25"/>
          <p:cNvSpPr txBox="1"/>
          <p:nvPr/>
        </p:nvSpPr>
        <p:spPr>
          <a:xfrm>
            <a:off x="4443636" y="5093207"/>
            <a:ext cx="6595914" cy="640080"/>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une date d'effet, une question sur le délai, votre numéro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Régler une affaire au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LES TROIS DÉFIS, DANS UN SEUL COURRIEL</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D'où vient chaque phrase</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87096"/>
          </a:xfrm>
          <a:prstGeom prst="rect">
            <a:avLst/>
          </a:prstGeom>
          <a:noFill/>
        </p:spPr>
        <p:txBody>
          <a:bodyPr wrap="square" lIns="0" rIns="0" tIns="0" bIns="0" anchor="t">
            <a:spAutoFit/>
          </a:bodyPr>
          <a:lstStyle/>
          <a:p>
            <a:pPr algn="l">
              <a:lnSpc>
                <a:spcPct val="118000"/>
              </a:lnSpc>
            </a:pPr>
            <a:r>
              <a:rPr sz="2400" b="1" i="0">
                <a:solidFill>
                  <a:srgbClr val="A5335F"/>
                </a:solidFill>
                <a:latin typeface="Verdana"/>
              </a:rPr>
              <a:t>Les dates avant le motif</a:t>
            </a:r>
          </a:p>
        </p:txBody>
      </p:sp>
      <p:sp>
        <p:nvSpPr>
          <p:cNvPr id="9" name="TextBox 8"/>
          <p:cNvSpPr txBox="1"/>
          <p:nvPr/>
        </p:nvSpPr>
        <p:spPr>
          <a:xfrm>
            <a:off x="886968" y="249936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Défi 1 — à partir du 20 avril ; l'ordre du comptoir vaut aussi à l'écrit.</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87096"/>
          </a:xfrm>
          <a:prstGeom prst="rect">
            <a:avLst/>
          </a:prstGeom>
          <a:noFill/>
        </p:spPr>
        <p:txBody>
          <a:bodyPr wrap="square" lIns="0" rIns="0" tIns="0" bIns="0" anchor="t">
            <a:spAutoFit/>
          </a:bodyPr>
          <a:lstStyle/>
          <a:p>
            <a:pPr algn="l">
              <a:lnSpc>
                <a:spcPct val="118000"/>
              </a:lnSpc>
            </a:pPr>
            <a:r>
              <a:rPr sz="2400" b="1" i="0">
                <a:solidFill>
                  <a:srgbClr val="A5335F"/>
                </a:solidFill>
                <a:latin typeface="Verdana"/>
              </a:rPr>
              <a:t>La question glissée</a:t>
            </a:r>
          </a:p>
        </p:txBody>
      </p:sp>
      <p:sp>
        <p:nvSpPr>
          <p:cNvPr id="12" name="TextBox 11"/>
          <p:cNvSpPr txBox="1"/>
          <p:nvPr/>
        </p:nvSpPr>
        <p:spPr>
          <a:xfrm>
            <a:off x="6498183" y="249936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Défi 1 — je voudrais savoir si… Elle ferme le courriel sans le durcir.</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87096"/>
          </a:xfrm>
          <a:prstGeom prst="rect">
            <a:avLst/>
          </a:prstGeom>
          <a:noFill/>
        </p:spPr>
        <p:txBody>
          <a:bodyPr wrap="square" lIns="0" rIns="0" tIns="0" bIns="0" anchor="t">
            <a:spAutoFit/>
          </a:bodyPr>
          <a:lstStyle/>
          <a:p>
            <a:pPr algn="l">
              <a:lnSpc>
                <a:spcPct val="118000"/>
              </a:lnSpc>
            </a:pPr>
            <a:r>
              <a:rPr sz="2400" b="1" i="0">
                <a:solidFill>
                  <a:srgbClr val="A5335F"/>
                </a:solidFill>
                <a:latin typeface="Verdana"/>
              </a:rPr>
              <a:t>L'échéance et la reprise</a:t>
            </a:r>
          </a:p>
        </p:txBody>
      </p:sp>
      <p:sp>
        <p:nvSpPr>
          <p:cNvPr id="15" name="TextBox 14"/>
          <p:cNvSpPr txBox="1"/>
          <p:nvPr/>
        </p:nvSpPr>
        <p:spPr>
          <a:xfrm>
            <a:off x="886968" y="471678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Défi 2 — une date d'effet, et « cette demande » plutôt que le mot répété.</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87096"/>
          </a:xfrm>
          <a:prstGeom prst="rect">
            <a:avLst/>
          </a:prstGeom>
          <a:noFill/>
        </p:spPr>
        <p:txBody>
          <a:bodyPr wrap="square" lIns="0" rIns="0" tIns="0" bIns="0" anchor="t">
            <a:spAutoFit/>
          </a:bodyPr>
          <a:lstStyle/>
          <a:p>
            <a:pPr algn="l">
              <a:lnSpc>
                <a:spcPct val="118000"/>
              </a:lnSpc>
            </a:pPr>
            <a:r>
              <a:rPr sz="2400" b="1" i="0">
                <a:solidFill>
                  <a:srgbClr val="A5335F"/>
                </a:solidFill>
                <a:latin typeface="Verdana"/>
              </a:rPr>
              <a:t>L'emphase et le subjonctif</a:t>
            </a:r>
          </a:p>
        </p:txBody>
      </p:sp>
      <p:sp>
        <p:nvSpPr>
          <p:cNvPr id="18" name="TextBox 17"/>
          <p:cNvSpPr txBox="1"/>
          <p:nvPr/>
        </p:nvSpPr>
        <p:spPr>
          <a:xfrm>
            <a:off x="6498183" y="471678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Défi 3 — ce qui me bloque, c'est… ; pour que je puisse…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Régler une affaire au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COMMENCER PAR L'EXPLICATION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Depuis mon retour, ma vie a beaucoup changé et…</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Je vous écris pour demander un transfert au groupe du soir.</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Le premier courriel se lit dans l'ordre où les choses sont arrivées à celui qui l'écrit. Le second se lit dans l'ordre où elles intéressent celui qui le reçoit. L'explication vient après la demande, toujours.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Régler une affaire au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BILAN DU VOCABULAIRE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Huit des seize mots, une dernière fois</a:t>
            </a:r>
          </a:p>
        </p:txBody>
      </p:sp>
      <p:sp>
        <p:nvSpPr>
          <p:cNvPr id="7" name="Rounded Rectangle 6"/>
          <p:cNvSpPr/>
          <p:nvPr/>
        </p:nvSpPr>
        <p:spPr>
          <a:xfrm>
            <a:off x="566928" y="1810512"/>
            <a:ext cx="11057839" cy="4270248"/>
          </a:xfrm>
          <a:prstGeom prst="roundRect">
            <a:avLst>
              <a:gd name="adj" fmla="val 34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21408"/>
            <a:ext cx="3178111" cy="27317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le secrétariat</a:t>
            </a:r>
          </a:p>
        </p:txBody>
      </p:sp>
      <p:sp>
        <p:nvSpPr>
          <p:cNvPr id="9" name="TextBox 8"/>
          <p:cNvSpPr txBox="1"/>
          <p:nvPr/>
        </p:nvSpPr>
        <p:spPr>
          <a:xfrm>
            <a:off x="4385119" y="2121408"/>
            <a:ext cx="6873887" cy="27317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Le comptoir où l'on remet les papiers et où l'on s'inscrit.</a:t>
            </a:r>
          </a:p>
        </p:txBody>
      </p:sp>
      <p:sp>
        <p:nvSpPr>
          <p:cNvPr id="10" name="Rectangle 9"/>
          <p:cNvSpPr/>
          <p:nvPr/>
        </p:nvSpPr>
        <p:spPr>
          <a:xfrm>
            <a:off x="932688" y="2467737"/>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614041"/>
            <a:ext cx="3178111" cy="27317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une conseillère</a:t>
            </a:r>
          </a:p>
        </p:txBody>
      </p:sp>
      <p:sp>
        <p:nvSpPr>
          <p:cNvPr id="12" name="TextBox 11"/>
          <p:cNvSpPr txBox="1"/>
          <p:nvPr/>
        </p:nvSpPr>
        <p:spPr>
          <a:xfrm>
            <a:off x="4385119" y="2614041"/>
            <a:ext cx="6873887" cy="27317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La personne qui décide des changements au dossier.</a:t>
            </a:r>
          </a:p>
        </p:txBody>
      </p:sp>
      <p:sp>
        <p:nvSpPr>
          <p:cNvPr id="13" name="Rectangle 12"/>
          <p:cNvSpPr/>
          <p:nvPr/>
        </p:nvSpPr>
        <p:spPr>
          <a:xfrm>
            <a:off x="932688" y="296037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106674"/>
            <a:ext cx="3178111" cy="27317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motif</a:t>
            </a:r>
          </a:p>
        </p:txBody>
      </p:sp>
      <p:sp>
        <p:nvSpPr>
          <p:cNvPr id="15" name="TextBox 14"/>
          <p:cNvSpPr txBox="1"/>
          <p:nvPr/>
        </p:nvSpPr>
        <p:spPr>
          <a:xfrm>
            <a:off x="4385119" y="3106674"/>
            <a:ext cx="6873887" cy="27317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La raison qu'on donne pour justifier une absence.</a:t>
            </a:r>
          </a:p>
        </p:txBody>
      </p:sp>
      <p:sp>
        <p:nvSpPr>
          <p:cNvPr id="16" name="Rectangle 15"/>
          <p:cNvSpPr/>
          <p:nvPr/>
        </p:nvSpPr>
        <p:spPr>
          <a:xfrm>
            <a:off x="932688" y="345300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3599307"/>
            <a:ext cx="3178111" cy="27317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une pièce justificative</a:t>
            </a:r>
          </a:p>
        </p:txBody>
      </p:sp>
      <p:sp>
        <p:nvSpPr>
          <p:cNvPr id="18" name="TextBox 17"/>
          <p:cNvSpPr txBox="1"/>
          <p:nvPr/>
        </p:nvSpPr>
        <p:spPr>
          <a:xfrm>
            <a:off x="4385119" y="3599307"/>
            <a:ext cx="6873887" cy="27317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Le papier qui prouve le motif : un billet, une lettre.</a:t>
            </a:r>
          </a:p>
        </p:txBody>
      </p:sp>
      <p:sp>
        <p:nvSpPr>
          <p:cNvPr id="19" name="Rectangle 18"/>
          <p:cNvSpPr/>
          <p:nvPr/>
        </p:nvSpPr>
        <p:spPr>
          <a:xfrm>
            <a:off x="932688" y="3945635"/>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32688" y="4091939"/>
            <a:ext cx="3178111" cy="27317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une échéance</a:t>
            </a:r>
          </a:p>
        </p:txBody>
      </p:sp>
      <p:sp>
        <p:nvSpPr>
          <p:cNvPr id="21" name="TextBox 20"/>
          <p:cNvSpPr txBox="1"/>
          <p:nvPr/>
        </p:nvSpPr>
        <p:spPr>
          <a:xfrm>
            <a:off x="4385119" y="4091939"/>
            <a:ext cx="6873887" cy="27317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La date limite : après elle, la demande n'est plus reçue.</a:t>
            </a:r>
          </a:p>
        </p:txBody>
      </p:sp>
      <p:sp>
        <p:nvSpPr>
          <p:cNvPr id="22" name="Rectangle 21"/>
          <p:cNvSpPr/>
          <p:nvPr/>
        </p:nvSpPr>
        <p:spPr>
          <a:xfrm>
            <a:off x="932688" y="4438269"/>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32688" y="4584573"/>
            <a:ext cx="3178111" cy="27317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transfert</a:t>
            </a:r>
          </a:p>
        </p:txBody>
      </p:sp>
      <p:sp>
        <p:nvSpPr>
          <p:cNvPr id="24" name="TextBox 23"/>
          <p:cNvSpPr txBox="1"/>
          <p:nvPr/>
        </p:nvSpPr>
        <p:spPr>
          <a:xfrm>
            <a:off x="4385119" y="4584573"/>
            <a:ext cx="6873887" cy="273176"/>
          </a:xfrm>
          <a:prstGeom prst="rect">
            <a:avLst/>
          </a:prstGeom>
          <a:noFill/>
        </p:spPr>
        <p:txBody>
          <a:bodyPr wrap="square" lIns="0" rIns="0" tIns="0" bIns="0" anchor="t">
            <a:spAutoFit/>
          </a:bodyPr>
          <a:lstStyle/>
          <a:p>
            <a:pPr algn="l">
              <a:lnSpc>
                <a:spcPct val="135000"/>
              </a:lnSpc>
            </a:pPr>
            <a:r>
              <a:rPr sz="1700" b="0" i="0">
                <a:solidFill>
                  <a:srgbClr val="4B4F52"/>
                </a:solidFill>
                <a:latin typeface="Verdana"/>
              </a:rPr>
              <a:t>Le passage d'un groupe à un autre, sans changer de cours.</a:t>
            </a:r>
          </a:p>
        </p:txBody>
      </p:sp>
      <p:sp>
        <p:nvSpPr>
          <p:cNvPr id="25" name="Rectangle 24"/>
          <p:cNvSpPr/>
          <p:nvPr/>
        </p:nvSpPr>
        <p:spPr>
          <a:xfrm>
            <a:off x="932688" y="493090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32688" y="5077206"/>
            <a:ext cx="3178111" cy="27317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une attestation</a:t>
            </a:r>
          </a:p>
        </p:txBody>
      </p:sp>
      <p:sp>
        <p:nvSpPr>
          <p:cNvPr id="27" name="TextBox 26"/>
          <p:cNvSpPr txBox="1"/>
          <p:nvPr/>
        </p:nvSpPr>
        <p:spPr>
          <a:xfrm>
            <a:off x="4385119" y="5077206"/>
            <a:ext cx="6873887" cy="27317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Le papier qui dit que vous êtes inscrit ici en ce moment.</a:t>
            </a:r>
          </a:p>
        </p:txBody>
      </p:sp>
      <p:sp>
        <p:nvSpPr>
          <p:cNvPr id="28" name="Rectangle 27"/>
          <p:cNvSpPr/>
          <p:nvPr/>
        </p:nvSpPr>
        <p:spPr>
          <a:xfrm>
            <a:off x="932688" y="5423535"/>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32688" y="5569839"/>
            <a:ext cx="3178111" cy="27317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délai</a:t>
            </a:r>
          </a:p>
        </p:txBody>
      </p:sp>
      <p:sp>
        <p:nvSpPr>
          <p:cNvPr id="30" name="TextBox 29"/>
          <p:cNvSpPr txBox="1"/>
          <p:nvPr/>
        </p:nvSpPr>
        <p:spPr>
          <a:xfrm>
            <a:off x="4385119" y="5569839"/>
            <a:ext cx="6873887" cy="27317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Le temps que prend une démarche avant d'aboutir.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Régler une affaire au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BILAN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Êtes-vous maintenant capable de…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Répondez pour vous-même, honnêtement.</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Savoir à quelle porte frapper dans un centre ?</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Annoncer une absence prévue, dans l'ordre ?</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Glisser une question polie dans une phrase ?</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Trouver l'échéance d'un avis officiel ?</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Demander un changement sans vous plaindre ?</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Écrire une demande qui entre au dossier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Régler une affaire au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Êtes-vous maintenant capable de…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Savoir à quelle porte frapper dans un centre ?   </a:t>
            </a:r>
            <a:r>
              <a:rPr sz="1400" b="1" i="0">
                <a:solidFill>
                  <a:srgbClr val="07734A"/>
                </a:solidFill>
                <a:latin typeface="Verdana"/>
              </a:rPr>
              <a:t>» secrétariat ou conseiller</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Annoncer une absence prévue, dans l'ordre ?   </a:t>
            </a:r>
            <a:r>
              <a:rPr sz="1400" b="1" i="0">
                <a:solidFill>
                  <a:srgbClr val="07734A"/>
                </a:solidFill>
                <a:latin typeface="Verdana"/>
              </a:rPr>
              <a:t>» les dates avant le motif</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Glisser une question polie dans une phrase ?   </a:t>
            </a:r>
            <a:r>
              <a:rPr sz="1400" b="1" i="0">
                <a:solidFill>
                  <a:srgbClr val="07734A"/>
                </a:solidFill>
                <a:latin typeface="Verdana"/>
              </a:rPr>
              <a:t>» je voudrais savoir si…</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Trouver l'échéance d'un avis officiel ?   </a:t>
            </a:r>
            <a:r>
              <a:rPr sz="1400" b="1" i="0">
                <a:solidFill>
                  <a:srgbClr val="07734A"/>
                </a:solidFill>
                <a:latin typeface="Verdana"/>
              </a:rPr>
              <a:t>» une seule date sur trois</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Demander un changement sans vous plaindre ?   </a:t>
            </a:r>
            <a:r>
              <a:rPr sz="1400" b="1" i="0">
                <a:solidFill>
                  <a:srgbClr val="07734A"/>
                </a:solidFill>
                <a:latin typeface="Verdana"/>
              </a:rPr>
              <a:t>» nommer ce qui bloque</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Écrire une demande qui entre au dossier ?   </a:t>
            </a:r>
            <a:r>
              <a:rPr sz="1400" b="1" i="0">
                <a:solidFill>
                  <a:srgbClr val="07734A"/>
                </a:solidFill>
                <a:latin typeface="Verdana"/>
              </a:rPr>
              <a:t>» et en garder une copie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Régler une affaire au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En une phrase : quelle démarche allez-vous faire cette semaine, et auprès de qui ?</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Une vraie démarche, dans votre vraie vie.</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Gardez ce billet : c'est le seul du module qui ne se corrige pas.</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Régler une affaire au centre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