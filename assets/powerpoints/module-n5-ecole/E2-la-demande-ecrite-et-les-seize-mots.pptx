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Prévoir quarante minutes d'écriture en silence, puis le bilan. Rendre au début les billets de E1 et les rétroactions des productions orales : la comparaison est le vrai moment d'apprentissage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qui distingue une demande d'une plainte : la demande vient avant l'explication. C'est aussi ce que le correcteur regarde en premier.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première question est celle de tout le module : un dossier ne se souvient d'aucune conversation. La quatrième amène la question glissée sur le délai, qui doit se retrouver dans le courriel.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Écrire au tableau deux premières phrases, une qui commence par l'explication et une qui commence par la demande, et faire choisir. Le groupe choisit la seconde.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des sept points de la liste en ligne. Annoncer les critères avant l'écriture, jamais après : un élève qui sait qu'on regarde le subjonctif en écrit un ; celui qui l'apprend à la correction se sent piégé.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module entier tient dans ces quatre cartes, et la demande écrite est le seul endroit où les trois défis se rencontrent. Le dire au groupe avant l'écriture.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faute la plus fréquente de cette production, et elle n'est pas une faute de langue : c'est une faute de destinataire. La nommer ainsi aide les élèves à la 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Huit des seize, ceux que le relevé montre comme les moins sûrs. Faire dire chaque mot avec son article et une phrase. Les huit autres se révisent avec les cartes mémoire de l'activité.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cocher individuellement, sans ramasser. Proposer à ceux qui hésitent sur deux points ou plus de refaire le défi correspondant dans l'activité interactive : elle reste ouverte après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ramasser celui-ci. Le module a commencé par une femme qui gardait sa nouvelle depuis trois jours sans oser demander ; il se termine par la même question, posée à chacun.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14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demande écrite, et les seize mots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Vous écrivez à monsieur Gauthier pour demander un changement à votre dossier. Rien ne bouge tant que ce courriel n'est pas envoyé : c'est lui qui entre au dossier, pas la conversation d'hier.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Régler une affaire au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une demande de sept à dix phrases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qu'on demande avant de l'expliquer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une phrase emphatique et une phrase au subjonctif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faire le point sur ce qu'on est maintenant capable de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écrire, quand on a déjà parlé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abillard-avis.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qu'un dossier garde, et qu'est-ce qu'il ne garde pas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lira votre courriel, et combien en a-t-il devant lui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garder une copie de ce qu'on envoie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attend-on une réponse, d'habitude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ON ÉCRIT À QUELQU'UN QUI EN A QUARANTE AUTRES DEVANT LUI</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motif de la lettre est dans la première phrase, pas dans la dernière.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Sept à dix phrases, avec « vous ». Ce que vous demandez vient avant l'explication ; une raison, pas trois — une lettre qui accumule les explications se lit comme une excuse.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COURRIEL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Sept exigences, annoncées d'avance</a:t>
            </a:r>
          </a:p>
        </p:txBody>
      </p:sp>
      <p:sp>
        <p:nvSpPr>
          <p:cNvPr id="7" name="Rounded Rectangle 6"/>
          <p:cNvSpPr/>
          <p:nvPr/>
        </p:nvSpPr>
        <p:spPr>
          <a:xfrm>
            <a:off x="566928" y="1810512"/>
            <a:ext cx="11057839" cy="4178808"/>
          </a:xfrm>
          <a:prstGeom prst="roundRect">
            <a:avLst>
              <a:gd name="adj" fmla="val 350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MET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première phrase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salutation, votre nom, votre groupe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demande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dite avant toute explication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phrase emphatique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qui me bloque, c'est…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raison</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introduite par « Comme », en tête de phrase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phrase au subjonctif</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il faut que… ou pour que…</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fin</a:t>
            </a:r>
          </a:p>
        </p:txBody>
      </p:sp>
      <p:sp>
        <p:nvSpPr>
          <p:cNvPr id="26" name="TextBox 25"/>
          <p:cNvSpPr txBox="1"/>
          <p:nvPr/>
        </p:nvSpPr>
        <p:spPr>
          <a:xfrm>
            <a:off x="4443636" y="5093207"/>
            <a:ext cx="6595914"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date d'effet, une question sur le délai, votre numéro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TROIS DÉFIS, DANS UN SEUL COURRIEL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D'où vient chaque phrase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Les dates avant le motif</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Défi 1 — à partir du 20 avril ; l'ordre du comptoir vaut aussi à l'écrit.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La question glissée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Défi 1 — je voudrais savoir si… Elle ferme le courriel sans le durcir.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L'échéance et la reprise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Défi 2 — une date d'effet, et « cette demande » plutôt que le mot répété.</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L'emphase et le subjonctif</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Défi 3 — ce qui me bloque, c'est… ; pour que je puisse…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COMMENCER PAR L'EXPLICATION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Depuis mon retour, ma vie a beaucoup changé et…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vous écris pour demander un transfert au groupe du soir.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premier courriel se lit dans l'ordre où les choses sont arrivées à celui qui l'écrit. Le second se lit dans l'ordre où elles intéressent celui qui le reçoit. L'explication vient après la demande, toujours.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 DU 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Huit des seize mots, une dernière fois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secrétariat</a:t>
            </a:r>
          </a:p>
        </p:txBody>
      </p:sp>
      <p:sp>
        <p:nvSpPr>
          <p:cNvPr id="9" name="TextBox 8"/>
          <p:cNvSpPr txBox="1"/>
          <p:nvPr/>
        </p:nvSpPr>
        <p:spPr>
          <a:xfrm>
            <a:off x="4385119" y="2121408"/>
            <a:ext cx="6873887"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comptoir où l'on remet les papiers et où l'on s'inscrit.</a:t>
            </a:r>
          </a:p>
        </p:txBody>
      </p:sp>
      <p:sp>
        <p:nvSpPr>
          <p:cNvPr id="10" name="Rectangle 9"/>
          <p:cNvSpPr/>
          <p:nvPr/>
        </p:nvSpPr>
        <p:spPr>
          <a:xfrm>
            <a:off x="932688" y="2467737"/>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14041"/>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conseillère</a:t>
            </a:r>
          </a:p>
        </p:txBody>
      </p:sp>
      <p:sp>
        <p:nvSpPr>
          <p:cNvPr id="12" name="TextBox 11"/>
          <p:cNvSpPr txBox="1"/>
          <p:nvPr/>
        </p:nvSpPr>
        <p:spPr>
          <a:xfrm>
            <a:off x="4385119" y="2614041"/>
            <a:ext cx="6873887"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décide des changements au dossier.</a:t>
            </a:r>
          </a:p>
        </p:txBody>
      </p:sp>
      <p:sp>
        <p:nvSpPr>
          <p:cNvPr id="13" name="Rectangle 12"/>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106674"/>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motif</a:t>
            </a:r>
          </a:p>
        </p:txBody>
      </p:sp>
      <p:sp>
        <p:nvSpPr>
          <p:cNvPr id="15" name="TextBox 14"/>
          <p:cNvSpPr txBox="1"/>
          <p:nvPr/>
        </p:nvSpPr>
        <p:spPr>
          <a:xfrm>
            <a:off x="4385119" y="3106674"/>
            <a:ext cx="6873887"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raison qu'on donne pour justifier une absence.</a:t>
            </a:r>
          </a:p>
        </p:txBody>
      </p:sp>
      <p:sp>
        <p:nvSpPr>
          <p:cNvPr id="16" name="Rectangle 15"/>
          <p:cNvSpPr/>
          <p:nvPr/>
        </p:nvSpPr>
        <p:spPr>
          <a:xfrm>
            <a:off x="932688" y="34530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3599307"/>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pièce justificative</a:t>
            </a:r>
          </a:p>
        </p:txBody>
      </p:sp>
      <p:sp>
        <p:nvSpPr>
          <p:cNvPr id="18" name="TextBox 17"/>
          <p:cNvSpPr txBox="1"/>
          <p:nvPr/>
        </p:nvSpPr>
        <p:spPr>
          <a:xfrm>
            <a:off x="4385119" y="3599307"/>
            <a:ext cx="6873887"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papier qui prouve le motif : un billet, une lettre.</a:t>
            </a:r>
          </a:p>
        </p:txBody>
      </p:sp>
      <p:sp>
        <p:nvSpPr>
          <p:cNvPr id="19" name="Rectangle 18"/>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091939"/>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échéance</a:t>
            </a:r>
          </a:p>
        </p:txBody>
      </p:sp>
      <p:sp>
        <p:nvSpPr>
          <p:cNvPr id="21" name="TextBox 20"/>
          <p:cNvSpPr txBox="1"/>
          <p:nvPr/>
        </p:nvSpPr>
        <p:spPr>
          <a:xfrm>
            <a:off x="4385119" y="4091939"/>
            <a:ext cx="6873887"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date limite : après elle, la demande n'est plus reçue.</a:t>
            </a:r>
          </a:p>
        </p:txBody>
      </p:sp>
      <p:sp>
        <p:nvSpPr>
          <p:cNvPr id="22" name="Rectangle 21"/>
          <p:cNvSpPr/>
          <p:nvPr/>
        </p:nvSpPr>
        <p:spPr>
          <a:xfrm>
            <a:off x="932688" y="443826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584573"/>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transfert</a:t>
            </a:r>
          </a:p>
        </p:txBody>
      </p:sp>
      <p:sp>
        <p:nvSpPr>
          <p:cNvPr id="24" name="TextBox 23"/>
          <p:cNvSpPr txBox="1"/>
          <p:nvPr/>
        </p:nvSpPr>
        <p:spPr>
          <a:xfrm>
            <a:off x="4385119" y="4584573"/>
            <a:ext cx="6873887" cy="27317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Le passage d'un groupe à un autre, sans changer de cours.</a:t>
            </a:r>
          </a:p>
        </p:txBody>
      </p:sp>
      <p:sp>
        <p:nvSpPr>
          <p:cNvPr id="25" name="Rectangle 24"/>
          <p:cNvSpPr/>
          <p:nvPr/>
        </p:nvSpPr>
        <p:spPr>
          <a:xfrm>
            <a:off x="932688" y="49309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5077206"/>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attestation</a:t>
            </a:r>
          </a:p>
        </p:txBody>
      </p:sp>
      <p:sp>
        <p:nvSpPr>
          <p:cNvPr id="27" name="TextBox 26"/>
          <p:cNvSpPr txBox="1"/>
          <p:nvPr/>
        </p:nvSpPr>
        <p:spPr>
          <a:xfrm>
            <a:off x="4385119" y="5077206"/>
            <a:ext cx="6873887"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papier qui dit que vous êtes inscrit ici en ce moment.</a:t>
            </a:r>
          </a:p>
        </p:txBody>
      </p:sp>
      <p:sp>
        <p:nvSpPr>
          <p:cNvPr id="28" name="Rectangle 27"/>
          <p:cNvSpPr/>
          <p:nvPr/>
        </p:nvSpPr>
        <p:spPr>
          <a:xfrm>
            <a:off x="932688" y="54235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32688" y="5569839"/>
            <a:ext cx="3178111"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délai</a:t>
            </a:r>
          </a:p>
        </p:txBody>
      </p:sp>
      <p:sp>
        <p:nvSpPr>
          <p:cNvPr id="30" name="TextBox 29"/>
          <p:cNvSpPr txBox="1"/>
          <p:nvPr/>
        </p:nvSpPr>
        <p:spPr>
          <a:xfrm>
            <a:off x="4385119" y="5569839"/>
            <a:ext cx="6873887"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temps que prend une démarche avant d'aboutir.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pour vous-même, honnêtement.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Savoir à quelle porte frapper dans un centre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Annoncer une absence prévue, dans l'ordre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Glisser une question polie dans une phrase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Trouver l'échéance d'un avis officiel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Demander un changement sans vous plaindre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Écrire une demande qui entre au dossier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Savoir à quelle porte frapper dans un centre ?   </a:t>
            </a:r>
            <a:r>
              <a:rPr sz="1400" b="1" i="0">
                <a:solidFill>
                  <a:srgbClr val="07734A"/>
                </a:solidFill>
                <a:latin typeface="Verdana"/>
              </a:rPr>
              <a:t>» secrétariat ou conseiller</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Annoncer une absence prévue, dans l'ordre ?   </a:t>
            </a:r>
            <a:r>
              <a:rPr sz="1400" b="1" i="0">
                <a:solidFill>
                  <a:srgbClr val="07734A"/>
                </a:solidFill>
                <a:latin typeface="Verdana"/>
              </a:rPr>
              <a:t>» les dates avant le motif</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Glisser une question polie dans une phrase ?   </a:t>
            </a:r>
            <a:r>
              <a:rPr sz="1400" b="1" i="0">
                <a:solidFill>
                  <a:srgbClr val="07734A"/>
                </a:solidFill>
                <a:latin typeface="Verdana"/>
              </a:rPr>
              <a:t>» je voudrais savoir si…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Trouver l'échéance d'un avis officiel ?   </a:t>
            </a:r>
            <a:r>
              <a:rPr sz="1400" b="1" i="0">
                <a:solidFill>
                  <a:srgbClr val="07734A"/>
                </a:solidFill>
                <a:latin typeface="Verdana"/>
              </a:rPr>
              <a:t>» une seule date sur trois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Demander un changement sans vous plaindre ?   </a:t>
            </a:r>
            <a:r>
              <a:rPr sz="1400" b="1" i="0">
                <a:solidFill>
                  <a:srgbClr val="07734A"/>
                </a:solidFill>
                <a:latin typeface="Verdana"/>
              </a:rPr>
              <a:t>» nommer ce qui bloque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Écrire une demande qui entre au dossier ?   </a:t>
            </a:r>
            <a:r>
              <a:rPr sz="1400" b="1" i="0">
                <a:solidFill>
                  <a:srgbClr val="07734A"/>
                </a:solidFill>
                <a:latin typeface="Verdana"/>
              </a:rPr>
              <a:t>» et en garder une copie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quelle démarche allez-vous faire cette semaine, et auprès de qui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vraie démarche, dans votre vraie vie.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Gardez ce billet : c'est le seul du module qui ne se corrige pas.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Régler une affaire au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