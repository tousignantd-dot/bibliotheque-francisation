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Ouvrir en demandant à main levée qui, dans le groupe, a déjà eu à régler une affaire au bureau du centre — une absence, un changement d'horaire, un papier à obtenir. Puis demander qui a hésité plusieurs jours avant d'y aller. Les deux mains montent presque autant l'une que l'autre, et c'est là qu'est le module.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premier objectif est le vrai contenu de la séance. Les trois autres le servent. Un élève qui sait que l'enseignante ne décide pas des absences a déjà gagné une semaine.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piste est la plus utile. Personne n'a jamais dit aux élèves qu'un comptoir donne environ deux minutes. Le savoir change complètement la façon dont on prépare ce qu'on va dire.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la première question de Koffi : il trie avant de conseiller. « Un problème de cours ou un problème de papiers ? » est la question que chaque élève devrait se poser à lui-même en premier.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Je n'ose pas déranger le monde » est la phrase à relever. Beaucoup d'élèves la portent. Répondre franchement : le secrétariat est là pour ça, et ne rien dire coûte plus cher à tout le monde qu'une question.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réplique porte deux choses : la règle du module — prévenir d'avance conserve la place — et la bascule du tutoiement au vouvoiement. C'est le seul dialogue du module où l'on tutoie. Le dire au groupe.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Elle revient en B1 et en D1. Faire donner par le groupe trois exemples de questions pour chaque porte.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avec l'article. « Un local » surprend : beaucoup d'élèves disent « une classe ». Les deux se comprennent, mais c'est « local 118 » qui est écrit sur l'avis qu'ils recevront en bloc 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compléter la colonne de droite avant de l'afficher. Ne pas présenter la colonne de gauche comme fautive : elle est juste, et elle est ce qu'on dit entre soi. C'est l'endroit qui change.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piège-là est le vrai obstacle du module. Il n'est pas dû à un manque de vocabulaire : il vient de ce que l'enseignante est la seule personne que l'élève connaît dans l'établissement.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réponse par la réplique exacte. La quatrième est celle que le groupe manque : on retient « madame Paradis » parce que c'est le premier nom entendu.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les billets : ils servent en A4, où chacun écrira sa première phrase de comptoir à partir de sa propre affaire.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14</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 Il faut que tu ailles au secrétariat »</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Amelia Dumitrescu est arrivée de Roumanie il y a deux ans. Sa mère sera opérée à Bucarest au mois de mars, et il faudra qu'elle parte trois semaines. Elle le sait depuis trois jours et elle n'a encore rien dit à personne : elle ne sait pas à quelle porte frapper.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Régler une affaire au centre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à qui s'adresser dans un centre selon la question qu'on a ;</a:t>
            </a:r>
          </a:p>
        </p:txBody>
      </p:sp>
      <p:sp>
        <p:nvSpPr>
          <p:cNvPr id="11" name="Rounded Rectangle 10"/>
          <p:cNvSpPr/>
          <p:nvPr/>
        </p:nvSpPr>
        <p:spPr>
          <a:xfrm>
            <a:off x="566928" y="2650744"/>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0063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0886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lieux et les personnes : le secrétariat, la conseillère, un local ;</a:t>
            </a:r>
          </a:p>
        </p:txBody>
      </p:sp>
      <p:sp>
        <p:nvSpPr>
          <p:cNvPr id="15" name="Rounded Rectangle 14"/>
          <p:cNvSpPr/>
          <p:nvPr/>
        </p:nvSpPr>
        <p:spPr>
          <a:xfrm>
            <a:off x="566928" y="3892296"/>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2478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3301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4093464"/>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une conversation entre deux élèves sur une démarche à faire ;</a:t>
            </a:r>
          </a:p>
        </p:txBody>
      </p:sp>
      <p:sp>
        <p:nvSpPr>
          <p:cNvPr id="19" name="Rounded Rectangle 18"/>
          <p:cNvSpPr/>
          <p:nvPr/>
        </p:nvSpPr>
        <p:spPr>
          <a:xfrm>
            <a:off x="566928" y="51338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53116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3939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53350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ce qu'on tutoie de ce qu'on vouvoie dans un établissement.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Un comptoir, une file au sol, une vitre. Qu'est-ce qu'on vient y faire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omptoir-secretariat.jpg"/>
          <p:cNvPicPr>
            <a:picLocks noChangeAspect="1"/>
          </p:cNvPicPr>
          <p:nvPr/>
        </p:nvPicPr>
        <p:blipFill>
          <a:blip r:embed="rId2"/>
          <a:stretch>
            <a:fillRect/>
          </a:stretch>
        </p:blipFill>
        <p:spPr>
          <a:xfrm>
            <a:off x="7644383" y="2638438"/>
            <a:ext cx="3760927" cy="2522955"/>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qu'on peut demander à ce comptoir, et qu'est-ce qu'on ne peut pas ?</a:t>
            </a:r>
          </a:p>
        </p:txBody>
      </p:sp>
      <p:sp>
        <p:nvSpPr>
          <p:cNvPr id="12" name="Rounded Rectangle 11"/>
          <p:cNvSpPr/>
          <p:nvPr/>
        </p:nvSpPr>
        <p:spPr>
          <a:xfrm>
            <a:off x="566928" y="297992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qu'on tutoie ou est-ce qu'on vouvoie la personne derrière la vitre ?</a:t>
            </a:r>
          </a:p>
        </p:txBody>
      </p:sp>
      <p:sp>
        <p:nvSpPr>
          <p:cNvPr id="15" name="Rounded Rectangle 14"/>
          <p:cNvSpPr/>
          <p:nvPr/>
        </p:nvSpPr>
        <p:spPr>
          <a:xfrm>
            <a:off x="566928" y="410362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4213352"/>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428650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temps avez-vous, à votre avis, quand il y a du monde derrière vous ?</a:t>
            </a:r>
          </a:p>
        </p:txBody>
      </p:sp>
      <p:sp>
        <p:nvSpPr>
          <p:cNvPr id="18" name="Rounded Rectangle 17"/>
          <p:cNvSpPr/>
          <p:nvPr/>
        </p:nvSpPr>
        <p:spPr>
          <a:xfrm>
            <a:off x="566928" y="522732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5337048"/>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41020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vous apportez avec vous quand vous y allez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Je ne sais pas à qui parler</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292828"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AMELIA</a:t>
            </a:r>
          </a:p>
        </p:txBody>
      </p:sp>
      <p:sp>
        <p:nvSpPr>
          <p:cNvPr id="10" name="TextBox 9"/>
          <p:cNvSpPr txBox="1"/>
          <p:nvPr/>
        </p:nvSpPr>
        <p:spPr>
          <a:xfrm>
            <a:off x="2225516" y="2322576"/>
            <a:ext cx="8850610"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Koffi, je ne sais pas à qui parler. J'ai un problème et il dure.</a:t>
            </a:r>
          </a:p>
        </p:txBody>
      </p:sp>
      <p:sp>
        <p:nvSpPr>
          <p:cNvPr id="11" name="Rounded Rectangle 10"/>
          <p:cNvSpPr/>
          <p:nvPr/>
        </p:nvSpPr>
        <p:spPr>
          <a:xfrm>
            <a:off x="566928" y="29072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292828"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KOFFI</a:t>
            </a:r>
          </a:p>
        </p:txBody>
      </p:sp>
      <p:sp>
        <p:nvSpPr>
          <p:cNvPr id="13" name="TextBox 12"/>
          <p:cNvSpPr txBox="1"/>
          <p:nvPr/>
        </p:nvSpPr>
        <p:spPr>
          <a:xfrm>
            <a:off x="2225516" y="3071876"/>
            <a:ext cx="8850610"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problème de cours ou un problème de papiers ?</a:t>
            </a:r>
          </a:p>
        </p:txBody>
      </p:sp>
      <p:sp>
        <p:nvSpPr>
          <p:cNvPr id="14" name="Rounded Rectangle 13"/>
          <p:cNvSpPr/>
          <p:nvPr/>
        </p:nvSpPr>
        <p:spPr>
          <a:xfrm>
            <a:off x="566928" y="36565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1292828"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AMELIA</a:t>
            </a:r>
          </a:p>
        </p:txBody>
      </p:sp>
      <p:sp>
        <p:nvSpPr>
          <p:cNvPr id="16" name="TextBox 15"/>
          <p:cNvSpPr txBox="1"/>
          <p:nvPr/>
        </p:nvSpPr>
        <p:spPr>
          <a:xfrm>
            <a:off x="2225516" y="3821175"/>
            <a:ext cx="8850610"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 papiers. Je dois m'absenter trois semaines au mois de mars.</a:t>
            </a:r>
          </a:p>
        </p:txBody>
      </p:sp>
      <p:sp>
        <p:nvSpPr>
          <p:cNvPr id="17" name="Rounded Rectangle 16"/>
          <p:cNvSpPr/>
          <p:nvPr/>
        </p:nvSpPr>
        <p:spPr>
          <a:xfrm>
            <a:off x="566928" y="44058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570475"/>
            <a:ext cx="1292828"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KOFFI</a:t>
            </a:r>
          </a:p>
        </p:txBody>
      </p:sp>
      <p:sp>
        <p:nvSpPr>
          <p:cNvPr id="19" name="TextBox 18"/>
          <p:cNvSpPr txBox="1"/>
          <p:nvPr/>
        </p:nvSpPr>
        <p:spPr>
          <a:xfrm>
            <a:off x="2225516" y="4570475"/>
            <a:ext cx="8850610"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Trois semaines ! Alors ce n'est pas ton enseignante qu'il faut voir.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secrétariat, en avant, à droite</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292828"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AMELIA</a:t>
            </a:r>
          </a:p>
        </p:txBody>
      </p:sp>
      <p:sp>
        <p:nvSpPr>
          <p:cNvPr id="9" name="TextBox 8"/>
          <p:cNvSpPr txBox="1"/>
          <p:nvPr/>
        </p:nvSpPr>
        <p:spPr>
          <a:xfrm>
            <a:off x="2225516" y="1901952"/>
            <a:ext cx="8850610"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qui, d'abord ? Je n'ose pas déranger le monde.</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292828"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KOFFI</a:t>
            </a:r>
          </a:p>
        </p:txBody>
      </p:sp>
      <p:sp>
        <p:nvSpPr>
          <p:cNvPr id="12" name="TextBox 11"/>
          <p:cNvSpPr txBox="1"/>
          <p:nvPr/>
        </p:nvSpPr>
        <p:spPr>
          <a:xfrm>
            <a:off x="2225516" y="2651252"/>
            <a:ext cx="8850610"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secrétariat, en avant, à droite en entrant. C'est madame Paradis.</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292828"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AMELIA</a:t>
            </a:r>
          </a:p>
        </p:txBody>
      </p:sp>
      <p:sp>
        <p:nvSpPr>
          <p:cNvPr id="15" name="TextBox 14"/>
          <p:cNvSpPr txBox="1"/>
          <p:nvPr/>
        </p:nvSpPr>
        <p:spPr>
          <a:xfrm>
            <a:off x="2225516" y="3400551"/>
            <a:ext cx="8850610"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s'occupe de quoi, exactement ?</a:t>
            </a:r>
          </a:p>
        </p:txBody>
      </p:sp>
      <p:sp>
        <p:nvSpPr>
          <p:cNvPr id="16" name="Rounded Rectangle 15"/>
          <p:cNvSpPr/>
          <p:nvPr/>
        </p:nvSpPr>
        <p:spPr>
          <a:xfrm>
            <a:off x="566928" y="39852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1292828"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KOFFI</a:t>
            </a:r>
          </a:p>
        </p:txBody>
      </p:sp>
      <p:sp>
        <p:nvSpPr>
          <p:cNvPr id="18" name="TextBox 17"/>
          <p:cNvSpPr txBox="1"/>
          <p:nvPr/>
        </p:nvSpPr>
        <p:spPr>
          <a:xfrm>
            <a:off x="2225516" y="4149851"/>
            <a:ext cx="8850610"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Des dossiers. Les absences, les inscriptions, les attestations.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Vouvoie-les</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292828"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AMELIA</a:t>
            </a:r>
          </a:p>
        </p:txBody>
      </p:sp>
      <p:sp>
        <p:nvSpPr>
          <p:cNvPr id="9" name="TextBox 8"/>
          <p:cNvSpPr txBox="1"/>
          <p:nvPr/>
        </p:nvSpPr>
        <p:spPr>
          <a:xfrm>
            <a:off x="2225516" y="1901952"/>
            <a:ext cx="8850610"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si c'est plus compliqué que ça ?</a:t>
            </a:r>
          </a:p>
        </p:txBody>
      </p:sp>
      <p:sp>
        <p:nvSpPr>
          <p:cNvPr id="10" name="Rounded Rectangle 9"/>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292828"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KOFFI</a:t>
            </a:r>
          </a:p>
        </p:txBody>
      </p:sp>
      <p:sp>
        <p:nvSpPr>
          <p:cNvPr id="12" name="TextBox 11"/>
          <p:cNvSpPr txBox="1"/>
          <p:nvPr/>
        </p:nvSpPr>
        <p:spPr>
          <a:xfrm>
            <a:off x="2225516" y="2651252"/>
            <a:ext cx="8850610"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Là, elle te renvoie à monsieur Gauthier, le conseiller en formation. Il touche à ton horaire et à ton groupe.</a:t>
            </a:r>
          </a:p>
        </p:txBody>
      </p:sp>
      <p:sp>
        <p:nvSpPr>
          <p:cNvPr id="13" name="Rounded Rectangle 12"/>
          <p:cNvSpPr/>
          <p:nvPr/>
        </p:nvSpPr>
        <p:spPr>
          <a:xfrm>
            <a:off x="566928" y="357378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738371"/>
            <a:ext cx="1292828"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AMELIA</a:t>
            </a:r>
          </a:p>
        </p:txBody>
      </p:sp>
      <p:sp>
        <p:nvSpPr>
          <p:cNvPr id="15" name="TextBox 14"/>
          <p:cNvSpPr txBox="1"/>
          <p:nvPr/>
        </p:nvSpPr>
        <p:spPr>
          <a:xfrm>
            <a:off x="2225516" y="3738371"/>
            <a:ext cx="8850610"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je perds ma place, si je m'absente si longtemps ?</a:t>
            </a:r>
          </a:p>
        </p:txBody>
      </p:sp>
      <p:sp>
        <p:nvSpPr>
          <p:cNvPr id="16" name="TextBox 15"/>
          <p:cNvSpPr txBox="1"/>
          <p:nvPr/>
        </p:nvSpPr>
        <p:spPr>
          <a:xfrm>
            <a:off x="932688" y="4487672"/>
            <a:ext cx="1292828"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KOFFI</a:t>
            </a:r>
          </a:p>
        </p:txBody>
      </p:sp>
      <p:sp>
        <p:nvSpPr>
          <p:cNvPr id="17" name="TextBox 16"/>
          <p:cNvSpPr txBox="1"/>
          <p:nvPr/>
        </p:nvSpPr>
        <p:spPr>
          <a:xfrm>
            <a:off x="2225516" y="4487672"/>
            <a:ext cx="8850610"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Pas si tu préviens avant. C'est de ne rien dire qui coûte cher. Et vouvoie-les : ici, on se tutoie entre nous, pas avec le bureau.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TROIS PORTES, TROIS QUESTIONS</a:t>
            </a:r>
          </a:p>
        </p:txBody>
      </p:sp>
      <p:sp>
        <p:nvSpPr>
          <p:cNvPr id="6" name="Rounded Rectangle 5"/>
          <p:cNvSpPr/>
          <p:nvPr/>
        </p:nvSpPr>
        <p:spPr>
          <a:xfrm>
            <a:off x="566928" y="1225296"/>
            <a:ext cx="11057839" cy="2494788"/>
          </a:xfrm>
          <a:prstGeom prst="roundRect">
            <a:avLst>
              <a:gd name="adj" fmla="val 586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L'enseignante pour le cours. Le secrétariat pour le dossier. La conseillère pour le parcours.</a:t>
            </a:r>
          </a:p>
        </p:txBody>
      </p:sp>
      <p:sp>
        <p:nvSpPr>
          <p:cNvPr id="8" name="Rounded Rectangle 7"/>
          <p:cNvSpPr/>
          <p:nvPr/>
        </p:nvSpPr>
        <p:spPr>
          <a:xfrm>
            <a:off x="566928" y="3994404"/>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Frapper à la mauvaise porte ne fâche personne — mais on vous renvoie, et vous perdez une journée.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CENTRE ET SES GENS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mots à savoir avant tout le reste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 secrétariat</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bureau de l'entrée, où l'on règle tout ce qui touche au dossier.</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Une conseillère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personne qui décide du groupe, de l'horaire, de la suite des cours.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 local</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salle où se donne un cours, désignée par son numéro.</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Une session</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période de plusieurs mois pendant laquelle un cours se donne.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DEUX FAÇONS DE PARLER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Entre nous, et avec le bureau</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AVEC UN CAMARADE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AU COMPTOIR</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Tu sais où c'est ?</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Pourriez-vous me dire où c'est ?</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 peux-tu m'absenter ?</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Je voudrais savoir si je peux m'absenter.</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J'ai un problème.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Je viens vous annoncer une absence prévue.</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Merci, là.</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Je vous remercie, bonne journée.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CROIRE QU'IL FAUT D'ABORD EN PARLER À SON ENSEIGNANTE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vais le dire à mon enseignante, elle va s'en occuper.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vais au secrétariat, et j'en informe mon enseignante ensuite.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L'enseignante peut vous écouter et vous conseiller, mais rien de ce que vous lui dites n'entre dans votre dossier. Une absence annoncée seulement en classe reste une absence non motivée.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Amelia doit s'absenter trois semaines au mois de mars.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Koffi lui conseille d'en parler d'abord à son enseignante.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secrétariat est à droite en entrant.</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Madame Paradis décide des changements de groupe.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absence annoncée d'avance fait perdre sa place.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Koffi conseille de vouvoyer le personnel du bureau.</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Amelia doit s'absenter trois semaines au mois de mars.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Koffi lui conseille d'en parler d'abord à son enseignante.   </a:t>
            </a:r>
            <a:r>
              <a:rPr sz="1400" b="1" i="0">
                <a:solidFill>
                  <a:srgbClr val="07734A"/>
                </a:solidFill>
                <a:latin typeface="Verdana"/>
              </a:rPr>
              <a:t>» faux — au secrétariat</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secrétariat est à droite en entrant.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Madame Paradis décide des changements de groupe.   </a:t>
            </a:r>
            <a:r>
              <a:rPr sz="1400" b="1" i="0">
                <a:solidFill>
                  <a:srgbClr val="07734A"/>
                </a:solidFill>
                <a:latin typeface="Verdana"/>
              </a:rPr>
              <a:t>» faux — c'est monsieur Gauthier</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absence annoncée d'avance fait perdre sa place.   </a:t>
            </a:r>
            <a:r>
              <a:rPr sz="1400" b="1" i="0">
                <a:solidFill>
                  <a:srgbClr val="07734A"/>
                </a:solidFill>
                <a:latin typeface="Verdana"/>
              </a:rPr>
              <a:t>» faux — c'est le contraire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Koffi conseille de vouvoyer le personnel du bureau.   </a:t>
            </a:r>
            <a:r>
              <a:rPr sz="1400" b="1" i="0">
                <a:solidFill>
                  <a:srgbClr val="07734A"/>
                </a:solidFill>
                <a:latin typeface="Verdana"/>
              </a:rPr>
              <a:t>» vrai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Régler une affaire au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une affaire que vous auriez à régler au centre, et à qui vous iriez.</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seule affaire, et une seule porte.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Si vous n'êtes pas sûr de la porte, écrivez la question que vous poseriez.</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Régler une affaire au centre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