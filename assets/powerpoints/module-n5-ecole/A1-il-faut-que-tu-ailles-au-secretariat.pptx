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Première séance du module. Ouvrir en demandant à main levée qui, dans le groupe, a déjà eu à régler une affaire au bureau du centre — une absence, un changement d'horaire, un papier à obtenir. Puis demander qui a hésité plusieurs jours avant d'y aller. Les deux mains montent presque autant l'une que l'autre, et c'est là qu'est le module.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premier objectif est le vrai contenu de la séance. Les trois autres le servent. Un élève qui sait que l'enseignante ne décide pas des absences a déjà gagné une semaine.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troisième piste est la plus utile. Personne n'a jamais dit aux élèves qu'un comptoir donne environ deux minutes. Le savoir change complètement la façon dont on prépare ce qu'on va dire.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remarquer la première question de Koffi : il trie avant de conseiller. « Un problème de cours ou un problème de papiers ? » est la question que chaque élève devrait se poser à lui-même en premier.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Je n'ose pas déranger le monde » est la phrase à relever. Beaucoup d'élèves la portent. Répondre franchement : le secrétariat est là pour ça, et ne rien dire coûte plus cher à tout le monde qu'une question.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dernière réplique porte deux choses : la règle du module — prévenir d'avance conserve la place — et la bascule du tutoiement au vouvoiement. C'est le seul dialogue du module où l'on tutoie. Le dire au groupe.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Elle revient en B1 et en D1. Faire donner par le groupe trois exemples de questions pour chaque porte.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répéter avec l'article. « Un local » surprend : beaucoup d'élèves disent « une classe ». Les deux se comprennent, mais c'est « local 118 » qui est écrit sur l'avis qu'ils recevront en bloc C.</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compléter la colonne de droite avant de l'afficher. Ne pas présenter la colonne de gauche comme fautive : elle est juste, et elle est ce qu'on dit entre soi. C'est l'endroit qui change.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 piège-là est le vrai obstacle du module. Il n'est pas dû à un manque de vocabulaire : il vient de ce que l'enseignante est la seule personne que l'élève connaît dans l'établissement.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justifier chaque réponse par la réplique exacte. La quatrième est celle que le groupe manque : on retient « madame Paradis » parce que c'est le premier nom entendu.</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Ramasser les billets : ils servent en A4, où chacun écrira sa première phrase de comptoir à partir de sa propre affaire.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SÉANCE A1  ·  MODULE 14</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 Il faut que tu ailles au secrétariat »</a:t>
            </a:r>
          </a:p>
        </p:txBody>
      </p:sp>
      <p:sp>
        <p:nvSpPr>
          <p:cNvPr id="5" name="Rounded Rectangle 4"/>
          <p:cNvSpPr/>
          <p:nvPr/>
        </p:nvSpPr>
        <p:spPr>
          <a:xfrm>
            <a:off x="566928" y="3794760"/>
            <a:ext cx="9960559" cy="2131568"/>
          </a:xfrm>
          <a:prstGeom prst="roundRect">
            <a:avLst>
              <a:gd name="adj" fmla="val 686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15189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Amelia Dumitrescu est arrivée de Roumanie il y a deux ans. Sa mère sera opérée à Bucarest au mois de mars, et il faudra qu'elle parte trois semaines. Elle le sait depuis trois jours et elle n'a encore rien dit à personne : elle ne sait pas à quelle porte frapper.</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75 minutes  ·  Régler une affaire au centre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Régler une affaire au centre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savoir à qui s'adresser dans un centre selon la question qu'on a ;</a:t>
            </a:r>
          </a:p>
        </p:txBody>
      </p:sp>
      <p:sp>
        <p:nvSpPr>
          <p:cNvPr id="11" name="Rounded Rectangle 10"/>
          <p:cNvSpPr/>
          <p:nvPr/>
        </p:nvSpPr>
        <p:spPr>
          <a:xfrm>
            <a:off x="566928" y="2650744"/>
            <a:ext cx="11057839" cy="1113536"/>
          </a:xfrm>
          <a:prstGeom prst="roundRect">
            <a:avLst>
              <a:gd name="adj" fmla="val 1313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3006344"/>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3088640"/>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4" name="TextBox 13"/>
          <p:cNvSpPr txBox="1"/>
          <p:nvPr/>
        </p:nvSpPr>
        <p:spPr>
          <a:xfrm>
            <a:off x="1408176" y="2851912"/>
            <a:ext cx="9549079" cy="7477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nommer les lieux et les personnes : le secrétariat, la conseillère, un local ;</a:t>
            </a:r>
          </a:p>
        </p:txBody>
      </p:sp>
      <p:sp>
        <p:nvSpPr>
          <p:cNvPr id="15" name="Rounded Rectangle 14"/>
          <p:cNvSpPr/>
          <p:nvPr/>
        </p:nvSpPr>
        <p:spPr>
          <a:xfrm>
            <a:off x="566928" y="3892296"/>
            <a:ext cx="11057839" cy="1113536"/>
          </a:xfrm>
          <a:prstGeom prst="roundRect">
            <a:avLst>
              <a:gd name="adj" fmla="val 1313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4247896"/>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4330192"/>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8" name="TextBox 17"/>
          <p:cNvSpPr txBox="1"/>
          <p:nvPr/>
        </p:nvSpPr>
        <p:spPr>
          <a:xfrm>
            <a:off x="1408176" y="4093464"/>
            <a:ext cx="9549079" cy="7477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comprendre une conversation entre deux élèves sur une démarche à faire ;</a:t>
            </a:r>
          </a:p>
        </p:txBody>
      </p:sp>
      <p:sp>
        <p:nvSpPr>
          <p:cNvPr id="19" name="Rounded Rectangle 18"/>
          <p:cNvSpPr/>
          <p:nvPr/>
        </p:nvSpPr>
        <p:spPr>
          <a:xfrm>
            <a:off x="566928" y="51338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5311648"/>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5393944"/>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2" name="TextBox 21"/>
          <p:cNvSpPr txBox="1"/>
          <p:nvPr/>
        </p:nvSpPr>
        <p:spPr>
          <a:xfrm>
            <a:off x="1408176" y="5335016"/>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distinguer ce qu'on tutoie de ce qu'on vouvoie dans un établissement.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Régler une affaire au centre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OBSERVATION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2800" b="1" i="0">
                <a:solidFill>
                  <a:srgbClr val="17181A"/>
                </a:solidFill>
                <a:latin typeface="Verdana"/>
              </a:rPr>
              <a:t>Un comptoir, une file au sol, une vitre. Qu'est-ce qu'on vient y faire ?</a:t>
            </a:r>
          </a:p>
        </p:txBody>
      </p:sp>
      <p:sp>
        <p:nvSpPr>
          <p:cNvPr id="7" name="Rounded Rectangle 6"/>
          <p:cNvSpPr/>
          <p:nvPr/>
        </p:nvSpPr>
        <p:spPr>
          <a:xfrm>
            <a:off x="7424927" y="1719072"/>
            <a:ext cx="4199839" cy="4361688"/>
          </a:xfrm>
          <a:prstGeom prst="roundRect">
            <a:avLst>
              <a:gd name="adj" fmla="val 348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omptoir-secretariat.jpg"/>
          <p:cNvPicPr>
            <a:picLocks noChangeAspect="1"/>
          </p:cNvPicPr>
          <p:nvPr/>
        </p:nvPicPr>
        <p:blipFill>
          <a:blip r:embed="rId2"/>
          <a:stretch>
            <a:fillRect/>
          </a:stretch>
        </p:blipFill>
        <p:spPr>
          <a:xfrm>
            <a:off x="7644383" y="2638438"/>
            <a:ext cx="3760927" cy="2522955"/>
          </a:xfrm>
          <a:prstGeom prst="rect">
            <a:avLst/>
          </a:prstGeom>
        </p:spPr>
      </p:pic>
      <p:sp>
        <p:nvSpPr>
          <p:cNvPr id="9" name="Rounded Rectangle 8"/>
          <p:cNvSpPr/>
          <p:nvPr/>
        </p:nvSpPr>
        <p:spPr>
          <a:xfrm>
            <a:off x="566928" y="1856232"/>
            <a:ext cx="6492240" cy="1041400"/>
          </a:xfrm>
          <a:prstGeom prst="roundRect">
            <a:avLst>
              <a:gd name="adj" fmla="val 1404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66928" y="1965960"/>
            <a:ext cx="50292" cy="821944"/>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50976" y="2039112"/>
            <a:ext cx="5806440" cy="71221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Qu'est-ce qu'on peut demander à ce comptoir, et qu'est-ce qu'on ne peut pas ?</a:t>
            </a:r>
          </a:p>
        </p:txBody>
      </p:sp>
      <p:sp>
        <p:nvSpPr>
          <p:cNvPr id="12" name="Rounded Rectangle 11"/>
          <p:cNvSpPr/>
          <p:nvPr/>
        </p:nvSpPr>
        <p:spPr>
          <a:xfrm>
            <a:off x="566928" y="2979928"/>
            <a:ext cx="6492240" cy="1041400"/>
          </a:xfrm>
          <a:prstGeom prst="roundRect">
            <a:avLst>
              <a:gd name="adj" fmla="val 1404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566928" y="3089656"/>
            <a:ext cx="50292" cy="821944"/>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50976" y="3162808"/>
            <a:ext cx="5806440" cy="71221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Est-ce qu'on tutoie ou est-ce qu'on vouvoie la personne derrière la vitre ?</a:t>
            </a:r>
          </a:p>
        </p:txBody>
      </p:sp>
      <p:sp>
        <p:nvSpPr>
          <p:cNvPr id="15" name="Rounded Rectangle 14"/>
          <p:cNvSpPr/>
          <p:nvPr/>
        </p:nvSpPr>
        <p:spPr>
          <a:xfrm>
            <a:off x="566928" y="4103624"/>
            <a:ext cx="6492240" cy="1041400"/>
          </a:xfrm>
          <a:prstGeom prst="roundRect">
            <a:avLst>
              <a:gd name="adj" fmla="val 1404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566928" y="4213352"/>
            <a:ext cx="50292" cy="821944"/>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50976" y="4286504"/>
            <a:ext cx="5806440" cy="71221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Combien de temps avez-vous, à votre avis, quand il y a du monde derrière vous ?</a:t>
            </a:r>
          </a:p>
        </p:txBody>
      </p:sp>
      <p:sp>
        <p:nvSpPr>
          <p:cNvPr id="18" name="Rounded Rectangle 17"/>
          <p:cNvSpPr/>
          <p:nvPr/>
        </p:nvSpPr>
        <p:spPr>
          <a:xfrm>
            <a:off x="566928" y="5227320"/>
            <a:ext cx="6492240" cy="1041400"/>
          </a:xfrm>
          <a:prstGeom prst="roundRect">
            <a:avLst>
              <a:gd name="adj" fmla="val 1404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66928" y="5337048"/>
            <a:ext cx="50292" cy="821944"/>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50976" y="5410200"/>
            <a:ext cx="5806440" cy="71221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Qu'est-ce que vous apportez avec vous quand vous y allez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Régler une affaire au centre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DIALOGUE · 1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Je ne sais pas à qui parler</a:t>
            </a:r>
          </a:p>
        </p:txBody>
      </p:sp>
      <p:sp>
        <p:nvSpPr>
          <p:cNvPr id="7" name="TextBox 6"/>
          <p:cNvSpPr txBox="1"/>
          <p:nvPr/>
        </p:nvSpPr>
        <p:spPr>
          <a:xfrm>
            <a:off x="566928" y="173736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Écoutez d'abord, diapositive masquée.</a:t>
            </a:r>
          </a:p>
        </p:txBody>
      </p:sp>
      <p:sp>
        <p:nvSpPr>
          <p:cNvPr id="8" name="Rounded Rectangle 7"/>
          <p:cNvSpPr/>
          <p:nvPr/>
        </p:nvSpPr>
        <p:spPr>
          <a:xfrm>
            <a:off x="566928" y="2157984"/>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2322576"/>
            <a:ext cx="1292828"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AMELIA</a:t>
            </a:r>
          </a:p>
        </p:txBody>
      </p:sp>
      <p:sp>
        <p:nvSpPr>
          <p:cNvPr id="10" name="TextBox 9"/>
          <p:cNvSpPr txBox="1"/>
          <p:nvPr/>
        </p:nvSpPr>
        <p:spPr>
          <a:xfrm>
            <a:off x="2225516" y="2322576"/>
            <a:ext cx="8850610"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Koffi, je ne sais pas à qui parler. J'ai un problème et il dure.</a:t>
            </a:r>
          </a:p>
        </p:txBody>
      </p:sp>
      <p:sp>
        <p:nvSpPr>
          <p:cNvPr id="11" name="Rounded Rectangle 10"/>
          <p:cNvSpPr/>
          <p:nvPr/>
        </p:nvSpPr>
        <p:spPr>
          <a:xfrm>
            <a:off x="566928" y="2907283"/>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32688" y="3071876"/>
            <a:ext cx="1292828"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KOFFI</a:t>
            </a:r>
          </a:p>
        </p:txBody>
      </p:sp>
      <p:sp>
        <p:nvSpPr>
          <p:cNvPr id="13" name="TextBox 12"/>
          <p:cNvSpPr txBox="1"/>
          <p:nvPr/>
        </p:nvSpPr>
        <p:spPr>
          <a:xfrm>
            <a:off x="2225516" y="3071876"/>
            <a:ext cx="8850610"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Un problème de cours ou un problème de papiers ?</a:t>
            </a:r>
          </a:p>
        </p:txBody>
      </p:sp>
      <p:sp>
        <p:nvSpPr>
          <p:cNvPr id="14" name="Rounded Rectangle 13"/>
          <p:cNvSpPr/>
          <p:nvPr/>
        </p:nvSpPr>
        <p:spPr>
          <a:xfrm>
            <a:off x="566928" y="3656583"/>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32688" y="3821175"/>
            <a:ext cx="1292828"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AMELIA</a:t>
            </a:r>
          </a:p>
        </p:txBody>
      </p:sp>
      <p:sp>
        <p:nvSpPr>
          <p:cNvPr id="16" name="TextBox 15"/>
          <p:cNvSpPr txBox="1"/>
          <p:nvPr/>
        </p:nvSpPr>
        <p:spPr>
          <a:xfrm>
            <a:off x="2225516" y="3821175"/>
            <a:ext cx="8850610"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De papiers. Je dois m'absenter trois semaines au mois de mars.</a:t>
            </a:r>
          </a:p>
        </p:txBody>
      </p:sp>
      <p:sp>
        <p:nvSpPr>
          <p:cNvPr id="17" name="Rounded Rectangle 16"/>
          <p:cNvSpPr/>
          <p:nvPr/>
        </p:nvSpPr>
        <p:spPr>
          <a:xfrm>
            <a:off x="566928" y="4405883"/>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32688" y="4570475"/>
            <a:ext cx="1292828"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KOFFI</a:t>
            </a:r>
          </a:p>
        </p:txBody>
      </p:sp>
      <p:sp>
        <p:nvSpPr>
          <p:cNvPr id="19" name="TextBox 18"/>
          <p:cNvSpPr txBox="1"/>
          <p:nvPr/>
        </p:nvSpPr>
        <p:spPr>
          <a:xfrm>
            <a:off x="2225516" y="4570475"/>
            <a:ext cx="8850610"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Trois semaines ! Alors ce n'est pas ton enseignante qu'il faut voir.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Régler une affaire au centre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DIALOGUE · 2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secrétariat, en avant, à droite</a:t>
            </a:r>
          </a:p>
        </p:txBody>
      </p:sp>
      <p:sp>
        <p:nvSpPr>
          <p:cNvPr id="7" name="Rounded Rectangle 6"/>
          <p:cNvSpPr/>
          <p:nvPr/>
        </p:nvSpPr>
        <p:spPr>
          <a:xfrm>
            <a:off x="566928" y="1737360"/>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01952"/>
            <a:ext cx="1292828"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AMELIA</a:t>
            </a:r>
          </a:p>
        </p:txBody>
      </p:sp>
      <p:sp>
        <p:nvSpPr>
          <p:cNvPr id="9" name="TextBox 8"/>
          <p:cNvSpPr txBox="1"/>
          <p:nvPr/>
        </p:nvSpPr>
        <p:spPr>
          <a:xfrm>
            <a:off x="2225516" y="1901952"/>
            <a:ext cx="8850610"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C'est qui, d'abord ? Je n'ose pas déranger le monde.</a:t>
            </a:r>
          </a:p>
        </p:txBody>
      </p:sp>
      <p:sp>
        <p:nvSpPr>
          <p:cNvPr id="10" name="Rounded Rectangle 9"/>
          <p:cNvSpPr/>
          <p:nvPr/>
        </p:nvSpPr>
        <p:spPr>
          <a:xfrm>
            <a:off x="566928" y="2486659"/>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2651252"/>
            <a:ext cx="1292828"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KOFFI</a:t>
            </a:r>
          </a:p>
        </p:txBody>
      </p:sp>
      <p:sp>
        <p:nvSpPr>
          <p:cNvPr id="12" name="TextBox 11"/>
          <p:cNvSpPr txBox="1"/>
          <p:nvPr/>
        </p:nvSpPr>
        <p:spPr>
          <a:xfrm>
            <a:off x="2225516" y="2651252"/>
            <a:ext cx="8850610"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 secrétariat, en avant, à droite en entrant. C'est madame Paradis.</a:t>
            </a:r>
          </a:p>
        </p:txBody>
      </p:sp>
      <p:sp>
        <p:nvSpPr>
          <p:cNvPr id="13" name="Rounded Rectangle 12"/>
          <p:cNvSpPr/>
          <p:nvPr/>
        </p:nvSpPr>
        <p:spPr>
          <a:xfrm>
            <a:off x="566928" y="3235959"/>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32688" y="3400551"/>
            <a:ext cx="1292828"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AMELIA</a:t>
            </a:r>
          </a:p>
        </p:txBody>
      </p:sp>
      <p:sp>
        <p:nvSpPr>
          <p:cNvPr id="15" name="TextBox 14"/>
          <p:cNvSpPr txBox="1"/>
          <p:nvPr/>
        </p:nvSpPr>
        <p:spPr>
          <a:xfrm>
            <a:off x="2225516" y="3400551"/>
            <a:ext cx="8850610"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Elle s'occupe de quoi, exactement ?</a:t>
            </a:r>
          </a:p>
        </p:txBody>
      </p:sp>
      <p:sp>
        <p:nvSpPr>
          <p:cNvPr id="16" name="Rounded Rectangle 15"/>
          <p:cNvSpPr/>
          <p:nvPr/>
        </p:nvSpPr>
        <p:spPr>
          <a:xfrm>
            <a:off x="566928" y="3985259"/>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32688" y="4149851"/>
            <a:ext cx="1292828"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KOFFI</a:t>
            </a:r>
          </a:p>
        </p:txBody>
      </p:sp>
      <p:sp>
        <p:nvSpPr>
          <p:cNvPr id="18" name="TextBox 17"/>
          <p:cNvSpPr txBox="1"/>
          <p:nvPr/>
        </p:nvSpPr>
        <p:spPr>
          <a:xfrm>
            <a:off x="2225516" y="4149851"/>
            <a:ext cx="8850610"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Des dossiers. Les absences, les inscriptions, les attestations.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Régler une affaire au centre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DIALOGUE · 3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Vouvoie-les</a:t>
            </a:r>
          </a:p>
        </p:txBody>
      </p:sp>
      <p:sp>
        <p:nvSpPr>
          <p:cNvPr id="7" name="Rounded Rectangle 6"/>
          <p:cNvSpPr/>
          <p:nvPr/>
        </p:nvSpPr>
        <p:spPr>
          <a:xfrm>
            <a:off x="566928" y="1737360"/>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01952"/>
            <a:ext cx="1292828"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AMELIA</a:t>
            </a:r>
          </a:p>
        </p:txBody>
      </p:sp>
      <p:sp>
        <p:nvSpPr>
          <p:cNvPr id="9" name="TextBox 8"/>
          <p:cNvSpPr txBox="1"/>
          <p:nvPr/>
        </p:nvSpPr>
        <p:spPr>
          <a:xfrm>
            <a:off x="2225516" y="1901952"/>
            <a:ext cx="8850610"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Et si c'est plus compliqué que ça ?</a:t>
            </a:r>
          </a:p>
        </p:txBody>
      </p:sp>
      <p:sp>
        <p:nvSpPr>
          <p:cNvPr id="10" name="Rounded Rectangle 9"/>
          <p:cNvSpPr/>
          <p:nvPr/>
        </p:nvSpPr>
        <p:spPr>
          <a:xfrm>
            <a:off x="566928" y="2486659"/>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2651252"/>
            <a:ext cx="1292828"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KOFFI</a:t>
            </a:r>
          </a:p>
        </p:txBody>
      </p:sp>
      <p:sp>
        <p:nvSpPr>
          <p:cNvPr id="12" name="TextBox 11"/>
          <p:cNvSpPr txBox="1"/>
          <p:nvPr/>
        </p:nvSpPr>
        <p:spPr>
          <a:xfrm>
            <a:off x="2225516" y="2651252"/>
            <a:ext cx="8850610"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Là, elle te renvoie à monsieur Gauthier, le conseiller en formation. Il touche à ton horaire et à ton groupe.</a:t>
            </a:r>
          </a:p>
        </p:txBody>
      </p:sp>
      <p:sp>
        <p:nvSpPr>
          <p:cNvPr id="13" name="Rounded Rectangle 12"/>
          <p:cNvSpPr/>
          <p:nvPr/>
        </p:nvSpPr>
        <p:spPr>
          <a:xfrm>
            <a:off x="566928" y="3573780"/>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32688" y="3738371"/>
            <a:ext cx="1292828"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AMELIA</a:t>
            </a:r>
          </a:p>
        </p:txBody>
      </p:sp>
      <p:sp>
        <p:nvSpPr>
          <p:cNvPr id="15" name="TextBox 14"/>
          <p:cNvSpPr txBox="1"/>
          <p:nvPr/>
        </p:nvSpPr>
        <p:spPr>
          <a:xfrm>
            <a:off x="2225516" y="3738371"/>
            <a:ext cx="8850610"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Et je perds ma place, si je m'absente si longtemps ?</a:t>
            </a:r>
          </a:p>
        </p:txBody>
      </p:sp>
      <p:sp>
        <p:nvSpPr>
          <p:cNvPr id="16" name="TextBox 15"/>
          <p:cNvSpPr txBox="1"/>
          <p:nvPr/>
        </p:nvSpPr>
        <p:spPr>
          <a:xfrm>
            <a:off x="932688" y="4487672"/>
            <a:ext cx="1292828"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KOFFI</a:t>
            </a:r>
          </a:p>
        </p:txBody>
      </p:sp>
      <p:sp>
        <p:nvSpPr>
          <p:cNvPr id="17" name="TextBox 16"/>
          <p:cNvSpPr txBox="1"/>
          <p:nvPr/>
        </p:nvSpPr>
        <p:spPr>
          <a:xfrm>
            <a:off x="2225516" y="4487672"/>
            <a:ext cx="8850610"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Pas si tu préviens avant. C'est de ne rien dire qui coûte cher. Et vouvoie-les : ici, on se tutoie entre nous, pas avec le bureau.</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Régler une affaire au centre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TROIS PORTES, TROIS QUESTIONS</a:t>
            </a:r>
          </a:p>
        </p:txBody>
      </p:sp>
      <p:sp>
        <p:nvSpPr>
          <p:cNvPr id="6" name="Rounded Rectangle 5"/>
          <p:cNvSpPr/>
          <p:nvPr/>
        </p:nvSpPr>
        <p:spPr>
          <a:xfrm>
            <a:off x="566928" y="1225296"/>
            <a:ext cx="11057839" cy="2494788"/>
          </a:xfrm>
          <a:prstGeom prst="roundRect">
            <a:avLst>
              <a:gd name="adj" fmla="val 586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671828"/>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L'enseignante pour le cours. Le secrétariat pour le dossier. La conseillère pour le parcours.</a:t>
            </a:r>
          </a:p>
        </p:txBody>
      </p:sp>
      <p:sp>
        <p:nvSpPr>
          <p:cNvPr id="8" name="Rounded Rectangle 7"/>
          <p:cNvSpPr/>
          <p:nvPr/>
        </p:nvSpPr>
        <p:spPr>
          <a:xfrm>
            <a:off x="566928" y="3994404"/>
            <a:ext cx="11057839" cy="1303528"/>
          </a:xfrm>
          <a:prstGeom prst="roundRect">
            <a:avLst>
              <a:gd name="adj" fmla="val 1122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4268724"/>
            <a:ext cx="10234879" cy="846327"/>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Frapper à la mauvaise porte ne fâche personne — mais on vous renvoie, et vous perdez une journée.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Régler une affaire au centre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LE CENTRE ET SES GENS</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Quatre mots à savoir avant tout le reste</a:t>
            </a:r>
          </a:p>
        </p:txBody>
      </p:sp>
      <p:sp>
        <p:nvSpPr>
          <p:cNvPr id="7" name="Rounded Rectangle 6"/>
          <p:cNvSpPr/>
          <p:nvPr/>
        </p:nvSpPr>
        <p:spPr>
          <a:xfrm>
            <a:off x="566928"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86968" y="2084831"/>
            <a:ext cx="4806543" cy="387096"/>
          </a:xfrm>
          <a:prstGeom prst="rect">
            <a:avLst/>
          </a:prstGeom>
          <a:noFill/>
        </p:spPr>
        <p:txBody>
          <a:bodyPr wrap="square" lIns="0" rIns="0" tIns="0" bIns="0" anchor="t">
            <a:spAutoFit/>
          </a:bodyPr>
          <a:lstStyle/>
          <a:p>
            <a:pPr algn="l">
              <a:lnSpc>
                <a:spcPct val="118000"/>
              </a:lnSpc>
            </a:pPr>
            <a:r>
              <a:rPr sz="2400" b="1" i="0">
                <a:solidFill>
                  <a:srgbClr val="1D6B8F"/>
                </a:solidFill>
                <a:latin typeface="Verdana"/>
              </a:rPr>
              <a:t>Le secrétariat</a:t>
            </a:r>
          </a:p>
        </p:txBody>
      </p:sp>
      <p:sp>
        <p:nvSpPr>
          <p:cNvPr id="9" name="TextBox 8"/>
          <p:cNvSpPr txBox="1"/>
          <p:nvPr/>
        </p:nvSpPr>
        <p:spPr>
          <a:xfrm>
            <a:off x="886968" y="2499360"/>
            <a:ext cx="4806543" cy="1089660"/>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Le bureau de l'entrée, où l'on règle tout ce qui touche au dossier.</a:t>
            </a:r>
          </a:p>
        </p:txBody>
      </p:sp>
      <p:sp>
        <p:nvSpPr>
          <p:cNvPr id="10" name="Rounded Rectangle 9"/>
          <p:cNvSpPr/>
          <p:nvPr/>
        </p:nvSpPr>
        <p:spPr>
          <a:xfrm>
            <a:off x="6178143"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98183" y="2084831"/>
            <a:ext cx="4806543" cy="387096"/>
          </a:xfrm>
          <a:prstGeom prst="rect">
            <a:avLst/>
          </a:prstGeom>
          <a:noFill/>
        </p:spPr>
        <p:txBody>
          <a:bodyPr wrap="square" lIns="0" rIns="0" tIns="0" bIns="0" anchor="t">
            <a:spAutoFit/>
          </a:bodyPr>
          <a:lstStyle/>
          <a:p>
            <a:pPr algn="l">
              <a:lnSpc>
                <a:spcPct val="118000"/>
              </a:lnSpc>
            </a:pPr>
            <a:r>
              <a:rPr sz="2400" b="1" i="0">
                <a:solidFill>
                  <a:srgbClr val="1D6B8F"/>
                </a:solidFill>
                <a:latin typeface="Verdana"/>
              </a:rPr>
              <a:t>Une conseillère</a:t>
            </a:r>
          </a:p>
        </p:txBody>
      </p:sp>
      <p:sp>
        <p:nvSpPr>
          <p:cNvPr id="12" name="TextBox 11"/>
          <p:cNvSpPr txBox="1"/>
          <p:nvPr/>
        </p:nvSpPr>
        <p:spPr>
          <a:xfrm>
            <a:off x="6498183" y="2499360"/>
            <a:ext cx="4806543" cy="1089660"/>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La personne qui décide du groupe, de l'horaire, de la suite des cours.</a:t>
            </a:r>
          </a:p>
        </p:txBody>
      </p:sp>
      <p:sp>
        <p:nvSpPr>
          <p:cNvPr id="13" name="Rounded Rectangle 12"/>
          <p:cNvSpPr/>
          <p:nvPr/>
        </p:nvSpPr>
        <p:spPr>
          <a:xfrm>
            <a:off x="566928"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86968" y="4302252"/>
            <a:ext cx="4806543" cy="387096"/>
          </a:xfrm>
          <a:prstGeom prst="rect">
            <a:avLst/>
          </a:prstGeom>
          <a:noFill/>
        </p:spPr>
        <p:txBody>
          <a:bodyPr wrap="square" lIns="0" rIns="0" tIns="0" bIns="0" anchor="t">
            <a:spAutoFit/>
          </a:bodyPr>
          <a:lstStyle/>
          <a:p>
            <a:pPr algn="l">
              <a:lnSpc>
                <a:spcPct val="118000"/>
              </a:lnSpc>
            </a:pPr>
            <a:r>
              <a:rPr sz="2400" b="1" i="0">
                <a:solidFill>
                  <a:srgbClr val="1D6B8F"/>
                </a:solidFill>
                <a:latin typeface="Verdana"/>
              </a:rPr>
              <a:t>Un local</a:t>
            </a:r>
          </a:p>
        </p:txBody>
      </p:sp>
      <p:sp>
        <p:nvSpPr>
          <p:cNvPr id="15" name="TextBox 14"/>
          <p:cNvSpPr txBox="1"/>
          <p:nvPr/>
        </p:nvSpPr>
        <p:spPr>
          <a:xfrm>
            <a:off x="886968" y="4716780"/>
            <a:ext cx="4806543" cy="1089660"/>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La salle où se donne un cours, désignée par son numéro.</a:t>
            </a:r>
          </a:p>
        </p:txBody>
      </p:sp>
      <p:sp>
        <p:nvSpPr>
          <p:cNvPr id="16" name="Rounded Rectangle 15"/>
          <p:cNvSpPr/>
          <p:nvPr/>
        </p:nvSpPr>
        <p:spPr>
          <a:xfrm>
            <a:off x="6178143"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98183" y="4302252"/>
            <a:ext cx="4806543" cy="387096"/>
          </a:xfrm>
          <a:prstGeom prst="rect">
            <a:avLst/>
          </a:prstGeom>
          <a:noFill/>
        </p:spPr>
        <p:txBody>
          <a:bodyPr wrap="square" lIns="0" rIns="0" tIns="0" bIns="0" anchor="t">
            <a:spAutoFit/>
          </a:bodyPr>
          <a:lstStyle/>
          <a:p>
            <a:pPr algn="l">
              <a:lnSpc>
                <a:spcPct val="118000"/>
              </a:lnSpc>
            </a:pPr>
            <a:r>
              <a:rPr sz="2400" b="1" i="0">
                <a:solidFill>
                  <a:srgbClr val="1D6B8F"/>
                </a:solidFill>
                <a:latin typeface="Verdana"/>
              </a:rPr>
              <a:t>Une session</a:t>
            </a:r>
          </a:p>
        </p:txBody>
      </p:sp>
      <p:sp>
        <p:nvSpPr>
          <p:cNvPr id="18" name="TextBox 17"/>
          <p:cNvSpPr txBox="1"/>
          <p:nvPr/>
        </p:nvSpPr>
        <p:spPr>
          <a:xfrm>
            <a:off x="6498183" y="4716780"/>
            <a:ext cx="4806543" cy="1089660"/>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La période de plusieurs mois pendant laquelle un cours se donne.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Régler une affaire au centre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DEUX FAÇONS DE PARLER</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Entre nous, et avec le bureau</a:t>
            </a:r>
          </a:p>
        </p:txBody>
      </p:sp>
      <p:sp>
        <p:nvSpPr>
          <p:cNvPr id="7" name="Rounded Rectangle 6"/>
          <p:cNvSpPr/>
          <p:nvPr/>
        </p:nvSpPr>
        <p:spPr>
          <a:xfrm>
            <a:off x="566928" y="1810512"/>
            <a:ext cx="11057839" cy="2798064"/>
          </a:xfrm>
          <a:prstGeom prst="roundRect">
            <a:avLst>
              <a:gd name="adj" fmla="val 522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AVEC UN CAMARADE</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AU COMPTOIR</a:t>
            </a:r>
          </a:p>
        </p:txBody>
      </p:sp>
      <p:sp>
        <p:nvSpPr>
          <p:cNvPr id="10" name="TextBox 9"/>
          <p:cNvSpPr txBox="1"/>
          <p:nvPr/>
        </p:nvSpPr>
        <p:spPr>
          <a:xfrm>
            <a:off x="932688" y="2395728"/>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Tu sais où c'est ?</a:t>
            </a:r>
          </a:p>
        </p:txBody>
      </p:sp>
      <p:sp>
        <p:nvSpPr>
          <p:cNvPr id="11" name="TextBox 10"/>
          <p:cNvSpPr txBox="1"/>
          <p:nvPr/>
        </p:nvSpPr>
        <p:spPr>
          <a:xfrm>
            <a:off x="4443636" y="2395728"/>
            <a:ext cx="6595914" cy="338328"/>
          </a:xfrm>
          <a:prstGeom prst="rect">
            <a:avLst/>
          </a:prstGeom>
          <a:noFill/>
        </p:spPr>
        <p:txBody>
          <a:bodyPr wrap="square" lIns="0" rIns="0" tIns="0" bIns="0" anchor="t">
            <a:spAutoFit/>
          </a:bodyPr>
          <a:lstStyle/>
          <a:p>
            <a:pPr algn="l">
              <a:lnSpc>
                <a:spcPct val="132000"/>
              </a:lnSpc>
            </a:pPr>
            <a:r>
              <a:rPr sz="1800" b="1" i="0">
                <a:solidFill>
                  <a:srgbClr val="1D6B8F"/>
                </a:solidFill>
                <a:latin typeface="Verdana"/>
              </a:rPr>
              <a:t>Pourriez-vous me dire où c'est ?</a:t>
            </a:r>
          </a:p>
        </p:txBody>
      </p:sp>
      <p:sp>
        <p:nvSpPr>
          <p:cNvPr id="12" name="Rectangle 11"/>
          <p:cNvSpPr/>
          <p:nvPr/>
        </p:nvSpPr>
        <p:spPr>
          <a:xfrm>
            <a:off x="932688" y="28072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2935224"/>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Je peux-tu m'absenter ?</a:t>
            </a:r>
          </a:p>
        </p:txBody>
      </p:sp>
      <p:sp>
        <p:nvSpPr>
          <p:cNvPr id="14" name="TextBox 13"/>
          <p:cNvSpPr txBox="1"/>
          <p:nvPr/>
        </p:nvSpPr>
        <p:spPr>
          <a:xfrm>
            <a:off x="4443636" y="2935224"/>
            <a:ext cx="6595914" cy="338328"/>
          </a:xfrm>
          <a:prstGeom prst="rect">
            <a:avLst/>
          </a:prstGeom>
          <a:noFill/>
        </p:spPr>
        <p:txBody>
          <a:bodyPr wrap="square" lIns="0" rIns="0" tIns="0" bIns="0" anchor="t">
            <a:spAutoFit/>
          </a:bodyPr>
          <a:lstStyle/>
          <a:p>
            <a:pPr algn="l">
              <a:lnSpc>
                <a:spcPct val="132000"/>
              </a:lnSpc>
            </a:pPr>
            <a:r>
              <a:rPr sz="1800" b="1" i="0">
                <a:solidFill>
                  <a:srgbClr val="1D6B8F"/>
                </a:solidFill>
                <a:latin typeface="Verdana"/>
              </a:rPr>
              <a:t>Je voudrais savoir si je peux m'absenter.</a:t>
            </a:r>
          </a:p>
        </p:txBody>
      </p:sp>
      <p:sp>
        <p:nvSpPr>
          <p:cNvPr id="15" name="Rectangle 14"/>
          <p:cNvSpPr/>
          <p:nvPr/>
        </p:nvSpPr>
        <p:spPr>
          <a:xfrm>
            <a:off x="932688" y="334670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474720"/>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J'ai un problème.</a:t>
            </a:r>
          </a:p>
        </p:txBody>
      </p:sp>
      <p:sp>
        <p:nvSpPr>
          <p:cNvPr id="17" name="TextBox 16"/>
          <p:cNvSpPr txBox="1"/>
          <p:nvPr/>
        </p:nvSpPr>
        <p:spPr>
          <a:xfrm>
            <a:off x="4443636" y="3474720"/>
            <a:ext cx="6595914" cy="338328"/>
          </a:xfrm>
          <a:prstGeom prst="rect">
            <a:avLst/>
          </a:prstGeom>
          <a:noFill/>
        </p:spPr>
        <p:txBody>
          <a:bodyPr wrap="square" lIns="0" rIns="0" tIns="0" bIns="0" anchor="t">
            <a:spAutoFit/>
          </a:bodyPr>
          <a:lstStyle/>
          <a:p>
            <a:pPr algn="l">
              <a:lnSpc>
                <a:spcPct val="132000"/>
              </a:lnSpc>
            </a:pPr>
            <a:r>
              <a:rPr sz="1800" b="1" i="0">
                <a:solidFill>
                  <a:srgbClr val="1D6B8F"/>
                </a:solidFill>
                <a:latin typeface="Verdana"/>
              </a:rPr>
              <a:t>Je viens vous annoncer une absence prévue.</a:t>
            </a:r>
          </a:p>
        </p:txBody>
      </p:sp>
      <p:sp>
        <p:nvSpPr>
          <p:cNvPr id="18" name="Rectangle 17"/>
          <p:cNvSpPr/>
          <p:nvPr/>
        </p:nvSpPr>
        <p:spPr>
          <a:xfrm>
            <a:off x="932688" y="388620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4014215"/>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Merci, là.</a:t>
            </a:r>
          </a:p>
        </p:txBody>
      </p:sp>
      <p:sp>
        <p:nvSpPr>
          <p:cNvPr id="20" name="TextBox 19"/>
          <p:cNvSpPr txBox="1"/>
          <p:nvPr/>
        </p:nvSpPr>
        <p:spPr>
          <a:xfrm>
            <a:off x="4443636" y="4014215"/>
            <a:ext cx="6595914" cy="338328"/>
          </a:xfrm>
          <a:prstGeom prst="rect">
            <a:avLst/>
          </a:prstGeom>
          <a:noFill/>
        </p:spPr>
        <p:txBody>
          <a:bodyPr wrap="square" lIns="0" rIns="0" tIns="0" bIns="0" anchor="t">
            <a:spAutoFit/>
          </a:bodyPr>
          <a:lstStyle/>
          <a:p>
            <a:pPr algn="l">
              <a:lnSpc>
                <a:spcPct val="132000"/>
              </a:lnSpc>
            </a:pPr>
            <a:r>
              <a:rPr sz="1800" b="1" i="0">
                <a:solidFill>
                  <a:srgbClr val="1D6B8F"/>
                </a:solidFill>
                <a:latin typeface="Verdana"/>
              </a:rPr>
              <a:t>Je vous remercie, bonne journée.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Régler une affaire au centre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CROIRE QU'IL FAUT D'ABORD EN PARLER À SON ENSEIGNANTE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Je vais le dire à mon enseignante, elle va s'en occuper.</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Je vais au secrétariat, et j'en informe mon enseignante ensuite.</a:t>
            </a:r>
          </a:p>
        </p:txBody>
      </p:sp>
      <p:sp>
        <p:nvSpPr>
          <p:cNvPr id="13" name="Rounded Rectangle 12"/>
          <p:cNvSpPr/>
          <p:nvPr/>
        </p:nvSpPr>
        <p:spPr>
          <a:xfrm>
            <a:off x="566928" y="4462272"/>
            <a:ext cx="11057839" cy="1618487"/>
          </a:xfrm>
          <a:prstGeom prst="roundRect">
            <a:avLst>
              <a:gd name="adj" fmla="val 903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L'enseignante peut vous écouter et vous conseiller, mais rien de ce que vous lui dites n'entre dans votre dossier. Une absence annoncée seulement en classe reste une absence non motivée.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Régler une affaire au centre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COMPRÉHENSION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Vrai ou faux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Répondez d'après le dialogue.</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Amelia doit s'absenter trois semaines au mois de mars.</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Koffi lui conseille d'en parler d'abord à son enseignante.</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secrétariat est à droite en entrant.</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Madame Paradis décide des changements de groupe.</a:t>
            </a:r>
          </a:p>
        </p:txBody>
      </p:sp>
      <p:sp>
        <p:nvSpPr>
          <p:cNvPr id="24" name="Rounded Rectangle 23"/>
          <p:cNvSpPr/>
          <p:nvPr/>
        </p:nvSpPr>
        <p:spPr>
          <a:xfrm>
            <a:off x="566928" y="489102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Une absence annoncée d'avance fait perdre sa place.</a:t>
            </a:r>
          </a:p>
        </p:txBody>
      </p:sp>
      <p:sp>
        <p:nvSpPr>
          <p:cNvPr id="28" name="Rounded Rectangle 27"/>
          <p:cNvSpPr/>
          <p:nvPr/>
        </p:nvSpPr>
        <p:spPr>
          <a:xfrm>
            <a:off x="566928" y="557885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Koffi conseille de vouvoyer le personnel du bureau.</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Régler une affaire au centre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Vrai ou faux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Amelia doit s'absenter trois semaines au mois de mars.   </a:t>
            </a:r>
            <a:r>
              <a:rPr sz="1400" b="1" i="0">
                <a:solidFill>
                  <a:srgbClr val="07734A"/>
                </a:solidFill>
                <a:latin typeface="Verdana"/>
              </a:rPr>
              <a:t>» vrai</a:t>
            </a:r>
          </a:p>
        </p:txBody>
      </p:sp>
      <p:sp>
        <p:nvSpPr>
          <p:cNvPr id="12" name="Rounded Rectangle 11"/>
          <p:cNvSpPr/>
          <p:nvPr/>
        </p:nvSpPr>
        <p:spPr>
          <a:xfrm>
            <a:off x="566928" y="282752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Koffi lui conseille d'en parler d'abord à son enseignante.   </a:t>
            </a:r>
            <a:r>
              <a:rPr sz="1400" b="1" i="0">
                <a:solidFill>
                  <a:srgbClr val="07734A"/>
                </a:solidFill>
                <a:latin typeface="Verdana"/>
              </a:rPr>
              <a:t>» faux — au secrétariat</a:t>
            </a:r>
          </a:p>
        </p:txBody>
      </p:sp>
      <p:sp>
        <p:nvSpPr>
          <p:cNvPr id="16" name="Rounded Rectangle 15"/>
          <p:cNvSpPr/>
          <p:nvPr/>
        </p:nvSpPr>
        <p:spPr>
          <a:xfrm>
            <a:off x="566928" y="351535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secrétariat est à droite en entrant.   </a:t>
            </a:r>
            <a:r>
              <a:rPr sz="1400" b="1" i="0">
                <a:solidFill>
                  <a:srgbClr val="07734A"/>
                </a:solidFill>
                <a:latin typeface="Verdana"/>
              </a:rPr>
              <a:t>» vrai</a:t>
            </a:r>
          </a:p>
        </p:txBody>
      </p:sp>
      <p:sp>
        <p:nvSpPr>
          <p:cNvPr id="20" name="Rounded Rectangle 19"/>
          <p:cNvSpPr/>
          <p:nvPr/>
        </p:nvSpPr>
        <p:spPr>
          <a:xfrm>
            <a:off x="566928" y="4203192"/>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Madame Paradis décide des changements de groupe.   </a:t>
            </a:r>
            <a:r>
              <a:rPr sz="1400" b="1" i="0">
                <a:solidFill>
                  <a:srgbClr val="07734A"/>
                </a:solidFill>
                <a:latin typeface="Verdana"/>
              </a:rPr>
              <a:t>» faux — c'est monsieur Gauthier</a:t>
            </a:r>
          </a:p>
        </p:txBody>
      </p:sp>
      <p:sp>
        <p:nvSpPr>
          <p:cNvPr id="24" name="Rounded Rectangle 23"/>
          <p:cNvSpPr/>
          <p:nvPr/>
        </p:nvSpPr>
        <p:spPr>
          <a:xfrm>
            <a:off x="566928" y="489102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Une absence annoncée d'avance fait perdre sa place.   </a:t>
            </a:r>
            <a:r>
              <a:rPr sz="1400" b="1" i="0">
                <a:solidFill>
                  <a:srgbClr val="07734A"/>
                </a:solidFill>
                <a:latin typeface="Verdana"/>
              </a:rPr>
              <a:t>» faux — c'est le contraire</a:t>
            </a:r>
          </a:p>
        </p:txBody>
      </p:sp>
      <p:sp>
        <p:nvSpPr>
          <p:cNvPr id="28" name="Rounded Rectangle 27"/>
          <p:cNvSpPr/>
          <p:nvPr/>
        </p:nvSpPr>
        <p:spPr>
          <a:xfrm>
            <a:off x="566928" y="557885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Koffi conseille de vouvoyer le personnel du bureau.   </a:t>
            </a:r>
            <a:r>
              <a:rPr sz="1400" b="1" i="0">
                <a:solidFill>
                  <a:srgbClr val="07734A"/>
                </a:solidFill>
                <a:latin typeface="Verdana"/>
              </a:rPr>
              <a:t>» vrai</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Régler une affaire au centre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13</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Écrivez une affaire que vous auriez à régler au centre, et à qui vous iriez.</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Une seule affaire, et une seule porte.</a:t>
            </a:r>
          </a:p>
        </p:txBody>
      </p:sp>
      <p:sp>
        <p:nvSpPr>
          <p:cNvPr id="10" name="Rounded Rectangle 9"/>
          <p:cNvSpPr/>
          <p:nvPr/>
        </p:nvSpPr>
        <p:spPr>
          <a:xfrm>
            <a:off x="566928" y="4680712"/>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Si vous n'êtes pas sûr de la porte, écrivez la question que vous poseriez.</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Régler une affaire au centre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