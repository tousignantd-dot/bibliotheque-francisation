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prononciation, placée tout de suite après la découverte pour que les mots nouveaux soient dits correctement dès la première fois. Ouvrir en écrivant au tableau « chambre » et « salon » et en demandant au groupe de les répéter.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 geste devant le groupe, très exagérément, puis faire imiter. C'est une séance où l'on regarde beaucoup la bouche de l'enseignante.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quatre mots reviennent dans tout le module. « Chercher » est le plus difficile : deux fois le même son dans un mot court.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 Sous-sol » est le mot du module : il porte le son deux fois et il reviendra à chaque séance du bloc 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qui explique pourquoi « cuisine » ne se prononce pas comme on l'écrit. Elle vaut pour toute la langue, pas seulement pour ce module.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la phrase complète, pas le mot seul : « Le logement est chauffé et éclairé. » C'est ainsi qu'elle se dira au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au groupe d'autres mots du logement avec un s entre deux voyelles : maison, chaise, voisin, saison. Tous se disent avec un 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2 de « Je découvre », où chaque mot s'écoute en touchant la carte. Faire d'abord l'exercice à voix haute, puis ouvrir l'activité sur les postes.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Répétition en chœur, puis individuellement. Faire ralentir : à vitesse normale, les deux sons se confondent et l'exercice ne sert plus à rien.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Relever les mots qui reviennent le plus : ils seront repris en début de séance A3, au moment du vocabulaire.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son CH et le son 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Chambre, chauffage, chercher — salon, sous-sol, salle. Deux sons voisins, et presque tout le vocabulaire du logement passe par l'un ou par l'autre.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Trois questions avant de louer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la différence entre le son CH et le son 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prononcer chambre, chauffage, chercher avec les lèvres avancées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prononcer salon, sous-sol, salle avec la langue en avant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qu'un seul s entre deux voyelles se dit comme un 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CE QUI CHANGE, C'EST LA BOUCHE</a:t>
            </a:r>
          </a:p>
        </p:txBody>
      </p:sp>
      <p:sp>
        <p:nvSpPr>
          <p:cNvPr id="6" name="Rounded Rectangle 5"/>
          <p:cNvSpPr/>
          <p:nvPr/>
        </p:nvSpPr>
        <p:spPr>
          <a:xfrm>
            <a:off x="566928" y="1225296"/>
            <a:ext cx="11057839" cy="1441196"/>
          </a:xfrm>
          <a:prstGeom prst="roundRect">
            <a:avLst>
              <a:gd name="adj" fmla="val 10151"/>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Les lèvres pour CH, la langue pour S</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Pour CH, les lèvres s'avancent, comme pour souffler sur une cuillère. Pour S, les lèvres ne bougent pas et la langue reste derrière les dents du haut. Mettez la main devant la bouche : l'air ne sort pas au même endroit.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CH — les lèvres en avant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une chambre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CH au début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chauffage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CH au début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chercher</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CH deux fois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un chèque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CH au début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Presque toujours écrit avec les deux lettres c et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S — la langue en avant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salon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S au début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le sous-sol</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S deux fois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la salle de bain</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S au début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samedi</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S au début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Écrit s au début, ss entre deux voyelles, parfois c devant e ou 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 un seul s se dit comme un z</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la cuisine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Z au milieu</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la maison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Z au milieu</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une chaise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Z à la fin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une adresse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son S, parce qu'il y a deux s</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Un seul s entre deux voyelles se dit Z. Deux s gardent le son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le logement est sauffé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le logement est chauffé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mot le plus important d'une annonce : il dit qui paie le chauffage. Avancez bien les lèvres avant de commencer le mot, et faites-le durer un peu.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la cuiSSine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la cuiZine »</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seul s entre deux voyelles se dit toujours comme un z. Pour garder le son S, il faut deux s : une adresse, une poussière.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DISCRIMINATION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 ou 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mot et dites quel son vous entendez.</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chambre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salon</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sous-sol</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cuisine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chercher un logement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 ou 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chambre   </a:t>
            </a:r>
            <a:r>
              <a:rPr sz="1900" b="1" i="0">
                <a:solidFill>
                  <a:srgbClr val="07734A"/>
                </a:solidFill>
                <a:latin typeface="Verdana"/>
              </a:rPr>
              <a:t>» CH</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salon   </a:t>
            </a:r>
            <a:r>
              <a:rPr sz="1900" b="1" i="0">
                <a:solidFill>
                  <a:srgbClr val="07734A"/>
                </a:solidFill>
                <a:latin typeface="Verdana"/>
              </a:rPr>
              <a:t>» S</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chauffage   </a:t>
            </a:r>
            <a:r>
              <a:rPr sz="1900" b="1" i="0">
                <a:solidFill>
                  <a:srgbClr val="07734A"/>
                </a:solidFill>
                <a:latin typeface="Verdana"/>
              </a:rPr>
              <a:t>» CH</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sous-sol   </a:t>
            </a:r>
            <a:r>
              <a:rPr sz="1900" b="1" i="0">
                <a:solidFill>
                  <a:srgbClr val="07734A"/>
                </a:solidFill>
                <a:latin typeface="Verdana"/>
              </a:rPr>
              <a:t>» S</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cuisine   </a:t>
            </a:r>
            <a:r>
              <a:rPr sz="1900" b="1" i="0">
                <a:solidFill>
                  <a:srgbClr val="07734A"/>
                </a:solidFill>
                <a:latin typeface="Verdana"/>
              </a:rPr>
              <a:t>» S, puis Z au milieu</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chercher un logement   </a:t>
            </a:r>
            <a:r>
              <a:rPr sz="1900" b="1" i="0">
                <a:solidFill>
                  <a:srgbClr val="07734A"/>
                </a:solidFill>
                <a:latin typeface="Verdana"/>
              </a:rPr>
              <a:t>» CH deux fois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RÉPÉTITION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de la visite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répétez lentement.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logement est chauffé et éclairé.</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salon est à côté de la cuisine.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cherche une chambre de plus.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buanderie est au sous-sol.</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chaises restent dans la cuisine.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salle de bain est au fond du couloir.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de la visite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logement est chauffé et éclairé.   </a:t>
            </a:r>
            <a:r>
              <a:rPr sz="1400" b="1" i="0">
                <a:solidFill>
                  <a:srgbClr val="07734A"/>
                </a:solidFill>
                <a:latin typeface="Verdana"/>
              </a:rPr>
              <a:t>» CH deux fois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salon est à côté de la cuisine.   </a:t>
            </a:r>
            <a:r>
              <a:rPr sz="1400" b="1" i="0">
                <a:solidFill>
                  <a:srgbClr val="07734A"/>
                </a:solidFill>
                <a:latin typeface="Verdana"/>
              </a:rPr>
              <a:t>» S trois fois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cherche une chambre de plus.   </a:t>
            </a:r>
            <a:r>
              <a:rPr sz="1400" b="1" i="0">
                <a:solidFill>
                  <a:srgbClr val="07734A"/>
                </a:solidFill>
                <a:latin typeface="Verdana"/>
              </a:rPr>
              <a:t>» CH deux fois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buanderie est au sous-sol.   </a:t>
            </a:r>
            <a:r>
              <a:rPr sz="1400" b="1" i="0">
                <a:solidFill>
                  <a:srgbClr val="07734A"/>
                </a:solidFill>
                <a:latin typeface="Verdana"/>
              </a:rPr>
              <a:t>» S trois fois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chaises restent dans la cuisine.   </a:t>
            </a:r>
            <a:r>
              <a:rPr sz="1400" b="1" i="0">
                <a:solidFill>
                  <a:srgbClr val="07734A"/>
                </a:solidFill>
                <a:latin typeface="Verdana"/>
              </a:rPr>
              <a:t>» CH, puis Z</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salle de bain est au fond du couloir.   </a:t>
            </a:r>
            <a:r>
              <a:rPr sz="1400" b="1" i="0">
                <a:solidFill>
                  <a:srgbClr val="07734A"/>
                </a:solidFill>
                <a:latin typeface="Verdana"/>
              </a:rPr>
              <a:t>» S deux fois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mots du logement avec le son CH et deux mots avec le son 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le son CH : ___ et ___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le son S : ___ et ___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Trois questions avant de louer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