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vocabulaire, placée après la phonétique pour que les mots nouveaux soient dits correctement dès la première fois. Ouvrir en demandant quels mots du logement chacun connaît déjà, et les écrire au tableau sans corriger.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chaque mot avec son article. « Un quatre et demie » se dit au féminin même si on n'entend pas pourquoi : on sous-entend « pièce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mots sont ceux du bloc B. Les poser ici sans les développer : ils seront repris devant une annonce réelle à la séance B1.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 bail » se prononce comme « le travail ». Ne pas développer la question du bail ici : elle a sa séance, en D2.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premiers reviennent à chaque visite. « Prendre rendez-vous » est le seul verbe de la liste : il annonce le bloc 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 sont les verbes que le programme rattache à cette situation. Faire remarquer que « chauffé » et « éclairé » sont les participes de « chauffer » et « éclairer » : les annonces les emploient tels quels.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de vocabulaire du module, sous forme orale. Enchaîner avec l'activité interactive, où les seize mots se travaillent six à la fois par glisser-déposer.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Prépare l'exercice 3 de l'activité, qui reprend ces mêmes pièces par glisser-déposer. Faire décrire aussi la classe : où est la porte, où est la fenêtre, ce qu'il y a au fond.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Les mots qui reviennent le plus souvent dans les billets sont à reprendre en début de séance A4.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A3  ·  MODULE 8</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Les seize mots du logement</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Quatre familles : les pièces, l'annonce, les gens, l'immeuble. Seize mots qui reviennent dans les seize séances.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Trois questions avant de louer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pièces : le salon, la cuisine, la chambre, la salle de bain, le balcon ;</a:t>
            </a:r>
          </a:p>
        </p:txBody>
      </p:sp>
      <p:sp>
        <p:nvSpPr>
          <p:cNvPr id="11" name="Rounded Rectangle 10"/>
          <p:cNvSpPr/>
          <p:nvPr/>
        </p:nvSpPr>
        <p:spPr>
          <a:xfrm>
            <a:off x="566928" y="3006343"/>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361943"/>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444239"/>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3207512"/>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ce que dit une annonce : meublé, chauffé, l'électricité comprise ;</a:t>
            </a:r>
          </a:p>
        </p:txBody>
      </p:sp>
      <p:sp>
        <p:nvSpPr>
          <p:cNvPr id="15" name="Rounded Rectangle 14"/>
          <p:cNvSpPr/>
          <p:nvPr/>
        </p:nvSpPr>
        <p:spPr>
          <a:xfrm>
            <a:off x="566928" y="42478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4256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5079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4449063"/>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personnes : le propriétaire, le locataire, le concierge ;</a:t>
            </a:r>
          </a:p>
        </p:txBody>
      </p:sp>
      <p:sp>
        <p:nvSpPr>
          <p:cNvPr id="19" name="Rounded Rectangle 18"/>
          <p:cNvSpPr/>
          <p:nvPr/>
        </p:nvSpPr>
        <p:spPr>
          <a:xfrm>
            <a:off x="566928" y="51338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53116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3939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53350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l'immeuble : le sous-sol, la buanderie, le stationnement.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pièces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364325"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logement</a:t>
            </a:r>
          </a:p>
        </p:txBody>
      </p:sp>
      <p:sp>
        <p:nvSpPr>
          <p:cNvPr id="9" name="TextBox 8"/>
          <p:cNvSpPr txBox="1"/>
          <p:nvPr/>
        </p:nvSpPr>
        <p:spPr>
          <a:xfrm>
            <a:off x="4571333" y="2121408"/>
            <a:ext cx="668767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l'endroit où on habite : un appartement, une maison</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3364325"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chambre à coucher</a:t>
            </a:r>
          </a:p>
        </p:txBody>
      </p:sp>
      <p:sp>
        <p:nvSpPr>
          <p:cNvPr id="12" name="TextBox 11"/>
          <p:cNvSpPr txBox="1"/>
          <p:nvPr/>
        </p:nvSpPr>
        <p:spPr>
          <a:xfrm>
            <a:off x="4571333" y="3106674"/>
            <a:ext cx="668767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pièce fermée, avec une porte, où on dort</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3364325"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balcon</a:t>
            </a:r>
          </a:p>
        </p:txBody>
      </p:sp>
      <p:sp>
        <p:nvSpPr>
          <p:cNvPr id="15" name="TextBox 14"/>
          <p:cNvSpPr txBox="1"/>
          <p:nvPr/>
        </p:nvSpPr>
        <p:spPr>
          <a:xfrm>
            <a:off x="4571333" y="4091939"/>
            <a:ext cx="668767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petite place ouverte, dehors, devant ou derrière</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3364325"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quatre et demie</a:t>
            </a:r>
          </a:p>
        </p:txBody>
      </p:sp>
      <p:sp>
        <p:nvSpPr>
          <p:cNvPr id="18" name="TextBox 17"/>
          <p:cNvSpPr txBox="1"/>
          <p:nvPr/>
        </p:nvSpPr>
        <p:spPr>
          <a:xfrm>
            <a:off x="4571333" y="5077205"/>
            <a:ext cx="668767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deux chambres fermées, un salon, une cuisine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dit l'annonce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025902"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petite annonce</a:t>
            </a:r>
          </a:p>
        </p:txBody>
      </p:sp>
      <p:sp>
        <p:nvSpPr>
          <p:cNvPr id="9" name="TextBox 8"/>
          <p:cNvSpPr txBox="1"/>
          <p:nvPr/>
        </p:nvSpPr>
        <p:spPr>
          <a:xfrm>
            <a:off x="4232910" y="2121408"/>
            <a:ext cx="7026097"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court texte qui dit qu'un logement est à louer</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3025902"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meublé</a:t>
            </a:r>
          </a:p>
        </p:txBody>
      </p:sp>
      <p:sp>
        <p:nvSpPr>
          <p:cNvPr id="12" name="TextBox 11"/>
          <p:cNvSpPr txBox="1"/>
          <p:nvPr/>
        </p:nvSpPr>
        <p:spPr>
          <a:xfrm>
            <a:off x="4232910" y="3106674"/>
            <a:ext cx="7026097"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les meubles sont déjà là quand on arrive</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3025902"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chauffé</a:t>
            </a:r>
          </a:p>
        </p:txBody>
      </p:sp>
      <p:sp>
        <p:nvSpPr>
          <p:cNvPr id="15" name="TextBox 14"/>
          <p:cNvSpPr txBox="1"/>
          <p:nvPr/>
        </p:nvSpPr>
        <p:spPr>
          <a:xfrm>
            <a:off x="4232910" y="4091939"/>
            <a:ext cx="7026097"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chauffage est déjà payé dans le loyer</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3025902"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l'électricité comprise</a:t>
            </a:r>
          </a:p>
        </p:txBody>
      </p:sp>
      <p:sp>
        <p:nvSpPr>
          <p:cNvPr id="18" name="TextBox 17"/>
          <p:cNvSpPr txBox="1"/>
          <p:nvPr/>
        </p:nvSpPr>
        <p:spPr>
          <a:xfrm>
            <a:off x="4232910" y="5077205"/>
            <a:ext cx="7026097"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compte d'électricité est déjà dans le loyer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L'argent et les personnes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22437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loyer</a:t>
            </a:r>
          </a:p>
        </p:txBody>
      </p:sp>
      <p:sp>
        <p:nvSpPr>
          <p:cNvPr id="9" name="TextBox 8"/>
          <p:cNvSpPr txBox="1"/>
          <p:nvPr/>
        </p:nvSpPr>
        <p:spPr>
          <a:xfrm>
            <a:off x="3431381" y="2121408"/>
            <a:ext cx="782762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l'argent qu'on donne chaque mois</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222437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louer</a:t>
            </a:r>
          </a:p>
        </p:txBody>
      </p:sp>
      <p:sp>
        <p:nvSpPr>
          <p:cNvPr id="12" name="TextBox 11"/>
          <p:cNvSpPr txBox="1"/>
          <p:nvPr/>
        </p:nvSpPr>
        <p:spPr>
          <a:xfrm>
            <a:off x="3431381" y="3106674"/>
            <a:ext cx="782762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payer chaque mois pour habiter un logement qui n'est pas à soi</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222437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propriétaire</a:t>
            </a:r>
          </a:p>
        </p:txBody>
      </p:sp>
      <p:sp>
        <p:nvSpPr>
          <p:cNvPr id="15" name="TextBox 14"/>
          <p:cNvSpPr txBox="1"/>
          <p:nvPr/>
        </p:nvSpPr>
        <p:spPr>
          <a:xfrm>
            <a:off x="3431381" y="4091939"/>
            <a:ext cx="782762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personne à qui le logement appartient</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222437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bail</a:t>
            </a:r>
          </a:p>
        </p:txBody>
      </p:sp>
      <p:sp>
        <p:nvSpPr>
          <p:cNvPr id="18" name="TextBox 17"/>
          <p:cNvSpPr txBox="1"/>
          <p:nvPr/>
        </p:nvSpPr>
        <p:spPr>
          <a:xfrm>
            <a:off x="3431381" y="5077205"/>
            <a:ext cx="782762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papier qu'on signe, pour douze mois d'habitude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L'immeuble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024282"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sous-sol</a:t>
            </a:r>
          </a:p>
        </p:txBody>
      </p:sp>
      <p:sp>
        <p:nvSpPr>
          <p:cNvPr id="9" name="TextBox 8"/>
          <p:cNvSpPr txBox="1"/>
          <p:nvPr/>
        </p:nvSpPr>
        <p:spPr>
          <a:xfrm>
            <a:off x="4231290" y="2121408"/>
            <a:ext cx="7027716"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partie de l'immeuble sous le rez-de-chaussée</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3024282"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chauffage</a:t>
            </a:r>
          </a:p>
        </p:txBody>
      </p:sp>
      <p:sp>
        <p:nvSpPr>
          <p:cNvPr id="12" name="TextBox 11"/>
          <p:cNvSpPr txBox="1"/>
          <p:nvPr/>
        </p:nvSpPr>
        <p:spPr>
          <a:xfrm>
            <a:off x="4231290" y="3106674"/>
            <a:ext cx="7027716"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qui réchauffe le logement quand il fait froid</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3024282"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stationnement</a:t>
            </a:r>
          </a:p>
        </p:txBody>
      </p:sp>
      <p:sp>
        <p:nvSpPr>
          <p:cNvPr id="15" name="TextBox 14"/>
          <p:cNvSpPr txBox="1"/>
          <p:nvPr/>
        </p:nvSpPr>
        <p:spPr>
          <a:xfrm>
            <a:off x="4231290" y="4091939"/>
            <a:ext cx="7027716"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l'endroit réservé où on laisse son auto</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3024282"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prendre rendez-vous</a:t>
            </a:r>
          </a:p>
        </p:txBody>
      </p:sp>
      <p:sp>
        <p:nvSpPr>
          <p:cNvPr id="18" name="TextBox 17"/>
          <p:cNvSpPr txBox="1"/>
          <p:nvPr/>
        </p:nvSpPr>
        <p:spPr>
          <a:xfrm>
            <a:off x="4231290" y="5077205"/>
            <a:ext cx="7027716"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s'entendre sur un jour et une heure pour se voir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verbes du programme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VERBE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VEUT DIRE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louer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payer chaque mois pour habiter</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se renseigner</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aller chercher l'information, demander</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chauffer</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réchauffer le logement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éclairer</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donner l'électricité et la lumière</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Chauffé et éclairé viennent de ces deux verbes-là.</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et sa définition</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Dites de quel mot il s'agit.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L'argent qu'on donne chaque mois.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pièce fermée où on dort.</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papier qu'on signe pour douze mois.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logement où les meubles sont déjà là.</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personne à qui le logement appartient.</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partie de l'immeuble sous le rez-de-chaussée.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et sa définition</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L'argent qu'on donne chaque mois.   </a:t>
            </a:r>
            <a:r>
              <a:rPr sz="1400" b="1" i="0">
                <a:solidFill>
                  <a:srgbClr val="07734A"/>
                </a:solidFill>
                <a:latin typeface="Verdana"/>
              </a:rPr>
              <a:t>» un loyer</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pièce fermée où on dort.   </a:t>
            </a:r>
            <a:r>
              <a:rPr sz="1400" b="1" i="0">
                <a:solidFill>
                  <a:srgbClr val="07734A"/>
                </a:solidFill>
                <a:latin typeface="Verdana"/>
              </a:rPr>
              <a:t>» une chambre à coucher</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papier qu'on signe pour douze mois.   </a:t>
            </a:r>
            <a:r>
              <a:rPr sz="1400" b="1" i="0">
                <a:solidFill>
                  <a:srgbClr val="07734A"/>
                </a:solidFill>
                <a:latin typeface="Verdana"/>
              </a:rPr>
              <a:t>» le bail</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logement où les meubles sont déjà là.   </a:t>
            </a:r>
            <a:r>
              <a:rPr sz="1400" b="1" i="0">
                <a:solidFill>
                  <a:srgbClr val="07734A"/>
                </a:solidFill>
                <a:latin typeface="Verdana"/>
              </a:rPr>
              <a:t>» meublé</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personne à qui le logement appartient.   </a:t>
            </a:r>
            <a:r>
              <a:rPr sz="1400" b="1" i="0">
                <a:solidFill>
                  <a:srgbClr val="07734A"/>
                </a:solidFill>
                <a:latin typeface="Verdana"/>
              </a:rPr>
              <a:t>» un propriétaire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partie de l'immeuble sous le rez-de-chaussée.   </a:t>
            </a:r>
            <a:r>
              <a:rPr sz="1400" b="1" i="0">
                <a:solidFill>
                  <a:srgbClr val="07734A"/>
                </a:solidFill>
                <a:latin typeface="Verdana"/>
              </a:rPr>
              <a:t>» le sous-sol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pièces du logement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Nommez chaque pièce et dites ce qu'on y fait.</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cuisine.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salon.</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chambre à coucher.</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salle de bain.</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balcon arrière.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pièces du logement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cuisine.   </a:t>
            </a:r>
            <a:r>
              <a:rPr sz="1900" b="1" i="0">
                <a:solidFill>
                  <a:srgbClr val="07734A"/>
                </a:solidFill>
                <a:latin typeface="Verdana"/>
              </a:rPr>
              <a:t>» le comptoir, l'évier, la fenêtre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salon.   </a:t>
            </a:r>
            <a:r>
              <a:rPr sz="1900" b="1" i="0">
                <a:solidFill>
                  <a:srgbClr val="07734A"/>
                </a:solidFill>
                <a:latin typeface="Verdana"/>
              </a:rPr>
              <a:t>» la grande pièce, sans porte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chambre à coucher.   </a:t>
            </a:r>
            <a:r>
              <a:rPr sz="1900" b="1" i="0">
                <a:solidFill>
                  <a:srgbClr val="07734A"/>
                </a:solidFill>
                <a:latin typeface="Verdana"/>
              </a:rPr>
              <a:t>» fermée, avec une porte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salle de bain.   </a:t>
            </a:r>
            <a:r>
              <a:rPr sz="1900" b="1" i="0">
                <a:solidFill>
                  <a:srgbClr val="07734A"/>
                </a:solidFill>
                <a:latin typeface="Verdana"/>
              </a:rPr>
              <a:t>» le bain, le lavabo, la toilette</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balcon arrière.   </a:t>
            </a:r>
            <a:r>
              <a:rPr sz="1900" b="1" i="0">
                <a:solidFill>
                  <a:srgbClr val="07734A"/>
                </a:solidFill>
                <a:latin typeface="Verdana"/>
              </a:rPr>
              <a:t>» dehors, derrière la cuisine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quatre mots du logement qui vous manquaient avant aujourd'hui.</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Je ne connaissais pas le mot ___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Maintenant je sais que ___ veut dire ___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Trois questions avant de louer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