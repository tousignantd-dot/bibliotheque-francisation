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Séance de vocabulaire, placée après la phonétique pour que les mots nouveaux soient dits correctement dès la première fois. Ouvrir en demandant quels mots du logement chacun connaît déjà, et les écrire au tableau sans corriger.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objectifs à voix haute. Y revenir au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dire chaque mot avec son article. « Un quatre et demie » se dit au féminin même si on n'entend pas pourquoi : on sous-entend « pièce ».</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quatre mots sont ceux du bloc B. Les poser ici sans les développer : ils seront repris devant une annonce réelle à la séance B1.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Le bail » se prononce comme « le travail ». Ne pas développer la question du bail ici : elle a sa séance, en D2.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trois premiers reviennent à chaque visite. « Prendre rendez-vous » est le seul verbe de la liste : il annonce le bloc C.</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Ce sont les verbes que le programme rattache à cette situation. Faire remarquer que « chauffé » et « éclairé » sont les participes de « chauffer » et « éclairer » : les annonces les emploient tels quels.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l'exercice de vocabulaire du module, sous forme orale. Enchaîner avec l'activité interactive, où les seize mots se travaillent six à la fois par glisser-déposer.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Prépare l'exercice 3 de l'activité, qui reprend ces mêmes pièces par glisser-déposer. Faire décrire aussi la classe : où est la porte, où est la fenêtre, ce qu'il y a au fond.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Devoir court. Les mots qui reviennent le plus souvent dans les billets sont à reprendre en début de séance A4.</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SÉANCE A3  ·  MODULE 8</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Les seize mots du logement</a:t>
            </a:r>
          </a:p>
        </p:txBody>
      </p:sp>
      <p:sp>
        <p:nvSpPr>
          <p:cNvPr id="5" name="Rounded Rectangle 4"/>
          <p:cNvSpPr/>
          <p:nvPr/>
        </p:nvSpPr>
        <p:spPr>
          <a:xfrm>
            <a:off x="566928" y="3794760"/>
            <a:ext cx="9960559" cy="1394968"/>
          </a:xfrm>
          <a:prstGeom prst="roundRect">
            <a:avLst>
              <a:gd name="adj" fmla="val 1048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7823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Quatre familles : les pièces, l'annonce, les gens, l'immeuble. Seize mots qui reviennent dans les seize séances.</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Trois questions avant de louer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Trois questions avant de louer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1113536"/>
          </a:xfrm>
          <a:prstGeom prst="roundRect">
            <a:avLst>
              <a:gd name="adj" fmla="val 1313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2120392"/>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202688"/>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0" name="TextBox 9"/>
          <p:cNvSpPr txBox="1"/>
          <p:nvPr/>
        </p:nvSpPr>
        <p:spPr>
          <a:xfrm>
            <a:off x="1408176" y="1965960"/>
            <a:ext cx="9549079" cy="7477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nommer les pièces : le salon, la cuisine, la chambre, la salle de bain, le balcon ;</a:t>
            </a:r>
          </a:p>
        </p:txBody>
      </p:sp>
      <p:sp>
        <p:nvSpPr>
          <p:cNvPr id="11" name="Rounded Rectangle 10"/>
          <p:cNvSpPr/>
          <p:nvPr/>
        </p:nvSpPr>
        <p:spPr>
          <a:xfrm>
            <a:off x="566928" y="3006343"/>
            <a:ext cx="11057839" cy="1113536"/>
          </a:xfrm>
          <a:prstGeom prst="roundRect">
            <a:avLst>
              <a:gd name="adj" fmla="val 1313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3361943"/>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3444239"/>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4" name="TextBox 13"/>
          <p:cNvSpPr txBox="1"/>
          <p:nvPr/>
        </p:nvSpPr>
        <p:spPr>
          <a:xfrm>
            <a:off x="1408176" y="3207512"/>
            <a:ext cx="9549079" cy="7477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nommer ce que dit une annonce : meublé, chauffé, l'électricité comprise ;</a:t>
            </a:r>
          </a:p>
        </p:txBody>
      </p:sp>
      <p:sp>
        <p:nvSpPr>
          <p:cNvPr id="15" name="Rounded Rectangle 14"/>
          <p:cNvSpPr/>
          <p:nvPr/>
        </p:nvSpPr>
        <p:spPr>
          <a:xfrm>
            <a:off x="566928" y="42478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4425696"/>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4507992"/>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8" name="TextBox 17"/>
          <p:cNvSpPr txBox="1"/>
          <p:nvPr/>
        </p:nvSpPr>
        <p:spPr>
          <a:xfrm>
            <a:off x="1408176" y="4449063"/>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nommer les personnes : le propriétaire, le locataire, le concierge ;</a:t>
            </a:r>
          </a:p>
        </p:txBody>
      </p:sp>
      <p:sp>
        <p:nvSpPr>
          <p:cNvPr id="19" name="Rounded Rectangle 18"/>
          <p:cNvSpPr/>
          <p:nvPr/>
        </p:nvSpPr>
        <p:spPr>
          <a:xfrm>
            <a:off x="566928" y="51338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5311648"/>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5393944"/>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2" name="TextBox 21"/>
          <p:cNvSpPr txBox="1"/>
          <p:nvPr/>
        </p:nvSpPr>
        <p:spPr>
          <a:xfrm>
            <a:off x="1408176" y="53350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nommer l'immeuble : le sous-sol, la buanderie, le stationnement.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Trois questions avant de louer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VOCABULAIRE · 1 DE 4</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pièces</a:t>
            </a:r>
          </a:p>
        </p:txBody>
      </p:sp>
      <p:sp>
        <p:nvSpPr>
          <p:cNvPr id="7" name="Rounded Rectangle 6"/>
          <p:cNvSpPr/>
          <p:nvPr/>
        </p:nvSpPr>
        <p:spPr>
          <a:xfrm>
            <a:off x="566928" y="1810512"/>
            <a:ext cx="11057839" cy="4270248"/>
          </a:xfrm>
          <a:prstGeom prst="roundRect">
            <a:avLst>
              <a:gd name="adj" fmla="val 34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21408"/>
            <a:ext cx="3364325"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logement</a:t>
            </a:r>
          </a:p>
        </p:txBody>
      </p:sp>
      <p:sp>
        <p:nvSpPr>
          <p:cNvPr id="9" name="TextBox 8"/>
          <p:cNvSpPr txBox="1"/>
          <p:nvPr/>
        </p:nvSpPr>
        <p:spPr>
          <a:xfrm>
            <a:off x="4571333" y="2121408"/>
            <a:ext cx="6687673"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l'endroit où on habite : un appartement, une maison</a:t>
            </a:r>
          </a:p>
        </p:txBody>
      </p:sp>
      <p:sp>
        <p:nvSpPr>
          <p:cNvPr id="10" name="Rectangle 9"/>
          <p:cNvSpPr/>
          <p:nvPr/>
        </p:nvSpPr>
        <p:spPr>
          <a:xfrm>
            <a:off x="932688" y="296037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3106674"/>
            <a:ext cx="3364325"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une chambre à coucher</a:t>
            </a:r>
          </a:p>
        </p:txBody>
      </p:sp>
      <p:sp>
        <p:nvSpPr>
          <p:cNvPr id="12" name="TextBox 11"/>
          <p:cNvSpPr txBox="1"/>
          <p:nvPr/>
        </p:nvSpPr>
        <p:spPr>
          <a:xfrm>
            <a:off x="4571333" y="3106674"/>
            <a:ext cx="6687673"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la pièce fermée, avec une porte, où on dort</a:t>
            </a:r>
          </a:p>
        </p:txBody>
      </p:sp>
      <p:sp>
        <p:nvSpPr>
          <p:cNvPr id="13" name="Rectangle 12"/>
          <p:cNvSpPr/>
          <p:nvPr/>
        </p:nvSpPr>
        <p:spPr>
          <a:xfrm>
            <a:off x="932688" y="3945635"/>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4091939"/>
            <a:ext cx="3364325"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balcon</a:t>
            </a:r>
          </a:p>
        </p:txBody>
      </p:sp>
      <p:sp>
        <p:nvSpPr>
          <p:cNvPr id="15" name="TextBox 14"/>
          <p:cNvSpPr txBox="1"/>
          <p:nvPr/>
        </p:nvSpPr>
        <p:spPr>
          <a:xfrm>
            <a:off x="4571333" y="4091939"/>
            <a:ext cx="6687673"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la petite place ouverte, dehors, devant ou derrière</a:t>
            </a:r>
          </a:p>
        </p:txBody>
      </p:sp>
      <p:sp>
        <p:nvSpPr>
          <p:cNvPr id="16" name="Rectangle 15"/>
          <p:cNvSpPr/>
          <p:nvPr/>
        </p:nvSpPr>
        <p:spPr>
          <a:xfrm>
            <a:off x="932688" y="4930901"/>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5077205"/>
            <a:ext cx="3364325"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quatre et demie</a:t>
            </a:r>
          </a:p>
        </p:txBody>
      </p:sp>
      <p:sp>
        <p:nvSpPr>
          <p:cNvPr id="18" name="TextBox 17"/>
          <p:cNvSpPr txBox="1"/>
          <p:nvPr/>
        </p:nvSpPr>
        <p:spPr>
          <a:xfrm>
            <a:off x="4571333" y="5077205"/>
            <a:ext cx="6687673"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deux chambres fermées, un salon, une cuisine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Trois questions avant de louer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VOCABULAIRE · 2 DE 4</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que dit l'annonce</a:t>
            </a:r>
          </a:p>
        </p:txBody>
      </p:sp>
      <p:sp>
        <p:nvSpPr>
          <p:cNvPr id="7" name="Rounded Rectangle 6"/>
          <p:cNvSpPr/>
          <p:nvPr/>
        </p:nvSpPr>
        <p:spPr>
          <a:xfrm>
            <a:off x="566928" y="1810512"/>
            <a:ext cx="11057839" cy="4270248"/>
          </a:xfrm>
          <a:prstGeom prst="roundRect">
            <a:avLst>
              <a:gd name="adj" fmla="val 34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21408"/>
            <a:ext cx="3025902"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une petite annonce</a:t>
            </a:r>
          </a:p>
        </p:txBody>
      </p:sp>
      <p:sp>
        <p:nvSpPr>
          <p:cNvPr id="9" name="TextBox 8"/>
          <p:cNvSpPr txBox="1"/>
          <p:nvPr/>
        </p:nvSpPr>
        <p:spPr>
          <a:xfrm>
            <a:off x="4232910" y="2121408"/>
            <a:ext cx="7026097"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le court texte qui dit qu'un logement est à louer</a:t>
            </a:r>
          </a:p>
        </p:txBody>
      </p:sp>
      <p:sp>
        <p:nvSpPr>
          <p:cNvPr id="10" name="Rectangle 9"/>
          <p:cNvSpPr/>
          <p:nvPr/>
        </p:nvSpPr>
        <p:spPr>
          <a:xfrm>
            <a:off x="932688" y="296037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3106674"/>
            <a:ext cx="3025902"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meublé</a:t>
            </a:r>
          </a:p>
        </p:txBody>
      </p:sp>
      <p:sp>
        <p:nvSpPr>
          <p:cNvPr id="12" name="TextBox 11"/>
          <p:cNvSpPr txBox="1"/>
          <p:nvPr/>
        </p:nvSpPr>
        <p:spPr>
          <a:xfrm>
            <a:off x="4232910" y="3106674"/>
            <a:ext cx="7026097"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les meubles sont déjà là quand on arrive</a:t>
            </a:r>
          </a:p>
        </p:txBody>
      </p:sp>
      <p:sp>
        <p:nvSpPr>
          <p:cNvPr id="13" name="Rectangle 12"/>
          <p:cNvSpPr/>
          <p:nvPr/>
        </p:nvSpPr>
        <p:spPr>
          <a:xfrm>
            <a:off x="932688" y="3945635"/>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4091939"/>
            <a:ext cx="3025902"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chauffé</a:t>
            </a:r>
          </a:p>
        </p:txBody>
      </p:sp>
      <p:sp>
        <p:nvSpPr>
          <p:cNvPr id="15" name="TextBox 14"/>
          <p:cNvSpPr txBox="1"/>
          <p:nvPr/>
        </p:nvSpPr>
        <p:spPr>
          <a:xfrm>
            <a:off x="4232910" y="4091939"/>
            <a:ext cx="7026097"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le chauffage est déjà payé dans le loyer</a:t>
            </a:r>
          </a:p>
        </p:txBody>
      </p:sp>
      <p:sp>
        <p:nvSpPr>
          <p:cNvPr id="16" name="Rectangle 15"/>
          <p:cNvSpPr/>
          <p:nvPr/>
        </p:nvSpPr>
        <p:spPr>
          <a:xfrm>
            <a:off x="932688" y="4930901"/>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5077205"/>
            <a:ext cx="3025902"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l'électricité comprise</a:t>
            </a:r>
          </a:p>
        </p:txBody>
      </p:sp>
      <p:sp>
        <p:nvSpPr>
          <p:cNvPr id="18" name="TextBox 17"/>
          <p:cNvSpPr txBox="1"/>
          <p:nvPr/>
        </p:nvSpPr>
        <p:spPr>
          <a:xfrm>
            <a:off x="4232910" y="5077205"/>
            <a:ext cx="7026097"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le compte d'électricité est déjà dans le loyer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Trois questions avant de louer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VOCABULAIRE · 3 DE 4</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L'argent et les personnes</a:t>
            </a:r>
          </a:p>
        </p:txBody>
      </p:sp>
      <p:sp>
        <p:nvSpPr>
          <p:cNvPr id="7" name="Rounded Rectangle 6"/>
          <p:cNvSpPr/>
          <p:nvPr/>
        </p:nvSpPr>
        <p:spPr>
          <a:xfrm>
            <a:off x="566928" y="1810512"/>
            <a:ext cx="11057839" cy="4270248"/>
          </a:xfrm>
          <a:prstGeom prst="roundRect">
            <a:avLst>
              <a:gd name="adj" fmla="val 34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21408"/>
            <a:ext cx="2224373"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loyer</a:t>
            </a:r>
          </a:p>
        </p:txBody>
      </p:sp>
      <p:sp>
        <p:nvSpPr>
          <p:cNvPr id="9" name="TextBox 8"/>
          <p:cNvSpPr txBox="1"/>
          <p:nvPr/>
        </p:nvSpPr>
        <p:spPr>
          <a:xfrm>
            <a:off x="3431381" y="2121408"/>
            <a:ext cx="7827625"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l'argent qu'on donne chaque mois</a:t>
            </a:r>
          </a:p>
        </p:txBody>
      </p:sp>
      <p:sp>
        <p:nvSpPr>
          <p:cNvPr id="10" name="Rectangle 9"/>
          <p:cNvSpPr/>
          <p:nvPr/>
        </p:nvSpPr>
        <p:spPr>
          <a:xfrm>
            <a:off x="932688" y="296037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3106674"/>
            <a:ext cx="2224373"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louer</a:t>
            </a:r>
          </a:p>
        </p:txBody>
      </p:sp>
      <p:sp>
        <p:nvSpPr>
          <p:cNvPr id="12" name="TextBox 11"/>
          <p:cNvSpPr txBox="1"/>
          <p:nvPr/>
        </p:nvSpPr>
        <p:spPr>
          <a:xfrm>
            <a:off x="3431381" y="3106674"/>
            <a:ext cx="7827625"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payer chaque mois pour habiter un logement qui n'est pas à soi</a:t>
            </a:r>
          </a:p>
        </p:txBody>
      </p:sp>
      <p:sp>
        <p:nvSpPr>
          <p:cNvPr id="13" name="Rectangle 12"/>
          <p:cNvSpPr/>
          <p:nvPr/>
        </p:nvSpPr>
        <p:spPr>
          <a:xfrm>
            <a:off x="932688" y="3945635"/>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4091939"/>
            <a:ext cx="2224373"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propriétaire</a:t>
            </a:r>
          </a:p>
        </p:txBody>
      </p:sp>
      <p:sp>
        <p:nvSpPr>
          <p:cNvPr id="15" name="TextBox 14"/>
          <p:cNvSpPr txBox="1"/>
          <p:nvPr/>
        </p:nvSpPr>
        <p:spPr>
          <a:xfrm>
            <a:off x="3431381" y="4091939"/>
            <a:ext cx="7827625"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la personne à qui le logement appartient</a:t>
            </a:r>
          </a:p>
        </p:txBody>
      </p:sp>
      <p:sp>
        <p:nvSpPr>
          <p:cNvPr id="16" name="Rectangle 15"/>
          <p:cNvSpPr/>
          <p:nvPr/>
        </p:nvSpPr>
        <p:spPr>
          <a:xfrm>
            <a:off x="932688" y="4930901"/>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5077205"/>
            <a:ext cx="2224373"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le bail</a:t>
            </a:r>
          </a:p>
        </p:txBody>
      </p:sp>
      <p:sp>
        <p:nvSpPr>
          <p:cNvPr id="18" name="TextBox 17"/>
          <p:cNvSpPr txBox="1"/>
          <p:nvPr/>
        </p:nvSpPr>
        <p:spPr>
          <a:xfrm>
            <a:off x="3431381" y="5077205"/>
            <a:ext cx="7827625"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le papier qu'on signe, pour douze mois d'habitude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Trois questions avant de louer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VOCABULAIRE · 4 DE 4</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L'immeuble</a:t>
            </a:r>
          </a:p>
        </p:txBody>
      </p:sp>
      <p:sp>
        <p:nvSpPr>
          <p:cNvPr id="7" name="Rounded Rectangle 6"/>
          <p:cNvSpPr/>
          <p:nvPr/>
        </p:nvSpPr>
        <p:spPr>
          <a:xfrm>
            <a:off x="566928" y="1810512"/>
            <a:ext cx="11057839" cy="4270248"/>
          </a:xfrm>
          <a:prstGeom prst="roundRect">
            <a:avLst>
              <a:gd name="adj" fmla="val 34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21408"/>
            <a:ext cx="3024282"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le sous-sol</a:t>
            </a:r>
          </a:p>
        </p:txBody>
      </p:sp>
      <p:sp>
        <p:nvSpPr>
          <p:cNvPr id="9" name="TextBox 8"/>
          <p:cNvSpPr txBox="1"/>
          <p:nvPr/>
        </p:nvSpPr>
        <p:spPr>
          <a:xfrm>
            <a:off x="4231290" y="2121408"/>
            <a:ext cx="7027716"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la partie de l'immeuble sous le rez-de-chaussée</a:t>
            </a:r>
          </a:p>
        </p:txBody>
      </p:sp>
      <p:sp>
        <p:nvSpPr>
          <p:cNvPr id="10" name="Rectangle 9"/>
          <p:cNvSpPr/>
          <p:nvPr/>
        </p:nvSpPr>
        <p:spPr>
          <a:xfrm>
            <a:off x="932688" y="296037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3106674"/>
            <a:ext cx="3024282"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le chauffage</a:t>
            </a:r>
          </a:p>
        </p:txBody>
      </p:sp>
      <p:sp>
        <p:nvSpPr>
          <p:cNvPr id="12" name="TextBox 11"/>
          <p:cNvSpPr txBox="1"/>
          <p:nvPr/>
        </p:nvSpPr>
        <p:spPr>
          <a:xfrm>
            <a:off x="4231290" y="3106674"/>
            <a:ext cx="7027716"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ce qui réchauffe le logement quand il fait froid</a:t>
            </a:r>
          </a:p>
        </p:txBody>
      </p:sp>
      <p:sp>
        <p:nvSpPr>
          <p:cNvPr id="13" name="Rectangle 12"/>
          <p:cNvSpPr/>
          <p:nvPr/>
        </p:nvSpPr>
        <p:spPr>
          <a:xfrm>
            <a:off x="932688" y="3945635"/>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4091939"/>
            <a:ext cx="3024282"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le stationnement</a:t>
            </a:r>
          </a:p>
        </p:txBody>
      </p:sp>
      <p:sp>
        <p:nvSpPr>
          <p:cNvPr id="15" name="TextBox 14"/>
          <p:cNvSpPr txBox="1"/>
          <p:nvPr/>
        </p:nvSpPr>
        <p:spPr>
          <a:xfrm>
            <a:off x="4231290" y="4091939"/>
            <a:ext cx="7027716"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l'endroit réservé où on laisse son auto</a:t>
            </a:r>
          </a:p>
        </p:txBody>
      </p:sp>
      <p:sp>
        <p:nvSpPr>
          <p:cNvPr id="16" name="Rectangle 15"/>
          <p:cNvSpPr/>
          <p:nvPr/>
        </p:nvSpPr>
        <p:spPr>
          <a:xfrm>
            <a:off x="932688" y="4930901"/>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5077205"/>
            <a:ext cx="3024282"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prendre rendez-vous</a:t>
            </a:r>
          </a:p>
        </p:txBody>
      </p:sp>
      <p:sp>
        <p:nvSpPr>
          <p:cNvPr id="18" name="TextBox 17"/>
          <p:cNvSpPr txBox="1"/>
          <p:nvPr/>
        </p:nvSpPr>
        <p:spPr>
          <a:xfrm>
            <a:off x="4231290" y="5077205"/>
            <a:ext cx="7027716"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s'entendre sur un jour et une heure pour se voir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Trois questions avant de louer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Quatre verbes du programme</a:t>
            </a:r>
          </a:p>
        </p:txBody>
      </p:sp>
      <p:sp>
        <p:nvSpPr>
          <p:cNvPr id="7" name="Rounded Rectangle 6"/>
          <p:cNvSpPr/>
          <p:nvPr/>
        </p:nvSpPr>
        <p:spPr>
          <a:xfrm>
            <a:off x="566928" y="1810512"/>
            <a:ext cx="11057839" cy="2798064"/>
          </a:xfrm>
          <a:prstGeom prst="roundRect">
            <a:avLst>
              <a:gd name="adj" fmla="val 52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 VERBE</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QU'IL VEUT DIRE</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louer</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payer chaque mois pour habiter</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se renseigner</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aller chercher l'information, demander</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chauffer</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réchauffer le logement</a:t>
            </a:r>
          </a:p>
        </p:txBody>
      </p:sp>
      <p:sp>
        <p:nvSpPr>
          <p:cNvPr id="18" name="Rectangle 17"/>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14215"/>
            <a:ext cx="3291492"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éclairer</a:t>
            </a:r>
          </a:p>
        </p:txBody>
      </p:sp>
      <p:sp>
        <p:nvSpPr>
          <p:cNvPr id="20" name="TextBox 19"/>
          <p:cNvSpPr txBox="1"/>
          <p:nvPr/>
        </p:nvSpPr>
        <p:spPr>
          <a:xfrm>
            <a:off x="4443636" y="4014215"/>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donner l'électricité et la lumière</a:t>
            </a:r>
          </a:p>
        </p:txBody>
      </p:sp>
      <p:sp>
        <p:nvSpPr>
          <p:cNvPr id="21" name="Rounded Rectangle 20"/>
          <p:cNvSpPr/>
          <p:nvPr/>
        </p:nvSpPr>
        <p:spPr>
          <a:xfrm>
            <a:off x="566928" y="4846320"/>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5102352"/>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Chauffé et éclairé viennent de ces deux verbes-là.</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Trois questions avant de louer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VOCABULAIRE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mot et sa définition</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Dites de quel mot il s'agit.</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L'argent qu'on donne chaque mois.</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pièce fermée où on dort.</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papier qu'on signe pour douze mois.</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logement où les meubles sont déjà là.</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personne à qui le logement appartient.</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partie de l'immeuble sous le rez-de-chaussée.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Trois questions avant de louer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mot et sa définition</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L'argent qu'on donne chaque mois.   </a:t>
            </a:r>
            <a:r>
              <a:rPr sz="1400" b="1" i="0">
                <a:solidFill>
                  <a:srgbClr val="07734A"/>
                </a:solidFill>
                <a:latin typeface="Verdana"/>
              </a:rPr>
              <a:t>» un loyer</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pièce fermée où on dort.   </a:t>
            </a:r>
            <a:r>
              <a:rPr sz="1400" b="1" i="0">
                <a:solidFill>
                  <a:srgbClr val="07734A"/>
                </a:solidFill>
                <a:latin typeface="Verdana"/>
              </a:rPr>
              <a:t>» une chambre à coucher</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papier qu'on signe pour douze mois.   </a:t>
            </a:r>
            <a:r>
              <a:rPr sz="1400" b="1" i="0">
                <a:solidFill>
                  <a:srgbClr val="07734A"/>
                </a:solidFill>
                <a:latin typeface="Verdana"/>
              </a:rPr>
              <a:t>» le bail</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logement où les meubles sont déjà là.   </a:t>
            </a:r>
            <a:r>
              <a:rPr sz="1400" b="1" i="0">
                <a:solidFill>
                  <a:srgbClr val="07734A"/>
                </a:solidFill>
                <a:latin typeface="Verdana"/>
              </a:rPr>
              <a:t>» meublé</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personne à qui le logement appartient.   </a:t>
            </a:r>
            <a:r>
              <a:rPr sz="1400" b="1" i="0">
                <a:solidFill>
                  <a:srgbClr val="07734A"/>
                </a:solidFill>
                <a:latin typeface="Verdana"/>
              </a:rPr>
              <a:t>» un propriétaire</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partie de l'immeuble sous le rez-de-chaussée.   </a:t>
            </a:r>
            <a:r>
              <a:rPr sz="1400" b="1" i="0">
                <a:solidFill>
                  <a:srgbClr val="07734A"/>
                </a:solidFill>
                <a:latin typeface="Verdana"/>
              </a:rPr>
              <a:t>» le sous-sol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Trois questions avant de louer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pièces du logement</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Nommez chaque pièce et dites ce qu'on y fait.</a:t>
            </a:r>
          </a:p>
        </p:txBody>
      </p:sp>
      <p:sp>
        <p:nvSpPr>
          <p:cNvPr id="8" name="Rounded Rectangle 7"/>
          <p:cNvSpPr/>
          <p:nvPr/>
        </p:nvSpPr>
        <p:spPr>
          <a:xfrm>
            <a:off x="566928" y="2139696"/>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cuisine.</a:t>
            </a:r>
          </a:p>
        </p:txBody>
      </p:sp>
      <p:sp>
        <p:nvSpPr>
          <p:cNvPr id="12" name="Rounded Rectangle 11"/>
          <p:cNvSpPr/>
          <p:nvPr/>
        </p:nvSpPr>
        <p:spPr>
          <a:xfrm>
            <a:off x="566928" y="2916428"/>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salon.</a:t>
            </a:r>
          </a:p>
        </p:txBody>
      </p:sp>
      <p:sp>
        <p:nvSpPr>
          <p:cNvPr id="16" name="Rounded Rectangle 15"/>
          <p:cNvSpPr/>
          <p:nvPr/>
        </p:nvSpPr>
        <p:spPr>
          <a:xfrm>
            <a:off x="566928" y="3693160"/>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chambre à coucher.</a:t>
            </a:r>
          </a:p>
        </p:txBody>
      </p:sp>
      <p:sp>
        <p:nvSpPr>
          <p:cNvPr id="20" name="Rounded Rectangle 19"/>
          <p:cNvSpPr/>
          <p:nvPr/>
        </p:nvSpPr>
        <p:spPr>
          <a:xfrm>
            <a:off x="566928" y="4469892"/>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salle de bain.</a:t>
            </a:r>
          </a:p>
        </p:txBody>
      </p:sp>
      <p:sp>
        <p:nvSpPr>
          <p:cNvPr id="24" name="Rounded Rectangle 23"/>
          <p:cNvSpPr/>
          <p:nvPr/>
        </p:nvSpPr>
        <p:spPr>
          <a:xfrm>
            <a:off x="566928" y="5246624"/>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388102"/>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452110"/>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5</a:t>
            </a:r>
          </a:p>
        </p:txBody>
      </p:sp>
      <p:sp>
        <p:nvSpPr>
          <p:cNvPr id="27" name="TextBox 26"/>
          <p:cNvSpPr txBox="1"/>
          <p:nvPr/>
        </p:nvSpPr>
        <p:spPr>
          <a:xfrm>
            <a:off x="1344168" y="5402072"/>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balcon arrière.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Trois questions avant de louer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pièces du logement</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cuisine.   </a:t>
            </a:r>
            <a:r>
              <a:rPr sz="1900" b="1" i="0">
                <a:solidFill>
                  <a:srgbClr val="07734A"/>
                </a:solidFill>
                <a:latin typeface="Verdana"/>
              </a:rPr>
              <a:t>» le comptoir, l'évier, la fenêtre</a:t>
            </a:r>
          </a:p>
        </p:txBody>
      </p:sp>
      <p:sp>
        <p:nvSpPr>
          <p:cNvPr id="12" name="Rounded Rectangle 11"/>
          <p:cNvSpPr/>
          <p:nvPr/>
        </p:nvSpPr>
        <p:spPr>
          <a:xfrm>
            <a:off x="566928" y="2916428"/>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salon.   </a:t>
            </a:r>
            <a:r>
              <a:rPr sz="1900" b="1" i="0">
                <a:solidFill>
                  <a:srgbClr val="07734A"/>
                </a:solidFill>
                <a:latin typeface="Verdana"/>
              </a:rPr>
              <a:t>» la grande pièce, sans porte</a:t>
            </a:r>
          </a:p>
        </p:txBody>
      </p:sp>
      <p:sp>
        <p:nvSpPr>
          <p:cNvPr id="16" name="Rounded Rectangle 15"/>
          <p:cNvSpPr/>
          <p:nvPr/>
        </p:nvSpPr>
        <p:spPr>
          <a:xfrm>
            <a:off x="566928" y="3693160"/>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chambre à coucher.   </a:t>
            </a:r>
            <a:r>
              <a:rPr sz="1900" b="1" i="0">
                <a:solidFill>
                  <a:srgbClr val="07734A"/>
                </a:solidFill>
                <a:latin typeface="Verdana"/>
              </a:rPr>
              <a:t>» fermée, avec une porte</a:t>
            </a:r>
          </a:p>
        </p:txBody>
      </p:sp>
      <p:sp>
        <p:nvSpPr>
          <p:cNvPr id="20" name="Rounded Rectangle 19"/>
          <p:cNvSpPr/>
          <p:nvPr/>
        </p:nvSpPr>
        <p:spPr>
          <a:xfrm>
            <a:off x="566928" y="4469892"/>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salle de bain.   </a:t>
            </a:r>
            <a:r>
              <a:rPr sz="1900" b="1" i="0">
                <a:solidFill>
                  <a:srgbClr val="07734A"/>
                </a:solidFill>
                <a:latin typeface="Verdana"/>
              </a:rPr>
              <a:t>» le bain, le lavabo, la toilette</a:t>
            </a:r>
          </a:p>
        </p:txBody>
      </p:sp>
      <p:sp>
        <p:nvSpPr>
          <p:cNvPr id="24" name="Rounded Rectangle 23"/>
          <p:cNvSpPr/>
          <p:nvPr/>
        </p:nvSpPr>
        <p:spPr>
          <a:xfrm>
            <a:off x="566928" y="5246624"/>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388102"/>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452110"/>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5</a:t>
            </a:r>
          </a:p>
        </p:txBody>
      </p:sp>
      <p:sp>
        <p:nvSpPr>
          <p:cNvPr id="27" name="TextBox 26"/>
          <p:cNvSpPr txBox="1"/>
          <p:nvPr/>
        </p:nvSpPr>
        <p:spPr>
          <a:xfrm>
            <a:off x="1344168" y="5402072"/>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balcon arrière.   </a:t>
            </a:r>
            <a:r>
              <a:rPr sz="1900" b="1" i="0">
                <a:solidFill>
                  <a:srgbClr val="07734A"/>
                </a:solidFill>
                <a:latin typeface="Verdana"/>
              </a:rPr>
              <a:t>» dehors, derrière la cuisine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Trois questions avant de louer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Écrivez les quatre mots du logement qui vous manquaient avant aujourd'hui.</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Je ne connaissais pas le mot ___ .</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Maintenant je sais que ___ veut dire ___ .</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Trois questions avant de louer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