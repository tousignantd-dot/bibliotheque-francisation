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D, et séance la plus délicate du module. Prévenir que l'entrevue contient une question qu'un employeur n'a pas le droit de poser : elle sera reprise en D2, pas ici.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et le quatrième vont ensemble : c'est l'irréel du passé qui permet de raconter une erreur sans se dévaloriser.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conseil courant est « n'en parlez jamais ». Le module dit le contraire, sous une condition stricte : la règle qu'on en a tirée. Sans elle, c'est un aveu.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 structure : le choix, puis la raison, puis la conséquence évitée. Trois phrases, et l'ordre n'est pas discutable.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de la séance, et il tient en quatre parties : la date, les chiffres, l'irréel du passé, la règle appliquée depuis. Retirer la dernière, et tout s'effondre.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délicat. Shirin n'accuse personne et ne s'excuse pas : elle explique. C'est la seule des deux voies qui laisse quelque chose derrière elle. Faire relever qu'aucun ancien employeur n'est nommé.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négociation entière est là, et elle sera reprise en D2. Faire remarquer que Shirin chiffre ce que sa contrepartie vaut pour l'employeur, jamais ce que l'échelon vaut pour elle.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écrire les deux moitiés l'une sous l'autre, et souligner l'auxiliaire dans chacune.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chaque réponse au tableau. La négation encadre l'auxiliaire : « n'aurait jamais existé », et « jamais » se place entre les deux.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central du bloc. C'est ce récit-là qui sera enregistré en E1 : le préparer ici, à l'écrit, économise une séance.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Raconter une erreur, et s'en sortir grandi</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entrevue se gagne rarement sur les bonnes réponses : elle se gagne sur ce qu'on dit avant qu'on vous le demande.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Passer au travers du processus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répondre par un exemple daté et chiffré, jamais par une qualité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raconter une erreur en trois temps, et finir par la règle qu'on applique depuis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soi-même l'objection que personne ne formule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l'hypothèse irréelle : si j'avais..., j'aurais...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Raconteriez-vous une erreur en entrevue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ble-comit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vous a conseillé de faire, d'habitude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qu'un employeur apprend de quelqu'un qui n'a jamais eu tort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chaises d'un côté, une de l'autre : qu'est-ce que ça change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dure une entrevue de ce genre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choix que personne n'avait fait</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590770"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DANIELLE</a:t>
            </a:r>
          </a:p>
        </p:txBody>
      </p:sp>
      <p:sp>
        <p:nvSpPr>
          <p:cNvPr id="10" name="TextBox 9"/>
          <p:cNvSpPr txBox="1"/>
          <p:nvPr/>
        </p:nvSpPr>
        <p:spPr>
          <a:xfrm>
            <a:off x="2523458" y="2322576"/>
            <a:ext cx="8552668"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Vous avez classé les trois problèmes dans un ordre que personne d'autre n'a proposé. Expliquez-nous.</a:t>
            </a:r>
          </a:p>
        </p:txBody>
      </p:sp>
      <p:sp>
        <p:nvSpPr>
          <p:cNvPr id="11" name="Rounded Rectangle 10"/>
          <p:cNvSpPr/>
          <p:nvPr/>
        </p:nvSpPr>
        <p:spPr>
          <a:xfrm>
            <a:off x="566928" y="3173984"/>
            <a:ext cx="11057839" cy="631443"/>
          </a:xfrm>
          <a:prstGeom prst="roundRect">
            <a:avLst>
              <a:gd name="adj" fmla="val 231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338576"/>
            <a:ext cx="1590770" cy="35712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SHIRIN</a:t>
            </a:r>
          </a:p>
        </p:txBody>
      </p:sp>
      <p:sp>
        <p:nvSpPr>
          <p:cNvPr id="13" name="TextBox 12"/>
          <p:cNvSpPr txBox="1"/>
          <p:nvPr/>
        </p:nvSpPr>
        <p:spPr>
          <a:xfrm>
            <a:off x="2523458" y="3338576"/>
            <a:ext cx="8552668" cy="35712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J'ai commencé par la palette mal étiquetée plutôt que par la ligne arrêtée.</a:t>
            </a:r>
          </a:p>
        </p:txBody>
      </p:sp>
      <p:sp>
        <p:nvSpPr>
          <p:cNvPr id="14" name="Rounded Rectangle 13"/>
          <p:cNvSpPr/>
          <p:nvPr/>
        </p:nvSpPr>
        <p:spPr>
          <a:xfrm>
            <a:off x="566928" y="3887724"/>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052316"/>
            <a:ext cx="1590770"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SHIRIN</a:t>
            </a:r>
          </a:p>
        </p:txBody>
      </p:sp>
      <p:sp>
        <p:nvSpPr>
          <p:cNvPr id="16" name="TextBox 15"/>
          <p:cNvSpPr txBox="1"/>
          <p:nvPr/>
        </p:nvSpPr>
        <p:spPr>
          <a:xfrm>
            <a:off x="2523458" y="4052316"/>
            <a:ext cx="8552668"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ligne arrêtée coûte de l'argent chaque minute, mais elle est visible : tout le monde la voit et quelqu'un la traite.</a:t>
            </a:r>
          </a:p>
        </p:txBody>
      </p:sp>
      <p:sp>
        <p:nvSpPr>
          <p:cNvPr id="17" name="Rounded Rectangle 16"/>
          <p:cNvSpPr/>
          <p:nvPr/>
        </p:nvSpPr>
        <p:spPr>
          <a:xfrm>
            <a:off x="566928" y="4903724"/>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068316"/>
            <a:ext cx="1590770"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SHIRIN</a:t>
            </a:r>
          </a:p>
        </p:txBody>
      </p:sp>
      <p:sp>
        <p:nvSpPr>
          <p:cNvPr id="19" name="TextBox 18"/>
          <p:cNvSpPr txBox="1"/>
          <p:nvPr/>
        </p:nvSpPr>
        <p:spPr>
          <a:xfrm>
            <a:off x="2523458" y="5068316"/>
            <a:ext cx="8552668"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Une palette mal étiquetée sort de l'usine et revient six semaines plus tard en rappel de produit.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L'erreur, ce qu'elle a coûté, la règle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7177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RÉAL</a:t>
            </a:r>
          </a:p>
        </p:txBody>
      </p:sp>
      <p:sp>
        <p:nvSpPr>
          <p:cNvPr id="9" name="TextBox 8"/>
          <p:cNvSpPr txBox="1"/>
          <p:nvPr/>
        </p:nvSpPr>
        <p:spPr>
          <a:xfrm>
            <a:off x="2204466" y="1901952"/>
            <a:ext cx="887166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avez déjà vécu un rappel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71778"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SHIRIN</a:t>
            </a:r>
          </a:p>
        </p:txBody>
      </p:sp>
      <p:sp>
        <p:nvSpPr>
          <p:cNvPr id="12" name="TextBox 11"/>
          <p:cNvSpPr txBox="1"/>
          <p:nvPr/>
        </p:nvSpPr>
        <p:spPr>
          <a:xfrm>
            <a:off x="2204466" y="2651252"/>
            <a:ext cx="887166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seul, en 2016. Nous avions expédié quatre cents caisses avec une date de péremption erronée. C'est moi qui avais approuvé l'étiquette.</a:t>
            </a:r>
          </a:p>
        </p:txBody>
      </p:sp>
      <p:sp>
        <p:nvSpPr>
          <p:cNvPr id="13" name="Rounded Rectangle 12"/>
          <p:cNvSpPr/>
          <p:nvPr/>
        </p:nvSpPr>
        <p:spPr>
          <a:xfrm>
            <a:off x="566928" y="35737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271778"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SHIRIN</a:t>
            </a:r>
          </a:p>
        </p:txBody>
      </p:sp>
      <p:sp>
        <p:nvSpPr>
          <p:cNvPr id="15" name="TextBox 14"/>
          <p:cNvSpPr txBox="1"/>
          <p:nvPr/>
        </p:nvSpPr>
        <p:spPr>
          <a:xfrm>
            <a:off x="2204466" y="3738371"/>
            <a:ext cx="887166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Nous les avons toutes reprises. Ça nous a coûté onze jours de production.</a:t>
            </a:r>
          </a:p>
        </p:txBody>
      </p:sp>
      <p:sp>
        <p:nvSpPr>
          <p:cNvPr id="16" name="Rounded Rectangle 15"/>
          <p:cNvSpPr/>
          <p:nvPr/>
        </p:nvSpPr>
        <p:spPr>
          <a:xfrm>
            <a:off x="566928" y="466090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271778"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SHIRIN</a:t>
            </a:r>
          </a:p>
        </p:txBody>
      </p:sp>
      <p:sp>
        <p:nvSpPr>
          <p:cNvPr id="18" name="TextBox 17"/>
          <p:cNvSpPr txBox="1"/>
          <p:nvPr/>
        </p:nvSpPr>
        <p:spPr>
          <a:xfrm>
            <a:off x="2204466" y="4825492"/>
            <a:ext cx="8871661"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 j'avais fait vérifier l'étiquette par une deuxième personne, ce qui prenait quatre minutes, rien de tout cela ne serait arrivé. Depuis, aucune étiquette ne part sans deux signatures sur mes lignes.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L'objection, posée franchement</a:t>
            </a:r>
          </a:p>
        </p:txBody>
      </p:sp>
      <p:sp>
        <p:nvSpPr>
          <p:cNvPr id="7" name="Rounded Rectangle 6"/>
          <p:cNvSpPr/>
          <p:nvPr/>
        </p:nvSpPr>
        <p:spPr>
          <a:xfrm>
            <a:off x="566928" y="1737360"/>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71778"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RÉAL</a:t>
            </a:r>
          </a:p>
        </p:txBody>
      </p:sp>
      <p:sp>
        <p:nvSpPr>
          <p:cNvPr id="9" name="TextBox 8"/>
          <p:cNvSpPr txBox="1"/>
          <p:nvPr/>
        </p:nvSpPr>
        <p:spPr>
          <a:xfrm>
            <a:off x="2204466" y="1901952"/>
            <a:ext cx="8871661"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Votre dossier me pose une question que je vais vous poser franchement, parce que je préfère ça à me la poser tout seul après votre départ.</a:t>
            </a:r>
          </a:p>
        </p:txBody>
      </p:sp>
      <p:sp>
        <p:nvSpPr>
          <p:cNvPr id="10" name="Rounded Rectangle 9"/>
          <p:cNvSpPr/>
          <p:nvPr/>
        </p:nvSpPr>
        <p:spPr>
          <a:xfrm>
            <a:off x="566928" y="2753360"/>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17952"/>
            <a:ext cx="1271778"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RÉAL</a:t>
            </a:r>
          </a:p>
        </p:txBody>
      </p:sp>
      <p:sp>
        <p:nvSpPr>
          <p:cNvPr id="12" name="TextBox 11"/>
          <p:cNvSpPr txBox="1"/>
          <p:nvPr/>
        </p:nvSpPr>
        <p:spPr>
          <a:xfrm>
            <a:off x="2204466" y="2917952"/>
            <a:ext cx="8871661"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Onze ans de supervision là-bas, cinq ans d'opératrice ici. Si vous étiez capable de superviser, pourquoi être restée cinq ans à exécuter ?</a:t>
            </a:r>
          </a:p>
        </p:txBody>
      </p:sp>
      <p:sp>
        <p:nvSpPr>
          <p:cNvPr id="13" name="Rounded Rectangle 12"/>
          <p:cNvSpPr/>
          <p:nvPr/>
        </p:nvSpPr>
        <p:spPr>
          <a:xfrm>
            <a:off x="566928" y="3769359"/>
            <a:ext cx="11057839" cy="1235964"/>
          </a:xfrm>
          <a:prstGeom prst="roundRect">
            <a:avLst>
              <a:gd name="adj" fmla="val 1183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933951"/>
            <a:ext cx="1271778" cy="96164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SHIRIN</a:t>
            </a:r>
          </a:p>
        </p:txBody>
      </p:sp>
      <p:sp>
        <p:nvSpPr>
          <p:cNvPr id="15" name="TextBox 14"/>
          <p:cNvSpPr txBox="1"/>
          <p:nvPr/>
        </p:nvSpPr>
        <p:spPr>
          <a:xfrm>
            <a:off x="2204466" y="3933951"/>
            <a:ext cx="8871661" cy="96164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Parce que personne ne m'a proposé autre chose, et que je n'ai pas su le demander. Les trois premières années, je ne parlais pas assez bien français pour tenir une réunion.</a:t>
            </a:r>
          </a:p>
        </p:txBody>
      </p:sp>
      <p:sp>
        <p:nvSpPr>
          <p:cNvPr id="16" name="Rounded Rectangle 15"/>
          <p:cNvSpPr/>
          <p:nvPr/>
        </p:nvSpPr>
        <p:spPr>
          <a:xfrm>
            <a:off x="566928" y="5087619"/>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252211"/>
            <a:ext cx="1271778"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SHIRIN</a:t>
            </a:r>
          </a:p>
        </p:txBody>
      </p:sp>
      <p:sp>
        <p:nvSpPr>
          <p:cNvPr id="18" name="TextBox 17"/>
          <p:cNvSpPr txBox="1"/>
          <p:nvPr/>
        </p:nvSpPr>
        <p:spPr>
          <a:xfrm>
            <a:off x="2204466" y="5252211"/>
            <a:ext cx="8871661"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cinquième, j'ai compris que ça n'arriverait jamais tout seul. Je suis ici pour cette raison-là.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demande, et ce qu'on offre</a:t>
            </a:r>
          </a:p>
        </p:txBody>
      </p:sp>
      <p:sp>
        <p:nvSpPr>
          <p:cNvPr id="7" name="Rounded Rectangle 6"/>
          <p:cNvSpPr/>
          <p:nvPr/>
        </p:nvSpPr>
        <p:spPr>
          <a:xfrm>
            <a:off x="566928" y="1737360"/>
            <a:ext cx="11057839" cy="862584"/>
          </a:xfrm>
          <a:prstGeom prst="roundRect">
            <a:avLst>
              <a:gd name="adj" fmla="val 1696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590770" cy="588264"/>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DANIELLE</a:t>
            </a:r>
          </a:p>
        </p:txBody>
      </p:sp>
      <p:sp>
        <p:nvSpPr>
          <p:cNvPr id="9" name="TextBox 8"/>
          <p:cNvSpPr txBox="1"/>
          <p:nvPr/>
        </p:nvSpPr>
        <p:spPr>
          <a:xfrm>
            <a:off x="2523458" y="1901952"/>
            <a:ext cx="8552668" cy="588264"/>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L'échelle compte six échelons. Compte tenu de vos cinq années ici, nous vous situerions au deuxième.</a:t>
            </a:r>
          </a:p>
        </p:txBody>
      </p:sp>
      <p:sp>
        <p:nvSpPr>
          <p:cNvPr id="10" name="Rounded Rectangle 9"/>
          <p:cNvSpPr/>
          <p:nvPr/>
        </p:nvSpPr>
        <p:spPr>
          <a:xfrm>
            <a:off x="566928" y="2682240"/>
            <a:ext cx="11057839" cy="862584"/>
          </a:xfrm>
          <a:prstGeom prst="roundRect">
            <a:avLst>
              <a:gd name="adj" fmla="val 1696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846832"/>
            <a:ext cx="1590770" cy="588264"/>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SHIRIN</a:t>
            </a:r>
          </a:p>
        </p:txBody>
      </p:sp>
      <p:sp>
        <p:nvSpPr>
          <p:cNvPr id="12" name="TextBox 11"/>
          <p:cNvSpPr txBox="1"/>
          <p:nvPr/>
        </p:nvSpPr>
        <p:spPr>
          <a:xfrm>
            <a:off x="2523458" y="2846832"/>
            <a:ext cx="8552668" cy="588264"/>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J'aimerais qu'on regarde le quatrième, et je vais vous dire pourquoi plutôt que de me contenter de le demander.</a:t>
            </a:r>
          </a:p>
        </p:txBody>
      </p:sp>
      <p:sp>
        <p:nvSpPr>
          <p:cNvPr id="13" name="Rounded Rectangle 12"/>
          <p:cNvSpPr/>
          <p:nvPr/>
        </p:nvSpPr>
        <p:spPr>
          <a:xfrm>
            <a:off x="566928" y="3627120"/>
            <a:ext cx="11057839" cy="1129284"/>
          </a:xfrm>
          <a:prstGeom prst="roundRect">
            <a:avLst>
              <a:gd name="adj" fmla="val 1295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91712"/>
            <a:ext cx="1590770" cy="854963"/>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SHIRIN</a:t>
            </a:r>
          </a:p>
        </p:txBody>
      </p:sp>
      <p:sp>
        <p:nvSpPr>
          <p:cNvPr id="15" name="TextBox 14"/>
          <p:cNvSpPr txBox="1"/>
          <p:nvPr/>
        </p:nvSpPr>
        <p:spPr>
          <a:xfrm>
            <a:off x="2523458" y="3791712"/>
            <a:ext cx="8552668" cy="854963"/>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Vous avez neuf personnes à recruter d'ici février. J'ai fait ce travail-là onze fois. Un échelon vaut environ deux mille dollars par année ; une erreur d'embauche en vaut vingt mille.</a:t>
            </a:r>
          </a:p>
        </p:txBody>
      </p:sp>
      <p:sp>
        <p:nvSpPr>
          <p:cNvPr id="16" name="Rounded Rectangle 15"/>
          <p:cNvSpPr/>
          <p:nvPr/>
        </p:nvSpPr>
        <p:spPr>
          <a:xfrm>
            <a:off x="566928" y="4838700"/>
            <a:ext cx="11057839" cy="862584"/>
          </a:xfrm>
          <a:prstGeom prst="roundRect">
            <a:avLst>
              <a:gd name="adj" fmla="val 1696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03292"/>
            <a:ext cx="1590770" cy="588264"/>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SHIRIN</a:t>
            </a:r>
          </a:p>
        </p:txBody>
      </p:sp>
      <p:sp>
        <p:nvSpPr>
          <p:cNvPr id="18" name="TextBox 17"/>
          <p:cNvSpPr txBox="1"/>
          <p:nvPr/>
        </p:nvSpPr>
        <p:spPr>
          <a:xfrm>
            <a:off x="2523458" y="5003292"/>
            <a:ext cx="8552668" cy="588264"/>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Je propose le troisième à l'embauche, et le quatrième après six mois si les neuf postes sont pourvus. Écrivez-le dans la lettre : si je n'y arrive pas, je reste au troisième.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 PLUS PLUS-QUE-PARFAIT, PUIS CONDITIONNEL PASSÉ</a:t>
            </a:r>
          </a:p>
        </p:txBody>
      </p:sp>
      <p:sp>
        <p:nvSpPr>
          <p:cNvPr id="6" name="Rounded Rectangle 5"/>
          <p:cNvSpPr/>
          <p:nvPr/>
        </p:nvSpPr>
        <p:spPr>
          <a:xfrm>
            <a:off x="566928" y="1225296"/>
            <a:ext cx="11057839" cy="2897632"/>
          </a:xfrm>
          <a:prstGeom prst="roundRect">
            <a:avLst>
              <a:gd name="adj" fmla="val 504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074671"/>
          </a:xfrm>
          <a:prstGeom prst="rect">
            <a:avLst/>
          </a:prstGeom>
          <a:noFill/>
        </p:spPr>
        <p:txBody>
          <a:bodyPr wrap="square" lIns="0" rIns="0" tIns="0" bIns="0" anchor="t">
            <a:spAutoFit/>
          </a:bodyPr>
          <a:lstStyle/>
          <a:p>
            <a:pPr algn="l">
              <a:lnSpc>
                <a:spcPct val="122000"/>
              </a:lnSpc>
            </a:pPr>
            <a:r>
              <a:rPr sz="3200" b="1" i="0">
                <a:solidFill>
                  <a:srgbClr val="17181A"/>
                </a:solidFill>
                <a:latin typeface="Verdana"/>
              </a:rPr>
              <a:t>Si j'avais fait vérifier l'étiquette, rien ne serait arrivé. Jamais de conditionnel après « si » : c'est la faute que le correcteur cherche en premier.</a:t>
            </a:r>
          </a:p>
        </p:txBody>
      </p:sp>
      <p:sp>
        <p:nvSpPr>
          <p:cNvPr id="8" name="Rounded Rectangle 7"/>
          <p:cNvSpPr/>
          <p:nvPr/>
        </p:nvSpPr>
        <p:spPr>
          <a:xfrm>
            <a:off x="566928" y="439724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67156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Plus-que-parfait : avoir ou être à l'imparfait, plus le participe. Conditionnel passé : avoir ou être au conditionnel, plus le même participe. Un seul mot bouge entre les deux moitiés de la phrase.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l'hypothèse irréelle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Écrivez seulement le groupe verbal demandé.</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j'avais fait vérifier l'étiquette, rien ___ (arriver).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nous ___ (avoir) une deuxième signature, les caisses seraient parties.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groupe n'avait pas racheté l'usine, le poste ___ (ne jamais exister).</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la ligne était restée arrêtée, nous ___ (perdre) la commande.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vous m'aviez communiqué l'échelle, je ___ (préparer) une proposition.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j'___ (savoir) que l'équipe n'existait pas, j'aurais posé la question.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l'hypothèse irréelle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j'avais fait vérifier l'étiquette, rien ___ (arriver).   </a:t>
            </a:r>
            <a:r>
              <a:rPr sz="1400" b="1" i="0">
                <a:solidFill>
                  <a:srgbClr val="07734A"/>
                </a:solidFill>
                <a:latin typeface="Verdana"/>
              </a:rPr>
              <a:t>» ne serait arrivé</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nous ___ (avoir) une deuxième signature, les caisses seraient parties.   </a:t>
            </a:r>
            <a:r>
              <a:rPr sz="1400" b="1" i="0">
                <a:solidFill>
                  <a:srgbClr val="07734A"/>
                </a:solidFill>
                <a:latin typeface="Verdana"/>
              </a:rPr>
              <a:t>» avions eu</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groupe n'avait pas racheté l'usine, le poste ___ (ne jamais exister).   </a:t>
            </a:r>
            <a:r>
              <a:rPr sz="1400" b="1" i="0">
                <a:solidFill>
                  <a:srgbClr val="07734A"/>
                </a:solidFill>
                <a:latin typeface="Verdana"/>
              </a:rPr>
              <a:t>» n'aurait jamais existé</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la ligne était restée arrêtée, nous ___ (perdre) la commande.   </a:t>
            </a:r>
            <a:r>
              <a:rPr sz="1400" b="1" i="0">
                <a:solidFill>
                  <a:srgbClr val="07734A"/>
                </a:solidFill>
                <a:latin typeface="Verdana"/>
              </a:rPr>
              <a:t>» aurions perdu</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vous m'aviez communiqué l'échelle, je ___ (préparer) une proposition.   </a:t>
            </a:r>
            <a:r>
              <a:rPr sz="1400" b="1" i="0">
                <a:solidFill>
                  <a:srgbClr val="07734A"/>
                </a:solidFill>
                <a:latin typeface="Verdana"/>
              </a:rPr>
              <a:t>» aurais préparé</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j'___ (savoir) que l'équipe n'existait pas, j'aurais posé la question.   </a:t>
            </a:r>
            <a:r>
              <a:rPr sz="1400" b="1" i="0">
                <a:solidFill>
                  <a:srgbClr val="07734A"/>
                </a:solidFill>
                <a:latin typeface="Verdana"/>
              </a:rPr>
              <a:t>» avais su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Préparez le récit d'une décision difficile, en quatre parties.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situation avec une date, ce que vous avez fait, le résultat avec un chiffre.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Puis : si j'avais..., j'aurais... Et enfin : depuis, je...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Passer au travers du processus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