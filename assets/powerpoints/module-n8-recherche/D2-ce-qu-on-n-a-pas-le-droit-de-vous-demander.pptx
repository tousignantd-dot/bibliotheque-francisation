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sensible. Plusieurs élèves ont vécu la situation et ne l'avaient jamais nommée. Prévoir du temps, et ne pas forcer les témoignages.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troisième objectif est le seul qui demande de la pratique orale. Les deux points de langue viennent le servir, pas l'inverse.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dernière question annonce toute la séance : la tâche est permise, la personne ne l'est pas. Laisser le groupe y arriver.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C'est la Commission des droits de la personne et des droits de la jeunesse qui reçoit les plaintes en matière de discrimination à l'embauche.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Les deux colonnes cherchent le même renseignement utile ; une seule des deux a le droit de le chercher. C'est là qu'il faut ramener la conversation.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L'exception est étroite et elle se vérifie phrase par phrase, jamais en bloc.</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nommer le motif à chaque « interdite ». C'est en le nommant qu'on s'en souvient, pas en le reconnaissant.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apprendre la deuxième phrase par cœur. En situation, on n'invente pas : « pour le reste, je préfère ne pas répondre ».</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trois indicatifs sont les exceptions qui trahissent : même si, il paraît que, adjectif de certitude. Les faire encadrer au crayon.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Attention à l'accord : « c'est moi qui ai décidé », jamais « qui a ». Et une ou deux emphases par entrevue, pas davantage : le procédé s'use.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Reprendre la dernière réplique de Shirin, en D1. Elle accepte que le refus soit écrit aussi, et c'est ce qui rend la proposition crédible.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Devoir court, à faire relire à voix haute au début de E1. C'est la seule phrase du module qui doit être sue mot pour mot.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SÉANCE D2  ·  MODULE 2</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Ce qu'on n'a pas le droit de vous demander</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Ce n'est pas une règle de politesse : c'est une loi québécoise. Le difficile n'est pas de le savoir — c'est de répondre en trois secondes sans se soumettre ni se fâcher.</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Passer au travers du processus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Passer au travers du processus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nommer la règle et les motifs qu'elle protège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distinguer une question interdite de sa jumelle permise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répondre à l'inquiétude réelle, puis refermer sans s'excuser ;</a:t>
            </a:r>
          </a:p>
        </p:txBody>
      </p:sp>
      <p:sp>
        <p:nvSpPr>
          <p:cNvPr id="19" name="Rounded Rectangle 18"/>
          <p:cNvSpPr/>
          <p:nvPr/>
        </p:nvSpPr>
        <p:spPr>
          <a:xfrm>
            <a:off x="566928" y="4422648"/>
            <a:ext cx="11057839" cy="1113536"/>
          </a:xfrm>
          <a:prstGeom prst="roundRect">
            <a:avLst>
              <a:gd name="adj" fmla="val 1313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778248"/>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860544"/>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2" name="TextBox 21"/>
          <p:cNvSpPr txBox="1"/>
          <p:nvPr/>
        </p:nvSpPr>
        <p:spPr>
          <a:xfrm>
            <a:off x="1408176" y="4623816"/>
            <a:ext cx="9549079" cy="7477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employer le subjonctif après ses déclencheurs, et l'emphase pour mettre en relief.</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Passer au travers du processus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DISCUSSION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2800" b="1" i="0">
                <a:solidFill>
                  <a:srgbClr val="17181A"/>
                </a:solidFill>
                <a:latin typeface="Verdana"/>
              </a:rPr>
              <a:t>Vous a-t-on déjà posé une question qui vous a mise mal à l'aise ?</a:t>
            </a:r>
          </a:p>
        </p:txBody>
      </p:sp>
      <p:sp>
        <p:nvSpPr>
          <p:cNvPr id="7" name="Rounded Rectangle 6"/>
          <p:cNvSpPr/>
          <p:nvPr/>
        </p:nvSpPr>
        <p:spPr>
          <a:xfrm>
            <a:off x="566928" y="1856232"/>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965960"/>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50976" y="2039112"/>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En entrevue, ou sur un formulaire d'embauche ?</a:t>
            </a:r>
          </a:p>
        </p:txBody>
      </p:sp>
      <p:sp>
        <p:nvSpPr>
          <p:cNvPr id="10" name="Rounded Rectangle 9"/>
          <p:cNvSpPr/>
          <p:nvPr/>
        </p:nvSpPr>
        <p:spPr>
          <a:xfrm>
            <a:off x="566928" y="2642108"/>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751836"/>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0976" y="2824988"/>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Avez-vous répondu ? Qu'est-ce qui se serait passé si vous aviez refusé ?</a:t>
            </a:r>
          </a:p>
        </p:txBody>
      </p:sp>
      <p:sp>
        <p:nvSpPr>
          <p:cNvPr id="13" name="Rounded Rectangle 12"/>
          <p:cNvSpPr/>
          <p:nvPr/>
        </p:nvSpPr>
        <p:spPr>
          <a:xfrm>
            <a:off x="566928" y="3427984"/>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37712"/>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50976" y="3610864"/>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Saviez-vous que vous aviez le droit de ne pas répondre ?</a:t>
            </a:r>
          </a:p>
        </p:txBody>
      </p:sp>
      <p:sp>
        <p:nvSpPr>
          <p:cNvPr id="16" name="Rounded Rectangle 15"/>
          <p:cNvSpPr/>
          <p:nvPr/>
        </p:nvSpPr>
        <p:spPr>
          <a:xfrm>
            <a:off x="566928" y="4213860"/>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4323588"/>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50976" y="4396740"/>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que la question portait sur vous, ou sur le travail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Passer au travers du processus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L'ARTICLE 18.1 DE LA CHARTE</a:t>
            </a:r>
          </a:p>
        </p:txBody>
      </p:sp>
      <p:sp>
        <p:nvSpPr>
          <p:cNvPr id="6" name="Rounded Rectangle 5"/>
          <p:cNvSpPr/>
          <p:nvPr/>
        </p:nvSpPr>
        <p:spPr>
          <a:xfrm>
            <a:off x="566928" y="1225296"/>
            <a:ext cx="11057839" cy="1937003"/>
          </a:xfrm>
          <a:prstGeom prst="roundRect">
            <a:avLst>
              <a:gd name="adj" fmla="val 7553"/>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14044"/>
          </a:xfrm>
          <a:prstGeom prst="rect">
            <a:avLst/>
          </a:prstGeom>
          <a:noFill/>
        </p:spPr>
        <p:txBody>
          <a:bodyPr wrap="square" lIns="0" rIns="0" tIns="0" bIns="0" anchor="t">
            <a:spAutoFit/>
          </a:bodyPr>
          <a:lstStyle/>
          <a:p>
            <a:pPr algn="l">
              <a:lnSpc>
                <a:spcPct val="122000"/>
              </a:lnSpc>
            </a:pPr>
            <a:r>
              <a:rPr sz="2200" b="1" i="0">
                <a:solidFill>
                  <a:srgbClr val="17181A"/>
                </a:solidFill>
                <a:latin typeface="Verdana"/>
              </a:rPr>
              <a:t>Nul ne peut, dans un formulaire de demande d'emploi ou lors d'une entrevue, exiger un renseignement portant sur l'un des motifs de discrimination énumérés à l'article 10.</a:t>
            </a:r>
          </a:p>
        </p:txBody>
      </p:sp>
      <p:sp>
        <p:nvSpPr>
          <p:cNvPr id="8" name="Rounded Rectangle 7"/>
          <p:cNvSpPr/>
          <p:nvPr/>
        </p:nvSpPr>
        <p:spPr>
          <a:xfrm>
            <a:off x="566928" y="3436619"/>
            <a:ext cx="11057839" cy="2408428"/>
          </a:xfrm>
          <a:prstGeom prst="roundRect">
            <a:avLst>
              <a:gd name="adj" fmla="val 607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10939"/>
            <a:ext cx="10234879" cy="1951228"/>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Les quatorze motifs : la race, la couleur, le sexe, l'identité ou l'expression de genre, la grossesse, l'orientation sexuelle, l'état civil, l'âge, la religion, les convictions politiques, la langue, l'origine ethnique ou nationale, la condition sociale, le handicap. La règle vaut à toutes les étapes : formulaire, examen préembauche, entrevue.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Passer au travers du processus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100" b="1" i="0">
                <a:solidFill>
                  <a:srgbClr val="17181A"/>
                </a:solidFill>
                <a:latin typeface="Verdana"/>
              </a:rPr>
              <a:t>Chaque question interdite a une jumelle permise</a:t>
            </a:r>
          </a:p>
        </p:txBody>
      </p:sp>
      <p:sp>
        <p:nvSpPr>
          <p:cNvPr id="7" name="Rounded Rectangle 6"/>
          <p:cNvSpPr/>
          <p:nvPr/>
        </p:nvSpPr>
        <p:spPr>
          <a:xfrm>
            <a:off x="566928" y="1810512"/>
            <a:ext cx="11057839" cy="4306824"/>
          </a:xfrm>
          <a:prstGeom prst="roundRect">
            <a:avLst>
              <a:gd name="adj" fmla="val 33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INTERDITE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PERMISE</a:t>
            </a:r>
          </a:p>
        </p:txBody>
      </p:sp>
      <p:sp>
        <p:nvSpPr>
          <p:cNvPr id="10" name="TextBox 9"/>
          <p:cNvSpPr txBox="1"/>
          <p:nvPr/>
        </p:nvSpPr>
        <p:spPr>
          <a:xfrm>
            <a:off x="932688" y="2395728"/>
            <a:ext cx="3291492" cy="640080"/>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Avez-vous des enfants en bas âge ?</a:t>
            </a:r>
          </a:p>
        </p:txBody>
      </p:sp>
      <p:sp>
        <p:nvSpPr>
          <p:cNvPr id="11" name="TextBox 10"/>
          <p:cNvSpPr txBox="1"/>
          <p:nvPr/>
        </p:nvSpPr>
        <p:spPr>
          <a:xfrm>
            <a:off x="4443636" y="2395728"/>
            <a:ext cx="6595914"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Êtes-vous disponible de quinze heures à vingt-trois heures trente ?</a:t>
            </a:r>
          </a:p>
        </p:txBody>
      </p:sp>
      <p:sp>
        <p:nvSpPr>
          <p:cNvPr id="12" name="Rectangle 11"/>
          <p:cNvSpPr/>
          <p:nvPr/>
        </p:nvSpPr>
        <p:spPr>
          <a:xfrm>
            <a:off x="932688" y="310896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3236976"/>
            <a:ext cx="3291492" cy="640080"/>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Avez-vous un problème de dos ?</a:t>
            </a:r>
          </a:p>
        </p:txBody>
      </p:sp>
      <p:sp>
        <p:nvSpPr>
          <p:cNvPr id="14" name="TextBox 13"/>
          <p:cNvSpPr txBox="1"/>
          <p:nvPr/>
        </p:nvSpPr>
        <p:spPr>
          <a:xfrm>
            <a:off x="4443636" y="3236976"/>
            <a:ext cx="6595914"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Pouvez-vous soulever des caisses de vingt kilos ?</a:t>
            </a:r>
          </a:p>
        </p:txBody>
      </p:sp>
      <p:sp>
        <p:nvSpPr>
          <p:cNvPr id="15" name="Rectangle 14"/>
          <p:cNvSpPr/>
          <p:nvPr/>
        </p:nvSpPr>
        <p:spPr>
          <a:xfrm>
            <a:off x="932688" y="3950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4078224"/>
            <a:ext cx="3291492" cy="640080"/>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Dans quel pays êtes-vous née ?</a:t>
            </a:r>
          </a:p>
        </p:txBody>
      </p:sp>
      <p:sp>
        <p:nvSpPr>
          <p:cNvPr id="17" name="TextBox 16"/>
          <p:cNvSpPr txBox="1"/>
          <p:nvPr/>
        </p:nvSpPr>
        <p:spPr>
          <a:xfrm>
            <a:off x="4443636" y="4078224"/>
            <a:ext cx="6595914"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Êtes-vous légalement autorisée à travailler au Canada ?</a:t>
            </a:r>
          </a:p>
        </p:txBody>
      </p:sp>
      <p:sp>
        <p:nvSpPr>
          <p:cNvPr id="18" name="Rectangle 17"/>
          <p:cNvSpPr/>
          <p:nvPr/>
        </p:nvSpPr>
        <p:spPr>
          <a:xfrm>
            <a:off x="932688" y="479145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919472"/>
            <a:ext cx="3291492" cy="941832"/>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Votre religion vous empêche-t-elle de travailler le soir ?</a:t>
            </a:r>
          </a:p>
        </p:txBody>
      </p:sp>
      <p:sp>
        <p:nvSpPr>
          <p:cNvPr id="20" name="TextBox 19"/>
          <p:cNvSpPr txBox="1"/>
          <p:nvPr/>
        </p:nvSpPr>
        <p:spPr>
          <a:xfrm>
            <a:off x="4443636" y="4919472"/>
            <a:ext cx="6595914" cy="941832"/>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Y a-t-il des dates où vous ne seriez pas disponible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Passer au travers du processus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L'EXCEPTION, ET SA LIMITE EXACTE</a:t>
            </a:r>
          </a:p>
        </p:txBody>
      </p:sp>
      <p:sp>
        <p:nvSpPr>
          <p:cNvPr id="6" name="Rounded Rectangle 5"/>
          <p:cNvSpPr/>
          <p:nvPr/>
        </p:nvSpPr>
        <p:spPr>
          <a:xfrm>
            <a:off x="566928" y="1225296"/>
            <a:ext cx="11057839" cy="2355342"/>
          </a:xfrm>
          <a:prstGeom prst="roundRect">
            <a:avLst>
              <a:gd name="adj" fmla="val 6211"/>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532382"/>
          </a:xfrm>
          <a:prstGeom prst="rect">
            <a:avLst/>
          </a:prstGeom>
          <a:noFill/>
        </p:spPr>
        <p:txBody>
          <a:bodyPr wrap="square" lIns="0" rIns="0" tIns="0" bIns="0" anchor="t">
            <a:spAutoFit/>
          </a:bodyPr>
          <a:lstStyle/>
          <a:p>
            <a:pPr algn="l">
              <a:lnSpc>
                <a:spcPct val="122000"/>
              </a:lnSpc>
            </a:pPr>
            <a:r>
              <a:rPr sz="3100" b="1" i="0">
                <a:solidFill>
                  <a:srgbClr val="17181A"/>
                </a:solidFill>
                <a:latin typeface="Verdana"/>
              </a:rPr>
              <a:t>Une question redevient permise quand le renseignement est fondé sur les aptitudes ou qualités requises par l'emploi.</a:t>
            </a:r>
          </a:p>
        </p:txBody>
      </p:sp>
      <p:sp>
        <p:nvSpPr>
          <p:cNvPr id="8" name="Rounded Rectangle 7"/>
          <p:cNvSpPr/>
          <p:nvPr/>
        </p:nvSpPr>
        <p:spPr>
          <a:xfrm>
            <a:off x="566928" y="3854958"/>
            <a:ext cx="11057839" cy="2040128"/>
          </a:xfrm>
          <a:prstGeom prst="roundRect">
            <a:avLst>
              <a:gd name="adj" fmla="val 717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129278"/>
            <a:ext cx="10234879" cy="1582928"/>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Le test qui marche : la question porte-t-elle sur la tâche ou sur la personne ? La tâche est permise, la personne ne l'est pas. On peut demander si vous pouvez soulever vingt kilos ; on ne peut pas demander si vous avez mal au dos.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Passer au travers du processus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PRATIQUE 1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A-t-on le droit de la poser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Décidez pour chacune.</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Êtes-vous disponible cinq jours par semaine ?</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Avez-vous des enfants en bas âge ?</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Avez-vous déjà supervisé plus de quinze personnes ?</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Quel âge avez-vous ?</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Êtes-vous autorisée à travailler au Canada ?</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Prévoyez-vous une grossesse cette année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Passer au travers du processus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A-t-on le droit de la poser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Êtes-vous disponible cinq jours par semaine ?   </a:t>
            </a:r>
            <a:r>
              <a:rPr sz="1400" b="1" i="0">
                <a:solidFill>
                  <a:srgbClr val="07734A"/>
                </a:solidFill>
                <a:latin typeface="Verdana"/>
              </a:rPr>
              <a:t>» permise - la tâche</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Avez-vous des enfants en bas âge ?   </a:t>
            </a:r>
            <a:r>
              <a:rPr sz="1400" b="1" i="0">
                <a:solidFill>
                  <a:srgbClr val="07734A"/>
                </a:solidFill>
                <a:latin typeface="Verdana"/>
              </a:rPr>
              <a:t>» interdite - l'état civil</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Avez-vous déjà supervisé plus de quinze personnes ?   </a:t>
            </a:r>
            <a:r>
              <a:rPr sz="1400" b="1" i="0">
                <a:solidFill>
                  <a:srgbClr val="07734A"/>
                </a:solidFill>
                <a:latin typeface="Verdana"/>
              </a:rPr>
              <a:t>» permise - l'expérience</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Quel âge avez-vous ?   </a:t>
            </a:r>
            <a:r>
              <a:rPr sz="1400" b="1" i="0">
                <a:solidFill>
                  <a:srgbClr val="07734A"/>
                </a:solidFill>
                <a:latin typeface="Verdana"/>
              </a:rPr>
              <a:t>» interdite - l'âge</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Êtes-vous autorisée à travailler au Canada ?   </a:t>
            </a:r>
            <a:r>
              <a:rPr sz="1400" b="1" i="0">
                <a:solidFill>
                  <a:srgbClr val="07734A"/>
                </a:solidFill>
                <a:latin typeface="Verdana"/>
              </a:rPr>
              <a:t>» permise - une condition d'emploi</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Prévoyez-vous une grossesse cette année ?   </a:t>
            </a:r>
            <a:r>
              <a:rPr sz="1400" b="1" i="0">
                <a:solidFill>
                  <a:srgbClr val="07734A"/>
                </a:solidFill>
                <a:latin typeface="Verdana"/>
              </a:rPr>
              <a:t>» interdite - la grossesse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Passer au travers du processus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La réponse en trois temps</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42138"/>
          </a:xfrm>
          <a:prstGeom prst="rect">
            <a:avLst/>
          </a:prstGeom>
          <a:noFill/>
        </p:spPr>
        <p:txBody>
          <a:bodyPr wrap="square" lIns="0" rIns="0" tIns="0" bIns="0" anchor="t">
            <a:spAutoFit/>
          </a:bodyPr>
          <a:lstStyle/>
          <a:p>
            <a:pPr algn="l">
              <a:lnSpc>
                <a:spcPct val="118000"/>
              </a:lnSpc>
            </a:pPr>
            <a:r>
              <a:rPr sz="2100" b="1" i="0">
                <a:solidFill>
                  <a:srgbClr val="B45309"/>
                </a:solidFill>
                <a:latin typeface="Verdana"/>
              </a:rPr>
              <a:t>Répondre à l'inquiétude réelle</a:t>
            </a:r>
          </a:p>
        </p:txBody>
      </p:sp>
      <p:sp>
        <p:nvSpPr>
          <p:cNvPr id="9" name="TextBox 8"/>
          <p:cNvSpPr txBox="1"/>
          <p:nvPr/>
        </p:nvSpPr>
        <p:spPr>
          <a:xfrm>
            <a:off x="886968" y="2454402"/>
            <a:ext cx="4806543" cy="1134618"/>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Je vais vous répondre sur ce qui vous intéresse : je suis disponible pour le quart de soir cinq jours sur cinq, et je le suis depuis deux ans.</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42138"/>
          </a:xfrm>
          <a:prstGeom prst="rect">
            <a:avLst/>
          </a:prstGeom>
          <a:noFill/>
        </p:spPr>
        <p:txBody>
          <a:bodyPr wrap="square" lIns="0" rIns="0" tIns="0" bIns="0" anchor="t">
            <a:spAutoFit/>
          </a:bodyPr>
          <a:lstStyle/>
          <a:p>
            <a:pPr algn="l">
              <a:lnSpc>
                <a:spcPct val="118000"/>
              </a:lnSpc>
            </a:pPr>
            <a:r>
              <a:rPr sz="2100" b="1" i="0">
                <a:solidFill>
                  <a:srgbClr val="B45309"/>
                </a:solidFill>
                <a:latin typeface="Verdana"/>
              </a:rPr>
              <a:t>Refermer le reste</a:t>
            </a:r>
          </a:p>
        </p:txBody>
      </p:sp>
      <p:sp>
        <p:nvSpPr>
          <p:cNvPr id="12" name="TextBox 11"/>
          <p:cNvSpPr txBox="1"/>
          <p:nvPr/>
        </p:nvSpPr>
        <p:spPr>
          <a:xfrm>
            <a:off x="6498183" y="2454402"/>
            <a:ext cx="4806543" cy="1134618"/>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Pour le reste, je préfère ne pas répondre. Une phrase, calme, mélodie descendante. On ne cite pas la loi et on ne se fâche pas.</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42138"/>
          </a:xfrm>
          <a:prstGeom prst="rect">
            <a:avLst/>
          </a:prstGeom>
          <a:noFill/>
        </p:spPr>
        <p:txBody>
          <a:bodyPr wrap="square" lIns="0" rIns="0" tIns="0" bIns="0" anchor="t">
            <a:spAutoFit/>
          </a:bodyPr>
          <a:lstStyle/>
          <a:p>
            <a:pPr algn="l">
              <a:lnSpc>
                <a:spcPct val="118000"/>
              </a:lnSpc>
            </a:pPr>
            <a:r>
              <a:rPr sz="2100" b="1" i="0">
                <a:solidFill>
                  <a:srgbClr val="B45309"/>
                </a:solidFill>
                <a:latin typeface="Verdana"/>
              </a:rPr>
              <a:t>Enchaîner sans silence</a:t>
            </a:r>
          </a:p>
        </p:txBody>
      </p:sp>
      <p:sp>
        <p:nvSpPr>
          <p:cNvPr id="15" name="TextBox 14"/>
          <p:cNvSpPr txBox="1"/>
          <p:nvPr/>
        </p:nvSpPr>
        <p:spPr>
          <a:xfrm>
            <a:off x="886968" y="4671822"/>
            <a:ext cx="4806543" cy="1134618"/>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On repart tout de suite sur autre chose. Le silence après le refus est ce qui rend le moment lourd, et c'est à vous de ne pas le laisser s'installer.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Passer au travers du processus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PRATIQUE 2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subjonctif et ses déclencheurs</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Subjonctif, ou indicatif ?</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Je tiens à ce que ce ___ (être) écrit dans la lettre.</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Bien que la question ___ (être) interdite, je comprends l'inquiétude.</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Même si l'équipe ___ (être) incomplète, la production continue.</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paraît que le groupe ___ (vouloir) ouvrir une deuxième usine.</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Je ne crois pas qu'ils ___ (pouvoir) répondre avant vendredi.</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est certain qu'elle ___ (avoir) l'expérience demandée.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Passer au travers du processus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subjonctif et ses déclencheurs</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Je tiens à ce que ce ___ (être) écrit dans la lettre.   </a:t>
            </a:r>
            <a:r>
              <a:rPr sz="1400" b="1" i="0">
                <a:solidFill>
                  <a:srgbClr val="07734A"/>
                </a:solidFill>
                <a:latin typeface="Verdana"/>
              </a:rPr>
              <a:t>» soit</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Bien que la question ___ (être) interdite, je comprends l'inquiétude.   </a:t>
            </a:r>
            <a:r>
              <a:rPr sz="1400" b="1" i="0">
                <a:solidFill>
                  <a:srgbClr val="07734A"/>
                </a:solidFill>
                <a:latin typeface="Verdana"/>
              </a:rPr>
              <a:t>» soit</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Même si l'équipe ___ (être) incomplète, la production continue.   </a:t>
            </a:r>
            <a:r>
              <a:rPr sz="1400" b="1" i="0">
                <a:solidFill>
                  <a:srgbClr val="07734A"/>
                </a:solidFill>
                <a:latin typeface="Verdana"/>
              </a:rPr>
              <a:t>» est - indicatif</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paraît que le groupe ___ (vouloir) ouvrir une deuxième usine.   </a:t>
            </a:r>
            <a:r>
              <a:rPr sz="1400" b="1" i="0">
                <a:solidFill>
                  <a:srgbClr val="07734A"/>
                </a:solidFill>
                <a:latin typeface="Verdana"/>
              </a:rPr>
              <a:t>» veut - indicatif</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Je ne crois pas qu'ils ___ (pouvoir) répondre avant vendredi.   </a:t>
            </a:r>
            <a:r>
              <a:rPr sz="1400" b="1" i="0">
                <a:solidFill>
                  <a:srgbClr val="07734A"/>
                </a:solidFill>
                <a:latin typeface="Verdana"/>
              </a:rPr>
              <a:t>» puissent</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est certain qu'elle ___ (avoir) l'expérience demandée.   </a:t>
            </a:r>
            <a:r>
              <a:rPr sz="1400" b="1" i="0">
                <a:solidFill>
                  <a:srgbClr val="07734A"/>
                </a:solidFill>
                <a:latin typeface="Verdana"/>
              </a:rPr>
              <a:t>» a - indicatif</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Passer au travers du processus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PRATIQUE 3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Mettre en avant ce qui compte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Réécrivez en mettant le groupe souligné en relief.</a:t>
            </a:r>
          </a:p>
        </p:txBody>
      </p:sp>
      <p:sp>
        <p:nvSpPr>
          <p:cNvPr id="8" name="Rounded Rectangle 7"/>
          <p:cNvSpPr/>
          <p:nvPr/>
        </p:nvSpPr>
        <p:spPr>
          <a:xfrm>
            <a:off x="566928" y="2139696"/>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J'apporte seize ans d'usine.</a:t>
            </a:r>
          </a:p>
        </p:txBody>
      </p:sp>
      <p:sp>
        <p:nvSpPr>
          <p:cNvPr id="12" name="Rounded Rectangle 11"/>
          <p:cNvSpPr/>
          <p:nvPr/>
        </p:nvSpPr>
        <p:spPr>
          <a:xfrm>
            <a:off x="566928" y="2916428"/>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raisonnement vous intéresse.</a:t>
            </a:r>
          </a:p>
        </p:txBody>
      </p:sp>
      <p:sp>
        <p:nvSpPr>
          <p:cNvPr id="16" name="Rounded Rectangle 15"/>
          <p:cNvSpPr/>
          <p:nvPr/>
        </p:nvSpPr>
        <p:spPr>
          <a:xfrm>
            <a:off x="566928" y="3693160"/>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J'ai besoin d'une date.</a:t>
            </a:r>
          </a:p>
        </p:txBody>
      </p:sp>
      <p:sp>
        <p:nvSpPr>
          <p:cNvPr id="20" name="Rounded Rectangle 19"/>
          <p:cNvSpPr/>
          <p:nvPr/>
        </p:nvSpPr>
        <p:spPr>
          <a:xfrm>
            <a:off x="566928" y="4469892"/>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J'avais approuvé l'étiquette.</a:t>
            </a:r>
          </a:p>
        </p:txBody>
      </p:sp>
      <p:sp>
        <p:nvSpPr>
          <p:cNvPr id="24" name="Rounded Rectangle 23"/>
          <p:cNvSpPr/>
          <p:nvPr/>
        </p:nvSpPr>
        <p:spPr>
          <a:xfrm>
            <a:off x="566928" y="5246624"/>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388102"/>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452110"/>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402072"/>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Je veux ce poste.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Passer au travers du processus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Mettre en avant ce qui compte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J'apporte seize ans d'usine.   </a:t>
            </a:r>
            <a:r>
              <a:rPr sz="1900" b="1" i="0">
                <a:solidFill>
                  <a:srgbClr val="07734A"/>
                </a:solidFill>
                <a:latin typeface="Verdana"/>
              </a:rPr>
              <a:t>» Ce que j'apporte, c'est seize ans d'usine.</a:t>
            </a:r>
          </a:p>
        </p:txBody>
      </p:sp>
      <p:sp>
        <p:nvSpPr>
          <p:cNvPr id="12" name="Rounded Rectangle 11"/>
          <p:cNvSpPr/>
          <p:nvPr/>
        </p:nvSpPr>
        <p:spPr>
          <a:xfrm>
            <a:off x="566928" y="2916428"/>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raisonnement vous intéresse.   </a:t>
            </a:r>
            <a:r>
              <a:rPr sz="1900" b="1" i="0">
                <a:solidFill>
                  <a:srgbClr val="07734A"/>
                </a:solidFill>
                <a:latin typeface="Verdana"/>
              </a:rPr>
              <a:t>» Ce qui vous intéresse, c'est le raisonnement.</a:t>
            </a:r>
          </a:p>
        </p:txBody>
      </p:sp>
      <p:sp>
        <p:nvSpPr>
          <p:cNvPr id="16" name="Rounded Rectangle 15"/>
          <p:cNvSpPr/>
          <p:nvPr/>
        </p:nvSpPr>
        <p:spPr>
          <a:xfrm>
            <a:off x="566928" y="3693160"/>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J'ai besoin d'une date.   </a:t>
            </a:r>
            <a:r>
              <a:rPr sz="1900" b="1" i="0">
                <a:solidFill>
                  <a:srgbClr val="07734A"/>
                </a:solidFill>
                <a:latin typeface="Verdana"/>
              </a:rPr>
              <a:t>» Ce dont j'ai besoin, c'est d'une date.</a:t>
            </a:r>
          </a:p>
        </p:txBody>
      </p:sp>
      <p:sp>
        <p:nvSpPr>
          <p:cNvPr id="20" name="Rounded Rectangle 19"/>
          <p:cNvSpPr/>
          <p:nvPr/>
        </p:nvSpPr>
        <p:spPr>
          <a:xfrm>
            <a:off x="566928" y="4469892"/>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J'avais approuvé l'étiquette.   </a:t>
            </a:r>
            <a:r>
              <a:rPr sz="1900" b="1" i="0">
                <a:solidFill>
                  <a:srgbClr val="07734A"/>
                </a:solidFill>
                <a:latin typeface="Verdana"/>
              </a:rPr>
              <a:t>» C'est moi qui avais approuvé l'étiquette.</a:t>
            </a:r>
          </a:p>
        </p:txBody>
      </p:sp>
      <p:sp>
        <p:nvSpPr>
          <p:cNvPr id="24" name="Rounded Rectangle 23"/>
          <p:cNvSpPr/>
          <p:nvPr/>
        </p:nvSpPr>
        <p:spPr>
          <a:xfrm>
            <a:off x="566928" y="5246624"/>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388102"/>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452110"/>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402072"/>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Je veux ce poste.   </a:t>
            </a:r>
            <a:r>
              <a:rPr sz="1900" b="1" i="0">
                <a:solidFill>
                  <a:srgbClr val="07734A"/>
                </a:solidFill>
                <a:latin typeface="Verdana"/>
              </a:rPr>
              <a:t>» Ce poste-là, je le veux.</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Passer au travers du processus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PIÈGE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demander un échelon de plus</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proposer un échelon contre une contrepartie datée</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5189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Une demande nue se refuse en trois secondes : « ça ne se donne pas comme ça ». Une proposition qui offre quelque chose met l'autre en position d'accepter sans rien concéder d'avance. Chiffrez ce que votre contrepartie vaut pour l'employeur, jamais ce que l'échelon vaut pour vous.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Passer au travers du processus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15</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la phrase que vous direz si on vous pose une question interdite.</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Deux parties : la disponibilité, puis « pour le reste... ».</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Apprenez-la par cœur : en situation, on n'invente pas.</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Passer au travers du processus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