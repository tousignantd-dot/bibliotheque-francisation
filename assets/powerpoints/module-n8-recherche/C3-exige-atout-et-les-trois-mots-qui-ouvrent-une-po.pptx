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la plus utile du module pour la vie réelle. Beaucoup d'élèves ont déjà renoncé à une offre cette année : demander qui, et pourquoi. La réponse ouvre la séance toute seule.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qui change une vie de recherche d'emploi. Le poser en grand, et y revenir trois fois.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brutale et elle est juste. Ne pas l'adoucir : c'est le sujet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relire les annonces apportées en devoir avec ce seul filtre : combien d'exigences, combien d'atouts.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la formule dans chaque annonce apportée. Quand elle n'y est pas, c'est un renseignement aussi : l'exigence est ferme.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 repérage. Le troisième est le plus riche : une responsabilité absente du titre change complètement le poste, et c'est ce que l'appel de présélection avait déjà révélé.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dernière ligne mérite une explication : deux semaines de congé après un an de service continu, trois après trois ans, chez le même employeur.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Fait vérifié auprès de la CNESST. C'est aussi une des trois choses qui se négocient au défi 3, avec l'échelon et la formation.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cas n'a pas de réponse tranchée, et c'est voulu. Un appel avant de postuler règle la question en trois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Le tableau se relit en trois minutes au début de C4, et il montre presque toujours que la colonne de gauche est plus courte que l'élève ne le croyait.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Exigé, atout, et les trois mots qui ouvrent une porte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majorité de candidats renoncent devant une exigence qu'ils croient absolue. Or presque toutes les exigences portent une porte, et elle tient en trois mots.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Passer au travers du processus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est exigé de ce qui est un atout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la formule qui ouvre une exigence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les conditions aussi attentivement que les exigences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recopier le titre du poste mot pour mot.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À quelle offre avez-vous renoncé cette année, et pourquoi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manquait combien d'années d'expérience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mot exact de l'annonce était-il « exigé » ou « atout »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avait-il « ou l'équivalent » quelque part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a décidé que vous n'étiez pas admissible : l'employeur, ou vous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EXIGÉ ÉLIMINE, ATOUT DISTINGUE</a:t>
            </a:r>
          </a:p>
        </p:txBody>
      </p:sp>
      <p:sp>
        <p:nvSpPr>
          <p:cNvPr id="6" name="Rounded Rectangle 5"/>
          <p:cNvSpPr/>
          <p:nvPr/>
        </p:nvSpPr>
        <p:spPr>
          <a:xfrm>
            <a:off x="566928" y="1225296"/>
            <a:ext cx="11057839" cy="2711704"/>
          </a:xfrm>
          <a:prstGeom prst="roundRect">
            <a:avLst>
              <a:gd name="adj" fmla="val 5395"/>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888744"/>
          </a:xfrm>
          <a:prstGeom prst="rect">
            <a:avLst/>
          </a:prstGeom>
          <a:noFill/>
        </p:spPr>
        <p:txBody>
          <a:bodyPr wrap="square" lIns="0" rIns="0" tIns="0" bIns="0" anchor="t">
            <a:spAutoFit/>
          </a:bodyPr>
          <a:lstStyle/>
          <a:p>
            <a:pPr algn="l">
              <a:lnSpc>
                <a:spcPct val="122000"/>
              </a:lnSpc>
            </a:pPr>
            <a:r>
              <a:rPr sz="2900" b="1" i="0">
                <a:solidFill>
                  <a:srgbClr val="17181A"/>
                </a:solidFill>
                <a:latin typeface="Verdana"/>
              </a:rPr>
              <a:t>Ce qui est exigé vous écarte si vous ne l'avez pas. Ce qui est un atout vous distingue si vous l'avez, et ne vous coûte rien sinon. Ne renoncez jamais à une offre faute d'un atout.</a:t>
            </a:r>
          </a:p>
        </p:txBody>
      </p:sp>
      <p:sp>
        <p:nvSpPr>
          <p:cNvPr id="8" name="Rounded Rectangle 7"/>
          <p:cNvSpPr/>
          <p:nvPr/>
        </p:nvSpPr>
        <p:spPr>
          <a:xfrm>
            <a:off x="566928" y="4211320"/>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485639"/>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dossier sans aucun des atouts mais avec toutes les exigences passe le tri. L'inverse ne le passe pas. Les deux mots ne pèsent pas pareil, et l'annonce ne le dit nulle part.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mots qui ouvrent une exigence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 ou l'équivalent »</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Cinq années en supervision, ou l'équivalent. L'employeur sait qu'il ne trouvera pas le profil idéal, et il l'écrit exprès.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 ou expérience jugée pertinente »</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Diplôme collégial, ou expérience jugée pertinente. C'est à l'employeur de juger, pas à vous de vous éliminer d'avance.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 ou toute expérience équivalente »</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formule de l'offre de Boréalis, et c'est par cette porte-là que Shirin passe avec ses onze années de Téhéran.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Comment franchir la porte</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Pas en affirmant. Avec une taille d'équipe, un nombre d'années et un résultat : vingt-deux personnes, trois lignes, onze ans.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est-ce écrit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Retrouvez dans l'offre le passage qui répond.</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est le titre exact du poste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est l'horaire précis du quart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responsabilité ne figure pas dans le titre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porte l'exigence d'expérience laisse-t-elle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la période d'essai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quoi le congé annuel est-il calculé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est-ce écrit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est le titre exact du poste ?   </a:t>
            </a:r>
            <a:r>
              <a:rPr sz="1400" b="1" i="0">
                <a:solidFill>
                  <a:srgbClr val="07734A"/>
                </a:solidFill>
                <a:latin typeface="Verdana"/>
              </a:rPr>
              <a:t>» superviseure ou superviseur de production, quart de soir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est l'horaire précis du quart ?   </a:t>
            </a:r>
            <a:r>
              <a:rPr sz="1400" b="1" i="0">
                <a:solidFill>
                  <a:srgbClr val="07734A"/>
                </a:solidFill>
                <a:latin typeface="Verdana"/>
              </a:rPr>
              <a:t>» du lundi au vendredi, de quinze heures à vingt-trois heures trente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responsabilité ne figure pas dans le titre ?   </a:t>
            </a:r>
            <a:r>
              <a:rPr sz="1400" b="1" i="0">
                <a:solidFill>
                  <a:srgbClr val="07734A"/>
                </a:solidFill>
                <a:latin typeface="Verdana"/>
              </a:rPr>
              <a:t>» participer au recrutement de l'équipe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porte l'exigence d'expérience laisse-t-elle ?   </a:t>
            </a:r>
            <a:r>
              <a:rPr sz="1400" b="1" i="0">
                <a:solidFill>
                  <a:srgbClr val="07734A"/>
                </a:solidFill>
                <a:latin typeface="Verdana"/>
              </a:rPr>
              <a:t>» ou toute expérience jugée équivalente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la période d'essai ?   </a:t>
            </a:r>
            <a:r>
              <a:rPr sz="1400" b="1" i="0">
                <a:solidFill>
                  <a:srgbClr val="07734A"/>
                </a:solidFill>
                <a:latin typeface="Verdana"/>
              </a:rPr>
              <a:t>» six mois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quoi le congé annuel est-il calculé ?   </a:t>
            </a:r>
            <a:r>
              <a:rPr sz="1400" b="1" i="0">
                <a:solidFill>
                  <a:srgbClr val="07734A"/>
                </a:solidFill>
                <a:latin typeface="Verdana"/>
              </a:rPr>
              <a:t>» la Loi sur les normes du travail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Huit formules, et ce qu'elles cachent</a:t>
            </a:r>
          </a:p>
        </p:txBody>
      </p:sp>
      <p:sp>
        <p:nvSpPr>
          <p:cNvPr id="7" name="Rounded Rectangle 6"/>
          <p:cNvSpPr/>
          <p:nvPr/>
        </p:nvSpPr>
        <p:spPr>
          <a:xfrm>
            <a:off x="566928" y="1810512"/>
            <a:ext cx="11057839" cy="4242816"/>
          </a:xfrm>
          <a:prstGeom prst="roundRect">
            <a:avLst>
              <a:gd name="adj" fmla="val 34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CELA VEUT DIRE</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 ou toute expérience jugée équivalente »</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 porte : à vous de démontrer l'équivalence</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 capacité démontrée à »</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il faudra un exemple précis, pas une affirmation</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 selon l'échelle en vigueur »</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salaire n'est pas dit : question à poser</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 participer au recrutement »</a:t>
            </a:r>
          </a:p>
        </p:txBody>
      </p:sp>
      <p:sp>
        <p:nvSpPr>
          <p:cNvPr id="20" name="TextBox 19"/>
          <p:cNvSpPr txBox="1"/>
          <p:nvPr/>
        </p:nvSpPr>
        <p:spPr>
          <a:xfrm>
            <a:off x="4443636" y="4450080"/>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une responsabilité absente du titre</a:t>
            </a:r>
          </a:p>
        </p:txBody>
      </p:sp>
      <p:sp>
        <p:nvSpPr>
          <p:cNvPr id="21" name="Rectangle 20"/>
          <p:cNvSpPr/>
          <p:nvPr/>
        </p:nvSpPr>
        <p:spPr>
          <a:xfrm>
            <a:off x="932688" y="50962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224272"/>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 selon la Loi sur les normes du travail »</a:t>
            </a:r>
          </a:p>
        </p:txBody>
      </p:sp>
      <p:sp>
        <p:nvSpPr>
          <p:cNvPr id="23" name="TextBox 22"/>
          <p:cNvSpPr txBox="1"/>
          <p:nvPr/>
        </p:nvSpPr>
        <p:spPr>
          <a:xfrm>
            <a:off x="4443636" y="5224272"/>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minimum légal, rien de plus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CONGÉ ANNUEL SELON LA LOI, C'EST LE MINIMUM</a:t>
            </a:r>
          </a:p>
        </p:txBody>
      </p:sp>
      <p:sp>
        <p:nvSpPr>
          <p:cNvPr id="6" name="Rounded Rectangle 5"/>
          <p:cNvSpPr/>
          <p:nvPr/>
        </p:nvSpPr>
        <p:spPr>
          <a:xfrm>
            <a:off x="566928" y="1225296"/>
            <a:ext cx="11057839" cy="2897632"/>
          </a:xfrm>
          <a:prstGeom prst="roundRect">
            <a:avLst>
              <a:gd name="adj" fmla="val 5049"/>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74671"/>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Deux semaines après un an de service continu, trois semaines après trois ans. Le service continu se compte chez un même employeur, sans interruption.</a:t>
            </a:r>
          </a:p>
        </p:txBody>
      </p:sp>
      <p:sp>
        <p:nvSpPr>
          <p:cNvPr id="8" name="Rounded Rectangle 7"/>
          <p:cNvSpPr/>
          <p:nvPr/>
        </p:nvSpPr>
        <p:spPr>
          <a:xfrm>
            <a:off x="566928" y="439724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7156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expérience acquise ailleurs, même de vingt ans, ne compte jamais dans le service continu. Un employeur peut en revanche accorder davantage par contrat, et cela se demande — c'est exactement ce qui n'est pas affiché.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Postuler ou non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Dites si le dossier passe le tri.</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 manque un atout, toutes les exigences sont là.</a:t>
            </a:r>
          </a:p>
        </p:txBody>
      </p:sp>
      <p:sp>
        <p:nvSpPr>
          <p:cNvPr id="12" name="Rounded Rectangle 11"/>
          <p:cNvSpPr/>
          <p:nvPr/>
        </p:nvSpPr>
        <p:spPr>
          <a:xfrm>
            <a:off x="566928" y="2898648"/>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912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552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Trois ans d'expérience au lieu de cinq, avec « ou l'équivalent ».</a:t>
            </a:r>
          </a:p>
        </p:txBody>
      </p:sp>
      <p:sp>
        <p:nvSpPr>
          <p:cNvPr id="16" name="Rounded Rectangle 15"/>
          <p:cNvSpPr/>
          <p:nvPr/>
        </p:nvSpPr>
        <p:spPr>
          <a:xfrm>
            <a:off x="566928" y="3977639"/>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Trois ans au lieu de cinq, sans aucune formule d'ouverture.</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Aucune disponibilité pour le quart demandé.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Postuler ou non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 manque un atout, toutes les exigences sont là.   </a:t>
            </a:r>
            <a:r>
              <a:rPr sz="1800" b="1" i="0">
                <a:solidFill>
                  <a:srgbClr val="07734A"/>
                </a:solidFill>
                <a:latin typeface="Verdana"/>
              </a:rPr>
              <a:t>» postuler - un atout n'élimine pas</a:t>
            </a:r>
          </a:p>
        </p:txBody>
      </p:sp>
      <p:sp>
        <p:nvSpPr>
          <p:cNvPr id="12" name="Rounded Rectangle 11"/>
          <p:cNvSpPr/>
          <p:nvPr/>
        </p:nvSpPr>
        <p:spPr>
          <a:xfrm>
            <a:off x="566928" y="2898648"/>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912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5526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Trois ans d'expérience au lieu de cinq, avec « ou l'équivalent ».   </a:t>
            </a:r>
            <a:r>
              <a:rPr sz="1800" b="1" i="0">
                <a:solidFill>
                  <a:srgbClr val="07734A"/>
                </a:solidFill>
                <a:latin typeface="Verdana"/>
              </a:rPr>
              <a:t>» postuler - la porte est ouverte</a:t>
            </a:r>
          </a:p>
        </p:txBody>
      </p:sp>
      <p:sp>
        <p:nvSpPr>
          <p:cNvPr id="16" name="Rounded Rectangle 15"/>
          <p:cNvSpPr/>
          <p:nvPr/>
        </p:nvSpPr>
        <p:spPr>
          <a:xfrm>
            <a:off x="566928" y="3977639"/>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Trois ans au lieu de cinq, sans aucune formule d'ouverture.   </a:t>
            </a:r>
            <a:r>
              <a:rPr sz="1800" b="1" i="0">
                <a:solidFill>
                  <a:srgbClr val="07734A"/>
                </a:solidFill>
                <a:latin typeface="Verdana"/>
              </a:rPr>
              <a:t>» le tri sera serré, mais l'appel reste possible</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Aucune disponibilité pour le quart demandé.   </a:t>
            </a:r>
            <a:r>
              <a:rPr sz="1800" b="1" i="0">
                <a:solidFill>
                  <a:srgbClr val="07734A"/>
                </a:solidFill>
                <a:latin typeface="Verdana"/>
              </a:rPr>
              <a:t>» ne pas postuler - la disponibilité est une exigence réelle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Reprenez l'offre de votre devoir et faites-en deux colonnes.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À gauche ce qui est exigé, à droite ce qui est un atout.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Soulignez toute formule d'ouverture que vous trouvez.</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Passer au travers du processus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