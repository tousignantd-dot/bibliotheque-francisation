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courte et très orale. Prévoir de faire répéter debout : assis, personne n'ose exagérer, et l'exagération est justement ce qui fait entrer une mélodie dans l'oreille.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troisième objectif est le seul qui compte vraiment pour l'emploi. Y revenir à la fin de la séance.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 les trois soi-même, sans annoncer laquelle est laquelle. Le groupe entend la différence avant de savoir la nommer, et c'est le bon ordre.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Les quatre noms sont ceux du programme, mot pour mot : surprise, incompréhension, volonté, déception.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 chaque exemple deux fois avant de faire répéter. Insister sur la volonté : c'est celle que les élèves ratent le plus, parce qu'ils la montent au lieu de la descendre.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module en propose neuf ; six suffisent en classe. Faire redire chaque réplique par un élève après la correction, pas avant.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l'expérience à voix haute : dire « ce poste m'intéresse » en montant, puis en descendant. Le groupe entend la différence tout de suite.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élèves très prudents à l'oral sont ceux qui en ont le plus besoin, et ce sont ceux qui résisteront le plus. Ne pas insister en public.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Exercice debout. Le « à plat » d'abord est essentiel : c'est la comparaison qui enseigne, pas la réussite du premier essai.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court. Beaucoup d'élèves s'entendent monter pour la première fois de leur vie, et cela vaut trois explications.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SÉANCE A2  ·  MODULE 2</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Quatre mélodies, et ce qu'elles disent à votre place</a:t>
            </a:r>
          </a:p>
        </p:txBody>
      </p:sp>
      <p:sp>
        <p:nvSpPr>
          <p:cNvPr id="5" name="Rounded Rectangle 4"/>
          <p:cNvSpPr/>
          <p:nvPr/>
        </p:nvSpPr>
        <p:spPr>
          <a:xfrm>
            <a:off x="566928" y="3794760"/>
            <a:ext cx="9960559" cy="1394968"/>
          </a:xfrm>
          <a:prstGeom prst="roundRect">
            <a:avLst>
              <a:gd name="adj" fmla="val 1048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programme du niveau 8 ne demande plus qu'une chose à l'oreille : produire l'intonation expressive. Pas un son nouveau — une mélodie.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60 minutes  ·  Passer au travers du processus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2120392"/>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202688"/>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0" name="TextBox 9"/>
          <p:cNvSpPr txBox="1"/>
          <p:nvPr/>
        </p:nvSpPr>
        <p:spPr>
          <a:xfrm>
            <a:off x="1408176" y="1965960"/>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à l'oreille la surprise, l'incompréhension, la volonté et la déception ;</a:t>
            </a:r>
          </a:p>
        </p:txBody>
      </p:sp>
      <p:sp>
        <p:nvSpPr>
          <p:cNvPr id="11" name="Rounded Rectangle 10"/>
          <p:cNvSpPr/>
          <p:nvPr/>
        </p:nvSpPr>
        <p:spPr>
          <a:xfrm>
            <a:off x="566928" y="3006343"/>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3184144"/>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3266439"/>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4" name="TextBox 13"/>
          <p:cNvSpPr txBox="1"/>
          <p:nvPr/>
        </p:nvSpPr>
        <p:spPr>
          <a:xfrm>
            <a:off x="1408176" y="32075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produire chacune des quatre sur une phrase courte ;</a:t>
            </a:r>
          </a:p>
        </p:txBody>
      </p:sp>
      <p:sp>
        <p:nvSpPr>
          <p:cNvPr id="15" name="Rounded Rectangle 14"/>
          <p:cNvSpPr/>
          <p:nvPr/>
        </p:nvSpPr>
        <p:spPr>
          <a:xfrm>
            <a:off x="566928" y="3892295"/>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4070095"/>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4152391"/>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8" name="TextBox 17"/>
          <p:cNvSpPr txBox="1"/>
          <p:nvPr/>
        </p:nvSpPr>
        <p:spPr>
          <a:xfrm>
            <a:off x="1408176" y="4093463"/>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pourquoi une voix plate se lit comme de l'indifférence ;</a:t>
            </a:r>
          </a:p>
        </p:txBody>
      </p:sp>
      <p:sp>
        <p:nvSpPr>
          <p:cNvPr id="19" name="Rounded Rectangle 18"/>
          <p:cNvSpPr/>
          <p:nvPr/>
        </p:nvSpPr>
        <p:spPr>
          <a:xfrm>
            <a:off x="566928" y="47782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956048"/>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5038344"/>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2" name="TextBox 21"/>
          <p:cNvSpPr txBox="1"/>
          <p:nvPr/>
        </p:nvSpPr>
        <p:spPr>
          <a:xfrm>
            <a:off x="1408176" y="4979415"/>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choisir trois phrases d'entrevue et décider de leur mélodie.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ÉCOUTE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900" b="1" i="0">
                <a:solidFill>
                  <a:srgbClr val="17181A"/>
                </a:solidFill>
                <a:latin typeface="Verdana"/>
              </a:rPr>
              <a:t>La même phrase, trois fois : qu'est-ce qui change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3B4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L'équipe n'existe pas encore ?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3B4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L'équipe n'existe pas encore.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3B4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L'équipe n'existe pas encore...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3B4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Les mots sont identiques. Qu'est-ce qui ne l'est pas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QUATRE MÉLODIES, QUATRE INTENTIONS</a:t>
            </a:r>
          </a:p>
        </p:txBody>
      </p:sp>
      <p:sp>
        <p:nvSpPr>
          <p:cNvPr id="6" name="Rounded Rectangle 5"/>
          <p:cNvSpPr/>
          <p:nvPr/>
        </p:nvSpPr>
        <p:spPr>
          <a:xfrm>
            <a:off x="566928" y="1225296"/>
            <a:ext cx="11057839" cy="2835656"/>
          </a:xfrm>
          <a:prstGeom prst="roundRect">
            <a:avLst>
              <a:gd name="adj" fmla="val 5159"/>
            </a:avLst>
          </a:prstGeom>
          <a:solidFill>
            <a:srgbClr val="E8EA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2012696"/>
          </a:xfrm>
          <a:prstGeom prst="rect">
            <a:avLst/>
          </a:prstGeom>
          <a:noFill/>
        </p:spPr>
        <p:txBody>
          <a:bodyPr wrap="square" lIns="0" rIns="0" tIns="0" bIns="0" anchor="t">
            <a:spAutoFit/>
          </a:bodyPr>
          <a:lstStyle/>
          <a:p>
            <a:pPr algn="l">
              <a:lnSpc>
                <a:spcPct val="122000"/>
              </a:lnSpc>
            </a:pPr>
            <a:r>
              <a:rPr sz="3100" b="1" i="0">
                <a:solidFill>
                  <a:srgbClr val="17181A"/>
                </a:solidFill>
                <a:latin typeface="Verdana"/>
              </a:rPr>
              <a:t>La surprise monte d'un coup à la fin. L'incompréhension freine et laisse un silence. La volonté descend et appuie. La déception tombe dès la première syllabe.</a:t>
            </a:r>
          </a:p>
        </p:txBody>
      </p:sp>
      <p:sp>
        <p:nvSpPr>
          <p:cNvPr id="8" name="Rounded Rectangle 7"/>
          <p:cNvSpPr/>
          <p:nvPr/>
        </p:nvSpPr>
        <p:spPr>
          <a:xfrm>
            <a:off x="566928" y="4335272"/>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609591"/>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Aucune de ces quatre ne s'écrit : elles ne vivent que dans la voix. C'est pour cela qu'un texte bien construit peut être dit d'une façon qui le contredit, et que l'interlocuteur croira toujours la voix plutôt que les mots.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Comment chacune se fabrique</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3B49A0"/>
                </a:solidFill>
                <a:latin typeface="Verdana"/>
              </a:rPr>
              <a:t>La surprise</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La phrase part normalement puis grimpe brusquement sur les deux ou trois dernières syllabes. Souvent une question, souvent courte.</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3B49A0"/>
                </a:solidFill>
                <a:latin typeface="Verdana"/>
              </a:rPr>
              <a:t>L'incompréhension</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On ne monte pas : on freine. Le débit se casse à l'endroit précis où le fil s'est rompu, avec un petit silence avant le mot en cause.</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3B49A0"/>
                </a:solidFill>
                <a:latin typeface="Verdana"/>
              </a:rPr>
              <a:t>La volonté</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La mélodie descend, le débit ralentit, les syllabes se détachent. C'est la voix de l'engagement, celle de la négociation.</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3B49A0"/>
                </a:solidFill>
                <a:latin typeface="Verdana"/>
              </a:rPr>
              <a:t>La déception</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La mélodie descend dès la première syllabe et ne remonte jamais. Souvent un « ah » ou un « bon » en tête.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Quelle intention entendez-vous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chaque réplique, puis dites : surprise, incompréhension ou volonté.</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Trois étapes pour un poste de superviseure ?</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Attendez, je ne suis pas certaine de vous suivre.</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vais y arriver, et je vais y arriver cette fois-ci.</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Comment ça, l'équipe n'existe pas encore ?</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Là, honnêtement, je perds le fil de votre explication.</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 poste-là, je le veux, et je vous dis pourquoi.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Quelle intention entendez-vous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Trois étapes pour un poste de superviseure ?   </a:t>
            </a:r>
            <a:r>
              <a:rPr sz="1400" b="1" i="0">
                <a:solidFill>
                  <a:srgbClr val="07734A"/>
                </a:solidFill>
                <a:latin typeface="Verdana"/>
              </a:rPr>
              <a:t>» surprise</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Attendez, je ne suis pas certaine de vous suivre.   </a:t>
            </a:r>
            <a:r>
              <a:rPr sz="1400" b="1" i="0">
                <a:solidFill>
                  <a:srgbClr val="07734A"/>
                </a:solidFill>
                <a:latin typeface="Verdana"/>
              </a:rPr>
              <a:t>» incompréhension</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vais y arriver, et je vais y arriver cette fois-ci.   </a:t>
            </a:r>
            <a:r>
              <a:rPr sz="1400" b="1" i="0">
                <a:solidFill>
                  <a:srgbClr val="07734A"/>
                </a:solidFill>
                <a:latin typeface="Verdana"/>
              </a:rPr>
              <a:t>» volonté</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Comment ça, l'équipe n'existe pas encore ?   </a:t>
            </a:r>
            <a:r>
              <a:rPr sz="1400" b="1" i="0">
                <a:solidFill>
                  <a:srgbClr val="07734A"/>
                </a:solidFill>
                <a:latin typeface="Verdana"/>
              </a:rPr>
              <a:t>» surprise</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Là, honnêtement, je perds le fil de votre explication.   </a:t>
            </a:r>
            <a:r>
              <a:rPr sz="1400" b="1" i="0">
                <a:solidFill>
                  <a:srgbClr val="07734A"/>
                </a:solidFill>
                <a:latin typeface="Verdana"/>
              </a:rPr>
              <a:t>» incompréhension</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 poste-là, je le veux, et je vous dis pourquoi.   </a:t>
            </a:r>
            <a:r>
              <a:rPr sz="1400" b="1" i="0">
                <a:solidFill>
                  <a:srgbClr val="07734A"/>
                </a:solidFill>
                <a:latin typeface="Verdana"/>
              </a:rPr>
              <a:t>» volonté</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PIÈGE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monter la voix à chaque phrase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descendre quand on affirme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887219"/>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C'est le défaut le plus fréquent, et il vient de la prudence : on n'ose pas conclure. Une mélodie qui monte partout transforme chaque affirmation en question, et chaque question en demande d'autorisation. Devant un comité de sélection, l'effet est immédiat : la personne paraît attendre la permission de parler.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PIÈGE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parler d'une voix parfaitement égale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varier sur les trois phrases importantes</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voix plate se lit comme de l'indifférence, jamais comme du calme. Il ne s'agit pas de jouer la comédie : trois phrases sur quarante-cinq minutes suffisent. Choisissez-les d'avance — ce que vous apportez, ce que vous demandez, et la réponse à la question difficile.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PRODUCTION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Dites-le avec la bonne mélodie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Chacun choisit une phrase et la dit deux fois : d'abord à plat, puis avec l'intention demandée. Le groupe dit s'il l'entend.</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 poste-là, je le veux. (volonté)</a:t>
            </a:r>
          </a:p>
        </p:txBody>
      </p:sp>
      <p:sp>
        <p:nvSpPr>
          <p:cNvPr id="12" name="Rounded Rectangle 11"/>
          <p:cNvSpPr/>
          <p:nvPr/>
        </p:nvSpPr>
        <p:spPr>
          <a:xfrm>
            <a:off x="566928" y="2916428"/>
            <a:ext cx="11057839"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226815"/>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290823"/>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5" name="TextBox 14"/>
          <p:cNvSpPr txBox="1"/>
          <p:nvPr/>
        </p:nvSpPr>
        <p:spPr>
          <a:xfrm>
            <a:off x="1344168" y="3071876"/>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Vous avez bien dit quatre-vingt-dix minutes ? (surprise)</a:t>
            </a:r>
          </a:p>
        </p:txBody>
      </p:sp>
      <p:sp>
        <p:nvSpPr>
          <p:cNvPr id="16" name="Rounded Rectangle 15"/>
          <p:cNvSpPr/>
          <p:nvPr/>
        </p:nvSpPr>
        <p:spPr>
          <a:xfrm>
            <a:off x="566928" y="4030980"/>
            <a:ext cx="11057839"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34136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405376"/>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9" name="TextBox 18"/>
          <p:cNvSpPr txBox="1"/>
          <p:nvPr/>
        </p:nvSpPr>
        <p:spPr>
          <a:xfrm>
            <a:off x="1344168" y="4186428"/>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Excusez-moi, le mot « vérifiable ». (incompréhension)</a:t>
            </a:r>
          </a:p>
        </p:txBody>
      </p:sp>
      <p:sp>
        <p:nvSpPr>
          <p:cNvPr id="20" name="Rounded Rectangle 19"/>
          <p:cNvSpPr/>
          <p:nvPr/>
        </p:nvSpPr>
        <p:spPr>
          <a:xfrm>
            <a:off x="566928" y="514553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528701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35101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3" name="TextBox 22"/>
          <p:cNvSpPr txBox="1"/>
          <p:nvPr/>
        </p:nvSpPr>
        <p:spPr>
          <a:xfrm>
            <a:off x="1344168" y="530098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Je tiens à ce que ce soit écrit. (volonté)</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Dites-le avec la bonne mélodie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 poste-là, je le veux. (volonté)   </a:t>
            </a:r>
            <a:r>
              <a:rPr sz="1900" b="1" i="0">
                <a:solidFill>
                  <a:srgbClr val="07734A"/>
                </a:solidFill>
                <a:latin typeface="Verdana"/>
              </a:rPr>
              <a:t>» descendante, appuyée sur « veux »</a:t>
            </a:r>
          </a:p>
        </p:txBody>
      </p:sp>
      <p:sp>
        <p:nvSpPr>
          <p:cNvPr id="12" name="Rounded Rectangle 11"/>
          <p:cNvSpPr/>
          <p:nvPr/>
        </p:nvSpPr>
        <p:spPr>
          <a:xfrm>
            <a:off x="566928" y="2916428"/>
            <a:ext cx="11057839"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226815"/>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290823"/>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5" name="TextBox 14"/>
          <p:cNvSpPr txBox="1"/>
          <p:nvPr/>
        </p:nvSpPr>
        <p:spPr>
          <a:xfrm>
            <a:off x="1344168" y="3071876"/>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Vous avez bien dit quatre-vingt-dix minutes ? (surprise)   </a:t>
            </a:r>
            <a:r>
              <a:rPr sz="1900" b="1" i="0">
                <a:solidFill>
                  <a:srgbClr val="07734A"/>
                </a:solidFill>
                <a:latin typeface="Verdana"/>
              </a:rPr>
              <a:t>» montante sur le chiffre</a:t>
            </a:r>
          </a:p>
        </p:txBody>
      </p:sp>
      <p:sp>
        <p:nvSpPr>
          <p:cNvPr id="16" name="Rounded Rectangle 15"/>
          <p:cNvSpPr/>
          <p:nvPr/>
        </p:nvSpPr>
        <p:spPr>
          <a:xfrm>
            <a:off x="566928" y="4030980"/>
            <a:ext cx="11057839"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34136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405376"/>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9" name="TextBox 18"/>
          <p:cNvSpPr txBox="1"/>
          <p:nvPr/>
        </p:nvSpPr>
        <p:spPr>
          <a:xfrm>
            <a:off x="1344168" y="4186428"/>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Excusez-moi, le mot « vérifiable ». (incompréhension)   </a:t>
            </a:r>
            <a:r>
              <a:rPr sz="1900" b="1" i="0">
                <a:solidFill>
                  <a:srgbClr val="07734A"/>
                </a:solidFill>
                <a:latin typeface="Verdana"/>
              </a:rPr>
              <a:t>» freinage, silence avant le mot</a:t>
            </a:r>
          </a:p>
        </p:txBody>
      </p:sp>
      <p:sp>
        <p:nvSpPr>
          <p:cNvPr id="20" name="Rounded Rectangle 19"/>
          <p:cNvSpPr/>
          <p:nvPr/>
        </p:nvSpPr>
        <p:spPr>
          <a:xfrm>
            <a:off x="566928" y="5145532"/>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528701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35101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3" name="TextBox 22"/>
          <p:cNvSpPr txBox="1"/>
          <p:nvPr/>
        </p:nvSpPr>
        <p:spPr>
          <a:xfrm>
            <a:off x="1344168" y="530098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Je tiens à ce que ce soit écrit. (volonté)   </a:t>
            </a:r>
            <a:r>
              <a:rPr sz="1900" b="1" i="0">
                <a:solidFill>
                  <a:srgbClr val="07734A"/>
                </a:solidFill>
                <a:latin typeface="Verdana"/>
              </a:rPr>
              <a:t>» descendante, syllabes détachées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Enregistrez-vous en disant une phrase d'entrevue, puis réécoutez-vous.</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 Ce que j'apporte, c'est... »</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Est-ce que votre voix monte ou descend à la fin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Passer au travers du processus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