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Elle se coupe en deux : le courriel d'abord, une heure ; le bilan du module ensuite, un quart d'heure.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deuxième objectif est celui qui distingue ce courriel d'une formule de politesse. Sans lui, l'exercice ne vaut rien.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Presque personne n'écrit, et ceux qui le font ne mettent qu'un remerciement. Les deux constats ouvrent la séance.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Le « un seul » est la règle la plus importante de la séance, et celle qu'on enfreint le plus.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Aucune des cinq n'est décorative : c'est ce qui fait qu'on vous répond.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relire le courriel de Shirin, dans le module. Les trois mouvements y sont, dans cet ordre, en quatre lignes.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Reprend l'exercice de texte du module, où l'élève clique dans le courriel. Ici, on nomme la fonction : c'est le même travail à l'envers.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fréquente : « et si j'ai oublié de demander le salaire ? » Réponse : on attend l'offre, et on négocie à ce moment-là.</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de clôture, à photographier. Relire la thèse écrite au tableau depuis A1 : « ce qui gêne ne se dit presque jamais à voix haute ». C'est là que le module se referme.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Dépôt dans « Je me lance ». Le bouton d'envoi n'apparaît qu'une fois la correction demandée : on ne dépose pas un texte non relu.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SÉANCE E2  ·  MODULE 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Ce qu'on écrit le lendemain, et ce qu'on emporte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On l'appelle courriel de remerciement, et c'est trompeur : remercier occupe une phrase. Le reste vous donne une deuxième chance sur un point, un seul.</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Passer au travers du processus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écrire un courriel d'affaires en trois paragraphes ;</a:t>
            </a:r>
          </a:p>
        </p:txBody>
      </p:sp>
      <p:sp>
        <p:nvSpPr>
          <p:cNvPr id="11" name="Rounded Rectangle 10"/>
          <p:cNvSpPr/>
          <p:nvPr/>
        </p:nvSpPr>
        <p:spPr>
          <a:xfrm>
            <a:off x="566928" y="2650744"/>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3006344"/>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3088640"/>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4" name="TextBox 13"/>
          <p:cNvSpPr txBox="1"/>
          <p:nvPr/>
        </p:nvSpPr>
        <p:spPr>
          <a:xfrm>
            <a:off x="1408176" y="2851912"/>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revenir sur un seul point mal expliqué, en le concédant puis en le complétant ;</a:t>
            </a:r>
          </a:p>
        </p:txBody>
      </p:sp>
      <p:sp>
        <p:nvSpPr>
          <p:cNvPr id="15" name="Rounded Rectangle 14"/>
          <p:cNvSpPr/>
          <p:nvPr/>
        </p:nvSpPr>
        <p:spPr>
          <a:xfrm>
            <a:off x="566928" y="38922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4070096"/>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4152392"/>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8" name="TextBox 17"/>
          <p:cNvSpPr txBox="1"/>
          <p:nvPr/>
        </p:nvSpPr>
        <p:spPr>
          <a:xfrm>
            <a:off x="1408176" y="40934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confirmer par écrit ce qui a été convenu de vive voix ;</a:t>
            </a:r>
          </a:p>
        </p:txBody>
      </p:sp>
      <p:sp>
        <p:nvSpPr>
          <p:cNvPr id="19" name="Rounded Rectangle 18"/>
          <p:cNvSpPr/>
          <p:nvPr/>
        </p:nvSpPr>
        <p:spPr>
          <a:xfrm>
            <a:off x="566928" y="47782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956048"/>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038344"/>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2" name="TextBox 21"/>
          <p:cNvSpPr txBox="1"/>
          <p:nvPr/>
        </p:nvSpPr>
        <p:spPr>
          <a:xfrm>
            <a:off x="1408176" y="4979415"/>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faire le bilan de ce qu'on sait faire à la fin du module.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DISCUSSION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Après une entrevue, qu'est-ce que vous auriez voulu dire autrement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Y a-t-il une réponse à laquelle vous repensez encore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Avez-vous déjà écrit à un employeur après une rencontre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temps après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que vous y avez mis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DANS LES VINGT-QUATRE HEURES, ET UN SEUL POINT</a:t>
            </a:r>
          </a:p>
        </p:txBody>
      </p:sp>
      <p:sp>
        <p:nvSpPr>
          <p:cNvPr id="6" name="Rounded Rectangle 5"/>
          <p:cNvSpPr/>
          <p:nvPr/>
        </p:nvSpPr>
        <p:spPr>
          <a:xfrm>
            <a:off x="566928" y="1225296"/>
            <a:ext cx="11057839" cy="2897632"/>
          </a:xfrm>
          <a:prstGeom prst="roundRect">
            <a:avLst>
              <a:gd name="adj" fmla="val 5049"/>
            </a:avLst>
          </a:prstGeom>
          <a:solidFill>
            <a:srgbClr val="FCE9F0"/>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2074671"/>
          </a:xfrm>
          <a:prstGeom prst="rect">
            <a:avLst/>
          </a:prstGeom>
          <a:noFill/>
        </p:spPr>
        <p:txBody>
          <a:bodyPr wrap="square" lIns="0" rIns="0" tIns="0" bIns="0" anchor="t">
            <a:spAutoFit/>
          </a:bodyPr>
          <a:lstStyle/>
          <a:p>
            <a:pPr algn="l">
              <a:lnSpc>
                <a:spcPct val="122000"/>
              </a:lnSpc>
            </a:pPr>
            <a:r>
              <a:rPr sz="3200" b="1" i="0">
                <a:solidFill>
                  <a:srgbClr val="17181A"/>
                </a:solidFill>
                <a:latin typeface="Verdana"/>
              </a:rPr>
              <a:t>Le comité écrit ses notes le jour même ou le lendemain. Passé deux jours, votre message arrive sur une décision déjà prise et ne change plus rien.</a:t>
            </a:r>
          </a:p>
        </p:txBody>
      </p:sp>
      <p:sp>
        <p:nvSpPr>
          <p:cNvPr id="8" name="Rounded Rectangle 7"/>
          <p:cNvSpPr/>
          <p:nvPr/>
        </p:nvSpPr>
        <p:spPr>
          <a:xfrm>
            <a:off x="566928" y="439724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67156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seul point repris. Trois reprises se lisent comme un aveu d'entrevue ratée, et le lecteur se demande ce que vous avez encore mal dit. Choisissez celui qui pèse, et laissez les autres.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cinq pièces du courriel</a:t>
            </a:r>
          </a:p>
        </p:txBody>
      </p:sp>
      <p:sp>
        <p:nvSpPr>
          <p:cNvPr id="7" name="Rounded Rectangle 6"/>
          <p:cNvSpPr/>
          <p:nvPr/>
        </p:nvSpPr>
        <p:spPr>
          <a:xfrm>
            <a:off x="566928" y="1810512"/>
            <a:ext cx="11057839" cy="3840480"/>
          </a:xfrm>
          <a:prstGeom prst="roundRect">
            <a:avLst>
              <a:gd name="adj" fmla="val 380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PIÈCE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QU'ELLE FAIT</a:t>
            </a:r>
          </a:p>
        </p:txBody>
      </p:sp>
      <p:sp>
        <p:nvSpPr>
          <p:cNvPr id="10" name="TextBox 9"/>
          <p:cNvSpPr txBox="1"/>
          <p:nvPr/>
        </p:nvSpPr>
        <p:spPr>
          <a:xfrm>
            <a:off x="932688" y="2395728"/>
            <a:ext cx="3291492" cy="539496"/>
          </a:xfrm>
          <a:prstGeom prst="rect">
            <a:avLst/>
          </a:prstGeom>
          <a:noFill/>
        </p:spPr>
        <p:txBody>
          <a:bodyPr wrap="square" lIns="0" rIns="0" tIns="0" bIns="0" anchor="t">
            <a:spAutoFit/>
          </a:bodyPr>
          <a:lstStyle/>
          <a:p>
            <a:pPr algn="l">
              <a:lnSpc>
                <a:spcPct val="132000"/>
              </a:lnSpc>
            </a:pPr>
            <a:r>
              <a:rPr sz="1500" b="1" i="0">
                <a:solidFill>
                  <a:srgbClr val="A5335F"/>
                </a:solidFill>
                <a:latin typeface="Verdana"/>
              </a:rPr>
              <a:t>L'objet, avec le titre du poste et la date</a:t>
            </a:r>
          </a:p>
        </p:txBody>
      </p:sp>
      <p:sp>
        <p:nvSpPr>
          <p:cNvPr id="11" name="TextBox 10"/>
          <p:cNvSpPr txBox="1"/>
          <p:nvPr/>
        </p:nvSpPr>
        <p:spPr>
          <a:xfrm>
            <a:off x="4443636" y="2395728"/>
            <a:ext cx="6595914" cy="53949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rend le message retrouvable dans six semaines</a:t>
            </a:r>
          </a:p>
        </p:txBody>
      </p:sp>
      <p:sp>
        <p:nvSpPr>
          <p:cNvPr id="12" name="Rectangle 11"/>
          <p:cNvSpPr/>
          <p:nvPr/>
        </p:nvSpPr>
        <p:spPr>
          <a:xfrm>
            <a:off x="932688" y="30083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136392"/>
            <a:ext cx="3291492" cy="288036"/>
          </a:xfrm>
          <a:prstGeom prst="rect">
            <a:avLst/>
          </a:prstGeom>
          <a:noFill/>
        </p:spPr>
        <p:txBody>
          <a:bodyPr wrap="square" lIns="0" rIns="0" tIns="0" bIns="0" anchor="t">
            <a:spAutoFit/>
          </a:bodyPr>
          <a:lstStyle/>
          <a:p>
            <a:pPr algn="l">
              <a:lnSpc>
                <a:spcPct val="132000"/>
              </a:lnSpc>
            </a:pPr>
            <a:r>
              <a:rPr sz="1500" b="1" i="0">
                <a:solidFill>
                  <a:srgbClr val="A5335F"/>
                </a:solidFill>
                <a:latin typeface="Verdana"/>
              </a:rPr>
              <a:t>Le remerciement, une phrase</a:t>
            </a:r>
          </a:p>
        </p:txBody>
      </p:sp>
      <p:sp>
        <p:nvSpPr>
          <p:cNvPr id="14" name="TextBox 13"/>
          <p:cNvSpPr txBox="1"/>
          <p:nvPr/>
        </p:nvSpPr>
        <p:spPr>
          <a:xfrm>
            <a:off x="4443636" y="3136392"/>
            <a:ext cx="6595914"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referme l'entrevue, et rien de plus</a:t>
            </a:r>
          </a:p>
        </p:txBody>
      </p:sp>
      <p:sp>
        <p:nvSpPr>
          <p:cNvPr id="15" name="Rectangle 14"/>
          <p:cNvSpPr/>
          <p:nvPr/>
        </p:nvSpPr>
        <p:spPr>
          <a:xfrm>
            <a:off x="932688" y="34975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625596"/>
            <a:ext cx="3291492" cy="539496"/>
          </a:xfrm>
          <a:prstGeom prst="rect">
            <a:avLst/>
          </a:prstGeom>
          <a:noFill/>
        </p:spPr>
        <p:txBody>
          <a:bodyPr wrap="square" lIns="0" rIns="0" tIns="0" bIns="0" anchor="t">
            <a:spAutoFit/>
          </a:bodyPr>
          <a:lstStyle/>
          <a:p>
            <a:pPr algn="l">
              <a:lnSpc>
                <a:spcPct val="132000"/>
              </a:lnSpc>
            </a:pPr>
            <a:r>
              <a:rPr sz="1500" b="1" i="0">
                <a:solidFill>
                  <a:srgbClr val="A5335F"/>
                </a:solidFill>
                <a:latin typeface="Verdana"/>
              </a:rPr>
              <a:t>La reprise : annoncer, concéder, compléter</a:t>
            </a:r>
          </a:p>
        </p:txBody>
      </p:sp>
      <p:sp>
        <p:nvSpPr>
          <p:cNvPr id="17" name="TextBox 16"/>
          <p:cNvSpPr txBox="1"/>
          <p:nvPr/>
        </p:nvSpPr>
        <p:spPr>
          <a:xfrm>
            <a:off x="4443636" y="3625596"/>
            <a:ext cx="6595914" cy="53949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remplace une affirmation par des faits vérifiables</a:t>
            </a:r>
          </a:p>
        </p:txBody>
      </p:sp>
      <p:sp>
        <p:nvSpPr>
          <p:cNvPr id="18" name="Rectangle 17"/>
          <p:cNvSpPr/>
          <p:nvPr/>
        </p:nvSpPr>
        <p:spPr>
          <a:xfrm>
            <a:off x="932688" y="42382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366259"/>
            <a:ext cx="3291492" cy="539496"/>
          </a:xfrm>
          <a:prstGeom prst="rect">
            <a:avLst/>
          </a:prstGeom>
          <a:noFill/>
        </p:spPr>
        <p:txBody>
          <a:bodyPr wrap="square" lIns="0" rIns="0" tIns="0" bIns="0" anchor="t">
            <a:spAutoFit/>
          </a:bodyPr>
          <a:lstStyle/>
          <a:p>
            <a:pPr algn="l">
              <a:lnSpc>
                <a:spcPct val="132000"/>
              </a:lnSpc>
            </a:pPr>
            <a:r>
              <a:rPr sz="1500" b="1" i="0">
                <a:solidFill>
                  <a:srgbClr val="A5335F"/>
                </a:solidFill>
                <a:latin typeface="Verdana"/>
              </a:rPr>
              <a:t>La confirmation de ce qui est convenu</a:t>
            </a:r>
          </a:p>
        </p:txBody>
      </p:sp>
      <p:sp>
        <p:nvSpPr>
          <p:cNvPr id="20" name="TextBox 19"/>
          <p:cNvSpPr txBox="1"/>
          <p:nvPr/>
        </p:nvSpPr>
        <p:spPr>
          <a:xfrm>
            <a:off x="4443636" y="4366259"/>
            <a:ext cx="6595914" cy="53949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fige l'accord : ce qui est écrit ne se rediscute plus</a:t>
            </a:r>
          </a:p>
        </p:txBody>
      </p:sp>
      <p:sp>
        <p:nvSpPr>
          <p:cNvPr id="21" name="Rectangle 20"/>
          <p:cNvSpPr/>
          <p:nvPr/>
        </p:nvSpPr>
        <p:spPr>
          <a:xfrm>
            <a:off x="932688" y="49789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5106924"/>
            <a:ext cx="3291492" cy="288036"/>
          </a:xfrm>
          <a:prstGeom prst="rect">
            <a:avLst/>
          </a:prstGeom>
          <a:noFill/>
        </p:spPr>
        <p:txBody>
          <a:bodyPr wrap="square" lIns="0" rIns="0" tIns="0" bIns="0" anchor="t">
            <a:spAutoFit/>
          </a:bodyPr>
          <a:lstStyle/>
          <a:p>
            <a:pPr algn="l">
              <a:lnSpc>
                <a:spcPct val="132000"/>
              </a:lnSpc>
            </a:pPr>
            <a:r>
              <a:rPr sz="1500" b="1" i="0">
                <a:solidFill>
                  <a:srgbClr val="A5335F"/>
                </a:solidFill>
                <a:latin typeface="Verdana"/>
              </a:rPr>
              <a:t>La disponibilité et le numéro</a:t>
            </a:r>
          </a:p>
        </p:txBody>
      </p:sp>
      <p:sp>
        <p:nvSpPr>
          <p:cNvPr id="23" name="TextBox 22"/>
          <p:cNvSpPr txBox="1"/>
          <p:nvPr/>
        </p:nvSpPr>
        <p:spPr>
          <a:xfrm>
            <a:off x="4443636" y="5106924"/>
            <a:ext cx="6595914"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rend la réponse possible sans nouvelle recherche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reprise, en trois mouvements</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Annoncer</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Je souhaiterais revenir sur un point que j'ai mal expliqué. On prévient : le lecteur sait ce qui vient, et il lit autrement.</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Concéder</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C'est vrai, mais incomplet. On ne se dédit pas — se contredire par écrit après coup fait bien pire que la réponse imparfaite de la veille.</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Compléter</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J'ai formé onze nouveaux opérateurs et rédigé les fiches de démarrage de deux lignes. Des faits, avec des nombres. Puis dire pourquoi ils ne figuraient nulle part.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pièce manque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Lisez le passage et dites quelle fonction il remplit.</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Entrevue du 25 octobre, poste de superviseure de production</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vous remercie du temps que vous m'avez accordé hier après-midi.</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souhaiterais revenir sur un point que j'ai mal expliqué.</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J'ai formé onze opérateurs et rédigé deux fiches de démarrage.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Comme convenu, je vous fais parvenir les attestations traduites.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demeure disponible, au 819 555-0148.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pièce manque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Entrevue du 25 octobre, poste de superviseure de production   </a:t>
            </a:r>
            <a:r>
              <a:rPr sz="1400" b="1" i="0">
                <a:solidFill>
                  <a:srgbClr val="07734A"/>
                </a:solidFill>
                <a:latin typeface="Verdana"/>
              </a:rPr>
              <a:t>» l'objet, retrouvable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vous remercie du temps que vous m'avez accordé hier après-midi.   </a:t>
            </a:r>
            <a:r>
              <a:rPr sz="1400" b="1" i="0">
                <a:solidFill>
                  <a:srgbClr val="07734A"/>
                </a:solidFill>
                <a:latin typeface="Verdana"/>
              </a:rPr>
              <a:t>» le remerciement, une phrase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souhaiterais revenir sur un point que j'ai mal expliqué.   </a:t>
            </a:r>
            <a:r>
              <a:rPr sz="1400" b="1" i="0">
                <a:solidFill>
                  <a:srgbClr val="07734A"/>
                </a:solidFill>
                <a:latin typeface="Verdana"/>
              </a:rPr>
              <a:t>» l'annonce de la reprise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J'ai formé onze opérateurs et rédigé deux fiches de démarrage.   </a:t>
            </a:r>
            <a:r>
              <a:rPr sz="1400" b="1" i="0">
                <a:solidFill>
                  <a:srgbClr val="07734A"/>
                </a:solidFill>
                <a:latin typeface="Verdana"/>
              </a:rPr>
              <a:t>» les faits vérifiables</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Comme convenu, je vous fais parvenir les attestations traduites.   </a:t>
            </a:r>
            <a:r>
              <a:rPr sz="1400" b="1" i="0">
                <a:solidFill>
                  <a:srgbClr val="07734A"/>
                </a:solidFill>
                <a:latin typeface="Verdana"/>
              </a:rPr>
              <a:t>» la confirmation</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demeure disponible, au 819 555-0148.   </a:t>
            </a:r>
            <a:r>
              <a:rPr sz="1400" b="1" i="0">
                <a:solidFill>
                  <a:srgbClr val="07734A"/>
                </a:solidFill>
                <a:latin typeface="Verdana"/>
              </a:rPr>
              <a:t>» la disponibilité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PIÈGE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ajouter une demande qu'on n'a pas osé formuler</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confirmer seulement</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Négocier par écrit ce qu'on n'a pas dit en personne se retourne toujours contre celui qui écrit : il paraît avoir attendu d'être seul devant son clavier. Le courriel de suivi confirme, précise, complète — il n'ouvre pas.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BILAN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vous savez faire à la fin du module</a:t>
            </a:r>
          </a:p>
        </p:txBody>
      </p:sp>
      <p:sp>
        <p:nvSpPr>
          <p:cNvPr id="7" name="Rounded Rectangle 6"/>
          <p:cNvSpPr/>
          <p:nvPr/>
        </p:nvSpPr>
        <p:spPr>
          <a:xfrm>
            <a:off x="566928" y="1810512"/>
            <a:ext cx="11057839" cy="4175760"/>
          </a:xfrm>
          <a:prstGeom prst="roundRect">
            <a:avLst>
              <a:gd name="adj" fmla="val 350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 A CHANGÉ</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OÙ C'ÉTAIT</a:t>
            </a:r>
          </a:p>
        </p:txBody>
      </p:sp>
      <p:sp>
        <p:nvSpPr>
          <p:cNvPr id="10" name="TextBox 9"/>
          <p:cNvSpPr txBox="1"/>
          <p:nvPr/>
        </p:nvSpPr>
        <p:spPr>
          <a:xfrm>
            <a:off x="932688" y="2395728"/>
            <a:ext cx="3291492" cy="505968"/>
          </a:xfrm>
          <a:prstGeom prst="rect">
            <a:avLst/>
          </a:prstGeom>
          <a:noFill/>
        </p:spPr>
        <p:txBody>
          <a:bodyPr wrap="square" lIns="0" rIns="0" tIns="0" bIns="0" anchor="t">
            <a:spAutoFit/>
          </a:bodyPr>
          <a:lstStyle/>
          <a:p>
            <a:pPr algn="l">
              <a:lnSpc>
                <a:spcPct val="132000"/>
              </a:lnSpc>
            </a:pPr>
            <a:r>
              <a:rPr sz="1400" b="1" i="0">
                <a:solidFill>
                  <a:srgbClr val="A5335F"/>
                </a:solidFill>
                <a:latin typeface="Verdana"/>
              </a:rPr>
              <a:t>Poser trois questions au lieu d'en subir vingt</a:t>
            </a:r>
          </a:p>
        </p:txBody>
      </p:sp>
      <p:sp>
        <p:nvSpPr>
          <p:cNvPr id="11" name="TextBox 10"/>
          <p:cNvSpPr txBox="1"/>
          <p:nvPr/>
        </p:nvSpPr>
        <p:spPr>
          <a:xfrm>
            <a:off x="4443636" y="2395728"/>
            <a:ext cx="6595914" cy="505968"/>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défi 1, l'appel de présélection</a:t>
            </a:r>
          </a:p>
        </p:txBody>
      </p:sp>
      <p:sp>
        <p:nvSpPr>
          <p:cNvPr id="12" name="Rectangle 11"/>
          <p:cNvSpPr/>
          <p:nvPr/>
        </p:nvSpPr>
        <p:spPr>
          <a:xfrm>
            <a:off x="932688" y="297484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102864"/>
            <a:ext cx="3291492" cy="505968"/>
          </a:xfrm>
          <a:prstGeom prst="rect">
            <a:avLst/>
          </a:prstGeom>
          <a:noFill/>
        </p:spPr>
        <p:txBody>
          <a:bodyPr wrap="square" lIns="0" rIns="0" tIns="0" bIns="0" anchor="t">
            <a:spAutoFit/>
          </a:bodyPr>
          <a:lstStyle/>
          <a:p>
            <a:pPr algn="l">
              <a:lnSpc>
                <a:spcPct val="132000"/>
              </a:lnSpc>
            </a:pPr>
            <a:r>
              <a:rPr sz="1400" b="1" i="0">
                <a:solidFill>
                  <a:srgbClr val="A5335F"/>
                </a:solidFill>
                <a:latin typeface="Verdana"/>
              </a:rPr>
              <a:t>Lire un profil et une offre pour décider</a:t>
            </a:r>
          </a:p>
        </p:txBody>
      </p:sp>
      <p:sp>
        <p:nvSpPr>
          <p:cNvPr id="14" name="TextBox 13"/>
          <p:cNvSpPr txBox="1"/>
          <p:nvPr/>
        </p:nvSpPr>
        <p:spPr>
          <a:xfrm>
            <a:off x="4443636" y="3102864"/>
            <a:ext cx="6595914" cy="505968"/>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défi 2, les deux documents</a:t>
            </a:r>
          </a:p>
        </p:txBody>
      </p:sp>
      <p:sp>
        <p:nvSpPr>
          <p:cNvPr id="15" name="Rectangle 14"/>
          <p:cNvSpPr/>
          <p:nvPr/>
        </p:nvSpPr>
        <p:spPr>
          <a:xfrm>
            <a:off x="932688" y="3681983"/>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809999"/>
            <a:ext cx="3291492" cy="505968"/>
          </a:xfrm>
          <a:prstGeom prst="rect">
            <a:avLst/>
          </a:prstGeom>
          <a:noFill/>
        </p:spPr>
        <p:txBody>
          <a:bodyPr wrap="square" lIns="0" rIns="0" tIns="0" bIns="0" anchor="t">
            <a:spAutoFit/>
          </a:bodyPr>
          <a:lstStyle/>
          <a:p>
            <a:pPr algn="l">
              <a:lnSpc>
                <a:spcPct val="132000"/>
              </a:lnSpc>
            </a:pPr>
            <a:r>
              <a:rPr sz="1400" b="1" i="0">
                <a:solidFill>
                  <a:srgbClr val="A5335F"/>
                </a:solidFill>
                <a:latin typeface="Verdana"/>
              </a:rPr>
              <a:t>Répondre à l'objection avant qu'on la pose</a:t>
            </a:r>
          </a:p>
        </p:txBody>
      </p:sp>
      <p:sp>
        <p:nvSpPr>
          <p:cNvPr id="17" name="TextBox 16"/>
          <p:cNvSpPr txBox="1"/>
          <p:nvPr/>
        </p:nvSpPr>
        <p:spPr>
          <a:xfrm>
            <a:off x="4443636" y="3809999"/>
            <a:ext cx="6595914" cy="505968"/>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défi 3, l'entrevue</a:t>
            </a:r>
          </a:p>
        </p:txBody>
      </p:sp>
      <p:sp>
        <p:nvSpPr>
          <p:cNvPr id="18" name="Rectangle 17"/>
          <p:cNvSpPr/>
          <p:nvPr/>
        </p:nvSpPr>
        <p:spPr>
          <a:xfrm>
            <a:off x="932688" y="438912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517136"/>
            <a:ext cx="3291492" cy="505968"/>
          </a:xfrm>
          <a:prstGeom prst="rect">
            <a:avLst/>
          </a:prstGeom>
          <a:noFill/>
        </p:spPr>
        <p:txBody>
          <a:bodyPr wrap="square" lIns="0" rIns="0" tIns="0" bIns="0" anchor="t">
            <a:spAutoFit/>
          </a:bodyPr>
          <a:lstStyle/>
          <a:p>
            <a:pPr algn="l">
              <a:lnSpc>
                <a:spcPct val="132000"/>
              </a:lnSpc>
            </a:pPr>
            <a:r>
              <a:rPr sz="1400" b="1" i="0">
                <a:solidFill>
                  <a:srgbClr val="A5335F"/>
                </a:solidFill>
                <a:latin typeface="Verdana"/>
              </a:rPr>
              <a:t>Négocier en offrant une contrepartie</a:t>
            </a:r>
          </a:p>
        </p:txBody>
      </p:sp>
      <p:sp>
        <p:nvSpPr>
          <p:cNvPr id="20" name="TextBox 19"/>
          <p:cNvSpPr txBox="1"/>
          <p:nvPr/>
        </p:nvSpPr>
        <p:spPr>
          <a:xfrm>
            <a:off x="4443636" y="4517136"/>
            <a:ext cx="6595914" cy="505968"/>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défi 3, la fin de l'entrevue</a:t>
            </a:r>
          </a:p>
        </p:txBody>
      </p:sp>
      <p:sp>
        <p:nvSpPr>
          <p:cNvPr id="21" name="Rectangle 20"/>
          <p:cNvSpPr/>
          <p:nvPr/>
        </p:nvSpPr>
        <p:spPr>
          <a:xfrm>
            <a:off x="932688" y="509625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5224272"/>
            <a:ext cx="3291492" cy="505968"/>
          </a:xfrm>
          <a:prstGeom prst="rect">
            <a:avLst/>
          </a:prstGeom>
          <a:noFill/>
        </p:spPr>
        <p:txBody>
          <a:bodyPr wrap="square" lIns="0" rIns="0" tIns="0" bIns="0" anchor="t">
            <a:spAutoFit/>
          </a:bodyPr>
          <a:lstStyle/>
          <a:p>
            <a:pPr algn="l">
              <a:lnSpc>
                <a:spcPct val="132000"/>
              </a:lnSpc>
            </a:pPr>
            <a:r>
              <a:rPr sz="1400" b="1" i="0">
                <a:solidFill>
                  <a:srgbClr val="A5335F"/>
                </a:solidFill>
                <a:latin typeface="Verdana"/>
              </a:rPr>
              <a:t>Refermer une question interdite sans se fâcher</a:t>
            </a:r>
          </a:p>
        </p:txBody>
      </p:sp>
      <p:sp>
        <p:nvSpPr>
          <p:cNvPr id="23" name="TextBox 22"/>
          <p:cNvSpPr txBox="1"/>
          <p:nvPr/>
        </p:nvSpPr>
        <p:spPr>
          <a:xfrm>
            <a:off x="4443636" y="5224272"/>
            <a:ext cx="6595914" cy="505968"/>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défi 3, et la phrase apprise par cœur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le courriel du lendemain et déposez-le dans le module.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De 10 à 14 phrases, trois paragraphes, un seul point repris.</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Deux faits avec un nombre, et un numéro de téléphone à la fin.</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Passer au travers du processus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