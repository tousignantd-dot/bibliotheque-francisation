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du texte, la première du module. Annoncer d'emblée qu'elle sert deux fois : à écrire mieux, et surtout à lire les deux documents du bloc 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difficile et le plus payant : c'est celui qui servira en entrevue, au défi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chercher. La réponse est dans les démonstratifs : « ce », « cette ». Ils disent « j'en ai déjà parlé », et c'est tout le savoir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l'essai tout de suite sur les trois phrases du déclencheur.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trouver un exemple de chaque procédé dans le dialogue de A1. Il y en a au moins un de chaque.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noms sans suffixe s'apprennent un par un : il n'y a pas de règle, et c'est là que les élèves avancés butent encore.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accepte plusieurs réponses. Le dire avant de corriger, sinon les élèves qui ont écrit « hausse » se croient dans l'erreur.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plus difficile de la séance. Accepter toute réponse défendable : le but est de nommer, pas de trouver LE mot. Nommer, c'est déjà commencer à répondre — et c'est ce que fera Shirin devant le comité.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à faire sentir : « ce rachat » et « cette prise de contrôle » désignent le même fait et ne disent pas la même chose.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écrit court. Les trois reprises se relisent en début de B1, en cinq minutes, avant d'entrer dans l'appel de présélection.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A4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rachat, cette acquisition, cet isolement</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français ne répète pas : il reprend. C'est ce qui rend un texte d'entreprise élégant à écrire, et difficile à lire quand on ne reconnaît pas la reprise.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Passer au travers du processus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une reprise et retrouver ce qu'elle reprend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quatre procédés : nominalisation, synonyme, générique, expression synthétique ;</a:t>
            </a:r>
          </a:p>
        </p:txBody>
      </p:sp>
      <p:sp>
        <p:nvSpPr>
          <p:cNvPr id="15" name="Rounded Rectangle 14"/>
          <p:cNvSpPr/>
          <p:nvPr/>
        </p:nvSpPr>
        <p:spPr>
          <a:xfrm>
            <a:off x="566928" y="38922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40934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 démonstratif comme signal d'une reprise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résumer une situation entière en un seul groupe du nom.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200" b="1" i="0">
                <a:solidFill>
                  <a:srgbClr val="17181A"/>
                </a:solidFill>
                <a:latin typeface="Verdana"/>
              </a:rPr>
              <a:t>Combien de fois « l'usine » est-elle nommée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 Groupe Landron a racheté l'usine en janvier.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Ce rachat a été annoncé aux employés le même jour.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Cette acquisition n'a entraîné aucune mise à pied.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phrases, un seul événement. Comment le sait-on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DÉMONSTRATIF EST LE SIGNAL</a:t>
            </a:r>
          </a:p>
        </p:txBody>
      </p:sp>
      <p:sp>
        <p:nvSpPr>
          <p:cNvPr id="6" name="Rounded Rectangle 5"/>
          <p:cNvSpPr/>
          <p:nvPr/>
        </p:nvSpPr>
        <p:spPr>
          <a:xfrm>
            <a:off x="566928" y="1225296"/>
            <a:ext cx="11057839" cy="2711704"/>
          </a:xfrm>
          <a:prstGeom prst="roundRect">
            <a:avLst>
              <a:gd name="adj" fmla="val 5395"/>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888744"/>
          </a:xfrm>
          <a:prstGeom prst="rect">
            <a:avLst/>
          </a:prstGeom>
          <a:noFill/>
        </p:spPr>
        <p:txBody>
          <a:bodyPr wrap="square" lIns="0" rIns="0" tIns="0" bIns="0" anchor="t">
            <a:spAutoFit/>
          </a:bodyPr>
          <a:lstStyle/>
          <a:p>
            <a:pPr algn="l">
              <a:lnSpc>
                <a:spcPct val="122000"/>
              </a:lnSpc>
            </a:pPr>
            <a:r>
              <a:rPr sz="2900" b="1" i="0">
                <a:solidFill>
                  <a:srgbClr val="17181A"/>
                </a:solidFill>
                <a:latin typeface="Verdana"/>
              </a:rPr>
              <a:t>Presque toutes les reprises commencent par ce, cet, cette ou ces. Quand vous en voyez un devant un mot qui n'a jamais été écrit avant, remontez d'une phrase et cherchez le verbe.</a:t>
            </a:r>
          </a:p>
        </p:txBody>
      </p:sp>
      <p:sp>
        <p:nvSpPr>
          <p:cNvPr id="8" name="Rounded Rectangle 7"/>
          <p:cNvSpPr/>
          <p:nvPr/>
        </p:nvSpPr>
        <p:spPr>
          <a:xfrm>
            <a:off x="566928" y="4211320"/>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485639"/>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une méthode de lecture, pas une règle de grammaire. Elle vaut pour un profil d'entreprise, un contrat, une lettre de refus : partout où une phrase résiste, le démonstratif dit où chercher.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procédés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27152"/>
          </a:xfrm>
          <a:prstGeom prst="rect">
            <a:avLst/>
          </a:prstGeom>
          <a:noFill/>
        </p:spPr>
        <p:txBody>
          <a:bodyPr wrap="square" lIns="0" rIns="0" tIns="0" bIns="0" anchor="t">
            <a:spAutoFit/>
          </a:bodyPr>
          <a:lstStyle/>
          <a:p>
            <a:pPr algn="l">
              <a:lnSpc>
                <a:spcPct val="118000"/>
              </a:lnSpc>
            </a:pPr>
            <a:r>
              <a:rPr sz="2000" b="1" i="0">
                <a:solidFill>
                  <a:srgbClr val="B45309"/>
                </a:solidFill>
                <a:latin typeface="Verdana"/>
              </a:rPr>
              <a:t>Par nominalisation</a:t>
            </a:r>
          </a:p>
        </p:txBody>
      </p:sp>
      <p:sp>
        <p:nvSpPr>
          <p:cNvPr id="9" name="TextBox 8"/>
          <p:cNvSpPr txBox="1"/>
          <p:nvPr/>
        </p:nvSpPr>
        <p:spPr>
          <a:xfrm>
            <a:off x="886968" y="2439415"/>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verbe de la première phrase devient un nom. Le groupe a racheté l'usine, ce rachat. C'est la reprise la plus fréquente dans les écrits d'entreprise.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27152"/>
          </a:xfrm>
          <a:prstGeom prst="rect">
            <a:avLst/>
          </a:prstGeom>
          <a:noFill/>
        </p:spPr>
        <p:txBody>
          <a:bodyPr wrap="square" lIns="0" rIns="0" tIns="0" bIns="0" anchor="t">
            <a:spAutoFit/>
          </a:bodyPr>
          <a:lstStyle/>
          <a:p>
            <a:pPr algn="l">
              <a:lnSpc>
                <a:spcPct val="118000"/>
              </a:lnSpc>
            </a:pPr>
            <a:r>
              <a:rPr sz="2000" b="1" i="0">
                <a:solidFill>
                  <a:srgbClr val="B45309"/>
                </a:solidFill>
                <a:latin typeface="Verdana"/>
              </a:rPr>
              <a:t>Par synonymie</a:t>
            </a:r>
          </a:p>
        </p:txBody>
      </p:sp>
      <p:sp>
        <p:nvSpPr>
          <p:cNvPr id="12" name="TextBox 11"/>
          <p:cNvSpPr txBox="1"/>
          <p:nvPr/>
        </p:nvSpPr>
        <p:spPr>
          <a:xfrm>
            <a:off x="6498183" y="2439415"/>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On remplace par un mot de sens voisin. Le rachat, cette acquisition. Attention : le mot choisi colore la phrase — un employeur écrit « acquisition », un syndicat écrit « rachat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27152"/>
          </a:xfrm>
          <a:prstGeom prst="rect">
            <a:avLst/>
          </a:prstGeom>
          <a:noFill/>
        </p:spPr>
        <p:txBody>
          <a:bodyPr wrap="square" lIns="0" rIns="0" tIns="0" bIns="0" anchor="t">
            <a:spAutoFit/>
          </a:bodyPr>
          <a:lstStyle/>
          <a:p>
            <a:pPr algn="l">
              <a:lnSpc>
                <a:spcPct val="118000"/>
              </a:lnSpc>
            </a:pPr>
            <a:r>
              <a:rPr sz="2000" b="1" i="0">
                <a:solidFill>
                  <a:srgbClr val="B45309"/>
                </a:solidFill>
                <a:latin typeface="Verdana"/>
              </a:rPr>
              <a:t>Par un générique</a:t>
            </a:r>
          </a:p>
        </p:txBody>
      </p:sp>
      <p:sp>
        <p:nvSpPr>
          <p:cNvPr id="15" name="TextBox 14"/>
          <p:cNvSpPr txBox="1"/>
          <p:nvPr/>
        </p:nvSpPr>
        <p:spPr>
          <a:xfrm>
            <a:off x="886968" y="4656836"/>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On remonte d'un cran : le tri, l'examen, l'entrevue de groupe, ces trois étapes. Souvent précédé d'un nombre.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27152"/>
          </a:xfrm>
          <a:prstGeom prst="rect">
            <a:avLst/>
          </a:prstGeom>
          <a:noFill/>
        </p:spPr>
        <p:txBody>
          <a:bodyPr wrap="square" lIns="0" rIns="0" tIns="0" bIns="0" anchor="t">
            <a:spAutoFit/>
          </a:bodyPr>
          <a:lstStyle/>
          <a:p>
            <a:pPr algn="l">
              <a:lnSpc>
                <a:spcPct val="118000"/>
              </a:lnSpc>
            </a:pPr>
            <a:r>
              <a:rPr sz="2000" b="1" i="0">
                <a:solidFill>
                  <a:srgbClr val="B45309"/>
                </a:solidFill>
                <a:latin typeface="Verdana"/>
              </a:rPr>
              <a:t>Par une expression synthétique</a:t>
            </a:r>
          </a:p>
        </p:txBody>
      </p:sp>
      <p:sp>
        <p:nvSpPr>
          <p:cNvPr id="18" name="TextBox 17"/>
          <p:cNvSpPr txBox="1"/>
          <p:nvPr/>
        </p:nvSpPr>
        <p:spPr>
          <a:xfrm>
            <a:off x="6498183" y="4656836"/>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Toute une phrase se résume en un groupe du nom. Après dix-huit heures il n'y a plus personne, cet isolement. La plus difficile, et la plus utile en entrevue.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fabriques de noms</a:t>
            </a:r>
          </a:p>
        </p:txBody>
      </p:sp>
      <p:sp>
        <p:nvSpPr>
          <p:cNvPr id="7" name="Rounded Rectangle 6"/>
          <p:cNvSpPr/>
          <p:nvPr/>
        </p:nvSpPr>
        <p:spPr>
          <a:xfrm>
            <a:off x="566928" y="1810512"/>
            <a:ext cx="11057839" cy="3639312"/>
          </a:xfrm>
          <a:prstGeom prst="roundRect">
            <a:avLst>
              <a:gd name="adj" fmla="val 402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SUFFIXE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DU VERBE AU NOM</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-tion, -sion</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réorganiser donne la réorganisation, décider donne la décision</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-ment</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recruter donne le recrutement, isoler donne l'isolement</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-ance, -ence</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croître donne la croissance, exiger donne l'exigence</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-ure</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fermer donne la fermeture, ouvrir donne l'ouverture</a:t>
            </a:r>
          </a:p>
        </p:txBody>
      </p:sp>
      <p:sp>
        <p:nvSpPr>
          <p:cNvPr id="21" name="Rectangle 20"/>
          <p:cNvSpPr/>
          <p:nvPr/>
        </p:nvSpPr>
        <p:spPr>
          <a:xfrm>
            <a:off x="932688" y="47274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85546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aucun suffixe</a:t>
            </a:r>
          </a:p>
        </p:txBody>
      </p:sp>
      <p:sp>
        <p:nvSpPr>
          <p:cNvPr id="23" name="TextBox 22"/>
          <p:cNvSpPr txBox="1"/>
          <p:nvPr/>
        </p:nvSpPr>
        <p:spPr>
          <a:xfrm>
            <a:off x="4443636" y="485546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racheter donne le rachat, embaucher donne l'embauche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nom caché sous le verbe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Écrivez le nom qui reprend le verbe souligné.</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Groupe Landron a racheté l'usine. Ce ___ date de janvier.</a:t>
            </a:r>
          </a:p>
        </p:txBody>
      </p:sp>
      <p:sp>
        <p:nvSpPr>
          <p:cNvPr id="12" name="Rounded Rectangle 11"/>
          <p:cNvSpPr/>
          <p:nvPr/>
        </p:nvSpPr>
        <p:spPr>
          <a:xfrm>
            <a:off x="566928" y="289864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L'entreprise recrute neuf personnes. Ce ___ occupera le poste.</a:t>
            </a:r>
          </a:p>
        </p:txBody>
      </p:sp>
      <p:sp>
        <p:nvSpPr>
          <p:cNvPr id="16" name="Rounded Rectangle 15"/>
          <p:cNvSpPr/>
          <p:nvPr/>
        </p:nvSpPr>
        <p:spPr>
          <a:xfrm>
            <a:off x="566928" y="365760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production a été réorganisée. Cette ___ a créé le quart de soir.</a:t>
            </a:r>
          </a:p>
        </p:txBody>
      </p:sp>
      <p:sp>
        <p:nvSpPr>
          <p:cNvPr id="20" name="Rounded Rectangle 19"/>
          <p:cNvSpPr/>
          <p:nvPr/>
        </p:nvSpPr>
        <p:spPr>
          <a:xfrm>
            <a:off x="566928" y="4416552"/>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On a fermé une ligne onze jours. Cette ___ a coûté très cher.</a:t>
            </a:r>
          </a:p>
        </p:txBody>
      </p:sp>
      <p:sp>
        <p:nvSpPr>
          <p:cNvPr id="24" name="Rounded Rectangle 23"/>
          <p:cNvSpPr/>
          <p:nvPr/>
        </p:nvSpPr>
        <p:spPr>
          <a:xfrm>
            <a:off x="566928" y="5175504"/>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carnet a doublé en dix-huit mois. Cette ___ explique tout.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nom caché sous le verbe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Groupe Landron a racheté l'usine. Ce ___ date de janvier.   </a:t>
            </a:r>
            <a:r>
              <a:rPr sz="1800" b="1" i="0">
                <a:solidFill>
                  <a:srgbClr val="07734A"/>
                </a:solidFill>
                <a:latin typeface="Verdana"/>
              </a:rPr>
              <a:t>» rachat</a:t>
            </a:r>
          </a:p>
        </p:txBody>
      </p:sp>
      <p:sp>
        <p:nvSpPr>
          <p:cNvPr id="12" name="Rounded Rectangle 11"/>
          <p:cNvSpPr/>
          <p:nvPr/>
        </p:nvSpPr>
        <p:spPr>
          <a:xfrm>
            <a:off x="566928" y="289864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3123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9524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5409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L'entreprise recrute neuf personnes. Ce ___ occupera le poste.   </a:t>
            </a:r>
            <a:r>
              <a:rPr sz="1800" b="1" i="0">
                <a:solidFill>
                  <a:srgbClr val="07734A"/>
                </a:solidFill>
                <a:latin typeface="Verdana"/>
              </a:rPr>
              <a:t>» recrutement</a:t>
            </a:r>
          </a:p>
        </p:txBody>
      </p:sp>
      <p:sp>
        <p:nvSpPr>
          <p:cNvPr id="16" name="Rounded Rectangle 15"/>
          <p:cNvSpPr/>
          <p:nvPr/>
        </p:nvSpPr>
        <p:spPr>
          <a:xfrm>
            <a:off x="566928" y="365760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9018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54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1304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production a été réorganisée. Cette ___ a créé le quart de soir.   </a:t>
            </a:r>
            <a:r>
              <a:rPr sz="1800" b="1" i="0">
                <a:solidFill>
                  <a:srgbClr val="07734A"/>
                </a:solidFill>
                <a:latin typeface="Verdana"/>
              </a:rPr>
              <a:t>» réorganisation</a:t>
            </a:r>
          </a:p>
        </p:txBody>
      </p:sp>
      <p:sp>
        <p:nvSpPr>
          <p:cNvPr id="20" name="Rounded Rectangle 19"/>
          <p:cNvSpPr/>
          <p:nvPr/>
        </p:nvSpPr>
        <p:spPr>
          <a:xfrm>
            <a:off x="566928" y="4416552"/>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572000"/>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On a fermé une ligne onze jours. Cette ___ a coûté très cher.   </a:t>
            </a:r>
            <a:r>
              <a:rPr sz="1800" b="1" i="0">
                <a:solidFill>
                  <a:srgbClr val="07734A"/>
                </a:solidFill>
                <a:latin typeface="Verdana"/>
              </a:rPr>
              <a:t>» fermeture</a:t>
            </a:r>
          </a:p>
        </p:txBody>
      </p:sp>
      <p:sp>
        <p:nvSpPr>
          <p:cNvPr id="24" name="Rounded Rectangle 23"/>
          <p:cNvSpPr/>
          <p:nvPr/>
        </p:nvSpPr>
        <p:spPr>
          <a:xfrm>
            <a:off x="566928" y="5175504"/>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0809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7210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330952"/>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carnet a doublé en dix-huit mois. Cette ___ explique tout.   </a:t>
            </a:r>
            <a:r>
              <a:rPr sz="1800" b="1" i="0">
                <a:solidFill>
                  <a:srgbClr val="07734A"/>
                </a:solidFill>
                <a:latin typeface="Verdana"/>
              </a:rPr>
              <a:t>» croissance / hausse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Résumer une situation en un mot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Trouvez le groupe du nom qui reprend toute la phrase.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Après dix-huit heures, il n'y a plus personne sur place.</a:t>
            </a:r>
          </a:p>
        </p:txBody>
      </p:sp>
      <p:sp>
        <p:nvSpPr>
          <p:cNvPr id="12" name="Rounded Rectangle 11"/>
          <p:cNvSpPr/>
          <p:nvPr/>
        </p:nvSpPr>
        <p:spPr>
          <a:xfrm>
            <a:off x="566928" y="2916428"/>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Onze ans de supervision là-bas, cinq ans d'exécution ici.</a:t>
            </a:r>
          </a:p>
        </p:txBody>
      </p:sp>
      <p:sp>
        <p:nvSpPr>
          <p:cNvPr id="16" name="Rounded Rectangle 15"/>
          <p:cNvSpPr/>
          <p:nvPr/>
        </p:nvSpPr>
        <p:spPr>
          <a:xfrm>
            <a:off x="566928" y="403098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Neuf personnes à recruter avant février.</a:t>
            </a:r>
          </a:p>
        </p:txBody>
      </p:sp>
      <p:sp>
        <p:nvSpPr>
          <p:cNvPr id="20" name="Rounded Rectangle 19"/>
          <p:cNvSpPr/>
          <p:nvPr/>
        </p:nvSpPr>
        <p:spPr>
          <a:xfrm>
            <a:off x="566928" y="4807711"/>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Madame Éthier et monsieur Bourbonnais reçoivent la candidate.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Résumer une situation en un mot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Après dix-huit heures, il n'y a plus personne sur place.   </a:t>
            </a:r>
            <a:r>
              <a:rPr sz="1900" b="1" i="0">
                <a:solidFill>
                  <a:srgbClr val="07734A"/>
                </a:solidFill>
                <a:latin typeface="Verdana"/>
              </a:rPr>
              <a:t>» cet isolement</a:t>
            </a:r>
          </a:p>
        </p:txBody>
      </p:sp>
      <p:sp>
        <p:nvSpPr>
          <p:cNvPr id="12" name="Rounded Rectangle 11"/>
          <p:cNvSpPr/>
          <p:nvPr/>
        </p:nvSpPr>
        <p:spPr>
          <a:xfrm>
            <a:off x="566928" y="2916428"/>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Onze ans de supervision là-bas, cinq ans d'exécution ici.   </a:t>
            </a:r>
            <a:r>
              <a:rPr sz="1900" b="1" i="0">
                <a:solidFill>
                  <a:srgbClr val="07734A"/>
                </a:solidFill>
                <a:latin typeface="Verdana"/>
              </a:rPr>
              <a:t>» cette situation / ce parcours</a:t>
            </a:r>
          </a:p>
        </p:txBody>
      </p:sp>
      <p:sp>
        <p:nvSpPr>
          <p:cNvPr id="16" name="Rounded Rectangle 15"/>
          <p:cNvSpPr/>
          <p:nvPr/>
        </p:nvSpPr>
        <p:spPr>
          <a:xfrm>
            <a:off x="566928" y="403098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Neuf personnes à recruter avant février.   </a:t>
            </a:r>
            <a:r>
              <a:rPr sz="1900" b="1" i="0">
                <a:solidFill>
                  <a:srgbClr val="07734A"/>
                </a:solidFill>
                <a:latin typeface="Verdana"/>
              </a:rPr>
              <a:t>» cette échéance</a:t>
            </a:r>
          </a:p>
        </p:txBody>
      </p:sp>
      <p:sp>
        <p:nvSpPr>
          <p:cNvPr id="20" name="Rounded Rectangle 19"/>
          <p:cNvSpPr/>
          <p:nvPr/>
        </p:nvSpPr>
        <p:spPr>
          <a:xfrm>
            <a:off x="566928" y="4807711"/>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Madame Éthier et monsieur Bourbonnais reçoivent la candidate.   </a:t>
            </a:r>
            <a:r>
              <a:rPr sz="1900" b="1" i="0">
                <a:solidFill>
                  <a:srgbClr val="07734A"/>
                </a:solidFill>
                <a:latin typeface="Verdana"/>
              </a:rPr>
              <a:t>» ces deux personnes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reprendre par un mot qui change le sens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choisir un synonyme vraiment voisin</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Écrire « ce problème » à la place de « cette réorganisation » n'est pas une reprise : c'est un jugement ajouté en cachette. Dans une lettre d'affaires ou en entrevue, ce genre de glissement se remarque, et il se retourne contre celui qui l'a écrit.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Prenez trois phrases d'une annonce ou d'un site d'entreprise, et écrivez la reprise de chacune.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par nominalisation, une par synonyme, une par expression synthétique.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Chacune doit commencer par un démonstratif.</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Passer au travers du processus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