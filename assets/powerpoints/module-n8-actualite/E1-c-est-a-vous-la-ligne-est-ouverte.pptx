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Ouvrir en faisant relire à voix haute les trois phrases préparées en devoir de D2. Chacun les dit une fois, debout, avant qu'on ouvre le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production, pas d'enseignement. Le temps de parole de l'enseignante doit rester sous dix minutes : tout le reste est aux élèves.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en silence, au crayon. Personne ne commence l'appel sans avoir les quatre écrites devant soi - c'est ce qui distingue une intervention d'une plainte.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Prévenir le groupe : la rumeur arrivera, une fois au moins, et c'est voulu. C'est là que sert la phrase apprise en D1.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huit sujets à couvrir sont dans le module. Ces quatre-là sont ceux qu'on manque, et il vaut mieux les nommer avant de commencer qu'après.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garder affichée pendant tout le jeu de rôle. Un élève qui emploie les trois une fois chacune se distingue sans avoir à hausser le ton.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Deux minutes environ, debout, sans lire ses notes mot à mot. Le sujet peut être le boisé ou une actualité qui touche l'élève, à condition qu'il en ait les faits.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Grille d'écoute mutuelle, et elle vaut mieux qu'une correction de l'enseignante : entendre ce qui manque chez l'autre fait entendre ce qui manque chez soi.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faire essayer une fois : l'enseignante coupe la parole à un volontaire, qui doit répondre plus lentement qu'avant. L'effet surprend tout le monde, y compris celui qui parle.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dépôt se fait dans « Je me lance ». Rappeler que la rétroaction de l'IA reste privée : seul ce que l'élève envoie parvient à l'enseignante.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C'est à vous : la ligne est ouverte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minutes d'antenne, comme tout le monde. Le jeu de rôle sert de répétition, l'enregistrement de preuve - et une intervention se juge à sa première et à sa dernière phrase.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tenir un appel à la tribune avec l'assistant, du début à la fin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sa position en une phrase, puis résumer le fait sans le déformer ;</a:t>
            </a:r>
          </a:p>
        </p:txBody>
      </p:sp>
      <p:sp>
        <p:nvSpPr>
          <p:cNvPr id="15" name="Rounded Rectangle 14"/>
          <p:cNvSpPr/>
          <p:nvPr/>
        </p:nvSpPr>
        <p:spPr>
          <a:xfrm>
            <a:off x="566928" y="38922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2478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301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40934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concéder un point, puis avancer un argument chiffré et un argument vécu ;</a:t>
            </a:r>
          </a:p>
        </p:txBody>
      </p:sp>
      <p:sp>
        <p:nvSpPr>
          <p:cNvPr id="19" name="Rounded Rectangle 18"/>
          <p:cNvSpPr/>
          <p:nvPr/>
        </p:nvSpPr>
        <p:spPr>
          <a:xfrm>
            <a:off x="566928" y="51338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489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571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53350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refuser une rumeur qu'on vous tend, et terminer par une demande précise.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Quatre choses à avoir devant soi avant d'appeler</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alle-communautair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position, écrite en une seule phrase.</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argument chiffré, et d'où vient le chiffre.</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argument vécu : qui, quand, quoi.</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demande, adressée à quelqu'un qui peut agir.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sujets, une même tribune</a:t>
            </a:r>
          </a:p>
        </p:txBody>
      </p:sp>
      <p:sp>
        <p:nvSpPr>
          <p:cNvPr id="7" name="Rounded Rectangle 6"/>
          <p:cNvSpPr/>
          <p:nvPr/>
        </p:nvSpPr>
        <p:spPr>
          <a:xfrm>
            <a:off x="566928" y="1810512"/>
            <a:ext cx="11057839" cy="2778252"/>
          </a:xfrm>
          <a:prstGeom prst="roundRect">
            <a:avLst>
              <a:gd name="adj" fmla="val 526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SUJET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S'Y JOUE</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boisé Sainte-Perpétue</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onze hectares pour un dollar, un vote à vingt-deux heures cinquante</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Le terrain derrière l'aréna</a:t>
            </a:r>
          </a:p>
        </p:txBody>
      </p:sp>
      <p:sp>
        <p:nvSpPr>
          <p:cNvPr id="14" name="TextBox 13"/>
          <p:cNvSpPr txBox="1"/>
          <p:nvPr/>
        </p:nvSpPr>
        <p:spPr>
          <a:xfrm>
            <a:off x="4443636" y="320344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délai de vingt et un mois que personne n'a mis par écrit</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606552"/>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Quatre-vingt-dix, ou trois cent quarante-deux</a:t>
            </a:r>
          </a:p>
        </p:txBody>
      </p:sp>
      <p:sp>
        <p:nvSpPr>
          <p:cNvPr id="17" name="TextBox 16"/>
          <p:cNvSpPr txBox="1"/>
          <p:nvPr/>
        </p:nvSpPr>
        <p:spPr>
          <a:xfrm>
            <a:off x="4443636" y="3726180"/>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deux comptages d'arbres, et le désaccord sur ce qu'on appelle un arbre</a:t>
            </a:r>
          </a:p>
        </p:txBody>
      </p:sp>
      <p:sp>
        <p:nvSpPr>
          <p:cNvPr id="18" name="Rounded Rectangle 17"/>
          <p:cNvSpPr/>
          <p:nvPr/>
        </p:nvSpPr>
        <p:spPr>
          <a:xfrm>
            <a:off x="566928" y="4826508"/>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082540"/>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L'assistant joue l'animateur. Il demande vos sources, il vous oppose le camp adverse, et il vous tend une rumeur.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JEU DE RÔLE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rate le plus souvent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Commencer par le contexte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intervention qui explique avant de se situer perd son temps d'antenne. Dites d'abord de quel côté vous êtes, puis expliquez.</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Concéder puis se taire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concession sans la suite est une reddition. La seconde phrase est obligatoire : c'est vrai, et voici pourquoi cela ne règle pas la question.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Répondre à la rumeur</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Même pour la nuancer, y répondre la fait exister. « Je n'en sais rien, et ce n'est pas mon argument. » Rien d'autre.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Finir sur l'indignation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C'est scandaleux » ne se répond pas. Terminez par ce que vous voulez qu'il arrive, avec une 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RÉUTILISEZ CE QUE VOUS VENEZ D'APPRENDRE</a:t>
            </a:r>
          </a:p>
        </p:txBody>
      </p:sp>
      <p:sp>
        <p:nvSpPr>
          <p:cNvPr id="6" name="Rounded Rectangle 5"/>
          <p:cNvSpPr/>
          <p:nvPr/>
        </p:nvSpPr>
        <p:spPr>
          <a:xfrm>
            <a:off x="566928" y="1225296"/>
            <a:ext cx="11057839" cy="2928619"/>
          </a:xfrm>
          <a:prstGeom prst="roundRect">
            <a:avLst>
              <a:gd name="adj" fmla="val 4995"/>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05660"/>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Certes le besoin de logements est réel, mais une décision prise devant onze personnes ne tiendra pas. Si la Ville avait publié l'évaluation, je n'aurais pas eu besoin d'appeler. Ce que je demande, c'est la publication avant mardi.</a:t>
            </a:r>
          </a:p>
        </p:txBody>
      </p:sp>
      <p:sp>
        <p:nvSpPr>
          <p:cNvPr id="8" name="Rounded Rectangle 7"/>
          <p:cNvSpPr/>
          <p:nvPr/>
        </p:nvSpPr>
        <p:spPr>
          <a:xfrm>
            <a:off x="566928" y="4428235"/>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02555"/>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concession, une hypothèse irréelle, une mise en relief : les trois points de langue du bloc, chacun dans une phrase. Et pour renverser avec un fait : on nous dit que tout a été étudié ; or, le terrain de l'aréna ne l'a jamais été.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minutes, en trois temps</a:t>
            </a:r>
          </a:p>
        </p:txBody>
      </p:sp>
      <p:sp>
        <p:nvSpPr>
          <p:cNvPr id="7" name="Rounded Rectangle 6"/>
          <p:cNvSpPr/>
          <p:nvPr/>
        </p:nvSpPr>
        <p:spPr>
          <a:xfrm>
            <a:off x="566928" y="1810512"/>
            <a:ext cx="11057839" cy="4203192"/>
          </a:xfrm>
          <a:prstGeom prst="roundRect">
            <a:avLst>
              <a:gd name="adj" fmla="val 348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891540"/>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1. Position, puis le fait</a:t>
            </a:r>
          </a:p>
        </p:txBody>
      </p:sp>
      <p:sp>
        <p:nvSpPr>
          <p:cNvPr id="11" name="TextBox 10"/>
          <p:cNvSpPr txBox="1"/>
          <p:nvPr/>
        </p:nvSpPr>
        <p:spPr>
          <a:xfrm>
            <a:off x="4443636" y="2395728"/>
            <a:ext cx="6595914" cy="891540"/>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Je suis pour le projet, et je vais quand même signer. Le conseil a cédé onze hectares lundi soir, par quatre voix contre trois.</a:t>
            </a:r>
          </a:p>
        </p:txBody>
      </p:sp>
      <p:sp>
        <p:nvSpPr>
          <p:cNvPr id="12" name="Rectangle 11"/>
          <p:cNvSpPr/>
          <p:nvPr/>
        </p:nvSpPr>
        <p:spPr>
          <a:xfrm>
            <a:off x="932688" y="33604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488436"/>
            <a:ext cx="3291492" cy="1176528"/>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2. Deux arguments, puis une concession</a:t>
            </a:r>
          </a:p>
        </p:txBody>
      </p:sp>
      <p:sp>
        <p:nvSpPr>
          <p:cNvPr id="14" name="TextBox 13"/>
          <p:cNvSpPr txBox="1"/>
          <p:nvPr/>
        </p:nvSpPr>
        <p:spPr>
          <a:xfrm>
            <a:off x="4443636" y="3488436"/>
            <a:ext cx="6595914" cy="1176528"/>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Trois de mes collègues ont quitté la ville faute de logement. Mais un vote pris devant onze personnes ne tiendra pas dix ans. Certes un report mettrait le financement en péril.</a:t>
            </a:r>
          </a:p>
        </p:txBody>
      </p:sp>
      <p:sp>
        <p:nvSpPr>
          <p:cNvPr id="15" name="Rectangle 14"/>
          <p:cNvSpPr/>
          <p:nvPr/>
        </p:nvSpPr>
        <p:spPr>
          <a:xfrm>
            <a:off x="932688" y="47381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866132"/>
            <a:ext cx="3291492" cy="891540"/>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3. L'irréel, puis la demande</a:t>
            </a:r>
          </a:p>
        </p:txBody>
      </p:sp>
      <p:sp>
        <p:nvSpPr>
          <p:cNvPr id="17" name="TextBox 16"/>
          <p:cNvSpPr txBox="1"/>
          <p:nvPr/>
        </p:nvSpPr>
        <p:spPr>
          <a:xfrm>
            <a:off x="4443636" y="4866132"/>
            <a:ext cx="6595914" cy="891540"/>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Si la Ville avait publié l'évaluation, je n'aurais pas eu besoin d'appeler. Ce que je demande, c'est qu'elle la publie avant mardi.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écoute chez l'autre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Pendant que quelqu'un parle, cochez ce que vous entendez.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position annoncée en une phrase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résumé du fait en deux phrases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chiffre et sa provenance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concession suivie d'une avancée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hypothèse irréelle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demande précise, avec une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élever la voix quand on vous coupe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ralentir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Celui qui monte le ton perd, à la radio comme en assemblée. Ralentir oblige l'autre à ralentir aussi, et cela s'entend comme de l'assurance. Même chose devant trois objections lancées ensemble : n'en prenez qu'une, la plus forte, et dites-le - je réponds sur le calendrier, qui est le vrai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 votre intervention de deux minutes et déposez-la.</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Réécoutez-vous : entend-on votre position dans les dix premières secondes ?</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Entend-on une demande dans les dix dernières ? Sinon, refaites-le.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