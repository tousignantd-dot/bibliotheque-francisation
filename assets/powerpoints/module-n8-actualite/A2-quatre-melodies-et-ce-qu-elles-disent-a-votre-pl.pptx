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très orale. Prévoir de faire répéter debout : assis, personne n'ose exagérer, et l'exagération est justement ce qui fait entrer une mélodie dans l'oreille.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troisième objectif est celui qui compte le plus à une tribune téléphonique, où personne ne voit votre visage. Y revenir à la fin.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 les trois soi-même, sans annoncer laquelle est laquelle. Le groupe entend la différence avant de savoir la nommer, et c'est le bon ordre. Ne pas écrire les noms au tableau tout de suite.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Les noms sont ceux du programme, mot pour mot. Aucun symbole ni aucun signe de transcription : on décrit la mélodie avec des mots, et le groupe la reproduit à l'oreille.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 chaque exemple deux fois avant de faire répéter. Insister sur la volonté : c'est celle que les élèves ratent le plus, parce qu'ils la montent au lieu de la descendre.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dire les cinq lignes par cinq élèves différents, dans le désordre, et faire deviner au groupe laquelle vient d'être dite.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module en propose neuf, huit suffisent en classe. Faire redire chaque réplique par un élève après la correction, jamais avant : sinon on entend la réponse dans la voix de celui qui lit.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l'expérience à voix haute : dire « je vais signer le registre » en montant, puis en descendant. Le groupe entend la différence tout de suite, sans explication.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Rappeler l'échange du module : Mirela dit « je ne dis pas qu'il est illégal, je dis qu'il est petit ». Phrase dure, mélodie descendante, personne ne l'interrompt.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Exercice debout. Le « à plat » d'abord est essentiel : c'est la comparaison qui enseigne, pas la réussite du premier essai. Ne pas corriger la prononciation ici, seulement la mélodie.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court. Beaucoup d'élèves s'entendent monter pour la première fois de leur vie, et cela vaut trois explications. Reprendre les enregistrements en une minute au début de A3.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SÉANCE A2  ·  MODULE 5</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Quatre mélodies, et ce qu'elles disent à votre place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programme du niveau 8 ne demande plus qu'une chose à l'oreille et à la voix : produire l'intonation expressive. Pas un son nouveau — une mélodie.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Deux versions, et la mienne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1113536"/>
          </a:xfrm>
          <a:prstGeom prst="roundRect">
            <a:avLst>
              <a:gd name="adj" fmla="val 1313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2120392"/>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202688"/>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0" name="TextBox 9"/>
          <p:cNvSpPr txBox="1"/>
          <p:nvPr/>
        </p:nvSpPr>
        <p:spPr>
          <a:xfrm>
            <a:off x="1408176" y="1965960"/>
            <a:ext cx="9549079" cy="7477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à l'oreille la surprise, la déception, la volonté et l'incompréhension ;</a:t>
            </a:r>
          </a:p>
        </p:txBody>
      </p:sp>
      <p:sp>
        <p:nvSpPr>
          <p:cNvPr id="11" name="Rounded Rectangle 10"/>
          <p:cNvSpPr/>
          <p:nvPr/>
        </p:nvSpPr>
        <p:spPr>
          <a:xfrm>
            <a:off x="566928" y="3006343"/>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3184144"/>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3266439"/>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4" name="TextBox 13"/>
          <p:cNvSpPr txBox="1"/>
          <p:nvPr/>
        </p:nvSpPr>
        <p:spPr>
          <a:xfrm>
            <a:off x="1408176" y="32075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produire chacune des quatre sur une phrase courte du dossier ;</a:t>
            </a:r>
          </a:p>
        </p:txBody>
      </p:sp>
      <p:sp>
        <p:nvSpPr>
          <p:cNvPr id="15" name="Rounded Rectangle 14"/>
          <p:cNvSpPr/>
          <p:nvPr/>
        </p:nvSpPr>
        <p:spPr>
          <a:xfrm>
            <a:off x="566928" y="3892295"/>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4070095"/>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4152391"/>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8" name="TextBox 17"/>
          <p:cNvSpPr txBox="1"/>
          <p:nvPr/>
        </p:nvSpPr>
        <p:spPr>
          <a:xfrm>
            <a:off x="1408176" y="4093463"/>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pourquoi une voix plate se lit comme de l'indifférence ;</a:t>
            </a:r>
          </a:p>
        </p:txBody>
      </p:sp>
      <p:sp>
        <p:nvSpPr>
          <p:cNvPr id="19" name="Rounded Rectangle 18"/>
          <p:cNvSpPr/>
          <p:nvPr/>
        </p:nvSpPr>
        <p:spPr>
          <a:xfrm>
            <a:off x="566928" y="47782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956048"/>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5038344"/>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2" name="TextBox 21"/>
          <p:cNvSpPr txBox="1"/>
          <p:nvPr/>
        </p:nvSpPr>
        <p:spPr>
          <a:xfrm>
            <a:off x="1408176" y="4979415"/>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choisir trois phrases de son intervention et décider de leur mélodie.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ÉCOUTE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900" b="1" i="0">
                <a:solidFill>
                  <a:srgbClr val="17181A"/>
                </a:solidFill>
                <a:latin typeface="Verdana"/>
              </a:rPr>
              <a:t>La même phrase, trois fois : qu'est-ce qui change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3B4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Quatre voix contre trois, pour onze hectares ?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3B4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Quatre voix contre trois, pour onze hectares.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3B4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 Quatre voix contre trois... pour onze hectares.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3B4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Les mots sont identiques. Qu'est-ce qui ne l'est pas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QUATRE MÉLODIES, QUATRE INTENTIONS</a:t>
            </a:r>
          </a:p>
        </p:txBody>
      </p:sp>
      <p:sp>
        <p:nvSpPr>
          <p:cNvPr id="6" name="Rounded Rectangle 5"/>
          <p:cNvSpPr/>
          <p:nvPr/>
        </p:nvSpPr>
        <p:spPr>
          <a:xfrm>
            <a:off x="566928" y="1225296"/>
            <a:ext cx="11057839" cy="2587752"/>
          </a:xfrm>
          <a:prstGeom prst="roundRect">
            <a:avLst>
              <a:gd name="adj" fmla="val 5653"/>
            </a:avLst>
          </a:prstGeom>
          <a:solidFill>
            <a:srgbClr val="E8EA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764792"/>
          </a:xfrm>
          <a:prstGeom prst="rect">
            <a:avLst/>
          </a:prstGeom>
          <a:noFill/>
        </p:spPr>
        <p:txBody>
          <a:bodyPr wrap="square" lIns="0" rIns="0" tIns="0" bIns="0" anchor="t">
            <a:spAutoFit/>
          </a:bodyPr>
          <a:lstStyle/>
          <a:p>
            <a:pPr algn="l">
              <a:lnSpc>
                <a:spcPct val="122000"/>
              </a:lnSpc>
            </a:pPr>
            <a:r>
              <a:rPr sz="2700" b="1" i="0">
                <a:solidFill>
                  <a:srgbClr val="17181A"/>
                </a:solidFill>
                <a:latin typeface="Verdana"/>
              </a:rPr>
              <a:t>La surprise monte d'un coup à la fin. La déception tombe dès la première syllabe. La volonté descend et appuie. L'incompréhension freine et laisse un silence avant le mot en cause.</a:t>
            </a:r>
          </a:p>
        </p:txBody>
      </p:sp>
      <p:sp>
        <p:nvSpPr>
          <p:cNvPr id="8" name="Rounded Rectangle 7"/>
          <p:cNvSpPr/>
          <p:nvPr/>
        </p:nvSpPr>
        <p:spPr>
          <a:xfrm>
            <a:off x="566928" y="4087368"/>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361688"/>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Aucune des quatre ne s'écrit : elles ne vivent que dans la voix. C'est pour cela qu'un argument bien construit peut être dit d'une façon qui le contredit, et que l'interlocuteur croira toujours la voix plutôt que les mots.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Comment chacune se fabrique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237236"/>
          </a:xfrm>
          <a:prstGeom prst="rect">
            <a:avLst/>
          </a:prstGeom>
          <a:noFill/>
        </p:spPr>
        <p:txBody>
          <a:bodyPr wrap="square" lIns="0" rIns="0" tIns="0" bIns="0" anchor="t">
            <a:spAutoFit/>
          </a:bodyPr>
          <a:lstStyle/>
          <a:p>
            <a:pPr algn="l">
              <a:lnSpc>
                <a:spcPct val="118000"/>
              </a:lnSpc>
            </a:pPr>
            <a:r>
              <a:rPr sz="1400" b="1" i="0">
                <a:solidFill>
                  <a:srgbClr val="3B49A0"/>
                </a:solidFill>
                <a:latin typeface="Verdana"/>
              </a:rPr>
              <a:t>La surprise</a:t>
            </a:r>
          </a:p>
        </p:txBody>
      </p:sp>
      <p:sp>
        <p:nvSpPr>
          <p:cNvPr id="9" name="TextBox 8"/>
          <p:cNvSpPr txBox="1"/>
          <p:nvPr/>
        </p:nvSpPr>
        <p:spPr>
          <a:xfrm>
            <a:off x="886968" y="2349500"/>
            <a:ext cx="4806543" cy="1239520"/>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La phrase part normalement puis grimpe brusquement sur les deux ou trois dernières syllabes. Souvent une question, souvent courte, souvent annoncée par « comment ça » ou par la répétition du chiffre qui étonne.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237236"/>
          </a:xfrm>
          <a:prstGeom prst="rect">
            <a:avLst/>
          </a:prstGeom>
          <a:noFill/>
        </p:spPr>
        <p:txBody>
          <a:bodyPr wrap="square" lIns="0" rIns="0" tIns="0" bIns="0" anchor="t">
            <a:spAutoFit/>
          </a:bodyPr>
          <a:lstStyle/>
          <a:p>
            <a:pPr algn="l">
              <a:lnSpc>
                <a:spcPct val="118000"/>
              </a:lnSpc>
            </a:pPr>
            <a:r>
              <a:rPr sz="1400" b="1" i="0">
                <a:solidFill>
                  <a:srgbClr val="3B49A0"/>
                </a:solidFill>
                <a:latin typeface="Verdana"/>
              </a:rPr>
              <a:t>La déception</a:t>
            </a:r>
          </a:p>
        </p:txBody>
      </p:sp>
      <p:sp>
        <p:nvSpPr>
          <p:cNvPr id="12" name="TextBox 11"/>
          <p:cNvSpPr txBox="1"/>
          <p:nvPr/>
        </p:nvSpPr>
        <p:spPr>
          <a:xfrm>
            <a:off x="6498183" y="2349500"/>
            <a:ext cx="4806543" cy="1239520"/>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La mélodie descend tout de suite et ne remonte jamais. Le débit est régulier, presque lent, souvent précédé d'un petit mot isolé : « ah », « bon ».</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237236"/>
          </a:xfrm>
          <a:prstGeom prst="rect">
            <a:avLst/>
          </a:prstGeom>
          <a:noFill/>
        </p:spPr>
        <p:txBody>
          <a:bodyPr wrap="square" lIns="0" rIns="0" tIns="0" bIns="0" anchor="t">
            <a:spAutoFit/>
          </a:bodyPr>
          <a:lstStyle/>
          <a:p>
            <a:pPr algn="l">
              <a:lnSpc>
                <a:spcPct val="118000"/>
              </a:lnSpc>
            </a:pPr>
            <a:r>
              <a:rPr sz="1400" b="1" i="0">
                <a:solidFill>
                  <a:srgbClr val="3B49A0"/>
                </a:solidFill>
                <a:latin typeface="Verdana"/>
              </a:rPr>
              <a:t>La volonté</a:t>
            </a:r>
          </a:p>
        </p:txBody>
      </p:sp>
      <p:sp>
        <p:nvSpPr>
          <p:cNvPr id="15" name="TextBox 14"/>
          <p:cNvSpPr txBox="1"/>
          <p:nvPr/>
        </p:nvSpPr>
        <p:spPr>
          <a:xfrm>
            <a:off x="886968" y="4566920"/>
            <a:ext cx="4806543" cy="1239520"/>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À l'inverse de la surprise : la mélodie descend, le débit ralentit, les syllabes se détachent. C'est la voix d'une demande qu'on ne retirera pas. On ne sourit pas en la disant.</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237236"/>
          </a:xfrm>
          <a:prstGeom prst="rect">
            <a:avLst/>
          </a:prstGeom>
          <a:noFill/>
        </p:spPr>
        <p:txBody>
          <a:bodyPr wrap="square" lIns="0" rIns="0" tIns="0" bIns="0" anchor="t">
            <a:spAutoFit/>
          </a:bodyPr>
          <a:lstStyle/>
          <a:p>
            <a:pPr algn="l">
              <a:lnSpc>
                <a:spcPct val="118000"/>
              </a:lnSpc>
            </a:pPr>
            <a:r>
              <a:rPr sz="1400" b="1" i="0">
                <a:solidFill>
                  <a:srgbClr val="3B49A0"/>
                </a:solidFill>
                <a:latin typeface="Verdana"/>
              </a:rPr>
              <a:t>L'incompréhension</a:t>
            </a:r>
          </a:p>
        </p:txBody>
      </p:sp>
      <p:sp>
        <p:nvSpPr>
          <p:cNvPr id="18" name="TextBox 17"/>
          <p:cNvSpPr txBox="1"/>
          <p:nvPr/>
        </p:nvSpPr>
        <p:spPr>
          <a:xfrm>
            <a:off x="6498183" y="4566920"/>
            <a:ext cx="4806543" cy="1239520"/>
          </a:xfrm>
          <a:prstGeom prst="rect">
            <a:avLst/>
          </a:prstGeom>
          <a:noFill/>
        </p:spPr>
        <p:txBody>
          <a:bodyPr wrap="square" lIns="0" rIns="0" tIns="0" bIns="0" anchor="t">
            <a:spAutoFit/>
          </a:bodyPr>
          <a:lstStyle/>
          <a:p>
            <a:pPr algn="l">
              <a:lnSpc>
                <a:spcPct val="142000"/>
              </a:lnSpc>
            </a:pPr>
            <a:r>
              <a:rPr sz="1400" b="0" i="0">
                <a:solidFill>
                  <a:srgbClr val="3A3D40"/>
                </a:solidFill>
                <a:latin typeface="Verdana"/>
              </a:rPr>
              <a:t>On ne monte pas : on freine. Le débit se casse à l'endroit précis où le fil s'est rompu, avec un petit silence avant le mot en cause. La voix isole le mot.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même phrase, plusieurs intentions</a:t>
            </a:r>
          </a:p>
        </p:txBody>
      </p:sp>
      <p:sp>
        <p:nvSpPr>
          <p:cNvPr id="7" name="Rounded Rectangle 6"/>
          <p:cNvSpPr/>
          <p:nvPr/>
        </p:nvSpPr>
        <p:spPr>
          <a:xfrm>
            <a:off x="566928" y="1810512"/>
            <a:ext cx="11057839" cy="3840480"/>
          </a:xfrm>
          <a:prstGeom prst="roundRect">
            <a:avLst>
              <a:gd name="adj" fmla="val 380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 EST DIT</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 LA VOIX AJOUTE</a:t>
            </a:r>
          </a:p>
        </p:txBody>
      </p:sp>
      <p:sp>
        <p:nvSpPr>
          <p:cNvPr id="10" name="TextBox 9"/>
          <p:cNvSpPr txBox="1"/>
          <p:nvPr/>
        </p:nvSpPr>
        <p:spPr>
          <a:xfrm>
            <a:off x="932688" y="2395728"/>
            <a:ext cx="3291492" cy="790956"/>
          </a:xfrm>
          <a:prstGeom prst="rect">
            <a:avLst/>
          </a:prstGeom>
          <a:noFill/>
        </p:spPr>
        <p:txBody>
          <a:bodyPr wrap="square" lIns="0" rIns="0" tIns="0" bIns="0" anchor="t">
            <a:spAutoFit/>
          </a:bodyPr>
          <a:lstStyle/>
          <a:p>
            <a:pPr algn="l">
              <a:lnSpc>
                <a:spcPct val="132000"/>
              </a:lnSpc>
            </a:pPr>
            <a:r>
              <a:rPr sz="1500" b="1" i="0">
                <a:solidFill>
                  <a:srgbClr val="3B49A0"/>
                </a:solidFill>
                <a:latin typeface="Verdana"/>
              </a:rPr>
              <a:t>Le vote a été pris à vingt-deux heures cinquante ?</a:t>
            </a:r>
          </a:p>
        </p:txBody>
      </p:sp>
      <p:sp>
        <p:nvSpPr>
          <p:cNvPr id="11" name="TextBox 10"/>
          <p:cNvSpPr txBox="1"/>
          <p:nvPr/>
        </p:nvSpPr>
        <p:spPr>
          <a:xfrm>
            <a:off x="4443636" y="2395728"/>
            <a:ext cx="6595914" cy="79095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surprise : la voix monte sur l'heure</a:t>
            </a:r>
          </a:p>
        </p:txBody>
      </p:sp>
      <p:sp>
        <p:nvSpPr>
          <p:cNvPr id="12" name="Rectangle 11"/>
          <p:cNvSpPr/>
          <p:nvPr/>
        </p:nvSpPr>
        <p:spPr>
          <a:xfrm>
            <a:off x="932688" y="325983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387852"/>
            <a:ext cx="3291492" cy="539496"/>
          </a:xfrm>
          <a:prstGeom prst="rect">
            <a:avLst/>
          </a:prstGeom>
          <a:noFill/>
        </p:spPr>
        <p:txBody>
          <a:bodyPr wrap="square" lIns="0" rIns="0" tIns="0" bIns="0" anchor="t">
            <a:spAutoFit/>
          </a:bodyPr>
          <a:lstStyle/>
          <a:p>
            <a:pPr algn="l">
              <a:lnSpc>
                <a:spcPct val="132000"/>
              </a:lnSpc>
            </a:pPr>
            <a:r>
              <a:rPr sz="1500" b="1" i="0">
                <a:solidFill>
                  <a:srgbClr val="3B49A0"/>
                </a:solidFill>
                <a:latin typeface="Verdana"/>
              </a:rPr>
              <a:t>Le vote a été pris à vingt-deux heures cinquante.</a:t>
            </a:r>
          </a:p>
        </p:txBody>
      </p:sp>
      <p:sp>
        <p:nvSpPr>
          <p:cNvPr id="14" name="TextBox 13"/>
          <p:cNvSpPr txBox="1"/>
          <p:nvPr/>
        </p:nvSpPr>
        <p:spPr>
          <a:xfrm>
            <a:off x="4443636" y="3387852"/>
            <a:ext cx="6595914" cy="53949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constat : la voix reste plate</a:t>
            </a:r>
          </a:p>
        </p:txBody>
      </p:sp>
      <p:sp>
        <p:nvSpPr>
          <p:cNvPr id="15" name="Rectangle 14"/>
          <p:cNvSpPr/>
          <p:nvPr/>
        </p:nvSpPr>
        <p:spPr>
          <a:xfrm>
            <a:off x="932688" y="40005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4128515"/>
            <a:ext cx="3291492" cy="288036"/>
          </a:xfrm>
          <a:prstGeom prst="rect">
            <a:avLst/>
          </a:prstGeom>
          <a:noFill/>
        </p:spPr>
        <p:txBody>
          <a:bodyPr wrap="square" lIns="0" rIns="0" tIns="0" bIns="0" anchor="t">
            <a:spAutoFit/>
          </a:bodyPr>
          <a:lstStyle/>
          <a:p>
            <a:pPr algn="l">
              <a:lnSpc>
                <a:spcPct val="132000"/>
              </a:lnSpc>
            </a:pPr>
            <a:r>
              <a:rPr sz="1500" b="1" i="0">
                <a:solidFill>
                  <a:srgbClr val="3B49A0"/>
                </a:solidFill>
                <a:latin typeface="Verdana"/>
              </a:rPr>
              <a:t>Je veux voir l'évaluation.</a:t>
            </a:r>
          </a:p>
        </p:txBody>
      </p:sp>
      <p:sp>
        <p:nvSpPr>
          <p:cNvPr id="17" name="TextBox 16"/>
          <p:cNvSpPr txBox="1"/>
          <p:nvPr/>
        </p:nvSpPr>
        <p:spPr>
          <a:xfrm>
            <a:off x="4443636" y="4128515"/>
            <a:ext cx="6595914"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volonté : la voix descend, les mots pèsent</a:t>
            </a:r>
          </a:p>
        </p:txBody>
      </p:sp>
      <p:sp>
        <p:nvSpPr>
          <p:cNvPr id="18" name="Rectangle 17"/>
          <p:cNvSpPr/>
          <p:nvPr/>
        </p:nvSpPr>
        <p:spPr>
          <a:xfrm>
            <a:off x="932688" y="4489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617720"/>
            <a:ext cx="3291492" cy="288036"/>
          </a:xfrm>
          <a:prstGeom prst="rect">
            <a:avLst/>
          </a:prstGeom>
          <a:noFill/>
        </p:spPr>
        <p:txBody>
          <a:bodyPr wrap="square" lIns="0" rIns="0" tIns="0" bIns="0" anchor="t">
            <a:spAutoFit/>
          </a:bodyPr>
          <a:lstStyle/>
          <a:p>
            <a:pPr algn="l">
              <a:lnSpc>
                <a:spcPct val="132000"/>
              </a:lnSpc>
            </a:pPr>
            <a:r>
              <a:rPr sz="1500" b="1" i="0">
                <a:solidFill>
                  <a:srgbClr val="3B49A0"/>
                </a:solidFill>
                <a:latin typeface="Verdana"/>
              </a:rPr>
              <a:t>Je veux voir l'évaluation ?</a:t>
            </a:r>
          </a:p>
        </p:txBody>
      </p:sp>
      <p:sp>
        <p:nvSpPr>
          <p:cNvPr id="20" name="TextBox 19"/>
          <p:cNvSpPr txBox="1"/>
          <p:nvPr/>
        </p:nvSpPr>
        <p:spPr>
          <a:xfrm>
            <a:off x="4443636" y="4617720"/>
            <a:ext cx="6595914"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doute : la phrase se retourne contre celui qui parle</a:t>
            </a:r>
          </a:p>
        </p:txBody>
      </p:sp>
      <p:sp>
        <p:nvSpPr>
          <p:cNvPr id="21" name="Rectangle 20"/>
          <p:cNvSpPr/>
          <p:nvPr/>
        </p:nvSpPr>
        <p:spPr>
          <a:xfrm>
            <a:off x="932688" y="4978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5106924"/>
            <a:ext cx="3291492" cy="288036"/>
          </a:xfrm>
          <a:prstGeom prst="rect">
            <a:avLst/>
          </a:prstGeom>
          <a:noFill/>
        </p:spPr>
        <p:txBody>
          <a:bodyPr wrap="square" lIns="0" rIns="0" tIns="0" bIns="0" anchor="t">
            <a:spAutoFit/>
          </a:bodyPr>
          <a:lstStyle/>
          <a:p>
            <a:pPr algn="l">
              <a:lnSpc>
                <a:spcPct val="132000"/>
              </a:lnSpc>
            </a:pPr>
            <a:r>
              <a:rPr sz="1500" b="1" i="0">
                <a:solidFill>
                  <a:srgbClr val="3B49A0"/>
                </a:solidFill>
                <a:latin typeface="Verdana"/>
              </a:rPr>
              <a:t>Bon. Je veux voir l'évaluation.</a:t>
            </a:r>
          </a:p>
        </p:txBody>
      </p:sp>
      <p:sp>
        <p:nvSpPr>
          <p:cNvPr id="23" name="TextBox 22"/>
          <p:cNvSpPr txBox="1"/>
          <p:nvPr/>
        </p:nvSpPr>
        <p:spPr>
          <a:xfrm>
            <a:off x="4443636" y="5106924"/>
            <a:ext cx="6595914"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le « bon » tombe, puis la volonté descend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PRATIQUE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intention entendez-vous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chaque réplique, puis dites : surprise, déception ou volonté.</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Quatre voix contre trois, pour onze hectares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Ah. Je pensais que l'évaluation était publique.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vais signer, et je vais le dire en ondes.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Comment ça, personne n'a compté les arbres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Bon. On avait trois cents signatures ce matin aussi.</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 document-là, je le veux avant mardi.</a:t>
            </a:r>
          </a:p>
        </p:txBody>
      </p:sp>
      <p:sp>
        <p:nvSpPr>
          <p:cNvPr id="32" name="Rounded Rectangle 31"/>
          <p:cNvSpPr/>
          <p:nvPr/>
        </p:nvSpPr>
        <p:spPr>
          <a:xfrm>
            <a:off x="566928" y="626668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Personne ne nous a répondu. Personne.</a:t>
            </a:r>
          </a:p>
        </p:txBody>
      </p:sp>
      <p:sp>
        <p:nvSpPr>
          <p:cNvPr id="36" name="Rounded Rectangle 35"/>
          <p:cNvSpPr/>
          <p:nvPr/>
        </p:nvSpPr>
        <p:spPr>
          <a:xfrm>
            <a:off x="566928" y="6954520"/>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41247" y="705154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1247" y="711555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8</a:t>
            </a:r>
          </a:p>
        </p:txBody>
      </p:sp>
      <p:sp>
        <p:nvSpPr>
          <p:cNvPr id="39" name="TextBox 38"/>
          <p:cNvSpPr txBox="1"/>
          <p:nvPr/>
        </p:nvSpPr>
        <p:spPr>
          <a:xfrm>
            <a:off x="1344168" y="7109968"/>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tiens à ce que ce soit écrit au procès-verbal.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intention entendez-vous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Quatre voix contre trois, pour onze hectares ?   </a:t>
            </a:r>
            <a:r>
              <a:rPr sz="1400" b="1" i="0">
                <a:solidFill>
                  <a:srgbClr val="07734A"/>
                </a:solidFill>
                <a:latin typeface="Verdana"/>
              </a:rPr>
              <a:t>» surprise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Ah. Je pensais que l'évaluation était publique.   </a:t>
            </a:r>
            <a:r>
              <a:rPr sz="1400" b="1" i="0">
                <a:solidFill>
                  <a:srgbClr val="07734A"/>
                </a:solidFill>
                <a:latin typeface="Verdana"/>
              </a:rPr>
              <a:t>» déception</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vais signer, et je vais le dire en ondes.   </a:t>
            </a:r>
            <a:r>
              <a:rPr sz="1400" b="1" i="0">
                <a:solidFill>
                  <a:srgbClr val="07734A"/>
                </a:solidFill>
                <a:latin typeface="Verdana"/>
              </a:rPr>
              <a:t>» volonté</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Comment ça, personne n'a compté les arbres ?   </a:t>
            </a:r>
            <a:r>
              <a:rPr sz="1400" b="1" i="0">
                <a:solidFill>
                  <a:srgbClr val="07734A"/>
                </a:solidFill>
                <a:latin typeface="Verdana"/>
              </a:rPr>
              <a:t>» surprise</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Bon. On avait trois cents signatures ce matin aussi.   </a:t>
            </a:r>
            <a:r>
              <a:rPr sz="1400" b="1" i="0">
                <a:solidFill>
                  <a:srgbClr val="07734A"/>
                </a:solidFill>
                <a:latin typeface="Verdana"/>
              </a:rPr>
              <a:t>» déception</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 document-là, je le veux avant mardi.   </a:t>
            </a:r>
            <a:r>
              <a:rPr sz="1400" b="1" i="0">
                <a:solidFill>
                  <a:srgbClr val="07734A"/>
                </a:solidFill>
                <a:latin typeface="Verdana"/>
              </a:rPr>
              <a:t>» volonté</a:t>
            </a:r>
          </a:p>
        </p:txBody>
      </p:sp>
      <p:sp>
        <p:nvSpPr>
          <p:cNvPr id="32" name="Rounded Rectangle 31"/>
          <p:cNvSpPr/>
          <p:nvPr/>
        </p:nvSpPr>
        <p:spPr>
          <a:xfrm>
            <a:off x="566928" y="626668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636371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6427724"/>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7</a:t>
            </a:r>
          </a:p>
        </p:txBody>
      </p:sp>
      <p:sp>
        <p:nvSpPr>
          <p:cNvPr id="35" name="TextBox 34"/>
          <p:cNvSpPr txBox="1"/>
          <p:nvPr/>
        </p:nvSpPr>
        <p:spPr>
          <a:xfrm>
            <a:off x="1344168" y="6422136"/>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Personne ne nous a répondu. Personne.   </a:t>
            </a:r>
            <a:r>
              <a:rPr sz="1400" b="1" i="0">
                <a:solidFill>
                  <a:srgbClr val="07734A"/>
                </a:solidFill>
                <a:latin typeface="Verdana"/>
              </a:rPr>
              <a:t>» déception</a:t>
            </a:r>
          </a:p>
        </p:txBody>
      </p:sp>
      <p:sp>
        <p:nvSpPr>
          <p:cNvPr id="36" name="Rounded Rectangle 35"/>
          <p:cNvSpPr/>
          <p:nvPr/>
        </p:nvSpPr>
        <p:spPr>
          <a:xfrm>
            <a:off x="566928" y="6954520"/>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41247" y="705154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41247" y="711555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8</a:t>
            </a:r>
          </a:p>
        </p:txBody>
      </p:sp>
      <p:sp>
        <p:nvSpPr>
          <p:cNvPr id="39" name="TextBox 38"/>
          <p:cNvSpPr txBox="1"/>
          <p:nvPr/>
        </p:nvSpPr>
        <p:spPr>
          <a:xfrm>
            <a:off x="1344168" y="7109968"/>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tiens à ce que ce soit écrit au procès-verbal.   </a:t>
            </a:r>
            <a:r>
              <a:rPr sz="1400" b="1" i="0">
                <a:solidFill>
                  <a:srgbClr val="07734A"/>
                </a:solidFill>
                <a:latin typeface="Verdana"/>
              </a:rPr>
              <a:t>» volonté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PIÈGE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monter la voix à chaque phrase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descendre quand on affirme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887219"/>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C'est le défaut le plus fréquent, et il vient de la prudence : on n'ose pas conclure. Une mélodie qui monte partout transforme chaque affirmation en question, et chaque demande en demande d'autorisation. À une tribune téléphonique, l'effet est immédiat : l'animateur reprend la parole parce qu'il croit la phrase inachevée.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PIÈGE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mettre de la colère dans la voix pour être entendu</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garder la mélodie de la volonté, qui descend</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5189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La colère fait monter et accélérer ; en ondes, elle donne raison à celui qui reste calme. La voix de la volonté est plus lente que la voix de la colère, et beaucoup plus difficile à interrompre. C'est la leçon la plus utile du bloc D, et elle s'apprend ici.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PRATIQUE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Dites-le avec la bonne mélodie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Chacun choisit une phrase et la dit deux fois : d'abord à plat, puis avec l'intention demandée. Le groupe dit s'il l'entend.</a:t>
            </a:r>
          </a:p>
        </p:txBody>
      </p:sp>
      <p:sp>
        <p:nvSpPr>
          <p:cNvPr id="8" name="Rounded Rectangle 7"/>
          <p:cNvSpPr/>
          <p:nvPr/>
        </p:nvSpPr>
        <p:spPr>
          <a:xfrm>
            <a:off x="566928" y="2139696"/>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63393"/>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27401"/>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Trois cent quarante-deux arbres ? (surprise)</a:t>
            </a:r>
          </a:p>
        </p:txBody>
      </p:sp>
      <p:sp>
        <p:nvSpPr>
          <p:cNvPr id="12" name="Rounded Rectangle 11"/>
          <p:cNvSpPr/>
          <p:nvPr/>
        </p:nvSpPr>
        <p:spPr>
          <a:xfrm>
            <a:off x="566928" y="2880868"/>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0456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6857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3036316"/>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Ah. Bon. (déception)</a:t>
            </a:r>
          </a:p>
        </p:txBody>
      </p:sp>
      <p:sp>
        <p:nvSpPr>
          <p:cNvPr id="16" name="Rounded Rectangle 15"/>
          <p:cNvSpPr/>
          <p:nvPr/>
        </p:nvSpPr>
        <p:spPr>
          <a:xfrm>
            <a:off x="566928" y="3622040"/>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74573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0974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777488"/>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Ce document-là, je le veux avant mardi. (volonté)</a:t>
            </a:r>
          </a:p>
        </p:txBody>
      </p:sp>
      <p:sp>
        <p:nvSpPr>
          <p:cNvPr id="20" name="Rounded Rectangle 19"/>
          <p:cNvSpPr/>
          <p:nvPr/>
        </p:nvSpPr>
        <p:spPr>
          <a:xfrm>
            <a:off x="566928" y="4363212"/>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48691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55091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518660"/>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Attendez, je perds le fil. (incompréhension)</a:t>
            </a:r>
          </a:p>
        </p:txBody>
      </p:sp>
      <p:sp>
        <p:nvSpPr>
          <p:cNvPr id="24" name="Rounded Rectangle 23"/>
          <p:cNvSpPr/>
          <p:nvPr/>
        </p:nvSpPr>
        <p:spPr>
          <a:xfrm>
            <a:off x="566928" y="5104384"/>
            <a:ext cx="11057839" cy="613156"/>
          </a:xfrm>
          <a:prstGeom prst="roundRect">
            <a:avLst>
              <a:gd name="adj" fmla="val 2386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228082"/>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292090"/>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259832"/>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Vous avez bien dit vingt et un mois ? (surprise)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Dites-le avec la bonne mélodie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63393"/>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27401"/>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Trois cent quarante-deux arbres ? (surprise)   </a:t>
            </a:r>
            <a:r>
              <a:rPr sz="1700" b="1" i="0">
                <a:solidFill>
                  <a:srgbClr val="07734A"/>
                </a:solidFill>
                <a:latin typeface="Verdana"/>
              </a:rPr>
              <a:t>» montante d'un coup sur le chiffre</a:t>
            </a:r>
          </a:p>
        </p:txBody>
      </p:sp>
      <p:sp>
        <p:nvSpPr>
          <p:cNvPr id="12" name="Rounded Rectangle 11"/>
          <p:cNvSpPr/>
          <p:nvPr/>
        </p:nvSpPr>
        <p:spPr>
          <a:xfrm>
            <a:off x="566928" y="2880868"/>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04566"/>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06857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3036316"/>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Ah. Bon. (déception)   </a:t>
            </a:r>
            <a:r>
              <a:rPr sz="1700" b="1" i="0">
                <a:solidFill>
                  <a:srgbClr val="07734A"/>
                </a:solidFill>
                <a:latin typeface="Verdana"/>
              </a:rPr>
              <a:t>» deux syllabes qui tombent, sans phrase</a:t>
            </a:r>
          </a:p>
        </p:txBody>
      </p:sp>
      <p:sp>
        <p:nvSpPr>
          <p:cNvPr id="16" name="Rounded Rectangle 15"/>
          <p:cNvSpPr/>
          <p:nvPr/>
        </p:nvSpPr>
        <p:spPr>
          <a:xfrm>
            <a:off x="566928" y="3622040"/>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74573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0974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777488"/>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Ce document-là, je le veux avant mardi. (volonté)   </a:t>
            </a:r>
            <a:r>
              <a:rPr sz="1700" b="1" i="0">
                <a:solidFill>
                  <a:srgbClr val="07734A"/>
                </a:solidFill>
                <a:latin typeface="Verdana"/>
              </a:rPr>
              <a:t>» descendante, appuyée sur « veux »</a:t>
            </a:r>
          </a:p>
        </p:txBody>
      </p:sp>
      <p:sp>
        <p:nvSpPr>
          <p:cNvPr id="20" name="Rounded Rectangle 19"/>
          <p:cNvSpPr/>
          <p:nvPr/>
        </p:nvSpPr>
        <p:spPr>
          <a:xfrm>
            <a:off x="566928" y="4363212"/>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48691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55091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518660"/>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Attendez, je perds le fil. (incompréhension)   </a:t>
            </a:r>
            <a:r>
              <a:rPr sz="1700" b="1" i="0">
                <a:solidFill>
                  <a:srgbClr val="07734A"/>
                </a:solidFill>
                <a:latin typeface="Verdana"/>
              </a:rPr>
              <a:t>» le débit freine, la voix se creuse</a:t>
            </a:r>
          </a:p>
        </p:txBody>
      </p:sp>
      <p:sp>
        <p:nvSpPr>
          <p:cNvPr id="24" name="Rounded Rectangle 23"/>
          <p:cNvSpPr/>
          <p:nvPr/>
        </p:nvSpPr>
        <p:spPr>
          <a:xfrm>
            <a:off x="566928" y="5104384"/>
            <a:ext cx="11057839" cy="613156"/>
          </a:xfrm>
          <a:prstGeom prst="roundRect">
            <a:avLst>
              <a:gd name="adj" fmla="val 2386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5228082"/>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292090"/>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5259832"/>
            <a:ext cx="10097719" cy="338836"/>
          </a:xfrm>
          <a:prstGeom prst="rect">
            <a:avLst/>
          </a:prstGeom>
          <a:noFill/>
        </p:spPr>
        <p:txBody>
          <a:bodyPr wrap="square" lIns="0" rIns="0" tIns="0" bIns="0" anchor="t">
            <a:spAutoFit/>
          </a:bodyPr>
          <a:lstStyle/>
          <a:p>
            <a:pPr algn="l">
              <a:lnSpc>
                <a:spcPct val="140000"/>
              </a:lnSpc>
            </a:pPr>
            <a:r>
              <a:rPr sz="1700" b="0" i="0">
                <a:solidFill>
                  <a:srgbClr val="3A3D40"/>
                </a:solidFill>
                <a:latin typeface="Verdana"/>
              </a:rPr>
              <a:t>Vous avez bien dit vingt et un mois ? (surprise)   </a:t>
            </a:r>
            <a:r>
              <a:rPr sz="1700" b="1" i="0">
                <a:solidFill>
                  <a:srgbClr val="07734A"/>
                </a:solidFill>
                <a:latin typeface="Verdana"/>
              </a:rPr>
              <a:t>» on isole le chiffre dont on doute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Enregistrez-vous en disant une phrase de votre future intervention, puis réécoutez-vous.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 Ce que je demande, c'est... »</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Est-ce que votre voix monte ou descend à la fin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Deux versions, et la mienne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