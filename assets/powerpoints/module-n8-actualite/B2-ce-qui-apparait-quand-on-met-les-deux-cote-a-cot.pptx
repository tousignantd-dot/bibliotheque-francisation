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compréhension écrite. Distribuer les deux dépêches sur une seule feuille, en deux colonnes : la mise en page fait la moitié du travail, et une lecture successive ne donne rien.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utile pour la lettre du défi 3 : ce qui est commun aux deux versions est ce sur quoi on peut s'appuyer sans être contredit.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Poser la troisième question et attendre. La réponse est : aucune. C'est le moment où le groupe comprend que le travail de la séance n'est pas de démasquer un menteur.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points se travaillent dans l'ordre sur la feuille à deux colonnes, au crayon, chacun avec un signe différent dans la marge.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remarquer la cinquième ligne : les deux chiffres viennent chacun de la source qui arrange celui qui la cite, et aucun des deux journaux ne cite l'autre comptage.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à rappeler au défi 3 au moment d'écrire la lettre. C'est le conseil le plus rentable du bloc.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sixième item est le seul dont la réponse est « les deux », et c'est celui à souligner. Beaucoup d'élèves l'attribuent au Courant, parce que la clause sert le projet.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Défaut de lecture très répandu : le ton posé se confond avec l'objectivité. Faire relire la première phrase du Courant à voix haute, lentement, en s'arrêtant sur « sous-utilisé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question sort d'un écart relevé entre les deux articles, pas d'une opinion. Le faire dire explicitement : c'est la méthode, et elle sert telle quelle à l'assemblée publique du défi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Ces trois phrases seront reprises telles quelles au défi 3, en ouverture de la lettre : on commence toujours par ce que personne ne conteste.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B2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qui apparaît quand on met les deux côte à côte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Lus l'un après l'autre, les deux articles semblent tous deux raisonnables. Lus côte à côte, ligne par ligne, ils montrent cinq choix que ni l'un ni l'autre n'avoue.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Deux versions, et la mienne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deux comptes rendus d'un même fait en parallèle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relever le mot choisi pour nommer la même chose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comparer ce qui est mis en premier et ce qui est repoussé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ce que les deux disent pareil, et savoir pourquoi ça compte.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titres, un seul vote</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otel-de-vill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Quarante-cinq logements abordables à Rivière-aux-Cèdres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Onze hectares cédés pour un dollar, à 22 h 50 »</a:t>
            </a:r>
          </a:p>
        </p:txBody>
      </p:sp>
      <p:sp>
        <p:nvSpPr>
          <p:cNvPr id="15" name="Rounded Rectangle 14"/>
          <p:cNvSpPr/>
          <p:nvPr/>
        </p:nvSpPr>
        <p:spPr>
          <a:xfrm>
            <a:off x="566928" y="410362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des deux phrases est fausse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chaque titre vous donne envie de penser avant même l'article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choses à regarder, dans cet ordre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Le mot choisi pour nommer la chose</a:t>
            </a:r>
          </a:p>
        </p:txBody>
      </p:sp>
      <p:sp>
        <p:nvSpPr>
          <p:cNvPr id="9" name="TextBox 8"/>
          <p:cNvSpPr txBox="1"/>
          <p:nvPr/>
        </p:nvSpPr>
        <p:spPr>
          <a:xfrm>
            <a:off x="886968"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Un terrain municipal sous-utilisé » et « le boisé Sainte-Perpétue » désignent les mêmes onze hectares. Le lecteur croit avoir lu un fait ; il a lu un cadrage.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Ce qui est mis en premier</a:t>
            </a:r>
          </a:p>
        </p:txBody>
      </p:sp>
      <p:sp>
        <p:nvSpPr>
          <p:cNvPr id="12" name="TextBox 11"/>
          <p:cNvSpPr txBox="1"/>
          <p:nvPr/>
        </p:nvSpPr>
        <p:spPr>
          <a:xfrm>
            <a:off x="6498183"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Un article commence par ce que sa rédaction juge important. Le même vote ouvre sur quarante-cinq logements ou sur quatre voix contre trois à vingt-deux heures cinquante. Les deux sont vrais.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Qui parle, et combien de lignes</a:t>
            </a:r>
          </a:p>
        </p:txBody>
      </p:sp>
      <p:sp>
        <p:nvSpPr>
          <p:cNvPr id="15" name="TextBox 14"/>
          <p:cNvSpPr txBox="1"/>
          <p:nvPr/>
        </p:nvSpPr>
        <p:spPr>
          <a:xfrm>
            <a:off x="886968"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Comptez les lignes données à chaque camp. Un article qui cite le promoteur sur douze lignes et le comité sur deux a fait un choix, même s'il a cité les deux.</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Le chiffre présent et le chiffre absent</a:t>
            </a:r>
          </a:p>
        </p:txBody>
      </p:sp>
      <p:sp>
        <p:nvSpPr>
          <p:cNvPr id="18" name="TextBox 17"/>
          <p:cNvSpPr txBox="1"/>
          <p:nvPr/>
        </p:nvSpPr>
        <p:spPr>
          <a:xfrm>
            <a:off x="6498183"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Nombre d'arbres, coût d'entretien, heure du vote, personnes dans la salle : chacun sert quelqu'un. Ce qui manque d'un côté se trouve presque toujours dans l'autre.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même terrain, la même séance</a:t>
            </a:r>
          </a:p>
        </p:txBody>
      </p:sp>
      <p:sp>
        <p:nvSpPr>
          <p:cNvPr id="7" name="Rounded Rectangle 6"/>
          <p:cNvSpPr/>
          <p:nvPr/>
        </p:nvSpPr>
        <p:spPr>
          <a:xfrm>
            <a:off x="566928" y="1810512"/>
            <a:ext cx="11057839" cy="4091940"/>
          </a:xfrm>
          <a:prstGeom prst="roundRect">
            <a:avLst>
              <a:gd name="adj" fmla="val 357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COURANT DE LA RIVE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VIGIE DE LA RIVE</a:t>
            </a:r>
          </a:p>
        </p:txBody>
      </p:sp>
      <p:sp>
        <p:nvSpPr>
          <p:cNvPr id="10" name="TextBox 9"/>
          <p:cNvSpPr txBox="1"/>
          <p:nvPr/>
        </p:nvSpPr>
        <p:spPr>
          <a:xfrm>
            <a:off x="932688" y="2395728"/>
            <a:ext cx="3291492" cy="53949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 un terrain municipal sous-utilisé »</a:t>
            </a:r>
          </a:p>
        </p:txBody>
      </p:sp>
      <p:sp>
        <p:nvSpPr>
          <p:cNvPr id="11" name="TextBox 10"/>
          <p:cNvSpPr txBox="1"/>
          <p:nvPr/>
        </p:nvSpPr>
        <p:spPr>
          <a:xfrm>
            <a:off x="4443636" y="2395728"/>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 le boisé Sainte-Perpétue »</a:t>
            </a:r>
          </a:p>
        </p:txBody>
      </p:sp>
      <p:sp>
        <p:nvSpPr>
          <p:cNvPr id="12" name="Rectangle 11"/>
          <p:cNvSpPr/>
          <p:nvPr/>
        </p:nvSpPr>
        <p:spPr>
          <a:xfrm>
            <a:off x="932688" y="30083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36392"/>
            <a:ext cx="3291492" cy="53949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ouvre sur les quarante-cinq logements abordables</a:t>
            </a:r>
          </a:p>
        </p:txBody>
      </p:sp>
      <p:sp>
        <p:nvSpPr>
          <p:cNvPr id="14" name="TextBox 13"/>
          <p:cNvSpPr txBox="1"/>
          <p:nvPr/>
        </p:nvSpPr>
        <p:spPr>
          <a:xfrm>
            <a:off x="4443636" y="3136392"/>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ouvre sur quatre voix contre trois, devant onze personnes</a:t>
            </a:r>
          </a:p>
        </p:txBody>
      </p:sp>
      <p:sp>
        <p:nvSpPr>
          <p:cNvPr id="15" name="Rectangle 14"/>
          <p:cNvSpPr/>
          <p:nvPr/>
        </p:nvSpPr>
        <p:spPr>
          <a:xfrm>
            <a:off x="932688" y="374903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877055"/>
            <a:ext cx="3291492" cy="53949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donne le coût d'entretien : onze mille dollars par année</a:t>
            </a:r>
          </a:p>
        </p:txBody>
      </p:sp>
      <p:sp>
        <p:nvSpPr>
          <p:cNvPr id="17" name="TextBox 16"/>
          <p:cNvSpPr txBox="1"/>
          <p:nvPr/>
        </p:nvSpPr>
        <p:spPr>
          <a:xfrm>
            <a:off x="4443636" y="3877055"/>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donne le délai : quatre jours après l'évaluation</a:t>
            </a:r>
          </a:p>
        </p:txBody>
      </p:sp>
      <p:sp>
        <p:nvSpPr>
          <p:cNvPr id="18" name="Rectangle 17"/>
          <p:cNvSpPr/>
          <p:nvPr/>
        </p:nvSpPr>
        <p:spPr>
          <a:xfrm>
            <a:off x="932688" y="4489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617720"/>
            <a:ext cx="3291492"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cite le maire et le promoteur</a:t>
            </a:r>
          </a:p>
        </p:txBody>
      </p:sp>
      <p:sp>
        <p:nvSpPr>
          <p:cNvPr id="20" name="TextBox 19"/>
          <p:cNvSpPr txBox="1"/>
          <p:nvPr/>
        </p:nvSpPr>
        <p:spPr>
          <a:xfrm>
            <a:off x="4443636" y="4617720"/>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cite le comité et l'absence d'étude sur le terrain de l'aréna</a:t>
            </a:r>
          </a:p>
        </p:txBody>
      </p:sp>
      <p:sp>
        <p:nvSpPr>
          <p:cNvPr id="21" name="Rectangle 20"/>
          <p:cNvSpPr/>
          <p:nvPr/>
        </p:nvSpPr>
        <p:spPr>
          <a:xfrm>
            <a:off x="932688" y="4978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06924"/>
            <a:ext cx="3291492" cy="53949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quatre-vingt-dix arbres, replantés à deux pour un</a:t>
            </a:r>
          </a:p>
        </p:txBody>
      </p:sp>
      <p:sp>
        <p:nvSpPr>
          <p:cNvPr id="23" name="TextBox 22"/>
          <p:cNvSpPr txBox="1"/>
          <p:nvPr/>
        </p:nvSpPr>
        <p:spPr>
          <a:xfrm>
            <a:off x="4443636" y="5106924"/>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trois cent quarante-deux arbres dénombrés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CHERCHEZ D'ABORD CE QUE LES DEUX DISENT PAREIL</a:t>
            </a:r>
          </a:p>
        </p:txBody>
      </p:sp>
      <p:sp>
        <p:nvSpPr>
          <p:cNvPr id="6" name="Rounded Rectangle 5"/>
          <p:cNvSpPr/>
          <p:nvPr/>
        </p:nvSpPr>
        <p:spPr>
          <a:xfrm>
            <a:off x="566928" y="1225296"/>
            <a:ext cx="11057839" cy="2525776"/>
          </a:xfrm>
          <a:prstGeom prst="roundRect">
            <a:avLst>
              <a:gd name="adj" fmla="val 5792"/>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702816"/>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Les deux journaux rapportent le même nombre d'unités, cent quatre-vingts, et la même clause de pénalité de deux millions de dollars. C'est ce qu'il y a de plus solide dans tout le dossier.</a:t>
            </a:r>
          </a:p>
        </p:txBody>
      </p:sp>
      <p:sp>
        <p:nvSpPr>
          <p:cNvPr id="8" name="Rounded Rectangle 7"/>
          <p:cNvSpPr/>
          <p:nvPr/>
        </p:nvSpPr>
        <p:spPr>
          <a:xfrm>
            <a:off x="566928" y="402539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9971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deux rédactions qui ne se ressemblent pas écrivent le même chiffre, vous pouvez vous appuyer dessus sans crainte d'être contredit. Une lettre au courrier des lecteurs qui part de ce socle commun est beaucoup plus difficile à attaquer qu'une lettre qui part du chiffre de son propre camp.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quel article, et pourquoi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de quel article vient le passage, et ce qu'il sert à faire.</a:t>
            </a:r>
          </a:p>
        </p:txBody>
      </p:sp>
      <p:sp>
        <p:nvSpPr>
          <p:cNvPr id="8" name="Rounded Rectangle 7"/>
          <p:cNvSpPr/>
          <p:nvPr/>
        </p:nvSpPr>
        <p:spPr>
          <a:xfrm>
            <a:off x="566928" y="213969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a autorisé lundi la cession d'un terrain municipal sous-utilisé »</a:t>
            </a:r>
          </a:p>
        </p:txBody>
      </p:sp>
      <p:sp>
        <p:nvSpPr>
          <p:cNvPr id="12" name="Rounded Rectangle 11"/>
          <p:cNvSpPr/>
          <p:nvPr/>
        </p:nvSpPr>
        <p:spPr>
          <a:xfrm>
            <a:off x="566928" y="3076447"/>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979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6194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23189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dont quatre hectares sont plantés d'érables de plus de soixante ans »</a:t>
            </a:r>
          </a:p>
        </p:txBody>
      </p:sp>
      <p:sp>
        <p:nvSpPr>
          <p:cNvPr id="16" name="Rounded Rectangle 15"/>
          <p:cNvSpPr/>
          <p:nvPr/>
        </p:nvSpPr>
        <p:spPr>
          <a:xfrm>
            <a:off x="566928" y="401319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1022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7423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16864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qui coûtait à la Ville près de onze mille dollars par année »</a:t>
            </a:r>
          </a:p>
        </p:txBody>
      </p:sp>
      <p:sp>
        <p:nvSpPr>
          <p:cNvPr id="20" name="Rounded Rectangle 19"/>
          <p:cNvSpPr/>
          <p:nvPr/>
        </p:nvSpPr>
        <p:spPr>
          <a:xfrm>
            <a:off x="566928" y="4701031"/>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98059"/>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62067"/>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85647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Par quatre voix contre trois, devant onze personnes »</a:t>
            </a:r>
          </a:p>
        </p:txBody>
      </p:sp>
      <p:sp>
        <p:nvSpPr>
          <p:cNvPr id="24" name="Rounded Rectangle 23"/>
          <p:cNvSpPr/>
          <p:nvPr/>
        </p:nvSpPr>
        <p:spPr>
          <a:xfrm>
            <a:off x="566928" y="538886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a été adopté quatre jours après la réception de l'évaluation »</a:t>
            </a:r>
          </a:p>
        </p:txBody>
      </p:sp>
      <p:sp>
        <p:nvSpPr>
          <p:cNvPr id="28" name="Rounded Rectangle 27"/>
          <p:cNvSpPr/>
          <p:nvPr/>
        </p:nvSpPr>
        <p:spPr>
          <a:xfrm>
            <a:off x="566928" y="6076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17372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237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6232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la même clause de pénalité de deux millions de dollars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quel article, et pourquoi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a autorisé lundi la cession d'un terrain municipal sous-utilisé »   </a:t>
            </a:r>
            <a:r>
              <a:rPr sz="1400" b="1" i="0">
                <a:solidFill>
                  <a:srgbClr val="07734A"/>
                </a:solidFill>
                <a:latin typeface="Verdana"/>
              </a:rPr>
              <a:t>» Le Courant - nomme le terrain du côté du projet</a:t>
            </a:r>
          </a:p>
        </p:txBody>
      </p:sp>
      <p:sp>
        <p:nvSpPr>
          <p:cNvPr id="12" name="Rounded Rectangle 11"/>
          <p:cNvSpPr/>
          <p:nvPr/>
        </p:nvSpPr>
        <p:spPr>
          <a:xfrm>
            <a:off x="566928" y="3076447"/>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979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6194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23189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dont quatre hectares sont plantés d'érables de plus de soixante ans »   </a:t>
            </a:r>
            <a:r>
              <a:rPr sz="1400" b="1" i="0">
                <a:solidFill>
                  <a:srgbClr val="07734A"/>
                </a:solidFill>
                <a:latin typeface="Verdana"/>
              </a:rPr>
              <a:t>» La Vigie - nomme le terrain du côté du comité</a:t>
            </a:r>
          </a:p>
        </p:txBody>
      </p:sp>
      <p:sp>
        <p:nvSpPr>
          <p:cNvPr id="16" name="Rounded Rectangle 15"/>
          <p:cNvSpPr/>
          <p:nvPr/>
        </p:nvSpPr>
        <p:spPr>
          <a:xfrm>
            <a:off x="566928" y="401319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1022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7423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16864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qui coûtait à la Ville près de onze mille dollars par année »   </a:t>
            </a:r>
            <a:r>
              <a:rPr sz="1400" b="1" i="0">
                <a:solidFill>
                  <a:srgbClr val="07734A"/>
                </a:solidFill>
                <a:latin typeface="Verdana"/>
              </a:rPr>
              <a:t>» Le Courant - le terrain coûte sans rapporter</a:t>
            </a:r>
          </a:p>
        </p:txBody>
      </p:sp>
      <p:sp>
        <p:nvSpPr>
          <p:cNvPr id="20" name="Rounded Rectangle 19"/>
          <p:cNvSpPr/>
          <p:nvPr/>
        </p:nvSpPr>
        <p:spPr>
          <a:xfrm>
            <a:off x="566928" y="4701031"/>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98059"/>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62067"/>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85647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Par quatre voix contre trois, devant onze personnes »   </a:t>
            </a:r>
            <a:r>
              <a:rPr sz="1400" b="1" i="0">
                <a:solidFill>
                  <a:srgbClr val="07734A"/>
                </a:solidFill>
                <a:latin typeface="Verdana"/>
              </a:rPr>
              <a:t>» La Vigie - les conditions du vote</a:t>
            </a:r>
          </a:p>
        </p:txBody>
      </p:sp>
      <p:sp>
        <p:nvSpPr>
          <p:cNvPr id="24" name="Rounded Rectangle 23"/>
          <p:cNvSpPr/>
          <p:nvPr/>
        </p:nvSpPr>
        <p:spPr>
          <a:xfrm>
            <a:off x="566928" y="538886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a été adopté quatre jours après la réception de l'évaluation »   </a:t>
            </a:r>
            <a:r>
              <a:rPr sz="1400" b="1" i="0">
                <a:solidFill>
                  <a:srgbClr val="07734A"/>
                </a:solidFill>
                <a:latin typeface="Verdana"/>
              </a:rPr>
              <a:t>» La Vigie - met en cause la rapidité</a:t>
            </a:r>
          </a:p>
        </p:txBody>
      </p:sp>
      <p:sp>
        <p:nvSpPr>
          <p:cNvPr id="28" name="Rounded Rectangle 27"/>
          <p:cNvSpPr/>
          <p:nvPr/>
        </p:nvSpPr>
        <p:spPr>
          <a:xfrm>
            <a:off x="566928" y="6076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17372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237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6232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la même clause de pénalité de deux millions de dollars »   </a:t>
            </a:r>
            <a:r>
              <a:rPr sz="1400" b="1" i="0">
                <a:solidFill>
                  <a:srgbClr val="07734A"/>
                </a:solidFill>
                <a:latin typeface="Verdana"/>
              </a:rPr>
              <a:t>» les deux - le socle commun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celui-là est neutre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les deux ont choisi</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article qui emploie des mots administratifs paraît neutre, et il ne l'est pas davantage que l'autre : « un actif sous-utilisé » est un choix, exactement comme « un poumon vert ». Ce qui existe, c'est un vocabulaire vérifiable — « onze hectares, dont quatre boisés » — et il est rare dans les deux.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question qui manque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Après avoir lu les deux, quelle question poseriez-vous à la Ville ?</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les deux comptages d'arbres</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l'évaluation du terrain</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le terrain de l'aréna</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les vingt et un mois de rezonage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question qui manque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les deux comptages d'arbres   </a:t>
            </a:r>
            <a:r>
              <a:rPr sz="1900" b="1" i="0">
                <a:solidFill>
                  <a:srgbClr val="07734A"/>
                </a:solidFill>
                <a:latin typeface="Verdana"/>
              </a:rPr>
              <a:t>» à partir de quel diamètre avez-vous compté ?</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l'évaluation du terrain   </a:t>
            </a:r>
            <a:r>
              <a:rPr sz="1900" b="1" i="0">
                <a:solidFill>
                  <a:srgbClr val="07734A"/>
                </a:solidFill>
                <a:latin typeface="Verdana"/>
              </a:rPr>
              <a:t>» pourquoi n'a-t-elle pas été rendue publique ?</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le terrain de l'aréna   </a:t>
            </a:r>
            <a:r>
              <a:rPr sz="1900" b="1" i="0">
                <a:solidFill>
                  <a:srgbClr val="07734A"/>
                </a:solidFill>
                <a:latin typeface="Verdana"/>
              </a:rPr>
              <a:t>» quelle étude a été faite, et par qui ?</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 les vingt et un mois de rezonage   </a:t>
            </a:r>
            <a:r>
              <a:rPr sz="1900" b="1" i="0">
                <a:solidFill>
                  <a:srgbClr val="07734A"/>
                </a:solidFill>
                <a:latin typeface="Verdana"/>
              </a:rPr>
              <a:t>» sur quoi cette estimation repose-t-elle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Trouvez le socle commun : écrivez les trois choses que les deux articles disent pareil.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chiffre, une date, une clause.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Écrivez-les dans une phrase que les deux rédactions signeraient.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Deux versions, et la mienne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