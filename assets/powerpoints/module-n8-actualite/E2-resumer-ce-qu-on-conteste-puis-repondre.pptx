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Dernière séance. Elle se coupe en deux : la lettre pendant une heure, le bilan du module ensuite, un quart d'heure. Annoncer le découpage au début, sinon le bilan se fait à la sauvette.</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 premier objectif est une intention du programme à lui seul. Le dire : le résumé n'est pas une politesse d'introduction, c'est la moitié de la tâche évaluée.</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La dernière question ouvre la séance : on écrit à la rédaction, sur une question publique, jamais à une personne. Presque tout le monde répond « à l'auteur de l'article », et c'est l'erreur à corriger.</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la règle la plus importante de la séance, et celle qu'on enfreint le plus - la tentation d'un résumé arrangeant est très forte quand on est en désaccord.</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à photographier. C'est le plan de l'exercice 7 du module, où l'élève clique dans la lettre de Mirela pour retrouver chaque fonction. Ici, on nomme la fonction avant d'écrire : c'est le même travail à l'envers.</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Reprend l'exercice de texte du module. Faire remarquer que la concession vient de l'auteure elle-même, sans qu'on la lui demande : c'est ce qui la rend difficile à attaquer.</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Corriger en groupe. Donner la bonne réponse, sans revenir sur qui s'est trompé.</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Mêler les trois registres est ce qui rend une lettre attaquable en une ligne. Faire relire à chacun son brouillon avec trois crayons de couleur : c'est plus efficace que n'importe quelle explication.</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Vingt minutes au brouillon, puis échange des feuilles par deux. Le voisin répond à une seule question : est-ce que l'éditorialiste signerait ce résumé ? Si non, on recommence avant d'aller plus loin.</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Troisième conseil, gratuit et efficace : écrire le soir, envoyer le lendemain matin. La lettre qu'on relit une nuit plus tard est presque toujours la meilleure.</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Diapositive de clôture, à photographier. Refaire dire à voix haute la phrase du défi 3 : « je n'en sais rien, et ce n'est pas mon argument ». C'est celle que le module veut laisser.</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Dépôt dans « Je me lance ». Rappeler que le bouton d'envoi n'apparaît qu'une fois la correction demandée : on ne dépose pas un texte non relu. Terminer par l'autoévaluation du module.</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EDF6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1234440"/>
            <a:ext cx="11057839" cy="274320"/>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SÉANCE E2  ·  MODULE 5</a:t>
            </a:r>
          </a:p>
        </p:txBody>
      </p:sp>
      <p:sp>
        <p:nvSpPr>
          <p:cNvPr id="4" name="TextBox 3"/>
          <p:cNvSpPr txBox="1"/>
          <p:nvPr/>
        </p:nvSpPr>
        <p:spPr>
          <a:xfrm>
            <a:off x="566928" y="1691640"/>
            <a:ext cx="9960559" cy="1874519"/>
          </a:xfrm>
          <a:prstGeom prst="rect">
            <a:avLst/>
          </a:prstGeom>
          <a:noFill/>
        </p:spPr>
        <p:txBody>
          <a:bodyPr wrap="square" lIns="0" rIns="0" tIns="0" bIns="0" anchor="t">
            <a:spAutoFit/>
          </a:bodyPr>
          <a:lstStyle/>
          <a:p>
            <a:pPr algn="l">
              <a:lnSpc>
                <a:spcPct val="105000"/>
              </a:lnSpc>
            </a:pPr>
            <a:r>
              <a:rPr sz="4000" b="1" i="0">
                <a:solidFill>
                  <a:srgbClr val="17181A"/>
                </a:solidFill>
                <a:latin typeface="Verdana"/>
              </a:rPr>
              <a:t>Résumer ce qu'on conteste, puis répondre</a:t>
            </a:r>
          </a:p>
        </p:txBody>
      </p:sp>
      <p:sp>
        <p:nvSpPr>
          <p:cNvPr id="5" name="Rounded Rectangle 4"/>
          <p:cNvSpPr/>
          <p:nvPr/>
        </p:nvSpPr>
        <p:spPr>
          <a:xfrm>
            <a:off x="566928" y="3794760"/>
            <a:ext cx="9960559" cy="1763268"/>
          </a:xfrm>
          <a:prstGeom prst="roundRect">
            <a:avLst>
              <a:gd name="adj" fmla="val 8297"/>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896112" y="4123944"/>
            <a:ext cx="9302191" cy="1150620"/>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Une lettre qui ne résume pas ce qu'elle conteste n'a aucune prise, et un résumé sans réponse n'est pas une lettre. Les deux exigences du programme tiennent dans le même texte.</a:t>
            </a:r>
          </a:p>
        </p:txBody>
      </p:sp>
      <p:sp>
        <p:nvSpPr>
          <p:cNvPr id="7" name="TextBox 6"/>
          <p:cNvSpPr txBox="1"/>
          <p:nvPr/>
        </p:nvSpPr>
        <p:spPr>
          <a:xfrm>
            <a:off x="566928" y="6035040"/>
            <a:ext cx="11057839" cy="274320"/>
          </a:xfrm>
          <a:prstGeom prst="rect">
            <a:avLst/>
          </a:prstGeom>
          <a:noFill/>
        </p:spPr>
        <p:txBody>
          <a:bodyPr wrap="square" lIns="0" rIns="0" tIns="0" bIns="0" anchor="t">
            <a:spAutoFit/>
          </a:bodyPr>
          <a:lstStyle/>
          <a:p>
            <a:pPr algn="l">
              <a:lnSpc>
                <a:spcPct val="135000"/>
              </a:lnSpc>
            </a:pPr>
            <a:r>
              <a:rPr sz="1500" b="0" i="0">
                <a:solidFill>
                  <a:srgbClr val="6E7175"/>
                </a:solidFill>
                <a:latin typeface="Verdana"/>
              </a:rPr>
              <a:t>75 minutes  ·  Deux versions, et la mienne</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2</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OBJECTIFS DE LA SÉANCE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À la fin, je serai capable de…</a:t>
            </a:r>
          </a:p>
        </p:txBody>
      </p:sp>
      <p:sp>
        <p:nvSpPr>
          <p:cNvPr id="7" name="Rounded Rectangle 6"/>
          <p:cNvSpPr/>
          <p:nvPr/>
        </p:nvSpPr>
        <p:spPr>
          <a:xfrm>
            <a:off x="566928" y="1764792"/>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ounded Rectangle 7"/>
          <p:cNvSpPr/>
          <p:nvPr/>
        </p:nvSpPr>
        <p:spPr>
          <a:xfrm>
            <a:off x="804672" y="1942592"/>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804672" y="2024887"/>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0" name="TextBox 9"/>
          <p:cNvSpPr txBox="1"/>
          <p:nvPr/>
        </p:nvSpPr>
        <p:spPr>
          <a:xfrm>
            <a:off x="1408176" y="1965960"/>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résumer un texte d'opinion en trois phrases que son auteur signerait ;</a:t>
            </a:r>
          </a:p>
        </p:txBody>
      </p:sp>
      <p:sp>
        <p:nvSpPr>
          <p:cNvPr id="11" name="Rounded Rectangle 10"/>
          <p:cNvSpPr/>
          <p:nvPr/>
        </p:nvSpPr>
        <p:spPr>
          <a:xfrm>
            <a:off x="566928" y="2650744"/>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Rounded Rectangle 11"/>
          <p:cNvSpPr/>
          <p:nvPr/>
        </p:nvSpPr>
        <p:spPr>
          <a:xfrm>
            <a:off x="804672" y="2828544"/>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804672" y="2910840"/>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4" name="TextBox 13"/>
          <p:cNvSpPr txBox="1"/>
          <p:nvPr/>
        </p:nvSpPr>
        <p:spPr>
          <a:xfrm>
            <a:off x="1408176" y="2851912"/>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rattacher une lettre à un texte daté, dès la première phrase ;</a:t>
            </a:r>
          </a:p>
        </p:txBody>
      </p:sp>
      <p:sp>
        <p:nvSpPr>
          <p:cNvPr id="15" name="Rounded Rectangle 14"/>
          <p:cNvSpPr/>
          <p:nvPr/>
        </p:nvSpPr>
        <p:spPr>
          <a:xfrm>
            <a:off x="566928" y="3536696"/>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Rounded Rectangle 15"/>
          <p:cNvSpPr/>
          <p:nvPr/>
        </p:nvSpPr>
        <p:spPr>
          <a:xfrm>
            <a:off x="804672" y="3714496"/>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804672" y="3796792"/>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8" name="TextBox 17"/>
          <p:cNvSpPr txBox="1"/>
          <p:nvPr/>
        </p:nvSpPr>
        <p:spPr>
          <a:xfrm>
            <a:off x="1408176" y="3737864"/>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concéder ce que sa position coûte, puis y répondre ;</a:t>
            </a:r>
          </a:p>
        </p:txBody>
      </p:sp>
      <p:sp>
        <p:nvSpPr>
          <p:cNvPr id="19" name="Rounded Rectangle 18"/>
          <p:cNvSpPr/>
          <p:nvPr/>
        </p:nvSpPr>
        <p:spPr>
          <a:xfrm>
            <a:off x="566928" y="4422648"/>
            <a:ext cx="11057839" cy="757936"/>
          </a:xfrm>
          <a:prstGeom prst="roundRect">
            <a:avLst>
              <a:gd name="adj" fmla="val 1930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0" name="Rounded Rectangle 19"/>
          <p:cNvSpPr/>
          <p:nvPr/>
        </p:nvSpPr>
        <p:spPr>
          <a:xfrm>
            <a:off x="804672" y="4600448"/>
            <a:ext cx="402336" cy="402336"/>
          </a:xfrm>
          <a:prstGeom prst="roundRect">
            <a:avLst>
              <a:gd name="adj" fmla="val 31818"/>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TextBox 20"/>
          <p:cNvSpPr txBox="1"/>
          <p:nvPr/>
        </p:nvSpPr>
        <p:spPr>
          <a:xfrm>
            <a:off x="804672" y="4682744"/>
            <a:ext cx="402336" cy="274320"/>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2" name="TextBox 21"/>
          <p:cNvSpPr txBox="1"/>
          <p:nvPr/>
        </p:nvSpPr>
        <p:spPr>
          <a:xfrm>
            <a:off x="1408176" y="4623816"/>
            <a:ext cx="9549079" cy="392176"/>
          </a:xfrm>
          <a:prstGeom prst="rect">
            <a:avLst/>
          </a:prstGeom>
          <a:noFill/>
        </p:spPr>
        <p:txBody>
          <a:bodyPr wrap="square" lIns="0" rIns="0" tIns="0" bIns="0" anchor="t">
            <a:spAutoFit/>
          </a:bodyPr>
          <a:lstStyle/>
          <a:p>
            <a:pPr algn="l">
              <a:lnSpc>
                <a:spcPct val="140000"/>
              </a:lnSpc>
            </a:pPr>
            <a:r>
              <a:rPr sz="2000" b="0" i="0">
                <a:solidFill>
                  <a:srgbClr val="3A3D40"/>
                </a:solidFill>
                <a:latin typeface="Verdana"/>
              </a:rPr>
              <a:t>terminer par une demande précise, adressée à quelqu'un qui peut agir.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3</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DISCUSSION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200" b="1" i="0">
                <a:solidFill>
                  <a:srgbClr val="17181A"/>
                </a:solidFill>
                <a:latin typeface="Verdana"/>
              </a:rPr>
              <a:t>Avez-vous déjà eu envie d'écrire à un journal ?</a:t>
            </a:r>
          </a:p>
        </p:txBody>
      </p:sp>
      <p:sp>
        <p:nvSpPr>
          <p:cNvPr id="7" name="Rounded Rectangle 6"/>
          <p:cNvSpPr/>
          <p:nvPr/>
        </p:nvSpPr>
        <p:spPr>
          <a:xfrm>
            <a:off x="566928" y="1856232"/>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Rectangle 7"/>
          <p:cNvSpPr/>
          <p:nvPr/>
        </p:nvSpPr>
        <p:spPr>
          <a:xfrm>
            <a:off x="566928" y="1965960"/>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50976" y="2039112"/>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vous en a empêché : la langue, le temps, l'utilité ?</a:t>
            </a:r>
          </a:p>
        </p:txBody>
      </p:sp>
      <p:sp>
        <p:nvSpPr>
          <p:cNvPr id="10" name="Rounded Rectangle 9"/>
          <p:cNvSpPr/>
          <p:nvPr/>
        </p:nvSpPr>
        <p:spPr>
          <a:xfrm>
            <a:off x="566928" y="2642108"/>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Rectangle 10"/>
          <p:cNvSpPr/>
          <p:nvPr/>
        </p:nvSpPr>
        <p:spPr>
          <a:xfrm>
            <a:off x="566928" y="2751836"/>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2" name="TextBox 11"/>
          <p:cNvSpPr txBox="1"/>
          <p:nvPr/>
        </p:nvSpPr>
        <p:spPr>
          <a:xfrm>
            <a:off x="950976" y="2824988"/>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Lisez-vous le courrier des lecteurs ? Qu'est-ce qui vous y retient ?</a:t>
            </a:r>
          </a:p>
        </p:txBody>
      </p:sp>
      <p:sp>
        <p:nvSpPr>
          <p:cNvPr id="13" name="Rounded Rectangle 12"/>
          <p:cNvSpPr/>
          <p:nvPr/>
        </p:nvSpPr>
        <p:spPr>
          <a:xfrm>
            <a:off x="566928" y="3427984"/>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Rectangle 13"/>
          <p:cNvSpPr/>
          <p:nvPr/>
        </p:nvSpPr>
        <p:spPr>
          <a:xfrm>
            <a:off x="566928" y="3537712"/>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5" name="TextBox 14"/>
          <p:cNvSpPr txBox="1"/>
          <p:nvPr/>
        </p:nvSpPr>
        <p:spPr>
          <a:xfrm>
            <a:off x="950976" y="3610864"/>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Qu'est-ce qui distingue une lettre publiée d'un commentaire en ligne ?</a:t>
            </a:r>
          </a:p>
        </p:txBody>
      </p:sp>
      <p:sp>
        <p:nvSpPr>
          <p:cNvPr id="16" name="Rounded Rectangle 15"/>
          <p:cNvSpPr/>
          <p:nvPr/>
        </p:nvSpPr>
        <p:spPr>
          <a:xfrm>
            <a:off x="566928" y="4213860"/>
            <a:ext cx="11057839" cy="703579"/>
          </a:xfrm>
          <a:prstGeom prst="roundRect">
            <a:avLst>
              <a:gd name="adj" fmla="val 2079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ectangle 16"/>
          <p:cNvSpPr/>
          <p:nvPr/>
        </p:nvSpPr>
        <p:spPr>
          <a:xfrm>
            <a:off x="566928" y="4323588"/>
            <a:ext cx="50292" cy="484123"/>
          </a:xfrm>
          <a:prstGeom prst="rect">
            <a:avLst/>
          </a:prstGeom>
          <a:solidFill>
            <a:srgbClr val="A5335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950976" y="4396740"/>
            <a:ext cx="10372039" cy="374395"/>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À qui écrit-on, au juste, quand on écrit à un journal ?</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4</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RÉSUMER AVANT DE RÉPONDRE</a:t>
            </a:r>
          </a:p>
        </p:txBody>
      </p:sp>
      <p:sp>
        <p:nvSpPr>
          <p:cNvPr id="6" name="Rounded Rectangle 5"/>
          <p:cNvSpPr/>
          <p:nvPr/>
        </p:nvSpPr>
        <p:spPr>
          <a:xfrm>
            <a:off x="566928" y="1225296"/>
            <a:ext cx="11057839" cy="2169413"/>
          </a:xfrm>
          <a:prstGeom prst="roundRect">
            <a:avLst>
              <a:gd name="adj" fmla="val 6743"/>
            </a:avLst>
          </a:prstGeom>
          <a:solidFill>
            <a:srgbClr val="FCE9F0"/>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7" name="TextBox 6"/>
          <p:cNvSpPr txBox="1"/>
          <p:nvPr/>
        </p:nvSpPr>
        <p:spPr>
          <a:xfrm>
            <a:off x="1298448" y="1682496"/>
            <a:ext cx="9594799" cy="1346453"/>
          </a:xfrm>
          <a:prstGeom prst="rect">
            <a:avLst/>
          </a:prstGeom>
          <a:noFill/>
        </p:spPr>
        <p:txBody>
          <a:bodyPr wrap="square" lIns="0" rIns="0" tIns="0" bIns="0" anchor="t">
            <a:spAutoFit/>
          </a:bodyPr>
          <a:lstStyle/>
          <a:p>
            <a:pPr algn="l">
              <a:lnSpc>
                <a:spcPct val="122000"/>
              </a:lnSpc>
            </a:pPr>
            <a:r>
              <a:rPr sz="2700" b="1" i="0">
                <a:solidFill>
                  <a:srgbClr val="17181A"/>
                </a:solidFill>
                <a:latin typeface="Verdana"/>
              </a:rPr>
              <a:t>Trois phrases pour dire ce que l'autre a soutenu, dans ses termes à lui, sans le caricaturer. Le test : l'auteur signerait-il votre résumé ?</a:t>
            </a:r>
          </a:p>
        </p:txBody>
      </p:sp>
      <p:sp>
        <p:nvSpPr>
          <p:cNvPr id="8" name="Rounded Rectangle 7"/>
          <p:cNvSpPr/>
          <p:nvPr/>
        </p:nvSpPr>
        <p:spPr>
          <a:xfrm>
            <a:off x="566928" y="3669029"/>
            <a:ext cx="11057839" cy="2040128"/>
          </a:xfrm>
          <a:prstGeom prst="roundRect">
            <a:avLst>
              <a:gd name="adj" fmla="val 7171"/>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69264" y="3943349"/>
            <a:ext cx="10234879" cy="1582928"/>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Reprenez ses deux meilleurs arguments, pas ses deux plus faibles. Résumer en affaiblissant s'appelle un homme de paille : on démolit une version faible de l'adversaire, le lecteur informé le repère, et toute la suite de la lettre est perdue.</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5</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2900" b="1" i="0">
                <a:solidFill>
                  <a:srgbClr val="17181A"/>
                </a:solidFill>
                <a:latin typeface="Verdana"/>
              </a:rPr>
              <a:t>Les six parties d'une lettre au courrier des lecteurs</a:t>
            </a:r>
          </a:p>
        </p:txBody>
      </p:sp>
      <p:sp>
        <p:nvSpPr>
          <p:cNvPr id="7" name="Rounded Rectangle 6"/>
          <p:cNvSpPr/>
          <p:nvPr/>
        </p:nvSpPr>
        <p:spPr>
          <a:xfrm>
            <a:off x="566928" y="1810512"/>
            <a:ext cx="11057839" cy="3575304"/>
          </a:xfrm>
          <a:prstGeom prst="roundRect">
            <a:avLst>
              <a:gd name="adj" fmla="val 409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LA PARTIE</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QU'ELLE CONTIENT</a:t>
            </a:r>
          </a:p>
        </p:txBody>
      </p:sp>
      <p:sp>
        <p:nvSpPr>
          <p:cNvPr id="10" name="TextBox 9"/>
          <p:cNvSpPr txBox="1"/>
          <p:nvPr/>
        </p:nvSpPr>
        <p:spPr>
          <a:xfrm>
            <a:off x="932688" y="2395728"/>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Le rattachement</a:t>
            </a:r>
          </a:p>
        </p:txBody>
      </p:sp>
      <p:sp>
        <p:nvSpPr>
          <p:cNvPr id="11" name="TextBox 10"/>
          <p:cNvSpPr txBox="1"/>
          <p:nvPr/>
        </p:nvSpPr>
        <p:spPr>
          <a:xfrm>
            <a:off x="4443636" y="2395728"/>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le titre du texte, sa date, son auteur - première phrase, toujours</a:t>
            </a:r>
          </a:p>
        </p:txBody>
      </p:sp>
      <p:sp>
        <p:nvSpPr>
          <p:cNvPr id="12" name="Rectangle 11"/>
          <p:cNvSpPr/>
          <p:nvPr/>
        </p:nvSpPr>
        <p:spPr>
          <a:xfrm>
            <a:off x="932688" y="275691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2884932"/>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Le résumé</a:t>
            </a:r>
          </a:p>
        </p:txBody>
      </p:sp>
      <p:sp>
        <p:nvSpPr>
          <p:cNvPr id="14" name="TextBox 13"/>
          <p:cNvSpPr txBox="1"/>
          <p:nvPr/>
        </p:nvSpPr>
        <p:spPr>
          <a:xfrm>
            <a:off x="4443636" y="2884932"/>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la thèse adverse et ses deux meilleurs arguments, en trois phrases</a:t>
            </a:r>
          </a:p>
        </p:txBody>
      </p:sp>
      <p:sp>
        <p:nvSpPr>
          <p:cNvPr id="15" name="Rectangle 14"/>
          <p:cNvSpPr/>
          <p:nvPr/>
        </p:nvSpPr>
        <p:spPr>
          <a:xfrm>
            <a:off x="932688" y="3246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374136"/>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La position</a:t>
            </a:r>
          </a:p>
        </p:txBody>
      </p:sp>
      <p:sp>
        <p:nvSpPr>
          <p:cNvPr id="17" name="TextBox 16"/>
          <p:cNvSpPr txBox="1"/>
          <p:nvPr/>
        </p:nvSpPr>
        <p:spPr>
          <a:xfrm>
            <a:off x="4443636" y="3374136"/>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une phrase, la vôtre, même si elle surprend</a:t>
            </a:r>
          </a:p>
        </p:txBody>
      </p:sp>
      <p:sp>
        <p:nvSpPr>
          <p:cNvPr id="18" name="Rectangle 17"/>
          <p:cNvSpPr/>
          <p:nvPr/>
        </p:nvSpPr>
        <p:spPr>
          <a:xfrm>
            <a:off x="932688" y="3735324"/>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3863339"/>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Les arguments</a:t>
            </a:r>
          </a:p>
        </p:txBody>
      </p:sp>
      <p:sp>
        <p:nvSpPr>
          <p:cNvPr id="20" name="TextBox 19"/>
          <p:cNvSpPr txBox="1"/>
          <p:nvPr/>
        </p:nvSpPr>
        <p:spPr>
          <a:xfrm>
            <a:off x="4443636" y="3863339"/>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deux, dont un chiffré et un tiré de votre expérience</a:t>
            </a:r>
          </a:p>
        </p:txBody>
      </p:sp>
      <p:sp>
        <p:nvSpPr>
          <p:cNvPr id="21" name="Rectangle 20"/>
          <p:cNvSpPr/>
          <p:nvPr/>
        </p:nvSpPr>
        <p:spPr>
          <a:xfrm>
            <a:off x="932688" y="422452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4352544"/>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La concession et la réfutation</a:t>
            </a:r>
          </a:p>
        </p:txBody>
      </p:sp>
      <p:sp>
        <p:nvSpPr>
          <p:cNvPr id="23" name="TextBox 22"/>
          <p:cNvSpPr txBox="1"/>
          <p:nvPr/>
        </p:nvSpPr>
        <p:spPr>
          <a:xfrm>
            <a:off x="4443636" y="4352544"/>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ce que votre position coûte, et pourquoi elle tient quand même</a:t>
            </a:r>
          </a:p>
        </p:txBody>
      </p:sp>
      <p:sp>
        <p:nvSpPr>
          <p:cNvPr id="24" name="Rectangle 23"/>
          <p:cNvSpPr/>
          <p:nvPr/>
        </p:nvSpPr>
        <p:spPr>
          <a:xfrm>
            <a:off x="932688" y="4713732"/>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TextBox 24"/>
          <p:cNvSpPr txBox="1"/>
          <p:nvPr/>
        </p:nvSpPr>
        <p:spPr>
          <a:xfrm>
            <a:off x="932688" y="4841748"/>
            <a:ext cx="3291492" cy="288036"/>
          </a:xfrm>
          <a:prstGeom prst="rect">
            <a:avLst/>
          </a:prstGeom>
          <a:noFill/>
        </p:spPr>
        <p:txBody>
          <a:bodyPr wrap="square" lIns="0" rIns="0" tIns="0" bIns="0" anchor="t">
            <a:spAutoFit/>
          </a:bodyPr>
          <a:lstStyle/>
          <a:p>
            <a:pPr algn="l">
              <a:lnSpc>
                <a:spcPct val="132000"/>
              </a:lnSpc>
            </a:pPr>
            <a:r>
              <a:rPr sz="1500" b="1" i="0">
                <a:solidFill>
                  <a:srgbClr val="A5335F"/>
                </a:solidFill>
                <a:latin typeface="Verdana"/>
              </a:rPr>
              <a:t>La demande et la signature</a:t>
            </a:r>
          </a:p>
        </p:txBody>
      </p:sp>
      <p:sp>
        <p:nvSpPr>
          <p:cNvPr id="26" name="TextBox 25"/>
          <p:cNvSpPr txBox="1"/>
          <p:nvPr/>
        </p:nvSpPr>
        <p:spPr>
          <a:xfrm>
            <a:off x="4443636" y="4841748"/>
            <a:ext cx="6595914" cy="288036"/>
          </a:xfrm>
          <a:prstGeom prst="rect">
            <a:avLst/>
          </a:prstGeom>
          <a:noFill/>
        </p:spPr>
        <p:txBody>
          <a:bodyPr wrap="square" lIns="0" rIns="0" tIns="0" bIns="0" anchor="t">
            <a:spAutoFit/>
          </a:bodyPr>
          <a:lstStyle/>
          <a:p>
            <a:pPr algn="l">
              <a:lnSpc>
                <a:spcPct val="132000"/>
              </a:lnSpc>
            </a:pPr>
            <a:r>
              <a:rPr sz="1500" b="0" i="0">
                <a:solidFill>
                  <a:srgbClr val="3A3D40"/>
                </a:solidFill>
                <a:latin typeface="Verdana"/>
              </a:rPr>
              <a:t>deux demandes au plus, avec une date - nom et ville</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6</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1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fonction remplit ce passage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Lisez le passage et nommez la partie.</a:t>
            </a:r>
          </a:p>
        </p:txBody>
      </p:sp>
      <p:sp>
        <p:nvSpPr>
          <p:cNvPr id="8" name="Rounded Rectangle 7"/>
          <p:cNvSpPr/>
          <p:nvPr/>
        </p:nvSpPr>
        <p:spPr>
          <a:xfrm>
            <a:off x="566928" y="213969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réaction à l'éditorial « Un terrain qui ne rapportait rien », paru le 14 octobre.</a:t>
            </a:r>
          </a:p>
        </p:txBody>
      </p:sp>
      <p:sp>
        <p:nvSpPr>
          <p:cNvPr id="12" name="Rounded Rectangle 11"/>
          <p:cNvSpPr/>
          <p:nvPr/>
        </p:nvSpPr>
        <p:spPr>
          <a:xfrm>
            <a:off x="566928" y="2827528"/>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éditorialiste soutient que la cession était nécessaire et urgente.</a:t>
            </a:r>
          </a:p>
        </p:txBody>
      </p:sp>
      <p:sp>
        <p:nvSpPr>
          <p:cNvPr id="16" name="Rounded Rectangle 15"/>
          <p:cNvSpPr/>
          <p:nvPr/>
        </p:nvSpPr>
        <p:spPr>
          <a:xfrm>
            <a:off x="566928" y="3515359"/>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partage sa conclusion et je signerai malgré tout le registre.</a:t>
            </a:r>
          </a:p>
        </p:txBody>
      </p:sp>
      <p:sp>
        <p:nvSpPr>
          <p:cNvPr id="20" name="Rounded Rectangle 19"/>
          <p:cNvSpPr/>
          <p:nvPr/>
        </p:nvSpPr>
        <p:spPr>
          <a:xfrm>
            <a:off x="566928" y="4203192"/>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de mes collègues ont quitté la ville faute de logement.</a:t>
            </a:r>
          </a:p>
        </p:txBody>
      </p:sp>
      <p:sp>
        <p:nvSpPr>
          <p:cNvPr id="24" name="Rounded Rectangle 23"/>
          <p:cNvSpPr/>
          <p:nvPr/>
        </p:nvSpPr>
        <p:spPr>
          <a:xfrm>
            <a:off x="566928" y="4891023"/>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vrai qu'un report mettrait le financement en péril.</a:t>
            </a:r>
          </a:p>
        </p:txBody>
      </p:sp>
      <p:sp>
        <p:nvSpPr>
          <p:cNvPr id="28" name="Rounded Rectangle 27"/>
          <p:cNvSpPr/>
          <p:nvPr/>
        </p:nvSpPr>
        <p:spPr>
          <a:xfrm>
            <a:off x="566928" y="5578856"/>
            <a:ext cx="11057839" cy="559816"/>
          </a:xfrm>
          <a:prstGeom prst="roundRect">
            <a:avLst>
              <a:gd name="adj" fmla="val 26134"/>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demande à la Ville de publier l'évaluation avant l'ouverture du registre.</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7</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CORRECTION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Quelle fonction remplit ce passage ?</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Correction — on lit la réponse, on ne commente pas l'erreur.</a:t>
            </a:r>
          </a:p>
        </p:txBody>
      </p:sp>
      <p:sp>
        <p:nvSpPr>
          <p:cNvPr id="8" name="Rounded Rectangle 7"/>
          <p:cNvSpPr/>
          <p:nvPr/>
        </p:nvSpPr>
        <p:spPr>
          <a:xfrm>
            <a:off x="566928" y="213969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3672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0073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En réaction à l'éditorial « Un terrain qui ne rapportait rien », paru le 14 octobre.   </a:t>
            </a:r>
            <a:r>
              <a:rPr sz="1400" b="1" i="0">
                <a:solidFill>
                  <a:srgbClr val="07734A"/>
                </a:solidFill>
                <a:latin typeface="Verdana"/>
              </a:rPr>
              <a:t>» le rattachement, daté</a:t>
            </a:r>
          </a:p>
        </p:txBody>
      </p:sp>
      <p:sp>
        <p:nvSpPr>
          <p:cNvPr id="12" name="Rounded Rectangle 11"/>
          <p:cNvSpPr/>
          <p:nvPr/>
        </p:nvSpPr>
        <p:spPr>
          <a:xfrm>
            <a:off x="566928" y="2827528"/>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2924556"/>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2988564"/>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2982975"/>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Votre éditorialiste soutient que la cession était nécessaire et urgente.   </a:t>
            </a:r>
            <a:r>
              <a:rPr sz="1400" b="1" i="0">
                <a:solidFill>
                  <a:srgbClr val="07734A"/>
                </a:solidFill>
                <a:latin typeface="Verdana"/>
              </a:rPr>
              <a:t>» le résumé de la thèse adverse</a:t>
            </a:r>
          </a:p>
        </p:txBody>
      </p:sp>
      <p:sp>
        <p:nvSpPr>
          <p:cNvPr id="16" name="Rounded Rectangle 15"/>
          <p:cNvSpPr/>
          <p:nvPr/>
        </p:nvSpPr>
        <p:spPr>
          <a:xfrm>
            <a:off x="566928" y="3515359"/>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61238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676395"/>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670807"/>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partage sa conclusion et je signerai malgré tout le registre.   </a:t>
            </a:r>
            <a:r>
              <a:rPr sz="1400" b="1" i="0">
                <a:solidFill>
                  <a:srgbClr val="07734A"/>
                </a:solidFill>
                <a:latin typeface="Verdana"/>
              </a:rPr>
              <a:t>» la position, en une phrase</a:t>
            </a:r>
          </a:p>
        </p:txBody>
      </p:sp>
      <p:sp>
        <p:nvSpPr>
          <p:cNvPr id="20" name="Rounded Rectangle 19"/>
          <p:cNvSpPr/>
          <p:nvPr/>
        </p:nvSpPr>
        <p:spPr>
          <a:xfrm>
            <a:off x="566928" y="4203192"/>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30022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36422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358640"/>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Trois de mes collègues ont quitté la ville faute de logement.   </a:t>
            </a:r>
            <a:r>
              <a:rPr sz="1400" b="1" i="0">
                <a:solidFill>
                  <a:srgbClr val="07734A"/>
                </a:solidFill>
                <a:latin typeface="Verdana"/>
              </a:rPr>
              <a:t>» l'argument vécu</a:t>
            </a:r>
          </a:p>
        </p:txBody>
      </p:sp>
      <p:sp>
        <p:nvSpPr>
          <p:cNvPr id="24" name="Rounded Rectangle 23"/>
          <p:cNvSpPr/>
          <p:nvPr/>
        </p:nvSpPr>
        <p:spPr>
          <a:xfrm>
            <a:off x="566928" y="4891023"/>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5" name="Rounded Rectangle 24"/>
          <p:cNvSpPr/>
          <p:nvPr/>
        </p:nvSpPr>
        <p:spPr>
          <a:xfrm>
            <a:off x="841247" y="4988051"/>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6" name="TextBox 25"/>
          <p:cNvSpPr txBox="1"/>
          <p:nvPr/>
        </p:nvSpPr>
        <p:spPr>
          <a:xfrm>
            <a:off x="841247" y="5052059"/>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5</a:t>
            </a:r>
          </a:p>
        </p:txBody>
      </p:sp>
      <p:sp>
        <p:nvSpPr>
          <p:cNvPr id="27" name="TextBox 26"/>
          <p:cNvSpPr txBox="1"/>
          <p:nvPr/>
        </p:nvSpPr>
        <p:spPr>
          <a:xfrm>
            <a:off x="1344168" y="5046471"/>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Il est vrai qu'un report mettrait le financement en péril.   </a:t>
            </a:r>
            <a:r>
              <a:rPr sz="1400" b="1" i="0">
                <a:solidFill>
                  <a:srgbClr val="07734A"/>
                </a:solidFill>
                <a:latin typeface="Verdana"/>
              </a:rPr>
              <a:t>» la concession</a:t>
            </a:r>
          </a:p>
        </p:txBody>
      </p:sp>
      <p:sp>
        <p:nvSpPr>
          <p:cNvPr id="28" name="Rounded Rectangle 27"/>
          <p:cNvSpPr/>
          <p:nvPr/>
        </p:nvSpPr>
        <p:spPr>
          <a:xfrm>
            <a:off x="566928" y="5578856"/>
            <a:ext cx="11057839" cy="559816"/>
          </a:xfrm>
          <a:prstGeom prst="roundRect">
            <a:avLst>
              <a:gd name="adj" fmla="val 26134"/>
            </a:avLst>
          </a:prstGeom>
          <a:solidFill>
            <a:srgbClr val="E6F5EE"/>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9" name="Rounded Rectangle 28"/>
          <p:cNvSpPr/>
          <p:nvPr/>
        </p:nvSpPr>
        <p:spPr>
          <a:xfrm>
            <a:off x="841247" y="567588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0" name="TextBox 29"/>
          <p:cNvSpPr txBox="1"/>
          <p:nvPr/>
        </p:nvSpPr>
        <p:spPr>
          <a:xfrm>
            <a:off x="841247" y="573989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6</a:t>
            </a:r>
          </a:p>
        </p:txBody>
      </p:sp>
      <p:sp>
        <p:nvSpPr>
          <p:cNvPr id="31" name="TextBox 30"/>
          <p:cNvSpPr txBox="1"/>
          <p:nvPr/>
        </p:nvSpPr>
        <p:spPr>
          <a:xfrm>
            <a:off x="1344168" y="5734304"/>
            <a:ext cx="10097719" cy="285496"/>
          </a:xfrm>
          <a:prstGeom prst="rect">
            <a:avLst/>
          </a:prstGeom>
          <a:noFill/>
        </p:spPr>
        <p:txBody>
          <a:bodyPr wrap="square" lIns="0" rIns="0" tIns="0" bIns="0" anchor="t">
            <a:spAutoFit/>
          </a:bodyPr>
          <a:lstStyle/>
          <a:p>
            <a:pPr algn="l">
              <a:lnSpc>
                <a:spcPct val="140000"/>
              </a:lnSpc>
            </a:pPr>
            <a:r>
              <a:rPr sz="1400" b="0" i="0">
                <a:solidFill>
                  <a:srgbClr val="3A3D40"/>
                </a:solidFill>
                <a:latin typeface="Verdana"/>
              </a:rPr>
              <a:t>Je demande à la Ville de publier l'évaluation avant l'ouverture du registre.   </a:t>
            </a:r>
            <a:r>
              <a:rPr sz="1400" b="1" i="0">
                <a:solidFill>
                  <a:srgbClr val="07734A"/>
                </a:solidFill>
                <a:latin typeface="Verdana"/>
              </a:rPr>
              <a:t>» la demande précise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8</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ANALYSE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300" b="1" i="0">
                <a:solidFill>
                  <a:srgbClr val="17181A"/>
                </a:solidFill>
                <a:latin typeface="Verdana"/>
              </a:rPr>
              <a:t>Trois registres, et pourquoi il faut les séparer</a:t>
            </a:r>
          </a:p>
        </p:txBody>
      </p:sp>
      <p:sp>
        <p:nvSpPr>
          <p:cNvPr id="7" name="Rounded Rectangle 6"/>
          <p:cNvSpPr/>
          <p:nvPr/>
        </p:nvSpPr>
        <p:spPr>
          <a:xfrm>
            <a:off x="566928"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886968"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Ce que je sais</a:t>
            </a:r>
          </a:p>
        </p:txBody>
      </p:sp>
      <p:sp>
        <p:nvSpPr>
          <p:cNvPr id="9" name="TextBox 8"/>
          <p:cNvSpPr txBox="1"/>
          <p:nvPr/>
        </p:nvSpPr>
        <p:spPr>
          <a:xfrm>
            <a:off x="886968"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Un fait vérifiable, avec sa source : le procès-verbal indique quatre voix contre trois. On peut vous le contester ; on ne peut pas vous le reprocher.</a:t>
            </a:r>
          </a:p>
        </p:txBody>
      </p:sp>
      <p:sp>
        <p:nvSpPr>
          <p:cNvPr id="10" name="Rounded Rectangle 9"/>
          <p:cNvSpPr/>
          <p:nvPr/>
        </p:nvSpPr>
        <p:spPr>
          <a:xfrm>
            <a:off x="6178143" y="181051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498183" y="2084831"/>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Ce qu'on m'a rapporté</a:t>
            </a:r>
          </a:p>
        </p:txBody>
      </p:sp>
      <p:sp>
        <p:nvSpPr>
          <p:cNvPr id="12" name="TextBox 11"/>
          <p:cNvSpPr txBox="1"/>
          <p:nvPr/>
        </p:nvSpPr>
        <p:spPr>
          <a:xfrm>
            <a:off x="6498183" y="249936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Dites-le comme tel : selon le comité, trois cent quarante-deux arbres ont été comptés. Vous n'en répondez pas, et cela se voit.</a:t>
            </a:r>
          </a:p>
        </p:txBody>
      </p:sp>
      <p:sp>
        <p:nvSpPr>
          <p:cNvPr id="13" name="Rounded Rectangle 12"/>
          <p:cNvSpPr/>
          <p:nvPr/>
        </p:nvSpPr>
        <p:spPr>
          <a:xfrm>
            <a:off x="566928"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86968"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Ce que j'en pense</a:t>
            </a:r>
          </a:p>
        </p:txBody>
      </p:sp>
      <p:sp>
        <p:nvSpPr>
          <p:cNvPr id="15" name="TextBox 14"/>
          <p:cNvSpPr txBox="1"/>
          <p:nvPr/>
        </p:nvSpPr>
        <p:spPr>
          <a:xfrm>
            <a:off x="886968"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Votre opinion, annoncée comme telle : à mon avis, une décision prise devant onze personnes ne tiendra pas. Personne ne peut réfuter une opinion signée.</a:t>
            </a:r>
          </a:p>
        </p:txBody>
      </p:sp>
      <p:sp>
        <p:nvSpPr>
          <p:cNvPr id="16" name="Rounded Rectangle 15"/>
          <p:cNvSpPr/>
          <p:nvPr/>
        </p:nvSpPr>
        <p:spPr>
          <a:xfrm>
            <a:off x="6178143" y="4027932"/>
            <a:ext cx="5446623" cy="2052828"/>
          </a:xfrm>
          <a:prstGeom prst="roundRect">
            <a:avLst>
              <a:gd name="adj" fmla="val 7126"/>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TextBox 16"/>
          <p:cNvSpPr txBox="1"/>
          <p:nvPr/>
        </p:nvSpPr>
        <p:spPr>
          <a:xfrm>
            <a:off x="6498183" y="4302252"/>
            <a:ext cx="4806543" cy="387096"/>
          </a:xfrm>
          <a:prstGeom prst="rect">
            <a:avLst/>
          </a:prstGeom>
          <a:noFill/>
        </p:spPr>
        <p:txBody>
          <a:bodyPr wrap="square" lIns="0" rIns="0" tIns="0" bIns="0" anchor="t">
            <a:spAutoFit/>
          </a:bodyPr>
          <a:lstStyle/>
          <a:p>
            <a:pPr algn="l">
              <a:lnSpc>
                <a:spcPct val="118000"/>
              </a:lnSpc>
            </a:pPr>
            <a:r>
              <a:rPr sz="2400" b="1" i="0">
                <a:solidFill>
                  <a:srgbClr val="A5335F"/>
                </a:solidFill>
                <a:latin typeface="Verdana"/>
              </a:rPr>
              <a:t>Et la rumeur : nulle part</a:t>
            </a:r>
          </a:p>
        </p:txBody>
      </p:sp>
      <p:sp>
        <p:nvSpPr>
          <p:cNvPr id="18" name="TextBox 17"/>
          <p:cNvSpPr txBox="1"/>
          <p:nvPr/>
        </p:nvSpPr>
        <p:spPr>
          <a:xfrm>
            <a:off x="6498183" y="4716780"/>
            <a:ext cx="4806543" cy="1089660"/>
          </a:xfrm>
          <a:prstGeom prst="rect">
            <a:avLst/>
          </a:prstGeom>
          <a:noFill/>
        </p:spPr>
        <p:txBody>
          <a:bodyPr wrap="square" lIns="0" rIns="0" tIns="0" bIns="0" anchor="t">
            <a:spAutoFit/>
          </a:bodyPr>
          <a:lstStyle/>
          <a:p>
            <a:pPr algn="l">
              <a:lnSpc>
                <a:spcPct val="142000"/>
              </a:lnSpc>
            </a:pPr>
            <a:r>
              <a:rPr sz="1500" b="0" i="0">
                <a:solidFill>
                  <a:srgbClr val="3A3D40"/>
                </a:solidFill>
                <a:latin typeface="Verdana"/>
              </a:rPr>
              <a:t>Ne la reprenez pas, même pour la nuancer. Une seule rumeur dans une lettre rend tout le reste suspect, et la rédaction ne publie pas.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9</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PRATIQUE 2 DE 2</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Écrivez votre premier paragraphe</a:t>
            </a:r>
          </a:p>
        </p:txBody>
      </p:sp>
      <p:sp>
        <p:nvSpPr>
          <p:cNvPr id="7" name="TextBox 6"/>
          <p:cNvSpPr txBox="1"/>
          <p:nvPr/>
        </p:nvSpPr>
        <p:spPr>
          <a:xfrm>
            <a:off x="566928" y="1645920"/>
            <a:ext cx="11057839" cy="329184"/>
          </a:xfrm>
          <a:prstGeom prst="rect">
            <a:avLst/>
          </a:prstGeom>
          <a:noFill/>
        </p:spPr>
        <p:txBody>
          <a:bodyPr wrap="square" lIns="0" rIns="0" tIns="0" bIns="0" anchor="t">
            <a:spAutoFit/>
          </a:bodyPr>
          <a:lstStyle/>
          <a:p>
            <a:pPr algn="l">
              <a:lnSpc>
                <a:spcPct val="135000"/>
              </a:lnSpc>
            </a:pPr>
            <a:r>
              <a:rPr sz="1800" b="0" i="0">
                <a:solidFill>
                  <a:srgbClr val="6E7175"/>
                </a:solidFill>
                <a:latin typeface="Verdana"/>
              </a:rPr>
              <a:t>Le rattachement, puis le résumé en trois phrases.</a:t>
            </a:r>
          </a:p>
        </p:txBody>
      </p:sp>
      <p:sp>
        <p:nvSpPr>
          <p:cNvPr id="8" name="Rounded Rectangle 7"/>
          <p:cNvSpPr/>
          <p:nvPr/>
        </p:nvSpPr>
        <p:spPr>
          <a:xfrm>
            <a:off x="566928" y="2139696"/>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Rounded Rectangle 8"/>
          <p:cNvSpPr/>
          <p:nvPr/>
        </p:nvSpPr>
        <p:spPr>
          <a:xfrm>
            <a:off x="841247" y="2281174"/>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0" name="TextBox 9"/>
          <p:cNvSpPr txBox="1"/>
          <p:nvPr/>
        </p:nvSpPr>
        <p:spPr>
          <a:xfrm>
            <a:off x="841247" y="2345182"/>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1</a:t>
            </a:r>
          </a:p>
        </p:txBody>
      </p:sp>
      <p:sp>
        <p:nvSpPr>
          <p:cNvPr id="11" name="TextBox 10"/>
          <p:cNvSpPr txBox="1"/>
          <p:nvPr/>
        </p:nvSpPr>
        <p:spPr>
          <a:xfrm>
            <a:off x="1344168" y="2295144"/>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Phrase 1</a:t>
            </a:r>
          </a:p>
        </p:txBody>
      </p:sp>
      <p:sp>
        <p:nvSpPr>
          <p:cNvPr id="12" name="Rounded Rectangle 11"/>
          <p:cNvSpPr/>
          <p:nvPr/>
        </p:nvSpPr>
        <p:spPr>
          <a:xfrm>
            <a:off x="566928" y="2916428"/>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Rounded Rectangle 12"/>
          <p:cNvSpPr/>
          <p:nvPr/>
        </p:nvSpPr>
        <p:spPr>
          <a:xfrm>
            <a:off x="841247" y="3057905"/>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841247" y="3121913"/>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2</a:t>
            </a:r>
          </a:p>
        </p:txBody>
      </p:sp>
      <p:sp>
        <p:nvSpPr>
          <p:cNvPr id="15" name="TextBox 14"/>
          <p:cNvSpPr txBox="1"/>
          <p:nvPr/>
        </p:nvSpPr>
        <p:spPr>
          <a:xfrm>
            <a:off x="1344168" y="3071876"/>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Phrase 2</a:t>
            </a:r>
          </a:p>
        </p:txBody>
      </p:sp>
      <p:sp>
        <p:nvSpPr>
          <p:cNvPr id="16" name="Rounded Rectangle 15"/>
          <p:cNvSpPr/>
          <p:nvPr/>
        </p:nvSpPr>
        <p:spPr>
          <a:xfrm>
            <a:off x="566928" y="3693160"/>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7" name="Rounded Rectangle 16"/>
          <p:cNvSpPr/>
          <p:nvPr/>
        </p:nvSpPr>
        <p:spPr>
          <a:xfrm>
            <a:off x="841247" y="3834638"/>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8" name="TextBox 17"/>
          <p:cNvSpPr txBox="1"/>
          <p:nvPr/>
        </p:nvSpPr>
        <p:spPr>
          <a:xfrm>
            <a:off x="841247" y="3898646"/>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3</a:t>
            </a:r>
          </a:p>
        </p:txBody>
      </p:sp>
      <p:sp>
        <p:nvSpPr>
          <p:cNvPr id="19" name="TextBox 18"/>
          <p:cNvSpPr txBox="1"/>
          <p:nvPr/>
        </p:nvSpPr>
        <p:spPr>
          <a:xfrm>
            <a:off x="1344168" y="3848608"/>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Phrase 3</a:t>
            </a:r>
          </a:p>
        </p:txBody>
      </p:sp>
      <p:sp>
        <p:nvSpPr>
          <p:cNvPr id="20" name="Rounded Rectangle 19"/>
          <p:cNvSpPr/>
          <p:nvPr/>
        </p:nvSpPr>
        <p:spPr>
          <a:xfrm>
            <a:off x="566928" y="4469892"/>
            <a:ext cx="11057839" cy="648716"/>
          </a:xfrm>
          <a:prstGeom prst="roundRect">
            <a:avLst>
              <a:gd name="adj" fmla="val 22552"/>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1" name="Rounded Rectangle 20"/>
          <p:cNvSpPr/>
          <p:nvPr/>
        </p:nvSpPr>
        <p:spPr>
          <a:xfrm>
            <a:off x="841247" y="4611370"/>
            <a:ext cx="365760" cy="365760"/>
          </a:xfrm>
          <a:prstGeom prst="roundRect">
            <a:avLst>
              <a:gd name="adj" fmla="val 32500"/>
            </a:avLst>
          </a:prstGeom>
          <a:solidFill>
            <a:srgbClr val="FCE9F0"/>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841247" y="4675378"/>
            <a:ext cx="365760" cy="256032"/>
          </a:xfrm>
          <a:prstGeom prst="rect">
            <a:avLst/>
          </a:prstGeom>
          <a:noFill/>
        </p:spPr>
        <p:txBody>
          <a:bodyPr wrap="square" lIns="0" rIns="0" tIns="0" bIns="0" anchor="t">
            <a:spAutoFit/>
          </a:bodyPr>
          <a:lstStyle/>
          <a:p>
            <a:pPr algn="ctr">
              <a:lnSpc>
                <a:spcPct val="135000"/>
              </a:lnSpc>
            </a:pPr>
            <a:r>
              <a:rPr sz="1500" b="1" i="0">
                <a:solidFill>
                  <a:srgbClr val="A5335F"/>
                </a:solidFill>
                <a:latin typeface="Verdana"/>
              </a:rPr>
              <a:t>4</a:t>
            </a:r>
          </a:p>
        </p:txBody>
      </p:sp>
      <p:sp>
        <p:nvSpPr>
          <p:cNvPr id="23" name="TextBox 22"/>
          <p:cNvSpPr txBox="1"/>
          <p:nvPr/>
        </p:nvSpPr>
        <p:spPr>
          <a:xfrm>
            <a:off x="1344168" y="4625340"/>
            <a:ext cx="10097719" cy="374396"/>
          </a:xfrm>
          <a:prstGeom prst="rect">
            <a:avLst/>
          </a:prstGeom>
          <a:noFill/>
        </p:spPr>
        <p:txBody>
          <a:bodyPr wrap="square" lIns="0" rIns="0" tIns="0" bIns="0" anchor="t">
            <a:spAutoFit/>
          </a:bodyPr>
          <a:lstStyle/>
          <a:p>
            <a:pPr algn="l">
              <a:lnSpc>
                <a:spcPct val="140000"/>
              </a:lnSpc>
            </a:pPr>
            <a:r>
              <a:rPr sz="1900" b="0" i="0">
                <a:solidFill>
                  <a:srgbClr val="3A3D40"/>
                </a:solidFill>
                <a:latin typeface="Verdana"/>
              </a:rPr>
              <a:t>Phrase 4</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10</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PIÈGE</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Le piège le plus fréquent</a:t>
            </a:r>
          </a:p>
        </p:txBody>
      </p:sp>
      <p:sp>
        <p:nvSpPr>
          <p:cNvPr id="7" name="Rounded Rectangle 6"/>
          <p:cNvSpPr/>
          <p:nvPr/>
        </p:nvSpPr>
        <p:spPr>
          <a:xfrm>
            <a:off x="566928" y="1856232"/>
            <a:ext cx="5428335" cy="2331720"/>
          </a:xfrm>
          <a:prstGeom prst="roundRect">
            <a:avLst>
              <a:gd name="adj" fmla="val 6274"/>
            </a:avLst>
          </a:prstGeom>
          <a:solidFill>
            <a:srgbClr val="FFF6F5"/>
          </a:solidFill>
          <a:ln w="12700">
            <a:solidFill>
              <a:srgbClr val="DC2626"/>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B91C1C"/>
                </a:solidFill>
                <a:latin typeface="Verdana"/>
              </a:rPr>
              <a:t>ON ENTEND SOUVENT</a:t>
            </a:r>
          </a:p>
        </p:txBody>
      </p:sp>
      <p:sp>
        <p:nvSpPr>
          <p:cNvPr id="9" name="TextBox 8"/>
          <p:cNvSpPr txBox="1"/>
          <p:nvPr/>
        </p:nvSpPr>
        <p:spPr>
          <a:xfrm>
            <a:off x="932688"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s'adresser à une personne</a:t>
            </a:r>
          </a:p>
        </p:txBody>
      </p:sp>
      <p:sp>
        <p:nvSpPr>
          <p:cNvPr id="10" name="Rounded Rectangle 9"/>
          <p:cNvSpPr/>
          <p:nvPr/>
        </p:nvSpPr>
        <p:spPr>
          <a:xfrm>
            <a:off x="6196431" y="1856232"/>
            <a:ext cx="5428335" cy="2331720"/>
          </a:xfrm>
          <a:prstGeom prst="roundRect">
            <a:avLst>
              <a:gd name="adj" fmla="val 6274"/>
            </a:avLst>
          </a:prstGeom>
          <a:solidFill>
            <a:srgbClr val="E6F5EE"/>
          </a:solidFill>
          <a:ln w="12700">
            <a:solidFill>
              <a:srgbClr val="0A8F5B"/>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6562191" y="2130552"/>
            <a:ext cx="4696815" cy="274320"/>
          </a:xfrm>
          <a:prstGeom prst="rect">
            <a:avLst/>
          </a:prstGeom>
          <a:noFill/>
        </p:spPr>
        <p:txBody>
          <a:bodyPr wrap="square" lIns="0" rIns="0" tIns="0" bIns="0" anchor="t">
            <a:spAutoFit/>
          </a:bodyPr>
          <a:lstStyle/>
          <a:p>
            <a:pPr algn="l">
              <a:lnSpc>
                <a:spcPct val="135000"/>
              </a:lnSpc>
            </a:pPr>
            <a:r>
              <a:rPr sz="1300" b="1" i="0" spc="156">
                <a:solidFill>
                  <a:srgbClr val="07734A"/>
                </a:solidFill>
                <a:latin typeface="Verdana"/>
              </a:rPr>
              <a:t>IL FAUT DIRE PLUTÔT</a:t>
            </a:r>
          </a:p>
        </p:txBody>
      </p:sp>
      <p:sp>
        <p:nvSpPr>
          <p:cNvPr id="12" name="TextBox 11"/>
          <p:cNvSpPr txBox="1"/>
          <p:nvPr/>
        </p:nvSpPr>
        <p:spPr>
          <a:xfrm>
            <a:off x="6562191" y="2569464"/>
            <a:ext cx="4696815" cy="1417320"/>
          </a:xfrm>
          <a:prstGeom prst="rect">
            <a:avLst/>
          </a:prstGeom>
          <a:noFill/>
        </p:spPr>
        <p:txBody>
          <a:bodyPr wrap="square" lIns="0" rIns="0" tIns="0" bIns="0" anchor="t">
            <a:spAutoFit/>
          </a:bodyPr>
          <a:lstStyle/>
          <a:p>
            <a:pPr algn="l">
              <a:lnSpc>
                <a:spcPct val="130000"/>
              </a:lnSpc>
            </a:pPr>
            <a:r>
              <a:rPr sz="2500" b="1" i="0">
                <a:solidFill>
                  <a:srgbClr val="17181A"/>
                </a:solidFill>
                <a:latin typeface="Verdana"/>
              </a:rPr>
              <a:t>s'adresser à la rédaction, sur une question publique</a:t>
            </a:r>
          </a:p>
        </p:txBody>
      </p:sp>
      <p:sp>
        <p:nvSpPr>
          <p:cNvPr id="13" name="Rounded Rectangle 12"/>
          <p:cNvSpPr/>
          <p:nvPr/>
        </p:nvSpPr>
        <p:spPr>
          <a:xfrm>
            <a:off x="566928" y="4462272"/>
            <a:ext cx="11057839" cy="1618487"/>
          </a:xfrm>
          <a:prstGeom prst="roundRect">
            <a:avLst>
              <a:gd name="adj" fmla="val 9039"/>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4" name="TextBox 13"/>
          <p:cNvSpPr txBox="1"/>
          <p:nvPr/>
        </p:nvSpPr>
        <p:spPr>
          <a:xfrm>
            <a:off x="969264" y="4736592"/>
            <a:ext cx="10234879" cy="1887219"/>
          </a:xfrm>
          <a:prstGeom prst="rect">
            <a:avLst/>
          </a:prstGeom>
          <a:noFill/>
        </p:spPr>
        <p:txBody>
          <a:bodyPr wrap="square" lIns="0" rIns="0" tIns="0" bIns="0" anchor="t">
            <a:spAutoFit/>
          </a:bodyPr>
          <a:lstStyle/>
          <a:p>
            <a:pPr algn="l">
              <a:lnSpc>
                <a:spcPct val="145000"/>
              </a:lnSpc>
            </a:pPr>
            <a:r>
              <a:rPr sz="2000" b="0" i="0">
                <a:solidFill>
                  <a:srgbClr val="4B4F52"/>
                </a:solidFill>
                <a:latin typeface="Verdana"/>
              </a:rPr>
              <a:t>« Monsieur Chamberland devrait avoir honte » ne se publie pas ; « l'argument de M. Chamberland résiste mal sur un point » se publie. Même chose pour la longueur : de deux cent cinquante à trois cent cinquante mots. Au-delà, la rédaction coupe elle-même, et elle coupe la fin - c'est-à-dire votre demande.</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11</a:t>
            </a:r>
          </a:p>
        </p:txBody>
      </p:sp>
      <p:sp>
        <p:nvSpPr>
          <p:cNvPr id="5" name="TextBox 4"/>
          <p:cNvSpPr txBox="1"/>
          <p:nvPr/>
        </p:nvSpPr>
        <p:spPr>
          <a:xfrm>
            <a:off x="566928" y="420624"/>
            <a:ext cx="11057839" cy="237744"/>
          </a:xfrm>
          <a:prstGeom prst="rect">
            <a:avLst/>
          </a:prstGeom>
          <a:noFill/>
        </p:spPr>
        <p:txBody>
          <a:bodyPr wrap="square" lIns="0" rIns="0" tIns="0" bIns="0" anchor="t">
            <a:spAutoFit/>
          </a:bodyPr>
          <a:lstStyle/>
          <a:p>
            <a:pPr algn="l">
              <a:lnSpc>
                <a:spcPct val="135000"/>
              </a:lnSpc>
            </a:pPr>
            <a:r>
              <a:rPr sz="1300" b="1" i="0" spc="156">
                <a:solidFill>
                  <a:srgbClr val="A5335F"/>
                </a:solidFill>
                <a:latin typeface="Verdana"/>
              </a:rPr>
              <a:t>BILAN</a:t>
            </a:r>
          </a:p>
        </p:txBody>
      </p:sp>
      <p:sp>
        <p:nvSpPr>
          <p:cNvPr id="6" name="TextBox 5"/>
          <p:cNvSpPr txBox="1"/>
          <p:nvPr/>
        </p:nvSpPr>
        <p:spPr>
          <a:xfrm>
            <a:off x="566928" y="749808"/>
            <a:ext cx="11057839" cy="877824"/>
          </a:xfrm>
          <a:prstGeom prst="rect">
            <a:avLst/>
          </a:prstGeom>
          <a:noFill/>
        </p:spPr>
        <p:txBody>
          <a:bodyPr wrap="square" lIns="0" rIns="0" tIns="0" bIns="0" anchor="t">
            <a:spAutoFit/>
          </a:bodyPr>
          <a:lstStyle/>
          <a:p>
            <a:pPr algn="l">
              <a:lnSpc>
                <a:spcPct val="115000"/>
              </a:lnSpc>
            </a:pPr>
            <a:r>
              <a:rPr sz="3400" b="1" i="0">
                <a:solidFill>
                  <a:srgbClr val="17181A"/>
                </a:solidFill>
                <a:latin typeface="Verdana"/>
              </a:rPr>
              <a:t>Ce que vous savez faire à la fin du module</a:t>
            </a:r>
          </a:p>
        </p:txBody>
      </p:sp>
      <p:sp>
        <p:nvSpPr>
          <p:cNvPr id="7" name="Rounded Rectangle 6"/>
          <p:cNvSpPr/>
          <p:nvPr/>
        </p:nvSpPr>
        <p:spPr>
          <a:xfrm>
            <a:off x="566928" y="1810512"/>
            <a:ext cx="11057839" cy="4175760"/>
          </a:xfrm>
          <a:prstGeom prst="roundRect">
            <a:avLst>
              <a:gd name="adj" fmla="val 3503"/>
            </a:avLst>
          </a:prstGeom>
          <a:solidFill>
            <a:srgbClr val="FFFFFF"/>
          </a:solidFill>
          <a:ln w="12700">
            <a:solidFill>
              <a:srgbClr val="EAEAE8"/>
            </a:solid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8" name="TextBox 7"/>
          <p:cNvSpPr txBox="1"/>
          <p:nvPr/>
        </p:nvSpPr>
        <p:spPr>
          <a:xfrm>
            <a:off x="932688" y="1975104"/>
            <a:ext cx="3291492"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CE QUI A CHANGÉ</a:t>
            </a:r>
          </a:p>
        </p:txBody>
      </p:sp>
      <p:sp>
        <p:nvSpPr>
          <p:cNvPr id="9" name="TextBox 8"/>
          <p:cNvSpPr txBox="1"/>
          <p:nvPr/>
        </p:nvSpPr>
        <p:spPr>
          <a:xfrm>
            <a:off x="4443636" y="1975104"/>
            <a:ext cx="6595914" cy="237744"/>
          </a:xfrm>
          <a:prstGeom prst="rect">
            <a:avLst/>
          </a:prstGeom>
          <a:noFill/>
        </p:spPr>
        <p:txBody>
          <a:bodyPr wrap="square" lIns="0" rIns="0" tIns="0" bIns="0" anchor="t">
            <a:spAutoFit/>
          </a:bodyPr>
          <a:lstStyle/>
          <a:p>
            <a:pPr algn="l">
              <a:lnSpc>
                <a:spcPct val="135000"/>
              </a:lnSpc>
            </a:pPr>
            <a:r>
              <a:rPr sz="1300" b="1" i="0" spc="156">
                <a:solidFill>
                  <a:srgbClr val="6E7175"/>
                </a:solidFill>
                <a:latin typeface="Verdana"/>
              </a:rPr>
              <a:t>OÙ C'ÉTAIT</a:t>
            </a:r>
          </a:p>
        </p:txBody>
      </p:sp>
      <p:sp>
        <p:nvSpPr>
          <p:cNvPr id="10" name="TextBox 9"/>
          <p:cNvSpPr txBox="1"/>
          <p:nvPr/>
        </p:nvSpPr>
        <p:spPr>
          <a:xfrm>
            <a:off x="932688" y="2395728"/>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Nommer les genres de l'actualité</a:t>
            </a:r>
          </a:p>
        </p:txBody>
      </p:sp>
      <p:sp>
        <p:nvSpPr>
          <p:cNvPr id="11" name="TextBox 10"/>
          <p:cNvSpPr txBox="1"/>
          <p:nvPr/>
        </p:nvSpPr>
        <p:spPr>
          <a:xfrm>
            <a:off x="4443636" y="2395728"/>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je découvre</a:t>
            </a:r>
          </a:p>
        </p:txBody>
      </p:sp>
      <p:sp>
        <p:nvSpPr>
          <p:cNvPr id="12" name="Rectangle 11"/>
          <p:cNvSpPr/>
          <p:nvPr/>
        </p:nvSpPr>
        <p:spPr>
          <a:xfrm>
            <a:off x="932688" y="2974848"/>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3" name="TextBox 12"/>
          <p:cNvSpPr txBox="1"/>
          <p:nvPr/>
        </p:nvSpPr>
        <p:spPr>
          <a:xfrm>
            <a:off x="932688" y="3102864"/>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Voir ce que chaque version choisit de taire</a:t>
            </a:r>
          </a:p>
        </p:txBody>
      </p:sp>
      <p:sp>
        <p:nvSpPr>
          <p:cNvPr id="14" name="TextBox 13"/>
          <p:cNvSpPr txBox="1"/>
          <p:nvPr/>
        </p:nvSpPr>
        <p:spPr>
          <a:xfrm>
            <a:off x="4443636" y="3102864"/>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1</a:t>
            </a:r>
          </a:p>
        </p:txBody>
      </p:sp>
      <p:sp>
        <p:nvSpPr>
          <p:cNvPr id="15" name="Rectangle 14"/>
          <p:cNvSpPr/>
          <p:nvPr/>
        </p:nvSpPr>
        <p:spPr>
          <a:xfrm>
            <a:off x="932688" y="3681983"/>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6" name="TextBox 15"/>
          <p:cNvSpPr txBox="1"/>
          <p:nvPr/>
        </p:nvSpPr>
        <p:spPr>
          <a:xfrm>
            <a:off x="932688" y="3809999"/>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Retrouver la thèse et la concession d'un texte</a:t>
            </a:r>
          </a:p>
        </p:txBody>
      </p:sp>
      <p:sp>
        <p:nvSpPr>
          <p:cNvPr id="17" name="TextBox 16"/>
          <p:cNvSpPr txBox="1"/>
          <p:nvPr/>
        </p:nvSpPr>
        <p:spPr>
          <a:xfrm>
            <a:off x="4443636" y="3809999"/>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2</a:t>
            </a:r>
          </a:p>
        </p:txBody>
      </p:sp>
      <p:sp>
        <p:nvSpPr>
          <p:cNvPr id="18" name="Rectangle 17"/>
          <p:cNvSpPr/>
          <p:nvPr/>
        </p:nvSpPr>
        <p:spPr>
          <a:xfrm>
            <a:off x="932688" y="4389120"/>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9" name="TextBox 18"/>
          <p:cNvSpPr txBox="1"/>
          <p:nvPr/>
        </p:nvSpPr>
        <p:spPr>
          <a:xfrm>
            <a:off x="932688" y="4517136"/>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Répondre à une objection sans esquiver</a:t>
            </a:r>
          </a:p>
        </p:txBody>
      </p:sp>
      <p:sp>
        <p:nvSpPr>
          <p:cNvPr id="20" name="TextBox 19"/>
          <p:cNvSpPr txBox="1"/>
          <p:nvPr/>
        </p:nvSpPr>
        <p:spPr>
          <a:xfrm>
            <a:off x="4443636" y="4517136"/>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défi 3</a:t>
            </a:r>
          </a:p>
        </p:txBody>
      </p:sp>
      <p:sp>
        <p:nvSpPr>
          <p:cNvPr id="21" name="Rectangle 20"/>
          <p:cNvSpPr/>
          <p:nvPr/>
        </p:nvSpPr>
        <p:spPr>
          <a:xfrm>
            <a:off x="932688" y="5096256"/>
            <a:ext cx="10326319" cy="10058"/>
          </a:xfrm>
          <a:prstGeom prst="rect">
            <a:avLst/>
          </a:prstGeom>
          <a:solidFill>
            <a:srgbClr val="EAEA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22" name="TextBox 21"/>
          <p:cNvSpPr txBox="1"/>
          <p:nvPr/>
        </p:nvSpPr>
        <p:spPr>
          <a:xfrm>
            <a:off x="932688" y="5224272"/>
            <a:ext cx="3291492" cy="505968"/>
          </a:xfrm>
          <a:prstGeom prst="rect">
            <a:avLst/>
          </a:prstGeom>
          <a:noFill/>
        </p:spPr>
        <p:txBody>
          <a:bodyPr wrap="square" lIns="0" rIns="0" tIns="0" bIns="0" anchor="t">
            <a:spAutoFit/>
          </a:bodyPr>
          <a:lstStyle/>
          <a:p>
            <a:pPr algn="l">
              <a:lnSpc>
                <a:spcPct val="132000"/>
              </a:lnSpc>
            </a:pPr>
            <a:r>
              <a:rPr sz="1400" b="1" i="0">
                <a:solidFill>
                  <a:srgbClr val="A5335F"/>
                </a:solidFill>
                <a:latin typeface="Verdana"/>
              </a:rPr>
              <a:t>Résumer un texte d'opinion, puis y répondre</a:t>
            </a:r>
          </a:p>
        </p:txBody>
      </p:sp>
      <p:sp>
        <p:nvSpPr>
          <p:cNvPr id="23" name="TextBox 22"/>
          <p:cNvSpPr txBox="1"/>
          <p:nvPr/>
        </p:nvSpPr>
        <p:spPr>
          <a:xfrm>
            <a:off x="4443636" y="5224272"/>
            <a:ext cx="6595914" cy="505968"/>
          </a:xfrm>
          <a:prstGeom prst="rect">
            <a:avLst/>
          </a:prstGeom>
          <a:noFill/>
        </p:spPr>
        <p:txBody>
          <a:bodyPr wrap="square" lIns="0" rIns="0" tIns="0" bIns="0" anchor="t">
            <a:spAutoFit/>
          </a:bodyPr>
          <a:lstStyle/>
          <a:p>
            <a:pPr algn="l">
              <a:lnSpc>
                <a:spcPct val="132000"/>
              </a:lnSpc>
            </a:pPr>
            <a:r>
              <a:rPr sz="1400" b="0" i="0">
                <a:solidFill>
                  <a:srgbClr val="3A3D40"/>
                </a:solidFill>
                <a:latin typeface="Verdana"/>
              </a:rPr>
              <a:t>je me lance</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7F7F5"/>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3" name="TextBox 2"/>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
        <p:nvSpPr>
          <p:cNvPr id="4" name="TextBox 3"/>
          <p:cNvSpPr txBox="1"/>
          <p:nvPr/>
        </p:nvSpPr>
        <p:spPr>
          <a:xfrm>
            <a:off x="10710367" y="6355080"/>
            <a:ext cx="914400" cy="219456"/>
          </a:xfrm>
          <a:prstGeom prst="rect">
            <a:avLst/>
          </a:prstGeom>
          <a:noFill/>
        </p:spPr>
        <p:txBody>
          <a:bodyPr wrap="square" lIns="0" rIns="0" tIns="0" bIns="0" anchor="t">
            <a:spAutoFit/>
          </a:bodyPr>
          <a:lstStyle/>
          <a:p>
            <a:pPr algn="r">
              <a:lnSpc>
                <a:spcPct val="135000"/>
              </a:lnSpc>
            </a:pPr>
            <a:r>
              <a:rPr sz="1200" b="0" i="0">
                <a:solidFill>
                  <a:srgbClr val="6E7175"/>
                </a:solidFill>
                <a:latin typeface="Verdana"/>
              </a:rPr>
              <a:t>12</a:t>
            </a:r>
          </a:p>
        </p:txBody>
      </p:sp>
      <p:sp>
        <p:nvSpPr>
          <p:cNvPr id="5" name="Rectangle 4"/>
          <p:cNvSpPr/>
          <p:nvPr/>
        </p:nvSpPr>
        <p:spPr>
          <a:xfrm>
            <a:off x="0" y="0"/>
            <a:ext cx="12191695" cy="6858000"/>
          </a:xfrm>
          <a:prstGeom prst="rect">
            <a:avLst/>
          </a:prstGeom>
          <a:solidFill>
            <a:srgbClr val="17181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6" name="TextBox 5"/>
          <p:cNvSpPr txBox="1"/>
          <p:nvPr/>
        </p:nvSpPr>
        <p:spPr>
          <a:xfrm>
            <a:off x="566928" y="1051560"/>
            <a:ext cx="11057839" cy="274320"/>
          </a:xfrm>
          <a:prstGeom prst="rect">
            <a:avLst/>
          </a:prstGeom>
          <a:noFill/>
        </p:spPr>
        <p:txBody>
          <a:bodyPr wrap="square" lIns="0" rIns="0" tIns="0" bIns="0" anchor="t">
            <a:spAutoFit/>
          </a:bodyPr>
          <a:lstStyle/>
          <a:p>
            <a:pPr algn="l">
              <a:lnSpc>
                <a:spcPct val="135000"/>
              </a:lnSpc>
            </a:pPr>
            <a:r>
              <a:rPr sz="1300" b="1" i="0" spc="156">
                <a:solidFill>
                  <a:srgbClr val="FFFFFF"/>
                </a:solidFill>
                <a:latin typeface="Verdana"/>
              </a:rPr>
              <a:t>BILLET DE SORTIE</a:t>
            </a:r>
          </a:p>
        </p:txBody>
      </p:sp>
      <p:sp>
        <p:nvSpPr>
          <p:cNvPr id="7" name="TextBox 6"/>
          <p:cNvSpPr txBox="1"/>
          <p:nvPr/>
        </p:nvSpPr>
        <p:spPr>
          <a:xfrm>
            <a:off x="566928" y="1572768"/>
            <a:ext cx="9777679" cy="2103120"/>
          </a:xfrm>
          <a:prstGeom prst="rect">
            <a:avLst/>
          </a:prstGeom>
          <a:noFill/>
        </p:spPr>
        <p:txBody>
          <a:bodyPr wrap="square" lIns="0" rIns="0" tIns="0" bIns="0" anchor="t">
            <a:spAutoFit/>
          </a:bodyPr>
          <a:lstStyle/>
          <a:p>
            <a:pPr algn="l">
              <a:lnSpc>
                <a:spcPct val="125000"/>
              </a:lnSpc>
            </a:pPr>
            <a:r>
              <a:rPr sz="3400" b="1" i="0">
                <a:solidFill>
                  <a:srgbClr val="FFFFFF"/>
                </a:solidFill>
                <a:latin typeface="Verdana"/>
              </a:rPr>
              <a:t>Écrivez votre lettre au courrier des lecteurs et déposez-la.</a:t>
            </a:r>
          </a:p>
        </p:txBody>
      </p:sp>
      <p:sp>
        <p:nvSpPr>
          <p:cNvPr id="8" name="Rounded Rectangle 7"/>
          <p:cNvSpPr/>
          <p:nvPr/>
        </p:nvSpPr>
        <p:spPr>
          <a:xfrm>
            <a:off x="566928" y="3931920"/>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9" name="TextBox 8"/>
          <p:cNvSpPr txBox="1"/>
          <p:nvPr/>
        </p:nvSpPr>
        <p:spPr>
          <a:xfrm>
            <a:off x="932688" y="4087368"/>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De 12 à 16 phrases, quatre paragraphes, un résumé honnête au premier.</a:t>
            </a:r>
          </a:p>
        </p:txBody>
      </p:sp>
      <p:sp>
        <p:nvSpPr>
          <p:cNvPr id="10" name="Rounded Rectangle 9"/>
          <p:cNvSpPr/>
          <p:nvPr/>
        </p:nvSpPr>
        <p:spPr>
          <a:xfrm>
            <a:off x="566928" y="4680712"/>
            <a:ext cx="11057839" cy="666496"/>
          </a:xfrm>
          <a:prstGeom prst="roundRect">
            <a:avLst>
              <a:gd name="adj" fmla="val 13719"/>
            </a:avLst>
          </a:prstGeom>
          <a:solidFill>
            <a:srgbClr val="2A2C2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p:txBody>
      </p:sp>
      <p:sp>
        <p:nvSpPr>
          <p:cNvPr id="11" name="TextBox 10"/>
          <p:cNvSpPr txBox="1"/>
          <p:nvPr/>
        </p:nvSpPr>
        <p:spPr>
          <a:xfrm>
            <a:off x="932688" y="4836160"/>
            <a:ext cx="10051999" cy="392176"/>
          </a:xfrm>
          <a:prstGeom prst="rect">
            <a:avLst/>
          </a:prstGeom>
          <a:noFill/>
        </p:spPr>
        <p:txBody>
          <a:bodyPr wrap="square" lIns="0" rIns="0" tIns="0" bIns="0" anchor="t">
            <a:spAutoFit/>
          </a:bodyPr>
          <a:lstStyle/>
          <a:p>
            <a:pPr algn="l">
              <a:lnSpc>
                <a:spcPct val="140000"/>
              </a:lnSpc>
            </a:pPr>
            <a:r>
              <a:rPr sz="2000" b="0" i="0">
                <a:solidFill>
                  <a:srgbClr val="FFFFFF"/>
                </a:solidFill>
                <a:latin typeface="Verdana"/>
              </a:rPr>
              <a:t>Une concession, une hypothèse irréelle, une mise en relief, une demande.</a:t>
            </a:r>
          </a:p>
        </p:txBody>
      </p:sp>
      <p:sp>
        <p:nvSpPr>
          <p:cNvPr id="12" name="TextBox 11"/>
          <p:cNvSpPr txBox="1"/>
          <p:nvPr/>
        </p:nvSpPr>
        <p:spPr>
          <a:xfrm>
            <a:off x="566928" y="6355080"/>
            <a:ext cx="6400800" cy="219456"/>
          </a:xfrm>
          <a:prstGeom prst="rect">
            <a:avLst/>
          </a:prstGeom>
          <a:noFill/>
        </p:spPr>
        <p:txBody>
          <a:bodyPr wrap="square" lIns="0" rIns="0" tIns="0" bIns="0" anchor="t">
            <a:spAutoFit/>
          </a:bodyPr>
          <a:lstStyle/>
          <a:p>
            <a:pPr algn="l">
              <a:lnSpc>
                <a:spcPct val="135000"/>
              </a:lnSpc>
            </a:pPr>
            <a:r>
              <a:rPr sz="1200" b="0" i="0">
                <a:solidFill>
                  <a:srgbClr val="6E7175"/>
                </a:solidFill>
                <a:latin typeface="Verdana"/>
              </a:rPr>
              <a:t>E2 · Deux versions, et la mienne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