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par une question au groupe : avez-vous déjà lu deux articles sur la même chose et eu l'impression de lire deux histoires ? Presque tous disent oui, et presque tous concluent que l'un des deux mentait. C'est exactement la croyance que la séance va défaire.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cœur du module. L'écrire au tableau et l'y laisser : les quatre séances du bloc A y reviennent.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sans mauvaise réponse. Beaucoup d'élèves suivent l'actualité de leur pays d'origine et pas celle de leur ville : le dire sans reproche, c'est le point de départ du module.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le passage au tutoiement, offert par la plus âgée des deux. Le reste du module vouvoie : la tribune et la lettre au journal sont au vouvoiement strict, et c'est un savoir du niveau 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Poser le chiffre au tableau : 792 demandées, 312 promises, six jours. Il revient dans tout le module, jusqu'à la lettre du bloc 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thèse du module, en quatre répliques. La dernière est celle qu'il faut faire redire par un élève, à voix haute, avant de passer à la suite.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Question fréquente : « alors comment savoir ? » Réponse honnête : en lisant les deux, ce qui coûte huit minutes. Il n'y a pas de méthode plus courte.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sur la deuxième : à une assemblée de consultation, tout le monde a le droit de parler et presque personne ne le fait. Plusieurs élèves croient l'inverse.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avec l'article. Signaler tout de suite la différence entre éditorial et chronique : l'éditorial engage le journal, la chronique n'engage que la personne qui la signe.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ici que les élèves comprennent pourquoi une absence est une information. On y revient au bloc 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Le cinquième est le plus important de la séance : c'est celui qui distingue ce module du niveau 7, où l'on démasquait encore quelqu'un.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concret et faisable en dix minutes. Les deux notes servent d'amorce au bloc B : chaque élève arrive avec un écart observé par lui-même, pas par le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Deux journaux, deux soirées, aucun menteur</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Tout le monde connaît la nouvelle et personne n'en conteste les faits. Ce module ne travaille pas la nouvelle : il travaille le désaccord.</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Deux versions, et la mienne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suivre un dossier municipal local et en nommer les étapes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expliquer comment deux comptes rendus honnêtes peuvent différer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ce qu'est un registre référendaire et à quoi il sert ;</a:t>
            </a:r>
          </a:p>
        </p:txBody>
      </p:sp>
      <p:sp>
        <p:nvSpPr>
          <p:cNvPr id="19" name="Rounded Rectangle 18"/>
          <p:cNvSpPr/>
          <p:nvPr/>
        </p:nvSpPr>
        <p:spPr>
          <a:xfrm>
            <a:off x="566928" y="44226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7782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8605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six premiers mots du dossier : un éditorial, une chronique, un communiqué.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prenez-vous vos nouvelles locales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ptoir-bibliotheque.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lisez le journal de votre ville ou de votre quartier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Savez-vous ce que le conseil municipal a décidé le mois dernier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Quand deux sources se contredisent, laquelle croyez-vous, et pourquoi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déjà assisté à une réunion publique ici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affiche oubliée sur le comptoir</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31443"/>
          </a:xfrm>
          <a:prstGeom prst="roundRect">
            <a:avLst>
              <a:gd name="adj" fmla="val 231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294447" cy="35712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MIRELA</a:t>
            </a:r>
          </a:p>
        </p:txBody>
      </p:sp>
      <p:sp>
        <p:nvSpPr>
          <p:cNvPr id="10" name="TextBox 9"/>
          <p:cNvSpPr txBox="1"/>
          <p:nvPr/>
        </p:nvSpPr>
        <p:spPr>
          <a:xfrm>
            <a:off x="2227135" y="2322576"/>
            <a:ext cx="8848991" cy="35712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Madame Sauvé ? Vous avez oublié votre affiche sur le comptoir des retours.</a:t>
            </a:r>
          </a:p>
        </p:txBody>
      </p:sp>
      <p:sp>
        <p:nvSpPr>
          <p:cNvPr id="11" name="Rounded Rectangle 10"/>
          <p:cNvSpPr/>
          <p:nvPr/>
        </p:nvSpPr>
        <p:spPr>
          <a:xfrm>
            <a:off x="566928" y="2871724"/>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36316"/>
            <a:ext cx="1294447"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RÉGINE</a:t>
            </a:r>
          </a:p>
        </p:txBody>
      </p:sp>
      <p:sp>
        <p:nvSpPr>
          <p:cNvPr id="13" name="TextBox 12"/>
          <p:cNvSpPr txBox="1"/>
          <p:nvPr/>
        </p:nvSpPr>
        <p:spPr>
          <a:xfrm>
            <a:off x="2227135" y="3036316"/>
            <a:ext cx="8848991"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Merci. J'en ai posé quarante ce matin et j'en oublie une sur trois. Et appelez-moi Régine, on se voit toutes les semaines.</a:t>
            </a:r>
          </a:p>
        </p:txBody>
      </p:sp>
      <p:sp>
        <p:nvSpPr>
          <p:cNvPr id="14" name="Rounded Rectangle 13"/>
          <p:cNvSpPr/>
          <p:nvPr/>
        </p:nvSpPr>
        <p:spPr>
          <a:xfrm>
            <a:off x="566928" y="3887723"/>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052315"/>
            <a:ext cx="1294447"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MIRELA</a:t>
            </a:r>
          </a:p>
        </p:txBody>
      </p:sp>
      <p:sp>
        <p:nvSpPr>
          <p:cNvPr id="16" name="TextBox 15"/>
          <p:cNvSpPr txBox="1"/>
          <p:nvPr/>
        </p:nvSpPr>
        <p:spPr>
          <a:xfrm>
            <a:off x="2227135" y="4052315"/>
            <a:ext cx="8848991"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Alors Régine. J'ai lu le journal hier soir et je n'ai pas tout compris. Le boisé est vendu, ou pas encore ?</a:t>
            </a:r>
          </a:p>
        </p:txBody>
      </p:sp>
      <p:sp>
        <p:nvSpPr>
          <p:cNvPr id="17" name="Rounded Rectangle 16"/>
          <p:cNvSpPr/>
          <p:nvPr/>
        </p:nvSpPr>
        <p:spPr>
          <a:xfrm>
            <a:off x="566928" y="4903723"/>
            <a:ext cx="11057839" cy="933703"/>
          </a:xfrm>
          <a:prstGeom prst="roundRect">
            <a:avLst>
              <a:gd name="adj" fmla="val 15669"/>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5068315"/>
            <a:ext cx="1294447" cy="659383"/>
          </a:xfrm>
          <a:prstGeom prst="rect">
            <a:avLst/>
          </a:prstGeom>
          <a:noFill/>
        </p:spPr>
        <p:txBody>
          <a:bodyPr wrap="square" lIns="0" rIns="0" tIns="0" bIns="0" anchor="t">
            <a:spAutoFit/>
          </a:bodyPr>
          <a:lstStyle/>
          <a:p>
            <a:pPr algn="l">
              <a:lnSpc>
                <a:spcPct val="135000"/>
              </a:lnSpc>
            </a:pPr>
            <a:r>
              <a:rPr sz="1700" b="1" i="0">
                <a:solidFill>
                  <a:srgbClr val="1D6B8F"/>
                </a:solidFill>
                <a:latin typeface="Verdana"/>
              </a:rPr>
              <a:t>RÉGINE</a:t>
            </a:r>
          </a:p>
        </p:txBody>
      </p:sp>
      <p:sp>
        <p:nvSpPr>
          <p:cNvPr id="19" name="TextBox 18"/>
          <p:cNvSpPr txBox="1"/>
          <p:nvPr/>
        </p:nvSpPr>
        <p:spPr>
          <a:xfrm>
            <a:off x="2227135" y="5068315"/>
            <a:ext cx="8848991" cy="659383"/>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Pas encore. Le conseil a adopté le règlement lundi, à quatre voix contre trois. Il reste l'assemblée de consultation, puis le registre.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que personne n'explique</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9444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MIRELA</a:t>
            </a:r>
          </a:p>
        </p:txBody>
      </p:sp>
      <p:sp>
        <p:nvSpPr>
          <p:cNvPr id="9" name="TextBox 8"/>
          <p:cNvSpPr txBox="1"/>
          <p:nvPr/>
        </p:nvSpPr>
        <p:spPr>
          <a:xfrm>
            <a:off x="2227135" y="1901952"/>
            <a:ext cx="884899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registre, c'est quoi exactement ? Le mot revient partout et personne ne l'explique.</a:t>
            </a:r>
          </a:p>
        </p:txBody>
      </p:sp>
      <p:sp>
        <p:nvSpPr>
          <p:cNvPr id="10" name="Rounded Rectangle 9"/>
          <p:cNvSpPr/>
          <p:nvPr/>
        </p:nvSpPr>
        <p:spPr>
          <a:xfrm>
            <a:off x="566928" y="2824479"/>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294447"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RÉGINE</a:t>
            </a:r>
          </a:p>
        </p:txBody>
      </p:sp>
      <p:sp>
        <p:nvSpPr>
          <p:cNvPr id="12" name="TextBox 11"/>
          <p:cNvSpPr txBox="1"/>
          <p:nvPr/>
        </p:nvSpPr>
        <p:spPr>
          <a:xfrm>
            <a:off x="2227135" y="2989072"/>
            <a:ext cx="8848991"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un cahier qu'on ouvre à l'hôtel de ville pendant une journée. Les personnes habiles à voter y écrivent leur nom si elles veulent un référendum.</a:t>
            </a:r>
          </a:p>
        </p:txBody>
      </p:sp>
      <p:sp>
        <p:nvSpPr>
          <p:cNvPr id="13" name="Rounded Rectangle 12"/>
          <p:cNvSpPr/>
          <p:nvPr/>
        </p:nvSpPr>
        <p:spPr>
          <a:xfrm>
            <a:off x="566928" y="424942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414012"/>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MIRELA</a:t>
            </a:r>
          </a:p>
        </p:txBody>
      </p:sp>
      <p:sp>
        <p:nvSpPr>
          <p:cNvPr id="15" name="TextBox 14"/>
          <p:cNvSpPr txBox="1"/>
          <p:nvPr/>
        </p:nvSpPr>
        <p:spPr>
          <a:xfrm>
            <a:off x="2227135" y="4414012"/>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vous en êtes loin ?</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29444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RÉGINE</a:t>
            </a:r>
          </a:p>
        </p:txBody>
      </p:sp>
      <p:sp>
        <p:nvSpPr>
          <p:cNvPr id="18" name="TextBox 17"/>
          <p:cNvSpPr txBox="1"/>
          <p:nvPr/>
        </p:nvSpPr>
        <p:spPr>
          <a:xfrm>
            <a:off x="2227135" y="5163312"/>
            <a:ext cx="884899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Il nous faut sept cent quatre-vingt-douze signatures. On en a promis un peu plus de trois cents. C'est mince.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Lequel des deux ment ?</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9444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MIRELA</a:t>
            </a:r>
          </a:p>
        </p:txBody>
      </p:sp>
      <p:sp>
        <p:nvSpPr>
          <p:cNvPr id="9" name="TextBox 8"/>
          <p:cNvSpPr txBox="1"/>
          <p:nvPr/>
        </p:nvSpPr>
        <p:spPr>
          <a:xfrm>
            <a:off x="2227135" y="1901952"/>
            <a:ext cx="884899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Courant parle d'un terrain vague, La Vigie parle d'un boisé mature. Lequel des deux ment ?</a:t>
            </a:r>
          </a:p>
        </p:txBody>
      </p:sp>
      <p:sp>
        <p:nvSpPr>
          <p:cNvPr id="10" name="Rounded Rectangle 9"/>
          <p:cNvSpPr/>
          <p:nvPr/>
        </p:nvSpPr>
        <p:spPr>
          <a:xfrm>
            <a:off x="566928" y="2824479"/>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294447"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RÉGINE</a:t>
            </a:r>
          </a:p>
        </p:txBody>
      </p:sp>
      <p:sp>
        <p:nvSpPr>
          <p:cNvPr id="12" name="TextBox 11"/>
          <p:cNvSpPr txBox="1"/>
          <p:nvPr/>
        </p:nvSpPr>
        <p:spPr>
          <a:xfrm>
            <a:off x="2227135" y="2989072"/>
            <a:ext cx="8848991"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Aucun des deux, et c'est ça qui est difficile. Il y a quatre hectares d'érables de soixante ans, et il y a aussi trois hectares de remblai où plus rien ne pousse.</a:t>
            </a:r>
          </a:p>
        </p:txBody>
      </p:sp>
      <p:sp>
        <p:nvSpPr>
          <p:cNvPr id="13" name="Rounded Rectangle 12"/>
          <p:cNvSpPr/>
          <p:nvPr/>
        </p:nvSpPr>
        <p:spPr>
          <a:xfrm>
            <a:off x="566928" y="424942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414012"/>
            <a:ext cx="1294447"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MIRELA</a:t>
            </a:r>
          </a:p>
        </p:txBody>
      </p:sp>
      <p:sp>
        <p:nvSpPr>
          <p:cNvPr id="15" name="TextBox 14"/>
          <p:cNvSpPr txBox="1"/>
          <p:nvPr/>
        </p:nvSpPr>
        <p:spPr>
          <a:xfrm>
            <a:off x="2227135" y="4414012"/>
            <a:ext cx="8848991"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Donc les deux disent vrai, et je n'apprends rien.</a:t>
            </a:r>
          </a:p>
        </p:txBody>
      </p:sp>
      <p:sp>
        <p:nvSpPr>
          <p:cNvPr id="16" name="Rounded Rectangle 15"/>
          <p:cNvSpPr/>
          <p:nvPr/>
        </p:nvSpPr>
        <p:spPr>
          <a:xfrm>
            <a:off x="566928" y="499872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5163312"/>
            <a:ext cx="1294447"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RÉGINE</a:t>
            </a:r>
          </a:p>
        </p:txBody>
      </p:sp>
      <p:sp>
        <p:nvSpPr>
          <p:cNvPr id="18" name="TextBox 17"/>
          <p:cNvSpPr txBox="1"/>
          <p:nvPr/>
        </p:nvSpPr>
        <p:spPr>
          <a:xfrm>
            <a:off x="2227135" y="5163312"/>
            <a:ext cx="8848991"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apprenez ce que chacun trouve important. C'est déjà de l'information, à condition de lire les deux.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DEUX JOURNAUX HONNÊTES PEUVENT RACONTER DEUX SOIRÉES</a:t>
            </a:r>
          </a:p>
        </p:txBody>
      </p:sp>
      <p:sp>
        <p:nvSpPr>
          <p:cNvPr id="6" name="Rounded Rectangle 5"/>
          <p:cNvSpPr/>
          <p:nvPr/>
        </p:nvSpPr>
        <p:spPr>
          <a:xfrm>
            <a:off x="566928" y="1225296"/>
            <a:ext cx="11057839" cy="2525776"/>
          </a:xfrm>
          <a:prstGeom prst="roundRect">
            <a:avLst>
              <a:gd name="adj" fmla="val 5792"/>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702816"/>
          </a:xfrm>
          <a:prstGeom prst="rect">
            <a:avLst/>
          </a:prstGeom>
          <a:noFill/>
        </p:spPr>
        <p:txBody>
          <a:bodyPr wrap="square" lIns="0" rIns="0" tIns="0" bIns="0" anchor="t">
            <a:spAutoFit/>
          </a:bodyPr>
          <a:lstStyle/>
          <a:p>
            <a:pPr algn="l">
              <a:lnSpc>
                <a:spcPct val="122000"/>
              </a:lnSpc>
            </a:pPr>
            <a:r>
              <a:rPr sz="2600" b="1" i="0">
                <a:solidFill>
                  <a:srgbClr val="17181A"/>
                </a:solidFill>
                <a:latin typeface="Verdana"/>
              </a:rPr>
              <a:t>Ce n'est pas qu'un des deux ment : c'est qu'ils n'ont pas gardé les mêmes phrases. Chacun décrit sa moitié de la vérité, et celui qui n'en lit qu'un croit avoir tout lu.</a:t>
            </a:r>
          </a:p>
        </p:txBody>
      </p:sp>
      <p:sp>
        <p:nvSpPr>
          <p:cNvPr id="8" name="Rounded Rectangle 7"/>
          <p:cNvSpPr/>
          <p:nvPr/>
        </p:nvSpPr>
        <p:spPr>
          <a:xfrm>
            <a:off x="566928" y="4025392"/>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99712"/>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boisé Sainte-Perpétue fait onze hectares : quatre d'érables de soixante ans, trois de remblai où plus rien ne pousse depuis l'ancienne cour de voirie. « Boisé mature » et « terrain vague » sont vrais tous les deux, sur des moitiés différentes.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dossier en quatre étapes</a:t>
            </a:r>
          </a:p>
        </p:txBody>
      </p:sp>
      <p:sp>
        <p:nvSpPr>
          <p:cNvPr id="7" name="Rounded Rectangle 6"/>
          <p:cNvSpPr/>
          <p:nvPr/>
        </p:nvSpPr>
        <p:spPr>
          <a:xfrm>
            <a:off x="566928" y="1810512"/>
            <a:ext cx="11057839" cy="4005072"/>
          </a:xfrm>
          <a:prstGeom prst="roundRect">
            <a:avLst>
              <a:gd name="adj" fmla="val 36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ÉTAPE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S'Y DÉCIDE</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séance du conseil</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règlement est adopté ou non, ici par quatre voix contre trois</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L'assemblée publique de consultation</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Ville explique, le public parle, rien ne se vote</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registre référendaire</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cahier ouvert une journée : on compte ceux qui veulent un référendum</a:t>
            </a:r>
          </a:p>
        </p:txBody>
      </p:sp>
      <p:sp>
        <p:nvSpPr>
          <p:cNvPr id="18" name="Rectangle 17"/>
          <p:cNvSpPr/>
          <p:nvPr/>
        </p:nvSpPr>
        <p:spPr>
          <a:xfrm>
            <a:off x="932688" y="4791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919472"/>
            <a:ext cx="3291492"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référendum, s'il a lieu</a:t>
            </a:r>
          </a:p>
        </p:txBody>
      </p:sp>
      <p:sp>
        <p:nvSpPr>
          <p:cNvPr id="20" name="TextBox 19"/>
          <p:cNvSpPr txBox="1"/>
          <p:nvPr/>
        </p:nvSpPr>
        <p:spPr>
          <a:xfrm>
            <a:off x="4443636" y="4919472"/>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population tranche, et la décision tient beaucoup plus longtemps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mots pour commencer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7027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éditorial</a:t>
            </a:r>
          </a:p>
        </p:txBody>
      </p:sp>
      <p:sp>
        <p:nvSpPr>
          <p:cNvPr id="9" name="TextBox 8"/>
          <p:cNvSpPr txBox="1"/>
          <p:nvPr/>
        </p:nvSpPr>
        <p:spPr>
          <a:xfrm>
            <a:off x="4909756" y="2121408"/>
            <a:ext cx="6349250" cy="437387"/>
          </a:xfrm>
          <a:prstGeom prst="rect">
            <a:avLst/>
          </a:prstGeom>
          <a:noFill/>
        </p:spPr>
        <p:txBody>
          <a:bodyPr wrap="square" lIns="0" rIns="0" tIns="0" bIns="0" anchor="t">
            <a:spAutoFit/>
          </a:bodyPr>
          <a:lstStyle/>
          <a:p>
            <a:pPr algn="l">
              <a:lnSpc>
                <a:spcPct val="135000"/>
              </a:lnSpc>
            </a:pPr>
            <a:r>
              <a:rPr sz="1400" b="0" i="0">
                <a:solidFill>
                  <a:srgbClr val="4B4F52"/>
                </a:solidFill>
                <a:latin typeface="Verdana"/>
              </a:rPr>
              <a:t>Le texte où un journal dit lui-même ce qu'il pense d'une question.</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37027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chronique</a:t>
            </a:r>
          </a:p>
        </p:txBody>
      </p:sp>
      <p:sp>
        <p:nvSpPr>
          <p:cNvPr id="12" name="TextBox 11"/>
          <p:cNvSpPr txBox="1"/>
          <p:nvPr/>
        </p:nvSpPr>
        <p:spPr>
          <a:xfrm>
            <a:off x="4909756" y="2778252"/>
            <a:ext cx="6349250" cy="437387"/>
          </a:xfrm>
          <a:prstGeom prst="rect">
            <a:avLst/>
          </a:prstGeom>
          <a:noFill/>
        </p:spPr>
        <p:txBody>
          <a:bodyPr wrap="square" lIns="0" rIns="0" tIns="0" bIns="0" anchor="t">
            <a:spAutoFit/>
          </a:bodyPr>
          <a:lstStyle/>
          <a:p>
            <a:pPr algn="l">
              <a:lnSpc>
                <a:spcPct val="135000"/>
              </a:lnSpc>
            </a:pPr>
            <a:r>
              <a:rPr sz="1400" b="0" i="0">
                <a:solidFill>
                  <a:srgbClr val="4B4F52"/>
                </a:solidFill>
                <a:latin typeface="Verdana"/>
              </a:rPr>
              <a:t>Un texte ou une capsule signés, où une même personne donne son avis chaque semaine.</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37027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courrier des lecteurs</a:t>
            </a:r>
          </a:p>
        </p:txBody>
      </p:sp>
      <p:sp>
        <p:nvSpPr>
          <p:cNvPr id="15" name="TextBox 14"/>
          <p:cNvSpPr txBox="1"/>
          <p:nvPr/>
        </p:nvSpPr>
        <p:spPr>
          <a:xfrm>
            <a:off x="4909756" y="3435096"/>
            <a:ext cx="6349250" cy="437387"/>
          </a:xfrm>
          <a:prstGeom prst="rect">
            <a:avLst/>
          </a:prstGeom>
          <a:noFill/>
        </p:spPr>
        <p:txBody>
          <a:bodyPr wrap="square" lIns="0" rIns="0" tIns="0" bIns="0" anchor="t">
            <a:spAutoFit/>
          </a:bodyPr>
          <a:lstStyle/>
          <a:p>
            <a:pPr algn="l">
              <a:lnSpc>
                <a:spcPct val="135000"/>
              </a:lnSpc>
            </a:pPr>
            <a:r>
              <a:rPr sz="1500" b="0" i="0">
                <a:solidFill>
                  <a:srgbClr val="4B4F52"/>
                </a:solidFill>
                <a:latin typeface="Verdana"/>
              </a:rPr>
              <a:t>La page d'un journal où le public peut faire publier son opinion.</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37027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communiqué</a:t>
            </a:r>
          </a:p>
        </p:txBody>
      </p:sp>
      <p:sp>
        <p:nvSpPr>
          <p:cNvPr id="18" name="TextBox 17"/>
          <p:cNvSpPr txBox="1"/>
          <p:nvPr/>
        </p:nvSpPr>
        <p:spPr>
          <a:xfrm>
            <a:off x="4909756" y="4091939"/>
            <a:ext cx="6349250" cy="437387"/>
          </a:xfrm>
          <a:prstGeom prst="rect">
            <a:avLst/>
          </a:prstGeom>
          <a:noFill/>
        </p:spPr>
        <p:txBody>
          <a:bodyPr wrap="square" lIns="0" rIns="0" tIns="0" bIns="0" anchor="t">
            <a:spAutoFit/>
          </a:bodyPr>
          <a:lstStyle/>
          <a:p>
            <a:pPr algn="l">
              <a:lnSpc>
                <a:spcPct val="135000"/>
              </a:lnSpc>
            </a:pPr>
            <a:r>
              <a:rPr sz="1400" b="0" i="0">
                <a:solidFill>
                  <a:srgbClr val="4B4F52"/>
                </a:solidFill>
                <a:latin typeface="Verdana"/>
              </a:rPr>
              <a:t>Le texte qu'un organisme envoie aux médias pour annoncer sa version d'une nouvelle.</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37027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manchette</a:t>
            </a:r>
          </a:p>
        </p:txBody>
      </p:sp>
      <p:sp>
        <p:nvSpPr>
          <p:cNvPr id="21" name="TextBox 20"/>
          <p:cNvSpPr txBox="1"/>
          <p:nvPr/>
        </p:nvSpPr>
        <p:spPr>
          <a:xfrm>
            <a:off x="4909756" y="4748784"/>
            <a:ext cx="6349250" cy="437387"/>
          </a:xfrm>
          <a:prstGeom prst="rect">
            <a:avLst/>
          </a:prstGeom>
          <a:noFill/>
        </p:spPr>
        <p:txBody>
          <a:bodyPr wrap="square" lIns="0" rIns="0" tIns="0" bIns="0" anchor="t">
            <a:spAutoFit/>
          </a:bodyPr>
          <a:lstStyle/>
          <a:p>
            <a:pPr algn="l">
              <a:lnSpc>
                <a:spcPct val="135000"/>
              </a:lnSpc>
            </a:pPr>
            <a:r>
              <a:rPr sz="1400" b="0" i="0">
                <a:solidFill>
                  <a:srgbClr val="4B4F52"/>
                </a:solidFill>
                <a:latin typeface="Verdana"/>
              </a:rPr>
              <a:t>Le grand titre du haut de la page, celui qu'on lit même sans lire l'article.</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37027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radio communautaire</a:t>
            </a:r>
          </a:p>
        </p:txBody>
      </p:sp>
      <p:sp>
        <p:nvSpPr>
          <p:cNvPr id="24" name="TextBox 23"/>
          <p:cNvSpPr txBox="1"/>
          <p:nvPr/>
        </p:nvSpPr>
        <p:spPr>
          <a:xfrm>
            <a:off x="4909756" y="5405628"/>
            <a:ext cx="6349250" cy="437387"/>
          </a:xfrm>
          <a:prstGeom prst="rect">
            <a:avLst/>
          </a:prstGeom>
          <a:noFill/>
        </p:spPr>
        <p:txBody>
          <a:bodyPr wrap="square" lIns="0" rIns="0" tIns="0" bIns="0" anchor="t">
            <a:spAutoFit/>
          </a:bodyPr>
          <a:lstStyle/>
          <a:p>
            <a:pPr algn="l">
              <a:lnSpc>
                <a:spcPct val="135000"/>
              </a:lnSpc>
            </a:pPr>
            <a:r>
              <a:rPr sz="1400" b="0" i="0">
                <a:solidFill>
                  <a:srgbClr val="4B4F52"/>
                </a:solidFill>
                <a:latin typeface="Verdana"/>
              </a:rPr>
              <a:t>Une petite station locale sans but lucratif, animée en partie par des bénévoles.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PRESQUE TOUT PART DU MÊME COMMUNIQUÉ</a:t>
            </a:r>
          </a:p>
        </p:txBody>
      </p:sp>
      <p:sp>
        <p:nvSpPr>
          <p:cNvPr id="6" name="Rounded Rectangle 5"/>
          <p:cNvSpPr/>
          <p:nvPr/>
        </p:nvSpPr>
        <p:spPr>
          <a:xfrm>
            <a:off x="566928" y="1225296"/>
            <a:ext cx="11057839" cy="2928619"/>
          </a:xfrm>
          <a:prstGeom prst="roundRect">
            <a:avLst>
              <a:gd name="adj" fmla="val 4995"/>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105660"/>
          </a:xfrm>
          <a:prstGeom prst="rect">
            <a:avLst/>
          </a:prstGeom>
          <a:noFill/>
        </p:spPr>
        <p:txBody>
          <a:bodyPr wrap="square" lIns="0" rIns="0" tIns="0" bIns="0" anchor="t">
            <a:spAutoFit/>
          </a:bodyPr>
          <a:lstStyle/>
          <a:p>
            <a:pPr algn="l">
              <a:lnSpc>
                <a:spcPct val="122000"/>
              </a:lnSpc>
            </a:pPr>
            <a:r>
              <a:rPr sz="2600" b="1" i="0">
                <a:solidFill>
                  <a:srgbClr val="17181A"/>
                </a:solidFill>
                <a:latin typeface="Verdana"/>
              </a:rPr>
              <a:t>Un hebdomadaire local n'a pas quatre journalistes. Quand une ville envoie son communiqué, on le retrouve dans les deux journaux, souvent dans le même ordre. Ce qui n'y est pas n'est nulle part.</a:t>
            </a:r>
          </a:p>
        </p:txBody>
      </p:sp>
      <p:sp>
        <p:nvSpPr>
          <p:cNvPr id="8" name="Rounded Rectangle 7"/>
          <p:cNvSpPr/>
          <p:nvPr/>
        </p:nvSpPr>
        <p:spPr>
          <a:xfrm>
            <a:off x="566928" y="4428235"/>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702555"/>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terrain vacant derrière l'aréna n'apparaît dans aucun des deux articles. Non pas parce qu'on l'a caché : parce qu'il n'était pas dans le communiqué de la Ville. Sortir ce qui n'y est pas, c'est le travail d'un comité de citoyens.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conseil a adopté le règlement par quatre voix contre trois.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boisé est déjà vendu au promoteur.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registre est un cahier ouvert une journée à l'hôtel de ville.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comité a déjà réuni les 792 signatures nécessaires.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Régine, un des deux journaux a écrit quelque chose de faux.</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comité s'oppose au principe même du logement abordable.</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existe un autre terrain municipal, déjà déboisé, derrière l'aréna.</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l'assemblée, seuls les membres d'un comité ont le droit de parler.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conseil a adopté le règlement par quatre voix contre trois.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boisé est déjà vendu au promoteur.   </a:t>
            </a:r>
            <a:r>
              <a:rPr sz="1400" b="1" i="0">
                <a:solidFill>
                  <a:srgbClr val="07734A"/>
                </a:solidFill>
                <a:latin typeface="Verdana"/>
              </a:rPr>
              <a:t>» faux - il reste la consultation et le registre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registre est un cahier ouvert une journée à l'hôtel de ville.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comité a déjà réuni les 792 signatures nécessaires.   </a:t>
            </a:r>
            <a:r>
              <a:rPr sz="1400" b="1" i="0">
                <a:solidFill>
                  <a:srgbClr val="07734A"/>
                </a:solidFill>
                <a:latin typeface="Verdana"/>
              </a:rPr>
              <a:t>» faux - un peu plus de 300 sont promises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Selon Régine, un des deux journaux a écrit quelque chose de faux.   </a:t>
            </a:r>
            <a:r>
              <a:rPr sz="1400" b="1" i="0">
                <a:solidFill>
                  <a:srgbClr val="07734A"/>
                </a:solidFill>
                <a:latin typeface="Verdana"/>
              </a:rPr>
              <a:t>» faux - aucun des deux ne ment</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comité s'oppose au principe même du logement abordable.   </a:t>
            </a:r>
            <a:r>
              <a:rPr sz="1400" b="1" i="0">
                <a:solidFill>
                  <a:srgbClr val="07734A"/>
                </a:solidFill>
                <a:latin typeface="Verdana"/>
              </a:rPr>
              <a:t>» faux - il conteste l'endroit, pas le projet</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existe un autre terrain municipal, déjà déboisé, derrière l'aréna.   </a:t>
            </a:r>
            <a:r>
              <a:rPr sz="1400" b="1" i="0">
                <a:solidFill>
                  <a:srgbClr val="07734A"/>
                </a:solidFill>
                <a:latin typeface="Verdana"/>
              </a:rPr>
              <a:t>» vrai</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À l'assemblée, seuls les membres d'un comité ont le droit de parler.   </a:t>
            </a:r>
            <a:r>
              <a:rPr sz="1400" b="1" i="0">
                <a:solidFill>
                  <a:srgbClr val="07734A"/>
                </a:solidFill>
                <a:latin typeface="Verdana"/>
              </a:rPr>
              <a:t>» faux - tout le monde a le droit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Cherchez une nouvelle de votre ville et trouvez-en deux comptes rendus.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Notez un mot que l'un emploie et que l'autre n'emploie pas.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Notez un chiffre présent d'un seul côté.</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Deux versions, et la mienne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