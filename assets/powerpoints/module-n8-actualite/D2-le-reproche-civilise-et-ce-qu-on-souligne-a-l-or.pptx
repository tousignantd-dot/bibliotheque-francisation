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langue, la plus chargée du bloc. Trois points au programme, et ils ne se valent pas : l'irréel prend la première heure avec l'emphase, les relatives le dernier quart d'heure. Ne pas répartir également, on perdrait les trois.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premiers vont ensemble et occupent la moitié de la séance. Le quatrième est un savoir de lecture avant d'être un savoir d'écriture : le dire au groupe, cela change ce qu'on en attend.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Recueillir trois ou quatre réponses au tableau, telles qu'elles viennent. On y reviendra à la fin de la première partie pour les reformuler à l'irréel : c'est là que la forme se justifie toute seule.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écrire les deux moitiés l'une sous l'autre et souligner l'auxiliaire dans chacune. « Si j'aurais » se corrige en se rappelant que « si » et « -rais » ne se rencontrent jamais.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quatrième ligne est celle qui surprend : ce qui s'est mal fait hier produit encore ses effets, donc conditionnel présent. Y revenir à la pratique.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dernières lignes sont les pièges de l'exercice. « Serions » sans participe, parce que l'effet dure ; « publiera » parce que « si » y introduit une question indirecte, où le futur est permis.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 fait rater la dernière ligne de la pratique à presque tout le monde, et c'est très bien : on ne retient une exception qu'après y être tombé une fois.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 Ce que je demande, c'est... » est la meilleure façon de commencer la dernière phrase d'une intervention : elle annonce la conclusion sans dire « en conclusion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lire les cinq à voix haute, dans l'ordre : c'est en les entendant les unes après les autres qu'on entend ce que chacune ajoute.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vigilances : « c'est moi qui ai », jamais « qui a » ; et une seule mise en relief par phrase. Deux dans la même phrase s'annulent, trois dans une intervention suffisent.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dire franchement : ici, c'est un savoir de lecture. Dans un éditorial, ce qui suit « dont » ou « auquel » est presque toujours l'argument, et le pronom renvoie parfois trois lignes plus haut.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le verbe et sa préposition au crayon avant de répondre : s'opposer à, assister à, parler de. La difficulté vient toujours de la préposition, jamais du pronom.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central du bloc. Ces trois phrases entreront telles quelles dans l'intervention de E1 et dans la lettre de E2 : le dire, cela change le soin qu'on y met.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reproche civilisé, et ce qu'on souligne à l'oral</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tournures font presque tout le travail d'une prise de position : celle qui parle du monde qui n'a pas eu lieu, et celle qui dit à l'auditoire ce qu'il doit retenir.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Deux versions, et la mienne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l'hypothèse irréelle du passé : si plus plus-que-parfait, conditionnel passé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 « si » qui n'est pas une hypothèse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mettre en relief avec c'est... qui, ce que... c'est, et le détachement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dont, auquel, pour lesquelles selon la préposition du verbe.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Qu'est-ce qui aurait dû se passer autrement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Reprenez le dossier du boisé : quel geste manque, selon vous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reprocher une décision sans accuser personne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dire un regret sans dire « c'est de ma faute »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peut critiquer et rester écoutable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SI PLUS PLUS-QUE-PARFAIT, PUIS CONDITIONNEL PASSÉ</a:t>
            </a:r>
          </a:p>
        </p:txBody>
      </p:sp>
      <p:sp>
        <p:nvSpPr>
          <p:cNvPr id="6" name="Rounded Rectangle 5"/>
          <p:cNvSpPr/>
          <p:nvPr/>
        </p:nvSpPr>
        <p:spPr>
          <a:xfrm>
            <a:off x="566928" y="1225296"/>
            <a:ext cx="11057839" cy="2525776"/>
          </a:xfrm>
          <a:prstGeom prst="roundRect">
            <a:avLst>
              <a:gd name="adj" fmla="val 5792"/>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702816"/>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Si la Ville avait publié l'évaluation, personne n'aurait demandé de référendum. Jamais de conditionnel après « si » : c'est la faute la plus connue du français.</a:t>
            </a:r>
          </a:p>
        </p:txBody>
      </p:sp>
      <p:sp>
        <p:nvSpPr>
          <p:cNvPr id="8" name="Rounded Rectangle 7"/>
          <p:cNvSpPr/>
          <p:nvPr/>
        </p:nvSpPr>
        <p:spPr>
          <a:xfrm>
            <a:off x="566928" y="402539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9971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Plus-que-parfait dans la moitié « si » : avoir ou être à l'imparfait, plus le participe. Conditionnel passé dans l'autre : avoir ou être au conditionnel, plus le même participe. Les deux moitiés peuvent s'échanger ; quand « si » passe en second, la virgule disparaît.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cette forme sert à dire</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VEUT FAIRE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DIT</a:t>
            </a:r>
          </a:p>
        </p:txBody>
      </p:sp>
      <p:sp>
        <p:nvSpPr>
          <p:cNvPr id="10" name="TextBox 9"/>
          <p:cNvSpPr txBox="1"/>
          <p:nvPr/>
        </p:nvSpPr>
        <p:spPr>
          <a:xfrm>
            <a:off x="932688" y="2395728"/>
            <a:ext cx="3291492" cy="53949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Reprocher sans accuser</a:t>
            </a:r>
          </a:p>
        </p:txBody>
      </p:sp>
      <p:sp>
        <p:nvSpPr>
          <p:cNvPr id="11" name="TextBox 10"/>
          <p:cNvSpPr txBox="1"/>
          <p:nvPr/>
        </p:nvSpPr>
        <p:spPr>
          <a:xfrm>
            <a:off x="4443636" y="2395728"/>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Si l'évaluation avait été publiée, cette discussion n'aurait pas lieu d'être.</a:t>
            </a:r>
          </a:p>
        </p:txBody>
      </p:sp>
      <p:sp>
        <p:nvSpPr>
          <p:cNvPr id="12" name="Rectangle 11"/>
          <p:cNvSpPr/>
          <p:nvPr/>
        </p:nvSpPr>
        <p:spPr>
          <a:xfrm>
            <a:off x="932688" y="30083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36392"/>
            <a:ext cx="3291492"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Regretter</a:t>
            </a:r>
          </a:p>
        </p:txBody>
      </p:sp>
      <p:sp>
        <p:nvSpPr>
          <p:cNvPr id="14" name="TextBox 13"/>
          <p:cNvSpPr txBox="1"/>
          <p:nvPr/>
        </p:nvSpPr>
        <p:spPr>
          <a:xfrm>
            <a:off x="4443636" y="3136392"/>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Si j'avais parlé à l'assemblée, j'aurais eu ma réponse.</a:t>
            </a:r>
          </a:p>
        </p:txBody>
      </p:sp>
      <p:sp>
        <p:nvSpPr>
          <p:cNvPr id="15" name="Rectangle 14"/>
          <p:cNvSpPr/>
          <p:nvPr/>
        </p:nvSpPr>
        <p:spPr>
          <a:xfrm>
            <a:off x="932688" y="34975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25596"/>
            <a:ext cx="3291492" cy="53949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Tirer une leçon</a:t>
            </a:r>
          </a:p>
        </p:txBody>
      </p:sp>
      <p:sp>
        <p:nvSpPr>
          <p:cNvPr id="17" name="TextBox 16"/>
          <p:cNvSpPr txBox="1"/>
          <p:nvPr/>
        </p:nvSpPr>
        <p:spPr>
          <a:xfrm>
            <a:off x="4443636" y="3625596"/>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Si le conseil avait attendu deux semaines, le vote aurait été mieux compris.</a:t>
            </a:r>
          </a:p>
        </p:txBody>
      </p:sp>
      <p:sp>
        <p:nvSpPr>
          <p:cNvPr id="18" name="Rectangle 17"/>
          <p:cNvSpPr/>
          <p:nvPr/>
        </p:nvSpPr>
        <p:spPr>
          <a:xfrm>
            <a:off x="932688" y="42382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66259"/>
            <a:ext cx="3291492"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Dire que l'effet dure encore</a:t>
            </a:r>
          </a:p>
        </p:txBody>
      </p:sp>
      <p:sp>
        <p:nvSpPr>
          <p:cNvPr id="20" name="TextBox 19"/>
          <p:cNvSpPr txBox="1"/>
          <p:nvPr/>
        </p:nvSpPr>
        <p:spPr>
          <a:xfrm>
            <a:off x="4443636" y="4366259"/>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S'ils avaient mieux consulté, nous n'en serions pas là aujourd'hui.</a:t>
            </a:r>
          </a:p>
        </p:txBody>
      </p:sp>
      <p:sp>
        <p:nvSpPr>
          <p:cNvPr id="21" name="Rounded Rectangle 20"/>
          <p:cNvSpPr/>
          <p:nvPr/>
        </p:nvSpPr>
        <p:spPr>
          <a:xfrm>
            <a:off x="566928" y="514807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dernière ligne mêle les deux temps : passé dans la condition, présent dans la conséquence.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aurait pu se passer autrement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 seulement le groupe verbal demandé.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 Ville avait publié l'évaluation, le comité ___ (ne pas ouvrir) de registre.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conseil ___ (attendre) deux semaines, le vote aurait été mieux compris.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j'avais eu ces documents la semaine dernière, je ___ (ne pas appeler) ce matin.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Nous ___ (venir) plus nombreux si la séance n'avait pas duré jusqu'à vingt-trois heures.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S'ils avaient mieux consulté, nous n'en ___ (être) pas là aujourd'hui.</a:t>
            </a:r>
          </a:p>
        </p:txBody>
      </p:sp>
      <p:sp>
        <p:nvSpPr>
          <p:cNvPr id="28" name="Rounded Rectangle 27"/>
          <p:cNvSpPr/>
          <p:nvPr/>
        </p:nvSpPr>
        <p:spPr>
          <a:xfrm>
            <a:off x="566928" y="557885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8003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86435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me demande si la Ville ___ (publier) enfin l'évaluation avant mardi.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aurait pu se passer autrement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 Ville avait publié l'évaluation, le comité ___ (ne pas ouvrir) de registre.   </a:t>
            </a:r>
            <a:r>
              <a:rPr sz="1400" b="1" i="0">
                <a:solidFill>
                  <a:srgbClr val="07734A"/>
                </a:solidFill>
                <a:latin typeface="Verdana"/>
              </a:rPr>
              <a:t>» n'aurait pas ouvert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conseil ___ (attendre) deux semaines, le vote aurait été mieux compris.   </a:t>
            </a:r>
            <a:r>
              <a:rPr sz="1400" b="1" i="0">
                <a:solidFill>
                  <a:srgbClr val="07734A"/>
                </a:solidFill>
                <a:latin typeface="Verdana"/>
              </a:rPr>
              <a:t>» avait attendu</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j'avais eu ces documents la semaine dernière, je ___ (ne pas appeler) ce matin.   </a:t>
            </a:r>
            <a:r>
              <a:rPr sz="1400" b="1" i="0">
                <a:solidFill>
                  <a:srgbClr val="07734A"/>
                </a:solidFill>
                <a:latin typeface="Verdana"/>
              </a:rPr>
              <a:t>» n'aurais pas appelé</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Nous ___ (venir) plus nombreux si la séance n'avait pas duré jusqu'à vingt-trois heures.   </a:t>
            </a:r>
            <a:r>
              <a:rPr sz="1400" b="1" i="0">
                <a:solidFill>
                  <a:srgbClr val="07734A"/>
                </a:solidFill>
                <a:latin typeface="Verdana"/>
              </a:rPr>
              <a:t>» serions venus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S'ils avaient mieux consulté, nous n'en ___ (être) pas là aujourd'hui.   </a:t>
            </a:r>
            <a:r>
              <a:rPr sz="1400" b="1" i="0">
                <a:solidFill>
                  <a:srgbClr val="07734A"/>
                </a:solidFill>
                <a:latin typeface="Verdana"/>
              </a:rPr>
              <a:t>» serions - l'effet dure encore</a:t>
            </a:r>
          </a:p>
        </p:txBody>
      </p:sp>
      <p:sp>
        <p:nvSpPr>
          <p:cNvPr id="28" name="Rounded Rectangle 27"/>
          <p:cNvSpPr/>
          <p:nvPr/>
        </p:nvSpPr>
        <p:spPr>
          <a:xfrm>
            <a:off x="566928" y="557885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8003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86435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me demande si la Ville ___ (publier) enfin l'évaluation avant mardi.   </a:t>
            </a:r>
            <a:r>
              <a:rPr sz="1400" b="1" i="0">
                <a:solidFill>
                  <a:srgbClr val="07734A"/>
                </a:solidFill>
                <a:latin typeface="Verdana"/>
              </a:rPr>
              <a:t>» publiera - ce n'est pas une hypothèse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si » veut toujours dire hypothèse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si » introduit aussi une question indirecte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me demande si la Ville publiera l'évaluation » n'est pas une hypothèse : c'est une question rapportée, et le futur y est correct. La règle « jamais de conditionnel après si » ne vaut que pour l'hypothèse. Le test : peut-on remplacer « si » par « oui ou non » dans la phrase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QUE JE DEMANDE, C'EST...</a:t>
            </a:r>
          </a:p>
        </p:txBody>
      </p:sp>
      <p:sp>
        <p:nvSpPr>
          <p:cNvPr id="6" name="Rounded Rectangle 5"/>
          <p:cNvSpPr/>
          <p:nvPr/>
        </p:nvSpPr>
        <p:spPr>
          <a:xfrm>
            <a:off x="566928" y="1225296"/>
            <a:ext cx="11057839" cy="2525776"/>
          </a:xfrm>
          <a:prstGeom prst="roundRect">
            <a:avLst>
              <a:gd name="adj" fmla="val 5792"/>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702816"/>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À l'écrit on souligne ; à l'oral, on ne peut pas. Le français a des tournures qui font le même travail : elles déplacent un groupe de mots et le mettent en évidence.</a:t>
            </a:r>
          </a:p>
        </p:txBody>
      </p:sp>
      <p:sp>
        <p:nvSpPr>
          <p:cNvPr id="8" name="Rounded Rectangle 7"/>
          <p:cNvSpPr/>
          <p:nvPr/>
        </p:nvSpPr>
        <p:spPr>
          <a:xfrm>
            <a:off x="566928" y="402539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9971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outils. C'est... qui quand le groupe extrait est le sujet, c'est... que dans tous les autres cas. Ce que... c'est pour annoncer qu'un point important arrive. Le détachement avec reprise par un pronom, à l'oral. Quant à, à l'écrit soutenu.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idée, cinq mises en relief</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PRODUIT</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La procédure me dérange.</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phrase neutre - rien ne ressort</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C'est la procédure qui me dérange.</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écarte tout le reste : ce n'est pas le projet</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Ce qui me dérange, c'est la procédure.</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annonce, puis on livre : l'auditoire attend</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La procédure, elle me dérange.</a:t>
            </a:r>
          </a:p>
        </p:txBody>
      </p:sp>
      <p:sp>
        <p:nvSpPr>
          <p:cNvPr id="20" name="TextBox 19"/>
          <p:cNvSpPr txBox="1"/>
          <p:nvPr/>
        </p:nvSpPr>
        <p:spPr>
          <a:xfrm>
            <a:off x="4443636" y="4450080"/>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détachement parlé, très direct, bon à la radio</a:t>
            </a:r>
          </a:p>
        </p:txBody>
      </p:sp>
      <p:sp>
        <p:nvSpPr>
          <p:cNvPr id="21" name="Rectangle 20"/>
          <p:cNvSpPr/>
          <p:nvPr/>
        </p:nvSpPr>
        <p:spPr>
          <a:xfrm>
            <a:off x="932688" y="50962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224272"/>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Quant à la procédure, elle me dérange.</a:t>
            </a:r>
          </a:p>
        </p:txBody>
      </p:sp>
      <p:sp>
        <p:nvSpPr>
          <p:cNvPr id="23" name="TextBox 22"/>
          <p:cNvSpPr txBox="1"/>
          <p:nvPr/>
        </p:nvSpPr>
        <p:spPr>
          <a:xfrm>
            <a:off x="4443636" y="5224272"/>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registre soutenu, bon en tête de paragraphe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Mettre en avant ce qui compte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Récrivez avec la tournure indiquée.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procédure me dérange, pas le projet. (c'est... qui)</a:t>
            </a:r>
          </a:p>
        </p:txBody>
      </p:sp>
      <p:sp>
        <p:nvSpPr>
          <p:cNvPr id="12" name="Rounded Rectangle 11"/>
          <p:cNvSpPr/>
          <p:nvPr/>
        </p:nvSpPr>
        <p:spPr>
          <a:xfrm>
            <a:off x="566928" y="2827528"/>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490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130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demande la publication de l'évaluation. (ce que... c'est)</a:t>
            </a:r>
          </a:p>
        </p:txBody>
      </p:sp>
      <p:sp>
        <p:nvSpPr>
          <p:cNvPr id="16" name="Rounded Rectangle 15"/>
          <p:cNvSpPr/>
          <p:nvPr/>
        </p:nvSpPr>
        <p:spPr>
          <a:xfrm>
            <a:off x="566928" y="3764279"/>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8576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4977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étude du terrain de l'aréna manque. (ce qui... c'est)</a:t>
            </a:r>
          </a:p>
        </p:txBody>
      </p:sp>
      <p:sp>
        <p:nvSpPr>
          <p:cNvPr id="20" name="Rounded Rectangle 19"/>
          <p:cNvSpPr/>
          <p:nvPr/>
        </p:nvSpPr>
        <p:spPr>
          <a:xfrm>
            <a:off x="566928" y="4701031"/>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9805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6206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85647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voté à vingt-deux heures cinquante. (c'est... que)</a:t>
            </a:r>
          </a:p>
        </p:txBody>
      </p:sp>
      <p:sp>
        <p:nvSpPr>
          <p:cNvPr id="24" name="Rounded Rectangle 23"/>
          <p:cNvSpPr/>
          <p:nvPr/>
        </p:nvSpPr>
        <p:spPr>
          <a:xfrm>
            <a:off x="566928" y="538886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veux ce document avant mardi. (détachement et pronom)</a:t>
            </a:r>
          </a:p>
        </p:txBody>
      </p:sp>
      <p:sp>
        <p:nvSpPr>
          <p:cNvPr id="28" name="Rounded Rectangle 27"/>
          <p:cNvSpPr/>
          <p:nvPr/>
        </p:nvSpPr>
        <p:spPr>
          <a:xfrm>
            <a:off x="566928" y="6076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17372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237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6232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L'évaluation n'a toujours pas été publiée. (quant 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Mettre en avant ce qui compte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procédure me dérange, pas le projet. (c'est... qui)   </a:t>
            </a:r>
            <a:r>
              <a:rPr sz="1400" b="1" i="0">
                <a:solidFill>
                  <a:srgbClr val="07734A"/>
                </a:solidFill>
                <a:latin typeface="Verdana"/>
              </a:rPr>
              <a:t>» C'est la procédure qui me dérange, pas le projet.</a:t>
            </a:r>
          </a:p>
        </p:txBody>
      </p:sp>
      <p:sp>
        <p:nvSpPr>
          <p:cNvPr id="12" name="Rounded Rectangle 11"/>
          <p:cNvSpPr/>
          <p:nvPr/>
        </p:nvSpPr>
        <p:spPr>
          <a:xfrm>
            <a:off x="566928" y="2827528"/>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490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130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demande la publication de l'évaluation. (ce que... c'est)   </a:t>
            </a:r>
            <a:r>
              <a:rPr sz="1400" b="1" i="0">
                <a:solidFill>
                  <a:srgbClr val="07734A"/>
                </a:solidFill>
                <a:latin typeface="Verdana"/>
              </a:rPr>
              <a:t>» Ce que je demande, c'est la publication de l'évaluation.</a:t>
            </a:r>
          </a:p>
        </p:txBody>
      </p:sp>
      <p:sp>
        <p:nvSpPr>
          <p:cNvPr id="16" name="Rounded Rectangle 15"/>
          <p:cNvSpPr/>
          <p:nvPr/>
        </p:nvSpPr>
        <p:spPr>
          <a:xfrm>
            <a:off x="566928" y="3764279"/>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8576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4977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étude du terrain de l'aréna manque. (ce qui... c'est)   </a:t>
            </a:r>
            <a:r>
              <a:rPr sz="1400" b="1" i="0">
                <a:solidFill>
                  <a:srgbClr val="07734A"/>
                </a:solidFill>
                <a:latin typeface="Verdana"/>
              </a:rPr>
              <a:t>» Ce qui manque, c'est une étude du terrain de l'aréna.</a:t>
            </a:r>
          </a:p>
        </p:txBody>
      </p:sp>
      <p:sp>
        <p:nvSpPr>
          <p:cNvPr id="20" name="Rounded Rectangle 19"/>
          <p:cNvSpPr/>
          <p:nvPr/>
        </p:nvSpPr>
        <p:spPr>
          <a:xfrm>
            <a:off x="566928" y="4701031"/>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9805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6206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85647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voté à vingt-deux heures cinquante. (c'est... que)   </a:t>
            </a:r>
            <a:r>
              <a:rPr sz="1400" b="1" i="0">
                <a:solidFill>
                  <a:srgbClr val="07734A"/>
                </a:solidFill>
                <a:latin typeface="Verdana"/>
              </a:rPr>
              <a:t>» C'est à vingt-deux heures cinquante qu'on a voté.</a:t>
            </a:r>
          </a:p>
        </p:txBody>
      </p:sp>
      <p:sp>
        <p:nvSpPr>
          <p:cNvPr id="24" name="Rounded Rectangle 23"/>
          <p:cNvSpPr/>
          <p:nvPr/>
        </p:nvSpPr>
        <p:spPr>
          <a:xfrm>
            <a:off x="566928" y="538886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veux ce document avant mardi. (détachement et pronom)   </a:t>
            </a:r>
            <a:r>
              <a:rPr sz="1400" b="1" i="0">
                <a:solidFill>
                  <a:srgbClr val="07734A"/>
                </a:solidFill>
                <a:latin typeface="Verdana"/>
              </a:rPr>
              <a:t>» Ce document-là, je le veux avant mardi.</a:t>
            </a:r>
          </a:p>
        </p:txBody>
      </p:sp>
      <p:sp>
        <p:nvSpPr>
          <p:cNvPr id="28" name="Rounded Rectangle 27"/>
          <p:cNvSpPr/>
          <p:nvPr/>
        </p:nvSpPr>
        <p:spPr>
          <a:xfrm>
            <a:off x="566928" y="6076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17372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237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6232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L'évaluation n'a toujours pas été publiée. (quant à)   </a:t>
            </a:r>
            <a:r>
              <a:rPr sz="1400" b="1" i="0">
                <a:solidFill>
                  <a:srgbClr val="07734A"/>
                </a:solidFill>
                <a:latin typeface="Verdana"/>
              </a:rPr>
              <a:t>» Quant à l'évaluation, elle n'a toujours pas été publiée.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RELATIVES QUI PORTENT UNE PRÉPOSITION</a:t>
            </a:r>
          </a:p>
        </p:txBody>
      </p:sp>
      <p:sp>
        <p:nvSpPr>
          <p:cNvPr id="6" name="Rounded Rectangle 5"/>
          <p:cNvSpPr/>
          <p:nvPr/>
        </p:nvSpPr>
        <p:spPr>
          <a:xfrm>
            <a:off x="566928" y="1225296"/>
            <a:ext cx="11057839" cy="2169413"/>
          </a:xfrm>
          <a:prstGeom prst="roundRect">
            <a:avLst>
              <a:gd name="adj" fmla="val 6743"/>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346453"/>
          </a:xfrm>
          <a:prstGeom prst="rect">
            <a:avLst/>
          </a:prstGeom>
          <a:noFill/>
        </p:spPr>
        <p:txBody>
          <a:bodyPr wrap="square" lIns="0" rIns="0" tIns="0" bIns="0" anchor="t">
            <a:spAutoFit/>
          </a:bodyPr>
          <a:lstStyle/>
          <a:p>
            <a:pPr algn="l">
              <a:lnSpc>
                <a:spcPct val="122000"/>
              </a:lnSpc>
            </a:pPr>
            <a:r>
              <a:rPr sz="2700" b="1" i="0">
                <a:solidFill>
                  <a:srgbClr val="17181A"/>
                </a:solidFill>
                <a:latin typeface="Verdana"/>
              </a:rPr>
              <a:t>Cherchez la préposition que demande le verbe de la relative, puis le genre et le nombre de ce qu'elle reprend. Le pronom s'en déduit tout seul.</a:t>
            </a:r>
          </a:p>
        </p:txBody>
      </p:sp>
      <p:sp>
        <p:nvSpPr>
          <p:cNvPr id="8" name="Rounded Rectangle 7"/>
          <p:cNvSpPr/>
          <p:nvPr/>
        </p:nvSpPr>
        <p:spPr>
          <a:xfrm>
            <a:off x="566928" y="3669029"/>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943349"/>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 donne dont : un dossier dont tout le monde parle. À donne auquel, à laquelle, auxquelles - ou « à qui » pour des personnes. Les autres prépositions donnent lequel accordé : sur lequel, pour lesquelles. Le lieu et le temps donnent où, qui allège la phrase.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pronom relatif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un projet ___ je m'oppose pour des raisons de procédure.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L'assemblée ___ j'ai assisté jeudi a duré deux heures.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Voici les deux raisons ___ j'ai décidé de signer.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un dossier ___ tout le monde parle depuis lundi.</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___ le porte-parole est madame Sauvé compte trente membres.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n'oublierai pas le soir ___ le vote a été pris.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pronom relatif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un projet ___ je m'oppose pour des raisons de procédure.   </a:t>
            </a:r>
            <a:r>
              <a:rPr sz="1400" b="1" i="0">
                <a:solidFill>
                  <a:srgbClr val="07734A"/>
                </a:solidFill>
                <a:latin typeface="Verdana"/>
              </a:rPr>
              <a:t>» auquel - s'opposer à</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L'assemblée ___ j'ai assisté jeudi a duré deux heures.   </a:t>
            </a:r>
            <a:r>
              <a:rPr sz="1400" b="1" i="0">
                <a:solidFill>
                  <a:srgbClr val="07734A"/>
                </a:solidFill>
                <a:latin typeface="Verdana"/>
              </a:rPr>
              <a:t>» à laquelle - assister à</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Voici les deux raisons ___ j'ai décidé de signer.   </a:t>
            </a:r>
            <a:r>
              <a:rPr sz="1400" b="1" i="0">
                <a:solidFill>
                  <a:srgbClr val="07734A"/>
                </a:solidFill>
                <a:latin typeface="Verdana"/>
              </a:rPr>
              <a:t>» pour lesquelles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un dossier ___ tout le monde parle depuis lundi.   </a:t>
            </a:r>
            <a:r>
              <a:rPr sz="1400" b="1" i="0">
                <a:solidFill>
                  <a:srgbClr val="07734A"/>
                </a:solidFill>
                <a:latin typeface="Verdana"/>
              </a:rPr>
              <a:t>» dont - parler de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___ le porte-parole est madame Sauvé compte trente membres.   </a:t>
            </a:r>
            <a:r>
              <a:rPr sz="1400" b="1" i="0">
                <a:solidFill>
                  <a:srgbClr val="07734A"/>
                </a:solidFill>
                <a:latin typeface="Verdana"/>
              </a:rPr>
              <a:t>» dont - jamais « dont son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n'oublierai pas le soir ___ le vote a été pris.   </a:t>
            </a:r>
            <a:r>
              <a:rPr sz="1400" b="1" i="0">
                <a:solidFill>
                  <a:srgbClr val="07734A"/>
                </a:solidFill>
                <a:latin typeface="Verdana"/>
              </a:rPr>
              <a:t>» où - le temps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phrases sur le dossier du boisé, une par tournure.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hypothèse irréelle : si la Ville avait..., je n'aurais pas...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mise en relief : ce que je demande, c'est...</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relative à préposition : les raisons pour lesquelles...</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Deux versions, et la mienne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