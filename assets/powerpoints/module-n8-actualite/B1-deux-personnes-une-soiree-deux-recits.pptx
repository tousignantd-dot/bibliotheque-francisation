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bloc B. Annoncer tout de suite la difficulté du défi : ici, personne ne ment. Les élèves cherchent spontanément qui a tort, et il n'y a pas de réponse à cette question-là.</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coeur de la séance et il revient dans les trois suivantes. Le quatrième est préparé ici et travaillé en B4.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venir les réponses. La quatrième question est celle qui ouvre le module : un récit renseigne toujours deux fois, sur le fait et sur la personne qui le rapporte.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relever les cinq chiffres de ce début : quatre contre trois, un dollar, quarante-cinq, cent quatre-vingts, douze cent quatre. Aucun des deux invités ne les contestera : c'est le socle commun.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passage central de la séance. Faire chercher une seule phrase de l'un que l'autre pourrait déclarer fausse : il n'y en a pas. Puis demander ce que chacun a laissé de côté.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gestes à faire remarquer : Wilfrid concède le fait avant d'objecter, et Régine ne nie pas le chiffre, elle en discute le statut. Ce sont les deux gestes que le module fait travailler jusqu'à la fin.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est la phrase à retenir de tout le bloc. L'écrire au tableau et l'y laisser jusqu'à la fin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Donner un exemple hors du dossier : deux personnes comptent les logements d'un immeuble, l'une compte les portes, l'autre les baux.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par la réplique entendue, pas par une impression. Le deuxième énoncé est celui qui piège : Régine est contre l'endroit et contre la manière, jamais contre le logement abordable.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ajouter par le groupe une septième ligne à partir de ce qu'ils ont retenu : les propositions se rangent presque toujours d'un côté ou de l'autre sans hésiter.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La contrainte est tout l'exercice : dire deux choses opposées sans mentir une seule fois. Deux ou trois billets seront lus en début de B2, avant les articles.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B1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Deux personnes, une soirée, deux récits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Wilfrid Chamberland et Régine Sauvé étaient dans la même salle, le même lundi. Ils ne racontent pas la même chose et ils ne se contredisent jamais. C'est ça qu'il faut apprendre à entendre.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Deux versions, et la mienne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suivre un reportage radio à trois voix, sans transcription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que chaque personne choisit de raconter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un désaccord chiffré et dire sur quoi il porte vraiment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la source d'un renseignement entendu.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Deux amis vous racontent la même soirée. Que faites-vous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tudio-radio.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cherchez lequel des deux se trompe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qu'il est possible que les deux disent vrai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chacun a jugé important de garder ?</a:t>
            </a:r>
          </a:p>
        </p:txBody>
      </p:sp>
      <p:sp>
        <p:nvSpPr>
          <p:cNvPr id="18" name="Rounded Rectangle 17"/>
          <p:cNvSpPr/>
          <p:nvPr/>
        </p:nvSpPr>
        <p:spPr>
          <a:xfrm>
            <a:off x="566928" y="5227320"/>
            <a:ext cx="6492240" cy="1379220"/>
          </a:xfrm>
          <a:prstGeom prst="roundRect">
            <a:avLst>
              <a:gd name="adj" fmla="val 1060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115976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105003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apprenez du récit, et qu'est-ce que vous apprenez de celui qui raconte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REPORTAGE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dit l'animateur au départ</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662017"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GRÉGOIRE</a:t>
            </a:r>
          </a:p>
        </p:txBody>
      </p:sp>
      <p:sp>
        <p:nvSpPr>
          <p:cNvPr id="10" name="TextBox 9"/>
          <p:cNvSpPr txBox="1"/>
          <p:nvPr/>
        </p:nvSpPr>
        <p:spPr>
          <a:xfrm>
            <a:off x="2594705" y="2322576"/>
            <a:ext cx="8481421"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Retour ce matin sur la séance de lundi soir à l'hôtel de ville de Rivière-aux-Cèdres.</a:t>
            </a:r>
          </a:p>
        </p:txBody>
      </p:sp>
      <p:sp>
        <p:nvSpPr>
          <p:cNvPr id="11" name="Rounded Rectangle 10"/>
          <p:cNvSpPr/>
          <p:nvPr/>
        </p:nvSpPr>
        <p:spPr>
          <a:xfrm>
            <a:off x="566928" y="3138424"/>
            <a:ext cx="11057839" cy="1182623"/>
          </a:xfrm>
          <a:prstGeom prst="roundRect">
            <a:avLst>
              <a:gd name="adj" fmla="val 1237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303016"/>
            <a:ext cx="1662017" cy="908303"/>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GRÉGOIRE</a:t>
            </a:r>
          </a:p>
        </p:txBody>
      </p:sp>
      <p:sp>
        <p:nvSpPr>
          <p:cNvPr id="13" name="TextBox 12"/>
          <p:cNvSpPr txBox="1"/>
          <p:nvPr/>
        </p:nvSpPr>
        <p:spPr>
          <a:xfrm>
            <a:off x="2594705" y="3303016"/>
            <a:ext cx="8481421" cy="908303"/>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règlement numéro douze cent quatre a été adopté par quatre voix contre trois. Il autorise la cession du boisé Sainte-Perpétue à Habitations Verchères-Nord pour un dollar symbolique.</a:t>
            </a:r>
          </a:p>
        </p:txBody>
      </p:sp>
      <p:sp>
        <p:nvSpPr>
          <p:cNvPr id="14" name="Rounded Rectangle 13"/>
          <p:cNvSpPr/>
          <p:nvPr/>
        </p:nvSpPr>
        <p:spPr>
          <a:xfrm>
            <a:off x="566928" y="440334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567935"/>
            <a:ext cx="1662017"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GRÉGOIRE</a:t>
            </a:r>
          </a:p>
        </p:txBody>
      </p:sp>
      <p:sp>
        <p:nvSpPr>
          <p:cNvPr id="16" name="TextBox 15"/>
          <p:cNvSpPr txBox="1"/>
          <p:nvPr/>
        </p:nvSpPr>
        <p:spPr>
          <a:xfrm>
            <a:off x="2594705" y="4567935"/>
            <a:ext cx="8481421"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En échange : quarante-cinq logements à loyer abordable sur les cent quatre-vingts prévus.</a:t>
            </a:r>
          </a:p>
        </p:txBody>
      </p:sp>
      <p:sp>
        <p:nvSpPr>
          <p:cNvPr id="17" name="Rounded Rectangle 16"/>
          <p:cNvSpPr/>
          <p:nvPr/>
        </p:nvSpPr>
        <p:spPr>
          <a:xfrm>
            <a:off x="566928" y="5383783"/>
            <a:ext cx="11057839" cy="613664"/>
          </a:xfrm>
          <a:prstGeom prst="roundRect">
            <a:avLst>
              <a:gd name="adj" fmla="val 2384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548375"/>
            <a:ext cx="1662017" cy="33934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GRÉGOIRE</a:t>
            </a:r>
          </a:p>
        </p:txBody>
      </p:sp>
      <p:sp>
        <p:nvSpPr>
          <p:cNvPr id="19" name="TextBox 18"/>
          <p:cNvSpPr txBox="1"/>
          <p:nvPr/>
        </p:nvSpPr>
        <p:spPr>
          <a:xfrm>
            <a:off x="2594705" y="5548375"/>
            <a:ext cx="8481421" cy="33934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Nous avons demandé à deux personnes de nous raconter la même soirée.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REPORTAGE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même minute, deux fois</a:t>
            </a:r>
          </a:p>
        </p:txBody>
      </p:sp>
      <p:sp>
        <p:nvSpPr>
          <p:cNvPr id="7" name="Rounded Rectangle 6"/>
          <p:cNvSpPr/>
          <p:nvPr/>
        </p:nvSpPr>
        <p:spPr>
          <a:xfrm>
            <a:off x="566928" y="1737360"/>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72565"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WILFRID</a:t>
            </a:r>
          </a:p>
        </p:txBody>
      </p:sp>
      <p:sp>
        <p:nvSpPr>
          <p:cNvPr id="9" name="TextBox 8"/>
          <p:cNvSpPr txBox="1"/>
          <p:nvPr/>
        </p:nvSpPr>
        <p:spPr>
          <a:xfrm>
            <a:off x="2405253" y="1901952"/>
            <a:ext cx="8670874"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Il s'est passé qu'une ville de vingt-quatre mille habitants s'est donné quarante-cinq logements abordables sans dépenser un sou.</a:t>
            </a:r>
          </a:p>
        </p:txBody>
      </p:sp>
      <p:sp>
        <p:nvSpPr>
          <p:cNvPr id="10" name="Rounded Rectangle 9"/>
          <p:cNvSpPr/>
          <p:nvPr/>
        </p:nvSpPr>
        <p:spPr>
          <a:xfrm>
            <a:off x="566928" y="2753360"/>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17952"/>
            <a:ext cx="1472565"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WILFRID</a:t>
            </a:r>
          </a:p>
        </p:txBody>
      </p:sp>
      <p:sp>
        <p:nvSpPr>
          <p:cNvPr id="12" name="TextBox 11"/>
          <p:cNvSpPr txBox="1"/>
          <p:nvPr/>
        </p:nvSpPr>
        <p:spPr>
          <a:xfrm>
            <a:off x="2405253" y="2917952"/>
            <a:ext cx="8670874"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terrain ne rapportait rien, il coûtait onze mille dollars par année en entretien, et il va maintenant produire du logement et des taxes.</a:t>
            </a:r>
          </a:p>
        </p:txBody>
      </p:sp>
      <p:sp>
        <p:nvSpPr>
          <p:cNvPr id="13" name="Rounded Rectangle 12"/>
          <p:cNvSpPr/>
          <p:nvPr/>
        </p:nvSpPr>
        <p:spPr>
          <a:xfrm>
            <a:off x="566928" y="3769359"/>
            <a:ext cx="11057839" cy="1235964"/>
          </a:xfrm>
          <a:prstGeom prst="roundRect">
            <a:avLst>
              <a:gd name="adj" fmla="val 1183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933951"/>
            <a:ext cx="1472565" cy="96164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RÉGINE</a:t>
            </a:r>
          </a:p>
        </p:txBody>
      </p:sp>
      <p:sp>
        <p:nvSpPr>
          <p:cNvPr id="15" name="TextBox 14"/>
          <p:cNvSpPr txBox="1"/>
          <p:nvPr/>
        </p:nvSpPr>
        <p:spPr>
          <a:xfrm>
            <a:off x="2405253" y="3933951"/>
            <a:ext cx="8670874" cy="96164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Il s'est passé qu'un conseil a cédé un bien public pour un dollar, quatre jours après avoir reçu l'évaluation, et sans avoir regardé le seul autre terrain disponible.</a:t>
            </a:r>
          </a:p>
        </p:txBody>
      </p:sp>
      <p:sp>
        <p:nvSpPr>
          <p:cNvPr id="16" name="Rounded Rectangle 15"/>
          <p:cNvSpPr/>
          <p:nvPr/>
        </p:nvSpPr>
        <p:spPr>
          <a:xfrm>
            <a:off x="566928" y="5087619"/>
            <a:ext cx="11057839" cy="631443"/>
          </a:xfrm>
          <a:prstGeom prst="roundRect">
            <a:avLst>
              <a:gd name="adj" fmla="val 231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252211"/>
            <a:ext cx="1472565" cy="35712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RÉGINE</a:t>
            </a:r>
          </a:p>
        </p:txBody>
      </p:sp>
      <p:sp>
        <p:nvSpPr>
          <p:cNvPr id="18" name="TextBox 17"/>
          <p:cNvSpPr txBox="1"/>
          <p:nvPr/>
        </p:nvSpPr>
        <p:spPr>
          <a:xfrm>
            <a:off x="2405253" y="5252211"/>
            <a:ext cx="8670874" cy="35712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vote a été pris à vingt-deux heures cinquante, devant onze personnes.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REPORTAGE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terrain derrière l'aréna</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6201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GRÉGOIRE</a:t>
            </a:r>
          </a:p>
        </p:txBody>
      </p:sp>
      <p:sp>
        <p:nvSpPr>
          <p:cNvPr id="9" name="TextBox 8"/>
          <p:cNvSpPr txBox="1"/>
          <p:nvPr/>
        </p:nvSpPr>
        <p:spPr>
          <a:xfrm>
            <a:off x="2594705" y="1901952"/>
            <a:ext cx="848142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Monsieur Chamberland, le terrain derrière l'aréna, il existe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66201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WILFRID</a:t>
            </a:r>
          </a:p>
        </p:txBody>
      </p:sp>
      <p:sp>
        <p:nvSpPr>
          <p:cNvPr id="12" name="TextBox 11"/>
          <p:cNvSpPr txBox="1"/>
          <p:nvPr/>
        </p:nvSpPr>
        <p:spPr>
          <a:xfrm>
            <a:off x="2594705" y="2651252"/>
            <a:ext cx="848142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existe, et il appartient à la Ville, c'est exact. Mais il est zoné industriel et il faudrait vingt et un mois pour le rezoner.</a:t>
            </a:r>
          </a:p>
        </p:txBody>
      </p:sp>
      <p:sp>
        <p:nvSpPr>
          <p:cNvPr id="13" name="Rounded Rectangle 12"/>
          <p:cNvSpPr/>
          <p:nvPr/>
        </p:nvSpPr>
        <p:spPr>
          <a:xfrm>
            <a:off x="566928" y="357378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662017"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RÉGINE</a:t>
            </a:r>
          </a:p>
        </p:txBody>
      </p:sp>
      <p:sp>
        <p:nvSpPr>
          <p:cNvPr id="15" name="TextBox 14"/>
          <p:cNvSpPr txBox="1"/>
          <p:nvPr/>
        </p:nvSpPr>
        <p:spPr>
          <a:xfrm>
            <a:off x="2594705" y="3738371"/>
            <a:ext cx="8481421"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Vingt et un mois, c'est le délai que la Ville avance. Elle ne l'a écrit nulle part. Et c'est une estimation du service de l'urbanisme, pas une règle de loi.</a:t>
            </a:r>
          </a:p>
        </p:txBody>
      </p:sp>
      <p:sp>
        <p:nvSpPr>
          <p:cNvPr id="16" name="Rounded Rectangle 15"/>
          <p:cNvSpPr/>
          <p:nvPr/>
        </p:nvSpPr>
        <p:spPr>
          <a:xfrm>
            <a:off x="566928" y="49987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66201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WILFRID</a:t>
            </a:r>
          </a:p>
        </p:txBody>
      </p:sp>
      <p:sp>
        <p:nvSpPr>
          <p:cNvPr id="18" name="TextBox 17"/>
          <p:cNvSpPr txBox="1"/>
          <p:nvPr/>
        </p:nvSpPr>
        <p:spPr>
          <a:xfrm>
            <a:off x="2594705" y="5163312"/>
            <a:ext cx="848142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une estimation, oui. Ça reste vingt et un mois pendant lesquels personne ne se loge.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REPORTAGE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Quatre-vingt-dix ou trois cent quarante-deux</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6201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WILFRID</a:t>
            </a:r>
          </a:p>
        </p:txBody>
      </p:sp>
      <p:sp>
        <p:nvSpPr>
          <p:cNvPr id="9" name="TextBox 8"/>
          <p:cNvSpPr txBox="1"/>
          <p:nvPr/>
        </p:nvSpPr>
        <p:spPr>
          <a:xfrm>
            <a:off x="2594705" y="1901952"/>
            <a:ext cx="848142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promoteur parle de quatre-vingt-dix arbres sur les quatre hectares boisés, avec replantation à deux pour un.</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66201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RÉGINE</a:t>
            </a:r>
          </a:p>
        </p:txBody>
      </p:sp>
      <p:sp>
        <p:nvSpPr>
          <p:cNvPr id="12" name="TextBox 11"/>
          <p:cNvSpPr txBox="1"/>
          <p:nvPr/>
        </p:nvSpPr>
        <p:spPr>
          <a:xfrm>
            <a:off x="2594705" y="2989072"/>
            <a:ext cx="848142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comité en a compté trois cent quarante-deux, un samedi, à six personnes. Nous avons remis nos feuilles à la Ville.</a:t>
            </a:r>
          </a:p>
        </p:txBody>
      </p:sp>
      <p:sp>
        <p:nvSpPr>
          <p:cNvPr id="13" name="Rounded Rectangle 12"/>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66201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WILFRID</a:t>
            </a:r>
          </a:p>
        </p:txBody>
      </p:sp>
      <p:sp>
        <p:nvSpPr>
          <p:cNvPr id="15" name="TextBox 14"/>
          <p:cNvSpPr txBox="1"/>
          <p:nvPr/>
        </p:nvSpPr>
        <p:spPr>
          <a:xfrm>
            <a:off x="2594705" y="4076191"/>
            <a:ext cx="848142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ne compte peut-être pas la même chose. Un arbre de quinze centimètres de diamètre, est-ce que c'est un arbre ?</a:t>
            </a:r>
          </a:p>
        </p:txBody>
      </p:sp>
      <p:sp>
        <p:nvSpPr>
          <p:cNvPr id="16" name="Rounded Rectangle 15"/>
          <p:cNvSpPr/>
          <p:nvPr/>
        </p:nvSpPr>
        <p:spPr>
          <a:xfrm>
            <a:off x="566928" y="49987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66201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GRÉGOIRE</a:t>
            </a:r>
          </a:p>
        </p:txBody>
      </p:sp>
      <p:sp>
        <p:nvSpPr>
          <p:cNvPr id="18" name="TextBox 17"/>
          <p:cNvSpPr txBox="1"/>
          <p:nvPr/>
        </p:nvSpPr>
        <p:spPr>
          <a:xfrm>
            <a:off x="2594705" y="5163312"/>
            <a:ext cx="848142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voyez, chers auditeurs : le désaccord n'est pas sur le chiffre, il est sur la définition. Retenez ça, c'est souvent le cas.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DÉSACCORD N'EST PAS TOUJOURS LÀ OÙ ON LE VOIT</a:t>
            </a:r>
          </a:p>
        </p:txBody>
      </p:sp>
      <p:sp>
        <p:nvSpPr>
          <p:cNvPr id="6" name="Rounded Rectangle 5"/>
          <p:cNvSpPr/>
          <p:nvPr/>
        </p:nvSpPr>
        <p:spPr>
          <a:xfrm>
            <a:off x="566928" y="1225296"/>
            <a:ext cx="11057839" cy="2525776"/>
          </a:xfrm>
          <a:prstGeom prst="roundRect">
            <a:avLst>
              <a:gd name="adj" fmla="val 5792"/>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702816"/>
          </a:xfrm>
          <a:prstGeom prst="rect">
            <a:avLst/>
          </a:prstGeom>
          <a:noFill/>
        </p:spPr>
        <p:txBody>
          <a:bodyPr wrap="square" lIns="0" rIns="0" tIns="0" bIns="0" anchor="t">
            <a:spAutoFit/>
          </a:bodyPr>
          <a:lstStyle/>
          <a:p>
            <a:pPr algn="l">
              <a:lnSpc>
                <a:spcPct val="122000"/>
              </a:lnSpc>
            </a:pPr>
            <a:r>
              <a:rPr sz="2600" b="1" i="0">
                <a:solidFill>
                  <a:srgbClr val="17181A"/>
                </a:solidFill>
                <a:latin typeface="Verdana"/>
              </a:rPr>
              <a:t>Quatre-vingt-dix contre trois cent quarante-deux : l'écart a l'air d'un mensonge. Il vient d'une définition. À partir de quel diamètre un jeune érable devient-il un arbre ?</a:t>
            </a:r>
          </a:p>
        </p:txBody>
      </p:sp>
      <p:sp>
        <p:nvSpPr>
          <p:cNvPr id="8" name="Rounded Rectangle 7"/>
          <p:cNvSpPr/>
          <p:nvPr/>
        </p:nvSpPr>
        <p:spPr>
          <a:xfrm>
            <a:off x="566928" y="4025392"/>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99712"/>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Avant de choisir entre deux chiffres qui s'opposent, cherchez ce que chacun a compté. Très souvent, les deux comptages sont exacts et portent sur deux ensembles différents. La question utile n'est pas « qui ment ? », c'est « qu'avez-vous compté ?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reportage.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terrain est cédé au promoteur pour un dollar symbolique.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Régine Sauvé conteste le nombre de logements abordables prévus.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vote a été pris devant une salle comble.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terrain derrière l'aréna appartient bien à la Ville.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délai de vingt et un mois est inscrit dans une loi.</a:t>
            </a:r>
          </a:p>
        </p:txBody>
      </p:sp>
      <p:sp>
        <p:nvSpPr>
          <p:cNvPr id="28" name="Rounded Rectangle 27"/>
          <p:cNvSpPr/>
          <p:nvPr/>
        </p:nvSpPr>
        <p:spPr>
          <a:xfrm>
            <a:off x="566928" y="5578856"/>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80034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86435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promoteur et le comité donnent le même nombre d'arbres abattus.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terrain est cédé au promoteur pour un dollar symbolique.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Régine Sauvé conteste le nombre de logements abordables prévus.   </a:t>
            </a:r>
            <a:r>
              <a:rPr sz="1400" b="1" i="0">
                <a:solidFill>
                  <a:srgbClr val="07734A"/>
                </a:solidFill>
                <a:latin typeface="Verdana"/>
              </a:rPr>
              <a:t>» faux - elle conteste la façon de décider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vote a été pris devant une salle comble.   </a:t>
            </a:r>
            <a:r>
              <a:rPr sz="1400" b="1" i="0">
                <a:solidFill>
                  <a:srgbClr val="07734A"/>
                </a:solidFill>
                <a:latin typeface="Verdana"/>
              </a:rPr>
              <a:t>» faux - devant onze personnes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terrain derrière l'aréna appartient bien à la Ville.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délai de vingt et un mois est inscrit dans une loi.   </a:t>
            </a:r>
            <a:r>
              <a:rPr sz="1400" b="1" i="0">
                <a:solidFill>
                  <a:srgbClr val="07734A"/>
                </a:solidFill>
                <a:latin typeface="Verdana"/>
              </a:rPr>
              <a:t>» faux - c'est une estimation de l'urbanisme</a:t>
            </a:r>
          </a:p>
        </p:txBody>
      </p:sp>
      <p:sp>
        <p:nvSpPr>
          <p:cNvPr id="28" name="Rounded Rectangle 27"/>
          <p:cNvSpPr/>
          <p:nvPr/>
        </p:nvSpPr>
        <p:spPr>
          <a:xfrm>
            <a:off x="566928" y="5578856"/>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80034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86435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promoteur et le comité donnent le même nombre d'arbres abattus.   </a:t>
            </a:r>
            <a:r>
              <a:rPr sz="1400" b="1" i="0">
                <a:solidFill>
                  <a:srgbClr val="07734A"/>
                </a:solidFill>
                <a:latin typeface="Verdana"/>
              </a:rPr>
              <a:t>» faux - quatre-vingt-dix contre trois cent quarante-deux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chacun a gardé de la même soirée</a:t>
            </a:r>
          </a:p>
        </p:txBody>
      </p:sp>
      <p:sp>
        <p:nvSpPr>
          <p:cNvPr id="7" name="Rounded Rectangle 6"/>
          <p:cNvSpPr/>
          <p:nvPr/>
        </p:nvSpPr>
        <p:spPr>
          <a:xfrm>
            <a:off x="566928" y="1810512"/>
            <a:ext cx="11057839" cy="3163824"/>
          </a:xfrm>
          <a:prstGeom prst="roundRect">
            <a:avLst>
              <a:gd name="adj" fmla="val 462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WILFRID CHAMBERLAND</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RÉGINE SAUVÉ</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quarante-cinq logements abordables</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bien public cédé pour un dollar</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onze mille dollars d'entretien par année</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quatre jours entre l'évaluation et le vote</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un terrain qui produira des taxes</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vote à vingt-deux heures cinquante devant onze personnes</a:t>
            </a:r>
          </a:p>
        </p:txBody>
      </p:sp>
      <p:sp>
        <p:nvSpPr>
          <p:cNvPr id="18" name="Rounded Rectangle 17"/>
          <p:cNvSpPr/>
          <p:nvPr/>
        </p:nvSpPr>
        <p:spPr>
          <a:xfrm>
            <a:off x="566928" y="5212080"/>
            <a:ext cx="11057839" cy="788289"/>
          </a:xfrm>
          <a:prstGeom prst="roundRect">
            <a:avLst>
              <a:gd name="adj" fmla="val 18559"/>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468112"/>
            <a:ext cx="10234879" cy="331089"/>
          </a:xfrm>
          <a:prstGeom prst="rect">
            <a:avLst/>
          </a:prstGeom>
          <a:noFill/>
        </p:spPr>
        <p:txBody>
          <a:bodyPr wrap="square" lIns="0" rIns="0" tIns="0" bIns="0" anchor="t">
            <a:spAutoFit/>
          </a:bodyPr>
          <a:lstStyle/>
          <a:p>
            <a:pPr algn="l">
              <a:lnSpc>
                <a:spcPct val="145000"/>
              </a:lnSpc>
            </a:pPr>
            <a:r>
              <a:rPr sz="1500" b="0" i="0">
                <a:solidFill>
                  <a:srgbClr val="4B4F52"/>
                </a:solidFill>
                <a:latin typeface="Verdana"/>
              </a:rPr>
              <a:t>Aucune des six phrases n'est fausse. Ce que chacun a choisi de dire est déjà une prise de position.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Racontez en trois phrases une décision prise chez vous ou au travail, comme si vous étiez pour.</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Puis les trois mêmes phrases comme si vous étiez contre.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Interdiction d'écrire quoi que ce soit de faux dans les deux versions.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Deux versions, et la mienne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