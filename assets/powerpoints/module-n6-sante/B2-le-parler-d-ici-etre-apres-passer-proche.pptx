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d'écoute. Elle porte sur quatre tournures que le programme demande de comprendre, jamais de produire. Le dire au groupe dès le début : personne ne sera évalué sur leur emploi.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troisième objectif corrige un contresens réel : « on a passé proche d'annuler » veut dire qu'on n'a pas annulé, et beaucoup comprennent le contraire.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Cinq minutes. Noter les phrases au tableau. Il y en aura d'autres que les quatre de la séance : les traiter au passage, elles valent leur temps.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C'est le tableau de référence du défi. Faire lire les quatre lignes à voix haute avant tout exemple.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 carte à la fois. Faire lire la colonne de gauche par un élève et celle de droite par un autre : l'écart entre les deux registres s'entend mieux à deux voix.</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reformuler par trois élèves différents. Ce piège coûte des malentendus réels au travail, où l'on entend souvent « j'ai passé proche de manquer mon quart ».</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Rassurer : cette tournure n'a aucune logique repérable. Ce qui s'apprend ici est un réflexe de reconnaissance, pas une règle.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Le dire évite qu'un élève enthousiaste les réemploie dans la production écrite de E2, où elles seraient corrigées.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phrases soi-même, avec l'intonation d'ici. L'audio du module servira à la reprise individuelle.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écouter deux fois, sans arrêt entre les deux. Les chiffres sont ce qui se perd le plus vite dans un débit normal, et c'est exactement ce que le niveau demande de tenir.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minutes. Garder les billets : ils font une banque de tournures qui servira à toute la session, bien au-delà de ce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SÉANCE B2  ·  MODULE 7</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Le parler d'ici : être après, passer proche</a:t>
            </a:r>
          </a:p>
        </p:txBody>
      </p:sp>
      <p:sp>
        <p:nvSpPr>
          <p:cNvPr id="5" name="Rounded Rectangle 4"/>
          <p:cNvSpPr/>
          <p:nvPr/>
        </p:nvSpPr>
        <p:spPr>
          <a:xfrm>
            <a:off x="566928" y="3794760"/>
            <a:ext cx="9960559" cy="1394968"/>
          </a:xfrm>
          <a:prstGeom prst="roundRect">
            <a:avLst>
              <a:gd name="adj" fmla="val 1048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7823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Gilles ouvre la conversation par « vous êtes après attendre ». Aucun cours n'y prépare, et c'est parfaitement ordinaire ici.</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Nommer ce qu'on 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Nommer ce qu'on a</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comprendre « être après » suivi d'un verbe à l'infinitif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comprendre « être pour » et « être sur le bord de »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comprendre « passer proche de », et ce qu'il dit du résultat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relever des chiffres à la deuxième écoute d'une conversation.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Nommer ce qu'on a</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800" b="1" i="0">
                <a:solidFill>
                  <a:srgbClr val="17181A"/>
                </a:solidFill>
                <a:latin typeface="Verdana"/>
              </a:rPr>
              <a:t>Quelle phrase d'ici ne comprenez-vous toujours pas ?</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Une phrase entendue au travail, à l'épicerie, chez le voisin.</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que vous avez osé demander ce qu'elle voulait dire ?</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que vous avez répondu, en attendant de comprendre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Nommer ce qu'on a</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300" b="1" i="0">
                <a:solidFill>
                  <a:srgbClr val="17181A"/>
                </a:solidFill>
                <a:latin typeface="Verdana"/>
              </a:rPr>
              <a:t>Quatre tournures, quatre moments de l'action</a:t>
            </a:r>
          </a:p>
        </p:txBody>
      </p:sp>
      <p:sp>
        <p:nvSpPr>
          <p:cNvPr id="7" name="Rounded Rectangle 6"/>
          <p:cNvSpPr/>
          <p:nvPr/>
        </p:nvSpPr>
        <p:spPr>
          <a:xfrm>
            <a:off x="566928" y="1810512"/>
            <a:ext cx="11057839" cy="2798064"/>
          </a:xfrm>
          <a:prstGeom prst="roundRect">
            <a:avLst>
              <a:gd name="adj" fmla="val 52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ON ENTEND</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ÇA VEUT DIRE</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être après</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c'est en train de se faire</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être pour</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c'est sur le point d'arriver</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être sur le bord de</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à un cheveu, et retenu de justesse</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passer proche de</a:t>
            </a:r>
          </a:p>
        </p:txBody>
      </p:sp>
      <p:sp>
        <p:nvSpPr>
          <p:cNvPr id="20" name="TextBox 19"/>
          <p:cNvSpPr txBox="1"/>
          <p:nvPr/>
        </p:nvSpPr>
        <p:spPr>
          <a:xfrm>
            <a:off x="4443636" y="4014215"/>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ça a failli arriver, et ce n'est pas arrivé</a:t>
            </a:r>
          </a:p>
        </p:txBody>
      </p:sp>
      <p:sp>
        <p:nvSpPr>
          <p:cNvPr id="21" name="Rounded Rectangle 20"/>
          <p:cNvSpPr/>
          <p:nvPr/>
        </p:nvSpPr>
        <p:spPr>
          <a:xfrm>
            <a:off x="566928" y="4846320"/>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102352"/>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Le programme demande de les comprendre. Personne n'est obligé de les employer.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Nommer ce qu'on a</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EXEMPLES</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mêmes phrases, en français d'ailleurs</a:t>
            </a:r>
          </a:p>
        </p:txBody>
      </p:sp>
      <p:sp>
        <p:nvSpPr>
          <p:cNvPr id="7" name="Rounded Rectangle 6"/>
          <p:cNvSpPr/>
          <p:nvPr/>
        </p:nvSpPr>
        <p:spPr>
          <a:xfrm>
            <a:off x="566928" y="1810512"/>
            <a:ext cx="5446623" cy="1313687"/>
          </a:xfrm>
          <a:prstGeom prst="roundRect">
            <a:avLst>
              <a:gd name="adj" fmla="val 1113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237236"/>
          </a:xfrm>
          <a:prstGeom prst="rect">
            <a:avLst/>
          </a:prstGeom>
          <a:noFill/>
        </p:spPr>
        <p:txBody>
          <a:bodyPr wrap="square" lIns="0" rIns="0" tIns="0" bIns="0" anchor="t">
            <a:spAutoFit/>
          </a:bodyPr>
          <a:lstStyle/>
          <a:p>
            <a:pPr algn="l">
              <a:lnSpc>
                <a:spcPct val="118000"/>
              </a:lnSpc>
            </a:pPr>
            <a:r>
              <a:rPr sz="1400" b="1" i="0">
                <a:solidFill>
                  <a:srgbClr val="0D7A6F"/>
                </a:solidFill>
                <a:latin typeface="Verdana"/>
              </a:rPr>
              <a:t>Je suis après attendre.</a:t>
            </a:r>
          </a:p>
        </p:txBody>
      </p:sp>
      <p:sp>
        <p:nvSpPr>
          <p:cNvPr id="9" name="TextBox 8"/>
          <p:cNvSpPr txBox="1"/>
          <p:nvPr/>
        </p:nvSpPr>
        <p:spPr>
          <a:xfrm>
            <a:off x="886968" y="2349500"/>
            <a:ext cx="4806543" cy="500379"/>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Je suis en train d'attendre. L'action est commencée et pas finie.</a:t>
            </a:r>
          </a:p>
        </p:txBody>
      </p:sp>
      <p:sp>
        <p:nvSpPr>
          <p:cNvPr id="10" name="Rounded Rectangle 9"/>
          <p:cNvSpPr/>
          <p:nvPr/>
        </p:nvSpPr>
        <p:spPr>
          <a:xfrm>
            <a:off x="6178143" y="1810512"/>
            <a:ext cx="5446623" cy="1313687"/>
          </a:xfrm>
          <a:prstGeom prst="roundRect">
            <a:avLst>
              <a:gd name="adj" fmla="val 1113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237236"/>
          </a:xfrm>
          <a:prstGeom prst="rect">
            <a:avLst/>
          </a:prstGeom>
          <a:noFill/>
        </p:spPr>
        <p:txBody>
          <a:bodyPr wrap="square" lIns="0" rIns="0" tIns="0" bIns="0" anchor="t">
            <a:spAutoFit/>
          </a:bodyPr>
          <a:lstStyle/>
          <a:p>
            <a:pPr algn="l">
              <a:lnSpc>
                <a:spcPct val="118000"/>
              </a:lnSpc>
            </a:pPr>
            <a:r>
              <a:rPr sz="1400" b="1" i="0">
                <a:solidFill>
                  <a:srgbClr val="0D7A6F"/>
                </a:solidFill>
                <a:latin typeface="Verdana"/>
              </a:rPr>
              <a:t>Il est après remplir sa feuille.</a:t>
            </a:r>
          </a:p>
        </p:txBody>
      </p:sp>
      <p:sp>
        <p:nvSpPr>
          <p:cNvPr id="12" name="TextBox 11"/>
          <p:cNvSpPr txBox="1"/>
          <p:nvPr/>
        </p:nvSpPr>
        <p:spPr>
          <a:xfrm>
            <a:off x="6498183" y="2349500"/>
            <a:ext cx="4806543" cy="500379"/>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Il est en train de la remplir, en ce moment même.</a:t>
            </a:r>
          </a:p>
        </p:txBody>
      </p:sp>
      <p:sp>
        <p:nvSpPr>
          <p:cNvPr id="13" name="Rounded Rectangle 12"/>
          <p:cNvSpPr/>
          <p:nvPr/>
        </p:nvSpPr>
        <p:spPr>
          <a:xfrm>
            <a:off x="566928" y="3288792"/>
            <a:ext cx="5446623" cy="1313687"/>
          </a:xfrm>
          <a:prstGeom prst="roundRect">
            <a:avLst>
              <a:gd name="adj" fmla="val 1113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3563112"/>
            <a:ext cx="4806543" cy="237236"/>
          </a:xfrm>
          <a:prstGeom prst="rect">
            <a:avLst/>
          </a:prstGeom>
          <a:noFill/>
        </p:spPr>
        <p:txBody>
          <a:bodyPr wrap="square" lIns="0" rIns="0" tIns="0" bIns="0" anchor="t">
            <a:spAutoFit/>
          </a:bodyPr>
          <a:lstStyle/>
          <a:p>
            <a:pPr algn="l">
              <a:lnSpc>
                <a:spcPct val="118000"/>
              </a:lnSpc>
            </a:pPr>
            <a:r>
              <a:rPr sz="1400" b="1" i="0">
                <a:solidFill>
                  <a:srgbClr val="0D7A6F"/>
                </a:solidFill>
                <a:latin typeface="Verdana"/>
              </a:rPr>
              <a:t>J'étais pour partir.</a:t>
            </a:r>
          </a:p>
        </p:txBody>
      </p:sp>
      <p:sp>
        <p:nvSpPr>
          <p:cNvPr id="15" name="TextBox 14"/>
          <p:cNvSpPr txBox="1"/>
          <p:nvPr/>
        </p:nvSpPr>
        <p:spPr>
          <a:xfrm>
            <a:off x="886968" y="3827780"/>
            <a:ext cx="4806543" cy="500379"/>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J'allais partir, et quelque chose est arrivé avant.</a:t>
            </a:r>
          </a:p>
        </p:txBody>
      </p:sp>
      <p:sp>
        <p:nvSpPr>
          <p:cNvPr id="16" name="Rounded Rectangle 15"/>
          <p:cNvSpPr/>
          <p:nvPr/>
        </p:nvSpPr>
        <p:spPr>
          <a:xfrm>
            <a:off x="6178143" y="3288792"/>
            <a:ext cx="5446623" cy="1313687"/>
          </a:xfrm>
          <a:prstGeom prst="roundRect">
            <a:avLst>
              <a:gd name="adj" fmla="val 1113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3563112"/>
            <a:ext cx="4806543" cy="237236"/>
          </a:xfrm>
          <a:prstGeom prst="rect">
            <a:avLst/>
          </a:prstGeom>
          <a:noFill/>
        </p:spPr>
        <p:txBody>
          <a:bodyPr wrap="square" lIns="0" rIns="0" tIns="0" bIns="0" anchor="t">
            <a:spAutoFit/>
          </a:bodyPr>
          <a:lstStyle/>
          <a:p>
            <a:pPr algn="l">
              <a:lnSpc>
                <a:spcPct val="118000"/>
              </a:lnSpc>
            </a:pPr>
            <a:r>
              <a:rPr sz="1400" b="1" i="0">
                <a:solidFill>
                  <a:srgbClr val="0D7A6F"/>
                </a:solidFill>
                <a:latin typeface="Verdana"/>
              </a:rPr>
              <a:t>Je suis sur le bord de pleurer.</a:t>
            </a:r>
          </a:p>
        </p:txBody>
      </p:sp>
      <p:sp>
        <p:nvSpPr>
          <p:cNvPr id="18" name="TextBox 17"/>
          <p:cNvSpPr txBox="1"/>
          <p:nvPr/>
        </p:nvSpPr>
        <p:spPr>
          <a:xfrm>
            <a:off x="6498183" y="3827780"/>
            <a:ext cx="4806543" cy="500379"/>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Je me retiens de justesse, et ça se voit.</a:t>
            </a:r>
          </a:p>
        </p:txBody>
      </p:sp>
      <p:sp>
        <p:nvSpPr>
          <p:cNvPr id="19" name="Rounded Rectangle 18"/>
          <p:cNvSpPr/>
          <p:nvPr/>
        </p:nvSpPr>
        <p:spPr>
          <a:xfrm>
            <a:off x="566928" y="4767072"/>
            <a:ext cx="5446623" cy="1313687"/>
          </a:xfrm>
          <a:prstGeom prst="roundRect">
            <a:avLst>
              <a:gd name="adj" fmla="val 1113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86968" y="5041391"/>
            <a:ext cx="4806543" cy="237236"/>
          </a:xfrm>
          <a:prstGeom prst="rect">
            <a:avLst/>
          </a:prstGeom>
          <a:noFill/>
        </p:spPr>
        <p:txBody>
          <a:bodyPr wrap="square" lIns="0" rIns="0" tIns="0" bIns="0" anchor="t">
            <a:spAutoFit/>
          </a:bodyPr>
          <a:lstStyle/>
          <a:p>
            <a:pPr algn="l">
              <a:lnSpc>
                <a:spcPct val="118000"/>
              </a:lnSpc>
            </a:pPr>
            <a:r>
              <a:rPr sz="1400" b="1" i="0">
                <a:solidFill>
                  <a:srgbClr val="0D7A6F"/>
                </a:solidFill>
                <a:latin typeface="Verdana"/>
              </a:rPr>
              <a:t>On a passé proche d'annuler.</a:t>
            </a:r>
          </a:p>
        </p:txBody>
      </p:sp>
      <p:sp>
        <p:nvSpPr>
          <p:cNvPr id="21" name="TextBox 20"/>
          <p:cNvSpPr txBox="1"/>
          <p:nvPr/>
        </p:nvSpPr>
        <p:spPr>
          <a:xfrm>
            <a:off x="886968" y="5306060"/>
            <a:ext cx="4806543" cy="500379"/>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On a failli annuler. Donc on n'a pas annulé.</a:t>
            </a:r>
          </a:p>
        </p:txBody>
      </p:sp>
      <p:sp>
        <p:nvSpPr>
          <p:cNvPr id="22" name="Rounded Rectangle 21"/>
          <p:cNvSpPr/>
          <p:nvPr/>
        </p:nvSpPr>
        <p:spPr>
          <a:xfrm>
            <a:off x="6178143" y="4767072"/>
            <a:ext cx="5446623" cy="1313687"/>
          </a:xfrm>
          <a:prstGeom prst="roundRect">
            <a:avLst>
              <a:gd name="adj" fmla="val 1113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498183" y="5041391"/>
            <a:ext cx="4806543" cy="237236"/>
          </a:xfrm>
          <a:prstGeom prst="rect">
            <a:avLst/>
          </a:prstGeom>
          <a:noFill/>
        </p:spPr>
        <p:txBody>
          <a:bodyPr wrap="square" lIns="0" rIns="0" tIns="0" bIns="0" anchor="t">
            <a:spAutoFit/>
          </a:bodyPr>
          <a:lstStyle/>
          <a:p>
            <a:pPr algn="l">
              <a:lnSpc>
                <a:spcPct val="118000"/>
              </a:lnSpc>
            </a:pPr>
            <a:r>
              <a:rPr sz="1400" b="1" i="0">
                <a:solidFill>
                  <a:srgbClr val="0D7A6F"/>
                </a:solidFill>
                <a:latin typeface="Verdana"/>
              </a:rPr>
              <a:t>Ça fait deux heures que je suis là.</a:t>
            </a:r>
          </a:p>
        </p:txBody>
      </p:sp>
      <p:sp>
        <p:nvSpPr>
          <p:cNvPr id="24" name="TextBox 23"/>
          <p:cNvSpPr txBox="1"/>
          <p:nvPr/>
        </p:nvSpPr>
        <p:spPr>
          <a:xfrm>
            <a:off x="6498183" y="5306060"/>
            <a:ext cx="4806543" cy="500379"/>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J'attends depuis deux heures, et j'attends encore.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Nommer ce qu'on a</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COMPRÉHENSION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on a passé proche d'annuler, donc on a annulé</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on a passé proche d'annuler, donc on n'a pas annulé</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C'est le contresens exact, et il est très fréquent. La tournure dit qu'une chose a failli arriver — et le fait qu'on en parle signifie précisément qu'elle n'est pas arrivée. Même piège avec « il s'en est fallu de peu » et « à un cheveu près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Nommer ce qu'on a</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COMPRÉHENSION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je suis après manger, donc j'ai fini</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je suis après manger, donc je mange en ce moment</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 Après » ne parle pas du tout de temps dans cette tournure. Ne cherchez pas de logique : elle est ancienne, elle est venue de France avant de s'y perdre, et elle se reconnaît plus qu'elle ne se comprend.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Nommer ce qu'on a</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À L'ÉCRIT, ON ÉCRIT LES ÉQUIVALENTS</a:t>
            </a:r>
          </a:p>
        </p:txBody>
      </p:sp>
      <p:sp>
        <p:nvSpPr>
          <p:cNvPr id="6" name="Rounded Rectangle 5"/>
          <p:cNvSpPr/>
          <p:nvPr/>
        </p:nvSpPr>
        <p:spPr>
          <a:xfrm>
            <a:off x="566928" y="1225296"/>
            <a:ext cx="11057839" cy="1967991"/>
          </a:xfrm>
          <a:prstGeom prst="roundRect">
            <a:avLst>
              <a:gd name="adj" fmla="val 7434"/>
            </a:avLst>
          </a:prstGeom>
          <a:solidFill>
            <a:srgbClr val="DCF2E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Ces quatre tournures sont justes à l'oral et déplacées dans un écrit.</a:t>
            </a:r>
          </a:p>
        </p:txBody>
      </p:sp>
      <p:sp>
        <p:nvSpPr>
          <p:cNvPr id="8" name="Rounded Rectangle 7"/>
          <p:cNvSpPr/>
          <p:nvPr/>
        </p:nvSpPr>
        <p:spPr>
          <a:xfrm>
            <a:off x="566928" y="3467607"/>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Dans un courriel au secrétariat ou sur un formulaire, on écrit « être en train de », « aller », « faillir ». Écrire « j'étais pour annuler mon rendez-vous » détonne, sans être faux.</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Nommer ce qu'on a</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ÉCOUTE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Qu'est-ce que ça veut dire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la phrase, puis donnez son équivalent.</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Je suis après attendre.</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est après remplir sa feuille.</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J'étais pour partir.</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Je suis sur le bord de pleurer.</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On a passé proche d'annuler.</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Je viens de sortir de son bureau.</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Nommer ce qu'on a</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Qu'est-ce que ça veut dire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Je suis après attendre.   </a:t>
            </a:r>
            <a:r>
              <a:rPr sz="1400" b="1" i="0">
                <a:solidFill>
                  <a:srgbClr val="07734A"/>
                </a:solidFill>
                <a:latin typeface="Verdana"/>
              </a:rPr>
              <a:t>» je suis en train d'attendre</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est après remplir sa feuille.   </a:t>
            </a:r>
            <a:r>
              <a:rPr sz="1400" b="1" i="0">
                <a:solidFill>
                  <a:srgbClr val="07734A"/>
                </a:solidFill>
                <a:latin typeface="Verdana"/>
              </a:rPr>
              <a:t>» il est en train de la remplir</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J'étais pour partir.   </a:t>
            </a:r>
            <a:r>
              <a:rPr sz="1400" b="1" i="0">
                <a:solidFill>
                  <a:srgbClr val="07734A"/>
                </a:solidFill>
                <a:latin typeface="Verdana"/>
              </a:rPr>
              <a:t>» j'allais partir</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Je suis sur le bord de pleurer.   </a:t>
            </a:r>
            <a:r>
              <a:rPr sz="1400" b="1" i="0">
                <a:solidFill>
                  <a:srgbClr val="07734A"/>
                </a:solidFill>
                <a:latin typeface="Verdana"/>
              </a:rPr>
              <a:t>» je me retiens de justesse</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On a passé proche d'annuler.   </a:t>
            </a:r>
            <a:r>
              <a:rPr sz="1400" b="1" i="0">
                <a:solidFill>
                  <a:srgbClr val="07734A"/>
                </a:solidFill>
                <a:latin typeface="Verdana"/>
              </a:rPr>
              <a:t>» on a failli annuler, et on ne l'a pas fait</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Je viens de sortir de son bureau.   </a:t>
            </a:r>
            <a:r>
              <a:rPr sz="1400" b="1" i="0">
                <a:solidFill>
                  <a:srgbClr val="07734A"/>
                </a:solidFill>
                <a:latin typeface="Verdana"/>
              </a:rPr>
              <a:t>» j'en suis sorti il y a une minute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Nommer ce qu'on a</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ÉCOUTE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chiffres, à la deuxième écoute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Réécoutez la conversation et complétez.</a:t>
            </a:r>
          </a:p>
        </p:txBody>
      </p:sp>
      <p:sp>
        <p:nvSpPr>
          <p:cNvPr id="8" name="Rounded Rectangle 7"/>
          <p:cNvSpPr/>
          <p:nvPr/>
        </p:nvSpPr>
        <p:spPr>
          <a:xfrm>
            <a:off x="566928" y="2139696"/>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Gilles attend depuis combien de temps ?</a:t>
            </a:r>
          </a:p>
        </p:txBody>
      </p:sp>
      <p:sp>
        <p:nvSpPr>
          <p:cNvPr id="12" name="Rounded Rectangle 11"/>
          <p:cNvSpPr/>
          <p:nvPr/>
        </p:nvSpPr>
        <p:spPr>
          <a:xfrm>
            <a:off x="566928" y="2916428"/>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Leyla est au Québec depuis combien d'années ?</a:t>
            </a:r>
          </a:p>
        </p:txBody>
      </p:sp>
      <p:sp>
        <p:nvSpPr>
          <p:cNvPr id="16" name="Rounded Rectangle 15"/>
          <p:cNvSpPr/>
          <p:nvPr/>
        </p:nvSpPr>
        <p:spPr>
          <a:xfrm>
            <a:off x="566928" y="3693160"/>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Depuis combien d'années à Rimouski ?</a:t>
            </a:r>
          </a:p>
        </p:txBody>
      </p:sp>
      <p:sp>
        <p:nvSpPr>
          <p:cNvPr id="20" name="Rounded Rectangle 19"/>
          <p:cNvSpPr/>
          <p:nvPr/>
        </p:nvSpPr>
        <p:spPr>
          <a:xfrm>
            <a:off x="566928" y="4469892"/>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Combien de jours travaille-t-elle sur quatorze ?</a:t>
            </a:r>
          </a:p>
        </p:txBody>
      </p:sp>
      <p:sp>
        <p:nvSpPr>
          <p:cNvPr id="24" name="Rounded Rectangle 23"/>
          <p:cNvSpPr/>
          <p:nvPr/>
        </p:nvSpPr>
        <p:spPr>
          <a:xfrm>
            <a:off x="566928" y="5246624"/>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388102"/>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452110"/>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402072"/>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Depuis combien de mois est-elle fatiguée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Nommer ce qu'on a</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chiffres, à la deuxième écoute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Gilles attend depuis combien de temps ?   </a:t>
            </a:r>
            <a:r>
              <a:rPr sz="1900" b="1" i="0">
                <a:solidFill>
                  <a:srgbClr val="07734A"/>
                </a:solidFill>
                <a:latin typeface="Verdana"/>
              </a:rPr>
              <a:t>» deux heures</a:t>
            </a:r>
          </a:p>
        </p:txBody>
      </p:sp>
      <p:sp>
        <p:nvSpPr>
          <p:cNvPr id="12" name="Rounded Rectangle 11"/>
          <p:cNvSpPr/>
          <p:nvPr/>
        </p:nvSpPr>
        <p:spPr>
          <a:xfrm>
            <a:off x="566928" y="2916428"/>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Leyla est au Québec depuis combien d'années ?   </a:t>
            </a:r>
            <a:r>
              <a:rPr sz="1900" b="1" i="0">
                <a:solidFill>
                  <a:srgbClr val="07734A"/>
                </a:solidFill>
                <a:latin typeface="Verdana"/>
              </a:rPr>
              <a:t>» cinq ans</a:t>
            </a:r>
          </a:p>
        </p:txBody>
      </p:sp>
      <p:sp>
        <p:nvSpPr>
          <p:cNvPr id="16" name="Rounded Rectangle 15"/>
          <p:cNvSpPr/>
          <p:nvPr/>
        </p:nvSpPr>
        <p:spPr>
          <a:xfrm>
            <a:off x="566928" y="3693160"/>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Depuis combien d'années à Rimouski ?   </a:t>
            </a:r>
            <a:r>
              <a:rPr sz="1900" b="1" i="0">
                <a:solidFill>
                  <a:srgbClr val="07734A"/>
                </a:solidFill>
                <a:latin typeface="Verdana"/>
              </a:rPr>
              <a:t>» trois ans</a:t>
            </a:r>
          </a:p>
        </p:txBody>
      </p:sp>
      <p:sp>
        <p:nvSpPr>
          <p:cNvPr id="20" name="Rounded Rectangle 19"/>
          <p:cNvSpPr/>
          <p:nvPr/>
        </p:nvSpPr>
        <p:spPr>
          <a:xfrm>
            <a:off x="566928" y="4469892"/>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Combien de jours travaille-t-elle sur quatorze ?   </a:t>
            </a:r>
            <a:r>
              <a:rPr sz="1900" b="1" i="0">
                <a:solidFill>
                  <a:srgbClr val="07734A"/>
                </a:solidFill>
                <a:latin typeface="Verdana"/>
              </a:rPr>
              <a:t>» sept</a:t>
            </a:r>
          </a:p>
        </p:txBody>
      </p:sp>
      <p:sp>
        <p:nvSpPr>
          <p:cNvPr id="24" name="Rounded Rectangle 23"/>
          <p:cNvSpPr/>
          <p:nvPr/>
        </p:nvSpPr>
        <p:spPr>
          <a:xfrm>
            <a:off x="566928" y="5246624"/>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388102"/>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452110"/>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402072"/>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Depuis combien de mois est-elle fatiguée ?   </a:t>
            </a:r>
            <a:r>
              <a:rPr sz="1900" b="1" i="0">
                <a:solidFill>
                  <a:srgbClr val="07734A"/>
                </a:solidFill>
                <a:latin typeface="Verdana"/>
              </a:rPr>
              <a:t>» huit mois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Nommer ce qu'on a</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13</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Notez une phrase d'ici que vous voudriez comprendre.</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Écrivez-la comme vous l'avez entendue.</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Dites où vous l'avez entendue, si vous vous en souvenez.</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Nommer ce qu'on 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