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Elle porte sur quatre tournures que le programme demande de comprendre, jamais de produire. Le dire au groupe dès le début : personne ne sera évalué sur leur emploi.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corrige un contresens réel : « on a passé proche d'annuler » veut dire qu'on n'a pas annulé, et beaucoup comprennent le contraire.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Noter les phrases au tableau. Il y en aura d'autres que les quatre de la séance : les traiter au passage, elles valent leur temps.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du défi. Faire lire les quatre lignes à voix haute avant tout exemple.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carte à la fois. Faire lire la colonne de gauche par un élève et celle de droite par un autre : l'écart entre les deux registres s'entend mieux à deux voix.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reformuler par trois élèves différents. Ce piège coûte des malentendus réels au travail, où l'on entend souvent « j'ai passé proche de manquer mon quart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Rassurer : cette tournure n'a aucune logique repérable. Ce qui s'apprend ici est un réflexe de reconnaissance, pas une règle.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dire évite qu'un élève enthousiaste les réemploie dans la production écrite de E2, où elles seraient corrigées.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phrases soi-même, avec l'intonation d'ici. L'audio du module servira à la reprise individuelle.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sans arrêt entre les deux. Les chiffres sont ce qui se perd le plus vite dans un débit normal, et c'est exactement ce que le niveau demande de tenir.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Garder les billets : ils font une banque de tournures qui servira à toute la session, bien au-delà de ce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parler d'ici : être après, passer proche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Gilles ouvre la conversation par « vous êtes après attendre ». Aucun cours n'y prépare, et c'est parfaitement ordinaire ici.</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Nommer ce qu'on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 être après » suivi d'un verbe à l'infinitif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 être pour » et « être sur le bord de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 passer proche de », et ce qu'il dit du résultat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relever des chiffres à la deuxième écoute d'une conversation.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Quelle phrase d'ici ne comprenez-vous toujours pas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phrase entendue au travail, à l'épicerie, chez le voisin.</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avez osé demander ce qu'elle voulait dire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avez répondu, en attendant de comprendre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Quatre tournures, quatre moments de l'action</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être après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en train de se faire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être pour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sur le point d'arriver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être sur le bord de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un cheveu, et retenu de justesse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passer proche de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ça a failli arriver, et ce n'est pas arrivé</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programme demande de les comprendre. Personne n'est obligé de les employer.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EXEMPLES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mêmes phrases, en français d'ailleurs</a:t>
            </a:r>
          </a:p>
        </p:txBody>
      </p:sp>
      <p:sp>
        <p:nvSpPr>
          <p:cNvPr id="7" name="Rounded Rectangle 6"/>
          <p:cNvSpPr/>
          <p:nvPr/>
        </p:nvSpPr>
        <p:spPr>
          <a:xfrm>
            <a:off x="566928"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Je suis après attendre.</a:t>
            </a:r>
          </a:p>
        </p:txBody>
      </p:sp>
      <p:sp>
        <p:nvSpPr>
          <p:cNvPr id="9" name="TextBox 8"/>
          <p:cNvSpPr txBox="1"/>
          <p:nvPr/>
        </p:nvSpPr>
        <p:spPr>
          <a:xfrm>
            <a:off x="886968"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Je suis en train d'attendre. L'action est commencée et pas finie.</a:t>
            </a:r>
          </a:p>
        </p:txBody>
      </p:sp>
      <p:sp>
        <p:nvSpPr>
          <p:cNvPr id="10" name="Rounded Rectangle 9"/>
          <p:cNvSpPr/>
          <p:nvPr/>
        </p:nvSpPr>
        <p:spPr>
          <a:xfrm>
            <a:off x="6178143"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Il est après remplir sa feuille.</a:t>
            </a:r>
          </a:p>
        </p:txBody>
      </p:sp>
      <p:sp>
        <p:nvSpPr>
          <p:cNvPr id="12" name="TextBox 11"/>
          <p:cNvSpPr txBox="1"/>
          <p:nvPr/>
        </p:nvSpPr>
        <p:spPr>
          <a:xfrm>
            <a:off x="6498183"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Il est en train de la remplir, en ce moment même.</a:t>
            </a:r>
          </a:p>
        </p:txBody>
      </p:sp>
      <p:sp>
        <p:nvSpPr>
          <p:cNvPr id="13" name="Rounded Rectangle 12"/>
          <p:cNvSpPr/>
          <p:nvPr/>
        </p:nvSpPr>
        <p:spPr>
          <a:xfrm>
            <a:off x="566928"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3563112"/>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J'étais pour partir.</a:t>
            </a:r>
          </a:p>
        </p:txBody>
      </p:sp>
      <p:sp>
        <p:nvSpPr>
          <p:cNvPr id="15" name="TextBox 14"/>
          <p:cNvSpPr txBox="1"/>
          <p:nvPr/>
        </p:nvSpPr>
        <p:spPr>
          <a:xfrm>
            <a:off x="886968"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J'allais partir, et quelque chose est arrivé avant.</a:t>
            </a:r>
          </a:p>
        </p:txBody>
      </p:sp>
      <p:sp>
        <p:nvSpPr>
          <p:cNvPr id="16" name="Rounded Rectangle 15"/>
          <p:cNvSpPr/>
          <p:nvPr/>
        </p:nvSpPr>
        <p:spPr>
          <a:xfrm>
            <a:off x="6178143"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3563112"/>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Je suis sur le bord de pleurer.</a:t>
            </a:r>
          </a:p>
        </p:txBody>
      </p:sp>
      <p:sp>
        <p:nvSpPr>
          <p:cNvPr id="18" name="TextBox 17"/>
          <p:cNvSpPr txBox="1"/>
          <p:nvPr/>
        </p:nvSpPr>
        <p:spPr>
          <a:xfrm>
            <a:off x="6498183"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Je me retiens de justesse, et ça se voit.</a:t>
            </a:r>
          </a:p>
        </p:txBody>
      </p:sp>
      <p:sp>
        <p:nvSpPr>
          <p:cNvPr id="19" name="Rounded Rectangle 18"/>
          <p:cNvSpPr/>
          <p:nvPr/>
        </p:nvSpPr>
        <p:spPr>
          <a:xfrm>
            <a:off x="566928"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504139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On a passé proche d'annuler.</a:t>
            </a:r>
          </a:p>
        </p:txBody>
      </p:sp>
      <p:sp>
        <p:nvSpPr>
          <p:cNvPr id="21" name="TextBox 20"/>
          <p:cNvSpPr txBox="1"/>
          <p:nvPr/>
        </p:nvSpPr>
        <p:spPr>
          <a:xfrm>
            <a:off x="886968"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On a failli annuler. Donc on n'a pas annulé.</a:t>
            </a:r>
          </a:p>
        </p:txBody>
      </p:sp>
      <p:sp>
        <p:nvSpPr>
          <p:cNvPr id="22" name="Rounded Rectangle 21"/>
          <p:cNvSpPr/>
          <p:nvPr/>
        </p:nvSpPr>
        <p:spPr>
          <a:xfrm>
            <a:off x="6178143"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98183" y="5041391"/>
            <a:ext cx="4806543" cy="237236"/>
          </a:xfrm>
          <a:prstGeom prst="rect">
            <a:avLst/>
          </a:prstGeom>
          <a:noFill/>
        </p:spPr>
        <p:txBody>
          <a:bodyPr wrap="square" lIns="0" rIns="0" tIns="0" bIns="0" anchor="t">
            <a:spAutoFit/>
          </a:bodyPr>
          <a:lstStyle/>
          <a:p>
            <a:pPr algn="l">
              <a:lnSpc>
                <a:spcPct val="118000"/>
              </a:lnSpc>
            </a:pPr>
            <a:r>
              <a:rPr sz="1400" b="1" i="0">
                <a:solidFill>
                  <a:srgbClr val="0D7A6F"/>
                </a:solidFill>
                <a:latin typeface="Verdana"/>
              </a:rPr>
              <a:t>Ça fait deux heures que je suis là.</a:t>
            </a:r>
          </a:p>
        </p:txBody>
      </p:sp>
      <p:sp>
        <p:nvSpPr>
          <p:cNvPr id="24" name="TextBox 23"/>
          <p:cNvSpPr txBox="1"/>
          <p:nvPr/>
        </p:nvSpPr>
        <p:spPr>
          <a:xfrm>
            <a:off x="6498183"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J'attends depuis deux heures, et j'attends encore.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a passé proche d'annuler, donc on a annulé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on a passé proche d'annuler, donc on n'a pas annulé</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contresens exact, et il est très fréquent. La tournure dit qu'une chose a failli arriver — et le fait qu'on en parle signifie précisément qu'elle n'est pas arrivée. Même piège avec « il s'en est fallu de peu » et « à un cheveu près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après manger, donc j'ai fini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après manger, donc je mange en ce moment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Après » ne parle pas du tout de temps dans cette tournure. Ne cherchez pas de logique : elle est ancienne, elle est venue de France avant de s'y perdre, et elle se reconnaît plus qu'elle ne se comprend.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À L'ÉCRIT, ON ÉCRIT LES ÉQUIVALENTS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Ces quatre tournures sont justes à l'oral et déplacées dans un écrit.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 courriel au secrétariat ou sur un formulaire, on écrit « être en train de », « aller », « faillir ». Écrire « j'étais pour annuler mon rendez-vous » détonne, sans être faux.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ça veut dire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la phrase, puis donnez son équivalent.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après attendre.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après remplir sa feuille.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J'étais pour partir.</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sur le bord de pleurer.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 passé proche d'annuler.</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viens de sortir de son bureau.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ça veut dire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après attendre.   </a:t>
            </a:r>
            <a:r>
              <a:rPr sz="1400" b="1" i="0">
                <a:solidFill>
                  <a:srgbClr val="07734A"/>
                </a:solidFill>
                <a:latin typeface="Verdana"/>
              </a:rPr>
              <a:t>» je suis en train d'attendre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après remplir sa feuille.   </a:t>
            </a:r>
            <a:r>
              <a:rPr sz="1400" b="1" i="0">
                <a:solidFill>
                  <a:srgbClr val="07734A"/>
                </a:solidFill>
                <a:latin typeface="Verdana"/>
              </a:rPr>
              <a:t>» il est en train de la remplir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J'étais pour partir.   </a:t>
            </a:r>
            <a:r>
              <a:rPr sz="1400" b="1" i="0">
                <a:solidFill>
                  <a:srgbClr val="07734A"/>
                </a:solidFill>
                <a:latin typeface="Verdana"/>
              </a:rPr>
              <a:t>» j'allais partir</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sur le bord de pleurer.   </a:t>
            </a:r>
            <a:r>
              <a:rPr sz="1400" b="1" i="0">
                <a:solidFill>
                  <a:srgbClr val="07734A"/>
                </a:solidFill>
                <a:latin typeface="Verdana"/>
              </a:rPr>
              <a:t>» je me retiens de justesse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 passé proche d'annuler.   </a:t>
            </a:r>
            <a:r>
              <a:rPr sz="1400" b="1" i="0">
                <a:solidFill>
                  <a:srgbClr val="07734A"/>
                </a:solidFill>
                <a:latin typeface="Verdana"/>
              </a:rPr>
              <a:t>» on a failli annuler, et on ne l'a pas fait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viens de sortir de son bureau.   </a:t>
            </a:r>
            <a:r>
              <a:rPr sz="1400" b="1" i="0">
                <a:solidFill>
                  <a:srgbClr val="07734A"/>
                </a:solidFill>
                <a:latin typeface="Verdana"/>
              </a:rPr>
              <a:t>» j'en suis sorti il y a une minute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chiffres, à la deuxième écoute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Réécoutez la conversation et complétez.</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Gilles attend depuis combien de temps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est au Québec depuis combien d'années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combien d'années à Rimouski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travaille-t-elle sur quatorze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combien de mois est-elle fatiguée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chiffres, à la deuxième écoute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Gilles attend depuis combien de temps ?   </a:t>
            </a:r>
            <a:r>
              <a:rPr sz="1900" b="1" i="0">
                <a:solidFill>
                  <a:srgbClr val="07734A"/>
                </a:solidFill>
                <a:latin typeface="Verdana"/>
              </a:rPr>
              <a:t>» deux heures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est au Québec depuis combien d'années ?   </a:t>
            </a:r>
            <a:r>
              <a:rPr sz="1900" b="1" i="0">
                <a:solidFill>
                  <a:srgbClr val="07734A"/>
                </a:solidFill>
                <a:latin typeface="Verdana"/>
              </a:rPr>
              <a:t>» cinq ans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combien d'années à Rimouski ?   </a:t>
            </a:r>
            <a:r>
              <a:rPr sz="1900" b="1" i="0">
                <a:solidFill>
                  <a:srgbClr val="07734A"/>
                </a:solidFill>
                <a:latin typeface="Verdana"/>
              </a:rPr>
              <a:t>» trois ans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travaille-t-elle sur quatorze ?   </a:t>
            </a:r>
            <a:r>
              <a:rPr sz="1900" b="1" i="0">
                <a:solidFill>
                  <a:srgbClr val="07734A"/>
                </a:solidFill>
                <a:latin typeface="Verdana"/>
              </a:rPr>
              <a:t>» sept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Depuis combien de mois est-elle fatiguée ?   </a:t>
            </a:r>
            <a:r>
              <a:rPr sz="1900" b="1" i="0">
                <a:solidFill>
                  <a:srgbClr val="07734A"/>
                </a:solidFill>
                <a:latin typeface="Verdana"/>
              </a:rPr>
              <a:t>» huit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Notez une phrase d'ici que vous voudriez comprendre.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Écrivez-la comme vous l'avez entendue.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Dites où vous l'avez entendue, si vous vous en souvenez.</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Nommer ce qu'on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