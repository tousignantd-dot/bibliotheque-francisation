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fonctionnelle. Apporter, si possible, une vraie boîte de médicament vide avec son étiquette : la lecture réelle vaut mieux que la lecture simulée.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la colonne de gauche seule et demander le sens avant d'afficher la droite. Les élèves connaissent souvent « à jeun » sans savoir l'écrire.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a déjà arrêté un traitement avant la fin. Beaucoup de mains se lèvent. Ne juger personne : expliquer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Rappeler que ces quatre questions sont gratuites et sans rendez-vous. C'est le service de santé le plus accessible du Québec.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Renouveler » est le mot pratique de la liste : c'est ce qu'on demande au téléphone quand une ordonnance se termine.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reconnaissance rapide. Enchaîner tout de suite sur la mise en situation suivante.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la situation complète deux fois à voix haute avant d'afficher les énoncés : « Madame Okonkwo apporte son ordonnance. La pharmacienne lui explique de prendre un comprimé deux fois par jour, pendant sept jours, avec de la nourriture, et de finir tout le traitement même si la douleur disparaît avant. » C'est un exercice d'écoute autant que de lecture.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la plus importante de la séance. Y consacrer dix minutes s'il le faut : c'est un savoir de santé publique, pas seulement de langue.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un exemple concret : l'anti-inflammatoire que Yannick prend « au besoin » selon son questionnaire de santé, en D1.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item est un calcul : c'est aussi une compétence de lecture. Le faire faire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Relire quelques billets à voix haute. Corriger la forme de la question — c'est la révision de B3 dans une situation nouvelle.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C4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une ordonnance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Deux fois par jour, à jeun, jusqu'à la fin du traitement. » Trois indications, trois erreurs possibles. Un médicament mal pris ne soigne pas — et parfois il nuit.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Consulter au bon endroit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indications écrites sur une étiquette de pharmacie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 veulent dire « à jeun », « au besoin », « application locale »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pourquoi il faut finir un traitement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les bonnes questions à la pharmacienne.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indications et leur sens</a:t>
            </a:r>
          </a:p>
        </p:txBody>
      </p:sp>
      <p:sp>
        <p:nvSpPr>
          <p:cNvPr id="7" name="Rounded Rectangle 6"/>
          <p:cNvSpPr/>
          <p:nvPr/>
        </p:nvSpPr>
        <p:spPr>
          <a:xfrm>
            <a:off x="566928" y="1810512"/>
            <a:ext cx="11057839" cy="3169920"/>
          </a:xfrm>
          <a:prstGeom prst="roundRect">
            <a:avLst>
              <a:gd name="adj" fmla="val 46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A5335F"/>
                </a:solidFill>
                <a:latin typeface="Verdana"/>
              </a:rPr>
              <a:t>deux fois par jour</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matin et le soir</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1" i="0">
                <a:solidFill>
                  <a:srgbClr val="A5335F"/>
                </a:solidFill>
                <a:latin typeface="Verdana"/>
              </a:rPr>
              <a:t>à jeun</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sans avoir mangé</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304800"/>
          </a:xfrm>
          <a:prstGeom prst="rect">
            <a:avLst/>
          </a:prstGeom>
          <a:noFill/>
        </p:spPr>
        <p:txBody>
          <a:bodyPr wrap="square" lIns="0" rIns="0" tIns="0" bIns="0" anchor="t">
            <a:spAutoFit/>
          </a:bodyPr>
          <a:lstStyle/>
          <a:p>
            <a:pPr algn="l">
              <a:lnSpc>
                <a:spcPct val="132000"/>
              </a:lnSpc>
            </a:pPr>
            <a:r>
              <a:rPr sz="1600" b="1" i="0">
                <a:solidFill>
                  <a:srgbClr val="A5335F"/>
                </a:solidFill>
                <a:latin typeface="Verdana"/>
              </a:rPr>
              <a:t>application locale</a:t>
            </a:r>
          </a:p>
        </p:txBody>
      </p:sp>
      <p:sp>
        <p:nvSpPr>
          <p:cNvPr id="17" name="TextBox 16"/>
          <p:cNvSpPr txBox="1"/>
          <p:nvPr/>
        </p:nvSpPr>
        <p:spPr>
          <a:xfrm>
            <a:off x="4443636" y="3407664"/>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sur la peau, à l'endroit qui fait mal</a:t>
            </a:r>
          </a:p>
        </p:txBody>
      </p:sp>
      <p:sp>
        <p:nvSpPr>
          <p:cNvPr id="18" name="Rectangle 17"/>
          <p:cNvSpPr/>
          <p:nvPr/>
        </p:nvSpPr>
        <p:spPr>
          <a:xfrm>
            <a:off x="932688" y="378561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13631"/>
            <a:ext cx="3291492" cy="304800"/>
          </a:xfrm>
          <a:prstGeom prst="rect">
            <a:avLst/>
          </a:prstGeom>
          <a:noFill/>
        </p:spPr>
        <p:txBody>
          <a:bodyPr wrap="square" lIns="0" rIns="0" tIns="0" bIns="0" anchor="t">
            <a:spAutoFit/>
          </a:bodyPr>
          <a:lstStyle/>
          <a:p>
            <a:pPr algn="l">
              <a:lnSpc>
                <a:spcPct val="132000"/>
              </a:lnSpc>
            </a:pPr>
            <a:r>
              <a:rPr sz="1600" b="1" i="0">
                <a:solidFill>
                  <a:srgbClr val="A5335F"/>
                </a:solidFill>
                <a:latin typeface="Verdana"/>
              </a:rPr>
              <a:t>jusqu'à la fin du traitement</a:t>
            </a:r>
          </a:p>
        </p:txBody>
      </p:sp>
      <p:sp>
        <p:nvSpPr>
          <p:cNvPr id="20" name="TextBox 19"/>
          <p:cNvSpPr txBox="1"/>
          <p:nvPr/>
        </p:nvSpPr>
        <p:spPr>
          <a:xfrm>
            <a:off x="4443636" y="3913631"/>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même si on se sent mieux avant</a:t>
            </a:r>
          </a:p>
        </p:txBody>
      </p:sp>
      <p:sp>
        <p:nvSpPr>
          <p:cNvPr id="21" name="Rectangle 20"/>
          <p:cNvSpPr/>
          <p:nvPr/>
        </p:nvSpPr>
        <p:spPr>
          <a:xfrm>
            <a:off x="932688" y="42915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19600"/>
            <a:ext cx="3291492" cy="304800"/>
          </a:xfrm>
          <a:prstGeom prst="rect">
            <a:avLst/>
          </a:prstGeom>
          <a:noFill/>
        </p:spPr>
        <p:txBody>
          <a:bodyPr wrap="square" lIns="0" rIns="0" tIns="0" bIns="0" anchor="t">
            <a:spAutoFit/>
          </a:bodyPr>
          <a:lstStyle/>
          <a:p>
            <a:pPr algn="l">
              <a:lnSpc>
                <a:spcPct val="132000"/>
              </a:lnSpc>
            </a:pPr>
            <a:r>
              <a:rPr sz="1600" b="1" i="0">
                <a:solidFill>
                  <a:srgbClr val="A5335F"/>
                </a:solidFill>
                <a:latin typeface="Verdana"/>
              </a:rPr>
              <a:t>au besoin</a:t>
            </a:r>
          </a:p>
        </p:txBody>
      </p:sp>
      <p:sp>
        <p:nvSpPr>
          <p:cNvPr id="23" name="TextBox 22"/>
          <p:cNvSpPr txBox="1"/>
          <p:nvPr/>
        </p:nvSpPr>
        <p:spPr>
          <a:xfrm>
            <a:off x="4443636" y="441960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seulement quand la douleur revient</a:t>
            </a:r>
          </a:p>
        </p:txBody>
      </p:sp>
      <p:sp>
        <p:nvSpPr>
          <p:cNvPr id="24" name="Rounded Rectangle 23"/>
          <p:cNvSpPr/>
          <p:nvPr/>
        </p:nvSpPr>
        <p:spPr>
          <a:xfrm>
            <a:off x="566928" y="521817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47420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Ces cinq formules couvrent la grande majorité des ordonnances.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RÈGLE QUI SAUVE UN TRAITEMENT</a:t>
            </a:r>
          </a:p>
        </p:txBody>
      </p:sp>
      <p:sp>
        <p:nvSpPr>
          <p:cNvPr id="6" name="Rounded Rectangle 5"/>
          <p:cNvSpPr/>
          <p:nvPr/>
        </p:nvSpPr>
        <p:spPr>
          <a:xfrm>
            <a:off x="566928" y="1225296"/>
            <a:ext cx="11057839" cy="2494788"/>
          </a:xfrm>
          <a:prstGeom prst="roundRect">
            <a:avLst>
              <a:gd name="adj" fmla="val 586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Jusqu'à la fin du traitement » veut dire jusqu'à la dernière dose, même si on va mieux.</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Arrêter un antibiotique dès qu'on se sent bien laisse survivre les bactéries les plus résistantes. Le problème revient, et le même médicament ne fonctionne plus. C'est la consigne la plus souvent ignorée, et la plus coûteuse.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 à poser à la pharmacienne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 Est-ce que je le prends avec de la nourriture ? »</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Certains médicaments irritent l'estomac s'ils sont pris à jeun ; d'autres ne sont pas absorbés si on a mangé. La réponse change tout.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 Combien de temps est-ce que je dois le prendre ? »</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durée n'est pas toujours écrite en toutes lettres sur l'étiquette. Demandez-la et notez-la.</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 Qu'est-ce que je fais si j'oublie une dose ? »</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réponse n'est pas la même selon le médicament. Ne jamais doubler la dose suivante sans avoir posé la question.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 Est-ce que ça va avec mes autres médicaments ? »</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pharmacienne a la liste de tout ce que vous prenez. C'est la seule personne qui peut vérifier les interactions.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de la pharmacie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ordonnance</a:t>
            </a:r>
          </a:p>
        </p:txBody>
      </p:sp>
      <p:sp>
        <p:nvSpPr>
          <p:cNvPr id="9" name="TextBox 8"/>
          <p:cNvSpPr txBox="1"/>
          <p:nvPr/>
        </p:nvSpPr>
        <p:spPr>
          <a:xfrm>
            <a:off x="4012692" y="2121408"/>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papier du médecin pour obtenir un médicament.</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comprimé</a:t>
            </a:r>
          </a:p>
        </p:txBody>
      </p:sp>
      <p:sp>
        <p:nvSpPr>
          <p:cNvPr id="12" name="TextBox 11"/>
          <p:cNvSpPr txBox="1"/>
          <p:nvPr/>
        </p:nvSpPr>
        <p:spPr>
          <a:xfrm>
            <a:off x="4012692" y="2778252"/>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médicament solide, en petit disque, à avaler.</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dose</a:t>
            </a:r>
          </a:p>
        </p:txBody>
      </p:sp>
      <p:sp>
        <p:nvSpPr>
          <p:cNvPr id="15" name="TextBox 14"/>
          <p:cNvSpPr txBox="1"/>
          <p:nvPr/>
        </p:nvSpPr>
        <p:spPr>
          <a:xfrm>
            <a:off x="4012692" y="3435096"/>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quantité à prendre en une fois.</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traitement</a:t>
            </a:r>
          </a:p>
        </p:txBody>
      </p:sp>
      <p:sp>
        <p:nvSpPr>
          <p:cNvPr id="18" name="TextBox 17"/>
          <p:cNvSpPr txBox="1"/>
          <p:nvPr/>
        </p:nvSpPr>
        <p:spPr>
          <a:xfrm>
            <a:off x="4012692" y="4091939"/>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L'ensemble des doses à prendre, du début à la fin.</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effet secondaire</a:t>
            </a:r>
          </a:p>
        </p:txBody>
      </p:sp>
      <p:sp>
        <p:nvSpPr>
          <p:cNvPr id="21" name="TextBox 20"/>
          <p:cNvSpPr txBox="1"/>
          <p:nvPr/>
        </p:nvSpPr>
        <p:spPr>
          <a:xfrm>
            <a:off x="4012692" y="4748784"/>
            <a:ext cx="7246315"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effet non désiré causé par un médicament.</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8056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renouveler</a:t>
            </a:r>
          </a:p>
        </p:txBody>
      </p:sp>
      <p:sp>
        <p:nvSpPr>
          <p:cNvPr id="24" name="TextBox 23"/>
          <p:cNvSpPr txBox="1"/>
          <p:nvPr/>
        </p:nvSpPr>
        <p:spPr>
          <a:xfrm>
            <a:off x="4012692" y="5405628"/>
            <a:ext cx="7246315" cy="437387"/>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Obtenir de nouveau le même médicament, sans revoir le médecin.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cette indication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Donnez le sens en vos propres mots.</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deux fois par jour »</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à jeun »</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application locale »</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jusqu'à la fin du traitement »</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au besoin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cette indication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deux fois par jour »   </a:t>
            </a:r>
            <a:r>
              <a:rPr sz="1900" b="1" i="0">
                <a:solidFill>
                  <a:srgbClr val="07734A"/>
                </a:solidFill>
                <a:latin typeface="Verdana"/>
              </a:rPr>
              <a:t>» le matin et le soir</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à jeun »   </a:t>
            </a:r>
            <a:r>
              <a:rPr sz="1900" b="1" i="0">
                <a:solidFill>
                  <a:srgbClr val="07734A"/>
                </a:solidFill>
                <a:latin typeface="Verdana"/>
              </a:rPr>
              <a:t>» sans avoir mangé</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application locale »   </a:t>
            </a:r>
            <a:r>
              <a:rPr sz="1900" b="1" i="0">
                <a:solidFill>
                  <a:srgbClr val="07734A"/>
                </a:solidFill>
                <a:latin typeface="Verdana"/>
              </a:rPr>
              <a:t>» sur la peau, à l'endroit qui fait mal</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jusqu'à la fin du traitement »   </a:t>
            </a:r>
            <a:r>
              <a:rPr sz="1900" b="1" i="0">
                <a:solidFill>
                  <a:srgbClr val="07734A"/>
                </a:solidFill>
                <a:latin typeface="Verdana"/>
              </a:rPr>
              <a:t>» même si on se sent mieux avant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au besoin »   </a:t>
            </a:r>
            <a:r>
              <a:rPr sz="1900" b="1" i="0">
                <a:solidFill>
                  <a:srgbClr val="07734A"/>
                </a:solidFill>
                <a:latin typeface="Verdana"/>
              </a:rPr>
              <a:t>» seulement quand la douleur revient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chez la pharmacienne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comprimé, 2 fois par jour, 7 jours, avec de la nourriture, jusqu'à la fin.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deux comprimés par jour.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traitement dure sept jours.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le médicament à jeun.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peut arrêter dès qu'elle se sent mieux.</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la pharmacienne qui donne les explications.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chez la pharmacienne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deux comprimés par jour.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traitement dure sept jours.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doit prendre le médicament à jeun.   </a:t>
            </a:r>
            <a:r>
              <a:rPr sz="1900" b="1" i="0">
                <a:solidFill>
                  <a:srgbClr val="07734A"/>
                </a:solidFill>
                <a:latin typeface="Verdana"/>
              </a:rPr>
              <a:t>» FAUX — avec de la nourriture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peut arrêter dès qu'elle se sent mieux.   </a:t>
            </a:r>
            <a:r>
              <a:rPr sz="1900" b="1" i="0">
                <a:solidFill>
                  <a:srgbClr val="07734A"/>
                </a:solidFill>
                <a:latin typeface="Verdana"/>
              </a:rPr>
              <a:t>» FAUX — jusqu'à la fin</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la pharmacienne qui donne les explications.   </a:t>
            </a:r>
            <a:r>
              <a:rPr sz="19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 JE ME SENS MIEUX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mieux, j'arrête le médicament.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mieux, je finis quand même le traitement.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Se sentir mieux est le premier effet du médicament, pas la preuve que le problème est réglé. Pour un antibiotique, arrêter à mi-chemin est la meilleure façon de faire revenir l'infection en plus résistante.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 AU BESOIN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 besoin, je le prends tous les jours pour être sûr.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 besoin, je le prends seulement quand ça fait mal.</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Au besoin » veut dire : quand le symptôme est là, pas avant. Prendre un médicament « au besoin » de façon préventive dépasse la dose prévue et peut abîmer l'estomac ou le foie.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Lisez l'étiquette et répondez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 1 comprimé, 3 fois par jour, avec de la nourriture, pendant 10 jours.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par jour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manger avant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en tout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Peut-on arrêter au bout de cinq jours si ça va mieux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Lisez l'étiquette et répondez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par jour ?   </a:t>
            </a:r>
            <a:r>
              <a:rPr sz="1900" b="1" i="0">
                <a:solidFill>
                  <a:srgbClr val="07734A"/>
                </a:solidFill>
                <a:latin typeface="Verdana"/>
              </a:rPr>
              <a:t>» trois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manger avant ?   </a:t>
            </a:r>
            <a:r>
              <a:rPr sz="1900" b="1" i="0">
                <a:solidFill>
                  <a:srgbClr val="07734A"/>
                </a:solidFill>
                <a:latin typeface="Verdana"/>
              </a:rPr>
              <a:t>» oui, avec de la nourriture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comprimés en tout ?   </a:t>
            </a:r>
            <a:r>
              <a:rPr sz="1900" b="1" i="0">
                <a:solidFill>
                  <a:srgbClr val="07734A"/>
                </a:solidFill>
                <a:latin typeface="Verdana"/>
              </a:rPr>
              <a:t>» trente — trois par jour, dix jours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Peut-on arrêter au bout de cinq jours si ça va mieux ?   </a:t>
            </a:r>
            <a:r>
              <a:rPr sz="1900" b="1" i="0">
                <a:solidFill>
                  <a:srgbClr val="07734A"/>
                </a:solidFill>
                <a:latin typeface="Verdana"/>
              </a:rPr>
              <a:t>» non, dix jours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questions que vous poseriez à la pharmacienne.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sur la façon de prendre le médicament, une sur la durée.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Écrivez-les comme vous les diriez vraiment, au comptoir.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Consulter au bon endroit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