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lecture fonctionnelle. Apporter, si possible, une vraie boîte de médicament vide avec son étiquette : la lecture réelle vaut mieux que la lecture simulée.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lire la colonne de gauche seule et demander le sens avant d'afficher la droite. Les élèves connaissent souvent « à jeun » sans savoir l'écrire.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Demander qui a déjà arrêté un traitement avant la fin. Beaucoup de mains se lèvent. Ne juger personne : expliquer la conséquence.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Rappeler que ces quatre questions sont gratuites et sans rendez-vous. C'est le service de santé le plus accessible du Québec.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Renouveler » est le mot pratique de la liste : c'est ce qu'on demande au téléphone quand une ordonnance se termine.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Exercice de reconnaissance rapide. Enchaîner tout de suite sur la mise en situation suivante.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situation complète deux fois à voix haute avant d'afficher les énoncés : « Madame Okonkwo apporte son ordonnance. La pharmacienne lui explique de prendre un comprimé deux fois par jour, pendant sept jours, avec de la nourriture, et de finir tout le traitement même si la douleur disparaît avant. » C'est un exercice d'écoute autant que de lecture.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diapo la plus importante de la séance. Y consacrer dix minutes s'il le faut : c'est un savoir de santé publique, pas seulement de langue.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chercher un exemple concret : l'anti-inflammatoire que Yannick prend « au besoin » selon son questionnaire de santé, en D1.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troisième item est un calcul : c'est aussi une compétence de lecture. Le faire faire à voix haute.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Relire quelques billets à voix haute. Corriger la forme de la question — c'est la révision de B3 dans une situation nouvelle.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SÉANCE C4  ·  MODULE 1</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Lire une ordonnance</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Deux fois par jour, à jeun, jusqu'à la fin du traitement. » Trois indications, trois erreurs possibles. Un médicament mal pris ne soigne pas — et parfois il nuit.</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60 minutes  ·  Consulter au bon endroit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Consulter au bon endroit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les indications écrites sur une étiquette de pharmacie ;</a:t>
            </a:r>
          </a:p>
        </p:txBody>
      </p:sp>
      <p:sp>
        <p:nvSpPr>
          <p:cNvPr id="11" name="Rounded Rectangle 10"/>
          <p:cNvSpPr/>
          <p:nvPr/>
        </p:nvSpPr>
        <p:spPr>
          <a:xfrm>
            <a:off x="566928" y="2650744"/>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3006344"/>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3088640"/>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4" name="TextBox 13"/>
          <p:cNvSpPr txBox="1"/>
          <p:nvPr/>
        </p:nvSpPr>
        <p:spPr>
          <a:xfrm>
            <a:off x="1408176" y="2851912"/>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ce que veulent dire « à jeun », « au besoin », « application locale » ;</a:t>
            </a:r>
          </a:p>
        </p:txBody>
      </p:sp>
      <p:sp>
        <p:nvSpPr>
          <p:cNvPr id="15" name="Rounded Rectangle 14"/>
          <p:cNvSpPr/>
          <p:nvPr/>
        </p:nvSpPr>
        <p:spPr>
          <a:xfrm>
            <a:off x="566928" y="38922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4070096"/>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4152392"/>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8" name="TextBox 17"/>
          <p:cNvSpPr txBox="1"/>
          <p:nvPr/>
        </p:nvSpPr>
        <p:spPr>
          <a:xfrm>
            <a:off x="1408176" y="40934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pourquoi il faut finir un traitement ;</a:t>
            </a:r>
          </a:p>
        </p:txBody>
      </p:sp>
      <p:sp>
        <p:nvSpPr>
          <p:cNvPr id="19" name="Rounded Rectangle 18"/>
          <p:cNvSpPr/>
          <p:nvPr/>
        </p:nvSpPr>
        <p:spPr>
          <a:xfrm>
            <a:off x="566928" y="47782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956048"/>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5038344"/>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2" name="TextBox 21"/>
          <p:cNvSpPr txBox="1"/>
          <p:nvPr/>
        </p:nvSpPr>
        <p:spPr>
          <a:xfrm>
            <a:off x="1408176" y="4979415"/>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poser les bonnes questions à la pharmacienne.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Consulter au bon endroit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Cinq indications et leur sens</a:t>
            </a:r>
          </a:p>
        </p:txBody>
      </p:sp>
      <p:sp>
        <p:nvSpPr>
          <p:cNvPr id="7" name="Rounded Rectangle 6"/>
          <p:cNvSpPr/>
          <p:nvPr/>
        </p:nvSpPr>
        <p:spPr>
          <a:xfrm>
            <a:off x="566928" y="1810512"/>
            <a:ext cx="11057839" cy="3169920"/>
          </a:xfrm>
          <a:prstGeom prst="roundRect">
            <a:avLst>
              <a:gd name="adj" fmla="val 4615"/>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 EST ÉCRIT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 ÇA VEUT DIRE</a:t>
            </a:r>
          </a:p>
        </p:txBody>
      </p:sp>
      <p:sp>
        <p:nvSpPr>
          <p:cNvPr id="10" name="TextBox 9"/>
          <p:cNvSpPr txBox="1"/>
          <p:nvPr/>
        </p:nvSpPr>
        <p:spPr>
          <a:xfrm>
            <a:off x="932688" y="2395728"/>
            <a:ext cx="3291492" cy="304800"/>
          </a:xfrm>
          <a:prstGeom prst="rect">
            <a:avLst/>
          </a:prstGeom>
          <a:noFill/>
        </p:spPr>
        <p:txBody>
          <a:bodyPr wrap="square" lIns="0" rIns="0" tIns="0" bIns="0" anchor="t">
            <a:spAutoFit/>
          </a:bodyPr>
          <a:lstStyle/>
          <a:p>
            <a:pPr algn="l">
              <a:lnSpc>
                <a:spcPct val="132000"/>
              </a:lnSpc>
            </a:pPr>
            <a:r>
              <a:rPr sz="1600" b="1" i="0">
                <a:solidFill>
                  <a:srgbClr val="A5335F"/>
                </a:solidFill>
                <a:latin typeface="Verdana"/>
              </a:rPr>
              <a:t>deux fois par jour</a:t>
            </a:r>
          </a:p>
        </p:txBody>
      </p:sp>
      <p:sp>
        <p:nvSpPr>
          <p:cNvPr id="11" name="TextBox 10"/>
          <p:cNvSpPr txBox="1"/>
          <p:nvPr/>
        </p:nvSpPr>
        <p:spPr>
          <a:xfrm>
            <a:off x="4443636" y="2395728"/>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le matin et le soir</a:t>
            </a:r>
          </a:p>
        </p:txBody>
      </p:sp>
      <p:sp>
        <p:nvSpPr>
          <p:cNvPr id="12" name="Rectangle 11"/>
          <p:cNvSpPr/>
          <p:nvPr/>
        </p:nvSpPr>
        <p:spPr>
          <a:xfrm>
            <a:off x="932688" y="277368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01696"/>
            <a:ext cx="3291492" cy="304800"/>
          </a:xfrm>
          <a:prstGeom prst="rect">
            <a:avLst/>
          </a:prstGeom>
          <a:noFill/>
        </p:spPr>
        <p:txBody>
          <a:bodyPr wrap="square" lIns="0" rIns="0" tIns="0" bIns="0" anchor="t">
            <a:spAutoFit/>
          </a:bodyPr>
          <a:lstStyle/>
          <a:p>
            <a:pPr algn="l">
              <a:lnSpc>
                <a:spcPct val="132000"/>
              </a:lnSpc>
            </a:pPr>
            <a:r>
              <a:rPr sz="1600" b="1" i="0">
                <a:solidFill>
                  <a:srgbClr val="A5335F"/>
                </a:solidFill>
                <a:latin typeface="Verdana"/>
              </a:rPr>
              <a:t>à jeun</a:t>
            </a:r>
          </a:p>
        </p:txBody>
      </p:sp>
      <p:sp>
        <p:nvSpPr>
          <p:cNvPr id="14" name="TextBox 13"/>
          <p:cNvSpPr txBox="1"/>
          <p:nvPr/>
        </p:nvSpPr>
        <p:spPr>
          <a:xfrm>
            <a:off x="4443636" y="2901696"/>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sans avoir mangé</a:t>
            </a:r>
          </a:p>
        </p:txBody>
      </p:sp>
      <p:sp>
        <p:nvSpPr>
          <p:cNvPr id="15" name="Rectangle 14"/>
          <p:cNvSpPr/>
          <p:nvPr/>
        </p:nvSpPr>
        <p:spPr>
          <a:xfrm>
            <a:off x="932688" y="327964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07664"/>
            <a:ext cx="3291492" cy="304800"/>
          </a:xfrm>
          <a:prstGeom prst="rect">
            <a:avLst/>
          </a:prstGeom>
          <a:noFill/>
        </p:spPr>
        <p:txBody>
          <a:bodyPr wrap="square" lIns="0" rIns="0" tIns="0" bIns="0" anchor="t">
            <a:spAutoFit/>
          </a:bodyPr>
          <a:lstStyle/>
          <a:p>
            <a:pPr algn="l">
              <a:lnSpc>
                <a:spcPct val="132000"/>
              </a:lnSpc>
            </a:pPr>
            <a:r>
              <a:rPr sz="1600" b="1" i="0">
                <a:solidFill>
                  <a:srgbClr val="A5335F"/>
                </a:solidFill>
                <a:latin typeface="Verdana"/>
              </a:rPr>
              <a:t>application locale</a:t>
            </a:r>
          </a:p>
        </p:txBody>
      </p:sp>
      <p:sp>
        <p:nvSpPr>
          <p:cNvPr id="17" name="TextBox 16"/>
          <p:cNvSpPr txBox="1"/>
          <p:nvPr/>
        </p:nvSpPr>
        <p:spPr>
          <a:xfrm>
            <a:off x="4443636" y="3407664"/>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sur la peau, à l'endroit qui fait mal</a:t>
            </a:r>
          </a:p>
        </p:txBody>
      </p:sp>
      <p:sp>
        <p:nvSpPr>
          <p:cNvPr id="18" name="Rectangle 17"/>
          <p:cNvSpPr/>
          <p:nvPr/>
        </p:nvSpPr>
        <p:spPr>
          <a:xfrm>
            <a:off x="932688" y="378561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913631"/>
            <a:ext cx="3291492" cy="304800"/>
          </a:xfrm>
          <a:prstGeom prst="rect">
            <a:avLst/>
          </a:prstGeom>
          <a:noFill/>
        </p:spPr>
        <p:txBody>
          <a:bodyPr wrap="square" lIns="0" rIns="0" tIns="0" bIns="0" anchor="t">
            <a:spAutoFit/>
          </a:bodyPr>
          <a:lstStyle/>
          <a:p>
            <a:pPr algn="l">
              <a:lnSpc>
                <a:spcPct val="132000"/>
              </a:lnSpc>
            </a:pPr>
            <a:r>
              <a:rPr sz="1600" b="1" i="0">
                <a:solidFill>
                  <a:srgbClr val="A5335F"/>
                </a:solidFill>
                <a:latin typeface="Verdana"/>
              </a:rPr>
              <a:t>jusqu'à la fin du traitement</a:t>
            </a:r>
          </a:p>
        </p:txBody>
      </p:sp>
      <p:sp>
        <p:nvSpPr>
          <p:cNvPr id="20" name="TextBox 19"/>
          <p:cNvSpPr txBox="1"/>
          <p:nvPr/>
        </p:nvSpPr>
        <p:spPr>
          <a:xfrm>
            <a:off x="4443636" y="3913631"/>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même si on se sent mieux avant</a:t>
            </a:r>
          </a:p>
        </p:txBody>
      </p:sp>
      <p:sp>
        <p:nvSpPr>
          <p:cNvPr id="21" name="Rectangle 20"/>
          <p:cNvSpPr/>
          <p:nvPr/>
        </p:nvSpPr>
        <p:spPr>
          <a:xfrm>
            <a:off x="932688" y="429158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419600"/>
            <a:ext cx="3291492" cy="304800"/>
          </a:xfrm>
          <a:prstGeom prst="rect">
            <a:avLst/>
          </a:prstGeom>
          <a:noFill/>
        </p:spPr>
        <p:txBody>
          <a:bodyPr wrap="square" lIns="0" rIns="0" tIns="0" bIns="0" anchor="t">
            <a:spAutoFit/>
          </a:bodyPr>
          <a:lstStyle/>
          <a:p>
            <a:pPr algn="l">
              <a:lnSpc>
                <a:spcPct val="132000"/>
              </a:lnSpc>
            </a:pPr>
            <a:r>
              <a:rPr sz="1600" b="1" i="0">
                <a:solidFill>
                  <a:srgbClr val="A5335F"/>
                </a:solidFill>
                <a:latin typeface="Verdana"/>
              </a:rPr>
              <a:t>au besoin</a:t>
            </a:r>
          </a:p>
        </p:txBody>
      </p:sp>
      <p:sp>
        <p:nvSpPr>
          <p:cNvPr id="23" name="TextBox 22"/>
          <p:cNvSpPr txBox="1"/>
          <p:nvPr/>
        </p:nvSpPr>
        <p:spPr>
          <a:xfrm>
            <a:off x="4443636" y="4419600"/>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seulement quand la douleur revient</a:t>
            </a:r>
          </a:p>
        </p:txBody>
      </p:sp>
      <p:sp>
        <p:nvSpPr>
          <p:cNvPr id="24" name="Rounded Rectangle 23"/>
          <p:cNvSpPr/>
          <p:nvPr/>
        </p:nvSpPr>
        <p:spPr>
          <a:xfrm>
            <a:off x="566928" y="5218176"/>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69264" y="5474208"/>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Ces cinq formules couvrent la grande majorité des ordonnances.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Consulter au bon endroit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LA RÈGLE QUI SAUVE UN TRAITEMENT</a:t>
            </a:r>
          </a:p>
        </p:txBody>
      </p:sp>
      <p:sp>
        <p:nvSpPr>
          <p:cNvPr id="6" name="Rounded Rectangle 5"/>
          <p:cNvSpPr/>
          <p:nvPr/>
        </p:nvSpPr>
        <p:spPr>
          <a:xfrm>
            <a:off x="566928" y="1225296"/>
            <a:ext cx="11057839" cy="2494788"/>
          </a:xfrm>
          <a:prstGeom prst="roundRect">
            <a:avLst>
              <a:gd name="adj" fmla="val 5864"/>
            </a:avLst>
          </a:prstGeom>
          <a:solidFill>
            <a:srgbClr val="FCE9F0"/>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 Jusqu'à la fin du traitement » veut dire jusqu'à la dernière dose, même si on va mieux.</a:t>
            </a:r>
          </a:p>
        </p:txBody>
      </p:sp>
      <p:sp>
        <p:nvSpPr>
          <p:cNvPr id="8" name="Rounded Rectangle 7"/>
          <p:cNvSpPr/>
          <p:nvPr/>
        </p:nvSpPr>
        <p:spPr>
          <a:xfrm>
            <a:off x="566928" y="3994404"/>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Arrêter un antibiotique dès qu'on se sent bien laisse survivre les bactéries les plus résistantes. Le problème revient, et le même médicament ne fonctionne plus. C'est la consigne la plus souvent ignorée, et la plus coûteuse.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Consulter au bon endroit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questions à poser à la pharmacienne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656843"/>
          </a:xfrm>
          <a:prstGeom prst="rect">
            <a:avLst/>
          </a:prstGeom>
          <a:noFill/>
        </p:spPr>
        <p:txBody>
          <a:bodyPr wrap="square" lIns="0" rIns="0" tIns="0" bIns="0" anchor="t">
            <a:spAutoFit/>
          </a:bodyPr>
          <a:lstStyle/>
          <a:p>
            <a:pPr algn="l">
              <a:lnSpc>
                <a:spcPct val="118000"/>
              </a:lnSpc>
            </a:pPr>
            <a:r>
              <a:rPr sz="2100" b="1" i="0">
                <a:solidFill>
                  <a:srgbClr val="A5335F"/>
                </a:solidFill>
                <a:latin typeface="Verdana"/>
              </a:rPr>
              <a:t>« Est-ce que je le prends avec de la nourriture ? »</a:t>
            </a:r>
          </a:p>
        </p:txBody>
      </p:sp>
      <p:sp>
        <p:nvSpPr>
          <p:cNvPr id="9" name="TextBox 8"/>
          <p:cNvSpPr txBox="1"/>
          <p:nvPr/>
        </p:nvSpPr>
        <p:spPr>
          <a:xfrm>
            <a:off x="886968" y="276910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Certains médicaments irritent l'estomac s'ils sont pris à jeun ; d'autres ne sont pas absorbés si on a mangé. La réponse change tout.</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656843"/>
          </a:xfrm>
          <a:prstGeom prst="rect">
            <a:avLst/>
          </a:prstGeom>
          <a:noFill/>
        </p:spPr>
        <p:txBody>
          <a:bodyPr wrap="square" lIns="0" rIns="0" tIns="0" bIns="0" anchor="t">
            <a:spAutoFit/>
          </a:bodyPr>
          <a:lstStyle/>
          <a:p>
            <a:pPr algn="l">
              <a:lnSpc>
                <a:spcPct val="118000"/>
              </a:lnSpc>
            </a:pPr>
            <a:r>
              <a:rPr sz="2100" b="1" i="0">
                <a:solidFill>
                  <a:srgbClr val="A5335F"/>
                </a:solidFill>
                <a:latin typeface="Verdana"/>
              </a:rPr>
              <a:t>« Combien de temps est-ce que je dois le prendre ? »</a:t>
            </a:r>
          </a:p>
        </p:txBody>
      </p:sp>
      <p:sp>
        <p:nvSpPr>
          <p:cNvPr id="12" name="TextBox 11"/>
          <p:cNvSpPr txBox="1"/>
          <p:nvPr/>
        </p:nvSpPr>
        <p:spPr>
          <a:xfrm>
            <a:off x="6498183" y="276910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La durée n'est pas toujours écrite en toutes lettres sur l'étiquette. Demandez-la et notez-la.</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656843"/>
          </a:xfrm>
          <a:prstGeom prst="rect">
            <a:avLst/>
          </a:prstGeom>
          <a:noFill/>
        </p:spPr>
        <p:txBody>
          <a:bodyPr wrap="square" lIns="0" rIns="0" tIns="0" bIns="0" anchor="t">
            <a:spAutoFit/>
          </a:bodyPr>
          <a:lstStyle/>
          <a:p>
            <a:pPr algn="l">
              <a:lnSpc>
                <a:spcPct val="118000"/>
              </a:lnSpc>
            </a:pPr>
            <a:r>
              <a:rPr sz="2100" b="1" i="0">
                <a:solidFill>
                  <a:srgbClr val="A5335F"/>
                </a:solidFill>
                <a:latin typeface="Verdana"/>
              </a:rPr>
              <a:t>« Qu'est-ce que je fais si j'oublie une dose ? »</a:t>
            </a:r>
          </a:p>
        </p:txBody>
      </p:sp>
      <p:sp>
        <p:nvSpPr>
          <p:cNvPr id="15" name="TextBox 14"/>
          <p:cNvSpPr txBox="1"/>
          <p:nvPr/>
        </p:nvSpPr>
        <p:spPr>
          <a:xfrm>
            <a:off x="886968" y="498652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La réponse n'est pas la même selon le médicament. Ne jamais doubler la dose suivante sans avoir posé la question.</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656843"/>
          </a:xfrm>
          <a:prstGeom prst="rect">
            <a:avLst/>
          </a:prstGeom>
          <a:noFill/>
        </p:spPr>
        <p:txBody>
          <a:bodyPr wrap="square" lIns="0" rIns="0" tIns="0" bIns="0" anchor="t">
            <a:spAutoFit/>
          </a:bodyPr>
          <a:lstStyle/>
          <a:p>
            <a:pPr algn="l">
              <a:lnSpc>
                <a:spcPct val="118000"/>
              </a:lnSpc>
            </a:pPr>
            <a:r>
              <a:rPr sz="2100" b="1" i="0">
                <a:solidFill>
                  <a:srgbClr val="A5335F"/>
                </a:solidFill>
                <a:latin typeface="Verdana"/>
              </a:rPr>
              <a:t>« Est-ce que ça va avec mes autres médicaments ? »</a:t>
            </a:r>
          </a:p>
        </p:txBody>
      </p:sp>
      <p:sp>
        <p:nvSpPr>
          <p:cNvPr id="18" name="TextBox 17"/>
          <p:cNvSpPr txBox="1"/>
          <p:nvPr/>
        </p:nvSpPr>
        <p:spPr>
          <a:xfrm>
            <a:off x="6498183" y="498652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La pharmacienne a la liste de tout ce que vous prenez. C'est la seule personne qui peut vérifier les interactions.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Consulter au bon endroit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VOCABULAIRE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mots de la pharmacie</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2805684"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ordonnance</a:t>
            </a:r>
          </a:p>
        </p:txBody>
      </p:sp>
      <p:sp>
        <p:nvSpPr>
          <p:cNvPr id="9" name="TextBox 8"/>
          <p:cNvSpPr txBox="1"/>
          <p:nvPr/>
        </p:nvSpPr>
        <p:spPr>
          <a:xfrm>
            <a:off x="4012692" y="2121408"/>
            <a:ext cx="7246315"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papier du médecin pour obtenir un médicament.</a:t>
            </a:r>
          </a:p>
        </p:txBody>
      </p:sp>
      <p:sp>
        <p:nvSpPr>
          <p:cNvPr id="10" name="Rectangle 9"/>
          <p:cNvSpPr/>
          <p:nvPr/>
        </p:nvSpPr>
        <p:spPr>
          <a:xfrm>
            <a:off x="932688" y="263194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778252"/>
            <a:ext cx="2805684"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comprimé</a:t>
            </a:r>
          </a:p>
        </p:txBody>
      </p:sp>
      <p:sp>
        <p:nvSpPr>
          <p:cNvPr id="12" name="TextBox 11"/>
          <p:cNvSpPr txBox="1"/>
          <p:nvPr/>
        </p:nvSpPr>
        <p:spPr>
          <a:xfrm>
            <a:off x="4012692" y="2778252"/>
            <a:ext cx="7246315"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 médicament solide, en petit disque, à avaler.</a:t>
            </a:r>
          </a:p>
        </p:txBody>
      </p:sp>
      <p:sp>
        <p:nvSpPr>
          <p:cNvPr id="13" name="Rectangle 12"/>
          <p:cNvSpPr/>
          <p:nvPr/>
        </p:nvSpPr>
        <p:spPr>
          <a:xfrm>
            <a:off x="932688" y="328879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435096"/>
            <a:ext cx="2805684"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dose</a:t>
            </a:r>
          </a:p>
        </p:txBody>
      </p:sp>
      <p:sp>
        <p:nvSpPr>
          <p:cNvPr id="15" name="TextBox 14"/>
          <p:cNvSpPr txBox="1"/>
          <p:nvPr/>
        </p:nvSpPr>
        <p:spPr>
          <a:xfrm>
            <a:off x="4012692" y="3435096"/>
            <a:ext cx="7246315"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 quantité à prendre en une fois.</a:t>
            </a:r>
          </a:p>
        </p:txBody>
      </p:sp>
      <p:sp>
        <p:nvSpPr>
          <p:cNvPr id="16" name="Rectangle 15"/>
          <p:cNvSpPr/>
          <p:nvPr/>
        </p:nvSpPr>
        <p:spPr>
          <a:xfrm>
            <a:off x="932688" y="39456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091939"/>
            <a:ext cx="2805684"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traitement</a:t>
            </a:r>
          </a:p>
        </p:txBody>
      </p:sp>
      <p:sp>
        <p:nvSpPr>
          <p:cNvPr id="18" name="TextBox 17"/>
          <p:cNvSpPr txBox="1"/>
          <p:nvPr/>
        </p:nvSpPr>
        <p:spPr>
          <a:xfrm>
            <a:off x="4012692" y="4091939"/>
            <a:ext cx="7246315"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L'ensemble des doses à prendre, du début à la fin.</a:t>
            </a:r>
          </a:p>
        </p:txBody>
      </p:sp>
      <p:sp>
        <p:nvSpPr>
          <p:cNvPr id="19" name="Rectangle 18"/>
          <p:cNvSpPr/>
          <p:nvPr/>
        </p:nvSpPr>
        <p:spPr>
          <a:xfrm>
            <a:off x="932688" y="460248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4748784"/>
            <a:ext cx="2805684"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effet secondaire</a:t>
            </a:r>
          </a:p>
        </p:txBody>
      </p:sp>
      <p:sp>
        <p:nvSpPr>
          <p:cNvPr id="21" name="TextBox 20"/>
          <p:cNvSpPr txBox="1"/>
          <p:nvPr/>
        </p:nvSpPr>
        <p:spPr>
          <a:xfrm>
            <a:off x="4012692" y="4748784"/>
            <a:ext cx="7246315"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 effet non désiré causé par un médicament.</a:t>
            </a:r>
          </a:p>
        </p:txBody>
      </p:sp>
      <p:sp>
        <p:nvSpPr>
          <p:cNvPr id="22" name="Rectangle 21"/>
          <p:cNvSpPr/>
          <p:nvPr/>
        </p:nvSpPr>
        <p:spPr>
          <a:xfrm>
            <a:off x="932688" y="525932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5405628"/>
            <a:ext cx="2805684"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renouveler</a:t>
            </a:r>
          </a:p>
        </p:txBody>
      </p:sp>
      <p:sp>
        <p:nvSpPr>
          <p:cNvPr id="24" name="TextBox 23"/>
          <p:cNvSpPr txBox="1"/>
          <p:nvPr/>
        </p:nvSpPr>
        <p:spPr>
          <a:xfrm>
            <a:off x="4012692" y="5405628"/>
            <a:ext cx="7246315" cy="437387"/>
          </a:xfrm>
          <a:prstGeom prst="rect">
            <a:avLst/>
          </a:prstGeom>
          <a:noFill/>
        </p:spPr>
        <p:txBody>
          <a:bodyPr wrap="square" lIns="0" rIns="0" tIns="0" bIns="0" anchor="t">
            <a:spAutoFit/>
          </a:bodyPr>
          <a:lstStyle/>
          <a:p>
            <a:pPr algn="l">
              <a:lnSpc>
                <a:spcPct val="135000"/>
              </a:lnSpc>
            </a:pPr>
            <a:r>
              <a:rPr sz="1600" b="0" i="0">
                <a:solidFill>
                  <a:srgbClr val="4B4F52"/>
                </a:solidFill>
                <a:latin typeface="Verdana"/>
              </a:rPr>
              <a:t>Obtenir de nouveau le même médicament, sans revoir le médecin.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Consulter au bon endroit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PRATIQUE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 veut dire cette indication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Donnez le sens en vos propres mots.</a:t>
            </a:r>
          </a:p>
        </p:txBody>
      </p:sp>
      <p:sp>
        <p:nvSpPr>
          <p:cNvPr id="8" name="Rounded Rectangle 7"/>
          <p:cNvSpPr/>
          <p:nvPr/>
        </p:nvSpPr>
        <p:spPr>
          <a:xfrm>
            <a:off x="566928" y="2139696"/>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50083"/>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514091"/>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deux fois par jour »</a:t>
            </a:r>
          </a:p>
        </p:txBody>
      </p:sp>
      <p:sp>
        <p:nvSpPr>
          <p:cNvPr id="12" name="Rounded Rectangle 11"/>
          <p:cNvSpPr/>
          <p:nvPr/>
        </p:nvSpPr>
        <p:spPr>
          <a:xfrm>
            <a:off x="6159855" y="2139696"/>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450083"/>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514091"/>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6937095"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à jeun »</a:t>
            </a:r>
          </a:p>
        </p:txBody>
      </p:sp>
      <p:sp>
        <p:nvSpPr>
          <p:cNvPr id="16" name="Rounded Rectangle 15"/>
          <p:cNvSpPr/>
          <p:nvPr/>
        </p:nvSpPr>
        <p:spPr>
          <a:xfrm>
            <a:off x="566928" y="3254248"/>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564635"/>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2864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application locale »</a:t>
            </a:r>
          </a:p>
        </p:txBody>
      </p:sp>
      <p:sp>
        <p:nvSpPr>
          <p:cNvPr id="20" name="Rounded Rectangle 19"/>
          <p:cNvSpPr/>
          <p:nvPr/>
        </p:nvSpPr>
        <p:spPr>
          <a:xfrm>
            <a:off x="6159855" y="3254248"/>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564635"/>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62864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6937095"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jusqu'à la fin du traitement »</a:t>
            </a:r>
          </a:p>
        </p:txBody>
      </p:sp>
      <p:sp>
        <p:nvSpPr>
          <p:cNvPr id="24" name="Rounded Rectangle 23"/>
          <p:cNvSpPr/>
          <p:nvPr/>
        </p:nvSpPr>
        <p:spPr>
          <a:xfrm>
            <a:off x="566928" y="4368800"/>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6791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743196"/>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au besoin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Consulter au bon endroit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 veut dire cette indication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50083"/>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514091"/>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deux fois par jour »   </a:t>
            </a:r>
            <a:r>
              <a:rPr sz="1900" b="1" i="0">
                <a:solidFill>
                  <a:srgbClr val="07734A"/>
                </a:solidFill>
                <a:latin typeface="Verdana"/>
              </a:rPr>
              <a:t>» le matin et le soir</a:t>
            </a:r>
          </a:p>
        </p:txBody>
      </p:sp>
      <p:sp>
        <p:nvSpPr>
          <p:cNvPr id="12" name="Rounded Rectangle 11"/>
          <p:cNvSpPr/>
          <p:nvPr/>
        </p:nvSpPr>
        <p:spPr>
          <a:xfrm>
            <a:off x="6159855" y="2139696"/>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450083"/>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514091"/>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6937095"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à jeun »   </a:t>
            </a:r>
            <a:r>
              <a:rPr sz="1900" b="1" i="0">
                <a:solidFill>
                  <a:srgbClr val="07734A"/>
                </a:solidFill>
                <a:latin typeface="Verdana"/>
              </a:rPr>
              <a:t>» sans avoir mangé</a:t>
            </a:r>
          </a:p>
        </p:txBody>
      </p:sp>
      <p:sp>
        <p:nvSpPr>
          <p:cNvPr id="16" name="Rounded Rectangle 15"/>
          <p:cNvSpPr/>
          <p:nvPr/>
        </p:nvSpPr>
        <p:spPr>
          <a:xfrm>
            <a:off x="566928" y="3254248"/>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564635"/>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2864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application locale »   </a:t>
            </a:r>
            <a:r>
              <a:rPr sz="1900" b="1" i="0">
                <a:solidFill>
                  <a:srgbClr val="07734A"/>
                </a:solidFill>
                <a:latin typeface="Verdana"/>
              </a:rPr>
              <a:t>» sur la peau, à l'endroit qui fait mal</a:t>
            </a:r>
          </a:p>
        </p:txBody>
      </p:sp>
      <p:sp>
        <p:nvSpPr>
          <p:cNvPr id="20" name="Rounded Rectangle 19"/>
          <p:cNvSpPr/>
          <p:nvPr/>
        </p:nvSpPr>
        <p:spPr>
          <a:xfrm>
            <a:off x="6159855" y="3254248"/>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564635"/>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62864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6937095"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jusqu'à la fin du traitement »   </a:t>
            </a:r>
            <a:r>
              <a:rPr sz="1900" b="1" i="0">
                <a:solidFill>
                  <a:srgbClr val="07734A"/>
                </a:solidFill>
                <a:latin typeface="Verdana"/>
              </a:rPr>
              <a:t>» même si on se sent mieux avant</a:t>
            </a:r>
          </a:p>
        </p:txBody>
      </p:sp>
      <p:sp>
        <p:nvSpPr>
          <p:cNvPr id="24" name="Rounded Rectangle 23"/>
          <p:cNvSpPr/>
          <p:nvPr/>
        </p:nvSpPr>
        <p:spPr>
          <a:xfrm>
            <a:off x="566928" y="4368800"/>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6791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743196"/>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au besoin »   </a:t>
            </a:r>
            <a:r>
              <a:rPr sz="1900" b="1" i="0">
                <a:solidFill>
                  <a:srgbClr val="07734A"/>
                </a:solidFill>
                <a:latin typeface="Verdana"/>
              </a:rPr>
              <a:t>» seulement quand la douleur revient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Consulter au bon endroit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PRATIQUE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 chez la pharmacienne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Un comprimé, 2 fois par jour, 7 jours, avec de la nourriture, jusqu'à la fin.</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Elle doit prendre deux comprimés par jour.</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traitement dure sept jours.</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Elle doit prendre le médicament à jeun.</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Elle peut arrêter dès qu'elle se sent mieux.</a:t>
            </a:r>
          </a:p>
        </p:txBody>
      </p:sp>
      <p:sp>
        <p:nvSpPr>
          <p:cNvPr id="24" name="Rounded Rectangle 23"/>
          <p:cNvSpPr/>
          <p:nvPr/>
        </p:nvSpPr>
        <p:spPr>
          <a:xfrm>
            <a:off x="566928" y="5246624"/>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C'est la pharmacienne qui donne les explications.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Consulter au bon endroit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 chez la pharmacienne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Elle doit prendre deux comprimés par jour.   </a:t>
            </a:r>
            <a:r>
              <a:rPr sz="1900" b="1" i="0">
                <a:solidFill>
                  <a:srgbClr val="07734A"/>
                </a:solidFill>
                <a:latin typeface="Verdana"/>
              </a:rPr>
              <a:t>» VRAI</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traitement dure sept jours.   </a:t>
            </a:r>
            <a:r>
              <a:rPr sz="1900" b="1" i="0">
                <a:solidFill>
                  <a:srgbClr val="07734A"/>
                </a:solidFill>
                <a:latin typeface="Verdana"/>
              </a:rPr>
              <a:t>» VRAI</a:t>
            </a:r>
          </a:p>
        </p:txBody>
      </p:sp>
      <p:sp>
        <p:nvSpPr>
          <p:cNvPr id="16" name="Rounded Rectangle 15"/>
          <p:cNvSpPr/>
          <p:nvPr/>
        </p:nvSpPr>
        <p:spPr>
          <a:xfrm>
            <a:off x="566928" y="369316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Elle doit prendre le médicament à jeun.   </a:t>
            </a:r>
            <a:r>
              <a:rPr sz="1900" b="1" i="0">
                <a:solidFill>
                  <a:srgbClr val="07734A"/>
                </a:solidFill>
                <a:latin typeface="Verdana"/>
              </a:rPr>
              <a:t>» FAUX — avec de la nourriture</a:t>
            </a:r>
          </a:p>
        </p:txBody>
      </p:sp>
      <p:sp>
        <p:nvSpPr>
          <p:cNvPr id="20" name="Rounded Rectangle 19"/>
          <p:cNvSpPr/>
          <p:nvPr/>
        </p:nvSpPr>
        <p:spPr>
          <a:xfrm>
            <a:off x="566928" y="4469892"/>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Elle peut arrêter dès qu'elle se sent mieux.   </a:t>
            </a:r>
            <a:r>
              <a:rPr sz="1900" b="1" i="0">
                <a:solidFill>
                  <a:srgbClr val="07734A"/>
                </a:solidFill>
                <a:latin typeface="Verdana"/>
              </a:rPr>
              <a:t>» FAUX — jusqu'à la fin</a:t>
            </a:r>
          </a:p>
        </p:txBody>
      </p:sp>
      <p:sp>
        <p:nvSpPr>
          <p:cNvPr id="24" name="Rounded Rectangle 23"/>
          <p:cNvSpPr/>
          <p:nvPr/>
        </p:nvSpPr>
        <p:spPr>
          <a:xfrm>
            <a:off x="566928" y="5246624"/>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C'est la pharmacienne qui donne les explications.   </a:t>
            </a:r>
            <a:r>
              <a:rPr sz="1900" b="1" i="0">
                <a:solidFill>
                  <a:srgbClr val="07734A"/>
                </a:solidFill>
                <a:latin typeface="Verdana"/>
              </a:rPr>
              <a:t>» VRAI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Consulter au bon endroit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LE PIÈGE DU « JE ME SENS MIEUX »</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vais mieux, j'arrête le médicament.</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vais mieux, je finis quand même le traitement.</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Se sentir mieux est le premier effet du médicament, pas la preuve que le problème est réglé. Pour un antibiotique, arrêter à mi-chemin est la meilleure façon de faire revenir l'infection en plus résistante.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Consulter au bon endroit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LE PIÈGE DE « AU BESOIN »</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Au besoin, je le prends tous les jours pour être sûr.</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Au besoin, je le prends seulement quand ça fait mal.</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Au besoin » veut dire : quand le symptôme est là, pas avant. Prendre un médicament « au besoin » de façon préventive dépasse la dose prévue et peut abîmer l'estomac ou le foie.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Consulter au bon endroit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PRATIQUE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Lisez l'étiquette et répondez</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 1 comprimé, 3 fois par jour, avec de la nourriture, pendant 10 jours. »</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de comprimés par jour ?</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Faut-il manger avant ?</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de comprimés en tout ?</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Peut-on arrêter au bout de cinq jours si ça va mieux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Consulter au bon endroit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Lisez l'étiquette et répondez</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de comprimés par jour ?   </a:t>
            </a:r>
            <a:r>
              <a:rPr sz="1900" b="1" i="0">
                <a:solidFill>
                  <a:srgbClr val="07734A"/>
                </a:solidFill>
                <a:latin typeface="Verdana"/>
              </a:rPr>
              <a:t>» trois</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Faut-il manger avant ?   </a:t>
            </a:r>
            <a:r>
              <a:rPr sz="1900" b="1" i="0">
                <a:solidFill>
                  <a:srgbClr val="07734A"/>
                </a:solidFill>
                <a:latin typeface="Verdana"/>
              </a:rPr>
              <a:t>» oui, avec de la nourriture</a:t>
            </a:r>
          </a:p>
        </p:txBody>
      </p:sp>
      <p:sp>
        <p:nvSpPr>
          <p:cNvPr id="16" name="Rounded Rectangle 15"/>
          <p:cNvSpPr/>
          <p:nvPr/>
        </p:nvSpPr>
        <p:spPr>
          <a:xfrm>
            <a:off x="566928" y="369316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de comprimés en tout ?   </a:t>
            </a:r>
            <a:r>
              <a:rPr sz="1900" b="1" i="0">
                <a:solidFill>
                  <a:srgbClr val="07734A"/>
                </a:solidFill>
                <a:latin typeface="Verdana"/>
              </a:rPr>
              <a:t>» trente — trois par jour, dix jours</a:t>
            </a:r>
          </a:p>
        </p:txBody>
      </p:sp>
      <p:sp>
        <p:nvSpPr>
          <p:cNvPr id="20" name="Rounded Rectangle 19"/>
          <p:cNvSpPr/>
          <p:nvPr/>
        </p:nvSpPr>
        <p:spPr>
          <a:xfrm>
            <a:off x="566928" y="4469892"/>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Peut-on arrêter au bout de cinq jours si ça va mieux ?   </a:t>
            </a:r>
            <a:r>
              <a:rPr sz="1900" b="1" i="0">
                <a:solidFill>
                  <a:srgbClr val="07734A"/>
                </a:solidFill>
                <a:latin typeface="Verdana"/>
              </a:rPr>
              <a:t>» non, dix jours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Consulter au bon endroit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15</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deux questions que vous poseriez à la pharmacienne.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sur la façon de prendre le médicament, une sur la durée.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Écrivez-les comme vous les diriez vraiment, au comptoir.</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Consulter au bon endroit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