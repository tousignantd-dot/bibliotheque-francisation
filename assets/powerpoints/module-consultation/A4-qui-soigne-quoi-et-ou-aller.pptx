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de repérage dans le réseau. Beaucoup d'élèves ne connaissent qu'une porte : l'urgence. C'est la séance qui en ouvre trois autres.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Laisser répondre sans corriger. Noter les réponses au tableau ; on y reviendra à la diapo de la règle. La quatrième question amène Info-Santé, que peu d'élèves connaissent.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retient la partie du corps, pas la maladie : c'est ce qui permet de choisir sans connaître le nom du problème. Faire deviner le domaine à partir du nom quand c'est possible : « dent-iste », « pédia-tre » (les enfants), « derma » (la peau).</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quatrième carte est la plus utile de tout le module. S'assurer que chacun note le 811 dans son téléphone avant de sortir.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Revenir aux réponses notées au tableau au début de la séance et les relire à la lumière de cette règle. Certaines vont changer.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apprendre ces quatre par cœur. C'est la seule liste du module qui doit être sue sans hésitation.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Exercice de reconnaissance. Enchaîner tout de suite sur le suivant, qui demande le même savoir dans l'autre sens.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quatrième surprend : beaucoup pensent qu'il faut rappeler le médecin. La pharmacienne répond gratuitement et sans rendez-vous.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revenant chaque fois à la règle : « est-ce que ça peut s'aggraver vite ? » Ne jamais corriger par « parce que c'est comme ça ».</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Beaucoup d'élèves nouvellement arrivés ne savent pas que ce service existe ni qu'il est offert dans plusieurs langues. Le dire explicitement.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 parce que » du billet prépare la séance B2, où la cause devient le sujet de la leçon.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A4  ·  MODULE 1</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Qui soigne quoi, et où aller</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Six professionnels, trois portes d'entrée. Se tromper de porte coûte une demi-journée d'attente — ou, dans l'autre sens, retarde des soins qui n'attendent pas.</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60 minutes  ·  Consulter au bon endroit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Consulter au bon endroit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nommer six professionnels de la santé et dire ce que chacun soigne ;</a:t>
            </a:r>
          </a:p>
        </p:txBody>
      </p:sp>
      <p:sp>
        <p:nvSpPr>
          <p:cNvPr id="11" name="Rounded Rectangle 10"/>
          <p:cNvSpPr/>
          <p:nvPr/>
        </p:nvSpPr>
        <p:spPr>
          <a:xfrm>
            <a:off x="566928" y="2650744"/>
            <a:ext cx="11057839" cy="1113536"/>
          </a:xfrm>
          <a:prstGeom prst="roundRect">
            <a:avLst>
              <a:gd name="adj" fmla="val 1313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30063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3088640"/>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2851912"/>
            <a:ext cx="9549079" cy="7477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distinguer l'urgence, la clinique sans rendez-vous et le médecin de famille ;</a:t>
            </a:r>
          </a:p>
        </p:txBody>
      </p:sp>
      <p:sp>
        <p:nvSpPr>
          <p:cNvPr id="15" name="Rounded Rectangle 14"/>
          <p:cNvSpPr/>
          <p:nvPr/>
        </p:nvSpPr>
        <p:spPr>
          <a:xfrm>
            <a:off x="566928" y="38922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40700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41523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40934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les signes qui obligent à aller à l'urgence ;</a:t>
            </a:r>
          </a:p>
        </p:txBody>
      </p:sp>
      <p:sp>
        <p:nvSpPr>
          <p:cNvPr id="19" name="Rounded Rectangle 18"/>
          <p:cNvSpPr/>
          <p:nvPr/>
        </p:nvSpPr>
        <p:spPr>
          <a:xfrm>
            <a:off x="566928" y="47782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9560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50383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4979415"/>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savoir qui appeler quand on ne sait pas quoi faire.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Consulter au bon endroit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MISE EN SITUATION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Où iriez-vous, et pourquoi ?</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pharmacien.jpg"/>
          <p:cNvPicPr>
            <a:picLocks noChangeAspect="1"/>
          </p:cNvPicPr>
          <p:nvPr/>
        </p:nvPicPr>
        <p:blipFill>
          <a:blip r:embed="rId2"/>
          <a:stretch>
            <a:fillRect/>
          </a:stretch>
        </p:blipFill>
        <p:spPr>
          <a:xfrm>
            <a:off x="7644383" y="2019452"/>
            <a:ext cx="3760927" cy="3760927"/>
          </a:xfrm>
          <a:prstGeom prst="rect">
            <a:avLst/>
          </a:prstGeom>
        </p:spPr>
      </p:pic>
      <p:sp>
        <p:nvSpPr>
          <p:cNvPr id="9" name="Rounded Rectangle 8"/>
          <p:cNvSpPr/>
          <p:nvPr/>
        </p:nvSpPr>
        <p:spPr>
          <a:xfrm>
            <a:off x="566928" y="1856232"/>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éruption sur le bras depuis deux jours : où allez-vous ?</a:t>
            </a:r>
          </a:p>
        </p:txBody>
      </p:sp>
      <p:sp>
        <p:nvSpPr>
          <p:cNvPr id="12" name="Rounded Rectangle 11"/>
          <p:cNvSpPr/>
          <p:nvPr/>
        </p:nvSpPr>
        <p:spPr>
          <a:xfrm>
            <a:off x="566928" y="2979928"/>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3089656"/>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3162808"/>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 enfant qui tousse depuis trois jours avec un peu de fièvre ?</a:t>
            </a:r>
          </a:p>
        </p:txBody>
      </p:sp>
      <p:sp>
        <p:nvSpPr>
          <p:cNvPr id="15" name="Rounded Rectangle 14"/>
          <p:cNvSpPr/>
          <p:nvPr/>
        </p:nvSpPr>
        <p:spPr>
          <a:xfrm>
            <a:off x="566928" y="4103624"/>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4213352"/>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4286504"/>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douleur à la poitrine avec difficulté à respirer ?</a:t>
            </a:r>
          </a:p>
        </p:txBody>
      </p:sp>
      <p:sp>
        <p:nvSpPr>
          <p:cNvPr id="18" name="Rounded Rectangle 17"/>
          <p:cNvSpPr/>
          <p:nvPr/>
        </p:nvSpPr>
        <p:spPr>
          <a:xfrm>
            <a:off x="566928" y="5227320"/>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5337048"/>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5410200"/>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Et quand vous ne savez pas du tout : qui pouvez-vous appeler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Consulter au bon endroit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Six professionnels et leur domaine</a:t>
            </a:r>
          </a:p>
        </p:txBody>
      </p:sp>
      <p:sp>
        <p:nvSpPr>
          <p:cNvPr id="7" name="Rounded Rectangle 6"/>
          <p:cNvSpPr/>
          <p:nvPr/>
        </p:nvSpPr>
        <p:spPr>
          <a:xfrm>
            <a:off x="566928" y="1810512"/>
            <a:ext cx="11057839" cy="3877056"/>
          </a:xfrm>
          <a:prstGeom prst="roundRect">
            <a:avLst>
              <a:gd name="adj" fmla="val 377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4117598"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PROFESSIONNEL</a:t>
            </a:r>
          </a:p>
        </p:txBody>
      </p:sp>
      <p:sp>
        <p:nvSpPr>
          <p:cNvPr id="9" name="TextBox 8"/>
          <p:cNvSpPr txBox="1"/>
          <p:nvPr/>
        </p:nvSpPr>
        <p:spPr>
          <a:xfrm>
            <a:off x="5269742" y="1975104"/>
            <a:ext cx="5769809"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QU'IL SOIGNE</a:t>
            </a:r>
          </a:p>
        </p:txBody>
      </p:sp>
      <p:sp>
        <p:nvSpPr>
          <p:cNvPr id="10" name="TextBox 9"/>
          <p:cNvSpPr txBox="1"/>
          <p:nvPr/>
        </p:nvSpPr>
        <p:spPr>
          <a:xfrm>
            <a:off x="932688" y="2395728"/>
            <a:ext cx="4117598"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l'optométriste</a:t>
            </a:r>
          </a:p>
        </p:txBody>
      </p:sp>
      <p:sp>
        <p:nvSpPr>
          <p:cNvPr id="11" name="TextBox 10"/>
          <p:cNvSpPr txBox="1"/>
          <p:nvPr/>
        </p:nvSpPr>
        <p:spPr>
          <a:xfrm>
            <a:off x="5269742" y="2395728"/>
            <a:ext cx="5769809"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 vision et les lunettes</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4117598"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le dentiste</a:t>
            </a:r>
          </a:p>
        </p:txBody>
      </p:sp>
      <p:sp>
        <p:nvSpPr>
          <p:cNvPr id="14" name="TextBox 13"/>
          <p:cNvSpPr txBox="1"/>
          <p:nvPr/>
        </p:nvSpPr>
        <p:spPr>
          <a:xfrm>
            <a:off x="5269742" y="2935224"/>
            <a:ext cx="5769809"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les dents et les gencives</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4117598"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la physiothérapeute</a:t>
            </a:r>
          </a:p>
        </p:txBody>
      </p:sp>
      <p:sp>
        <p:nvSpPr>
          <p:cNvPr id="17" name="TextBox 16"/>
          <p:cNvSpPr txBox="1"/>
          <p:nvPr/>
        </p:nvSpPr>
        <p:spPr>
          <a:xfrm>
            <a:off x="5269742" y="3474720"/>
            <a:ext cx="5769809"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les muscles et les articulations</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4117598"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la dermatologue</a:t>
            </a:r>
          </a:p>
        </p:txBody>
      </p:sp>
      <p:sp>
        <p:nvSpPr>
          <p:cNvPr id="20" name="TextBox 19"/>
          <p:cNvSpPr txBox="1"/>
          <p:nvPr/>
        </p:nvSpPr>
        <p:spPr>
          <a:xfrm>
            <a:off x="5269742" y="4014215"/>
            <a:ext cx="5769809"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 peau</a:t>
            </a:r>
          </a:p>
        </p:txBody>
      </p:sp>
      <p:sp>
        <p:nvSpPr>
          <p:cNvPr id="21" name="Rectangle 20"/>
          <p:cNvSpPr/>
          <p:nvPr/>
        </p:nvSpPr>
        <p:spPr>
          <a:xfrm>
            <a:off x="932688" y="442569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553712"/>
            <a:ext cx="4117598"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le pédiatre</a:t>
            </a:r>
          </a:p>
        </p:txBody>
      </p:sp>
      <p:sp>
        <p:nvSpPr>
          <p:cNvPr id="23" name="TextBox 22"/>
          <p:cNvSpPr txBox="1"/>
          <p:nvPr/>
        </p:nvSpPr>
        <p:spPr>
          <a:xfrm>
            <a:off x="5269742" y="4553712"/>
            <a:ext cx="5769809"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 santé des enfants</a:t>
            </a:r>
          </a:p>
        </p:txBody>
      </p:sp>
      <p:sp>
        <p:nvSpPr>
          <p:cNvPr id="24" name="Rectangle 23"/>
          <p:cNvSpPr/>
          <p:nvPr/>
        </p:nvSpPr>
        <p:spPr>
          <a:xfrm>
            <a:off x="932688" y="496519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32688" y="5093207"/>
            <a:ext cx="4117598"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la pharmacienne</a:t>
            </a:r>
          </a:p>
        </p:txBody>
      </p:sp>
      <p:sp>
        <p:nvSpPr>
          <p:cNvPr id="26" name="TextBox 25"/>
          <p:cNvSpPr txBox="1"/>
          <p:nvPr/>
        </p:nvSpPr>
        <p:spPr>
          <a:xfrm>
            <a:off x="5269742" y="5093207"/>
            <a:ext cx="5769809"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les médicaments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Consulter au bon endroit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Trois portes d'entrée, trois usages</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237236"/>
          </a:xfrm>
          <a:prstGeom prst="rect">
            <a:avLst/>
          </a:prstGeom>
          <a:noFill/>
        </p:spPr>
        <p:txBody>
          <a:bodyPr wrap="square" lIns="0" rIns="0" tIns="0" bIns="0" anchor="t">
            <a:spAutoFit/>
          </a:bodyPr>
          <a:lstStyle/>
          <a:p>
            <a:pPr algn="l">
              <a:lnSpc>
                <a:spcPct val="118000"/>
              </a:lnSpc>
            </a:pPr>
            <a:r>
              <a:rPr sz="1400" b="1" i="0">
                <a:solidFill>
                  <a:srgbClr val="1D6B8F"/>
                </a:solidFill>
                <a:latin typeface="Verdana"/>
              </a:rPr>
              <a:t>L'urgence</a:t>
            </a:r>
          </a:p>
        </p:txBody>
      </p:sp>
      <p:sp>
        <p:nvSpPr>
          <p:cNvPr id="9" name="TextBox 8"/>
          <p:cNvSpPr txBox="1"/>
          <p:nvPr/>
        </p:nvSpPr>
        <p:spPr>
          <a:xfrm>
            <a:off x="886968" y="2349500"/>
            <a:ext cx="4806543" cy="1239520"/>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Pour ce qui met la vie ou un membre en danger : saignement qu'on n'arrête pas, difficulté à respirer, douleur à la poitrine, perte de connaissance. Ouverte jour et nuit, mais l'attente est longue si le cas n'est pas grave.</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237236"/>
          </a:xfrm>
          <a:prstGeom prst="rect">
            <a:avLst/>
          </a:prstGeom>
          <a:noFill/>
        </p:spPr>
        <p:txBody>
          <a:bodyPr wrap="square" lIns="0" rIns="0" tIns="0" bIns="0" anchor="t">
            <a:spAutoFit/>
          </a:bodyPr>
          <a:lstStyle/>
          <a:p>
            <a:pPr algn="l">
              <a:lnSpc>
                <a:spcPct val="118000"/>
              </a:lnSpc>
            </a:pPr>
            <a:r>
              <a:rPr sz="1400" b="1" i="0">
                <a:solidFill>
                  <a:srgbClr val="1D6B8F"/>
                </a:solidFill>
                <a:latin typeface="Verdana"/>
              </a:rPr>
              <a:t>La clinique sans rendez-vous</a:t>
            </a:r>
          </a:p>
        </p:txBody>
      </p:sp>
      <p:sp>
        <p:nvSpPr>
          <p:cNvPr id="12" name="TextBox 11"/>
          <p:cNvSpPr txBox="1"/>
          <p:nvPr/>
        </p:nvSpPr>
        <p:spPr>
          <a:xfrm>
            <a:off x="6498183" y="2349500"/>
            <a:ext cx="4806543" cy="1239520"/>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Pour ce qui doit être vu aujourd'hui sans être dangereux : une blessure, une toux qui dure, une éruption, une douleur nouvelle. On y va tôt le matin.</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237236"/>
          </a:xfrm>
          <a:prstGeom prst="rect">
            <a:avLst/>
          </a:prstGeom>
          <a:noFill/>
        </p:spPr>
        <p:txBody>
          <a:bodyPr wrap="square" lIns="0" rIns="0" tIns="0" bIns="0" anchor="t">
            <a:spAutoFit/>
          </a:bodyPr>
          <a:lstStyle/>
          <a:p>
            <a:pPr algn="l">
              <a:lnSpc>
                <a:spcPct val="118000"/>
              </a:lnSpc>
            </a:pPr>
            <a:r>
              <a:rPr sz="1400" b="1" i="0">
                <a:solidFill>
                  <a:srgbClr val="1D6B8F"/>
                </a:solidFill>
                <a:latin typeface="Verdana"/>
              </a:rPr>
              <a:t>Le médecin de famille</a:t>
            </a:r>
          </a:p>
        </p:txBody>
      </p:sp>
      <p:sp>
        <p:nvSpPr>
          <p:cNvPr id="15" name="TextBox 14"/>
          <p:cNvSpPr txBox="1"/>
          <p:nvPr/>
        </p:nvSpPr>
        <p:spPr>
          <a:xfrm>
            <a:off x="886968" y="4566920"/>
            <a:ext cx="4806543" cy="1239520"/>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Pour le suivi : renouveler une ordonnance, un examen annuel, un problème qui revient. Le rendez-vous peut prendre des semaines.</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237236"/>
          </a:xfrm>
          <a:prstGeom prst="rect">
            <a:avLst/>
          </a:prstGeom>
          <a:noFill/>
        </p:spPr>
        <p:txBody>
          <a:bodyPr wrap="square" lIns="0" rIns="0" tIns="0" bIns="0" anchor="t">
            <a:spAutoFit/>
          </a:bodyPr>
          <a:lstStyle/>
          <a:p>
            <a:pPr algn="l">
              <a:lnSpc>
                <a:spcPct val="118000"/>
              </a:lnSpc>
            </a:pPr>
            <a:r>
              <a:rPr sz="1400" b="1" i="0">
                <a:solidFill>
                  <a:srgbClr val="1D6B8F"/>
                </a:solidFill>
                <a:latin typeface="Verdana"/>
              </a:rPr>
              <a:t>Info-Santé, le 811</a:t>
            </a:r>
          </a:p>
        </p:txBody>
      </p:sp>
      <p:sp>
        <p:nvSpPr>
          <p:cNvPr id="18" name="TextBox 17"/>
          <p:cNvSpPr txBox="1"/>
          <p:nvPr/>
        </p:nvSpPr>
        <p:spPr>
          <a:xfrm>
            <a:off x="6498183" y="4566920"/>
            <a:ext cx="4806543" cy="1239520"/>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Quand on ne sait pas quoi faire. Une infirmière répond jour et nuit, gratuitement, et dit vers quelle porte aller.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Consulter au bon endroit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LA RÈGLE QUI TRANCHE</a:t>
            </a:r>
          </a:p>
        </p:txBody>
      </p:sp>
      <p:sp>
        <p:nvSpPr>
          <p:cNvPr id="6" name="Rounded Rectangle 5"/>
          <p:cNvSpPr/>
          <p:nvPr/>
        </p:nvSpPr>
        <p:spPr>
          <a:xfrm>
            <a:off x="566928" y="1225296"/>
            <a:ext cx="11057839" cy="1967991"/>
          </a:xfrm>
          <a:prstGeom prst="roundRect">
            <a:avLst>
              <a:gd name="adj" fmla="val 74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Ce n'est pas la douleur qui décide, c'est le danger.</a:t>
            </a:r>
          </a:p>
        </p:txBody>
      </p:sp>
      <p:sp>
        <p:nvSpPr>
          <p:cNvPr id="8" name="Rounded Rectangle 7"/>
          <p:cNvSpPr/>
          <p:nvPr/>
        </p:nvSpPr>
        <p:spPr>
          <a:xfrm>
            <a:off x="566928" y="346760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Une douleur très forte peut relever de la clinique ; une difficulté à respirer sans douleur relève de l'urgence. La question à se poser n'est pas « est-ce que ça fait mal ? » mais « est-ce que ça peut s'aggraver vite ?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Consulter au bon endroit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Quatre signes qui envoient à l'urgence</a:t>
            </a:r>
          </a:p>
        </p:txBody>
      </p:sp>
      <p:sp>
        <p:nvSpPr>
          <p:cNvPr id="7" name="Rounded Rectangle 6"/>
          <p:cNvSpPr/>
          <p:nvPr/>
        </p:nvSpPr>
        <p:spPr>
          <a:xfrm>
            <a:off x="566928" y="1810512"/>
            <a:ext cx="11057839" cy="3099816"/>
          </a:xfrm>
          <a:prstGeom prst="roundRect">
            <a:avLst>
              <a:gd name="adj" fmla="val 471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SIGNE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POURQUOI</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difficulté à respirer</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l'oxygène manque en quelques minutes</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douleur à la poitrine</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cœur peut être en cause</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640080"/>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saignement qui ne s'arrête pas</a:t>
            </a:r>
          </a:p>
        </p:txBody>
      </p:sp>
      <p:sp>
        <p:nvSpPr>
          <p:cNvPr id="17" name="TextBox 16"/>
          <p:cNvSpPr txBox="1"/>
          <p:nvPr/>
        </p:nvSpPr>
        <p:spPr>
          <a:xfrm>
            <a:off x="4443636" y="3474720"/>
            <a:ext cx="6595914"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 perte de sang s'accélère</a:t>
            </a:r>
          </a:p>
        </p:txBody>
      </p:sp>
      <p:sp>
        <p:nvSpPr>
          <p:cNvPr id="18" name="Rectangle 17"/>
          <p:cNvSpPr/>
          <p:nvPr/>
        </p:nvSpPr>
        <p:spPr>
          <a:xfrm>
            <a:off x="932688" y="418795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315968"/>
            <a:ext cx="3291492"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perte de connaissance</a:t>
            </a:r>
          </a:p>
        </p:txBody>
      </p:sp>
      <p:sp>
        <p:nvSpPr>
          <p:cNvPr id="20" name="TextBox 19"/>
          <p:cNvSpPr txBox="1"/>
          <p:nvPr/>
        </p:nvSpPr>
        <p:spPr>
          <a:xfrm>
            <a:off x="4443636" y="431596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 cause est inconnue et peut être grave</a:t>
            </a:r>
          </a:p>
        </p:txBody>
      </p:sp>
      <p:sp>
        <p:nvSpPr>
          <p:cNvPr id="21" name="Rounded Rectangle 20"/>
          <p:cNvSpPr/>
          <p:nvPr/>
        </p:nvSpPr>
        <p:spPr>
          <a:xfrm>
            <a:off x="566928" y="5148072"/>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404104"/>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Ces quatre signes ne se discutent pas : on appelle le 911 ou on va à l'urgence, sans passer par la clinique.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Consulter au bon endroit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PRATIQUE · 1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Chaque professionnel et son domaine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Reliez le professionnel à ce qu'il soigne.</a:t>
            </a:r>
          </a:p>
        </p:txBody>
      </p:sp>
      <p:sp>
        <p:nvSpPr>
          <p:cNvPr id="8" name="Rounded Rectangle 7"/>
          <p:cNvSpPr/>
          <p:nvPr/>
        </p:nvSpPr>
        <p:spPr>
          <a:xfrm>
            <a:off x="566928" y="2139696"/>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50083"/>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514091"/>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l'optométriste</a:t>
            </a:r>
          </a:p>
        </p:txBody>
      </p:sp>
      <p:sp>
        <p:nvSpPr>
          <p:cNvPr id="12" name="Rounded Rectangle 11"/>
          <p:cNvSpPr/>
          <p:nvPr/>
        </p:nvSpPr>
        <p:spPr>
          <a:xfrm>
            <a:off x="6159855" y="2139696"/>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434175" y="2450083"/>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34175" y="2514091"/>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6937095" y="2295144"/>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dentiste</a:t>
            </a:r>
          </a:p>
        </p:txBody>
      </p:sp>
      <p:sp>
        <p:nvSpPr>
          <p:cNvPr id="16" name="Rounded Rectangle 15"/>
          <p:cNvSpPr/>
          <p:nvPr/>
        </p:nvSpPr>
        <p:spPr>
          <a:xfrm>
            <a:off x="566928" y="3254248"/>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564635"/>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2864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409696"/>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physiothérapeute</a:t>
            </a:r>
          </a:p>
        </p:txBody>
      </p:sp>
      <p:sp>
        <p:nvSpPr>
          <p:cNvPr id="20" name="Rounded Rectangle 19"/>
          <p:cNvSpPr/>
          <p:nvPr/>
        </p:nvSpPr>
        <p:spPr>
          <a:xfrm>
            <a:off x="6159855" y="3254248"/>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34175" y="3564635"/>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34175" y="362864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6937095" y="3409696"/>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dermatologue</a:t>
            </a:r>
          </a:p>
        </p:txBody>
      </p:sp>
      <p:sp>
        <p:nvSpPr>
          <p:cNvPr id="24" name="Rounded Rectangle 23"/>
          <p:cNvSpPr/>
          <p:nvPr/>
        </p:nvSpPr>
        <p:spPr>
          <a:xfrm>
            <a:off x="566928" y="4368800"/>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6791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474319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4524248"/>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pédiatre</a:t>
            </a:r>
          </a:p>
        </p:txBody>
      </p:sp>
      <p:sp>
        <p:nvSpPr>
          <p:cNvPr id="28" name="Rounded Rectangle 27"/>
          <p:cNvSpPr/>
          <p:nvPr/>
        </p:nvSpPr>
        <p:spPr>
          <a:xfrm>
            <a:off x="6159855" y="4368800"/>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6434175" y="46791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34175" y="474319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6937095" y="4524248"/>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pharmacienne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Consulter au bon endroit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Chaque professionnel et son domaine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50083"/>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514091"/>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l'optométriste   </a:t>
            </a:r>
            <a:r>
              <a:rPr sz="1900" b="1" i="0">
                <a:solidFill>
                  <a:srgbClr val="07734A"/>
                </a:solidFill>
                <a:latin typeface="Verdana"/>
              </a:rPr>
              <a:t>» la vision et les lunettes</a:t>
            </a:r>
          </a:p>
        </p:txBody>
      </p:sp>
      <p:sp>
        <p:nvSpPr>
          <p:cNvPr id="12" name="Rounded Rectangle 11"/>
          <p:cNvSpPr/>
          <p:nvPr/>
        </p:nvSpPr>
        <p:spPr>
          <a:xfrm>
            <a:off x="6159855" y="2139696"/>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434175" y="2450083"/>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34175" y="2514091"/>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6937095" y="2295144"/>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dentiste   </a:t>
            </a:r>
            <a:r>
              <a:rPr sz="1900" b="1" i="0">
                <a:solidFill>
                  <a:srgbClr val="07734A"/>
                </a:solidFill>
                <a:latin typeface="Verdana"/>
              </a:rPr>
              <a:t>» les dents et les gencives</a:t>
            </a:r>
          </a:p>
        </p:txBody>
      </p:sp>
      <p:sp>
        <p:nvSpPr>
          <p:cNvPr id="16" name="Rounded Rectangle 15"/>
          <p:cNvSpPr/>
          <p:nvPr/>
        </p:nvSpPr>
        <p:spPr>
          <a:xfrm>
            <a:off x="566928" y="3254248"/>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564635"/>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2864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409696"/>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physiothérapeute   </a:t>
            </a:r>
            <a:r>
              <a:rPr sz="1900" b="1" i="0">
                <a:solidFill>
                  <a:srgbClr val="07734A"/>
                </a:solidFill>
                <a:latin typeface="Verdana"/>
              </a:rPr>
              <a:t>» les muscles et les articulations</a:t>
            </a:r>
          </a:p>
        </p:txBody>
      </p:sp>
      <p:sp>
        <p:nvSpPr>
          <p:cNvPr id="20" name="Rounded Rectangle 19"/>
          <p:cNvSpPr/>
          <p:nvPr/>
        </p:nvSpPr>
        <p:spPr>
          <a:xfrm>
            <a:off x="6159855" y="3254248"/>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34175" y="3564635"/>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34175" y="362864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6937095" y="3409696"/>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dermatologue   </a:t>
            </a:r>
            <a:r>
              <a:rPr sz="1900" b="1" i="0">
                <a:solidFill>
                  <a:srgbClr val="07734A"/>
                </a:solidFill>
                <a:latin typeface="Verdana"/>
              </a:rPr>
              <a:t>» la peau</a:t>
            </a:r>
          </a:p>
        </p:txBody>
      </p:sp>
      <p:sp>
        <p:nvSpPr>
          <p:cNvPr id="24" name="Rounded Rectangle 23"/>
          <p:cNvSpPr/>
          <p:nvPr/>
        </p:nvSpPr>
        <p:spPr>
          <a:xfrm>
            <a:off x="566928" y="4368800"/>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6791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474319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4524248"/>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pédiatre   </a:t>
            </a:r>
            <a:r>
              <a:rPr sz="1900" b="1" i="0">
                <a:solidFill>
                  <a:srgbClr val="07734A"/>
                </a:solidFill>
                <a:latin typeface="Verdana"/>
              </a:rPr>
              <a:t>» la santé des enfants</a:t>
            </a:r>
          </a:p>
        </p:txBody>
      </p:sp>
      <p:sp>
        <p:nvSpPr>
          <p:cNvPr id="28" name="Rounded Rectangle 27"/>
          <p:cNvSpPr/>
          <p:nvPr/>
        </p:nvSpPr>
        <p:spPr>
          <a:xfrm>
            <a:off x="6159855" y="4368800"/>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6434175" y="46791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34175" y="474319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6937095" y="4524248"/>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pharmacienne   </a:t>
            </a:r>
            <a:r>
              <a:rPr sz="1900" b="1" i="0">
                <a:solidFill>
                  <a:srgbClr val="07734A"/>
                </a:solidFill>
                <a:latin typeface="Verdana"/>
              </a:rPr>
              <a:t>» les médicaments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Consulter au bon endroit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PRATIQUE · 2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Qui iriez-vous voir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Nommez le professionnel qui convient à la situation.</a:t>
            </a:r>
          </a:p>
        </p:txBody>
      </p:sp>
      <p:sp>
        <p:nvSpPr>
          <p:cNvPr id="8" name="Rounded Rectangle 7"/>
          <p:cNvSpPr/>
          <p:nvPr/>
        </p:nvSpPr>
        <p:spPr>
          <a:xfrm>
            <a:off x="566928" y="2139696"/>
            <a:ext cx="11057839" cy="613156"/>
          </a:xfrm>
          <a:prstGeom prst="roundRect">
            <a:avLst>
              <a:gd name="adj" fmla="val 2386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63393"/>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27401"/>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Votre enfant de trois ans a de la fièvre depuis deux jours.</a:t>
            </a:r>
          </a:p>
        </p:txBody>
      </p:sp>
      <p:sp>
        <p:nvSpPr>
          <p:cNvPr id="12" name="Rounded Rectangle 11"/>
          <p:cNvSpPr/>
          <p:nvPr/>
        </p:nvSpPr>
        <p:spPr>
          <a:xfrm>
            <a:off x="566928" y="2880868"/>
            <a:ext cx="11057839" cy="613156"/>
          </a:xfrm>
          <a:prstGeom prst="roundRect">
            <a:avLst>
              <a:gd name="adj" fmla="val 2386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0456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06857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036316"/>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Vous avez des taches rouges qui démangent sur le bras.</a:t>
            </a:r>
          </a:p>
        </p:txBody>
      </p:sp>
      <p:sp>
        <p:nvSpPr>
          <p:cNvPr id="16" name="Rounded Rectangle 15"/>
          <p:cNvSpPr/>
          <p:nvPr/>
        </p:nvSpPr>
        <p:spPr>
          <a:xfrm>
            <a:off x="566928" y="3622040"/>
            <a:ext cx="11057839" cy="613156"/>
          </a:xfrm>
          <a:prstGeom prst="roundRect">
            <a:avLst>
              <a:gd name="adj" fmla="val 2386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74573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0974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777488"/>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Vous lisez de moins en moins bien de loin.</a:t>
            </a:r>
          </a:p>
        </p:txBody>
      </p:sp>
      <p:sp>
        <p:nvSpPr>
          <p:cNvPr id="20" name="Rounded Rectangle 19"/>
          <p:cNvSpPr/>
          <p:nvPr/>
        </p:nvSpPr>
        <p:spPr>
          <a:xfrm>
            <a:off x="566928" y="4363212"/>
            <a:ext cx="11057839" cy="613156"/>
          </a:xfrm>
          <a:prstGeom prst="roundRect">
            <a:avLst>
              <a:gd name="adj" fmla="val 2386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48691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55091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518660"/>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Vous ne savez pas si votre médicament se prend avec de la nourriture.</a:t>
            </a:r>
          </a:p>
        </p:txBody>
      </p:sp>
      <p:sp>
        <p:nvSpPr>
          <p:cNvPr id="24" name="Rounded Rectangle 23"/>
          <p:cNvSpPr/>
          <p:nvPr/>
        </p:nvSpPr>
        <p:spPr>
          <a:xfrm>
            <a:off x="566928" y="5104384"/>
            <a:ext cx="11057839" cy="613156"/>
          </a:xfrm>
          <a:prstGeom prst="roundRect">
            <a:avLst>
              <a:gd name="adj" fmla="val 2386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228082"/>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292090"/>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259832"/>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Le médecin vous a référé pour retrouver l'usage de votre genou.</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Consulter au bon endroit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Qui iriez-vous voir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13156"/>
          </a:xfrm>
          <a:prstGeom prst="roundRect">
            <a:avLst>
              <a:gd name="adj" fmla="val 2386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63393"/>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27401"/>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Votre enfant de trois ans a de la fièvre depuis deux jours.   </a:t>
            </a:r>
            <a:r>
              <a:rPr sz="1700" b="1" i="0">
                <a:solidFill>
                  <a:srgbClr val="07734A"/>
                </a:solidFill>
                <a:latin typeface="Verdana"/>
              </a:rPr>
              <a:t>» le pédiatre</a:t>
            </a:r>
          </a:p>
        </p:txBody>
      </p:sp>
      <p:sp>
        <p:nvSpPr>
          <p:cNvPr id="12" name="Rounded Rectangle 11"/>
          <p:cNvSpPr/>
          <p:nvPr/>
        </p:nvSpPr>
        <p:spPr>
          <a:xfrm>
            <a:off x="566928" y="2880868"/>
            <a:ext cx="11057839" cy="613156"/>
          </a:xfrm>
          <a:prstGeom prst="roundRect">
            <a:avLst>
              <a:gd name="adj" fmla="val 2386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0456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06857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036316"/>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Vous avez des taches rouges qui démangent sur le bras.   </a:t>
            </a:r>
            <a:r>
              <a:rPr sz="1700" b="1" i="0">
                <a:solidFill>
                  <a:srgbClr val="07734A"/>
                </a:solidFill>
                <a:latin typeface="Verdana"/>
              </a:rPr>
              <a:t>» la dermatologue</a:t>
            </a:r>
          </a:p>
        </p:txBody>
      </p:sp>
      <p:sp>
        <p:nvSpPr>
          <p:cNvPr id="16" name="Rounded Rectangle 15"/>
          <p:cNvSpPr/>
          <p:nvPr/>
        </p:nvSpPr>
        <p:spPr>
          <a:xfrm>
            <a:off x="566928" y="3622040"/>
            <a:ext cx="11057839" cy="613156"/>
          </a:xfrm>
          <a:prstGeom prst="roundRect">
            <a:avLst>
              <a:gd name="adj" fmla="val 2386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74573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0974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777488"/>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Vous lisez de moins en moins bien de loin.   </a:t>
            </a:r>
            <a:r>
              <a:rPr sz="1700" b="1" i="0">
                <a:solidFill>
                  <a:srgbClr val="07734A"/>
                </a:solidFill>
                <a:latin typeface="Verdana"/>
              </a:rPr>
              <a:t>» l'optométriste</a:t>
            </a:r>
          </a:p>
        </p:txBody>
      </p:sp>
      <p:sp>
        <p:nvSpPr>
          <p:cNvPr id="20" name="Rounded Rectangle 19"/>
          <p:cNvSpPr/>
          <p:nvPr/>
        </p:nvSpPr>
        <p:spPr>
          <a:xfrm>
            <a:off x="566928" y="4363212"/>
            <a:ext cx="11057839" cy="613156"/>
          </a:xfrm>
          <a:prstGeom prst="roundRect">
            <a:avLst>
              <a:gd name="adj" fmla="val 2386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48691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55091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518660"/>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Vous ne savez pas si votre médicament se prend avec de la nourriture.   </a:t>
            </a:r>
            <a:r>
              <a:rPr sz="1700" b="1" i="0">
                <a:solidFill>
                  <a:srgbClr val="07734A"/>
                </a:solidFill>
                <a:latin typeface="Verdana"/>
              </a:rPr>
              <a:t>» la pharmacienne</a:t>
            </a:r>
          </a:p>
        </p:txBody>
      </p:sp>
      <p:sp>
        <p:nvSpPr>
          <p:cNvPr id="24" name="Rounded Rectangle 23"/>
          <p:cNvSpPr/>
          <p:nvPr/>
        </p:nvSpPr>
        <p:spPr>
          <a:xfrm>
            <a:off x="566928" y="5104384"/>
            <a:ext cx="11057839" cy="613156"/>
          </a:xfrm>
          <a:prstGeom prst="roundRect">
            <a:avLst>
              <a:gd name="adj" fmla="val 2386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228082"/>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292090"/>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259832"/>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Le médecin vous a référé pour retrouver l'usage de votre genou.   </a:t>
            </a:r>
            <a:r>
              <a:rPr sz="1700" b="1" i="0">
                <a:solidFill>
                  <a:srgbClr val="07734A"/>
                </a:solidFill>
                <a:latin typeface="Verdana"/>
              </a:rPr>
              <a:t>» la physiothérapeute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Consulter au bon endroit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PRATIQUE · 3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Urgence ou clinique sans rendez-vous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Pour chaque situation, dites où la personne devrait aller.</a:t>
            </a:r>
          </a:p>
        </p:txBody>
      </p:sp>
      <p:sp>
        <p:nvSpPr>
          <p:cNvPr id="8" name="Rounded Rectangle 7"/>
          <p:cNvSpPr/>
          <p:nvPr/>
        </p:nvSpPr>
        <p:spPr>
          <a:xfrm>
            <a:off x="566928" y="2139696"/>
            <a:ext cx="11057839" cy="808735"/>
          </a:xfrm>
          <a:prstGeom prst="roundRect">
            <a:avLst>
              <a:gd name="adj" fmla="val 1809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3611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4251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534415"/>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personne saigne beaucoup et n'arrive pas à arrêter le saignement.</a:t>
            </a:r>
          </a:p>
        </p:txBody>
      </p:sp>
      <p:sp>
        <p:nvSpPr>
          <p:cNvPr id="12" name="Rounded Rectangle 11"/>
          <p:cNvSpPr/>
          <p:nvPr/>
        </p:nvSpPr>
        <p:spPr>
          <a:xfrm>
            <a:off x="566928" y="3076447"/>
            <a:ext cx="11057839" cy="808735"/>
          </a:xfrm>
          <a:prstGeom prst="roundRect">
            <a:avLst>
              <a:gd name="adj" fmla="val 1809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29793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36194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231895"/>
            <a:ext cx="10097719" cy="534415"/>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enfant tousse depuis trois jours et fait un peu de fièvre.</a:t>
            </a:r>
          </a:p>
        </p:txBody>
      </p:sp>
      <p:sp>
        <p:nvSpPr>
          <p:cNvPr id="16" name="Rounded Rectangle 15"/>
          <p:cNvSpPr/>
          <p:nvPr/>
        </p:nvSpPr>
        <p:spPr>
          <a:xfrm>
            <a:off x="566928" y="401319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110227"/>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17423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416864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homme a de la difficulté à respirer et mal à la poitrine.</a:t>
            </a:r>
          </a:p>
        </p:txBody>
      </p:sp>
      <p:sp>
        <p:nvSpPr>
          <p:cNvPr id="20" name="Rounded Rectangle 19"/>
          <p:cNvSpPr/>
          <p:nvPr/>
        </p:nvSpPr>
        <p:spPr>
          <a:xfrm>
            <a:off x="566928" y="4701031"/>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798059"/>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862067"/>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856479"/>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femme a une douleur au poignet depuis hier soir.</a:t>
            </a:r>
          </a:p>
        </p:txBody>
      </p:sp>
      <p:sp>
        <p:nvSpPr>
          <p:cNvPr id="24" name="Rounded Rectangle 23"/>
          <p:cNvSpPr/>
          <p:nvPr/>
        </p:nvSpPr>
        <p:spPr>
          <a:xfrm>
            <a:off x="566928" y="538886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48589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54989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54431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personne a perdu connaissance dans la rue.</a:t>
            </a:r>
          </a:p>
        </p:txBody>
      </p:sp>
      <p:sp>
        <p:nvSpPr>
          <p:cNvPr id="28" name="Rounded Rectangle 27"/>
          <p:cNvSpPr/>
          <p:nvPr/>
        </p:nvSpPr>
        <p:spPr>
          <a:xfrm>
            <a:off x="566928" y="6076696"/>
            <a:ext cx="11057839" cy="808735"/>
          </a:xfrm>
          <a:prstGeom prst="roundRect">
            <a:avLst>
              <a:gd name="adj" fmla="val 1809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6298183"/>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63621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6232144"/>
            <a:ext cx="10097719" cy="534415"/>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étudiant a une éruption sur le bras depuis deux jours.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Consulter au bon endroit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Urgence ou clinique sans rendez-vous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808735"/>
          </a:xfrm>
          <a:prstGeom prst="roundRect">
            <a:avLst>
              <a:gd name="adj" fmla="val 1809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3611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4251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534415"/>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personne saigne beaucoup et n'arrive pas à arrêter le saignement.   </a:t>
            </a:r>
            <a:r>
              <a:rPr sz="1400" b="1" i="0">
                <a:solidFill>
                  <a:srgbClr val="07734A"/>
                </a:solidFill>
                <a:latin typeface="Verdana"/>
              </a:rPr>
              <a:t>» URGENCE — le saignement ne s'arrête pas</a:t>
            </a:r>
          </a:p>
        </p:txBody>
      </p:sp>
      <p:sp>
        <p:nvSpPr>
          <p:cNvPr id="12" name="Rounded Rectangle 11"/>
          <p:cNvSpPr/>
          <p:nvPr/>
        </p:nvSpPr>
        <p:spPr>
          <a:xfrm>
            <a:off x="566928" y="3076447"/>
            <a:ext cx="11057839" cy="808735"/>
          </a:xfrm>
          <a:prstGeom prst="roundRect">
            <a:avLst>
              <a:gd name="adj" fmla="val 1809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29793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36194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231895"/>
            <a:ext cx="10097719" cy="534415"/>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enfant tousse depuis trois jours et fait un peu de fièvre.   </a:t>
            </a:r>
            <a:r>
              <a:rPr sz="1400" b="1" i="0">
                <a:solidFill>
                  <a:srgbClr val="07734A"/>
                </a:solidFill>
                <a:latin typeface="Verdana"/>
              </a:rPr>
              <a:t>» CLINIQUE — ça dure, mais ce n'est pas dangereux</a:t>
            </a:r>
          </a:p>
        </p:txBody>
      </p:sp>
      <p:sp>
        <p:nvSpPr>
          <p:cNvPr id="16" name="Rounded Rectangle 15"/>
          <p:cNvSpPr/>
          <p:nvPr/>
        </p:nvSpPr>
        <p:spPr>
          <a:xfrm>
            <a:off x="566928" y="401319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110227"/>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17423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416864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homme a de la difficulté à respirer et mal à la poitrine.   </a:t>
            </a:r>
            <a:r>
              <a:rPr sz="1400" b="1" i="0">
                <a:solidFill>
                  <a:srgbClr val="07734A"/>
                </a:solidFill>
                <a:latin typeface="Verdana"/>
              </a:rPr>
              <a:t>» URGENCE — deux signes graves à la fois</a:t>
            </a:r>
          </a:p>
        </p:txBody>
      </p:sp>
      <p:sp>
        <p:nvSpPr>
          <p:cNvPr id="20" name="Rounded Rectangle 19"/>
          <p:cNvSpPr/>
          <p:nvPr/>
        </p:nvSpPr>
        <p:spPr>
          <a:xfrm>
            <a:off x="566928" y="4701031"/>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798059"/>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862067"/>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856479"/>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femme a une douleur au poignet depuis hier soir.   </a:t>
            </a:r>
            <a:r>
              <a:rPr sz="1400" b="1" i="0">
                <a:solidFill>
                  <a:srgbClr val="07734A"/>
                </a:solidFill>
                <a:latin typeface="Verdana"/>
              </a:rPr>
              <a:t>» CLINIQUE — nouvelle, mais sans danger</a:t>
            </a:r>
          </a:p>
        </p:txBody>
      </p:sp>
      <p:sp>
        <p:nvSpPr>
          <p:cNvPr id="24" name="Rounded Rectangle 23"/>
          <p:cNvSpPr/>
          <p:nvPr/>
        </p:nvSpPr>
        <p:spPr>
          <a:xfrm>
            <a:off x="566928" y="538886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48589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54989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54431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personne a perdu connaissance dans la rue.   </a:t>
            </a:r>
            <a:r>
              <a:rPr sz="1400" b="1" i="0">
                <a:solidFill>
                  <a:srgbClr val="07734A"/>
                </a:solidFill>
                <a:latin typeface="Verdana"/>
              </a:rPr>
              <a:t>» URGENCE — appeler le 911</a:t>
            </a:r>
          </a:p>
        </p:txBody>
      </p:sp>
      <p:sp>
        <p:nvSpPr>
          <p:cNvPr id="28" name="Rounded Rectangle 27"/>
          <p:cNvSpPr/>
          <p:nvPr/>
        </p:nvSpPr>
        <p:spPr>
          <a:xfrm>
            <a:off x="566928" y="6076696"/>
            <a:ext cx="11057839" cy="808735"/>
          </a:xfrm>
          <a:prstGeom prst="roundRect">
            <a:avLst>
              <a:gd name="adj" fmla="val 1809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6298183"/>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63621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6232144"/>
            <a:ext cx="10097719" cy="534415"/>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étudiant a une éruption sur le bras depuis deux jours.   </a:t>
            </a:r>
            <a:r>
              <a:rPr sz="1400" b="1" i="0">
                <a:solidFill>
                  <a:srgbClr val="07734A"/>
                </a:solidFill>
                <a:latin typeface="Verdana"/>
              </a:rPr>
              <a:t>» CLINIQUE — la peau peut attendre quelques heures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Consulter au bon endroit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LE PIÈGE DE L'URGENCE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Dans le doute, je vais à l'urgence.</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Dans le doute, j'appelle le 811.</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Aller à l'urgence pour un cas léger, c'est huit heures d'attente pour soi et un peu de retard pour les autres. Le 811 est gratuit, répond en quelques minutes, et dit exactement vers quelle porte aller. C'est la bonne réponse au doute.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Consulter au bon endroit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15</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Vous avez mal quelque part depuis deux jours. Où allez-vous, et pourquoi ?</a:t>
            </a:r>
          </a:p>
        </p:txBody>
      </p:sp>
      <p:sp>
        <p:nvSpPr>
          <p:cNvPr id="8" name="Rounded Rectangle 7"/>
          <p:cNvSpPr/>
          <p:nvPr/>
        </p:nvSpPr>
        <p:spPr>
          <a:xfrm>
            <a:off x="566928" y="3931920"/>
            <a:ext cx="11057839" cy="1022096"/>
          </a:xfrm>
          <a:prstGeom prst="roundRect">
            <a:avLst>
              <a:gd name="adj" fmla="val 8946"/>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7477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Nommez la porte : urgence, clinique sans rendez-vous, médecin de famille ou 811.</a:t>
            </a:r>
          </a:p>
        </p:txBody>
      </p:sp>
      <p:sp>
        <p:nvSpPr>
          <p:cNvPr id="10" name="Rounded Rectangle 9"/>
          <p:cNvSpPr/>
          <p:nvPr/>
        </p:nvSpPr>
        <p:spPr>
          <a:xfrm>
            <a:off x="566928" y="5036311"/>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5191759"/>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Donnez la raison en une phrase, avec « parce que ».</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Consulter au bon endroit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