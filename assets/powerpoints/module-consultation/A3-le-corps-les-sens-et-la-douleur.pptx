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Séance de vocabulaire pur. Prévoir beaucoup d'oral : chaque mot doit sortir de la bouche des élèves, pas seulement de la vôtre.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les objectifs à voix haute. Y revenir au billet de sortie.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montrer chaque partie sur soi pendant qu'on la nomme. Le geste fixe le mot bien mieux que la traduction.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 cinq mots reviennent dans tout le module : « inflammation du tendon » en C1, « les ligaments sont étirés » en E1. Ne pas les sauter.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L'ouïe » et « l'odorat » sont les deux mots que personne ne connaît. Les faire répéter cinq fois chacun.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 centrale de la séance. La laisser affichée pendant tout l'exercice qui suit.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mimer chacune des quatre par un élève différent. Le groupe devine le verbe avant de le lire.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remarquer que Yannick dit « le genou droit » dès la première phrase du triage. Ce n'est pas un détail, c'est une habitude à prendre.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Exercice rapide, deux minutes. S'il prend plus de temps, c'est le vocabulaire des sens qui n'est pas installé : y revenir.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dernière relie l'exercice au dialogue de A1. Faire retrouver la phrase exacte du dialogue.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Accepter toute phrase qui contient les trois éléments. La formulation exacte importe moins que la présence du côté et du verbe.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retrouver, pour chaque mot vague donné par le groupe, le mot précis correspondant. « La jambe » → le genou, la cheville, la cuisse.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billets serviront en B1 : chacun décrira sa propre douleur à l'infirmière du triage.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SÉANCE A3  ·  MODULE 1</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Le corps, les sens et la douleur</a:t>
            </a:r>
          </a:p>
        </p:txBody>
      </p:sp>
      <p:sp>
        <p:nvSpPr>
          <p:cNvPr id="5" name="Rounded Rectangle 4"/>
          <p:cNvSpPr/>
          <p:nvPr/>
        </p:nvSpPr>
        <p:spPr>
          <a:xfrm>
            <a:off x="566928" y="3794760"/>
            <a:ext cx="9960559" cy="1763268"/>
          </a:xfrm>
          <a:prstGeom prst="roundRect">
            <a:avLst>
              <a:gd name="adj" fmla="val 829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Pour se faire soigner, il faut d'abord pouvoir nommer. Les parties du corps, les cinq sens, et surtout les quatre mots qui disent comment une douleur se comporte.</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50 minutes  ·  Consulter au bon endroit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Consulter au bon endroit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nommer les parties du corps utiles en consultation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associer chacun des cinq sens à son organe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choisir le bon verbe pour dire comment la douleur se comporte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situer une douleur à droite, à gauche, en haut, en bas.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Consulter au bon endroit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VOCABULAIRE · 1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200" b="1" i="0">
                <a:solidFill>
                  <a:srgbClr val="17181A"/>
                </a:solidFill>
                <a:latin typeface="Verdana"/>
              </a:rPr>
              <a:t>Les parties du corps qu'on montre au médecin</a:t>
            </a:r>
          </a:p>
        </p:txBody>
      </p:sp>
      <p:sp>
        <p:nvSpPr>
          <p:cNvPr id="7" name="Rounded Rectangle 6"/>
          <p:cNvSpPr/>
          <p:nvPr/>
        </p:nvSpPr>
        <p:spPr>
          <a:xfrm>
            <a:off x="566928" y="1810512"/>
            <a:ext cx="11057839" cy="4270248"/>
          </a:xfrm>
          <a:prstGeom prst="roundRect">
            <a:avLst>
              <a:gd name="adj" fmla="val 34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21408"/>
            <a:ext cx="1552384" cy="437387"/>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le genou</a:t>
            </a:r>
          </a:p>
        </p:txBody>
      </p:sp>
      <p:sp>
        <p:nvSpPr>
          <p:cNvPr id="9" name="TextBox 8"/>
          <p:cNvSpPr txBox="1"/>
          <p:nvPr/>
        </p:nvSpPr>
        <p:spPr>
          <a:xfrm>
            <a:off x="2759392" y="2121408"/>
            <a:ext cx="8499614" cy="437387"/>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L'articulation au milieu de la jambe.</a:t>
            </a:r>
          </a:p>
        </p:txBody>
      </p:sp>
      <p:sp>
        <p:nvSpPr>
          <p:cNvPr id="10" name="Rectangle 9"/>
          <p:cNvSpPr/>
          <p:nvPr/>
        </p:nvSpPr>
        <p:spPr>
          <a:xfrm>
            <a:off x="932688" y="263194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778252"/>
            <a:ext cx="1552384" cy="437387"/>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la cheville</a:t>
            </a:r>
          </a:p>
        </p:txBody>
      </p:sp>
      <p:sp>
        <p:nvSpPr>
          <p:cNvPr id="12" name="TextBox 11"/>
          <p:cNvSpPr txBox="1"/>
          <p:nvPr/>
        </p:nvSpPr>
        <p:spPr>
          <a:xfrm>
            <a:off x="2759392" y="2778252"/>
            <a:ext cx="8499614" cy="437387"/>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L'articulation entre la jambe et le pied.</a:t>
            </a:r>
          </a:p>
        </p:txBody>
      </p:sp>
      <p:sp>
        <p:nvSpPr>
          <p:cNvPr id="13" name="Rectangle 12"/>
          <p:cNvSpPr/>
          <p:nvPr/>
        </p:nvSpPr>
        <p:spPr>
          <a:xfrm>
            <a:off x="932688" y="328879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3435096"/>
            <a:ext cx="1552384" cy="437387"/>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le poignet</a:t>
            </a:r>
          </a:p>
        </p:txBody>
      </p:sp>
      <p:sp>
        <p:nvSpPr>
          <p:cNvPr id="15" name="TextBox 14"/>
          <p:cNvSpPr txBox="1"/>
          <p:nvPr/>
        </p:nvSpPr>
        <p:spPr>
          <a:xfrm>
            <a:off x="2759392" y="3435096"/>
            <a:ext cx="8499614" cy="437387"/>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L'articulation entre le bras et la main.</a:t>
            </a:r>
          </a:p>
        </p:txBody>
      </p:sp>
      <p:sp>
        <p:nvSpPr>
          <p:cNvPr id="16" name="Rectangle 15"/>
          <p:cNvSpPr/>
          <p:nvPr/>
        </p:nvSpPr>
        <p:spPr>
          <a:xfrm>
            <a:off x="932688" y="3945635"/>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4091939"/>
            <a:ext cx="1552384" cy="437387"/>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l'épaule</a:t>
            </a:r>
          </a:p>
        </p:txBody>
      </p:sp>
      <p:sp>
        <p:nvSpPr>
          <p:cNvPr id="18" name="TextBox 17"/>
          <p:cNvSpPr txBox="1"/>
          <p:nvPr/>
        </p:nvSpPr>
        <p:spPr>
          <a:xfrm>
            <a:off x="2759392" y="4091939"/>
            <a:ext cx="8499614" cy="437387"/>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Le haut du bras, là où il s'attache au corps.</a:t>
            </a:r>
          </a:p>
        </p:txBody>
      </p:sp>
      <p:sp>
        <p:nvSpPr>
          <p:cNvPr id="19" name="Rectangle 18"/>
          <p:cNvSpPr/>
          <p:nvPr/>
        </p:nvSpPr>
        <p:spPr>
          <a:xfrm>
            <a:off x="932688" y="460248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32688" y="4748784"/>
            <a:ext cx="1552384" cy="437387"/>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le dos</a:t>
            </a:r>
          </a:p>
        </p:txBody>
      </p:sp>
      <p:sp>
        <p:nvSpPr>
          <p:cNvPr id="21" name="TextBox 20"/>
          <p:cNvSpPr txBox="1"/>
          <p:nvPr/>
        </p:nvSpPr>
        <p:spPr>
          <a:xfrm>
            <a:off x="2759392" y="4748784"/>
            <a:ext cx="8499614" cy="437387"/>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L'arrière du corps, de la nuque aux hanches.</a:t>
            </a:r>
          </a:p>
        </p:txBody>
      </p:sp>
      <p:sp>
        <p:nvSpPr>
          <p:cNvPr id="22" name="Rectangle 21"/>
          <p:cNvSpPr/>
          <p:nvPr/>
        </p:nvSpPr>
        <p:spPr>
          <a:xfrm>
            <a:off x="932688" y="525932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32688" y="5405628"/>
            <a:ext cx="1552384" cy="437387"/>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la poitrine</a:t>
            </a:r>
          </a:p>
        </p:txBody>
      </p:sp>
      <p:sp>
        <p:nvSpPr>
          <p:cNvPr id="24" name="TextBox 23"/>
          <p:cNvSpPr txBox="1"/>
          <p:nvPr/>
        </p:nvSpPr>
        <p:spPr>
          <a:xfrm>
            <a:off x="2759392" y="5405628"/>
            <a:ext cx="8499614" cy="437387"/>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L'avant du haut du corps, où sont le cœur et les poumons.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Consulter au bon endroit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VOCABULAIRE · 2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Ce qu'il y a sous la peau</a:t>
            </a:r>
          </a:p>
        </p:txBody>
      </p:sp>
      <p:sp>
        <p:nvSpPr>
          <p:cNvPr id="7" name="Rounded Rectangle 6"/>
          <p:cNvSpPr/>
          <p:nvPr/>
        </p:nvSpPr>
        <p:spPr>
          <a:xfrm>
            <a:off x="566928" y="1810512"/>
            <a:ext cx="11057839" cy="4270248"/>
          </a:xfrm>
          <a:prstGeom prst="roundRect">
            <a:avLst>
              <a:gd name="adj" fmla="val 34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21408"/>
            <a:ext cx="2326386" cy="56875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muscle</a:t>
            </a:r>
          </a:p>
        </p:txBody>
      </p:sp>
      <p:sp>
        <p:nvSpPr>
          <p:cNvPr id="9" name="TextBox 8"/>
          <p:cNvSpPr txBox="1"/>
          <p:nvPr/>
        </p:nvSpPr>
        <p:spPr>
          <a:xfrm>
            <a:off x="3533394" y="2121408"/>
            <a:ext cx="7725613" cy="56875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Ce qui se contracte pour faire bouger le corps.</a:t>
            </a:r>
          </a:p>
        </p:txBody>
      </p:sp>
      <p:sp>
        <p:nvSpPr>
          <p:cNvPr id="10" name="Rectangle 9"/>
          <p:cNvSpPr/>
          <p:nvPr/>
        </p:nvSpPr>
        <p:spPr>
          <a:xfrm>
            <a:off x="932688" y="276331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909620"/>
            <a:ext cx="2326386" cy="56875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tendon</a:t>
            </a:r>
          </a:p>
        </p:txBody>
      </p:sp>
      <p:sp>
        <p:nvSpPr>
          <p:cNvPr id="12" name="TextBox 11"/>
          <p:cNvSpPr txBox="1"/>
          <p:nvPr/>
        </p:nvSpPr>
        <p:spPr>
          <a:xfrm>
            <a:off x="3533394" y="2909620"/>
            <a:ext cx="7725613" cy="56875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La partie qui attache un muscle à un os.</a:t>
            </a:r>
          </a:p>
        </p:txBody>
      </p:sp>
      <p:sp>
        <p:nvSpPr>
          <p:cNvPr id="13" name="Rectangle 12"/>
          <p:cNvSpPr/>
          <p:nvPr/>
        </p:nvSpPr>
        <p:spPr>
          <a:xfrm>
            <a:off x="932688" y="3551529"/>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3697833"/>
            <a:ext cx="2326386" cy="56875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os</a:t>
            </a:r>
          </a:p>
        </p:txBody>
      </p:sp>
      <p:sp>
        <p:nvSpPr>
          <p:cNvPr id="15" name="TextBox 14"/>
          <p:cNvSpPr txBox="1"/>
          <p:nvPr/>
        </p:nvSpPr>
        <p:spPr>
          <a:xfrm>
            <a:off x="3533394" y="3697833"/>
            <a:ext cx="7725613" cy="56875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La partie dure du squelette.</a:t>
            </a:r>
          </a:p>
        </p:txBody>
      </p:sp>
      <p:sp>
        <p:nvSpPr>
          <p:cNvPr id="16" name="Rectangle 15"/>
          <p:cNvSpPr/>
          <p:nvPr/>
        </p:nvSpPr>
        <p:spPr>
          <a:xfrm>
            <a:off x="932688" y="433974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4486046"/>
            <a:ext cx="2326386" cy="56875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une articulation</a:t>
            </a:r>
          </a:p>
        </p:txBody>
      </p:sp>
      <p:sp>
        <p:nvSpPr>
          <p:cNvPr id="18" name="TextBox 17"/>
          <p:cNvSpPr txBox="1"/>
          <p:nvPr/>
        </p:nvSpPr>
        <p:spPr>
          <a:xfrm>
            <a:off x="3533394" y="4486046"/>
            <a:ext cx="7725613" cy="56875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L'endroit où deux os se rejoignent et se plient.</a:t>
            </a:r>
          </a:p>
        </p:txBody>
      </p:sp>
      <p:sp>
        <p:nvSpPr>
          <p:cNvPr id="19" name="Rectangle 18"/>
          <p:cNvSpPr/>
          <p:nvPr/>
        </p:nvSpPr>
        <p:spPr>
          <a:xfrm>
            <a:off x="932688" y="5127955"/>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32688" y="5274259"/>
            <a:ext cx="2326386" cy="56875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ligament</a:t>
            </a:r>
          </a:p>
        </p:txBody>
      </p:sp>
      <p:sp>
        <p:nvSpPr>
          <p:cNvPr id="21" name="TextBox 20"/>
          <p:cNvSpPr txBox="1"/>
          <p:nvPr/>
        </p:nvSpPr>
        <p:spPr>
          <a:xfrm>
            <a:off x="3533394" y="5274259"/>
            <a:ext cx="7725613" cy="56875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Ce qui tient deux os ensemble à une articulation.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Consulter au bon endroit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Les cinq sens et leur organe</a:t>
            </a:r>
          </a:p>
        </p:txBody>
      </p:sp>
      <p:sp>
        <p:nvSpPr>
          <p:cNvPr id="7" name="Rounded Rectangle 6"/>
          <p:cNvSpPr/>
          <p:nvPr/>
        </p:nvSpPr>
        <p:spPr>
          <a:xfrm>
            <a:off x="566928" y="1810512"/>
            <a:ext cx="11057839" cy="3002280"/>
          </a:xfrm>
          <a:prstGeom prst="roundRect">
            <a:avLst>
              <a:gd name="adj" fmla="val 487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LE SENS</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L'ORGANE</a:t>
            </a:r>
          </a:p>
        </p:txBody>
      </p:sp>
      <p:sp>
        <p:nvSpPr>
          <p:cNvPr id="10" name="TextBox 9"/>
          <p:cNvSpPr txBox="1"/>
          <p:nvPr/>
        </p:nvSpPr>
        <p:spPr>
          <a:xfrm>
            <a:off x="932688" y="2395728"/>
            <a:ext cx="3291492" cy="271271"/>
          </a:xfrm>
          <a:prstGeom prst="rect">
            <a:avLst/>
          </a:prstGeom>
          <a:noFill/>
        </p:spPr>
        <p:txBody>
          <a:bodyPr wrap="square" lIns="0" rIns="0" tIns="0" bIns="0" anchor="t">
            <a:spAutoFit/>
          </a:bodyPr>
          <a:lstStyle/>
          <a:p>
            <a:pPr algn="l">
              <a:lnSpc>
                <a:spcPct val="132000"/>
              </a:lnSpc>
            </a:pPr>
            <a:r>
              <a:rPr sz="1400" b="1" i="0">
                <a:solidFill>
                  <a:srgbClr val="A5335F"/>
                </a:solidFill>
                <a:latin typeface="Verdana"/>
              </a:rPr>
              <a:t>la vue</a:t>
            </a:r>
          </a:p>
        </p:txBody>
      </p:sp>
      <p:sp>
        <p:nvSpPr>
          <p:cNvPr id="11" name="TextBox 10"/>
          <p:cNvSpPr txBox="1"/>
          <p:nvPr/>
        </p:nvSpPr>
        <p:spPr>
          <a:xfrm>
            <a:off x="4443636" y="2395728"/>
            <a:ext cx="6595914" cy="271271"/>
          </a:xfrm>
          <a:prstGeom prst="rect">
            <a:avLst/>
          </a:prstGeom>
          <a:noFill/>
        </p:spPr>
        <p:txBody>
          <a:bodyPr wrap="square" lIns="0" rIns="0" tIns="0" bIns="0" anchor="t">
            <a:spAutoFit/>
          </a:bodyPr>
          <a:lstStyle/>
          <a:p>
            <a:pPr algn="l">
              <a:lnSpc>
                <a:spcPct val="132000"/>
              </a:lnSpc>
            </a:pPr>
            <a:r>
              <a:rPr sz="1400" b="0" i="0">
                <a:solidFill>
                  <a:srgbClr val="3A3D40"/>
                </a:solidFill>
                <a:latin typeface="Verdana"/>
              </a:rPr>
              <a:t>les yeux</a:t>
            </a:r>
          </a:p>
        </p:txBody>
      </p:sp>
      <p:sp>
        <p:nvSpPr>
          <p:cNvPr id="12" name="Rectangle 11"/>
          <p:cNvSpPr/>
          <p:nvPr/>
        </p:nvSpPr>
        <p:spPr>
          <a:xfrm>
            <a:off x="932688" y="274015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868168"/>
            <a:ext cx="3291492" cy="271271"/>
          </a:xfrm>
          <a:prstGeom prst="rect">
            <a:avLst/>
          </a:prstGeom>
          <a:noFill/>
        </p:spPr>
        <p:txBody>
          <a:bodyPr wrap="square" lIns="0" rIns="0" tIns="0" bIns="0" anchor="t">
            <a:spAutoFit/>
          </a:bodyPr>
          <a:lstStyle/>
          <a:p>
            <a:pPr algn="l">
              <a:lnSpc>
                <a:spcPct val="132000"/>
              </a:lnSpc>
            </a:pPr>
            <a:r>
              <a:rPr sz="1400" b="1" i="0">
                <a:solidFill>
                  <a:srgbClr val="A5335F"/>
                </a:solidFill>
                <a:latin typeface="Verdana"/>
              </a:rPr>
              <a:t>l'ouïe</a:t>
            </a:r>
          </a:p>
        </p:txBody>
      </p:sp>
      <p:sp>
        <p:nvSpPr>
          <p:cNvPr id="14" name="TextBox 13"/>
          <p:cNvSpPr txBox="1"/>
          <p:nvPr/>
        </p:nvSpPr>
        <p:spPr>
          <a:xfrm>
            <a:off x="4443636" y="2868168"/>
            <a:ext cx="6595914" cy="271271"/>
          </a:xfrm>
          <a:prstGeom prst="rect">
            <a:avLst/>
          </a:prstGeom>
          <a:noFill/>
        </p:spPr>
        <p:txBody>
          <a:bodyPr wrap="square" lIns="0" rIns="0" tIns="0" bIns="0" anchor="t">
            <a:spAutoFit/>
          </a:bodyPr>
          <a:lstStyle/>
          <a:p>
            <a:pPr algn="l">
              <a:lnSpc>
                <a:spcPct val="132000"/>
              </a:lnSpc>
            </a:pPr>
            <a:r>
              <a:rPr sz="1400" b="0" i="0">
                <a:solidFill>
                  <a:srgbClr val="3A3D40"/>
                </a:solidFill>
                <a:latin typeface="Verdana"/>
              </a:rPr>
              <a:t>les oreilles</a:t>
            </a:r>
          </a:p>
        </p:txBody>
      </p:sp>
      <p:sp>
        <p:nvSpPr>
          <p:cNvPr id="15" name="Rectangle 14"/>
          <p:cNvSpPr/>
          <p:nvPr/>
        </p:nvSpPr>
        <p:spPr>
          <a:xfrm>
            <a:off x="932688" y="321259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340608"/>
            <a:ext cx="3291492" cy="271271"/>
          </a:xfrm>
          <a:prstGeom prst="rect">
            <a:avLst/>
          </a:prstGeom>
          <a:noFill/>
        </p:spPr>
        <p:txBody>
          <a:bodyPr wrap="square" lIns="0" rIns="0" tIns="0" bIns="0" anchor="t">
            <a:spAutoFit/>
          </a:bodyPr>
          <a:lstStyle/>
          <a:p>
            <a:pPr algn="l">
              <a:lnSpc>
                <a:spcPct val="132000"/>
              </a:lnSpc>
            </a:pPr>
            <a:r>
              <a:rPr sz="1400" b="1" i="0">
                <a:solidFill>
                  <a:srgbClr val="A5335F"/>
                </a:solidFill>
                <a:latin typeface="Verdana"/>
              </a:rPr>
              <a:t>l'odorat</a:t>
            </a:r>
          </a:p>
        </p:txBody>
      </p:sp>
      <p:sp>
        <p:nvSpPr>
          <p:cNvPr id="17" name="TextBox 16"/>
          <p:cNvSpPr txBox="1"/>
          <p:nvPr/>
        </p:nvSpPr>
        <p:spPr>
          <a:xfrm>
            <a:off x="4443636" y="3340608"/>
            <a:ext cx="6595914" cy="271271"/>
          </a:xfrm>
          <a:prstGeom prst="rect">
            <a:avLst/>
          </a:prstGeom>
          <a:noFill/>
        </p:spPr>
        <p:txBody>
          <a:bodyPr wrap="square" lIns="0" rIns="0" tIns="0" bIns="0" anchor="t">
            <a:spAutoFit/>
          </a:bodyPr>
          <a:lstStyle/>
          <a:p>
            <a:pPr algn="l">
              <a:lnSpc>
                <a:spcPct val="132000"/>
              </a:lnSpc>
            </a:pPr>
            <a:r>
              <a:rPr sz="1400" b="0" i="0">
                <a:solidFill>
                  <a:srgbClr val="3A3D40"/>
                </a:solidFill>
                <a:latin typeface="Verdana"/>
              </a:rPr>
              <a:t>le nez</a:t>
            </a:r>
          </a:p>
        </p:txBody>
      </p:sp>
      <p:sp>
        <p:nvSpPr>
          <p:cNvPr id="18" name="Rectangle 17"/>
          <p:cNvSpPr/>
          <p:nvPr/>
        </p:nvSpPr>
        <p:spPr>
          <a:xfrm>
            <a:off x="932688" y="3685031"/>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3813047"/>
            <a:ext cx="3291492" cy="271271"/>
          </a:xfrm>
          <a:prstGeom prst="rect">
            <a:avLst/>
          </a:prstGeom>
          <a:noFill/>
        </p:spPr>
        <p:txBody>
          <a:bodyPr wrap="square" lIns="0" rIns="0" tIns="0" bIns="0" anchor="t">
            <a:spAutoFit/>
          </a:bodyPr>
          <a:lstStyle/>
          <a:p>
            <a:pPr algn="l">
              <a:lnSpc>
                <a:spcPct val="132000"/>
              </a:lnSpc>
            </a:pPr>
            <a:r>
              <a:rPr sz="1400" b="1" i="0">
                <a:solidFill>
                  <a:srgbClr val="A5335F"/>
                </a:solidFill>
                <a:latin typeface="Verdana"/>
              </a:rPr>
              <a:t>le goût</a:t>
            </a:r>
          </a:p>
        </p:txBody>
      </p:sp>
      <p:sp>
        <p:nvSpPr>
          <p:cNvPr id="20" name="TextBox 19"/>
          <p:cNvSpPr txBox="1"/>
          <p:nvPr/>
        </p:nvSpPr>
        <p:spPr>
          <a:xfrm>
            <a:off x="4443636" y="3813047"/>
            <a:ext cx="6595914" cy="271271"/>
          </a:xfrm>
          <a:prstGeom prst="rect">
            <a:avLst/>
          </a:prstGeom>
          <a:noFill/>
        </p:spPr>
        <p:txBody>
          <a:bodyPr wrap="square" lIns="0" rIns="0" tIns="0" bIns="0" anchor="t">
            <a:spAutoFit/>
          </a:bodyPr>
          <a:lstStyle/>
          <a:p>
            <a:pPr algn="l">
              <a:lnSpc>
                <a:spcPct val="132000"/>
              </a:lnSpc>
            </a:pPr>
            <a:r>
              <a:rPr sz="1400" b="0" i="0">
                <a:solidFill>
                  <a:srgbClr val="3A3D40"/>
                </a:solidFill>
                <a:latin typeface="Verdana"/>
              </a:rPr>
              <a:t>la langue</a:t>
            </a:r>
          </a:p>
        </p:txBody>
      </p:sp>
      <p:sp>
        <p:nvSpPr>
          <p:cNvPr id="21" name="Rectangle 20"/>
          <p:cNvSpPr/>
          <p:nvPr/>
        </p:nvSpPr>
        <p:spPr>
          <a:xfrm>
            <a:off x="932688" y="4157471"/>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32688" y="4285487"/>
            <a:ext cx="3291492" cy="271271"/>
          </a:xfrm>
          <a:prstGeom prst="rect">
            <a:avLst/>
          </a:prstGeom>
          <a:noFill/>
        </p:spPr>
        <p:txBody>
          <a:bodyPr wrap="square" lIns="0" rIns="0" tIns="0" bIns="0" anchor="t">
            <a:spAutoFit/>
          </a:bodyPr>
          <a:lstStyle/>
          <a:p>
            <a:pPr algn="l">
              <a:lnSpc>
                <a:spcPct val="132000"/>
              </a:lnSpc>
            </a:pPr>
            <a:r>
              <a:rPr sz="1400" b="1" i="0">
                <a:solidFill>
                  <a:srgbClr val="A5335F"/>
                </a:solidFill>
                <a:latin typeface="Verdana"/>
              </a:rPr>
              <a:t>le toucher</a:t>
            </a:r>
          </a:p>
        </p:txBody>
      </p:sp>
      <p:sp>
        <p:nvSpPr>
          <p:cNvPr id="23" name="TextBox 22"/>
          <p:cNvSpPr txBox="1"/>
          <p:nvPr/>
        </p:nvSpPr>
        <p:spPr>
          <a:xfrm>
            <a:off x="4443636" y="4285487"/>
            <a:ext cx="6595914" cy="271271"/>
          </a:xfrm>
          <a:prstGeom prst="rect">
            <a:avLst/>
          </a:prstGeom>
          <a:noFill/>
        </p:spPr>
        <p:txBody>
          <a:bodyPr wrap="square" lIns="0" rIns="0" tIns="0" bIns="0" anchor="t">
            <a:spAutoFit/>
          </a:bodyPr>
          <a:lstStyle/>
          <a:p>
            <a:pPr algn="l">
              <a:lnSpc>
                <a:spcPct val="132000"/>
              </a:lnSpc>
            </a:pPr>
            <a:r>
              <a:rPr sz="1400" b="0" i="0">
                <a:solidFill>
                  <a:srgbClr val="3A3D40"/>
                </a:solidFill>
                <a:latin typeface="Verdana"/>
              </a:rPr>
              <a:t>la peau</a:t>
            </a:r>
          </a:p>
        </p:txBody>
      </p:sp>
      <p:sp>
        <p:nvSpPr>
          <p:cNvPr id="24" name="Rounded Rectangle 23"/>
          <p:cNvSpPr/>
          <p:nvPr/>
        </p:nvSpPr>
        <p:spPr>
          <a:xfrm>
            <a:off x="566928" y="5050536"/>
            <a:ext cx="11057839" cy="1027684"/>
          </a:xfrm>
          <a:prstGeom prst="roundRect">
            <a:avLst>
              <a:gd name="adj" fmla="val 14236"/>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69264" y="5306568"/>
            <a:ext cx="10234879" cy="570484"/>
          </a:xfrm>
          <a:prstGeom prst="rect">
            <a:avLst/>
          </a:prstGeom>
          <a:noFill/>
        </p:spPr>
        <p:txBody>
          <a:bodyPr wrap="square" lIns="0" rIns="0" tIns="0" bIns="0" anchor="t">
            <a:spAutoFit/>
          </a:bodyPr>
          <a:lstStyle/>
          <a:p>
            <a:pPr algn="l">
              <a:lnSpc>
                <a:spcPct val="145000"/>
              </a:lnSpc>
            </a:pPr>
            <a:r>
              <a:rPr sz="1400" b="0" i="0">
                <a:solidFill>
                  <a:srgbClr val="4B4F52"/>
                </a:solidFill>
                <a:latin typeface="Verdana"/>
              </a:rPr>
              <a:t>Les noms des sens sont difficiles ; les organes sont connus. On part donc de l'organe pour retrouver le sens, pas l'inverse.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Consulter au bon endroit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LE MOT CLÉ DE LA SÉANCE</a:t>
            </a:r>
          </a:p>
        </p:txBody>
      </p:sp>
      <p:sp>
        <p:nvSpPr>
          <p:cNvPr id="6" name="Rounded Rectangle 5"/>
          <p:cNvSpPr/>
          <p:nvPr/>
        </p:nvSpPr>
        <p:spPr>
          <a:xfrm>
            <a:off x="566928" y="1225296"/>
            <a:ext cx="11057839" cy="2494788"/>
          </a:xfrm>
          <a:prstGeom prst="roundRect">
            <a:avLst>
              <a:gd name="adj" fmla="val 5864"/>
            </a:avLst>
          </a:prstGeom>
          <a:solidFill>
            <a:srgbClr val="FCE9F0"/>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671828"/>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Une douleur ne fait pas seulement « mal » : elle élance, elle brûle, elle tire ou elle pique.</a:t>
            </a:r>
          </a:p>
        </p:txBody>
      </p:sp>
      <p:sp>
        <p:nvSpPr>
          <p:cNvPr id="8" name="Rounded Rectangle 7"/>
          <p:cNvSpPr/>
          <p:nvPr/>
        </p:nvSpPr>
        <p:spPr>
          <a:xfrm>
            <a:off x="566928" y="3994404"/>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4268724"/>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Le verbe que vous choisissez oriente le diagnostic. Une douleur qui élance et une douleur qui brûle ne viennent pas du même problème, et le médecin le sait avant même de vous examiner.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Consulter au bon endroit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300" b="1" i="0">
                <a:solidFill>
                  <a:srgbClr val="17181A"/>
                </a:solidFill>
                <a:latin typeface="Verdana"/>
              </a:rPr>
              <a:t>Quatre façons dont une douleur se comporte</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387096"/>
          </a:xfrm>
          <a:prstGeom prst="rect">
            <a:avLst/>
          </a:prstGeom>
          <a:noFill/>
        </p:spPr>
        <p:txBody>
          <a:bodyPr wrap="square" lIns="0" rIns="0" tIns="0" bIns="0" anchor="t">
            <a:spAutoFit/>
          </a:bodyPr>
          <a:lstStyle/>
          <a:p>
            <a:pPr algn="l">
              <a:lnSpc>
                <a:spcPct val="118000"/>
              </a:lnSpc>
            </a:pPr>
            <a:r>
              <a:rPr sz="2400" b="1" i="0">
                <a:solidFill>
                  <a:srgbClr val="A5335F"/>
                </a:solidFill>
                <a:latin typeface="Verdana"/>
              </a:rPr>
              <a:t>Ça élance</a:t>
            </a:r>
          </a:p>
        </p:txBody>
      </p:sp>
      <p:sp>
        <p:nvSpPr>
          <p:cNvPr id="9" name="TextBox 8"/>
          <p:cNvSpPr txBox="1"/>
          <p:nvPr/>
        </p:nvSpPr>
        <p:spPr>
          <a:xfrm>
            <a:off x="886968" y="2499360"/>
            <a:ext cx="4806543" cy="1089660"/>
          </a:xfrm>
          <a:prstGeom prst="rect">
            <a:avLst/>
          </a:prstGeom>
          <a:noFill/>
        </p:spPr>
        <p:txBody>
          <a:bodyPr wrap="square" lIns="0" rIns="0" tIns="0" bIns="0" anchor="t">
            <a:spAutoFit/>
          </a:bodyPr>
          <a:lstStyle/>
          <a:p>
            <a:pPr algn="l">
              <a:lnSpc>
                <a:spcPct val="142000"/>
              </a:lnSpc>
            </a:pPr>
            <a:r>
              <a:rPr sz="1700" b="0" i="0">
                <a:solidFill>
                  <a:srgbClr val="3A3D40"/>
                </a:solidFill>
                <a:latin typeface="Verdana"/>
              </a:rPr>
              <a:t>Une douleur vive qui revient par à-coups, comme des vagues. C'est celle de Yannick : « ça élance dès que je plie la jambe ».</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387096"/>
          </a:xfrm>
          <a:prstGeom prst="rect">
            <a:avLst/>
          </a:prstGeom>
          <a:noFill/>
        </p:spPr>
        <p:txBody>
          <a:bodyPr wrap="square" lIns="0" rIns="0" tIns="0" bIns="0" anchor="t">
            <a:spAutoFit/>
          </a:bodyPr>
          <a:lstStyle/>
          <a:p>
            <a:pPr algn="l">
              <a:lnSpc>
                <a:spcPct val="118000"/>
              </a:lnSpc>
            </a:pPr>
            <a:r>
              <a:rPr sz="2400" b="1" i="0">
                <a:solidFill>
                  <a:srgbClr val="A5335F"/>
                </a:solidFill>
                <a:latin typeface="Verdana"/>
              </a:rPr>
              <a:t>Ça brûle</a:t>
            </a:r>
          </a:p>
        </p:txBody>
      </p:sp>
      <p:sp>
        <p:nvSpPr>
          <p:cNvPr id="12" name="TextBox 11"/>
          <p:cNvSpPr txBox="1"/>
          <p:nvPr/>
        </p:nvSpPr>
        <p:spPr>
          <a:xfrm>
            <a:off x="6498183" y="2499360"/>
            <a:ext cx="4806543" cy="1089660"/>
          </a:xfrm>
          <a:prstGeom prst="rect">
            <a:avLst/>
          </a:prstGeom>
          <a:noFill/>
        </p:spPr>
        <p:txBody>
          <a:bodyPr wrap="square" lIns="0" rIns="0" tIns="0" bIns="0" anchor="t">
            <a:spAutoFit/>
          </a:bodyPr>
          <a:lstStyle/>
          <a:p>
            <a:pPr algn="l">
              <a:lnSpc>
                <a:spcPct val="142000"/>
              </a:lnSpc>
            </a:pPr>
            <a:r>
              <a:rPr sz="1700" b="0" i="0">
                <a:solidFill>
                  <a:srgbClr val="3A3D40"/>
                </a:solidFill>
                <a:latin typeface="Verdana"/>
              </a:rPr>
              <a:t>Une douleur chaude et continue, comme une brûlure. Souvent la peau, un nerf, ou l'estomac.</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387096"/>
          </a:xfrm>
          <a:prstGeom prst="rect">
            <a:avLst/>
          </a:prstGeom>
          <a:noFill/>
        </p:spPr>
        <p:txBody>
          <a:bodyPr wrap="square" lIns="0" rIns="0" tIns="0" bIns="0" anchor="t">
            <a:spAutoFit/>
          </a:bodyPr>
          <a:lstStyle/>
          <a:p>
            <a:pPr algn="l">
              <a:lnSpc>
                <a:spcPct val="118000"/>
              </a:lnSpc>
            </a:pPr>
            <a:r>
              <a:rPr sz="2400" b="1" i="0">
                <a:solidFill>
                  <a:srgbClr val="A5335F"/>
                </a:solidFill>
                <a:latin typeface="Verdana"/>
              </a:rPr>
              <a:t>Ça tire</a:t>
            </a:r>
          </a:p>
        </p:txBody>
      </p:sp>
      <p:sp>
        <p:nvSpPr>
          <p:cNvPr id="15" name="TextBox 14"/>
          <p:cNvSpPr txBox="1"/>
          <p:nvPr/>
        </p:nvSpPr>
        <p:spPr>
          <a:xfrm>
            <a:off x="886968" y="4716780"/>
            <a:ext cx="4806543" cy="1089660"/>
          </a:xfrm>
          <a:prstGeom prst="rect">
            <a:avLst/>
          </a:prstGeom>
          <a:noFill/>
        </p:spPr>
        <p:txBody>
          <a:bodyPr wrap="square" lIns="0" rIns="0" tIns="0" bIns="0" anchor="t">
            <a:spAutoFit/>
          </a:bodyPr>
          <a:lstStyle/>
          <a:p>
            <a:pPr algn="l">
              <a:lnSpc>
                <a:spcPct val="142000"/>
              </a:lnSpc>
            </a:pPr>
            <a:r>
              <a:rPr sz="1700" b="0" i="0">
                <a:solidFill>
                  <a:srgbClr val="3A3D40"/>
                </a:solidFill>
                <a:latin typeface="Verdana"/>
              </a:rPr>
              <a:t>Une douleur d'étirement quand on bouge dans une direction. Souvent un muscle ou un tendon.</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387096"/>
          </a:xfrm>
          <a:prstGeom prst="rect">
            <a:avLst/>
          </a:prstGeom>
          <a:noFill/>
        </p:spPr>
        <p:txBody>
          <a:bodyPr wrap="square" lIns="0" rIns="0" tIns="0" bIns="0" anchor="t">
            <a:spAutoFit/>
          </a:bodyPr>
          <a:lstStyle/>
          <a:p>
            <a:pPr algn="l">
              <a:lnSpc>
                <a:spcPct val="118000"/>
              </a:lnSpc>
            </a:pPr>
            <a:r>
              <a:rPr sz="2400" b="1" i="0">
                <a:solidFill>
                  <a:srgbClr val="A5335F"/>
                </a:solidFill>
                <a:latin typeface="Verdana"/>
              </a:rPr>
              <a:t>Ça pique</a:t>
            </a:r>
          </a:p>
        </p:txBody>
      </p:sp>
      <p:sp>
        <p:nvSpPr>
          <p:cNvPr id="18" name="TextBox 17"/>
          <p:cNvSpPr txBox="1"/>
          <p:nvPr/>
        </p:nvSpPr>
        <p:spPr>
          <a:xfrm>
            <a:off x="6498183" y="4716780"/>
            <a:ext cx="4806543" cy="1089660"/>
          </a:xfrm>
          <a:prstGeom prst="rect">
            <a:avLst/>
          </a:prstGeom>
          <a:noFill/>
        </p:spPr>
        <p:txBody>
          <a:bodyPr wrap="square" lIns="0" rIns="0" tIns="0" bIns="0" anchor="t">
            <a:spAutoFit/>
          </a:bodyPr>
          <a:lstStyle/>
          <a:p>
            <a:pPr algn="l">
              <a:lnSpc>
                <a:spcPct val="142000"/>
              </a:lnSpc>
            </a:pPr>
            <a:r>
              <a:rPr sz="1700" b="0" i="0">
                <a:solidFill>
                  <a:srgbClr val="3A3D40"/>
                </a:solidFill>
                <a:latin typeface="Verdana"/>
              </a:rPr>
              <a:t>Une douleur fine et courte, comme une aiguille. Souvent la peau ou une piqûre.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Consulter au bon endroit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Situer la douleur en trois mots</a:t>
            </a:r>
          </a:p>
        </p:txBody>
      </p:sp>
      <p:sp>
        <p:nvSpPr>
          <p:cNvPr id="7" name="Rounded Rectangle 6"/>
          <p:cNvSpPr/>
          <p:nvPr/>
        </p:nvSpPr>
        <p:spPr>
          <a:xfrm>
            <a:off x="566928" y="1810512"/>
            <a:ext cx="11057839" cy="2258568"/>
          </a:xfrm>
          <a:prstGeom prst="roundRect">
            <a:avLst>
              <a:gd name="adj" fmla="val 647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ON PRÉCISE</a:t>
            </a:r>
          </a:p>
        </p:txBody>
      </p:sp>
      <p:sp>
        <p:nvSpPr>
          <p:cNvPr id="9" name="TextBox 8"/>
          <p:cNvSpPr txBox="1"/>
          <p:nvPr/>
        </p:nvSpPr>
        <p:spPr>
          <a:xfrm>
            <a:off x="4374794"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LES MOTS</a:t>
            </a:r>
          </a:p>
        </p:txBody>
      </p:sp>
      <p:sp>
        <p:nvSpPr>
          <p:cNvPr id="10" name="TextBox 9"/>
          <p:cNvSpPr txBox="1"/>
          <p:nvPr/>
        </p:nvSpPr>
        <p:spPr>
          <a:xfrm>
            <a:off x="7816900"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EXEMPLE</a:t>
            </a:r>
          </a:p>
        </p:txBody>
      </p:sp>
      <p:sp>
        <p:nvSpPr>
          <p:cNvPr id="11" name="TextBox 10"/>
          <p:cNvSpPr txBox="1"/>
          <p:nvPr/>
        </p:nvSpPr>
        <p:spPr>
          <a:xfrm>
            <a:off x="932688" y="2395728"/>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 côté</a:t>
            </a:r>
          </a:p>
        </p:txBody>
      </p:sp>
      <p:sp>
        <p:nvSpPr>
          <p:cNvPr id="12" name="TextBox 11"/>
          <p:cNvSpPr txBox="1"/>
          <p:nvPr/>
        </p:nvSpPr>
        <p:spPr>
          <a:xfrm>
            <a:off x="4374794" y="2395728"/>
            <a:ext cx="3222650" cy="338328"/>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droit, gauche</a:t>
            </a:r>
          </a:p>
        </p:txBody>
      </p:sp>
      <p:sp>
        <p:nvSpPr>
          <p:cNvPr id="13" name="TextBox 12"/>
          <p:cNvSpPr txBox="1"/>
          <p:nvPr/>
        </p:nvSpPr>
        <p:spPr>
          <a:xfrm>
            <a:off x="7816900" y="2395728"/>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 genou droit</a:t>
            </a:r>
          </a:p>
        </p:txBody>
      </p:sp>
      <p:sp>
        <p:nvSpPr>
          <p:cNvPr id="14" name="Rectangle 13"/>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32688" y="2935224"/>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la hauteur</a:t>
            </a:r>
          </a:p>
        </p:txBody>
      </p:sp>
      <p:sp>
        <p:nvSpPr>
          <p:cNvPr id="16" name="TextBox 15"/>
          <p:cNvSpPr txBox="1"/>
          <p:nvPr/>
        </p:nvSpPr>
        <p:spPr>
          <a:xfrm>
            <a:off x="4374794" y="2935224"/>
            <a:ext cx="3222650" cy="338328"/>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en haut, en bas</a:t>
            </a:r>
          </a:p>
        </p:txBody>
      </p:sp>
      <p:sp>
        <p:nvSpPr>
          <p:cNvPr id="17" name="TextBox 16"/>
          <p:cNvSpPr txBox="1"/>
          <p:nvPr/>
        </p:nvSpPr>
        <p:spPr>
          <a:xfrm>
            <a:off x="7816900" y="2935224"/>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 bas du dos</a:t>
            </a:r>
          </a:p>
        </p:txBody>
      </p:sp>
      <p:sp>
        <p:nvSpPr>
          <p:cNvPr id="18" name="Rectangle 17"/>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3474720"/>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la face</a:t>
            </a:r>
          </a:p>
        </p:txBody>
      </p:sp>
      <p:sp>
        <p:nvSpPr>
          <p:cNvPr id="20" name="TextBox 19"/>
          <p:cNvSpPr txBox="1"/>
          <p:nvPr/>
        </p:nvSpPr>
        <p:spPr>
          <a:xfrm>
            <a:off x="4374794" y="3474720"/>
            <a:ext cx="3222650" cy="338328"/>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devant, derrière</a:t>
            </a:r>
          </a:p>
        </p:txBody>
      </p:sp>
      <p:sp>
        <p:nvSpPr>
          <p:cNvPr id="21" name="TextBox 20"/>
          <p:cNvSpPr txBox="1"/>
          <p:nvPr/>
        </p:nvSpPr>
        <p:spPr>
          <a:xfrm>
            <a:off x="7816900" y="3474720"/>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derrière la cuisse</a:t>
            </a:r>
          </a:p>
        </p:txBody>
      </p:sp>
      <p:sp>
        <p:nvSpPr>
          <p:cNvPr id="22" name="Rounded Rectangle 21"/>
          <p:cNvSpPr/>
          <p:nvPr/>
        </p:nvSpPr>
        <p:spPr>
          <a:xfrm>
            <a:off x="566928" y="4306824"/>
            <a:ext cx="11057839" cy="843534"/>
          </a:xfrm>
          <a:prstGeom prst="roundRect">
            <a:avLst>
              <a:gd name="adj" fmla="val 17344"/>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69264" y="4562856"/>
            <a:ext cx="10234879" cy="386334"/>
          </a:xfrm>
          <a:prstGeom prst="rect">
            <a:avLst/>
          </a:prstGeom>
          <a:noFill/>
        </p:spPr>
        <p:txBody>
          <a:bodyPr wrap="square" lIns="0" rIns="0" tIns="0" bIns="0" anchor="t">
            <a:spAutoFit/>
          </a:bodyPr>
          <a:lstStyle/>
          <a:p>
            <a:pPr algn="l">
              <a:lnSpc>
                <a:spcPct val="145000"/>
              </a:lnSpc>
            </a:pPr>
            <a:r>
              <a:rPr sz="1800" b="0" i="0">
                <a:solidFill>
                  <a:srgbClr val="4B4F52"/>
                </a:solidFill>
                <a:latin typeface="Verdana"/>
              </a:rPr>
              <a:t>Sans le côté, le soignant doit examiner les deux. Dites-le toujours.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Consulter au bon endroit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PRATIQUE · 1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sens et son organe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Reliez chaque sens à la partie du corps qui lui correspond.</a:t>
            </a:r>
          </a:p>
        </p:txBody>
      </p:sp>
      <p:sp>
        <p:nvSpPr>
          <p:cNvPr id="8" name="Rounded Rectangle 7"/>
          <p:cNvSpPr/>
          <p:nvPr/>
        </p:nvSpPr>
        <p:spPr>
          <a:xfrm>
            <a:off x="566928" y="2139696"/>
            <a:ext cx="5464911"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1</a:t>
            </a:r>
          </a:p>
        </p:txBody>
      </p:sp>
      <p:sp>
        <p:nvSpPr>
          <p:cNvPr id="11" name="TextBox 10"/>
          <p:cNvSpPr txBox="1"/>
          <p:nvPr/>
        </p:nvSpPr>
        <p:spPr>
          <a:xfrm>
            <a:off x="1344168" y="2295144"/>
            <a:ext cx="4504791"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vue</a:t>
            </a:r>
          </a:p>
        </p:txBody>
      </p:sp>
      <p:sp>
        <p:nvSpPr>
          <p:cNvPr id="12" name="Rounded Rectangle 11"/>
          <p:cNvSpPr/>
          <p:nvPr/>
        </p:nvSpPr>
        <p:spPr>
          <a:xfrm>
            <a:off x="6159855" y="2139696"/>
            <a:ext cx="5464911"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6434175" y="2281174"/>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34175" y="2345182"/>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2</a:t>
            </a:r>
          </a:p>
        </p:txBody>
      </p:sp>
      <p:sp>
        <p:nvSpPr>
          <p:cNvPr id="15" name="TextBox 14"/>
          <p:cNvSpPr txBox="1"/>
          <p:nvPr/>
        </p:nvSpPr>
        <p:spPr>
          <a:xfrm>
            <a:off x="6937095" y="2295144"/>
            <a:ext cx="4504791"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l'ouïe</a:t>
            </a:r>
          </a:p>
        </p:txBody>
      </p:sp>
      <p:sp>
        <p:nvSpPr>
          <p:cNvPr id="16" name="Rounded Rectangle 15"/>
          <p:cNvSpPr/>
          <p:nvPr/>
        </p:nvSpPr>
        <p:spPr>
          <a:xfrm>
            <a:off x="566928" y="2916428"/>
            <a:ext cx="5464911"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057905"/>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3</a:t>
            </a:r>
          </a:p>
        </p:txBody>
      </p:sp>
      <p:sp>
        <p:nvSpPr>
          <p:cNvPr id="19" name="TextBox 18"/>
          <p:cNvSpPr txBox="1"/>
          <p:nvPr/>
        </p:nvSpPr>
        <p:spPr>
          <a:xfrm>
            <a:off x="1344168" y="3071876"/>
            <a:ext cx="4504791"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l'odorat</a:t>
            </a:r>
          </a:p>
        </p:txBody>
      </p:sp>
      <p:sp>
        <p:nvSpPr>
          <p:cNvPr id="20" name="Rounded Rectangle 19"/>
          <p:cNvSpPr/>
          <p:nvPr/>
        </p:nvSpPr>
        <p:spPr>
          <a:xfrm>
            <a:off x="6159855" y="2916428"/>
            <a:ext cx="5464911"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434175" y="3057905"/>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434175" y="3121913"/>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4</a:t>
            </a:r>
          </a:p>
        </p:txBody>
      </p:sp>
      <p:sp>
        <p:nvSpPr>
          <p:cNvPr id="23" name="TextBox 22"/>
          <p:cNvSpPr txBox="1"/>
          <p:nvPr/>
        </p:nvSpPr>
        <p:spPr>
          <a:xfrm>
            <a:off x="6937095" y="3071876"/>
            <a:ext cx="4504791"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goût</a:t>
            </a:r>
          </a:p>
        </p:txBody>
      </p:sp>
      <p:sp>
        <p:nvSpPr>
          <p:cNvPr id="24" name="Rounded Rectangle 23"/>
          <p:cNvSpPr/>
          <p:nvPr/>
        </p:nvSpPr>
        <p:spPr>
          <a:xfrm>
            <a:off x="566928" y="3693160"/>
            <a:ext cx="5464911"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3834638"/>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5</a:t>
            </a:r>
          </a:p>
        </p:txBody>
      </p:sp>
      <p:sp>
        <p:nvSpPr>
          <p:cNvPr id="27" name="TextBox 26"/>
          <p:cNvSpPr txBox="1"/>
          <p:nvPr/>
        </p:nvSpPr>
        <p:spPr>
          <a:xfrm>
            <a:off x="1344168" y="3848608"/>
            <a:ext cx="4504791"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toucher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Consulter au bon endroit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sens et son organe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5464911"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1</a:t>
            </a:r>
          </a:p>
        </p:txBody>
      </p:sp>
      <p:sp>
        <p:nvSpPr>
          <p:cNvPr id="11" name="TextBox 10"/>
          <p:cNvSpPr txBox="1"/>
          <p:nvPr/>
        </p:nvSpPr>
        <p:spPr>
          <a:xfrm>
            <a:off x="1344168" y="2295144"/>
            <a:ext cx="4504791"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vue   </a:t>
            </a:r>
            <a:r>
              <a:rPr sz="1900" b="1" i="0">
                <a:solidFill>
                  <a:srgbClr val="07734A"/>
                </a:solidFill>
                <a:latin typeface="Verdana"/>
              </a:rPr>
              <a:t>» les yeux</a:t>
            </a:r>
          </a:p>
        </p:txBody>
      </p:sp>
      <p:sp>
        <p:nvSpPr>
          <p:cNvPr id="12" name="Rounded Rectangle 11"/>
          <p:cNvSpPr/>
          <p:nvPr/>
        </p:nvSpPr>
        <p:spPr>
          <a:xfrm>
            <a:off x="6159855" y="2139696"/>
            <a:ext cx="5464911"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6434175" y="2281174"/>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34175" y="2345182"/>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2</a:t>
            </a:r>
          </a:p>
        </p:txBody>
      </p:sp>
      <p:sp>
        <p:nvSpPr>
          <p:cNvPr id="15" name="TextBox 14"/>
          <p:cNvSpPr txBox="1"/>
          <p:nvPr/>
        </p:nvSpPr>
        <p:spPr>
          <a:xfrm>
            <a:off x="6937095" y="2295144"/>
            <a:ext cx="4504791"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l'ouïe   </a:t>
            </a:r>
            <a:r>
              <a:rPr sz="1900" b="1" i="0">
                <a:solidFill>
                  <a:srgbClr val="07734A"/>
                </a:solidFill>
                <a:latin typeface="Verdana"/>
              </a:rPr>
              <a:t>» les oreilles</a:t>
            </a:r>
          </a:p>
        </p:txBody>
      </p:sp>
      <p:sp>
        <p:nvSpPr>
          <p:cNvPr id="16" name="Rounded Rectangle 15"/>
          <p:cNvSpPr/>
          <p:nvPr/>
        </p:nvSpPr>
        <p:spPr>
          <a:xfrm>
            <a:off x="566928" y="2916428"/>
            <a:ext cx="5464911"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057905"/>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3</a:t>
            </a:r>
          </a:p>
        </p:txBody>
      </p:sp>
      <p:sp>
        <p:nvSpPr>
          <p:cNvPr id="19" name="TextBox 18"/>
          <p:cNvSpPr txBox="1"/>
          <p:nvPr/>
        </p:nvSpPr>
        <p:spPr>
          <a:xfrm>
            <a:off x="1344168" y="3071876"/>
            <a:ext cx="4504791"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l'odorat   </a:t>
            </a:r>
            <a:r>
              <a:rPr sz="1900" b="1" i="0">
                <a:solidFill>
                  <a:srgbClr val="07734A"/>
                </a:solidFill>
                <a:latin typeface="Verdana"/>
              </a:rPr>
              <a:t>» le nez</a:t>
            </a:r>
          </a:p>
        </p:txBody>
      </p:sp>
      <p:sp>
        <p:nvSpPr>
          <p:cNvPr id="20" name="Rounded Rectangle 19"/>
          <p:cNvSpPr/>
          <p:nvPr/>
        </p:nvSpPr>
        <p:spPr>
          <a:xfrm>
            <a:off x="6159855" y="2916428"/>
            <a:ext cx="5464911"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434175" y="3057905"/>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434175" y="3121913"/>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4</a:t>
            </a:r>
          </a:p>
        </p:txBody>
      </p:sp>
      <p:sp>
        <p:nvSpPr>
          <p:cNvPr id="23" name="TextBox 22"/>
          <p:cNvSpPr txBox="1"/>
          <p:nvPr/>
        </p:nvSpPr>
        <p:spPr>
          <a:xfrm>
            <a:off x="6937095" y="3071876"/>
            <a:ext cx="4504791"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goût   </a:t>
            </a:r>
            <a:r>
              <a:rPr sz="1900" b="1" i="0">
                <a:solidFill>
                  <a:srgbClr val="07734A"/>
                </a:solidFill>
                <a:latin typeface="Verdana"/>
              </a:rPr>
              <a:t>» la langue</a:t>
            </a:r>
          </a:p>
        </p:txBody>
      </p:sp>
      <p:sp>
        <p:nvSpPr>
          <p:cNvPr id="24" name="Rounded Rectangle 23"/>
          <p:cNvSpPr/>
          <p:nvPr/>
        </p:nvSpPr>
        <p:spPr>
          <a:xfrm>
            <a:off x="566928" y="3693160"/>
            <a:ext cx="5464911"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3834638"/>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5</a:t>
            </a:r>
          </a:p>
        </p:txBody>
      </p:sp>
      <p:sp>
        <p:nvSpPr>
          <p:cNvPr id="27" name="TextBox 26"/>
          <p:cNvSpPr txBox="1"/>
          <p:nvPr/>
        </p:nvSpPr>
        <p:spPr>
          <a:xfrm>
            <a:off x="1344168" y="3848608"/>
            <a:ext cx="4504791"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toucher   </a:t>
            </a:r>
            <a:r>
              <a:rPr sz="1900" b="1" i="0">
                <a:solidFill>
                  <a:srgbClr val="07734A"/>
                </a:solidFill>
                <a:latin typeface="Verdana"/>
              </a:rPr>
              <a:t>» la peau</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Consulter au bon endroit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PRATIQUE · 2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Quel verbe pour quelle douleur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Choisissez : élancer, brûler, tirer ou piquer.</a:t>
            </a:r>
          </a:p>
        </p:txBody>
      </p:sp>
      <p:sp>
        <p:nvSpPr>
          <p:cNvPr id="8" name="Rounded Rectangle 7"/>
          <p:cNvSpPr/>
          <p:nvPr/>
        </p:nvSpPr>
        <p:spPr>
          <a:xfrm>
            <a:off x="566928" y="2139696"/>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Une douleur vive qui revient par à-coups.</a:t>
            </a:r>
          </a:p>
        </p:txBody>
      </p:sp>
      <p:sp>
        <p:nvSpPr>
          <p:cNvPr id="12" name="Rounded Rectangle 11"/>
          <p:cNvSpPr/>
          <p:nvPr/>
        </p:nvSpPr>
        <p:spPr>
          <a:xfrm>
            <a:off x="566928" y="2916428"/>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Une sensation de chaleur continue sur la peau.</a:t>
            </a:r>
          </a:p>
        </p:txBody>
      </p:sp>
      <p:sp>
        <p:nvSpPr>
          <p:cNvPr id="16" name="Rounded Rectangle 15"/>
          <p:cNvSpPr/>
          <p:nvPr/>
        </p:nvSpPr>
        <p:spPr>
          <a:xfrm>
            <a:off x="566928" y="3693160"/>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Une douleur quand on étire le muscle.</a:t>
            </a:r>
          </a:p>
        </p:txBody>
      </p:sp>
      <p:sp>
        <p:nvSpPr>
          <p:cNvPr id="20" name="Rounded Rectangle 19"/>
          <p:cNvSpPr/>
          <p:nvPr/>
        </p:nvSpPr>
        <p:spPr>
          <a:xfrm>
            <a:off x="566928" y="4469892"/>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Une douleur fine, comme une aiguille.</a:t>
            </a:r>
          </a:p>
        </p:txBody>
      </p:sp>
      <p:sp>
        <p:nvSpPr>
          <p:cNvPr id="24" name="Rounded Rectangle 23"/>
          <p:cNvSpPr/>
          <p:nvPr/>
        </p:nvSpPr>
        <p:spPr>
          <a:xfrm>
            <a:off x="566928" y="5246624"/>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388102"/>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452110"/>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5</a:t>
            </a:r>
          </a:p>
        </p:txBody>
      </p:sp>
      <p:sp>
        <p:nvSpPr>
          <p:cNvPr id="27" name="TextBox 26"/>
          <p:cNvSpPr txBox="1"/>
          <p:nvPr/>
        </p:nvSpPr>
        <p:spPr>
          <a:xfrm>
            <a:off x="1344168" y="5402072"/>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genou de Yannick quand il plie la jambe.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Consulter au bon endroit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Quel verbe pour quelle douleur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Une douleur vive qui revient par à-coups.   </a:t>
            </a:r>
            <a:r>
              <a:rPr sz="1900" b="1" i="0">
                <a:solidFill>
                  <a:srgbClr val="07734A"/>
                </a:solidFill>
                <a:latin typeface="Verdana"/>
              </a:rPr>
              <a:t>» ça élance</a:t>
            </a:r>
          </a:p>
        </p:txBody>
      </p:sp>
      <p:sp>
        <p:nvSpPr>
          <p:cNvPr id="12" name="Rounded Rectangle 11"/>
          <p:cNvSpPr/>
          <p:nvPr/>
        </p:nvSpPr>
        <p:spPr>
          <a:xfrm>
            <a:off x="566928" y="2916428"/>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Une sensation de chaleur continue sur la peau.   </a:t>
            </a:r>
            <a:r>
              <a:rPr sz="1900" b="1" i="0">
                <a:solidFill>
                  <a:srgbClr val="07734A"/>
                </a:solidFill>
                <a:latin typeface="Verdana"/>
              </a:rPr>
              <a:t>» ça brûle</a:t>
            </a:r>
          </a:p>
        </p:txBody>
      </p:sp>
      <p:sp>
        <p:nvSpPr>
          <p:cNvPr id="16" name="Rounded Rectangle 15"/>
          <p:cNvSpPr/>
          <p:nvPr/>
        </p:nvSpPr>
        <p:spPr>
          <a:xfrm>
            <a:off x="566928" y="3693160"/>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Une douleur quand on étire le muscle.   </a:t>
            </a:r>
            <a:r>
              <a:rPr sz="1900" b="1" i="0">
                <a:solidFill>
                  <a:srgbClr val="07734A"/>
                </a:solidFill>
                <a:latin typeface="Verdana"/>
              </a:rPr>
              <a:t>» ça tire</a:t>
            </a:r>
          </a:p>
        </p:txBody>
      </p:sp>
      <p:sp>
        <p:nvSpPr>
          <p:cNvPr id="20" name="Rounded Rectangle 19"/>
          <p:cNvSpPr/>
          <p:nvPr/>
        </p:nvSpPr>
        <p:spPr>
          <a:xfrm>
            <a:off x="566928" y="4469892"/>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Une douleur fine, comme une aiguille.   </a:t>
            </a:r>
            <a:r>
              <a:rPr sz="1900" b="1" i="0">
                <a:solidFill>
                  <a:srgbClr val="07734A"/>
                </a:solidFill>
                <a:latin typeface="Verdana"/>
              </a:rPr>
              <a:t>» ça pique</a:t>
            </a:r>
          </a:p>
        </p:txBody>
      </p:sp>
      <p:sp>
        <p:nvSpPr>
          <p:cNvPr id="24" name="Rounded Rectangle 23"/>
          <p:cNvSpPr/>
          <p:nvPr/>
        </p:nvSpPr>
        <p:spPr>
          <a:xfrm>
            <a:off x="566928" y="5246624"/>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388102"/>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452110"/>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5</a:t>
            </a:r>
          </a:p>
        </p:txBody>
      </p:sp>
      <p:sp>
        <p:nvSpPr>
          <p:cNvPr id="27" name="TextBox 26"/>
          <p:cNvSpPr txBox="1"/>
          <p:nvPr/>
        </p:nvSpPr>
        <p:spPr>
          <a:xfrm>
            <a:off x="1344168" y="5402072"/>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genou de Yannick quand il plie la jambe.   </a:t>
            </a:r>
            <a:r>
              <a:rPr sz="1900" b="1" i="0">
                <a:solidFill>
                  <a:srgbClr val="07734A"/>
                </a:solidFill>
                <a:latin typeface="Verdana"/>
              </a:rPr>
              <a:t>» ça élance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Consulter au bon endroit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PRATIQUE · 3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Décrivez la douleur en une phrase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Utilisez : la partie du corps, le côté, le verbe de douleur.</a:t>
            </a:r>
          </a:p>
        </p:txBody>
      </p:sp>
      <p:sp>
        <p:nvSpPr>
          <p:cNvPr id="8" name="Rounded Rectangle 7"/>
          <p:cNvSpPr/>
          <p:nvPr/>
        </p:nvSpPr>
        <p:spPr>
          <a:xfrm>
            <a:off x="566928" y="2139696"/>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genou, à droite, une douleur par à-coups.</a:t>
            </a:r>
          </a:p>
        </p:txBody>
      </p:sp>
      <p:sp>
        <p:nvSpPr>
          <p:cNvPr id="12" name="Rounded Rectangle 11"/>
          <p:cNvSpPr/>
          <p:nvPr/>
        </p:nvSpPr>
        <p:spPr>
          <a:xfrm>
            <a:off x="566928" y="2916428"/>
            <a:ext cx="11057839"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226815"/>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290823"/>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2</a:t>
            </a:r>
          </a:p>
        </p:txBody>
      </p:sp>
      <p:sp>
        <p:nvSpPr>
          <p:cNvPr id="15" name="TextBox 14"/>
          <p:cNvSpPr txBox="1"/>
          <p:nvPr/>
        </p:nvSpPr>
        <p:spPr>
          <a:xfrm>
            <a:off x="1344168" y="3071876"/>
            <a:ext cx="10097719"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L'épaule, à gauche, une douleur quand on lève le bras.</a:t>
            </a:r>
          </a:p>
        </p:txBody>
      </p:sp>
      <p:sp>
        <p:nvSpPr>
          <p:cNvPr id="16" name="Rounded Rectangle 15"/>
          <p:cNvSpPr/>
          <p:nvPr/>
        </p:nvSpPr>
        <p:spPr>
          <a:xfrm>
            <a:off x="566928" y="4030980"/>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4172458"/>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4236466"/>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3</a:t>
            </a:r>
          </a:p>
        </p:txBody>
      </p:sp>
      <p:sp>
        <p:nvSpPr>
          <p:cNvPr id="19" name="TextBox 18"/>
          <p:cNvSpPr txBox="1"/>
          <p:nvPr/>
        </p:nvSpPr>
        <p:spPr>
          <a:xfrm>
            <a:off x="1344168" y="418642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bas du dos, une douleur continue et chaude.</a:t>
            </a:r>
          </a:p>
        </p:txBody>
      </p:sp>
      <p:sp>
        <p:nvSpPr>
          <p:cNvPr id="20" name="Rounded Rectangle 19"/>
          <p:cNvSpPr/>
          <p:nvPr/>
        </p:nvSpPr>
        <p:spPr>
          <a:xfrm>
            <a:off x="566928" y="4807711"/>
            <a:ext cx="11057839"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5118099"/>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5182108"/>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4</a:t>
            </a:r>
          </a:p>
        </p:txBody>
      </p:sp>
      <p:sp>
        <p:nvSpPr>
          <p:cNvPr id="23" name="TextBox 22"/>
          <p:cNvSpPr txBox="1"/>
          <p:nvPr/>
        </p:nvSpPr>
        <p:spPr>
          <a:xfrm>
            <a:off x="1344168" y="4963159"/>
            <a:ext cx="10097719"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cheville, à droite, enflée depuis hier.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Consulter au bon endroit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Décrivez la douleur en une phrase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genou, à droite, une douleur par à-coups.   </a:t>
            </a:r>
            <a:r>
              <a:rPr sz="1900" b="1" i="0">
                <a:solidFill>
                  <a:srgbClr val="07734A"/>
                </a:solidFill>
                <a:latin typeface="Verdana"/>
              </a:rPr>
              <a:t>» J'ai le genou droit qui élance.</a:t>
            </a:r>
          </a:p>
        </p:txBody>
      </p:sp>
      <p:sp>
        <p:nvSpPr>
          <p:cNvPr id="12" name="Rounded Rectangle 11"/>
          <p:cNvSpPr/>
          <p:nvPr/>
        </p:nvSpPr>
        <p:spPr>
          <a:xfrm>
            <a:off x="566928" y="2916428"/>
            <a:ext cx="11057839"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226815"/>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290823"/>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2</a:t>
            </a:r>
          </a:p>
        </p:txBody>
      </p:sp>
      <p:sp>
        <p:nvSpPr>
          <p:cNvPr id="15" name="TextBox 14"/>
          <p:cNvSpPr txBox="1"/>
          <p:nvPr/>
        </p:nvSpPr>
        <p:spPr>
          <a:xfrm>
            <a:off x="1344168" y="3071876"/>
            <a:ext cx="10097719"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L'épaule, à gauche, une douleur quand on lève le bras.   </a:t>
            </a:r>
            <a:r>
              <a:rPr sz="1900" b="1" i="0">
                <a:solidFill>
                  <a:srgbClr val="07734A"/>
                </a:solidFill>
                <a:latin typeface="Verdana"/>
              </a:rPr>
              <a:t>» Ça tire dans l'épaule gauche quand je lève le bras.</a:t>
            </a:r>
          </a:p>
        </p:txBody>
      </p:sp>
      <p:sp>
        <p:nvSpPr>
          <p:cNvPr id="16" name="Rounded Rectangle 15"/>
          <p:cNvSpPr/>
          <p:nvPr/>
        </p:nvSpPr>
        <p:spPr>
          <a:xfrm>
            <a:off x="566928" y="4030980"/>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4172458"/>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4236466"/>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3</a:t>
            </a:r>
          </a:p>
        </p:txBody>
      </p:sp>
      <p:sp>
        <p:nvSpPr>
          <p:cNvPr id="19" name="TextBox 18"/>
          <p:cNvSpPr txBox="1"/>
          <p:nvPr/>
        </p:nvSpPr>
        <p:spPr>
          <a:xfrm>
            <a:off x="1344168" y="418642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bas du dos, une douleur continue et chaude.   </a:t>
            </a:r>
            <a:r>
              <a:rPr sz="1900" b="1" i="0">
                <a:solidFill>
                  <a:srgbClr val="07734A"/>
                </a:solidFill>
                <a:latin typeface="Verdana"/>
              </a:rPr>
              <a:t>» Ça brûle dans le bas du dos.</a:t>
            </a:r>
          </a:p>
        </p:txBody>
      </p:sp>
      <p:sp>
        <p:nvSpPr>
          <p:cNvPr id="20" name="Rounded Rectangle 19"/>
          <p:cNvSpPr/>
          <p:nvPr/>
        </p:nvSpPr>
        <p:spPr>
          <a:xfrm>
            <a:off x="566928" y="4807711"/>
            <a:ext cx="11057839"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5118099"/>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5182108"/>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4</a:t>
            </a:r>
          </a:p>
        </p:txBody>
      </p:sp>
      <p:sp>
        <p:nvSpPr>
          <p:cNvPr id="23" name="TextBox 22"/>
          <p:cNvSpPr txBox="1"/>
          <p:nvPr/>
        </p:nvSpPr>
        <p:spPr>
          <a:xfrm>
            <a:off x="1344168" y="4963159"/>
            <a:ext cx="10097719"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cheville, à droite, enflée depuis hier.   </a:t>
            </a:r>
            <a:r>
              <a:rPr sz="1900" b="1" i="0">
                <a:solidFill>
                  <a:srgbClr val="07734A"/>
                </a:solidFill>
                <a:latin typeface="Verdana"/>
              </a:rPr>
              <a:t>» Ma cheville droite est enflée depuis hier.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Consulter au bon endroit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LE PIÈGE DU CORPS</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J'ai mal au pied.</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J'ai mal à la cheville droite.</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 Le pied » couvre tout, de la cheville aux orteils. Plus la zone nommée est large, plus le soignant devra chercher. Le mot précis existe en français, et c'est celui de la séance : cheville, poignet, épaule, genou.</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Consulter au bon endroit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16</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Nommez trois parties de votre corps et dites, pour chacune, comment une douleur s'y comporterait.</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Utilisez un des quatre verbes : élancer, brûler, tirer, piquer.</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Exemple : « Le bas du dos — ça tire quand je me penche. »</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Consulter au bon endroit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