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vocabulaire pur. Prévoir beaucoup d'oral : chaque mot doit sortir de la bouche des élèves, pas seulement de la vôtre.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montrer chaque partie sur soi pendant qu'on la nomme. Le geste fixe le mot bien mieux que la traduction.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cinq mots reviennent dans tout le module : « inflammation du tendon » en C1, « les ligaments sont étirés » en E1. Ne pas les sauter.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L'ouïe » et « l'odorat » sont les deux mots que personne ne connaît. Les faire répéter cinq fois chacun.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centrale de la séance. La laisser affichée pendant tout l'exercice qui suit.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mimer chacune des quatre par un élève différent. Le groupe devine le verbe avant de le lire.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Yannick dit « le genou droit » dès la première phrase du triage. Ce n'est pas un détail, c'est une habitude à prendre.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rapide, deux minutes. S'il prend plus de temps, c'est le vocabulaire des sens qui n'est pas installé : y revenir.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relie l'exercice au dialogue de A1. Faire retrouver la phrase exacte du dialogue.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Accepter toute phrase qui contient les trois éléments. La formulation exacte importe moins que la présence du côté et du verbe.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retrouver, pour chaque mot vague donné par le groupe, le mot précis correspondant. « La jambe » → le genou, la cheville, la cuisse.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billets serviront en B1 : chacun décrira sa propre douleur à l'infirmière du triage.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SÉANCE A3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corps, les sens et la douleur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Pour se faire soigner, il faut d'abord pouvoir nommer. Les parties du corps, les cinq sens, et surtout les quatre mots qui disent comment une douleur se comporte.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50 minutes  ·  Consulter au bon endroit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parties du corps utiles en consultation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associer chacun des cinq sens à son organe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le bon verbe pour dire comment la douleur se comporte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situer une douleur à droite, à gauche, en haut, en bas.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VOCABULAIRE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200" b="1" i="0">
                <a:solidFill>
                  <a:srgbClr val="17181A"/>
                </a:solidFill>
                <a:latin typeface="Verdana"/>
              </a:rPr>
              <a:t>Les parties du corps qu'on montre au médecin</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15523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genou</a:t>
            </a:r>
          </a:p>
        </p:txBody>
      </p:sp>
      <p:sp>
        <p:nvSpPr>
          <p:cNvPr id="9" name="TextBox 8"/>
          <p:cNvSpPr txBox="1"/>
          <p:nvPr/>
        </p:nvSpPr>
        <p:spPr>
          <a:xfrm>
            <a:off x="2759392" y="2121408"/>
            <a:ext cx="849961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L'articulation au milieu de la jambe.</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15523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cheville</a:t>
            </a:r>
          </a:p>
        </p:txBody>
      </p:sp>
      <p:sp>
        <p:nvSpPr>
          <p:cNvPr id="12" name="TextBox 11"/>
          <p:cNvSpPr txBox="1"/>
          <p:nvPr/>
        </p:nvSpPr>
        <p:spPr>
          <a:xfrm>
            <a:off x="2759392" y="2778252"/>
            <a:ext cx="849961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L'articulation entre la jambe et le pied.</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15523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poignet</a:t>
            </a:r>
          </a:p>
        </p:txBody>
      </p:sp>
      <p:sp>
        <p:nvSpPr>
          <p:cNvPr id="15" name="TextBox 14"/>
          <p:cNvSpPr txBox="1"/>
          <p:nvPr/>
        </p:nvSpPr>
        <p:spPr>
          <a:xfrm>
            <a:off x="2759392" y="3435096"/>
            <a:ext cx="849961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L'articulation entre le bras et la main.</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15523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l'épaule</a:t>
            </a:r>
          </a:p>
        </p:txBody>
      </p:sp>
      <p:sp>
        <p:nvSpPr>
          <p:cNvPr id="18" name="TextBox 17"/>
          <p:cNvSpPr txBox="1"/>
          <p:nvPr/>
        </p:nvSpPr>
        <p:spPr>
          <a:xfrm>
            <a:off x="2759392" y="4091939"/>
            <a:ext cx="849961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haut du bras, là où il s'attache au corps.</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15523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dos</a:t>
            </a:r>
          </a:p>
        </p:txBody>
      </p:sp>
      <p:sp>
        <p:nvSpPr>
          <p:cNvPr id="21" name="TextBox 20"/>
          <p:cNvSpPr txBox="1"/>
          <p:nvPr/>
        </p:nvSpPr>
        <p:spPr>
          <a:xfrm>
            <a:off x="2759392" y="4748784"/>
            <a:ext cx="849961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L'arrière du corps, de la nuque aux hanches.</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155238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poitrine</a:t>
            </a:r>
          </a:p>
        </p:txBody>
      </p:sp>
      <p:sp>
        <p:nvSpPr>
          <p:cNvPr id="24" name="TextBox 23"/>
          <p:cNvSpPr txBox="1"/>
          <p:nvPr/>
        </p:nvSpPr>
        <p:spPr>
          <a:xfrm>
            <a:off x="2759392" y="5405628"/>
            <a:ext cx="849961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L'avant du haut du corps, où sont le cœur et les poumons.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VOCABULAIRE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qu'il y a sous la peau</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326386"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muscle</a:t>
            </a:r>
          </a:p>
        </p:txBody>
      </p:sp>
      <p:sp>
        <p:nvSpPr>
          <p:cNvPr id="9" name="TextBox 8"/>
          <p:cNvSpPr txBox="1"/>
          <p:nvPr/>
        </p:nvSpPr>
        <p:spPr>
          <a:xfrm>
            <a:off x="3533394" y="2121408"/>
            <a:ext cx="7725613"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qui se contracte pour faire bouger le corps.</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2326386"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tendon</a:t>
            </a:r>
          </a:p>
        </p:txBody>
      </p:sp>
      <p:sp>
        <p:nvSpPr>
          <p:cNvPr id="12" name="TextBox 11"/>
          <p:cNvSpPr txBox="1"/>
          <p:nvPr/>
        </p:nvSpPr>
        <p:spPr>
          <a:xfrm>
            <a:off x="3533394" y="2909620"/>
            <a:ext cx="7725613"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partie qui attache un muscle à un os.</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2326386"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os</a:t>
            </a:r>
          </a:p>
        </p:txBody>
      </p:sp>
      <p:sp>
        <p:nvSpPr>
          <p:cNvPr id="15" name="TextBox 14"/>
          <p:cNvSpPr txBox="1"/>
          <p:nvPr/>
        </p:nvSpPr>
        <p:spPr>
          <a:xfrm>
            <a:off x="3533394" y="3697833"/>
            <a:ext cx="7725613"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partie dure du squelette.</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2326386"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articulation</a:t>
            </a:r>
          </a:p>
        </p:txBody>
      </p:sp>
      <p:sp>
        <p:nvSpPr>
          <p:cNvPr id="18" name="TextBox 17"/>
          <p:cNvSpPr txBox="1"/>
          <p:nvPr/>
        </p:nvSpPr>
        <p:spPr>
          <a:xfrm>
            <a:off x="3533394" y="4486046"/>
            <a:ext cx="7725613"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L'endroit où deux os se rejoignent et se plient.</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2326386"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ligament</a:t>
            </a:r>
          </a:p>
        </p:txBody>
      </p:sp>
      <p:sp>
        <p:nvSpPr>
          <p:cNvPr id="21" name="TextBox 20"/>
          <p:cNvSpPr txBox="1"/>
          <p:nvPr/>
        </p:nvSpPr>
        <p:spPr>
          <a:xfrm>
            <a:off x="3533394" y="5274259"/>
            <a:ext cx="7725613"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qui tient deux os ensemble à une articulation.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sens et leur organe</a:t>
            </a:r>
          </a:p>
        </p:txBody>
      </p:sp>
      <p:sp>
        <p:nvSpPr>
          <p:cNvPr id="7" name="Rounded Rectangle 6"/>
          <p:cNvSpPr/>
          <p:nvPr/>
        </p:nvSpPr>
        <p:spPr>
          <a:xfrm>
            <a:off x="566928" y="1810512"/>
            <a:ext cx="11057839" cy="3002280"/>
          </a:xfrm>
          <a:prstGeom prst="roundRect">
            <a:avLst>
              <a:gd name="adj" fmla="val 48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SENS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L'ORGANE</a:t>
            </a:r>
          </a:p>
        </p:txBody>
      </p:sp>
      <p:sp>
        <p:nvSpPr>
          <p:cNvPr id="10" name="TextBox 9"/>
          <p:cNvSpPr txBox="1"/>
          <p:nvPr/>
        </p:nvSpPr>
        <p:spPr>
          <a:xfrm>
            <a:off x="932688" y="2395728"/>
            <a:ext cx="3291492" cy="271271"/>
          </a:xfrm>
          <a:prstGeom prst="rect">
            <a:avLst/>
          </a:prstGeom>
          <a:noFill/>
        </p:spPr>
        <p:txBody>
          <a:bodyPr wrap="square" lIns="0" rIns="0" tIns="0" bIns="0" anchor="t">
            <a:spAutoFit/>
          </a:bodyPr>
          <a:lstStyle/>
          <a:p>
            <a:pPr algn="l">
              <a:lnSpc>
                <a:spcPct val="132000"/>
              </a:lnSpc>
            </a:pPr>
            <a:r>
              <a:rPr sz="1400" b="1" i="0">
                <a:solidFill>
                  <a:srgbClr val="166534"/>
                </a:solidFill>
                <a:latin typeface="Verdana"/>
              </a:rPr>
              <a:t>la vue</a:t>
            </a:r>
          </a:p>
        </p:txBody>
      </p:sp>
      <p:sp>
        <p:nvSpPr>
          <p:cNvPr id="11" name="TextBox 10"/>
          <p:cNvSpPr txBox="1"/>
          <p:nvPr/>
        </p:nvSpPr>
        <p:spPr>
          <a:xfrm>
            <a:off x="4443636" y="2395728"/>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les yeux</a:t>
            </a:r>
          </a:p>
        </p:txBody>
      </p:sp>
      <p:sp>
        <p:nvSpPr>
          <p:cNvPr id="12" name="Rectangle 11"/>
          <p:cNvSpPr/>
          <p:nvPr/>
        </p:nvSpPr>
        <p:spPr>
          <a:xfrm>
            <a:off x="932688" y="27401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868168"/>
            <a:ext cx="3291492" cy="271271"/>
          </a:xfrm>
          <a:prstGeom prst="rect">
            <a:avLst/>
          </a:prstGeom>
          <a:noFill/>
        </p:spPr>
        <p:txBody>
          <a:bodyPr wrap="square" lIns="0" rIns="0" tIns="0" bIns="0" anchor="t">
            <a:spAutoFit/>
          </a:bodyPr>
          <a:lstStyle/>
          <a:p>
            <a:pPr algn="l">
              <a:lnSpc>
                <a:spcPct val="132000"/>
              </a:lnSpc>
            </a:pPr>
            <a:r>
              <a:rPr sz="1400" b="1" i="0">
                <a:solidFill>
                  <a:srgbClr val="166534"/>
                </a:solidFill>
                <a:latin typeface="Verdana"/>
              </a:rPr>
              <a:t>l'ouïe</a:t>
            </a:r>
          </a:p>
        </p:txBody>
      </p:sp>
      <p:sp>
        <p:nvSpPr>
          <p:cNvPr id="14" name="TextBox 13"/>
          <p:cNvSpPr txBox="1"/>
          <p:nvPr/>
        </p:nvSpPr>
        <p:spPr>
          <a:xfrm>
            <a:off x="4443636" y="2868168"/>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les oreilles</a:t>
            </a:r>
          </a:p>
        </p:txBody>
      </p:sp>
      <p:sp>
        <p:nvSpPr>
          <p:cNvPr id="15" name="Rectangle 14"/>
          <p:cNvSpPr/>
          <p:nvPr/>
        </p:nvSpPr>
        <p:spPr>
          <a:xfrm>
            <a:off x="932688" y="32125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340608"/>
            <a:ext cx="3291492" cy="271271"/>
          </a:xfrm>
          <a:prstGeom prst="rect">
            <a:avLst/>
          </a:prstGeom>
          <a:noFill/>
        </p:spPr>
        <p:txBody>
          <a:bodyPr wrap="square" lIns="0" rIns="0" tIns="0" bIns="0" anchor="t">
            <a:spAutoFit/>
          </a:bodyPr>
          <a:lstStyle/>
          <a:p>
            <a:pPr algn="l">
              <a:lnSpc>
                <a:spcPct val="132000"/>
              </a:lnSpc>
            </a:pPr>
            <a:r>
              <a:rPr sz="1400" b="1" i="0">
                <a:solidFill>
                  <a:srgbClr val="166534"/>
                </a:solidFill>
                <a:latin typeface="Verdana"/>
              </a:rPr>
              <a:t>l'odorat</a:t>
            </a:r>
          </a:p>
        </p:txBody>
      </p:sp>
      <p:sp>
        <p:nvSpPr>
          <p:cNvPr id="17" name="TextBox 16"/>
          <p:cNvSpPr txBox="1"/>
          <p:nvPr/>
        </p:nvSpPr>
        <p:spPr>
          <a:xfrm>
            <a:off x="4443636" y="3340608"/>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le nez</a:t>
            </a:r>
          </a:p>
        </p:txBody>
      </p:sp>
      <p:sp>
        <p:nvSpPr>
          <p:cNvPr id="18" name="Rectangle 17"/>
          <p:cNvSpPr/>
          <p:nvPr/>
        </p:nvSpPr>
        <p:spPr>
          <a:xfrm>
            <a:off x="932688" y="368503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813047"/>
            <a:ext cx="3291492" cy="271271"/>
          </a:xfrm>
          <a:prstGeom prst="rect">
            <a:avLst/>
          </a:prstGeom>
          <a:noFill/>
        </p:spPr>
        <p:txBody>
          <a:bodyPr wrap="square" lIns="0" rIns="0" tIns="0" bIns="0" anchor="t">
            <a:spAutoFit/>
          </a:bodyPr>
          <a:lstStyle/>
          <a:p>
            <a:pPr algn="l">
              <a:lnSpc>
                <a:spcPct val="132000"/>
              </a:lnSpc>
            </a:pPr>
            <a:r>
              <a:rPr sz="1400" b="1" i="0">
                <a:solidFill>
                  <a:srgbClr val="166534"/>
                </a:solidFill>
                <a:latin typeface="Verdana"/>
              </a:rPr>
              <a:t>le goût</a:t>
            </a:r>
          </a:p>
        </p:txBody>
      </p:sp>
      <p:sp>
        <p:nvSpPr>
          <p:cNvPr id="20" name="TextBox 19"/>
          <p:cNvSpPr txBox="1"/>
          <p:nvPr/>
        </p:nvSpPr>
        <p:spPr>
          <a:xfrm>
            <a:off x="4443636" y="3813047"/>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la langue</a:t>
            </a:r>
          </a:p>
        </p:txBody>
      </p:sp>
      <p:sp>
        <p:nvSpPr>
          <p:cNvPr id="21" name="Rectangle 20"/>
          <p:cNvSpPr/>
          <p:nvPr/>
        </p:nvSpPr>
        <p:spPr>
          <a:xfrm>
            <a:off x="932688" y="415747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285487"/>
            <a:ext cx="3291492" cy="271271"/>
          </a:xfrm>
          <a:prstGeom prst="rect">
            <a:avLst/>
          </a:prstGeom>
          <a:noFill/>
        </p:spPr>
        <p:txBody>
          <a:bodyPr wrap="square" lIns="0" rIns="0" tIns="0" bIns="0" anchor="t">
            <a:spAutoFit/>
          </a:bodyPr>
          <a:lstStyle/>
          <a:p>
            <a:pPr algn="l">
              <a:lnSpc>
                <a:spcPct val="132000"/>
              </a:lnSpc>
            </a:pPr>
            <a:r>
              <a:rPr sz="1400" b="1" i="0">
                <a:solidFill>
                  <a:srgbClr val="166534"/>
                </a:solidFill>
                <a:latin typeface="Verdana"/>
              </a:rPr>
              <a:t>le toucher</a:t>
            </a:r>
          </a:p>
        </p:txBody>
      </p:sp>
      <p:sp>
        <p:nvSpPr>
          <p:cNvPr id="23" name="TextBox 22"/>
          <p:cNvSpPr txBox="1"/>
          <p:nvPr/>
        </p:nvSpPr>
        <p:spPr>
          <a:xfrm>
            <a:off x="4443636" y="4285487"/>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la peau</a:t>
            </a:r>
          </a:p>
        </p:txBody>
      </p:sp>
      <p:sp>
        <p:nvSpPr>
          <p:cNvPr id="24" name="Rounded Rectangle 23"/>
          <p:cNvSpPr/>
          <p:nvPr/>
        </p:nvSpPr>
        <p:spPr>
          <a:xfrm>
            <a:off x="566928" y="5050536"/>
            <a:ext cx="11057839" cy="1027684"/>
          </a:xfrm>
          <a:prstGeom prst="roundRect">
            <a:avLst>
              <a:gd name="adj" fmla="val 14236"/>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306568"/>
            <a:ext cx="10234879" cy="57048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Les noms des sens sont difficiles ; les organes sont connus. On part donc de l'organe pour retrouver le sens, pas l'inverse.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LE MOT CLÉ DE LA SÉANCE</a:t>
            </a:r>
          </a:p>
        </p:txBody>
      </p:sp>
      <p:sp>
        <p:nvSpPr>
          <p:cNvPr id="6" name="Rounded Rectangle 5"/>
          <p:cNvSpPr/>
          <p:nvPr/>
        </p:nvSpPr>
        <p:spPr>
          <a:xfrm>
            <a:off x="566928" y="1225296"/>
            <a:ext cx="11057839" cy="2494788"/>
          </a:xfrm>
          <a:prstGeom prst="roundRect">
            <a:avLst>
              <a:gd name="adj" fmla="val 5864"/>
            </a:avLst>
          </a:prstGeom>
          <a:solidFill>
            <a:srgbClr val="E3F1E7"/>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douleur ne fait pas seulement « mal » : elle élance, elle brûle, elle tire ou elle pique.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verbe que vous choisissez oriente le diagnostic. Une douleur qui élance et une douleur qui brûle ne viennent pas du même problème, et le médecin le sait avant même de vous examiner.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300" b="1" i="0">
                <a:solidFill>
                  <a:srgbClr val="17181A"/>
                </a:solidFill>
                <a:latin typeface="Verdana"/>
              </a:rPr>
              <a:t>Quatre façons dont une douleur se comporte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66534"/>
                </a:solidFill>
                <a:latin typeface="Verdana"/>
              </a:rPr>
              <a:t>Ça élance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Une douleur vive qui revient par à-coups, comme des vagues. C'est celle de Yannick : « ça élance dès que je plie la jambe ».</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66534"/>
                </a:solidFill>
                <a:latin typeface="Verdana"/>
              </a:rPr>
              <a:t>Ça brûle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Une douleur chaude et continue, comme une brûlure. Souvent la peau, un nerf, ou l'estomac.</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66534"/>
                </a:solidFill>
                <a:latin typeface="Verdana"/>
              </a:rPr>
              <a:t>Ça tire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Une douleur d'étirement quand on bouge dans une direction. Souvent un muscle ou un tendon.</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66534"/>
                </a:solidFill>
                <a:latin typeface="Verdana"/>
              </a:rPr>
              <a:t>Ça pique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Une douleur fine et courte, comme une aiguille. Souvent la peau ou une piqûre.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Situer la douleur en trois mots</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PRÉCISE</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LES MOTS</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côté</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droit, gauche</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genou droit</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hauteur</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en haut, en bas</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bas du dos</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face</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devant, derrière</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derrière la cuisse</a:t>
            </a:r>
          </a:p>
        </p:txBody>
      </p:sp>
      <p:sp>
        <p:nvSpPr>
          <p:cNvPr id="22" name="Rounded Rectangle 21"/>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Sans le côté, le soignant doit examiner les deux. Dites-le toujours.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PRATIQUE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sens et son organe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Reliez chaque sens à la partie du corps qui lui correspond.</a:t>
            </a:r>
          </a:p>
        </p:txBody>
      </p:sp>
      <p:sp>
        <p:nvSpPr>
          <p:cNvPr id="8" name="Rounded Rectangle 7"/>
          <p:cNvSpPr/>
          <p:nvPr/>
        </p:nvSpPr>
        <p:spPr>
          <a:xfrm>
            <a:off x="566928" y="2139696"/>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vue</a:t>
            </a:r>
          </a:p>
        </p:txBody>
      </p:sp>
      <p:sp>
        <p:nvSpPr>
          <p:cNvPr id="12" name="Rounded Rectangle 11"/>
          <p:cNvSpPr/>
          <p:nvPr/>
        </p:nvSpPr>
        <p:spPr>
          <a:xfrm>
            <a:off x="6159855" y="2139696"/>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6937095"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l'ouïe</a:t>
            </a:r>
          </a:p>
        </p:txBody>
      </p:sp>
      <p:sp>
        <p:nvSpPr>
          <p:cNvPr id="16" name="Rounded Rectangle 15"/>
          <p:cNvSpPr/>
          <p:nvPr/>
        </p:nvSpPr>
        <p:spPr>
          <a:xfrm>
            <a:off x="566928" y="2916428"/>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l'odorat</a:t>
            </a:r>
          </a:p>
        </p:txBody>
      </p:sp>
      <p:sp>
        <p:nvSpPr>
          <p:cNvPr id="20" name="Rounded Rectangle 19"/>
          <p:cNvSpPr/>
          <p:nvPr/>
        </p:nvSpPr>
        <p:spPr>
          <a:xfrm>
            <a:off x="6159855" y="2916428"/>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6937095"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goût</a:t>
            </a:r>
          </a:p>
        </p:txBody>
      </p:sp>
      <p:sp>
        <p:nvSpPr>
          <p:cNvPr id="24" name="Rounded Rectangle 23"/>
          <p:cNvSpPr/>
          <p:nvPr/>
        </p:nvSpPr>
        <p:spPr>
          <a:xfrm>
            <a:off x="566928" y="3693160"/>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383463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toucher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sens et son organe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vue   </a:t>
            </a:r>
            <a:r>
              <a:rPr sz="1900" b="1" i="0">
                <a:solidFill>
                  <a:srgbClr val="07734A"/>
                </a:solidFill>
                <a:latin typeface="Verdana"/>
              </a:rPr>
              <a:t>» les yeux</a:t>
            </a:r>
          </a:p>
        </p:txBody>
      </p:sp>
      <p:sp>
        <p:nvSpPr>
          <p:cNvPr id="12" name="Rounded Rectangle 11"/>
          <p:cNvSpPr/>
          <p:nvPr/>
        </p:nvSpPr>
        <p:spPr>
          <a:xfrm>
            <a:off x="6159855" y="2139696"/>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6937095"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l'ouïe   </a:t>
            </a:r>
            <a:r>
              <a:rPr sz="1900" b="1" i="0">
                <a:solidFill>
                  <a:srgbClr val="07734A"/>
                </a:solidFill>
                <a:latin typeface="Verdana"/>
              </a:rPr>
              <a:t>» les oreilles</a:t>
            </a:r>
          </a:p>
        </p:txBody>
      </p:sp>
      <p:sp>
        <p:nvSpPr>
          <p:cNvPr id="16" name="Rounded Rectangle 15"/>
          <p:cNvSpPr/>
          <p:nvPr/>
        </p:nvSpPr>
        <p:spPr>
          <a:xfrm>
            <a:off x="566928" y="2916428"/>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l'odorat   </a:t>
            </a:r>
            <a:r>
              <a:rPr sz="1900" b="1" i="0">
                <a:solidFill>
                  <a:srgbClr val="07734A"/>
                </a:solidFill>
                <a:latin typeface="Verdana"/>
              </a:rPr>
              <a:t>» le nez</a:t>
            </a:r>
          </a:p>
        </p:txBody>
      </p:sp>
      <p:sp>
        <p:nvSpPr>
          <p:cNvPr id="20" name="Rounded Rectangle 19"/>
          <p:cNvSpPr/>
          <p:nvPr/>
        </p:nvSpPr>
        <p:spPr>
          <a:xfrm>
            <a:off x="6159855" y="2916428"/>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6937095"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goût   </a:t>
            </a:r>
            <a:r>
              <a:rPr sz="1900" b="1" i="0">
                <a:solidFill>
                  <a:srgbClr val="07734A"/>
                </a:solidFill>
                <a:latin typeface="Verdana"/>
              </a:rPr>
              <a:t>» la langue</a:t>
            </a:r>
          </a:p>
        </p:txBody>
      </p:sp>
      <p:sp>
        <p:nvSpPr>
          <p:cNvPr id="24" name="Rounded Rectangle 23"/>
          <p:cNvSpPr/>
          <p:nvPr/>
        </p:nvSpPr>
        <p:spPr>
          <a:xfrm>
            <a:off x="566928" y="3693160"/>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383463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toucher   </a:t>
            </a:r>
            <a:r>
              <a:rPr sz="1900" b="1" i="0">
                <a:solidFill>
                  <a:srgbClr val="07734A"/>
                </a:solidFill>
                <a:latin typeface="Verdana"/>
              </a:rPr>
              <a:t>» la peau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PRATIQUE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verbe pour quelle douleur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Choisissez : élancer, brûler, tirer ou piquer.</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douleur vive qui revient par à-coups.</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sensation de chaleur continue sur la peau.</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douleur quand on étire le muscle.</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douleur fine, comme une aiguille.</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genou de Yannick quand il plie la jambe.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verbe pour quelle douleur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douleur vive qui revient par à-coups.   </a:t>
            </a:r>
            <a:r>
              <a:rPr sz="1900" b="1" i="0">
                <a:solidFill>
                  <a:srgbClr val="07734A"/>
                </a:solidFill>
                <a:latin typeface="Verdana"/>
              </a:rPr>
              <a:t>» ça élance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sensation de chaleur continue sur la peau.   </a:t>
            </a:r>
            <a:r>
              <a:rPr sz="1900" b="1" i="0">
                <a:solidFill>
                  <a:srgbClr val="07734A"/>
                </a:solidFill>
                <a:latin typeface="Verdana"/>
              </a:rPr>
              <a:t>» ça brûle</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douleur quand on étire le muscle.   </a:t>
            </a:r>
            <a:r>
              <a:rPr sz="1900" b="1" i="0">
                <a:solidFill>
                  <a:srgbClr val="07734A"/>
                </a:solidFill>
                <a:latin typeface="Verdana"/>
              </a:rPr>
              <a:t>» ça tire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douleur fine, comme une aiguille.   </a:t>
            </a:r>
            <a:r>
              <a:rPr sz="1900" b="1" i="0">
                <a:solidFill>
                  <a:srgbClr val="07734A"/>
                </a:solidFill>
                <a:latin typeface="Verdana"/>
              </a:rPr>
              <a:t>» ça pique</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genou de Yannick quand il plie la jambe.   </a:t>
            </a:r>
            <a:r>
              <a:rPr sz="1900" b="1" i="0">
                <a:solidFill>
                  <a:srgbClr val="07734A"/>
                </a:solidFill>
                <a:latin typeface="Verdana"/>
              </a:rPr>
              <a:t>» ça élance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PRATIQUE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Décrivez la douleur en une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Utilisez : la partie du corps, le côté, le verbe de douleur.</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genou, à droite, une douleur par à-coups.</a:t>
            </a:r>
          </a:p>
        </p:txBody>
      </p:sp>
      <p:sp>
        <p:nvSpPr>
          <p:cNvPr id="12" name="Rounded Rectangle 11"/>
          <p:cNvSpPr/>
          <p:nvPr/>
        </p:nvSpPr>
        <p:spPr>
          <a:xfrm>
            <a:off x="566928" y="2916428"/>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L'épaule, à gauche, une douleur quand on lève le bras.</a:t>
            </a:r>
          </a:p>
        </p:txBody>
      </p:sp>
      <p:sp>
        <p:nvSpPr>
          <p:cNvPr id="16" name="Rounded Rectangle 15"/>
          <p:cNvSpPr/>
          <p:nvPr/>
        </p:nvSpPr>
        <p:spPr>
          <a:xfrm>
            <a:off x="566928" y="403098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7245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3646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418642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bas du dos, une douleur continue et chaude.</a:t>
            </a:r>
          </a:p>
        </p:txBody>
      </p:sp>
      <p:sp>
        <p:nvSpPr>
          <p:cNvPr id="20" name="Rounded Rectangle 19"/>
          <p:cNvSpPr/>
          <p:nvPr/>
        </p:nvSpPr>
        <p:spPr>
          <a:xfrm>
            <a:off x="566928" y="4807711"/>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cheville, à droite, enflée depuis hier.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Décrivez la douleur en une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genou, à droite, une douleur par à-coups.   </a:t>
            </a:r>
            <a:r>
              <a:rPr sz="1900" b="1" i="0">
                <a:solidFill>
                  <a:srgbClr val="07734A"/>
                </a:solidFill>
                <a:latin typeface="Verdana"/>
              </a:rPr>
              <a:t>» J'ai le genou droit qui élance.</a:t>
            </a:r>
          </a:p>
        </p:txBody>
      </p:sp>
      <p:sp>
        <p:nvSpPr>
          <p:cNvPr id="12" name="Rounded Rectangle 11"/>
          <p:cNvSpPr/>
          <p:nvPr/>
        </p:nvSpPr>
        <p:spPr>
          <a:xfrm>
            <a:off x="566928" y="2916428"/>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L'épaule, à gauche, une douleur quand on lève le bras.   </a:t>
            </a:r>
            <a:r>
              <a:rPr sz="1900" b="1" i="0">
                <a:solidFill>
                  <a:srgbClr val="07734A"/>
                </a:solidFill>
                <a:latin typeface="Verdana"/>
              </a:rPr>
              <a:t>» Ça tire dans l'épaule gauche quand je lève le bras.</a:t>
            </a:r>
          </a:p>
        </p:txBody>
      </p:sp>
      <p:sp>
        <p:nvSpPr>
          <p:cNvPr id="16" name="Rounded Rectangle 15"/>
          <p:cNvSpPr/>
          <p:nvPr/>
        </p:nvSpPr>
        <p:spPr>
          <a:xfrm>
            <a:off x="566928" y="403098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7245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3646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418642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bas du dos, une douleur continue et chaude.   </a:t>
            </a:r>
            <a:r>
              <a:rPr sz="1900" b="1" i="0">
                <a:solidFill>
                  <a:srgbClr val="07734A"/>
                </a:solidFill>
                <a:latin typeface="Verdana"/>
              </a:rPr>
              <a:t>» Ça brûle dans le bas du dos.</a:t>
            </a:r>
          </a:p>
        </p:txBody>
      </p:sp>
      <p:sp>
        <p:nvSpPr>
          <p:cNvPr id="20" name="Rounded Rectangle 19"/>
          <p:cNvSpPr/>
          <p:nvPr/>
        </p:nvSpPr>
        <p:spPr>
          <a:xfrm>
            <a:off x="566928" y="4807711"/>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cheville, à droite, enflée depuis hier.   </a:t>
            </a:r>
            <a:r>
              <a:rPr sz="1900" b="1" i="0">
                <a:solidFill>
                  <a:srgbClr val="07734A"/>
                </a:solidFill>
                <a:latin typeface="Verdana"/>
              </a:rPr>
              <a:t>» Ma cheville droite est enflée depuis hier.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LE PIÈGE DU CORPS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J'ai mal au pied.</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J'ai mal à la cheville droite.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Le pied » couvre tout, de la cheville aux orteils. Plus la zone nommée est large, plus le soignant devra chercher. Le mot précis existe en français, et c'est celui de la séance : cheville, poignet, épaule, genou.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Nommez trois parties de votre corps et dites, pour chacune, comment une douleur s'y comporterait.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Utilisez un des quatre verbes : élancer, brûler, tirer, piquer.</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Le bas du dos — ça tire quand je me penche.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Consulter au bon endroit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