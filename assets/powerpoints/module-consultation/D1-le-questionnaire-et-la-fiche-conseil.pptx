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Ouverture du défi 3. Demander qui a déjà eu à remplir un formulaire de santé en français. Les difficultés nommées par le groupe orientent la séance.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les objectifs à voix haute. Y revenir au billet de sortie.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C'est le point de la séance : on n'écrit pas « Je travaille dans un entrepôt », on écrit « Manutentionnaire dans un entrepôt 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Cette règle est l'inverse de celle des exercices oraux du module. Le dire explicitement, sinon les élèves croient s'être trompés avant.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quatrième carte est un conseil pratique à donner en toutes lettres : photographier ses boîtes de médicaments. Beaucoup le feront le soir même.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chercher les cinq rubriques dans la fiche sur l'entorse, en E1 : elles y sont, dans le même ordre.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relire cette rubrique deux fois. C'est le seul endroit de la fiche qui parle de danger.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uniquement la forme : est-ce un groupe de mots ou une phrase ? Le contenu appartient à chacun.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quatrième est celle qui compte : c'est un geste de sécurité au travail, pas seulement une réponse d'exercice. Le faire mimer correctement.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Relier au travail : une douleur ignorée devient un arrêt de travail long. C'est un argument qui porte auprès d'un groupe d'adultes.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remarquer le contraste avec le premier exercice : même information, deux formes d'écriture. C'est la compétence de la séance.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Les meilleures fiches peuvent être affichées en classe. C'est un exercice d'écriture fonctionnelle qui donne un résultat utile.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SÉANCE D1  ·  MODULE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Le questionnaire et la fiche-conseil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763268"/>
          </a:xfrm>
          <a:prstGeom prst="roundRect">
            <a:avLst>
              <a:gd name="adj" fmla="val 829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Avant la physiothérapie, Yannick doit remplir un formulaire et lire une fiche. Deux documents écrits qu'on remplit seul, sans personne pour expliquer les mots.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75 minutes  ·  Consulter au bon endroit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D1 · Consulter au bon endroit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comprendre les rubriques d'un questionnaire de santé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y répondre brièvement, sans phrase complète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lire une fiche-conseil et en tirer les gestes à faire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reconnaître quand une fiche dit de consulter.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D1 · Consulter au bon endroit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Les cinq rubriques du questionnaire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3002280"/>
          </a:xfrm>
          <a:prstGeom prst="roundRect">
            <a:avLst>
              <a:gd name="adj" fmla="val 487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LA RUBRIQUE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LA RÉPONSE DE YANNICK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2712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400" b="1" i="0">
                <a:solidFill>
                  <a:srgbClr val="0D7A6F"/>
                </a:solidFill>
                <a:latin typeface="Verdana"/>
              </a:rPr>
              <a:t>Motif de la consultation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2712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Douleur et enflure au genou droit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740152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868168"/>
            <a:ext cx="3291492" cy="2712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400" b="1" i="0">
                <a:solidFill>
                  <a:srgbClr val="0D7A6F"/>
                </a:solidFill>
                <a:latin typeface="Verdana"/>
              </a:rPr>
              <a:t>Depuis combien de temps 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868168"/>
            <a:ext cx="6595914" cy="2712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Depuis la nuit dernière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212592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340608"/>
            <a:ext cx="3291492" cy="2712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400" b="1" i="0">
                <a:solidFill>
                  <a:srgbClr val="0D7A6F"/>
                </a:solidFill>
                <a:latin typeface="Verdana"/>
              </a:rPr>
              <a:t>Allergies connues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340608"/>
            <a:ext cx="6595914" cy="2712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Aucune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685031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3813047"/>
            <a:ext cx="3291492" cy="2712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400" b="1" i="0">
                <a:solidFill>
                  <a:srgbClr val="0D7A6F"/>
                </a:solidFill>
                <a:latin typeface="Verdana"/>
              </a:rPr>
              <a:t>Médicaments pris actuellement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43636" y="3813047"/>
            <a:ext cx="6595914" cy="2712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Un anti-inflammatoire, au besoin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32688" y="4157471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32688" y="4285487"/>
            <a:ext cx="3291492" cy="2712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400" b="1" i="0">
                <a:solidFill>
                  <a:srgbClr val="0D7A6F"/>
                </a:solidFill>
                <a:latin typeface="Verdana"/>
              </a:rPr>
              <a:t>Occupation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43636" y="4285487"/>
            <a:ext cx="6595914" cy="2712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Manutentionnaire dans un entrepôt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050536"/>
            <a:ext cx="11057839" cy="769874"/>
          </a:xfrm>
          <a:prstGeom prst="roundRect">
            <a:avLst>
              <a:gd name="adj" fmla="val 19003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969264" y="5306568"/>
            <a:ext cx="10234879" cy="3126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4B4F52"/>
                </a:solidFill>
                <a:latin typeface="Verdana"/>
              </a:rPr>
              <a:t>Aucune réponse n'est une phrase complète. Un formulaire se remplit en groupes de mots.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D1 · Consulter au bon endroit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LA RÈGLE DU FORMULAIRE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967991"/>
          </a:xfrm>
          <a:prstGeom prst="roundRect">
            <a:avLst>
              <a:gd name="adj" fmla="val 7434"/>
            </a:avLst>
          </a:prstGeom>
          <a:solidFill>
            <a:srgbClr val="DCF2E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145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On répond par un groupe de mots, jamais par une phrase.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467607"/>
            <a:ext cx="11057839" cy="1671827"/>
          </a:xfrm>
          <a:prstGeom prst="roundRect">
            <a:avLst>
              <a:gd name="adj" fmla="val 875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741927"/>
            <a:ext cx="10234879" cy="12146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Motif : douleur au genou droit. Pas : « Je viens parce que j'ai mal au genou droit. » Le formulaire est lu vite, par quelqu'un qui cherche une information précise à un endroit précis.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D1 · Consulter au bon endroit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EN APPRENDRE PLUS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Quatre pièges des formulaires de santé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86968" y="2084831"/>
            <a:ext cx="4806543" cy="6568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100" b="1" i="0">
                <a:solidFill>
                  <a:srgbClr val="0D7A6F"/>
                </a:solidFill>
                <a:latin typeface="Verdana"/>
              </a:rPr>
              <a:t>« Aucune » plutôt que le vide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769108"/>
            <a:ext cx="4806543" cy="819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Une case laissée vide veut dire « je n'ai pas lu ». Écrivez « aucune » ou « non » : c'est une réponse, et elle compte.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8143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98183" y="2084831"/>
            <a:ext cx="4806543" cy="6568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100" b="1" i="0">
                <a:solidFill>
                  <a:srgbClr val="0D7A6F"/>
                </a:solidFill>
                <a:latin typeface="Verdana"/>
              </a:rPr>
              <a:t>Les allergies : tout compte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8183" y="2769108"/>
            <a:ext cx="4806543" cy="819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Médicaments, aliments, latex, piqûres. Une allergie oubliée ici peut causer une réaction grave pendant un soin.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86968" y="4302252"/>
            <a:ext cx="4806543" cy="6568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100" b="1" i="0">
                <a:solidFill>
                  <a:srgbClr val="0D7A6F"/>
                </a:solidFill>
                <a:latin typeface="Verdana"/>
              </a:rPr>
              <a:t>« Occupation » veut dire métier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4986528"/>
            <a:ext cx="4806543" cy="819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Ce n'est pas un loisir. Pour un problème musculaire, c'est souvent l'information la plus utile du formulaire.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8143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498183" y="4302252"/>
            <a:ext cx="4806543" cy="6568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100" b="1" i="0">
                <a:solidFill>
                  <a:srgbClr val="0D7A6F"/>
                </a:solidFill>
                <a:latin typeface="Verdana"/>
              </a:rPr>
              <a:t>Les médicaments : donnez le nom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8183" y="4986528"/>
            <a:ext cx="4806543" cy="819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« Des pilules pour la pression » ne suffit pas. Prenez une photo de vos boîtes avec votre téléphone : c'est la solution la plus simple.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D1 · Consulter au bon endroit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La fiche-conseil sur la tendinite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3002280"/>
          </a:xfrm>
          <a:prstGeom prst="roundRect">
            <a:avLst>
              <a:gd name="adj" fmla="val 487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LA RUBRIQUE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CE QU'ELLE DIT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2712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400" b="1" i="0">
                <a:solidFill>
                  <a:srgbClr val="0D7A6F"/>
                </a:solidFill>
                <a:latin typeface="Verdana"/>
              </a:rPr>
              <a:t>Ce que c'est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2712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une irritation du tendon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740152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868168"/>
            <a:ext cx="3291492" cy="2712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400" b="1" i="0">
                <a:solidFill>
                  <a:srgbClr val="0D7A6F"/>
                </a:solidFill>
                <a:latin typeface="Verdana"/>
              </a:rPr>
              <a:t>Les signes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868168"/>
            <a:ext cx="6595914" cy="2712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douleur qui élance, enflure, raideur le matin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212592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340608"/>
            <a:ext cx="3291492" cy="2712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400" b="1" i="0">
                <a:solidFill>
                  <a:srgbClr val="0D7A6F"/>
                </a:solidFill>
                <a:latin typeface="Verdana"/>
              </a:rPr>
              <a:t>Pour soulager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340608"/>
            <a:ext cx="6595914" cy="2712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glace 20 minutes, 3 fois par jour, repos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685031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3813047"/>
            <a:ext cx="3291492" cy="2712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400" b="1" i="0">
                <a:solidFill>
                  <a:srgbClr val="0D7A6F"/>
                </a:solidFill>
                <a:latin typeface="Verdana"/>
              </a:rPr>
              <a:t>Pour éviter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43636" y="3813047"/>
            <a:ext cx="6595914" cy="2712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plier les genoux, alterner les tâches, s'échauffer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32688" y="4157471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32688" y="4285487"/>
            <a:ext cx="3291492" cy="2712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400" b="1" i="0">
                <a:solidFill>
                  <a:srgbClr val="0D7A6F"/>
                </a:solidFill>
                <a:latin typeface="Verdana"/>
              </a:rPr>
              <a:t>Quand consulter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43636" y="4285487"/>
            <a:ext cx="6595914" cy="2712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si ça dure plus d'une semaine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050536"/>
            <a:ext cx="11057839" cy="1027684"/>
          </a:xfrm>
          <a:prstGeom prst="roundRect">
            <a:avLst>
              <a:gd name="adj" fmla="val 14236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969264" y="5306568"/>
            <a:ext cx="10234879" cy="5704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4B4F52"/>
                </a:solidFill>
                <a:latin typeface="Verdana"/>
              </a:rPr>
              <a:t>Toute fiche-conseil suit ces cinq rubriques, quel que soit le problème. Les connaître, c'est savoir lire n'importe laquelle.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D1 · Consulter au bon endroit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LA RUBRIQUE QU'ON LIT EN DERNIER ET QUI COMPTE LE PLUS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967991"/>
          </a:xfrm>
          <a:prstGeom prst="roundRect">
            <a:avLst>
              <a:gd name="adj" fmla="val 7434"/>
            </a:avLst>
          </a:prstGeom>
          <a:solidFill>
            <a:srgbClr val="DCF2E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145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« Quand consulter » dit à quel moment la fiche ne suffit plus.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467607"/>
            <a:ext cx="11057839" cy="1671827"/>
          </a:xfrm>
          <a:prstGeom prst="roundRect">
            <a:avLst>
              <a:gd name="adj" fmla="val 875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741927"/>
            <a:ext cx="10234879" cy="12146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Une fiche-conseil couvre les cas ordinaires. La dernière rubrique dit où s'arrête l'ordinaire : plus d'une semaine, impossible de marcher, la cheville est déformée. Lisez-la en premier.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D1 · Consulter au bon endroit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PRATIQUE · 1 DE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Remplissez le formulaire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Répondez par un groupe de mots, comme sur un vrai formulaire.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Motif de la consultation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Depuis combien de temps 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Allergies connues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Médicaments pris actuellement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246624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388102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452110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402072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Occupation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D1 · Consulter au bon endroit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Remplissez le formulaire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Motif de la consultation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Douleur au bas du dos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Depuis combien de temps ?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Trois jours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Allergies connues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Aucune / Pénicilline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Médicaments pris actuellement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Aucun / Un anti-inflammatoire, au besoin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246624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388102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452110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402072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Occupation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Préposée à l'entretien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D1 · Consulter au bon endroit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PRATIQUE · 2 DE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Vrai ou faux — la fiche-conseil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D'après la fiche sur la tendinite.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Une tendinite vient souvent de gestes répétés.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Il faut appliquer de la glace une heure d'affilée.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La raideur du matin est un des signes.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Pour soulever, il vaut mieux plier le dos que les genoux.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Il faut consulter si la douleur dure plus d'une semaine.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S'échauffer avant le quart de travail aide à éviter la tendinite.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D1 · Consulter au bon endroit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Vrai ou faux — la fiche-conseil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Une tendinite vient souvent de gestes répétés.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VRAI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Il faut appliquer de la glace une heure d'affilée.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FAUX — vingt minutes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La raideur du matin est un des signes.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VRAI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Pour soulever, il vaut mieux plier le dos que les genoux.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FAUX — les genoux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Il faut consulter si la douleur dure plus d'une semaine.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VRAI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S'échauffer avant le quart de travail aide à éviter la tendinite.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VRAI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D1 · Consulter au bon endroit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LE PIÈGE DU « ÇA VA PASSER »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Ça dure depuis trois semaines, mais ça va finir par passer.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Ça dure depuis plus d'une semaine, je consulte.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518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Une tendinite non traitée s'installe et devient chronique. La fiche donne une limite claire — une semaine — précisément pour qu'on n'ait pas à juger soi-même. Passé cette limite, on consulte, même si la douleur est supportable.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D1 · Consulter au bon endroit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PRATIQUE · 3 DE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Répondez avec une phrase complète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Ici, contrairement au formulaire, on rédige.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879856"/>
          </a:xfrm>
          <a:prstGeom prst="roundRect">
            <a:avLst>
              <a:gd name="adj" fmla="val 1662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39674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46075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605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Combien de temps faut-il appliquer la glace, et combien de fois par jour 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3147568"/>
            <a:ext cx="11057839" cy="879856"/>
          </a:xfrm>
          <a:prstGeom prst="roundRect">
            <a:avLst>
              <a:gd name="adj" fmla="val 1662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40461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46862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303016"/>
            <a:ext cx="10097719" cy="605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Nommez deux façons d'éviter une tendinite au travail.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155440"/>
            <a:ext cx="11057839" cy="879856"/>
          </a:xfrm>
          <a:prstGeom prst="roundRect">
            <a:avLst>
              <a:gd name="adj" fmla="val 1662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44124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447649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4310888"/>
            <a:ext cx="10097719" cy="605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Dans quel cas faut-il consulter un professionnel ?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5163312"/>
            <a:ext cx="11057839" cy="879856"/>
          </a:xfrm>
          <a:prstGeom prst="roundRect">
            <a:avLst>
              <a:gd name="adj" fmla="val 1662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542036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548436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5318760"/>
            <a:ext cx="10097719" cy="605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Quels sont les trois signes d'une tendinite ?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D1 · Consulter au bon endroit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Répondez avec une phrase complète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879856"/>
          </a:xfrm>
          <a:prstGeom prst="roundRect">
            <a:avLst>
              <a:gd name="adj" fmla="val 16628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39674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46075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605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Combien de temps faut-il appliquer la glace, et combien de fois par jour ?   </a:t>
            </a:r>
            <a:r>
              <a:rPr sz="1600" b="1" i="0">
                <a:solidFill>
                  <a:srgbClr val="07734A"/>
                </a:solidFill>
                <a:latin typeface="Verdana"/>
              </a:rPr>
              <a:t>» Il faut appliquer de la glace vingt minutes, trois fois par jour.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3147568"/>
            <a:ext cx="11057839" cy="879856"/>
          </a:xfrm>
          <a:prstGeom prst="roundRect">
            <a:avLst>
              <a:gd name="adj" fmla="val 16628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40461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46862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303016"/>
            <a:ext cx="10097719" cy="605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Nommez deux façons d'éviter une tendinite au travail.   </a:t>
            </a:r>
            <a:r>
              <a:rPr sz="1600" b="1" i="0">
                <a:solidFill>
                  <a:srgbClr val="07734A"/>
                </a:solidFill>
                <a:latin typeface="Verdana"/>
              </a:rPr>
              <a:t>» Il faut plier les genoux pour soulever et alterner les tâches.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155440"/>
            <a:ext cx="11057839" cy="879856"/>
          </a:xfrm>
          <a:prstGeom prst="roundRect">
            <a:avLst>
              <a:gd name="adj" fmla="val 16628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44124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447649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4310888"/>
            <a:ext cx="10097719" cy="605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Dans quel cas faut-il consulter un professionnel ?   </a:t>
            </a:r>
            <a:r>
              <a:rPr sz="1600" b="1" i="0">
                <a:solidFill>
                  <a:srgbClr val="07734A"/>
                </a:solidFill>
                <a:latin typeface="Verdana"/>
              </a:rPr>
              <a:t>» Il faut consulter si la douleur dure plus d'une semaine ou empêche de marcher.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5163312"/>
            <a:ext cx="11057839" cy="879856"/>
          </a:xfrm>
          <a:prstGeom prst="roundRect">
            <a:avLst>
              <a:gd name="adj" fmla="val 16628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542036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548436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5318760"/>
            <a:ext cx="10097719" cy="605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Quels sont les trois signes d'une tendinite ?   </a:t>
            </a:r>
            <a:r>
              <a:rPr sz="1600" b="1" i="0">
                <a:solidFill>
                  <a:srgbClr val="07734A"/>
                </a:solidFill>
                <a:latin typeface="Verdana"/>
              </a:rPr>
              <a:t>» Une douleur qui élance, de l'enflure et une raideur le matin.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D1 · Consulter au bon endroit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15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Choisissez un problème de santé courant et écrivez sa fiche-conseil en cinq lignes.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1022096"/>
          </a:xfrm>
          <a:prstGeom prst="roundRect">
            <a:avLst>
              <a:gd name="adj" fmla="val 8946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747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Une ligne par rubrique : ce que c'est, les signes, pour soulager, pour éviter, quand consulter.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5036311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5191759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Exemple de sujet : le mal de dos, le rhume, une brûlure légère.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D1 · Consulter au bon endroit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