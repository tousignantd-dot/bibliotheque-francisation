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par une question au groupe : la nuit, quand quelqu'un ne va pas bien chez vous, qui appelez-vous ? Les réponses vont de « personne » à « le 9-1-1 tout de suite », et l'écart dit ce que le module va travailler. Ne juger aucune réponse.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piste est la vraie question de la séance. Compter les mains levées à « connaissez-vous le 8-1-1 ? » : dans la plupart des groupes, moins de la moitié. C'est le service le plus utile et le moins connu.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 va pas déranger » revient dans presque tous les groupes. Demander qui a déjà entendu cette phrase à la maison — beaucoup de mains. C'est le premier obstacle du module, et il n'est pas linguistique.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Répondre à la question d'Amparo avec le groupe avant d'écouter la suite : non, l'infirmière ne prescrit rien. Ce n'est pas un manque du service, c'est sa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Marisol répète la liste. C'est le geste à copier : cette liste sert la nuit suivante, quand on est fatigué et inquiet.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savoir le plus utile du module, et il tient en une phrase.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carte évite la déception la plus fréquente : on n'appelle pas le 8-1-1 pour obtenir un traitement, mais pour savoir où aller.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ajouter deux situations par le groupe et les faire classer. C'est là que sortent les vraies hésitations, et souvent la peur du coût de l'ambulance : la garder pour la séance A4.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Amparo dit cette phrase mot pour mot. La faire retrouver dans le dialogue, puis demander qui l'a déjà dite lui-même.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du dialogue.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billet sert de vérification de fin de séance. Le relire au début de A4, où la liste passera de quatre signes à cinq.</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Ce n'est rien, une grippe. »</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Amparo a soixante et onze ans, elle fait de la fièvre depuis deux jours et elle répète que ce n'est rien. Sa fille Marisol hésite entre déranger l'hôpital et attendre demain. Il existe un numéro pour cette hésitation-là.</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Une nuit à l'urgence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décrire au téléphone l'état de quelqu'un d'autre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les questions d'une infirmière d'Info-Santé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que le 8-1-1 fait et ce qu'il ne fait pas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retenir les signes qui font composer le 9-1-1 sans rappeler.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Trente-huit et six, deux jours de suite, chez une personne de soixante et onze ans. On appelle ? Qui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hermometre.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c'est grave ? Qui peut le dire ?</a:t>
            </a:r>
          </a:p>
        </p:txBody>
      </p:sp>
      <p:sp>
        <p:nvSpPr>
          <p:cNvPr id="12" name="Rounded Rectangle 11"/>
          <p:cNvSpPr/>
          <p:nvPr/>
        </p:nvSpPr>
        <p:spPr>
          <a:xfrm>
            <a:off x="566928" y="264210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empêche d'appeler quelqu'un, la nuit ?</a:t>
            </a:r>
          </a:p>
        </p:txBody>
      </p:sp>
      <p:sp>
        <p:nvSpPr>
          <p:cNvPr id="15" name="Rounded Rectangle 14"/>
          <p:cNvSpPr/>
          <p:nvPr/>
        </p:nvSpPr>
        <p:spPr>
          <a:xfrm>
            <a:off x="566928" y="376580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se passe-t-il si on attend jusqu'à demain matin ?</a:t>
            </a:r>
          </a:p>
        </p:txBody>
      </p:sp>
      <p:sp>
        <p:nvSpPr>
          <p:cNvPr id="18" name="Rounded Rectangle 17"/>
          <p:cNvSpPr/>
          <p:nvPr/>
        </p:nvSpPr>
        <p:spPr>
          <a:xfrm>
            <a:off x="566928" y="488950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99922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07238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Connaissez-vous un numéro entre « rien » et « l'ambulance »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 Ne va pas déranger l'hôpital »</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0" name="TextBox 9"/>
          <p:cNvSpPr txBox="1"/>
          <p:nvPr/>
        </p:nvSpPr>
        <p:spPr>
          <a:xfrm>
            <a:off x="2431161" y="2322576"/>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Maman, tu as encore de la fièvre. Trente-huit et six.</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AMPARO</a:t>
            </a:r>
          </a:p>
        </p:txBody>
      </p:sp>
      <p:sp>
        <p:nvSpPr>
          <p:cNvPr id="13" name="TextBox 12"/>
          <p:cNvSpPr txBox="1"/>
          <p:nvPr/>
        </p:nvSpPr>
        <p:spPr>
          <a:xfrm>
            <a:off x="2431161" y="3071876"/>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n'est rien, ma fille. Une grippe. Ça va passer.</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6" name="TextBox 15"/>
          <p:cNvSpPr txBox="1"/>
          <p:nvPr/>
        </p:nvSpPr>
        <p:spPr>
          <a:xfrm>
            <a:off x="2431161" y="3821175"/>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fait deux jours. Et tu manges deux cuillerées de soupe par repas.</a:t>
            </a:r>
          </a:p>
        </p:txBody>
      </p:sp>
      <p:sp>
        <p:nvSpPr>
          <p:cNvPr id="17" name="Rounded Rectangle 16"/>
          <p:cNvSpPr/>
          <p:nvPr/>
        </p:nvSpPr>
        <p:spPr>
          <a:xfrm>
            <a:off x="566928" y="44058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AMPARO</a:t>
            </a:r>
          </a:p>
        </p:txBody>
      </p:sp>
      <p:sp>
        <p:nvSpPr>
          <p:cNvPr id="19" name="TextBox 18"/>
          <p:cNvSpPr txBox="1"/>
          <p:nvPr/>
        </p:nvSpPr>
        <p:spPr>
          <a:xfrm>
            <a:off x="2431161" y="4570475"/>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n'ai pas faim, c'est tout. Ne va pas déranger l'hôpital pour une grippe.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fait une infirmière au téléphone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9" name="TextBox 8"/>
          <p:cNvSpPr txBox="1"/>
          <p:nvPr/>
        </p:nvSpPr>
        <p:spPr>
          <a:xfrm>
            <a:off x="2431161" y="19019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ne parle pas de l'hôpital. Je parle du huit un un.</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AMPARO</a:t>
            </a:r>
          </a:p>
        </p:txBody>
      </p:sp>
      <p:sp>
        <p:nvSpPr>
          <p:cNvPr id="12" name="TextBox 11"/>
          <p:cNvSpPr txBox="1"/>
          <p:nvPr/>
        </p:nvSpPr>
        <p:spPr>
          <a:xfrm>
            <a:off x="2431161" y="26512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c'est encore, ça ?</a:t>
            </a:r>
          </a:p>
        </p:txBody>
      </p:sp>
      <p:sp>
        <p:nvSpPr>
          <p:cNvPr id="13" name="Rounded Rectangle 12"/>
          <p:cNvSpPr/>
          <p:nvPr/>
        </p:nvSpPr>
        <p:spPr>
          <a:xfrm>
            <a:off x="566928" y="32359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5" name="TextBox 14"/>
          <p:cNvSpPr txBox="1"/>
          <p:nvPr/>
        </p:nvSpPr>
        <p:spPr>
          <a:xfrm>
            <a:off x="2431161" y="3400551"/>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infirmière au téléphone. C'est gratuit, c'est ouvert jour et nuit, et elle nous dira si ça peut attendre.</a:t>
            </a:r>
          </a:p>
        </p:txBody>
      </p:sp>
      <p:sp>
        <p:nvSpPr>
          <p:cNvPr id="16" name="Rounded Rectangle 15"/>
          <p:cNvSpPr/>
          <p:nvPr/>
        </p:nvSpPr>
        <p:spPr>
          <a:xfrm>
            <a:off x="566928" y="43230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AMPARO</a:t>
            </a:r>
          </a:p>
        </p:txBody>
      </p:sp>
      <p:sp>
        <p:nvSpPr>
          <p:cNvPr id="18" name="TextBox 17"/>
          <p:cNvSpPr txBox="1"/>
          <p:nvPr/>
        </p:nvSpPr>
        <p:spPr>
          <a:xfrm>
            <a:off x="2431161" y="448767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elle va me donner un médicament par le téléphone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signes à retenir</a:t>
            </a:r>
          </a:p>
        </p:txBody>
      </p:sp>
      <p:sp>
        <p:nvSpPr>
          <p:cNvPr id="7" name="Rounded Rectangle 6"/>
          <p:cNvSpPr/>
          <p:nvPr/>
        </p:nvSpPr>
        <p:spPr>
          <a:xfrm>
            <a:off x="566928" y="1737360"/>
            <a:ext cx="11057839" cy="1680464"/>
          </a:xfrm>
          <a:prstGeom prst="roundRect">
            <a:avLst>
              <a:gd name="adj" fmla="val 870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140614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PATRICK</a:t>
            </a:r>
          </a:p>
        </p:txBody>
      </p:sp>
      <p:sp>
        <p:nvSpPr>
          <p:cNvPr id="9" name="TextBox 8"/>
          <p:cNvSpPr txBox="1"/>
          <p:nvPr/>
        </p:nvSpPr>
        <p:spPr>
          <a:xfrm>
            <a:off x="2431161" y="1901952"/>
            <a:ext cx="8644966" cy="140614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Écoutez-moi bien, c'est le plus important de l'appel. Vous composez le neuf un un tout de suite, sans me rappeler, si elle perd connaissance, si elle a de la difficulté à respirer, si elle devient confuse, ou si elle tombe et qu'elle ne peut plus se relever.</a:t>
            </a:r>
          </a:p>
        </p:txBody>
      </p:sp>
      <p:sp>
        <p:nvSpPr>
          <p:cNvPr id="10" name="Rounded Rectangle 9"/>
          <p:cNvSpPr/>
          <p:nvPr/>
        </p:nvSpPr>
        <p:spPr>
          <a:xfrm>
            <a:off x="566928" y="350011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664711"/>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2" name="TextBox 11"/>
          <p:cNvSpPr txBox="1"/>
          <p:nvPr/>
        </p:nvSpPr>
        <p:spPr>
          <a:xfrm>
            <a:off x="2431161" y="3664711"/>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Perdre connaissance, respirer mal, devenir confuse, tomber. C'est bien ça ?</a:t>
            </a:r>
          </a:p>
        </p:txBody>
      </p:sp>
      <p:sp>
        <p:nvSpPr>
          <p:cNvPr id="13" name="TextBox 12"/>
          <p:cNvSpPr txBox="1"/>
          <p:nvPr/>
        </p:nvSpPr>
        <p:spPr>
          <a:xfrm>
            <a:off x="932688" y="4751832"/>
            <a:ext cx="1498473"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PATRICK</a:t>
            </a:r>
          </a:p>
        </p:txBody>
      </p:sp>
      <p:sp>
        <p:nvSpPr>
          <p:cNvPr id="14" name="TextBox 13"/>
          <p:cNvSpPr txBox="1"/>
          <p:nvPr/>
        </p:nvSpPr>
        <p:spPr>
          <a:xfrm>
            <a:off x="2431161" y="4751832"/>
            <a:ext cx="8644966"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exactement ça. Le huit un un pour un doute, le neuf un un pour ce qui ne peut pas attendre dix minutes.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8-1-1 POUR UN DOUTE, LE 9-1-1 POUR CE QUI NE PEUT PAS ATTENDRE</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seule question tranche : est-ce que ça peut attendre dix minutes ?</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8-1-1 est gratuit, ouvert jour et nuit, toute l'année, et on peut appeler pour quelqu'un d'autre. Dans le doute entre les deux numéros, on compose le 9-1-1 : personne ne reprochera d'avoir appelé.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QUE FAIT LE 8-1-1</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Et ce qu'il ne fait pas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infirmière, pas un médecin</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Elle écoute, elle pose des questions, elle dit où aller et quand.</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Gratuit, jour et nuit</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Vingt-quatre heures sur vingt-quatre, toute l'année, partout au Québec.</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Pour soi ou pour un proche</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Aucun médecin de famille n'est nécessaire pour y avoir droit.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Ni diagnostic ni ordonnance</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Elle ne nomme pas la maladie et ne prescrit aucun médicament.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BON NUMÉRO</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situations, une décision</a:t>
            </a:r>
          </a:p>
        </p:txBody>
      </p:sp>
      <p:sp>
        <p:nvSpPr>
          <p:cNvPr id="7" name="Rounded Rectangle 6"/>
          <p:cNvSpPr/>
          <p:nvPr/>
        </p:nvSpPr>
        <p:spPr>
          <a:xfrm>
            <a:off x="566928" y="1810512"/>
            <a:ext cx="11057839" cy="4242816"/>
          </a:xfrm>
          <a:prstGeom prst="roundRect">
            <a:avLst>
              <a:gd name="adj" fmla="val 34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SITUATION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NUMÉRO</a:t>
            </a:r>
          </a:p>
        </p:txBody>
      </p:sp>
      <p:sp>
        <p:nvSpPr>
          <p:cNvPr id="10" name="TextBox 9"/>
          <p:cNvSpPr txBox="1"/>
          <p:nvPr/>
        </p:nvSpPr>
        <p:spPr>
          <a:xfrm>
            <a:off x="932688" y="2395728"/>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Une fièvre qui dure depuis deux jours</a:t>
            </a:r>
          </a:p>
        </p:txBody>
      </p:sp>
      <p:sp>
        <p:nvSpPr>
          <p:cNvPr id="11" name="TextBox 10"/>
          <p:cNvSpPr txBox="1"/>
          <p:nvPr/>
        </p:nvSpPr>
        <p:spPr>
          <a:xfrm>
            <a:off x="4443636" y="2395728"/>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8-1-1</a:t>
            </a:r>
          </a:p>
        </p:txBody>
      </p:sp>
      <p:sp>
        <p:nvSpPr>
          <p:cNvPr id="12" name="Rectangle 11"/>
          <p:cNvSpPr/>
          <p:nvPr/>
        </p:nvSpPr>
        <p:spPr>
          <a:xfrm>
            <a:off x="932688" y="30419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169920"/>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Une personne tombée qui ne se relève pas</a:t>
            </a:r>
          </a:p>
        </p:txBody>
      </p:sp>
      <p:sp>
        <p:nvSpPr>
          <p:cNvPr id="14" name="TextBox 13"/>
          <p:cNvSpPr txBox="1"/>
          <p:nvPr/>
        </p:nvSpPr>
        <p:spPr>
          <a:xfrm>
            <a:off x="4443636" y="3169920"/>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9-1-1</a:t>
            </a:r>
          </a:p>
        </p:txBody>
      </p:sp>
      <p:sp>
        <p:nvSpPr>
          <p:cNvPr id="15" name="Rectangle 14"/>
          <p:cNvSpPr/>
          <p:nvPr/>
        </p:nvSpPr>
        <p:spPr>
          <a:xfrm>
            <a:off x="932688" y="38160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944112"/>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Un comprimé pris deux fois par erreur</a:t>
            </a:r>
          </a:p>
        </p:txBody>
      </p:sp>
      <p:sp>
        <p:nvSpPr>
          <p:cNvPr id="17" name="TextBox 16"/>
          <p:cNvSpPr txBox="1"/>
          <p:nvPr/>
        </p:nvSpPr>
        <p:spPr>
          <a:xfrm>
            <a:off x="4443636" y="3944112"/>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8-1-1</a:t>
            </a:r>
          </a:p>
        </p:txBody>
      </p:sp>
      <p:sp>
        <p:nvSpPr>
          <p:cNvPr id="18" name="Rectangle 17"/>
          <p:cNvSpPr/>
          <p:nvPr/>
        </p:nvSpPr>
        <p:spPr>
          <a:xfrm>
            <a:off x="932688" y="459028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718304"/>
            <a:ext cx="3291492" cy="573024"/>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Une douleur à la poitrine depuis dix minutes</a:t>
            </a:r>
          </a:p>
        </p:txBody>
      </p:sp>
      <p:sp>
        <p:nvSpPr>
          <p:cNvPr id="20" name="TextBox 19"/>
          <p:cNvSpPr txBox="1"/>
          <p:nvPr/>
        </p:nvSpPr>
        <p:spPr>
          <a:xfrm>
            <a:off x="4443636" y="4718304"/>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9-1-1</a:t>
            </a:r>
          </a:p>
        </p:txBody>
      </p:sp>
      <p:sp>
        <p:nvSpPr>
          <p:cNvPr id="21" name="Rectangle 20"/>
          <p:cNvSpPr/>
          <p:nvPr/>
        </p:nvSpPr>
        <p:spPr>
          <a:xfrm>
            <a:off x="932688" y="5364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5492496"/>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Je ne sais pas si c'est grave</a:t>
            </a:r>
          </a:p>
        </p:txBody>
      </p:sp>
      <p:sp>
        <p:nvSpPr>
          <p:cNvPr id="23" name="TextBox 22"/>
          <p:cNvSpPr txBox="1"/>
          <p:nvPr/>
        </p:nvSpPr>
        <p:spPr>
          <a:xfrm>
            <a:off x="4443636" y="5492496"/>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8-1-1 — et 9-1-1 si ça presse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DÉCIDER SOI-MÊME QUE CE N'EST RIEN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Ne va pas déranger l'hôpital pour une grippe.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ne dérange personne : le 8-1-1 existe pour cette question-là.</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service est fait pour les gens qui ne sont pas soignants. Appeler pour rien n'existe pas ; ne pas appeler quand il le fallait, oui.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Amparo fait de la fièvre depuis deux jours.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Marisol veut emmener sa mère à l'hôpital tout de suite.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L'appel au 8-1-1 coûte quelques dollars.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L'infirmier demande comment la température a été prise.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prescrit un médicament au téléphone.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Amparo perd connaissance, il faut d'abord rappeler le 8-1-1.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Amparo fait de la fièvre depuis deux jours.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Marisol veut emmener sa mère à l'hôpital tout de suite.   </a:t>
            </a:r>
            <a:r>
              <a:rPr sz="1400" b="1" i="0">
                <a:solidFill>
                  <a:srgbClr val="07734A"/>
                </a:solidFill>
                <a:latin typeface="Verdana"/>
              </a:rPr>
              <a:t>» faux — elle appelle le 8-1-1</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L'appel au 8-1-1 coûte quelques dollars.   </a:t>
            </a:r>
            <a:r>
              <a:rPr sz="1400" b="1" i="0">
                <a:solidFill>
                  <a:srgbClr val="07734A"/>
                </a:solidFill>
                <a:latin typeface="Verdana"/>
              </a:rPr>
              <a:t>» faux — il est gratuit</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L'infirmier demande comment la température a été prise.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prescrit un médicament au téléphone.   </a:t>
            </a:r>
            <a:r>
              <a:rPr sz="1400" b="1" i="0">
                <a:solidFill>
                  <a:srgbClr val="07734A"/>
                </a:solidFill>
                <a:latin typeface="Verdana"/>
              </a:rPr>
              <a:t>» faux — ce n'est pas son rôle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Amparo perd connaissance, il faut d'abord rappeler le 8-1-1.   </a:t>
            </a:r>
            <a:r>
              <a:rPr sz="1400" b="1" i="0">
                <a:solidFill>
                  <a:srgbClr val="07734A"/>
                </a:solidFill>
                <a:latin typeface="Verdana"/>
              </a:rPr>
              <a:t>» faux — le 9-1-1, sans rappeler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nuit à l'urgence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quatre signes qui font composer le 9-1-1 sans rappeler.</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De mémoire d'abord, puis vérifiez dans le dialogue.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en une phrase pourquoi celui-là ne peut pas attendre.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Une nuit à l'urgence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