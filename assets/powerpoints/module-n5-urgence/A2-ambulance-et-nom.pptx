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phonétique. Prévenir dès le départ que la difficulté n'est pas de reconnaître les sons, mais de les produire sous pression. Faire ouvrir l'activité interactive en fin de séance seulement.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les deux phrases soi-même, dos tourné au groupe, et faire lever la main. L'erreur de perception est fréquente : elle justifie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poser une main devant la bouche : pour « on », très peu d'air sort. S'il en sort beaucoup, on dit « o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cinquième ligne prévient la confusion la plus fréquente après celle du jour : « quinze » n'est ni « quand » ni « quond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Dix mots, dos tourné au groupe pour couper l'indice visuel des lèvres. Reprendre ensuite face à eux, en exagérant : c'est là qu'ils comprennent ce qui bouge.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paire introduit la dénasalisation : dès qu'une double consonne ou une voyelle suit, le son redevient oral. C'est le point suivant.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la paire bon / bonne dix fois en alternance. C'est le seul exercice qui installe vraiment la règle.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Erreur presque universelle chez les personnes hispanophones et arabophones. La nommer sans dramatiser : elle se corrige en une semaine de répétition.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et la cinquième sont les plus dures : elles obligent la bouche à changer de forme en cours de phrase. Les faire répéter au ralenti.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Tension », « infection » et « intervention » sont les réponses attendues pour la dernière consigne. Les garder pour la séance C1.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Ambulance » et « nom »</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voyelles nasales, une seule différence : la bouche s'ouvre ou s'arrondit. Au téléphone, avec du bruit derrière, c'est tout ce que le répartiteur a pour vous comprendre.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Une nuit à l'urgence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à l'oreille le son de « ambulance » et celui de « nom »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produire les deux en surveillant l'ouverture de la bouche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quatre graphies de chaque son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quand la voyelle cesse d'être nasale.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 Elle est tombée » ou « elle est tendue » ? Une seule voyelle sépare les deux.</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elephone-nuit.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ce sont deux prononciations d'un même mot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le répartiteur comprend, dans chaque cas ?</a:t>
            </a:r>
          </a:p>
        </p:txBody>
      </p:sp>
      <p:sp>
        <p:nvSpPr>
          <p:cNvPr id="15" name="Rounded Rectangle 14"/>
          <p:cNvSpPr/>
          <p:nvPr/>
        </p:nvSpPr>
        <p:spPr>
          <a:xfrm>
            <a:off x="566928" y="410362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passe l'air, quand on dit « on » ?</a:t>
            </a:r>
          </a:p>
        </p:txBody>
      </p:sp>
      <p:sp>
        <p:nvSpPr>
          <p:cNvPr id="18" name="Rounded Rectangle 17"/>
          <p:cNvSpPr/>
          <p:nvPr/>
        </p:nvSpPr>
        <p:spPr>
          <a:xfrm>
            <a:off x="566928" y="488950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999228"/>
            <a:ext cx="50292" cy="821944"/>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07238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bouge : la langue, les lèvres, la mâchoire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DEUX NASALES, UNE SEULE DIFFÉRENCE</a:t>
            </a:r>
          </a:p>
        </p:txBody>
      </p:sp>
      <p:sp>
        <p:nvSpPr>
          <p:cNvPr id="6" name="Rounded Rectangle 5"/>
          <p:cNvSpPr/>
          <p:nvPr/>
        </p:nvSpPr>
        <p:spPr>
          <a:xfrm>
            <a:off x="566928" y="1225296"/>
            <a:ext cx="11057839" cy="1967991"/>
          </a:xfrm>
          <a:prstGeom prst="roundRect">
            <a:avLst>
              <a:gd name="adj" fmla="val 743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Pour « an », la bouche s'ouvre grand ; pour « on », les lèvres s'arrondissent.</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Dans les deux cas, l'air passe par le nez et la consonne écrite — le n ou le m — ne se prononce pas. Elle indique la nasalité, rien de plus.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LES GRAPHIES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écrit, ce qu'on entend</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ÉCRIT</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ENTEND</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DANS LE MODULE</a:t>
            </a:r>
          </a:p>
        </p:txBody>
      </p:sp>
      <p:sp>
        <p:nvSpPr>
          <p:cNvPr id="11" name="TextBox 10"/>
          <p:cNvSpPr txBox="1"/>
          <p:nvPr/>
        </p:nvSpPr>
        <p:spPr>
          <a:xfrm>
            <a:off x="932688" y="2395728"/>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an, am</a:t>
            </a:r>
          </a:p>
        </p:txBody>
      </p:sp>
      <p:sp>
        <p:nvSpPr>
          <p:cNvPr id="12" name="TextBox 11"/>
          <p:cNvSpPr txBox="1"/>
          <p:nvPr/>
        </p:nvSpPr>
        <p:spPr>
          <a:xfrm>
            <a:off x="4374794" y="2395728"/>
            <a:ext cx="3222650" cy="321564"/>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 an »</a:t>
            </a:r>
          </a:p>
        </p:txBody>
      </p:sp>
      <p:sp>
        <p:nvSpPr>
          <p:cNvPr id="13" name="TextBox 12"/>
          <p:cNvSpPr txBox="1"/>
          <p:nvPr/>
        </p:nvSpPr>
        <p:spPr>
          <a:xfrm>
            <a:off x="7816900" y="2395728"/>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quarante · une ambulance</a:t>
            </a:r>
          </a:p>
        </p:txBody>
      </p:sp>
      <p:sp>
        <p:nvSpPr>
          <p:cNvPr id="14" name="Rectangle 13"/>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18460"/>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en, em</a:t>
            </a:r>
          </a:p>
        </p:txBody>
      </p:sp>
      <p:sp>
        <p:nvSpPr>
          <p:cNvPr id="16" name="TextBox 15"/>
          <p:cNvSpPr txBox="1"/>
          <p:nvPr/>
        </p:nvSpPr>
        <p:spPr>
          <a:xfrm>
            <a:off x="4374794" y="2918460"/>
            <a:ext cx="3222650" cy="321564"/>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 an »</a:t>
            </a:r>
          </a:p>
        </p:txBody>
      </p:sp>
      <p:sp>
        <p:nvSpPr>
          <p:cNvPr id="17" name="TextBox 16"/>
          <p:cNvSpPr txBox="1"/>
          <p:nvPr/>
        </p:nvSpPr>
        <p:spPr>
          <a:xfrm>
            <a:off x="7816900" y="2918460"/>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l'attente · le temps</a:t>
            </a:r>
          </a:p>
        </p:txBody>
      </p:sp>
      <p:sp>
        <p:nvSpPr>
          <p:cNvPr id="18" name="Rectangle 17"/>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41192"/>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on</a:t>
            </a:r>
          </a:p>
        </p:txBody>
      </p:sp>
      <p:sp>
        <p:nvSpPr>
          <p:cNvPr id="20" name="TextBox 19"/>
          <p:cNvSpPr txBox="1"/>
          <p:nvPr/>
        </p:nvSpPr>
        <p:spPr>
          <a:xfrm>
            <a:off x="4374794" y="3441192"/>
            <a:ext cx="3222650" cy="321564"/>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 on »</a:t>
            </a:r>
          </a:p>
        </p:txBody>
      </p:sp>
      <p:sp>
        <p:nvSpPr>
          <p:cNvPr id="21" name="TextBox 20"/>
          <p:cNvSpPr txBox="1"/>
          <p:nvPr/>
        </p:nvSpPr>
        <p:spPr>
          <a:xfrm>
            <a:off x="7816900" y="3441192"/>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salon · on répond</a:t>
            </a:r>
          </a:p>
        </p:txBody>
      </p:sp>
      <p:sp>
        <p:nvSpPr>
          <p:cNvPr id="22" name="Rectangle 21"/>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3963924"/>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om</a:t>
            </a:r>
          </a:p>
        </p:txBody>
      </p:sp>
      <p:sp>
        <p:nvSpPr>
          <p:cNvPr id="24" name="TextBox 23"/>
          <p:cNvSpPr txBox="1"/>
          <p:nvPr/>
        </p:nvSpPr>
        <p:spPr>
          <a:xfrm>
            <a:off x="4374794" y="3963924"/>
            <a:ext cx="3222650" cy="321564"/>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 on »</a:t>
            </a:r>
          </a:p>
        </p:txBody>
      </p:sp>
      <p:sp>
        <p:nvSpPr>
          <p:cNvPr id="25" name="TextBox 24"/>
          <p:cNvSpPr txBox="1"/>
          <p:nvPr/>
        </p:nvSpPr>
        <p:spPr>
          <a:xfrm>
            <a:off x="7816900" y="3963924"/>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elle est tombée · le nom</a:t>
            </a:r>
          </a:p>
        </p:txBody>
      </p:sp>
      <p:sp>
        <p:nvSpPr>
          <p:cNvPr id="26" name="Rectangle 25"/>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2688" y="4486656"/>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in, ain, ein</a:t>
            </a:r>
          </a:p>
        </p:txBody>
      </p:sp>
      <p:sp>
        <p:nvSpPr>
          <p:cNvPr id="28" name="TextBox 27"/>
          <p:cNvSpPr txBox="1"/>
          <p:nvPr/>
        </p:nvSpPr>
        <p:spPr>
          <a:xfrm>
            <a:off x="4374794" y="4486656"/>
            <a:ext cx="3222650" cy="321564"/>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 in » — la troisième</a:t>
            </a:r>
          </a:p>
        </p:txBody>
      </p:sp>
      <p:sp>
        <p:nvSpPr>
          <p:cNvPr id="29" name="TextBox 28"/>
          <p:cNvSpPr txBox="1"/>
          <p:nvPr/>
        </p:nvSpPr>
        <p:spPr>
          <a:xfrm>
            <a:off x="7816900" y="4486656"/>
            <a:ext cx="3222650"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quinze · un médecin</a:t>
            </a:r>
          </a:p>
        </p:txBody>
      </p:sp>
      <p:sp>
        <p:nvSpPr>
          <p:cNvPr id="30" name="Rounded Rectangle 29"/>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 m remplace le n devant b et p : chambre, ambulance, temps.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DISCRIMINATION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 an » ou « on »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L'enseignante dit le mot ; les élèves lèvent une main ou deux.</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ambulance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nom</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est tombée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l'attente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répond</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chambre</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moment</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salon</a:t>
            </a:r>
          </a:p>
        </p:txBody>
      </p:sp>
      <p:sp>
        <p:nvSpPr>
          <p:cNvPr id="40" name="Rounded Rectangle 39"/>
          <p:cNvSpPr/>
          <p:nvPr/>
        </p:nvSpPr>
        <p:spPr>
          <a:xfrm>
            <a:off x="566928" y="764235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841247" y="773938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41247" y="780338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9</a:t>
            </a:r>
          </a:p>
        </p:txBody>
      </p:sp>
      <p:sp>
        <p:nvSpPr>
          <p:cNvPr id="43" name="TextBox 42"/>
          <p:cNvSpPr txBox="1"/>
          <p:nvPr/>
        </p:nvSpPr>
        <p:spPr>
          <a:xfrm>
            <a:off x="1344168" y="779780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quarante</a:t>
            </a:r>
          </a:p>
        </p:txBody>
      </p:sp>
      <p:sp>
        <p:nvSpPr>
          <p:cNvPr id="44" name="Rounded Rectangle 43"/>
          <p:cNvSpPr/>
          <p:nvPr/>
        </p:nvSpPr>
        <p:spPr>
          <a:xfrm>
            <a:off x="566928" y="8330184"/>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841247" y="8427212"/>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41247" y="8491220"/>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10</a:t>
            </a:r>
          </a:p>
        </p:txBody>
      </p:sp>
      <p:sp>
        <p:nvSpPr>
          <p:cNvPr id="47" name="TextBox 46"/>
          <p:cNvSpPr txBox="1"/>
          <p:nvPr/>
        </p:nvSpPr>
        <p:spPr>
          <a:xfrm>
            <a:off x="1344168" y="8485632"/>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ils sont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 an » ou « on »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ambulance   </a:t>
            </a:r>
            <a:r>
              <a:rPr sz="1400" b="1" i="0">
                <a:solidFill>
                  <a:srgbClr val="07734A"/>
                </a:solidFill>
                <a:latin typeface="Verdana"/>
              </a:rPr>
              <a:t>» « an »</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nom   </a:t>
            </a:r>
            <a:r>
              <a:rPr sz="1400" b="1" i="0">
                <a:solidFill>
                  <a:srgbClr val="07734A"/>
                </a:solidFill>
                <a:latin typeface="Verdana"/>
              </a:rPr>
              <a:t>» « on »</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est tombée   </a:t>
            </a:r>
            <a:r>
              <a:rPr sz="1400" b="1" i="0">
                <a:solidFill>
                  <a:srgbClr val="07734A"/>
                </a:solidFill>
                <a:latin typeface="Verdana"/>
              </a:rPr>
              <a:t>» « on »</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l'attente   </a:t>
            </a:r>
            <a:r>
              <a:rPr sz="1400" b="1" i="0">
                <a:solidFill>
                  <a:srgbClr val="07734A"/>
                </a:solidFill>
                <a:latin typeface="Verdana"/>
              </a:rPr>
              <a:t>» « an »</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répond   </a:t>
            </a:r>
            <a:r>
              <a:rPr sz="1400" b="1" i="0">
                <a:solidFill>
                  <a:srgbClr val="07734A"/>
                </a:solidFill>
                <a:latin typeface="Verdana"/>
              </a:rPr>
              <a:t>» « on »</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chambre   </a:t>
            </a:r>
            <a:r>
              <a:rPr sz="1400" b="1" i="0">
                <a:solidFill>
                  <a:srgbClr val="07734A"/>
                </a:solidFill>
                <a:latin typeface="Verdana"/>
              </a:rPr>
              <a:t>» « an »</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moment   </a:t>
            </a:r>
            <a:r>
              <a:rPr sz="1400" b="1" i="0">
                <a:solidFill>
                  <a:srgbClr val="07734A"/>
                </a:solidFill>
                <a:latin typeface="Verdana"/>
              </a:rPr>
              <a:t>» « an »</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salon   </a:t>
            </a:r>
            <a:r>
              <a:rPr sz="1400" b="1" i="0">
                <a:solidFill>
                  <a:srgbClr val="07734A"/>
                </a:solidFill>
                <a:latin typeface="Verdana"/>
              </a:rPr>
              <a:t>» « on »</a:t>
            </a:r>
          </a:p>
        </p:txBody>
      </p:sp>
      <p:sp>
        <p:nvSpPr>
          <p:cNvPr id="40" name="Rounded Rectangle 39"/>
          <p:cNvSpPr/>
          <p:nvPr/>
        </p:nvSpPr>
        <p:spPr>
          <a:xfrm>
            <a:off x="566928" y="764235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841247" y="773938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41247" y="780338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9</a:t>
            </a:r>
          </a:p>
        </p:txBody>
      </p:sp>
      <p:sp>
        <p:nvSpPr>
          <p:cNvPr id="43" name="TextBox 42"/>
          <p:cNvSpPr txBox="1"/>
          <p:nvPr/>
        </p:nvSpPr>
        <p:spPr>
          <a:xfrm>
            <a:off x="1344168" y="779780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quarante   </a:t>
            </a:r>
            <a:r>
              <a:rPr sz="1400" b="1" i="0">
                <a:solidFill>
                  <a:srgbClr val="07734A"/>
                </a:solidFill>
                <a:latin typeface="Verdana"/>
              </a:rPr>
              <a:t>» « an »</a:t>
            </a:r>
          </a:p>
        </p:txBody>
      </p:sp>
      <p:sp>
        <p:nvSpPr>
          <p:cNvPr id="44" name="Rounded Rectangle 43"/>
          <p:cNvSpPr/>
          <p:nvPr/>
        </p:nvSpPr>
        <p:spPr>
          <a:xfrm>
            <a:off x="566928" y="8330184"/>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841247" y="8427212"/>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41247" y="8491220"/>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10</a:t>
            </a:r>
          </a:p>
        </p:txBody>
      </p:sp>
      <p:sp>
        <p:nvSpPr>
          <p:cNvPr id="47" name="TextBox 46"/>
          <p:cNvSpPr txBox="1"/>
          <p:nvPr/>
        </p:nvSpPr>
        <p:spPr>
          <a:xfrm>
            <a:off x="1344168" y="8485632"/>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ils sont   </a:t>
            </a:r>
            <a:r>
              <a:rPr sz="1400" b="1" i="0">
                <a:solidFill>
                  <a:srgbClr val="07734A"/>
                </a:solidFill>
                <a:latin typeface="Verdana"/>
              </a:rPr>
              <a:t>» « on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CINQ PAIRES À FAIRE ENTENDRE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seule voyelle change</a:t>
            </a:r>
          </a:p>
        </p:txBody>
      </p:sp>
      <p:sp>
        <p:nvSpPr>
          <p:cNvPr id="7" name="Rounded Rectangle 6"/>
          <p:cNvSpPr/>
          <p:nvPr/>
        </p:nvSpPr>
        <p:spPr>
          <a:xfrm>
            <a:off x="566928" y="1810512"/>
            <a:ext cx="3576218"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2936138" cy="372110"/>
          </a:xfrm>
          <a:prstGeom prst="rect">
            <a:avLst/>
          </a:prstGeom>
          <a:noFill/>
        </p:spPr>
        <p:txBody>
          <a:bodyPr wrap="square" lIns="0" rIns="0" tIns="0" bIns="0" anchor="t">
            <a:spAutoFit/>
          </a:bodyPr>
          <a:lstStyle/>
          <a:p>
            <a:pPr algn="l">
              <a:lnSpc>
                <a:spcPct val="118000"/>
              </a:lnSpc>
            </a:pPr>
            <a:r>
              <a:rPr sz="2300" b="1" i="0">
                <a:solidFill>
                  <a:srgbClr val="3B49A0"/>
                </a:solidFill>
                <a:latin typeface="Verdana"/>
              </a:rPr>
              <a:t>sans / son</a:t>
            </a:r>
          </a:p>
        </p:txBody>
      </p:sp>
      <p:sp>
        <p:nvSpPr>
          <p:cNvPr id="9" name="TextBox 8"/>
          <p:cNvSpPr txBox="1"/>
          <p:nvPr/>
        </p:nvSpPr>
        <p:spPr>
          <a:xfrm>
            <a:off x="886968" y="2484373"/>
            <a:ext cx="2936138"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Elle est arrivée sans son sac.</a:t>
            </a:r>
          </a:p>
        </p:txBody>
      </p:sp>
      <p:sp>
        <p:nvSpPr>
          <p:cNvPr id="10" name="Rounded Rectangle 9"/>
          <p:cNvSpPr/>
          <p:nvPr/>
        </p:nvSpPr>
        <p:spPr>
          <a:xfrm>
            <a:off x="4307738" y="1810512"/>
            <a:ext cx="3576218"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27778" y="2084831"/>
            <a:ext cx="2936138" cy="372110"/>
          </a:xfrm>
          <a:prstGeom prst="rect">
            <a:avLst/>
          </a:prstGeom>
          <a:noFill/>
        </p:spPr>
        <p:txBody>
          <a:bodyPr wrap="square" lIns="0" rIns="0" tIns="0" bIns="0" anchor="t">
            <a:spAutoFit/>
          </a:bodyPr>
          <a:lstStyle/>
          <a:p>
            <a:pPr algn="l">
              <a:lnSpc>
                <a:spcPct val="118000"/>
              </a:lnSpc>
            </a:pPr>
            <a:r>
              <a:rPr sz="2300" b="1" i="0">
                <a:solidFill>
                  <a:srgbClr val="3B49A0"/>
                </a:solidFill>
                <a:latin typeface="Verdana"/>
              </a:rPr>
              <a:t>banc / bon</a:t>
            </a:r>
          </a:p>
        </p:txBody>
      </p:sp>
      <p:sp>
        <p:nvSpPr>
          <p:cNvPr id="12" name="TextBox 11"/>
          <p:cNvSpPr txBox="1"/>
          <p:nvPr/>
        </p:nvSpPr>
        <p:spPr>
          <a:xfrm>
            <a:off x="4627778" y="2484373"/>
            <a:ext cx="2936138"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banc de la salle d'attente n'est pas bon pour son dos.</a:t>
            </a:r>
          </a:p>
        </p:txBody>
      </p:sp>
      <p:sp>
        <p:nvSpPr>
          <p:cNvPr id="13" name="Rounded Rectangle 12"/>
          <p:cNvSpPr/>
          <p:nvPr/>
        </p:nvSpPr>
        <p:spPr>
          <a:xfrm>
            <a:off x="8048548" y="1810512"/>
            <a:ext cx="3576218"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68588" y="2084831"/>
            <a:ext cx="2936138" cy="372110"/>
          </a:xfrm>
          <a:prstGeom prst="rect">
            <a:avLst/>
          </a:prstGeom>
          <a:noFill/>
        </p:spPr>
        <p:txBody>
          <a:bodyPr wrap="square" lIns="0" rIns="0" tIns="0" bIns="0" anchor="t">
            <a:spAutoFit/>
          </a:bodyPr>
          <a:lstStyle/>
          <a:p>
            <a:pPr algn="l">
              <a:lnSpc>
                <a:spcPct val="118000"/>
              </a:lnSpc>
            </a:pPr>
            <a:r>
              <a:rPr sz="2300" b="1" i="0">
                <a:solidFill>
                  <a:srgbClr val="3B49A0"/>
                </a:solidFill>
                <a:latin typeface="Verdana"/>
              </a:rPr>
              <a:t>temps / ton</a:t>
            </a:r>
          </a:p>
        </p:txBody>
      </p:sp>
      <p:sp>
        <p:nvSpPr>
          <p:cNvPr id="15" name="TextBox 14"/>
          <p:cNvSpPr txBox="1"/>
          <p:nvPr/>
        </p:nvSpPr>
        <p:spPr>
          <a:xfrm>
            <a:off x="8368588" y="2484373"/>
            <a:ext cx="2936138"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Prends ton temps pour répondre.</a:t>
            </a:r>
          </a:p>
        </p:txBody>
      </p:sp>
      <p:sp>
        <p:nvSpPr>
          <p:cNvPr id="16" name="Rounded Rectangle 15"/>
          <p:cNvSpPr/>
          <p:nvPr/>
        </p:nvSpPr>
        <p:spPr>
          <a:xfrm>
            <a:off x="566928" y="4027932"/>
            <a:ext cx="3576218"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968" y="4302252"/>
            <a:ext cx="2936138" cy="372110"/>
          </a:xfrm>
          <a:prstGeom prst="rect">
            <a:avLst/>
          </a:prstGeom>
          <a:noFill/>
        </p:spPr>
        <p:txBody>
          <a:bodyPr wrap="square" lIns="0" rIns="0" tIns="0" bIns="0" anchor="t">
            <a:spAutoFit/>
          </a:bodyPr>
          <a:lstStyle/>
          <a:p>
            <a:pPr algn="l">
              <a:lnSpc>
                <a:spcPct val="118000"/>
              </a:lnSpc>
            </a:pPr>
            <a:r>
              <a:rPr sz="2300" b="1" i="0">
                <a:solidFill>
                  <a:srgbClr val="3B49A0"/>
                </a:solidFill>
                <a:latin typeface="Verdana"/>
              </a:rPr>
              <a:t>lent / long</a:t>
            </a:r>
          </a:p>
        </p:txBody>
      </p:sp>
      <p:sp>
        <p:nvSpPr>
          <p:cNvPr id="18" name="TextBox 17"/>
          <p:cNvSpPr txBox="1"/>
          <p:nvPr/>
        </p:nvSpPr>
        <p:spPr>
          <a:xfrm>
            <a:off x="886968" y="4701794"/>
            <a:ext cx="2936138"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triage est lent et le corridor est long.</a:t>
            </a:r>
          </a:p>
        </p:txBody>
      </p:sp>
      <p:sp>
        <p:nvSpPr>
          <p:cNvPr id="19" name="Rounded Rectangle 18"/>
          <p:cNvSpPr/>
          <p:nvPr/>
        </p:nvSpPr>
        <p:spPr>
          <a:xfrm>
            <a:off x="4307738" y="4027932"/>
            <a:ext cx="3576218"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27778" y="4302252"/>
            <a:ext cx="2936138" cy="372110"/>
          </a:xfrm>
          <a:prstGeom prst="rect">
            <a:avLst/>
          </a:prstGeom>
          <a:noFill/>
        </p:spPr>
        <p:txBody>
          <a:bodyPr wrap="square" lIns="0" rIns="0" tIns="0" bIns="0" anchor="t">
            <a:spAutoFit/>
          </a:bodyPr>
          <a:lstStyle/>
          <a:p>
            <a:pPr algn="l">
              <a:lnSpc>
                <a:spcPct val="118000"/>
              </a:lnSpc>
            </a:pPr>
            <a:r>
              <a:rPr sz="2300" b="1" i="0">
                <a:solidFill>
                  <a:srgbClr val="3B49A0"/>
                </a:solidFill>
                <a:latin typeface="Verdana"/>
              </a:rPr>
              <a:t>tombée / tendue</a:t>
            </a:r>
          </a:p>
        </p:txBody>
      </p:sp>
      <p:sp>
        <p:nvSpPr>
          <p:cNvPr id="21" name="TextBox 20"/>
          <p:cNvSpPr txBox="1"/>
          <p:nvPr/>
        </p:nvSpPr>
        <p:spPr>
          <a:xfrm>
            <a:off x="4627778" y="4701794"/>
            <a:ext cx="2936138"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Elle est tombée. Elle est tendue. Ce n'est pas pareil.</a:t>
            </a:r>
          </a:p>
        </p:txBody>
      </p:sp>
      <p:sp>
        <p:nvSpPr>
          <p:cNvPr id="22" name="Rounded Rectangle 21"/>
          <p:cNvSpPr/>
          <p:nvPr/>
        </p:nvSpPr>
        <p:spPr>
          <a:xfrm>
            <a:off x="8048548" y="4027932"/>
            <a:ext cx="3576218"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68588" y="4302252"/>
            <a:ext cx="2936138" cy="372110"/>
          </a:xfrm>
          <a:prstGeom prst="rect">
            <a:avLst/>
          </a:prstGeom>
          <a:noFill/>
        </p:spPr>
        <p:txBody>
          <a:bodyPr wrap="square" lIns="0" rIns="0" tIns="0" bIns="0" anchor="t">
            <a:spAutoFit/>
          </a:bodyPr>
          <a:lstStyle/>
          <a:p>
            <a:pPr algn="l">
              <a:lnSpc>
                <a:spcPct val="118000"/>
              </a:lnSpc>
            </a:pPr>
            <a:r>
              <a:rPr sz="2300" b="1" i="0">
                <a:solidFill>
                  <a:srgbClr val="3B49A0"/>
                </a:solidFill>
                <a:latin typeface="Verdana"/>
              </a:rPr>
              <a:t>bon / bonne</a:t>
            </a:r>
          </a:p>
        </p:txBody>
      </p:sp>
      <p:sp>
        <p:nvSpPr>
          <p:cNvPr id="24" name="TextBox 23"/>
          <p:cNvSpPr txBox="1"/>
          <p:nvPr/>
        </p:nvSpPr>
        <p:spPr>
          <a:xfrm>
            <a:off x="8368588" y="4701794"/>
            <a:ext cx="2936138"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premier est nasal, le second ne l'est pas.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LA NASALE DISPARAÎT DEVANT UNE VOYELLE OU UNE DOUBLE CONSONNE</a:t>
            </a:r>
          </a:p>
        </p:txBody>
      </p:sp>
      <p:sp>
        <p:nvSpPr>
          <p:cNvPr id="6" name="Rounded Rectangle 5"/>
          <p:cNvSpPr/>
          <p:nvPr/>
        </p:nvSpPr>
        <p:spPr>
          <a:xfrm>
            <a:off x="566928" y="1225296"/>
            <a:ext cx="11057839" cy="1967991"/>
          </a:xfrm>
          <a:prstGeom prst="roundRect">
            <a:avLst>
              <a:gd name="adj" fmla="val 743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bon devient bonne · an devient année · immédiat n'est pas nasal.</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n ou le m qui « ferme » la voyelle doit rester seul, en fin de syllabe. Dès qu'il commence la syllabe suivante, la voyelle redevient orale.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PRONONCER LE N OU LE M</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am-bou-lan-ce, avec un m entendu.</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ambulance, en trois syllabes, sans aucun m.</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Dans une voyelle nasale, la consonne écrite ne se prononce jamais. Elle dit seulement que l'air passe par le nez.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PRODUCTION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dire d'un trait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Chacun lit une phrase à voix haute ; le groupe dit ce qu'il entend.</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ambulance s'en vient, restez près d'elle.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 ne la déplace pas et on ne lui donne rien.</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est tombée dans l'escalier vers deux heures.</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L'attente peut être longue.</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tension est bonne, la température descend.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dire d'un trait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ambulance s'en vient, restez près d'elle.   </a:t>
            </a:r>
            <a:r>
              <a:rPr sz="1900" b="1" i="0">
                <a:solidFill>
                  <a:srgbClr val="07734A"/>
                </a:solidFill>
                <a:latin typeface="Verdana"/>
              </a:rPr>
              <a:t>» « an » trois fois</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 ne la déplace pas et on ne lui donne rien.   </a:t>
            </a:r>
            <a:r>
              <a:rPr sz="1900" b="1" i="0">
                <a:solidFill>
                  <a:srgbClr val="07734A"/>
                </a:solidFill>
                <a:latin typeface="Verdana"/>
              </a:rPr>
              <a:t>» « on » partout</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est tombée dans l'escalier vers deux heures.   </a:t>
            </a:r>
            <a:r>
              <a:rPr sz="1900" b="1" i="0">
                <a:solidFill>
                  <a:srgbClr val="07734A"/>
                </a:solidFill>
                <a:latin typeface="Verdana"/>
              </a:rPr>
              <a:t>» « on » au début</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L'attente peut être longue.   </a:t>
            </a:r>
            <a:r>
              <a:rPr sz="1900" b="1" i="0">
                <a:solidFill>
                  <a:srgbClr val="07734A"/>
                </a:solidFill>
                <a:latin typeface="Verdana"/>
              </a:rPr>
              <a:t>» les deux dans la même phrase</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tension est bonne, la température descend.   </a:t>
            </a:r>
            <a:r>
              <a:rPr sz="1900" b="1" i="0">
                <a:solidFill>
                  <a:srgbClr val="07734A"/>
                </a:solidFill>
                <a:latin typeface="Verdana"/>
              </a:rPr>
              <a:t>» un mot contient les deux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trois mots du module avec « an » et trois avec « on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Soulignez la lettre ou les lettres qui font le son.</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un mot où les deux se suivent, si vous en trouvez un.</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nuit à l'urgence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