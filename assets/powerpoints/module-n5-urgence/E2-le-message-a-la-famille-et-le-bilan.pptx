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module. Commencer par écouter deux enregistrements de E1, avec l'accord de leurs auteurs. Le passage de l'oral à l'écrit se fait alors tout seul.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messages sont sincères. Le premier est légitime, mais il déclenche cinq appels inquiets. Le dire sans juger : ce n'est pas une question de politesse, c'est une question d'effet.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laisser affichée pendant l'écriture.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six éléments sont cochables dans le module : les élèves peuvent vérifier leur propre texte avant de demander la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L'objet est la partie que les élèves négligent le plus, et c'est la seule que tout le monde lit à coup sûr.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compter les phrases avant d'envoyer. Le module le fait aussi, mais compter soi-même vaut mieux.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dans le module, puis demander la correction de l'assistant. Les élèves rapides peuvent écrire le second message : celui du jour du congé.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relire cette liste dans le module, section « Je retiens des mots », et compléter l'autoévaluation avant de terminer.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billet du module. Les lire à voix haute, sans nommer les auteurs : c'est la meilleure révision possible en cinq minutes.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SÉANCE E2  ·  MODULE 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Le message à la famille, et le bilan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personnes attendent des nouvelles et vous ne pouvez pas appeler cinq fois. Un seul message, clair, que chacun pourra relire — et qui évite cinq appels à l'hôpital.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Une nuit à l'urgence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écrire un message de nouvelles de sept à onze phrases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y employer les quatre outils du module : imparfait, passé composé, discours rapporté, futur simple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donner le pratique : étage, heures de visite, ce qu'il faut apporter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faire le bilan de ce qu'on sait faire maintenant.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COMPARAISON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 i="0">
                <a:solidFill>
                  <a:srgbClr val="17181A"/>
                </a:solidFill>
                <a:latin typeface="Verdana"/>
              </a:rPr>
              <a:t>Deux messages annoncent la même chose. Lequel calme la famille, lequel la fait téléphoner à l'hôpital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24927" y="1719072"/>
            <a:ext cx="4199839" cy="4361688"/>
          </a:xfrm>
          <a:prstGeom prst="roundRect">
            <a:avLst>
              <a:gd name="adj" fmla="val 34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8" name="Picture 7" descr="chambr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44383" y="2638339"/>
            <a:ext cx="3760927" cy="2523153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566928" y="1856232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Rectangle 9"/>
          <p:cNvSpPr/>
          <p:nvPr/>
        </p:nvSpPr>
        <p:spPr>
          <a:xfrm>
            <a:off x="566928" y="1965960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50976" y="2039112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Ça a été une nuit épouvantable, je n'en peux plus.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79928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66928" y="3089656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50976" y="3162808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« Maman va bien. Elle a été opérée hier matin et tout s'est bien passé. 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103624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ectangle 15"/>
          <p:cNvSpPr/>
          <p:nvPr/>
        </p:nvSpPr>
        <p:spPr>
          <a:xfrm>
            <a:off x="566928" y="4213352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50976" y="4286504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Lequel donne une information ? Lequel donne une émotion ?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227320"/>
            <a:ext cx="6492240" cy="1041400"/>
          </a:xfrm>
          <a:prstGeom prst="roundRect">
            <a:avLst>
              <a:gd name="adj" fmla="val 140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566928" y="5337048"/>
            <a:ext cx="50292" cy="821944"/>
          </a:xfrm>
          <a:prstGeom prst="rect">
            <a:avLst/>
          </a:prstGeom>
          <a:solidFill>
            <a:srgbClr val="A5335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50976" y="5410200"/>
            <a:ext cx="5806440" cy="712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Qu'est-ce que la famille fera après avoir lu chacun 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DES FAITS, PAS DES IMPRESSIONS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CE9F0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« Elle a été opérée hier matin et tout s'est bien passé. »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factuel calme ; un message d'émotion inquiète. Vous aurez tout le temps de dire votre fatigue à quelqu'un en particulier — mais pas dans le message qui informe tout le monde.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LES SIX ÉLÉMENTS DU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cocher avant de demander la correction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2936138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Une phrase qui rassure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769108"/>
            <a:ext cx="2936138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En premier, toujours. « Maman va bien. 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73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4627778" y="2084831"/>
            <a:ext cx="2936138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Ce qui est arrivé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7778" y="2769108"/>
            <a:ext cx="2936138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L'imparfait pour le décor, le passé composé pour les faits.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48548" y="181051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368588" y="2084831"/>
            <a:ext cx="2936138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Ce que le personnel a dit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68588" y="2769108"/>
            <a:ext cx="2936138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La docteure dit que… », « elle m'a demandé si…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86968" y="4302252"/>
            <a:ext cx="2936138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Ce qui s'en vient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86968" y="4986528"/>
            <a:ext cx="2936138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Au futur simple : elle sortira, il faudra, une intervenante viendra.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0773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4627778" y="4302252"/>
            <a:ext cx="2936138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Le pratique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27778" y="4986528"/>
            <a:ext cx="2936138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L'étage, l'unité, les heures de visite, ce qu'il faut apporter.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8548" y="4027932"/>
            <a:ext cx="3576218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8368588" y="4302252"/>
            <a:ext cx="2936138" cy="65684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A5335F"/>
                </a:solidFill>
                <a:latin typeface="Verdana"/>
              </a:rPr>
              <a:t>Une demande précise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68588" y="4986528"/>
            <a:ext cx="2936138" cy="819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À quelqu'un en particulier, et un moment où vous joindre.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LE CADRE DU MESSAGE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se met où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2798064"/>
          </a:xfrm>
          <a:prstGeom prst="roundRect">
            <a:avLst>
              <a:gd name="adj" fmla="val 52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LIGNE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CONTENU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famille — les personnes qui attendent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Objet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Des nouvelles de maman — hôpital, 5e étage, unité B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4670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74720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Première phrase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74720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 à tous. D'abord, maman va bien.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86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014215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A5335F"/>
                </a:solidFill>
                <a:latin typeface="Verdana"/>
              </a:rPr>
              <a:t>Dernière phrase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014215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demande, un numéro, un moment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4846320"/>
            <a:ext cx="11057839" cy="843534"/>
          </a:xfrm>
          <a:prstGeom prst="roundRect">
            <a:avLst>
              <a:gd name="adj" fmla="val 17344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69264" y="5102352"/>
            <a:ext cx="10234879" cy="38633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Un objet qui porte déjà l'essentiel évite la moitié des réponses.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TOUT RACONTER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200" b="1" i="0">
                <a:solidFill>
                  <a:srgbClr val="17181A"/>
                </a:solidFill>
                <a:latin typeface="Verdana"/>
              </a:rPr>
              <a:t>Un message de vingt phrases avec chaque examen et chaque heure d'attente.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Sept à onze phrases, et le reste à la visite.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285240"/>
          </a:xfrm>
          <a:prstGeom prst="roundRect">
            <a:avLst>
              <a:gd name="adj" fmla="val 11383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782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message trop long ne se lit pas jusqu'au bout : le pratique, qui est à la fin, se perd. Gardez le détail pour ceux qui rappelleront.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PRODUCTION ÉCRITE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message, sept à onze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Vérifiez les six éléments avant de demander la correction.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première phrase rassure-t-elle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décor est-il à l'imparfait, les faits au passé composé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Rapportez-vous ce qu'on vous a dit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s'en vient est-il au futur simple ?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Donnez-vous l'étage et les heures de visite ?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Demandez-vous quelque chose à quelqu'un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Votre message, sept à onze phrases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Votre première phrase rassure-t-elle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avant tout récit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Le décor est-il à l'imparfait, les faits au passé composé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avait · elle est tombée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Rapportez-vous ce qu'on vous a dit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la docteure dit que… · elle m'a demandé si…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s'en vient est-il au futur simple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elle sortira · il faudra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Donnez-vous l'étage et les heures de visite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 ce qu'il faut apporter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CE9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A5335F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Demandez-vous quelque chose à quelqu'un ?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et laissez-vous un numéro 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A5335F"/>
                </a:solidFill>
                <a:latin typeface="Verdana"/>
              </a:rPr>
              <a:t>BILAN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que vous savez faire maintenant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70248"/>
          </a:xfrm>
          <a:prstGeom prst="roundRect">
            <a:avLst>
              <a:gd name="adj" fmla="val 34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21408"/>
            <a:ext cx="31036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Choisir le numéro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10634" y="2121408"/>
            <a:ext cx="6948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Est-ce que ça peut attendre dix minutes ? Et les cinq signes.</a:t>
            </a:r>
          </a:p>
        </p:txBody>
      </p:sp>
      <p:sp>
        <p:nvSpPr>
          <p:cNvPr id="10" name="Rectangle 9"/>
          <p:cNvSpPr/>
          <p:nvPr/>
        </p:nvSpPr>
        <p:spPr>
          <a:xfrm>
            <a:off x="932688" y="263194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2778252"/>
            <a:ext cx="31036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Appeler le 9-1-1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10634" y="2778252"/>
            <a:ext cx="6948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700" b="0" i="0">
                <a:solidFill>
                  <a:srgbClr val="4B4F52"/>
                </a:solidFill>
                <a:latin typeface="Verdana"/>
              </a:rPr>
              <a:t>L'endroit d'abord, une phrase ensuite, des réponses courtes.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32688" y="328879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435096"/>
            <a:ext cx="31036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Comprendre un ordre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10634" y="3435096"/>
            <a:ext cx="6948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L'impératif, et le pronom avant ou après le verbe.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32688" y="3945635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091939"/>
            <a:ext cx="31036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Raconter au triage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10634" y="4091939"/>
            <a:ext cx="6948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L'imparfait pour le décor, le passé composé pour les faits.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32688" y="460248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4748784"/>
            <a:ext cx="31036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Rapporter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10634" y="4748784"/>
            <a:ext cx="6948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Elle m'a demandé si… · la docteure dit que…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32688" y="525932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932688" y="5405628"/>
            <a:ext cx="3103626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900" b="1" i="0">
                <a:solidFill>
                  <a:srgbClr val="17181A"/>
                </a:solidFill>
                <a:latin typeface="Verdana"/>
              </a:rPr>
              <a:t>Annoncer la suite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10634" y="5405628"/>
            <a:ext cx="6948373" cy="43738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4B4F52"/>
                </a:solidFill>
                <a:latin typeface="Verdana"/>
              </a:rPr>
              <a:t>Le futur simple, et les questions posées avant le congé.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nuit à l'urgence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En une phrase : qu'est-ce que vous ferez différemment si ça arrive chez vous 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Une seule chose, précise, que vous ferez vraiment.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1022096"/>
          </a:xfrm>
          <a:prstGeom prst="roundRect">
            <a:avLst>
              <a:gd name="adj" fmla="val 8946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« Je donnerai l'adresse en premier », « j'appellerai le 8-1-1 au lieu d'attendre »…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E2 · Une nuit à l'urgence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